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687" r:id="rId3"/>
    <p:sldMasterId id="2147483776" r:id="rId4"/>
  </p:sldMasterIdLst>
  <p:notesMasterIdLst>
    <p:notesMasterId r:id="rId32"/>
  </p:notesMasterIdLst>
  <p:handoutMasterIdLst>
    <p:handoutMasterId r:id="rId33"/>
  </p:handoutMasterIdLst>
  <p:sldIdLst>
    <p:sldId id="256" r:id="rId5"/>
    <p:sldId id="325" r:id="rId6"/>
    <p:sldId id="326" r:id="rId7"/>
    <p:sldId id="327" r:id="rId8"/>
    <p:sldId id="328" r:id="rId9"/>
    <p:sldId id="329" r:id="rId10"/>
    <p:sldId id="330" r:id="rId11"/>
    <p:sldId id="331" r:id="rId12"/>
    <p:sldId id="332" r:id="rId13"/>
    <p:sldId id="333" r:id="rId14"/>
    <p:sldId id="334" r:id="rId15"/>
    <p:sldId id="335" r:id="rId16"/>
    <p:sldId id="336" r:id="rId17"/>
    <p:sldId id="337" r:id="rId18"/>
    <p:sldId id="338" r:id="rId19"/>
    <p:sldId id="339" r:id="rId20"/>
    <p:sldId id="340" r:id="rId21"/>
    <p:sldId id="341" r:id="rId22"/>
    <p:sldId id="342" r:id="rId23"/>
    <p:sldId id="343" r:id="rId24"/>
    <p:sldId id="344" r:id="rId25"/>
    <p:sldId id="345" r:id="rId26"/>
    <p:sldId id="346" r:id="rId27"/>
    <p:sldId id="347" r:id="rId28"/>
    <p:sldId id="348" r:id="rId29"/>
    <p:sldId id="349" r:id="rId30"/>
    <p:sldId id="320" r:id="rId31"/>
  </p:sldIdLst>
  <p:sldSz cx="9144000" cy="5143500" type="screen16x9"/>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4">
          <p15:clr>
            <a:srgbClr val="A4A3A4"/>
          </p15:clr>
        </p15:guide>
        <p15:guide id="2" pos="2946">
          <p15:clr>
            <a:srgbClr val="A4A3A4"/>
          </p15:clr>
        </p15:guide>
      </p15:sldGuideLst>
    </p:ext>
    <p:ext uri="{2D200454-40CA-4A62-9FC3-DE9A4176ACB9}">
      <p15:notesGuideLst xmlns:p15="http://schemas.microsoft.com/office/powerpoint/2012/main">
        <p15:guide id="1" orient="horz" pos="3097">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F62"/>
    <a:srgbClr val="8A141E"/>
    <a:srgbClr val="8A151F"/>
    <a:srgbClr val="52AD5B"/>
    <a:srgbClr val="0888FB"/>
    <a:srgbClr val="C00000"/>
    <a:srgbClr val="253F61"/>
    <a:srgbClr val="254060"/>
    <a:srgbClr val="243E63"/>
    <a:srgbClr val="8A1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58542034-FE4F-4ADA-92B8-4CA66D0F0DF3}" styleName="腾讯文档-基本">
    <a:wholeTbl>
      <a:tcTxStyle>
        <a:fontRef idx="minor">
          <a:srgbClr val="000000"/>
        </a:fontRef>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0" autoAdjust="0"/>
    <p:restoredTop sz="72117" autoAdjust="0"/>
  </p:normalViewPr>
  <p:slideViewPr>
    <p:cSldViewPr>
      <p:cViewPr varScale="1">
        <p:scale>
          <a:sx n="81" d="100"/>
          <a:sy n="81" d="100"/>
        </p:scale>
        <p:origin x="1522" y="48"/>
      </p:cViewPr>
      <p:guideLst>
        <p:guide orient="horz" pos="1604"/>
        <p:guide pos="2946"/>
      </p:guideLst>
    </p:cSldViewPr>
  </p:slideViewPr>
  <p:outlineViewPr>
    <p:cViewPr>
      <p:scale>
        <a:sx n="33" d="100"/>
        <a:sy n="33" d="100"/>
      </p:scale>
      <p:origin x="0" y="5236"/>
    </p:cViewPr>
  </p:outlineViewPr>
  <p:notesTextViewPr>
    <p:cViewPr>
      <p:scale>
        <a:sx n="100" d="100"/>
        <a:sy n="100" d="100"/>
      </p:scale>
      <p:origin x="0" y="0"/>
    </p:cViewPr>
  </p:notesTextViewPr>
  <p:sorterViewPr>
    <p:cViewPr>
      <p:scale>
        <a:sx n="100" d="100"/>
        <a:sy n="100" d="100"/>
      </p:scale>
      <p:origin x="0" y="-4080"/>
    </p:cViewPr>
  </p:sorterViewPr>
  <p:notesViewPr>
    <p:cSldViewPr>
      <p:cViewPr varScale="1">
        <p:scale>
          <a:sx n="53" d="100"/>
          <a:sy n="53" d="100"/>
        </p:scale>
        <p:origin x="-2706" y="-96"/>
      </p:cViewPr>
      <p:guideLst>
        <p:guide orient="horz" pos="3097"/>
        <p:guide pos="21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1275" y="0"/>
            <a:ext cx="2946400" cy="496888"/>
          </a:xfrm>
          <a:prstGeom prst="rect">
            <a:avLst/>
          </a:prstGeom>
        </p:spPr>
        <p:txBody>
          <a:bodyPr vert="horz" lIns="91440" tIns="45720" rIns="91440" bIns="45720" rtlCol="0"/>
          <a:lstStyle>
            <a:lvl1pPr algn="r">
              <a:defRPr sz="1200"/>
            </a:lvl1pPr>
          </a:lstStyle>
          <a:p>
            <a:fld id="{2FE92D19-DAB1-4875-885C-5CE9930C4D72}" type="datetimeFigureOut">
              <a:rPr lang="zh-CN" altLang="en-US" smtClean="0"/>
              <a:t>2023/10/2</a:t>
            </a:fld>
            <a:endParaRPr lang="zh-CN" altLang="en-US"/>
          </a:p>
        </p:txBody>
      </p:sp>
      <p:sp>
        <p:nvSpPr>
          <p:cNvPr id="4" name="页脚占位符 3"/>
          <p:cNvSpPr>
            <a:spLocks noGrp="1"/>
          </p:cNvSpPr>
          <p:nvPr>
            <p:ph type="ftr" sz="quarter" idx="2"/>
          </p:nvPr>
        </p:nvSpPr>
        <p:spPr>
          <a:xfrm>
            <a:off x="0" y="9431338"/>
            <a:ext cx="2946400"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1275" y="9431338"/>
            <a:ext cx="2946400" cy="496887"/>
          </a:xfrm>
          <a:prstGeom prst="rect">
            <a:avLst/>
          </a:prstGeom>
        </p:spPr>
        <p:txBody>
          <a:bodyPr vert="horz" lIns="91440" tIns="45720" rIns="91440" bIns="45720" rtlCol="0" anchor="b"/>
          <a:lstStyle>
            <a:lvl1pPr algn="r">
              <a:defRPr sz="1200"/>
            </a:lvl1pPr>
          </a:lstStyle>
          <a:p>
            <a:fld id="{483AE0EB-002D-4EDA-9D7A-1A530430512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46400" cy="496888"/>
          </a:xfrm>
          <a:prstGeom prst="rect">
            <a:avLst/>
          </a:prstGeom>
          <a:noFill/>
          <a:ln w="9525">
            <a:noFill/>
            <a:miter lim="800000"/>
          </a:ln>
        </p:spPr>
        <p:txBody>
          <a:bodyPr vert="horz" wrap="square" lIns="92172" tIns="46086" rIns="92172" bIns="46086"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51275" y="0"/>
            <a:ext cx="2946400" cy="496888"/>
          </a:xfrm>
          <a:prstGeom prst="rect">
            <a:avLst/>
          </a:prstGeom>
          <a:noFill/>
          <a:ln w="9525">
            <a:noFill/>
            <a:miter lim="800000"/>
          </a:ln>
        </p:spPr>
        <p:txBody>
          <a:bodyPr vert="horz" wrap="square" lIns="92172" tIns="46086" rIns="92172" bIns="46086"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11268" name="幻灯片图像占位符 3"/>
          <p:cNvSpPr>
            <a:spLocks noGrp="1" noRot="1" noChangeAspect="1" noChangeArrowheads="1"/>
          </p:cNvSpPr>
          <p:nvPr>
            <p:ph type="sldImg" idx="4294967295"/>
          </p:nvPr>
        </p:nvSpPr>
        <p:spPr bwMode="auto">
          <a:xfrm>
            <a:off x="88900" y="744538"/>
            <a:ext cx="6621463" cy="3724275"/>
          </a:xfrm>
          <a:prstGeom prst="rect">
            <a:avLst/>
          </a:prstGeom>
          <a:noFill/>
          <a:ln w="12700">
            <a:noFill/>
            <a:miter lim="800000"/>
          </a:ln>
        </p:spPr>
      </p:sp>
      <p:sp>
        <p:nvSpPr>
          <p:cNvPr id="2053" name="备注占位符 4"/>
          <p:cNvSpPr>
            <a:spLocks noGrp="1" noChangeArrowheads="1"/>
          </p:cNvSpPr>
          <p:nvPr>
            <p:ph type="body" sz="quarter" idx="3"/>
          </p:nvPr>
        </p:nvSpPr>
        <p:spPr bwMode="auto">
          <a:xfrm>
            <a:off x="679450" y="4716463"/>
            <a:ext cx="5440363" cy="4468812"/>
          </a:xfrm>
          <a:prstGeom prst="rect">
            <a:avLst/>
          </a:prstGeom>
          <a:noFill/>
          <a:ln w="12700" cmpd="sng">
            <a:noFill/>
            <a:miter lim="800000"/>
          </a:ln>
        </p:spPr>
        <p:txBody>
          <a:bodyPr vert="horz" wrap="square" lIns="92172" tIns="46086" rIns="92172" bIns="46086"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9431338"/>
            <a:ext cx="2946400" cy="496887"/>
          </a:xfrm>
          <a:prstGeom prst="rect">
            <a:avLst/>
          </a:prstGeom>
          <a:noFill/>
          <a:ln w="9525">
            <a:noFill/>
            <a:miter lim="800000"/>
          </a:ln>
        </p:spPr>
        <p:txBody>
          <a:bodyPr vert="horz" wrap="square" lIns="92172" tIns="46086" rIns="92172" bIns="46086"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51275" y="9431338"/>
            <a:ext cx="2946400" cy="496887"/>
          </a:xfrm>
          <a:prstGeom prst="rect">
            <a:avLst/>
          </a:prstGeom>
          <a:noFill/>
          <a:ln w="9525">
            <a:noFill/>
            <a:miter lim="800000"/>
          </a:ln>
        </p:spPr>
        <p:txBody>
          <a:bodyPr vert="horz" wrap="square" lIns="92172" tIns="46086" rIns="92172" bIns="46086" numCol="1" anchor="b" anchorCtr="0" compatLnSpc="1"/>
          <a:lstStyle>
            <a:lvl1pPr algn="r">
              <a:defRPr sz="1200">
                <a:latin typeface="Calibri" panose="020F0502020204030204" pitchFamily="34" charset="0"/>
              </a:defRPr>
            </a:lvl1pPr>
          </a:lstStyle>
          <a:p>
            <a:fld id="{0B97B80F-142F-4A8D-AA75-D1CDF5ADA1E9}"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p>
        </p:txBody>
      </p:sp>
    </p:spTree>
    <p:extLst>
      <p:ext uri="{BB962C8B-B14F-4D97-AF65-F5344CB8AC3E}">
        <p14:creationId xmlns:p14="http://schemas.microsoft.com/office/powerpoint/2010/main" val="939989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 </a:t>
            </a:r>
            <a:r>
              <a:rPr lang="zh-CN" altLang="en-US" dirty="0"/>
              <a:t>死锁的定义</a:t>
            </a:r>
          </a:p>
          <a:p>
            <a:pPr lvl="0"/>
            <a:r>
              <a:rPr lang="zh-CN" altLang="en-US" dirty="0"/>
              <a:t>在多道程序系统中，由于多个进程的并发执行，改善了系统资源的利用率并提高了系统的处理能力。然而，多个进程的并发执行也带来了新的问题一死锁。所谓死锁，是指多个进程因竞争资源而造成的一种僵局（互相等待），若无外力作用，这些进程都将无法向前推进。</a:t>
            </a:r>
          </a:p>
          <a:p>
            <a:pPr lvl="0"/>
            <a:endParaRPr lang="zh-CN" altLang="en-US" dirty="0"/>
          </a:p>
          <a:p>
            <a:pPr lvl="0"/>
            <a:r>
              <a:rPr lang="zh-CN" altLang="en-US" dirty="0"/>
              <a:t>下面通过一些实例来说明死锁现象。</a:t>
            </a:r>
          </a:p>
          <a:p>
            <a:pPr lvl="0"/>
            <a:r>
              <a:rPr lang="zh-CN" altLang="en-US" dirty="0"/>
              <a:t>先看生活中的一个实例。在一条河上有一座桥，桥面很窄，只能容纳一辆汽车通行。若有两辆汽车分别从桥的左右两端驶上该桥，则会出现下述冲突情况：此时，左边的汽车占有桥面左边的一段，要想过桥还需等待右边的汽车让出桥面右边的一段：右边的汽车占有桥面右边的一段，要想过桥还需等待左边的汽车让出桥面左边的一段。此时，若左右两边的汽车都只能向前行驶，则两辆汽车都无法过桥。</a:t>
            </a:r>
          </a:p>
          <a:p>
            <a:pPr lvl="0"/>
            <a:r>
              <a:rPr lang="zh-CN" altLang="en-US" dirty="0"/>
              <a:t>在计算机系统中也存在类似的情况。例如，某计算机系统中只有一台打印机和一台输入设备，进程</a:t>
            </a:r>
            <a:r>
              <a:rPr lang="en-US" altLang="zh-CN" dirty="0"/>
              <a:t>P1</a:t>
            </a:r>
            <a:r>
              <a:rPr lang="zh-CN" altLang="en-US" dirty="0"/>
              <a:t>正占用输入设备，同时又提出使用打印机的请求，但此时打印机正被进程</a:t>
            </a:r>
            <a:r>
              <a:rPr lang="en-US" altLang="zh-CN" dirty="0"/>
              <a:t>P2</a:t>
            </a:r>
            <a:r>
              <a:rPr lang="zh-CN" altLang="en-US" dirty="0"/>
              <a:t>所占用，而</a:t>
            </a:r>
            <a:r>
              <a:rPr lang="en-US" altLang="zh-CN" dirty="0"/>
              <a:t>P2</a:t>
            </a:r>
            <a:r>
              <a:rPr lang="zh-CN" altLang="en-US" dirty="0"/>
              <a:t>在未释放打印机之前，又提出请求使用正被</a:t>
            </a:r>
            <a:r>
              <a:rPr lang="en-US" altLang="zh-CN" dirty="0"/>
              <a:t>P1</a:t>
            </a:r>
            <a:r>
              <a:rPr lang="zh-CN" altLang="en-US" dirty="0"/>
              <a:t>占用的输入设备。这样，两个进程相互无休止地等待下去，均无法继续执行，此时两个进程陷入死锁状态。</a:t>
            </a:r>
            <a:endParaRPr lang="zh-CN" dirty="0"/>
          </a:p>
        </p:txBody>
      </p:sp>
    </p:spTree>
    <p:extLst>
      <p:ext uri="{BB962C8B-B14F-4D97-AF65-F5344CB8AC3E}">
        <p14:creationId xmlns:p14="http://schemas.microsoft.com/office/powerpoint/2010/main" val="261458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系统资源的竞争</a:t>
            </a:r>
          </a:p>
          <a:p>
            <a:pPr lvl="0"/>
            <a:r>
              <a:rPr lang="zh-CN" altLang="en-US" dirty="0"/>
              <a:t>通常系统中拥有的不可剥夺资源，其数量不足以满足多个进程运行的需要，使得进程在运行过程中，会因争夺资源而陷入僵局，如磁带机、打印机等。只有对不可剥夺资源的竞争才可能产生死锁，对可剥夺资源的竞争是不会引起死锁的。</a:t>
            </a:r>
          </a:p>
          <a:p>
            <a:pPr lvl="0"/>
            <a:endParaRPr lang="zh-CN" altLang="en-US" dirty="0"/>
          </a:p>
          <a:p>
            <a:pPr lvl="0"/>
            <a:r>
              <a:rPr lang="en-US" altLang="zh-CN" dirty="0"/>
              <a:t>(2)</a:t>
            </a:r>
            <a:r>
              <a:rPr lang="zh-CN" altLang="en-US" dirty="0"/>
              <a:t>进程推进顺序非法</a:t>
            </a:r>
          </a:p>
          <a:p>
            <a:pPr lvl="0"/>
            <a:r>
              <a:rPr lang="zh-CN" altLang="en-US" dirty="0"/>
              <a:t>进程在运行过程中，请求和释放资源的顺序不当，也同样会导致死锁。例如，并发进程</a:t>
            </a:r>
            <a:r>
              <a:rPr lang="en-US" altLang="zh-CN" dirty="0"/>
              <a:t>P1,P2</a:t>
            </a:r>
            <a:r>
              <a:rPr lang="zh-CN" altLang="en-US" dirty="0"/>
              <a:t>分别保持了资源</a:t>
            </a:r>
            <a:r>
              <a:rPr lang="en-US" altLang="zh-CN" dirty="0"/>
              <a:t>R1,R2,</a:t>
            </a:r>
            <a:r>
              <a:rPr lang="zh-CN" altLang="en-US" dirty="0"/>
              <a:t>而进程</a:t>
            </a:r>
            <a:r>
              <a:rPr lang="en-US" altLang="zh-CN" dirty="0"/>
              <a:t>P1</a:t>
            </a:r>
            <a:r>
              <a:rPr lang="zh-CN" altLang="en-US" dirty="0"/>
              <a:t>申请资源</a:t>
            </a:r>
            <a:r>
              <a:rPr lang="en-US" altLang="zh-CN" dirty="0"/>
              <a:t>R2</a:t>
            </a:r>
            <a:r>
              <a:rPr lang="zh-CN" altLang="en-US" dirty="0"/>
              <a:t>、进程</a:t>
            </a:r>
            <a:r>
              <a:rPr lang="en-US" altLang="zh-CN" dirty="0"/>
              <a:t>P2</a:t>
            </a:r>
            <a:r>
              <a:rPr lang="zh-CN" altLang="en-US" dirty="0"/>
              <a:t>申请资源</a:t>
            </a:r>
            <a:r>
              <a:rPr lang="en-US" altLang="zh-CN" dirty="0"/>
              <a:t>R1</a:t>
            </a:r>
            <a:r>
              <a:rPr lang="zh-CN" altLang="en-US" dirty="0"/>
              <a:t>时，两者都会因为所需资源被占用而阻塞，于是导致死锁。</a:t>
            </a:r>
          </a:p>
          <a:p>
            <a:pPr lvl="0"/>
            <a:endParaRPr lang="zh-CN" altLang="en-US" dirty="0"/>
          </a:p>
          <a:p>
            <a:pPr lvl="0"/>
            <a:r>
              <a:rPr lang="zh-CN" altLang="en-US" dirty="0"/>
              <a:t>信号量使用不当也会造成死锁。进程间彼此相互等待对方发来的消息，也会使得这些进程间无法继续向前推进。例如，进程</a:t>
            </a:r>
            <a:r>
              <a:rPr lang="en-US" altLang="zh-CN" dirty="0"/>
              <a:t>A</a:t>
            </a:r>
            <a:r>
              <a:rPr lang="zh-CN" altLang="en-US" dirty="0"/>
              <a:t>等待进程</a:t>
            </a:r>
            <a:r>
              <a:rPr lang="en-US" altLang="zh-CN" dirty="0"/>
              <a:t>B</a:t>
            </a:r>
            <a:r>
              <a:rPr lang="zh-CN" altLang="en-US" dirty="0"/>
              <a:t>发的消息，进程</a:t>
            </a:r>
            <a:r>
              <a:rPr lang="en-US" altLang="zh-CN" dirty="0"/>
              <a:t>B</a:t>
            </a:r>
            <a:r>
              <a:rPr lang="zh-CN" altLang="en-US" dirty="0"/>
              <a:t>又在等待进程</a:t>
            </a:r>
            <a:r>
              <a:rPr lang="en-US" altLang="zh-CN" dirty="0"/>
              <a:t>A</a:t>
            </a:r>
            <a:r>
              <a:rPr lang="zh-CN" altLang="en-US" dirty="0"/>
              <a:t>发的消息，可以看出进程</a:t>
            </a:r>
            <a:r>
              <a:rPr lang="en-US" altLang="zh-CN" dirty="0"/>
              <a:t>A</a:t>
            </a:r>
            <a:r>
              <a:rPr lang="zh-CN" altLang="en-US" dirty="0"/>
              <a:t>和</a:t>
            </a:r>
            <a:r>
              <a:rPr lang="en-US" altLang="zh-CN" dirty="0"/>
              <a:t>B</a:t>
            </a:r>
            <a:r>
              <a:rPr lang="zh-CN" altLang="en-US" dirty="0"/>
              <a:t>不是因为竞争同一资源，而是在等待对方的资源导致死锁。</a:t>
            </a:r>
            <a:endParaRPr lang="zh-CN" dirty="0"/>
          </a:p>
        </p:txBody>
      </p:sp>
    </p:spTree>
    <p:extLst>
      <p:ext uri="{BB962C8B-B14F-4D97-AF65-F5344CB8AC3E}">
        <p14:creationId xmlns:p14="http://schemas.microsoft.com/office/powerpoint/2010/main" val="4074949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死锁产生的必要条件</a:t>
            </a:r>
          </a:p>
          <a:p>
            <a:pPr lvl="0"/>
            <a:r>
              <a:rPr lang="zh-CN" altLang="en-US" dirty="0"/>
              <a:t>产生死锁必须同时满足以下</a:t>
            </a:r>
            <a:r>
              <a:rPr lang="en-US" altLang="zh-CN" dirty="0"/>
              <a:t>4</a:t>
            </a:r>
            <a:r>
              <a:rPr lang="zh-CN" altLang="en-US" dirty="0"/>
              <a:t>个条件，只要其中任意一个条件不成立，死锁就不会发生。</a:t>
            </a:r>
          </a:p>
          <a:p>
            <a:pPr lvl="0"/>
            <a:r>
              <a:rPr lang="en-US" altLang="zh-CN" dirty="0"/>
              <a:t>1)</a:t>
            </a:r>
            <a:r>
              <a:rPr lang="zh-CN" altLang="en-US" dirty="0"/>
              <a:t>互斥条件：进程要求对所分配的资源（如打印机）进行排他性使用，即在一段时间内某资源仅为一个进程所占有。此时若有其他进程请求该资源，则请求进程只能等待。</a:t>
            </a:r>
            <a:endParaRPr lang="en-US" altLang="zh-CN" dirty="0"/>
          </a:p>
          <a:p>
            <a:pPr lvl="0"/>
            <a:r>
              <a:rPr lang="en-US" altLang="zh-CN" dirty="0"/>
              <a:t>2)</a:t>
            </a:r>
            <a:r>
              <a:rPr lang="zh-CN" altLang="en-US" dirty="0"/>
              <a:t>不剥夺条件：进程所获得的资源在未使用完之前，不能被其他进程强行夺走，即只能由获得该资源的进程自己来释放（只能是主动释放）。</a:t>
            </a:r>
          </a:p>
          <a:p>
            <a:pPr lvl="0"/>
            <a:r>
              <a:rPr lang="en-US" altLang="zh-CN" dirty="0"/>
              <a:t>3)</a:t>
            </a:r>
            <a:r>
              <a:rPr lang="zh-CN" altLang="en-US" dirty="0"/>
              <a:t>请求并保持条件：进程已经保持了至少一个资源，但又提出了新的资源请求，而该资源已被其他进程占有，此时请求进程被阻塞，但对自己己获得的资源保持不放。</a:t>
            </a:r>
          </a:p>
          <a:p>
            <a:pPr lvl="0"/>
            <a:r>
              <a:rPr lang="en-US" altLang="zh-CN" dirty="0"/>
              <a:t>4)</a:t>
            </a:r>
            <a:r>
              <a:rPr lang="zh-CN" altLang="en-US" dirty="0"/>
              <a:t>循环等待条件：存在一种进程资源的循环等待链，链中每个进程已获得的资源同时被链中下一个进程所请求。即存在一个处于等待态的进程集合</a:t>
            </a:r>
            <a:r>
              <a:rPr lang="en-US" altLang="zh-CN" dirty="0"/>
              <a:t>{P1,P2,…,</a:t>
            </a:r>
            <a:r>
              <a:rPr lang="en-US" altLang="zh-CN" dirty="0" err="1"/>
              <a:t>Pn</a:t>
            </a:r>
            <a:r>
              <a:rPr lang="en-US" altLang="zh-CN" dirty="0"/>
              <a:t>},</a:t>
            </a:r>
            <a:r>
              <a:rPr lang="zh-CN" altLang="en-US" dirty="0"/>
              <a:t>其中</a:t>
            </a:r>
            <a:r>
              <a:rPr lang="en-US" altLang="zh-CN" dirty="0"/>
              <a:t>Pi</a:t>
            </a:r>
            <a:r>
              <a:rPr lang="zh-CN" altLang="en-US" dirty="0"/>
              <a:t>等待的资源被</a:t>
            </a:r>
            <a:r>
              <a:rPr lang="en-US" altLang="zh-CN" dirty="0"/>
              <a:t>Pi+1(</a:t>
            </a:r>
            <a:r>
              <a:rPr lang="en-US" altLang="zh-CN" dirty="0" err="1"/>
              <a:t>i</a:t>
            </a:r>
            <a:r>
              <a:rPr lang="en-US" altLang="zh-CN" dirty="0"/>
              <a:t>=0,1,...,n-1)</a:t>
            </a:r>
            <a:r>
              <a:rPr lang="zh-CN" altLang="en-US" dirty="0"/>
              <a:t>占有，</a:t>
            </a:r>
            <a:r>
              <a:rPr lang="en-US" altLang="zh-CN" dirty="0" err="1"/>
              <a:t>Pn</a:t>
            </a:r>
            <a:r>
              <a:rPr lang="zh-CN" altLang="en-US" dirty="0"/>
              <a:t>等待的资源被</a:t>
            </a:r>
            <a:r>
              <a:rPr lang="en-US" altLang="zh-CN" dirty="0"/>
              <a:t>P0</a:t>
            </a:r>
            <a:r>
              <a:rPr lang="zh-CN" altLang="en-US" dirty="0"/>
              <a:t>占有，如左图所示。</a:t>
            </a:r>
          </a:p>
          <a:p>
            <a:pPr lvl="0"/>
            <a:r>
              <a:rPr lang="zh-CN" altLang="en-US" dirty="0"/>
              <a:t>直观上看，循环等待条件似乎和死锁的定义一样，其实不然。按死锁定义构成等待环所要求的条件更严，它要求</a:t>
            </a:r>
            <a:r>
              <a:rPr lang="en-US" altLang="zh-CN" dirty="0"/>
              <a:t>Pi</a:t>
            </a:r>
            <a:r>
              <a:rPr lang="zh-CN" altLang="en-US" dirty="0"/>
              <a:t>等待的资源必须由</a:t>
            </a:r>
            <a:r>
              <a:rPr lang="en-US" altLang="zh-CN" dirty="0"/>
              <a:t>Pi+1</a:t>
            </a:r>
            <a:r>
              <a:rPr lang="zh-CN" altLang="en-US" dirty="0"/>
              <a:t>来满足，而循环等待条件则无此限制。例如，系统中有两台输出设备，</a:t>
            </a:r>
            <a:r>
              <a:rPr lang="en-US" altLang="zh-CN" dirty="0"/>
              <a:t>P0</a:t>
            </a:r>
            <a:r>
              <a:rPr lang="zh-CN" altLang="en-US" dirty="0"/>
              <a:t>占有一台，</a:t>
            </a:r>
            <a:r>
              <a:rPr lang="en-US" altLang="zh-CN" dirty="0"/>
              <a:t>Pk</a:t>
            </a:r>
            <a:r>
              <a:rPr lang="zh-CN" altLang="en-US" dirty="0"/>
              <a:t>占有另一台，且</a:t>
            </a:r>
            <a:r>
              <a:rPr lang="en-US" altLang="zh-CN" dirty="0"/>
              <a:t>K</a:t>
            </a:r>
            <a:r>
              <a:rPr lang="zh-CN" altLang="en-US" dirty="0"/>
              <a:t>不属于集合</a:t>
            </a:r>
            <a:r>
              <a:rPr lang="en-US" altLang="zh-CN" dirty="0"/>
              <a:t>{0,1</a:t>
            </a:r>
            <a:r>
              <a:rPr lang="zh-CN" altLang="en-US" dirty="0"/>
              <a:t>，</a:t>
            </a:r>
            <a:r>
              <a:rPr lang="en-US" altLang="zh-CN" dirty="0"/>
              <a:t>…</a:t>
            </a:r>
            <a:r>
              <a:rPr lang="zh-CN" altLang="en-US" dirty="0"/>
              <a:t>，</a:t>
            </a:r>
            <a:r>
              <a:rPr lang="en-US" altLang="zh-CN" dirty="0"/>
              <a:t>n}</a:t>
            </a:r>
            <a:r>
              <a:rPr lang="zh-CN" altLang="en-US" dirty="0"/>
              <a:t>。</a:t>
            </a:r>
            <a:r>
              <a:rPr lang="en-US" altLang="zh-CN" dirty="0" err="1"/>
              <a:t>Pn</a:t>
            </a:r>
            <a:r>
              <a:rPr lang="zh-CN" altLang="en-US" dirty="0"/>
              <a:t>等待一台输出设备，它可从</a:t>
            </a:r>
            <a:r>
              <a:rPr lang="en-US" altLang="zh-CN" dirty="0"/>
              <a:t>P0</a:t>
            </a:r>
            <a:r>
              <a:rPr lang="zh-CN" altLang="en-US" dirty="0"/>
              <a:t>获得，也可能从</a:t>
            </a:r>
            <a:r>
              <a:rPr lang="en-US" altLang="zh-CN" dirty="0"/>
              <a:t>Pk</a:t>
            </a:r>
            <a:r>
              <a:rPr lang="zh-CN" altLang="en-US" dirty="0"/>
              <a:t>获得。因此，虽然</a:t>
            </a:r>
            <a:r>
              <a:rPr lang="en-US" altLang="zh-CN" dirty="0"/>
              <a:t>Pn,P0</a:t>
            </a:r>
            <a:r>
              <a:rPr lang="zh-CN" altLang="en-US" dirty="0"/>
              <a:t>和其他一些进程形成了循环等待圈，但</a:t>
            </a:r>
            <a:r>
              <a:rPr lang="en-US" altLang="zh-CN" dirty="0"/>
              <a:t>Pk</a:t>
            </a:r>
            <a:r>
              <a:rPr lang="zh-CN" altLang="en-US" dirty="0"/>
              <a:t>不在圈内，若</a:t>
            </a:r>
            <a:r>
              <a:rPr lang="en-US" altLang="zh-CN" dirty="0"/>
              <a:t>Pk</a:t>
            </a:r>
            <a:r>
              <a:rPr lang="zh-CN" altLang="en-US" dirty="0"/>
              <a:t>释放了输出设备，则可打破循环等待，如右图所示。因此循环等待只是死锁的必要条件。</a:t>
            </a:r>
            <a:endParaRPr lang="en-US" altLang="zh-CN" dirty="0"/>
          </a:p>
          <a:p>
            <a:pPr lvl="0"/>
            <a:r>
              <a:rPr lang="zh-CN" altLang="en-US" dirty="0"/>
              <a:t>资源分配图含圈而系统又不一定有死锁的原因是，同类资源数大于</a:t>
            </a:r>
            <a:r>
              <a:rPr lang="en-US" altLang="zh-CN" dirty="0"/>
              <a:t>1</a:t>
            </a:r>
            <a:r>
              <a:rPr lang="zh-CN" altLang="en-US" dirty="0"/>
              <a:t>。但若系统中每类资源都只有一个资源，则资源分配图含圈就变成了系统出现死锁的充分必要条件。</a:t>
            </a:r>
          </a:p>
          <a:p>
            <a:pPr lvl="0"/>
            <a:r>
              <a:rPr lang="zh-CN" altLang="en-US" dirty="0"/>
              <a:t>要注意区分不剥夺条件与请求并保持条件。下面用一个简单的例子进行说明：若你手上拿着一个苹果（即便你不打算吃），别人不能把你手上的苹果拿走，则这就是不剥夺条件：若你左手拿着一个苹果，允许你右手再去拿一个苹果，则这就是请求并保持条件。</a:t>
            </a:r>
            <a:endParaRPr lang="zh-CN" dirty="0"/>
          </a:p>
        </p:txBody>
      </p:sp>
    </p:spTree>
    <p:extLst>
      <p:ext uri="{BB962C8B-B14F-4D97-AF65-F5344CB8AC3E}">
        <p14:creationId xmlns:p14="http://schemas.microsoft.com/office/powerpoint/2010/main" val="4114702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死锁的处理策略</a:t>
            </a:r>
          </a:p>
          <a:p>
            <a:pPr lvl="0"/>
            <a:r>
              <a:rPr lang="zh-CN" altLang="en-US" dirty="0"/>
              <a:t>为使系统不发生死锁，必须设法破坏产生死锁的</a:t>
            </a:r>
            <a:r>
              <a:rPr lang="en-US" altLang="zh-CN" dirty="0"/>
              <a:t>4</a:t>
            </a:r>
            <a:r>
              <a:rPr lang="zh-CN" altLang="en-US" dirty="0"/>
              <a:t>个必要条件之一，或允许死锁产生，但当死锁发生时能检测出死锁，并有能力实现恢复。</a:t>
            </a:r>
          </a:p>
          <a:p>
            <a:pPr lvl="0"/>
            <a:r>
              <a:rPr lang="en-US" altLang="zh-CN" dirty="0"/>
              <a:t>1)</a:t>
            </a:r>
            <a:r>
              <a:rPr lang="zh-CN" altLang="en-US" dirty="0"/>
              <a:t>死锁预防。设置某些限制条件，破坏产生死锁的</a:t>
            </a:r>
            <a:r>
              <a:rPr lang="en-US" altLang="zh-CN" dirty="0"/>
              <a:t>4</a:t>
            </a:r>
            <a:r>
              <a:rPr lang="zh-CN" altLang="en-US" dirty="0"/>
              <a:t>个必要条件中的一个或几个。</a:t>
            </a:r>
          </a:p>
          <a:p>
            <a:pPr lvl="0"/>
            <a:r>
              <a:rPr lang="en-US" altLang="zh-CN" dirty="0"/>
              <a:t>2)</a:t>
            </a:r>
            <a:r>
              <a:rPr lang="zh-CN" altLang="en-US" dirty="0"/>
              <a:t>避免死锁。在资源的动态分配过程中，用某种方法防止系统进入不安全状态。</a:t>
            </a:r>
          </a:p>
          <a:p>
            <a:pPr lvl="0"/>
            <a:r>
              <a:rPr lang="en-US" altLang="zh-CN" dirty="0"/>
              <a:t>3)</a:t>
            </a:r>
            <a:r>
              <a:rPr lang="zh-CN" altLang="en-US" dirty="0"/>
              <a:t>死锁的检测及解除。无须采取任何限制性措施，允许进程在运行过程中发生死锁。通过系统的检测机构及时地检测出死锁的发生，然后采取某种措施解除死锁。</a:t>
            </a:r>
          </a:p>
          <a:p>
            <a:pPr lvl="0"/>
            <a:r>
              <a:rPr lang="zh-CN" altLang="en-US" dirty="0"/>
              <a:t>预防死锁和避免死锁都属于事先预防策略，预防死锁的限制条件比较严格，实现起来较为简单，但往往导致系统的效率低，资源利用率低：避免死锁的限制条件相对宽松，资源分配后需要通过算法来判断是否进入不安全状态，实现起来较为复杂。</a:t>
            </a:r>
            <a:endParaRPr lang="zh-CN" dirty="0"/>
          </a:p>
        </p:txBody>
      </p:sp>
    </p:spTree>
    <p:extLst>
      <p:ext uri="{BB962C8B-B14F-4D97-AF65-F5344CB8AC3E}">
        <p14:creationId xmlns:p14="http://schemas.microsoft.com/office/powerpoint/2010/main" val="3820402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防止死锁的发生只需破坏死锁产生的</a:t>
            </a:r>
            <a:r>
              <a:rPr lang="en-US" altLang="zh-CN" dirty="0"/>
              <a:t>4</a:t>
            </a:r>
            <a:r>
              <a:rPr lang="zh-CN" altLang="en-US" dirty="0"/>
              <a:t>个必要条件之一即可。</a:t>
            </a:r>
          </a:p>
          <a:p>
            <a:pPr lvl="0"/>
            <a:r>
              <a:rPr lang="en-US" altLang="zh-CN" dirty="0"/>
              <a:t>1.</a:t>
            </a:r>
            <a:r>
              <a:rPr lang="zh-CN" altLang="en-US" dirty="0"/>
              <a:t>破坏互斥条件</a:t>
            </a:r>
          </a:p>
          <a:p>
            <a:pPr lvl="0"/>
            <a:r>
              <a:rPr lang="zh-CN" altLang="en-US" dirty="0"/>
              <a:t>若允许系统资源都能共享使用，则系统不会进入死锁状态。但有些资源根本不能同时访问，如打印机等临界资源只能互斥使用。所以，破坏互斥条件而预防死锁的方法不太可行，而且在有的场合应该保护这种互斥性。</a:t>
            </a:r>
          </a:p>
          <a:p>
            <a:pPr lvl="0"/>
            <a:r>
              <a:rPr lang="en-US" altLang="zh-CN" dirty="0"/>
              <a:t>2.</a:t>
            </a:r>
            <a:r>
              <a:rPr lang="zh-CN" altLang="en-US" dirty="0"/>
              <a:t>破坏不剥夺条件</a:t>
            </a:r>
          </a:p>
          <a:p>
            <a:pPr lvl="0"/>
            <a:r>
              <a:rPr lang="zh-CN" altLang="en-US" dirty="0"/>
              <a:t>当一个已保持了某些不可剥夺资源的进程请求新的资源而得不到满足时，它必须释放已经保持的所有资源，待以后需要时再重新申请。这意味着，一个进程已占有的资源会被暂时释放，或者说是被剥夺，或从而破坏了不剥夺条件。</a:t>
            </a:r>
          </a:p>
          <a:p>
            <a:pPr lvl="0"/>
            <a:r>
              <a:rPr lang="zh-CN" altLang="en-US" dirty="0"/>
              <a:t>该策略实现起来比较复杂，释放已获得的资源可能造成前一阶段工作的失效，反复地申请和释放资源会增加系统开销，降低系统吞吐量。这种方法常用于状态易于保存和恢复的资源，如</a:t>
            </a:r>
            <a:r>
              <a:rPr lang="en-US" altLang="zh-CN" dirty="0"/>
              <a:t>CPU</a:t>
            </a:r>
            <a:r>
              <a:rPr lang="zh-CN" altLang="en-US" dirty="0"/>
              <a:t>的寄存器及内存资源，一般不能用于打印机之类的资源。</a:t>
            </a:r>
          </a:p>
          <a:p>
            <a:pPr lvl="0"/>
            <a:r>
              <a:rPr lang="en-US" altLang="zh-CN" dirty="0"/>
              <a:t>3.</a:t>
            </a:r>
            <a:r>
              <a:rPr lang="zh-CN" altLang="en-US" dirty="0"/>
              <a:t>破坏请求并保持条件</a:t>
            </a:r>
          </a:p>
          <a:p>
            <a:pPr lvl="0"/>
            <a:r>
              <a:rPr lang="zh-CN" altLang="en-US" dirty="0"/>
              <a:t>采用预先静态分配方法，即进程在运行前一次申请完它所需要的全部资源，在它的资源未满足前，不把它投入运行。一旦投入运行，这些资源就一直归它所有，不再提出其他资源请求，这样就可以保证系统不会发生死锁。</a:t>
            </a:r>
          </a:p>
          <a:p>
            <a:pPr lvl="0"/>
            <a:r>
              <a:rPr lang="zh-CN" altLang="en-US" dirty="0"/>
              <a:t>这种方式实现简单，但缺点也显而易见，系统资源被严重浪费，其中有些资源可能仅在运行初期或运行快结束时才使用，甚至根本不使用。而且还会导致“饥饿”现象，由于个别资源长期被其他进程占用时，将致使等待该资源的进程迟迟不能开始运行。</a:t>
            </a:r>
          </a:p>
          <a:p>
            <a:pPr lvl="0"/>
            <a:r>
              <a:rPr lang="en-US" altLang="zh-CN" dirty="0"/>
              <a:t>4.</a:t>
            </a:r>
            <a:r>
              <a:rPr lang="zh-CN" altLang="en-US" dirty="0"/>
              <a:t>破坏循环等待条件</a:t>
            </a:r>
          </a:p>
          <a:p>
            <a:pPr lvl="0"/>
            <a:r>
              <a:rPr lang="zh-CN" altLang="en-US" dirty="0"/>
              <a:t>为了破坏循环等待条件，可采用顺序资源分配法。首先给系统中的资源编号，规定每个进程必须按编号递增的顺序请求资源，同类资源一次申请完。也就是说，只要进程提出申请分配资源</a:t>
            </a:r>
            <a:r>
              <a:rPr lang="en-US" altLang="zh-CN" dirty="0"/>
              <a:t>R,</a:t>
            </a:r>
            <a:r>
              <a:rPr lang="zh-CN" altLang="en-US" dirty="0"/>
              <a:t>则该进程在以后的资源申请中就只能申请编号大于</a:t>
            </a:r>
            <a:r>
              <a:rPr lang="en-US" altLang="zh-CN" dirty="0"/>
              <a:t>R</a:t>
            </a:r>
            <a:r>
              <a:rPr lang="zh-CN" altLang="en-US" dirty="0"/>
              <a:t>的资源。</a:t>
            </a:r>
          </a:p>
          <a:p>
            <a:pPr lvl="0"/>
            <a:r>
              <a:rPr lang="zh-CN" altLang="en-US" dirty="0"/>
              <a:t>这种方法存在的问题是，编号必须相对稳定，这就限制了新类型设备的增加：尽管在为资源编号时己考虑到大多数作业实际使用这些资源的顺序，但也经常会发生作业使用资源的顺序与系统规定顺序不同的情况，造成资源的浪费：此外，这种按规定次序申请资源的方法，也必然会给用户的编程带来麻烦。</a:t>
            </a:r>
            <a:endParaRPr lang="zh-CN" dirty="0"/>
          </a:p>
        </p:txBody>
      </p:sp>
    </p:spTree>
    <p:extLst>
      <p:ext uri="{BB962C8B-B14F-4D97-AF65-F5344CB8AC3E}">
        <p14:creationId xmlns:p14="http://schemas.microsoft.com/office/powerpoint/2010/main" val="2306074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避免死锁同样属于事先预防策略，但并不是事先采取某种限刷猎他破环死颈的必要杂件，而是在资源动态分配过程中，防止系统进入不安全状态，以避免发生死锁。这种方法所施加的限制条件较弱，可以获得较好的系统性能。</a:t>
            </a:r>
          </a:p>
          <a:p>
            <a:pPr lvl="0"/>
            <a:r>
              <a:rPr lang="en-US" altLang="zh-CN" dirty="0"/>
              <a:t>1.</a:t>
            </a:r>
            <a:r>
              <a:rPr lang="zh-CN" altLang="en-US" dirty="0"/>
              <a:t>系统安全状态</a:t>
            </a:r>
          </a:p>
          <a:p>
            <a:pPr lvl="0"/>
            <a:r>
              <a:rPr lang="zh-CN" altLang="en-US" dirty="0"/>
              <a:t>避免死锁的方法中，允许进程动态地申请资源，但系统在进行资源分配之前，应先计算此次分配的安全性。若此次分配不会导致系统进入不安全状态，则允许分配：否则让进程等待。</a:t>
            </a:r>
          </a:p>
          <a:p>
            <a:pPr lvl="0"/>
            <a:r>
              <a:rPr lang="zh-CN" altLang="en-US" dirty="0"/>
              <a:t>所谓安全状态，是指系统能按某种进程推进顺序</a:t>
            </a:r>
            <a:r>
              <a:rPr lang="en-US" altLang="zh-CN" dirty="0"/>
              <a:t>(P,P2,...,</a:t>
            </a:r>
            <a:r>
              <a:rPr lang="en-US" altLang="zh-CN" dirty="0" err="1"/>
              <a:t>Pn</a:t>
            </a:r>
            <a:r>
              <a:rPr lang="en-US" altLang="zh-CN" dirty="0"/>
              <a:t>)</a:t>
            </a:r>
            <a:r>
              <a:rPr lang="zh-CN" altLang="en-US" dirty="0"/>
              <a:t>为每个进程</a:t>
            </a:r>
            <a:r>
              <a:rPr lang="en-US" altLang="zh-CN" dirty="0"/>
              <a:t>Pi</a:t>
            </a:r>
            <a:r>
              <a:rPr lang="zh-CN" altLang="en-US" dirty="0"/>
              <a:t>分配其所需的资源，直至满足每个进程对资源的最大需求，使每个进程都可顺序完成。此时称</a:t>
            </a:r>
            <a:r>
              <a:rPr lang="en-US" altLang="zh-CN" dirty="0"/>
              <a:t>P1,P2,...,</a:t>
            </a:r>
            <a:r>
              <a:rPr lang="en-US" altLang="zh-CN" dirty="0" err="1"/>
              <a:t>Pn</a:t>
            </a:r>
            <a:r>
              <a:rPr lang="zh-CN" altLang="en-US" dirty="0"/>
              <a:t>为安全序列。若系统无法找到一个安全序列，则称系统处于不安全状态。</a:t>
            </a:r>
            <a:endParaRPr lang="en-US" altLang="zh-CN" dirty="0"/>
          </a:p>
          <a:p>
            <a:pPr lvl="0"/>
            <a:r>
              <a:rPr lang="zh-CN" altLang="en-US" dirty="0"/>
              <a:t>假设系统中有三个进程</a:t>
            </a:r>
            <a:r>
              <a:rPr lang="en-US" altLang="zh-CN" dirty="0"/>
              <a:t>P1,P2</a:t>
            </a:r>
            <a:r>
              <a:rPr lang="zh-CN" altLang="en-US" dirty="0"/>
              <a:t>和</a:t>
            </a:r>
            <a:r>
              <a:rPr lang="en-US" altLang="zh-CN" dirty="0"/>
              <a:t>P3,</a:t>
            </a:r>
            <a:r>
              <a:rPr lang="zh-CN" altLang="en-US" dirty="0"/>
              <a:t>共有</a:t>
            </a:r>
            <a:r>
              <a:rPr lang="en-US" altLang="zh-CN" dirty="0"/>
              <a:t>12</a:t>
            </a:r>
            <a:r>
              <a:rPr lang="zh-CN" altLang="en-US" dirty="0"/>
              <a:t>台磁带机。进程</a:t>
            </a:r>
            <a:r>
              <a:rPr lang="en-US" altLang="zh-CN" dirty="0"/>
              <a:t>P1</a:t>
            </a:r>
            <a:r>
              <a:rPr lang="zh-CN" altLang="en-US" dirty="0"/>
              <a:t>共需要</a:t>
            </a:r>
            <a:r>
              <a:rPr lang="en-US" altLang="zh-CN" dirty="0"/>
              <a:t>10</a:t>
            </a:r>
            <a:r>
              <a:rPr lang="zh-CN" altLang="en-US" dirty="0"/>
              <a:t>台磁带机，</a:t>
            </a:r>
            <a:r>
              <a:rPr lang="en-US" altLang="zh-CN" dirty="0"/>
              <a:t>P2</a:t>
            </a:r>
            <a:r>
              <a:rPr lang="zh-CN" altLang="en-US" dirty="0"/>
              <a:t>和</a:t>
            </a:r>
            <a:r>
              <a:rPr lang="en-US" altLang="zh-CN" dirty="0"/>
              <a:t>P3</a:t>
            </a:r>
            <a:r>
              <a:rPr lang="zh-CN" altLang="en-US" dirty="0"/>
              <a:t>分别需要</a:t>
            </a:r>
            <a:r>
              <a:rPr lang="en-US" altLang="zh-CN" dirty="0"/>
              <a:t>4</a:t>
            </a:r>
            <a:r>
              <a:rPr lang="zh-CN" altLang="en-US" dirty="0"/>
              <a:t>台和</a:t>
            </a:r>
            <a:r>
              <a:rPr lang="en-US" altLang="zh-CN" dirty="0"/>
              <a:t>9</a:t>
            </a:r>
            <a:r>
              <a:rPr lang="zh-CN" altLang="en-US" dirty="0"/>
              <a:t>台。假设在</a:t>
            </a:r>
            <a:r>
              <a:rPr lang="en-US" altLang="zh-CN" dirty="0"/>
              <a:t>T0</a:t>
            </a:r>
            <a:r>
              <a:rPr lang="zh-CN" altLang="en-US" dirty="0"/>
              <a:t>时刻，进程</a:t>
            </a:r>
            <a:r>
              <a:rPr lang="en-US" altLang="zh-CN" dirty="0"/>
              <a:t>P1,P2</a:t>
            </a:r>
            <a:r>
              <a:rPr lang="zh-CN" altLang="en-US" dirty="0"/>
              <a:t>和</a:t>
            </a:r>
            <a:r>
              <a:rPr lang="en-US" altLang="zh-CN" dirty="0"/>
              <a:t>P3</a:t>
            </a:r>
            <a:r>
              <a:rPr lang="zh-CN" altLang="en-US" dirty="0"/>
              <a:t>已分别获得</a:t>
            </a:r>
            <a:r>
              <a:rPr lang="en-US" altLang="zh-CN" dirty="0"/>
              <a:t>5</a:t>
            </a:r>
            <a:r>
              <a:rPr lang="zh-CN" altLang="en-US" dirty="0"/>
              <a:t>台、</a:t>
            </a:r>
            <a:r>
              <a:rPr lang="en-US" altLang="zh-CN" dirty="0"/>
              <a:t>2</a:t>
            </a:r>
            <a:r>
              <a:rPr lang="zh-CN" altLang="en-US" dirty="0"/>
              <a:t>台和</a:t>
            </a:r>
            <a:r>
              <a:rPr lang="en-US" altLang="zh-CN" dirty="0"/>
              <a:t>2</a:t>
            </a:r>
            <a:r>
              <a:rPr lang="zh-CN" altLang="en-US" dirty="0"/>
              <a:t>台，尚有</a:t>
            </a:r>
            <a:r>
              <a:rPr lang="en-US" altLang="zh-CN" dirty="0"/>
              <a:t>3</a:t>
            </a:r>
            <a:r>
              <a:rPr lang="zh-CN" altLang="en-US" dirty="0"/>
              <a:t>台未分配，见</a:t>
            </a:r>
          </a:p>
          <a:p>
            <a:pPr lvl="0"/>
            <a:r>
              <a:rPr lang="zh-CN" altLang="en-US" dirty="0"/>
              <a:t>表。在</a:t>
            </a:r>
            <a:r>
              <a:rPr lang="en-US" altLang="zh-CN" dirty="0"/>
              <a:t>T</a:t>
            </a:r>
            <a:r>
              <a:rPr lang="zh-CN" altLang="en-US" dirty="0"/>
              <a:t>时刻是安全的，因为存在一个安全序列</a:t>
            </a:r>
            <a:r>
              <a:rPr lang="en-US" altLang="zh-CN" dirty="0"/>
              <a:t>P2,P1,P3,</a:t>
            </a:r>
            <a:r>
              <a:rPr lang="zh-CN" altLang="en-US" dirty="0"/>
              <a:t>只要系统按此进程序列分配资源，那么每个进程都能顺利完成。也就是说，当前可用磁带机为</a:t>
            </a:r>
            <a:r>
              <a:rPr lang="en-US" altLang="zh-CN" dirty="0"/>
              <a:t>3</a:t>
            </a:r>
            <a:r>
              <a:rPr lang="zh-CN" altLang="en-US" dirty="0"/>
              <a:t>台，先把</a:t>
            </a:r>
            <a:r>
              <a:rPr lang="en-US" altLang="zh-CN" dirty="0"/>
              <a:t>3</a:t>
            </a:r>
            <a:r>
              <a:rPr lang="zh-CN" altLang="en-US" dirty="0"/>
              <a:t>台磁带机分配给</a:t>
            </a:r>
            <a:r>
              <a:rPr lang="en-US" altLang="zh-CN" dirty="0"/>
              <a:t>P2</a:t>
            </a:r>
            <a:r>
              <a:rPr lang="zh-CN" altLang="en-US" dirty="0"/>
              <a:t>以满足其最大需求，</a:t>
            </a:r>
            <a:r>
              <a:rPr lang="en-US" altLang="zh-CN" dirty="0"/>
              <a:t>P2</a:t>
            </a:r>
            <a:r>
              <a:rPr lang="zh-CN" altLang="en-US" dirty="0"/>
              <a:t>结束并归还资源后，系统有</a:t>
            </a:r>
            <a:r>
              <a:rPr lang="en-US" altLang="zh-CN" dirty="0"/>
              <a:t>5</a:t>
            </a:r>
            <a:r>
              <a:rPr lang="zh-CN" altLang="en-US" dirty="0"/>
              <a:t>台磁带机可用：接下来给</a:t>
            </a:r>
            <a:r>
              <a:rPr lang="en-US" altLang="zh-CN" dirty="0"/>
              <a:t>P1</a:t>
            </a:r>
            <a:r>
              <a:rPr lang="zh-CN" altLang="en-US" dirty="0"/>
              <a:t>分配</a:t>
            </a:r>
            <a:r>
              <a:rPr lang="en-US" altLang="zh-CN" dirty="0"/>
              <a:t>5</a:t>
            </a:r>
            <a:r>
              <a:rPr lang="zh-CN" altLang="en-US" dirty="0"/>
              <a:t>台磁带机以满足其最大需求，</a:t>
            </a:r>
            <a:r>
              <a:rPr lang="en-US" altLang="zh-CN" dirty="0"/>
              <a:t>P1</a:t>
            </a:r>
            <a:r>
              <a:rPr lang="zh-CN" altLang="en-US" dirty="0"/>
              <a:t>结束并归还资源后，剩余</a:t>
            </a:r>
            <a:r>
              <a:rPr lang="en-US" altLang="zh-CN" dirty="0"/>
              <a:t>10</a:t>
            </a:r>
            <a:r>
              <a:rPr lang="zh-CN" altLang="en-US" dirty="0"/>
              <a:t>台磁带机可用：最后分配</a:t>
            </a:r>
            <a:r>
              <a:rPr lang="en-US" altLang="zh-CN" dirty="0"/>
              <a:t>7</a:t>
            </a:r>
            <a:r>
              <a:rPr lang="zh-CN" altLang="en-US" dirty="0"/>
              <a:t>台磁带机给</a:t>
            </a:r>
            <a:r>
              <a:rPr lang="en-US" altLang="zh-CN" dirty="0"/>
              <a:t>P3,</a:t>
            </a:r>
            <a:r>
              <a:rPr lang="zh-CN" altLang="en-US" dirty="0"/>
              <a:t>这样</a:t>
            </a:r>
            <a:r>
              <a:rPr lang="en-US" altLang="zh-CN" dirty="0"/>
              <a:t>P3</a:t>
            </a:r>
            <a:r>
              <a:rPr lang="zh-CN" altLang="en-US" dirty="0"/>
              <a:t>也能顺利完成。</a:t>
            </a:r>
          </a:p>
          <a:p>
            <a:pPr lvl="0"/>
            <a:r>
              <a:rPr lang="zh-CN" altLang="en-US" dirty="0"/>
              <a:t>若在</a:t>
            </a:r>
            <a:r>
              <a:rPr lang="en-US" altLang="zh-CN" dirty="0"/>
              <a:t>T0</a:t>
            </a:r>
            <a:r>
              <a:rPr lang="zh-CN" altLang="en-US" dirty="0"/>
              <a:t>时刻后，系统分配</a:t>
            </a:r>
            <a:r>
              <a:rPr lang="en-US" altLang="zh-CN" dirty="0"/>
              <a:t>1</a:t>
            </a:r>
            <a:r>
              <a:rPr lang="zh-CN" altLang="en-US" dirty="0"/>
              <a:t>台磁带机给</a:t>
            </a:r>
            <a:r>
              <a:rPr lang="en-US" altLang="zh-CN" dirty="0"/>
              <a:t>P3,</a:t>
            </a:r>
            <a:r>
              <a:rPr lang="zh-CN" altLang="en-US" dirty="0"/>
              <a:t>系统剩余可用资源数为</a:t>
            </a:r>
            <a:r>
              <a:rPr lang="en-US" altLang="zh-CN" dirty="0"/>
              <a:t>2</a:t>
            </a:r>
            <a:r>
              <a:rPr lang="zh-CN" altLang="en-US" dirty="0"/>
              <a:t>，此时系统进入不安全状态，因为此时已无法再找到一个安全序列。当系统进入不安全状态后，便可能导致死锁。例如，把剩下的</a:t>
            </a:r>
            <a:r>
              <a:rPr lang="en-US" altLang="zh-CN" dirty="0"/>
              <a:t>2</a:t>
            </a:r>
            <a:r>
              <a:rPr lang="zh-CN" altLang="en-US" dirty="0"/>
              <a:t>台磁带机分配给</a:t>
            </a:r>
            <a:r>
              <a:rPr lang="en-US" altLang="zh-CN" dirty="0"/>
              <a:t>P2,</a:t>
            </a:r>
            <a:r>
              <a:rPr lang="zh-CN" altLang="en-US" dirty="0"/>
              <a:t>这样，</a:t>
            </a:r>
            <a:r>
              <a:rPr lang="en-US" altLang="zh-CN" dirty="0"/>
              <a:t>P2</a:t>
            </a:r>
            <a:r>
              <a:rPr lang="zh-CN" altLang="en-US" dirty="0"/>
              <a:t>完成后只能释放</a:t>
            </a:r>
            <a:r>
              <a:rPr lang="en-US" altLang="zh-CN" dirty="0"/>
              <a:t>4</a:t>
            </a:r>
            <a:r>
              <a:rPr lang="zh-CN" altLang="en-US" dirty="0"/>
              <a:t>台磁带机，既不能满足</a:t>
            </a:r>
            <a:r>
              <a:rPr lang="en-US" altLang="zh-CN" dirty="0"/>
              <a:t>P1,</a:t>
            </a:r>
            <a:r>
              <a:rPr lang="zh-CN" altLang="en-US" dirty="0"/>
              <a:t>又不能满足</a:t>
            </a:r>
            <a:r>
              <a:rPr lang="en-US" altLang="zh-CN" dirty="0"/>
              <a:t>P3,</a:t>
            </a:r>
            <a:r>
              <a:rPr lang="zh-CN" altLang="en-US" dirty="0"/>
              <a:t>致使它们都无法推进到完成，彼此都在等待对方释放资源，陷入僵局，即导致死锁。</a:t>
            </a:r>
          </a:p>
          <a:p>
            <a:pPr lvl="0"/>
            <a:r>
              <a:rPr lang="zh-CN" altLang="en-US" dirty="0"/>
              <a:t>并非所有的不安全状态都是死锁状态，但当系统进入不安全状态后，便可能进入死锁状态：反之，只要系统处于安全状态，系统便可避免进入死锁状态。</a:t>
            </a:r>
            <a:endParaRPr lang="zh-CN" dirty="0"/>
          </a:p>
        </p:txBody>
      </p:sp>
    </p:spTree>
    <p:extLst>
      <p:ext uri="{BB962C8B-B14F-4D97-AF65-F5344CB8AC3E}">
        <p14:creationId xmlns:p14="http://schemas.microsoft.com/office/powerpoint/2010/main" val="617421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银行家算法是最著名的死锁避免算法，其思想是：把操作系统视为银行家，操作系统管理的资源相当于银行家管理的资金，进程向操作系统请求分配资源相当于用户向银行家贷款。操作系统按照银行家制定的规则为进程分配资源。进程运行之前先声明对各种资源的最大需求量，当进程在执行中继续申请资源时，先测试该进程已占用的资源数与本次申请的资源数之和是否超过该进程声明的最大需求量。若超过则拒绝分配资源，若未超过则再测试系统现存的资源能否满足该进程尚需的最大资源量，若能满足则按当前的申请量分配资源，否则也要推迟分配。</a:t>
            </a:r>
            <a:endParaRPr lang="zh-CN" dirty="0"/>
          </a:p>
        </p:txBody>
      </p:sp>
    </p:spTree>
    <p:extLst>
      <p:ext uri="{BB962C8B-B14F-4D97-AF65-F5344CB8AC3E}">
        <p14:creationId xmlns:p14="http://schemas.microsoft.com/office/powerpoint/2010/main" val="1320503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2665124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3595954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554392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502571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3374181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746609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435735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40935487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36527943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2671565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4671419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256866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2685203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前面介绍的死锁预防和避免算法，都是在为进程分配资源时施加限制条件或进行检测，若系统为进程分配资源时不采取任何措施，则应该提供死锁检测和解除的手段。</a:t>
            </a:r>
          </a:p>
          <a:p>
            <a:pPr lvl="0"/>
            <a:r>
              <a:rPr lang="en-US" altLang="zh-CN" dirty="0"/>
              <a:t>1.</a:t>
            </a:r>
            <a:r>
              <a:rPr lang="zh-CN" altLang="en-US" dirty="0"/>
              <a:t>资源分配图</a:t>
            </a:r>
            <a:endParaRPr lang="en-US" altLang="zh-CN" dirty="0"/>
          </a:p>
          <a:p>
            <a:pPr lvl="0"/>
            <a:r>
              <a:rPr lang="zh-CN" altLang="en-US" dirty="0"/>
              <a:t>系统死锁可利用资源分配图来描述。如图所示，用圆圈代表一个进程，用框代表一类资源。由于一种类型的资源可能有多个，因此用框中的一个圆代表一类资源中的一个资源。从进程到资源的有向边称为请求边，表示该进程申请一个单位的该类资源；从资源到进程的边称为分配边，表示该类资源已有一个资源分配给了该进程。</a:t>
            </a:r>
          </a:p>
          <a:p>
            <a:pPr lvl="0"/>
            <a:r>
              <a:rPr lang="zh-CN" altLang="en-US" dirty="0"/>
              <a:t>在如图所示的资源分配图中，进程</a:t>
            </a:r>
            <a:r>
              <a:rPr lang="en-US" altLang="zh-CN" dirty="0"/>
              <a:t>P1</a:t>
            </a:r>
            <a:r>
              <a:rPr lang="zh-CN" altLang="en-US" dirty="0"/>
              <a:t>已经分得了两个</a:t>
            </a:r>
            <a:r>
              <a:rPr lang="en-US" altLang="zh-CN" dirty="0"/>
              <a:t>R1</a:t>
            </a:r>
            <a:r>
              <a:rPr lang="zh-CN" altLang="en-US" dirty="0"/>
              <a:t>资源，并又请求一个</a:t>
            </a:r>
            <a:r>
              <a:rPr lang="en-US" altLang="zh-CN" dirty="0"/>
              <a:t>R2</a:t>
            </a:r>
            <a:r>
              <a:rPr lang="zh-CN" altLang="en-US" dirty="0"/>
              <a:t>资源：进程</a:t>
            </a:r>
            <a:r>
              <a:rPr lang="en-US" altLang="zh-CN" dirty="0"/>
              <a:t>P2</a:t>
            </a:r>
            <a:r>
              <a:rPr lang="zh-CN" altLang="en-US" dirty="0"/>
              <a:t>分得了一个</a:t>
            </a:r>
            <a:r>
              <a:rPr lang="en-US" altLang="zh-CN" dirty="0"/>
              <a:t>R1</a:t>
            </a:r>
            <a:r>
              <a:rPr lang="zh-CN" altLang="en-US" dirty="0"/>
              <a:t>资源和一个</a:t>
            </a:r>
            <a:r>
              <a:rPr lang="en-US" altLang="zh-CN" dirty="0"/>
              <a:t>R2</a:t>
            </a:r>
            <a:r>
              <a:rPr lang="zh-CN" altLang="en-US" dirty="0"/>
              <a:t>资源，并又清求一个</a:t>
            </a:r>
            <a:r>
              <a:rPr lang="en-US" altLang="zh-CN" dirty="0"/>
              <a:t>R1</a:t>
            </a:r>
            <a:r>
              <a:rPr lang="zh-CN" altLang="en-US" dirty="0"/>
              <a:t>资源。</a:t>
            </a:r>
            <a:endParaRPr lang="zh-CN" dirty="0"/>
          </a:p>
        </p:txBody>
      </p:sp>
    </p:spTree>
    <p:extLst>
      <p:ext uri="{BB962C8B-B14F-4D97-AF65-F5344CB8AC3E}">
        <p14:creationId xmlns:p14="http://schemas.microsoft.com/office/powerpoint/2010/main" val="7873483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简化资源分配图可检测系统状态</a:t>
            </a:r>
            <a:r>
              <a:rPr lang="en-US" altLang="zh-CN" dirty="0"/>
              <a:t>S</a:t>
            </a:r>
            <a:r>
              <a:rPr lang="zh-CN" altLang="en-US" dirty="0"/>
              <a:t>是否为死锁状态。简化方法如下：</a:t>
            </a:r>
          </a:p>
          <a:p>
            <a:pPr lvl="0"/>
            <a:r>
              <a:rPr lang="en-US" altLang="zh-CN" dirty="0"/>
              <a:t>1)</a:t>
            </a:r>
            <a:r>
              <a:rPr lang="zh-CN" altLang="en-US" dirty="0"/>
              <a:t>在资源分配图中，找出既不阻塞又不孤点的进程</a:t>
            </a:r>
            <a:r>
              <a:rPr lang="en-US" altLang="zh-CN" dirty="0"/>
              <a:t>Pi(</a:t>
            </a:r>
            <a:r>
              <a:rPr lang="zh-CN" altLang="en-US" dirty="0"/>
              <a:t>即找出一条有向边与它相连，且该有向边对应资源的申请数量小于等于系统中已有的空闲资源数量，如在上图中，</a:t>
            </a:r>
            <a:r>
              <a:rPr lang="en-US" altLang="zh-CN" dirty="0"/>
              <a:t>R1</a:t>
            </a:r>
            <a:r>
              <a:rPr lang="zh-CN" altLang="en-US" dirty="0"/>
              <a:t>没有空闲资源，</a:t>
            </a:r>
            <a:r>
              <a:rPr lang="en-US" altLang="zh-CN" dirty="0"/>
              <a:t>R2</a:t>
            </a:r>
            <a:r>
              <a:rPr lang="zh-CN" altLang="en-US" dirty="0"/>
              <a:t>有一个空闲资源。若所有连接该进程的边均满足上述条件，则这个进程能继续运行直至完成，然后释放它所占有的所有资源）。消去它所有的请求边和分配边，使之成为孤立的结点。在下图</a:t>
            </a:r>
            <a:r>
              <a:rPr lang="en-US" altLang="zh-CN" dirty="0"/>
              <a:t>a</a:t>
            </a:r>
            <a:r>
              <a:rPr lang="zh-CN" altLang="en-US" dirty="0"/>
              <a:t>中，</a:t>
            </a:r>
            <a:r>
              <a:rPr lang="en-US" altLang="zh-CN" dirty="0"/>
              <a:t>P1</a:t>
            </a:r>
            <a:r>
              <a:rPr lang="zh-CN" altLang="en-US" dirty="0"/>
              <a:t>是满足这一条件的进程结点，将</a:t>
            </a:r>
            <a:r>
              <a:rPr lang="en-US" altLang="zh-CN" dirty="0"/>
              <a:t>P1</a:t>
            </a:r>
            <a:r>
              <a:rPr lang="zh-CN" altLang="en-US" dirty="0"/>
              <a:t>的所有边消去，便得到图</a:t>
            </a:r>
            <a:r>
              <a:rPr lang="en-US" altLang="zh-CN" dirty="0"/>
              <a:t>b</a:t>
            </a:r>
            <a:r>
              <a:rPr lang="zh-CN" altLang="en-US" dirty="0"/>
              <a:t>所示的情况。</a:t>
            </a:r>
          </a:p>
          <a:p>
            <a:pPr lvl="0"/>
            <a:r>
              <a:rPr lang="zh-CN" altLang="en-US" dirty="0"/>
              <a:t>这里要注意一个问题，判断某种资源是否有空闲，应该用它的资源数量减去它在资源分配图中的出度，例如在上图中，</a:t>
            </a:r>
            <a:r>
              <a:rPr lang="en-US" altLang="zh-CN" dirty="0"/>
              <a:t>R1</a:t>
            </a:r>
            <a:r>
              <a:rPr lang="zh-CN" altLang="en-US" dirty="0"/>
              <a:t>的资源数为</a:t>
            </a:r>
            <a:r>
              <a:rPr lang="en-US" altLang="zh-CN" dirty="0"/>
              <a:t>3</a:t>
            </a:r>
            <a:r>
              <a:rPr lang="zh-CN" altLang="en-US" dirty="0"/>
              <a:t>，而出度也为</a:t>
            </a:r>
            <a:r>
              <a:rPr lang="en-US" altLang="zh-CN" dirty="0"/>
              <a:t>3</a:t>
            </a:r>
            <a:r>
              <a:rPr lang="zh-CN" altLang="en-US" dirty="0"/>
              <a:t>，所以</a:t>
            </a:r>
            <a:r>
              <a:rPr lang="en-US" altLang="zh-CN" dirty="0"/>
              <a:t>R1</a:t>
            </a:r>
            <a:r>
              <a:rPr lang="zh-CN" altLang="en-US" dirty="0"/>
              <a:t>没有空闲资源，</a:t>
            </a:r>
            <a:r>
              <a:rPr lang="en-US" altLang="zh-CN" dirty="0"/>
              <a:t>R2</a:t>
            </a:r>
            <a:r>
              <a:rPr lang="zh-CN" altLang="en-US" dirty="0"/>
              <a:t>的资源数为</a:t>
            </a:r>
            <a:r>
              <a:rPr lang="en-US" altLang="zh-CN" dirty="0"/>
              <a:t>2</a:t>
            </a:r>
            <a:r>
              <a:rPr lang="zh-CN" altLang="en-US" dirty="0"/>
              <a:t>，出度为</a:t>
            </a:r>
            <a:r>
              <a:rPr lang="en-US" altLang="zh-CN" dirty="0"/>
              <a:t>1</a:t>
            </a:r>
            <a:r>
              <a:rPr lang="zh-CN" altLang="en-US" dirty="0"/>
              <a:t>，所以</a:t>
            </a:r>
            <a:r>
              <a:rPr lang="en-US" altLang="zh-CN" dirty="0"/>
              <a:t>R2</a:t>
            </a:r>
            <a:r>
              <a:rPr lang="zh-CN" altLang="en-US" dirty="0"/>
              <a:t>有一个空闲资源。</a:t>
            </a:r>
            <a:endParaRPr lang="en-US" altLang="zh-CN" dirty="0"/>
          </a:p>
          <a:p>
            <a:pPr lvl="0"/>
            <a:r>
              <a:rPr lang="en-US" altLang="zh-CN" dirty="0"/>
              <a:t>2)</a:t>
            </a:r>
            <a:r>
              <a:rPr lang="zh-CN" altLang="en-US" dirty="0"/>
              <a:t>进程</a:t>
            </a:r>
            <a:r>
              <a:rPr lang="en-US" altLang="zh-CN" dirty="0"/>
              <a:t>Pi</a:t>
            </a:r>
            <a:r>
              <a:rPr lang="zh-CN" altLang="en-US" dirty="0"/>
              <a:t>所释放的资源，可以唤醒某些因等待这些资源而阻塞的进程，原来的阻塞进程可能变为非阻塞进程。在上图中，进程</a:t>
            </a:r>
            <a:r>
              <a:rPr lang="en-US" altLang="zh-CN" dirty="0"/>
              <a:t>P2</a:t>
            </a:r>
            <a:r>
              <a:rPr lang="zh-CN" altLang="en-US" dirty="0"/>
              <a:t>就满足这样的条件。根据</a:t>
            </a:r>
            <a:r>
              <a:rPr lang="en-US" altLang="zh-CN" dirty="0"/>
              <a:t>1)</a:t>
            </a:r>
            <a:r>
              <a:rPr lang="zh-CN" altLang="en-US" dirty="0"/>
              <a:t>中的方法进行一系列简化后，若能消去图中所有的边，则称该图是可完全简化的，如图</a:t>
            </a:r>
            <a:r>
              <a:rPr lang="en-US" altLang="zh-CN" dirty="0"/>
              <a:t>c</a:t>
            </a:r>
            <a:r>
              <a:rPr lang="zh-CN" altLang="en-US" dirty="0"/>
              <a:t>所示。</a:t>
            </a:r>
            <a:endParaRPr lang="en-US" altLang="zh-CN" dirty="0"/>
          </a:p>
          <a:p>
            <a:pPr lvl="0"/>
            <a:r>
              <a:rPr lang="en-US" altLang="zh-CN" dirty="0"/>
              <a:t>S</a:t>
            </a:r>
            <a:r>
              <a:rPr lang="zh-CN" altLang="en-US" dirty="0"/>
              <a:t>为死锁的条件是当且仅当</a:t>
            </a:r>
            <a:r>
              <a:rPr lang="en-US" altLang="zh-CN" dirty="0"/>
              <a:t>S</a:t>
            </a:r>
            <a:r>
              <a:rPr lang="zh-CN" altLang="en-US" dirty="0"/>
              <a:t>状态的资源分配图是不可完全简化的，该条件为死锁定理。</a:t>
            </a:r>
            <a:endParaRPr lang="zh-CN" altLang="zh-CN" dirty="0"/>
          </a:p>
          <a:p>
            <a:pPr lvl="0"/>
            <a:endParaRPr lang="zh-CN" dirty="0"/>
          </a:p>
        </p:txBody>
      </p:sp>
    </p:spTree>
    <p:extLst>
      <p:ext uri="{BB962C8B-B14F-4D97-AF65-F5344CB8AC3E}">
        <p14:creationId xmlns:p14="http://schemas.microsoft.com/office/powerpoint/2010/main" val="6003419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一旦检测出死锁，就应立即采取相应的措施来解除死锁。死锁解除的主要方法有：</a:t>
            </a:r>
          </a:p>
          <a:p>
            <a:pPr lvl="0"/>
            <a:r>
              <a:rPr lang="en-US" altLang="zh-CN" dirty="0"/>
              <a:t>1)</a:t>
            </a:r>
            <a:r>
              <a:rPr lang="zh-CN" altLang="en-US" dirty="0"/>
              <a:t>资源剥夺法。挂起某些死锁进程，并抢占它的资源，将这些资源分配给其他的死锁进程。但应防止被挂起的进程长时间得不到资源而处于资源匮乏的状态。</a:t>
            </a:r>
          </a:p>
          <a:p>
            <a:pPr lvl="0"/>
            <a:r>
              <a:rPr lang="en-US" altLang="zh-CN" dirty="0"/>
              <a:t>2)</a:t>
            </a:r>
            <a:r>
              <a:rPr lang="zh-CN" altLang="en-US" dirty="0"/>
              <a:t>撤销进程法。强制撤销部分甚至全部死锁进程并剥夺这些进程的资源。撤销的原则可以按进程优先级和撤销进程代价的高低进行。</a:t>
            </a:r>
          </a:p>
          <a:p>
            <a:pPr lvl="0"/>
            <a:r>
              <a:rPr lang="en-US" altLang="zh-CN" dirty="0"/>
              <a:t>3)</a:t>
            </a:r>
            <a:r>
              <a:rPr lang="zh-CN" altLang="en-US" dirty="0"/>
              <a:t>进程回退法。让一（或多）个进程回退到足以回避死锁的地步，进程回退时自愿释放资源而非被剥夺。要求系统保持进程的历史信息，设置还原点。</a:t>
            </a:r>
            <a:endParaRPr lang="zh-CN" dirty="0"/>
          </a:p>
        </p:txBody>
      </p:sp>
    </p:spTree>
    <p:extLst>
      <p:ext uri="{BB962C8B-B14F-4D97-AF65-F5344CB8AC3E}">
        <p14:creationId xmlns:p14="http://schemas.microsoft.com/office/powerpoint/2010/main" val="29199647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2329268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B2C465C-8FA2-430C-ADF3-904E03A8F6D5}" type="slidenum">
              <a:rPr lang="zh-CN"/>
              <a:t>‹#›</a:t>
            </a:fld>
            <a:endParaRPr 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4160B0C6-1D85-4301-8154-9EA3552A82D4}" type="slidenum">
              <a:rPr lang="zh-CN"/>
              <a:t>‹#›</a:t>
            </a:fld>
            <a:endParaRPr 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9AA898CA-9DC4-4DEB-987F-5794FE28A276}" type="slidenum">
              <a:rPr lang="zh-CN"/>
              <a:t>‹#›</a:t>
            </a:fld>
            <a:endParaRPr 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2" cstate="print"/>
          <a:srcRect/>
          <a:stretch>
            <a:fillRect/>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56F47AF-6E9B-44E0-8B3C-C99367D85570}" type="slidenum">
              <a:rPr lang="zh-CN"/>
              <a:t>‹#›</a:t>
            </a:fld>
            <a:endParaRPr 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userDrawn="1"/>
        </p:nvPicPr>
        <p:blipFill>
          <a:blip r:embed="rId2" cstate="print">
            <a:clrChange>
              <a:clrFrom>
                <a:srgbClr val="8A1025"/>
              </a:clrFrom>
              <a:clrTo>
                <a:srgbClr val="8A1025">
                  <a:alpha val="0"/>
                </a:srgbClr>
              </a:clrTo>
            </a:clrChange>
          </a:blip>
          <a:srcRect t="4836" b="29471"/>
          <a:stretch>
            <a:fillRect/>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4707B3C6-01FB-418A-A503-30BBA367DFC0}" type="slidenum">
              <a:rPr lang="zh-CN"/>
              <a:t>‹#›</a:t>
            </a:fld>
            <a:endParaRPr 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A7421A49-5667-41F8-BE17-1B845396D5DB}" type="slidenum">
              <a:rPr lang="zh-CN"/>
              <a:t>‹#›</a:t>
            </a:fld>
            <a:endParaRPr 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02386B43-1405-4E8E-813D-472D21B2C6EF}" type="slidenum">
              <a:rPr lang="zh-CN"/>
              <a:t>‹#›</a:t>
            </a:fld>
            <a:endParaRPr 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83FDC7-D04F-4C48-ADCE-652D6AA1EF83}" type="slidenum">
              <a:rPr lang="zh-CN"/>
              <a:t>‹#›</a:t>
            </a:fld>
            <a:endParaRPr 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B7C7ADB0-93AD-4236-858F-3DBD1C0AB6F0}" type="slidenum">
              <a:rPr lang="zh-CN"/>
              <a:t>‹#›</a:t>
            </a:fld>
            <a:endParaRPr 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266418AD-6F9A-4D71-B11D-DEB52ADAFDED}" type="slidenum">
              <a:rPr lang="zh-CN"/>
              <a:t>‹#›</a:t>
            </a:fld>
            <a:endParaRPr 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prstClr val="black">
                <a:alpha val="40000"/>
              </a:prst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userDrawn="1"/>
        </p:nvPicPr>
        <p:blipFill>
          <a:blip r:embed="rId2" cstate="print"/>
          <a:srcRect t="70982"/>
          <a:stretch>
            <a:fillRect/>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CD1B9F34-C406-4928-9AD5-876CC2DF2B15}"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extLst>
      <p:ext uri="{BB962C8B-B14F-4D97-AF65-F5344CB8AC3E}">
        <p14:creationId xmlns:p14="http://schemas.microsoft.com/office/powerpoint/2010/main" val="3048003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11484A87-50AD-4B79-A3C7-C417EE16EDBF}" type="slidenum">
              <a:rPr lang="zh-CN"/>
              <a:t>‹#›</a:t>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D89955F-190E-498C-AC5E-75ECF52E8F3E}" type="slidenum">
              <a:rPr lang="zh-CN"/>
              <a:t>‹#›</a:t>
            </a:fld>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74E77EB7-F2A0-46CA-A721-46FCA8021F8E}" type="slidenum">
              <a:rPr lang="zh-CN"/>
              <a:t>‹#›</a:t>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66F0598-21B1-4440-AE75-4815C1DC4EC5}" type="slidenum">
              <a:rPr lang="zh-CN"/>
              <a:t>‹#›</a:t>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A2EC84F-588A-46AD-BE8D-B7C706380F82}" type="slidenum">
              <a:rPr lang="zh-CN"/>
              <a:t>‹#›</a:t>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9A644E26-11CA-4390-8B0D-33A4D45FDBCF}" type="slidenum">
              <a:rPr lang="zh-CN"/>
              <a:t>‹#›</a:t>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5371423-9E31-436C-88EE-BB1FBC6D8B7B}" type="slidenum">
              <a:rPr lang="zh-CN"/>
              <a:t>‹#›</a:t>
            </a:fld>
            <a:endParaRPr 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3B2B1BF-F1CD-45C9-8721-A997A2366572}" type="slidenum">
              <a:rPr lang="zh-CN"/>
              <a:t>‹#›</a:t>
            </a:fld>
            <a:endParaRPr 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43EB20AC-6F21-4545-A41F-17C9031D6150}" type="slidenum">
              <a:rPr lang="zh-CN"/>
              <a:t>‹#›</a:t>
            </a:fld>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823B0D69-AB24-44A5-A7EA-D7191C8AB2A6}" type="slidenum">
              <a:rPr lang="zh-CN"/>
              <a:t>‹#›</a:t>
            </a:fld>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EACA589E-567E-49C4-8261-CB6A4823C55A}"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609585" lvl="1" indent="0" algn="ctr">
              <a:buNone/>
            </a:lvl2pPr>
            <a:lvl3pPr marL="1219170" lvl="2" indent="0" algn="ctr">
              <a:buNone/>
            </a:lvl3pPr>
            <a:lvl4pPr marL="1828754" lvl="3" indent="0" algn="ctr">
              <a:buNone/>
            </a:lvl4pPr>
            <a:lvl5pPr marL="2438339" lvl="4" indent="0" algn="ctr">
              <a:buNone/>
            </a:lvl5pPr>
            <a:lvl6pPr marL="3047924" lvl="5" indent="0" algn="ctr">
              <a:buNone/>
            </a:lvl6pPr>
            <a:lvl7pPr marL="3657509" lvl="6" indent="0" algn="ctr">
              <a:buNone/>
            </a:lvl7pPr>
            <a:lvl8pPr marL="4267093" lvl="7" indent="0" algn="ctr">
              <a:buNone/>
            </a:lvl8pPr>
            <a:lvl9pPr marL="4876678"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E1C8ADA-986C-4CD0-8B07-7B4FAC0DDF0A}" type="slidenum">
              <a:rPr lang="zh-CN"/>
              <a:t>‹#›</a:t>
            </a:fld>
            <a:endParaRPr 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569AF65-7210-48C0-9D6F-4ED9578326A3}" type="slidenum">
              <a:rPr lang="zh-CN"/>
              <a:t>‹#›</a:t>
            </a:fld>
            <a:endParaRPr 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9"/>
            <a:ext cx="7772400" cy="1125537"/>
          </a:xfrm>
        </p:spPr>
        <p:txBody>
          <a:bodyPr anchor="b"/>
          <a:lstStyle>
            <a:lvl1pPr marL="0" lvl="0" indent="0">
              <a:buNone/>
              <a:defRPr sz="2000"/>
            </a:lvl1pPr>
            <a:lvl2pPr marL="609585" lvl="1" indent="0">
              <a:buNone/>
              <a:defRPr sz="1800"/>
            </a:lvl2pPr>
            <a:lvl3pPr marL="1219170" lvl="2" indent="0">
              <a:buNone/>
              <a:defRPr sz="1600"/>
            </a:lvl3pPr>
            <a:lvl4pPr marL="1828754" lvl="3" indent="0">
              <a:buNone/>
              <a:defRPr sz="1400"/>
            </a:lvl4pPr>
            <a:lvl5pPr marL="2438339" lvl="4" indent="0">
              <a:buNone/>
              <a:defRPr sz="1400"/>
            </a:lvl5pPr>
            <a:lvl6pPr marL="3047924" lvl="5" indent="0">
              <a:buNone/>
              <a:defRPr sz="1400"/>
            </a:lvl6pPr>
            <a:lvl7pPr marL="3657509" lvl="6" indent="0">
              <a:buNone/>
              <a:defRPr sz="1400"/>
            </a:lvl7pPr>
            <a:lvl8pPr marL="4267093" lvl="7" indent="0">
              <a:buNone/>
              <a:defRPr sz="1400"/>
            </a:lvl8pPr>
            <a:lvl9pPr marL="4876678"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DB2A9E76-B0EF-4942-AF63-EC4240A249C3}" type="slidenum">
              <a:rPr lang="zh-CN"/>
              <a:t>‹#›</a:t>
            </a:fld>
            <a:endParaRPr 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6"/>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sz="1800">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717E04D5-9CCC-4B4A-819A-E85D3819BE70}" type="slidenum">
              <a:rPr lang="zh-CN"/>
              <a:t>‹#›</a:t>
            </a:fld>
            <a:endParaRPr 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sz="1800">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9FC0DCD-6495-4C19-9764-D98D8DA4A9DD}" type="slidenum">
              <a:rPr lang="zh-CN"/>
              <a:t>‹#›</a:t>
            </a:fld>
            <a:endParaRPr 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9CE01A9-8458-46EC-B416-1AC5D0886737}" type="slidenum">
              <a:rPr lang="zh-CN"/>
              <a:t>‹#›</a:t>
            </a:fld>
            <a:endParaRPr 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DD7966A8-8BEB-4A6F-9BE7-DA30B1191586}" type="slidenum">
              <a:rPr lang="zh-CN"/>
              <a:t>‹#›</a:t>
            </a:fld>
            <a:endParaRPr 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AD6A95-45B5-42CF-B13C-7B8CA6B10B7D}" type="slidenum">
              <a:rPr lang="zh-CN"/>
              <a:t>‹#›</a:t>
            </a:fld>
            <a:endParaRPr 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E0115C96-B7F2-4EC9-A9A0-38E758E649DF}" type="slidenum">
              <a:rPr lang="zh-CN"/>
              <a:t>‹#›</a:t>
            </a:fld>
            <a:endParaRPr 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3FC4E793-5685-40B3-81CC-4A8DE5B11FDE}" type="slidenum">
              <a:rPr lang="zh-CN"/>
              <a:t>‹#›</a:t>
            </a:fld>
            <a:endParaRPr 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sz="1800">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sz="1800">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sz="1800">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38972883-C56B-4905-BF1E-3D6412BEFE4F}"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9"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标题幻灯片">
    <p:spTree>
      <p:nvGrpSpPr>
        <p:cNvPr id="1" name=""/>
        <p:cNvGrpSpPr/>
        <p:nvPr/>
      </p:nvGrpSpPr>
      <p:grpSpPr>
        <a:xfrm>
          <a:off x="0" y="0"/>
          <a:ext cx="0" cy="0"/>
          <a:chOff x="0" y="0"/>
          <a:chExt cx="0" cy="0"/>
        </a:xfrm>
      </p:grpSpPr>
      <p:sp>
        <p:nvSpPr>
          <p:cNvPr id="3074" name="Line 4"/>
          <p:cNvSpPr/>
          <p:nvPr/>
        </p:nvSpPr>
        <p:spPr>
          <a:xfrm flipV="1">
            <a:off x="274638" y="458152"/>
            <a:ext cx="8594725" cy="0"/>
          </a:xfrm>
          <a:prstGeom prst="line">
            <a:avLst/>
          </a:prstGeom>
          <a:ln w="38100">
            <a:solidFill>
              <a:srgbClr val="00B050"/>
            </a:solidFill>
            <a:prstDash val="solid"/>
            <a:headEnd type="none" w="med" len="med"/>
            <a:tailEnd type="none" w="med" len="med"/>
          </a:ln>
        </p:spPr>
        <p:txBody>
          <a:bodyPr/>
          <a:lstStyle/>
          <a:p>
            <a:endParaRPr/>
          </a:p>
        </p:txBody>
      </p:sp>
      <p:pic>
        <p:nvPicPr>
          <p:cNvPr id="3075" name="Picture 6"/>
          <p:cNvPicPr>
            <a:picLocks noChangeAspect="1"/>
          </p:cNvPicPr>
          <p:nvPr/>
        </p:nvPicPr>
        <p:blipFill>
          <a:blip r:embed="rId2"/>
          <a:stretch/>
        </p:blipFill>
        <p:spPr>
          <a:xfrm>
            <a:off x="7118350" y="63513"/>
            <a:ext cx="1779588" cy="394097"/>
          </a:xfrm>
          <a:prstGeom prst="rect">
            <a:avLst/>
          </a:prstGeom>
          <a:noFill/>
          <a:ln>
            <a:noFill/>
          </a:ln>
        </p:spPr>
      </p:pic>
      <p:pic>
        <p:nvPicPr>
          <p:cNvPr id="3076" name="Picture 2"/>
          <p:cNvPicPr>
            <a:picLocks noChangeAspect="1"/>
          </p:cNvPicPr>
          <p:nvPr/>
        </p:nvPicPr>
        <p:blipFill>
          <a:blip r:embed="rId3"/>
          <a:srcRect t="13902" b="15382"/>
          <a:stretch/>
        </p:blipFill>
        <p:spPr>
          <a:xfrm>
            <a:off x="0" y="2903935"/>
            <a:ext cx="8807450" cy="1701403"/>
          </a:xfrm>
          <a:prstGeom prst="rect">
            <a:avLst/>
          </a:prstGeom>
          <a:noFill/>
          <a:ln>
            <a:noFill/>
          </a:ln>
        </p:spPr>
      </p:pic>
      <p:sp>
        <p:nvSpPr>
          <p:cNvPr id="123906" name="Rectangle 2"/>
          <p:cNvSpPr>
            <a:spLocks noGrp="1" noChangeArrowheads="1"/>
          </p:cNvSpPr>
          <p:nvPr>
            <p:ph type="ctrTitle"/>
          </p:nvPr>
        </p:nvSpPr>
        <p:spPr>
          <a:xfrm>
            <a:off x="255270" y="629365"/>
            <a:ext cx="7772400" cy="1102519"/>
          </a:xfrm>
        </p:spPr>
        <p:txBody>
          <a:bodyPr/>
          <a:lstStyle>
            <a:lvl1pPr lvl="0">
              <a:defRPr sz="2700"/>
            </a:lvl1pPr>
          </a:lstStyle>
          <a:p>
            <a:r>
              <a:rPr lang="en-US" strike="noStrike"/>
              <a:t>Click to edit Master title style</a:t>
            </a:r>
          </a:p>
        </p:txBody>
      </p:sp>
      <p:sp>
        <p:nvSpPr>
          <p:cNvPr id="123907" name="Rectangle 3"/>
          <p:cNvSpPr>
            <a:spLocks noGrp="1" noChangeArrowheads="1"/>
          </p:cNvSpPr>
          <p:nvPr>
            <p:ph type="subTitle" idx="1"/>
          </p:nvPr>
        </p:nvSpPr>
        <p:spPr>
          <a:xfrm>
            <a:off x="684213" y="2409825"/>
            <a:ext cx="7775575" cy="540544"/>
          </a:xfrm>
        </p:spPr>
        <p:txBody>
          <a:bodyPr/>
          <a:lstStyle>
            <a:lvl1pPr marL="0" lvl="0" indent="0">
              <a:buFont typeface="Wingdings" charset="2"/>
              <a:buNone/>
            </a:lvl1pPr>
          </a:lstStyle>
          <a:p>
            <a:r>
              <a:rPr lang="en-US" strike="noStrike"/>
              <a:t>Click to edit Master subtitle style</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标题和表格">
    <p:spTree>
      <p:nvGrpSpPr>
        <p:cNvPr id="1" name=""/>
        <p:cNvGrpSpPr/>
        <p:nvPr/>
      </p:nvGrpSpPr>
      <p:grpSpPr>
        <a:xfrm>
          <a:off x="0" y="0"/>
          <a:ext cx="0" cy="0"/>
          <a:chOff x="0" y="0"/>
          <a:chExt cx="0" cy="0"/>
        </a:xfrm>
      </p:grpSpPr>
      <p:sp>
        <p:nvSpPr>
          <p:cNvPr id="3" name="表格占位符 2"/>
          <p:cNvSpPr>
            <a:spLocks noGrp="1"/>
          </p:cNvSpPr>
          <p:nvPr>
            <p:ph type="tbl" idx="1"/>
          </p:nvPr>
        </p:nvSpPr>
        <p:spPr>
          <a:xfrm>
            <a:off x="182563" y="1021080"/>
            <a:ext cx="8686800" cy="3368278"/>
          </a:xfrm>
        </p:spPr>
        <p:txBody>
          <a:bodyPr vert="horz" wrap="square" lIns="91440" tIns="45720" rIns="91440" bIns="45720" numCol="1" anchor="t" anchorCtr="0"/>
          <a:lstStyle/>
          <a:p>
            <a:pPr marL="173355" lvl="0" indent="-173355" algn="l" defTabSz="914400">
              <a:lnSpc>
                <a:spcPct val="100000"/>
              </a:lnSpc>
              <a:spcBef>
                <a:spcPct val="20000"/>
              </a:spcBef>
              <a:spcAft>
                <a:spcPct val="0"/>
              </a:spcAft>
              <a:buClr>
                <a:schemeClr val="accent1"/>
              </a:buClr>
              <a:buSzPct val="60000"/>
              <a:buFont typeface="Wingdings" charset="2"/>
              <a:buChar char="n"/>
            </a:pPr>
            <a:endParaRPr lang="zh-CN" sz="1200" b="0" i="0" u="none" strike="noStrike" kern="0" spc="0" baseline="0">
              <a:ln>
                <a:noFill/>
              </a:ln>
              <a:solidFill>
                <a:schemeClr val="tx1"/>
              </a:solidFill>
              <a:effectLst/>
              <a:latin typeface="Arial"/>
              <a:ea typeface="宋体"/>
            </a:endParaRPr>
          </a:p>
        </p:txBody>
      </p:sp>
      <p:sp>
        <p:nvSpPr>
          <p:cNvPr id="9" name="燕尾形 5"/>
          <p:cNvSpPr/>
          <p:nvPr/>
        </p:nvSpPr>
        <p:spPr>
          <a:xfrm>
            <a:off x="285274" y="65246"/>
            <a:ext cx="3840956" cy="313372"/>
          </a:xfrm>
          <a:prstGeom prst="chevron">
            <a:avLst/>
          </a:prstGeom>
          <a:solidFill>
            <a:srgbClr val="009259"/>
          </a:solidFill>
          <a:ln>
            <a:noFill/>
          </a:ln>
        </p:spPr>
        <p:txBody>
          <a:bodyPr vert="horz" wrap="square" numCol="1" spcCol="0" anchor="ctr" anchorCtr="0"/>
          <a:lstStyle>
            <a:lvl1pPr marL="0" lvl="0" indent="0" algn="l" defTabSz="914400">
              <a:lnSpc>
                <a:spcPct val="100000"/>
              </a:lnSpc>
              <a:spcBef>
                <a:spcPct val="0"/>
              </a:spcBef>
              <a:spcAft>
                <a:spcPct val="0"/>
              </a:spcAft>
              <a:buNone/>
              <a:defRPr sz="1350" b="0" i="0" u="none" kern="1200" baseline="0">
                <a:solidFill>
                  <a:schemeClr val="lt1"/>
                </a:solidFill>
                <a:latin typeface="Arial"/>
                <a:ea typeface="宋体"/>
              </a:defRPr>
            </a:lvl1pPr>
            <a:lvl2pPr marL="455930" lvl="1" indent="1270" algn="l" defTabSz="914400">
              <a:lnSpc>
                <a:spcPct val="100000"/>
              </a:lnSpc>
              <a:spcBef>
                <a:spcPct val="0"/>
              </a:spcBef>
              <a:spcAft>
                <a:spcPct val="0"/>
              </a:spcAft>
              <a:buNone/>
              <a:defRPr sz="1350" b="0" i="0" u="none" kern="1200" baseline="0">
                <a:solidFill>
                  <a:schemeClr val="lt1"/>
                </a:solidFill>
                <a:latin typeface="Arial"/>
                <a:ea typeface="宋体"/>
              </a:defRPr>
            </a:lvl2pPr>
            <a:lvl3pPr marL="913130" lvl="2" indent="1270" algn="l" defTabSz="914400">
              <a:lnSpc>
                <a:spcPct val="100000"/>
              </a:lnSpc>
              <a:spcBef>
                <a:spcPct val="0"/>
              </a:spcBef>
              <a:spcAft>
                <a:spcPct val="0"/>
              </a:spcAft>
              <a:buNone/>
              <a:defRPr sz="1350" b="0" i="0" u="none" kern="1200" baseline="0">
                <a:solidFill>
                  <a:schemeClr val="lt1"/>
                </a:solidFill>
                <a:latin typeface="Arial"/>
                <a:ea typeface="宋体"/>
              </a:defRPr>
            </a:lvl3pPr>
            <a:lvl4pPr marL="1370330" lvl="3" indent="1270" algn="l" defTabSz="914400">
              <a:lnSpc>
                <a:spcPct val="100000"/>
              </a:lnSpc>
              <a:spcBef>
                <a:spcPct val="0"/>
              </a:spcBef>
              <a:spcAft>
                <a:spcPct val="0"/>
              </a:spcAft>
              <a:buNone/>
              <a:defRPr sz="1350" b="0" i="0" u="none" kern="1200" baseline="0">
                <a:solidFill>
                  <a:schemeClr val="lt1"/>
                </a:solidFill>
                <a:latin typeface="Arial"/>
                <a:ea typeface="宋体"/>
              </a:defRPr>
            </a:lvl4pPr>
            <a:lvl5pPr marL="1827530" lvl="4" indent="1270" algn="l" defTabSz="914400">
              <a:lnSpc>
                <a:spcPct val="100000"/>
              </a:lnSpc>
              <a:spcBef>
                <a:spcPct val="0"/>
              </a:spcBef>
              <a:spcAft>
                <a:spcPct val="0"/>
              </a:spcAft>
              <a:buNone/>
              <a:defRPr sz="1350" b="0" i="0" u="none" kern="1200" baseline="0">
                <a:solidFill>
                  <a:schemeClr val="lt1"/>
                </a:solidFill>
                <a:latin typeface="Arial"/>
                <a:ea typeface="宋体"/>
              </a:defRPr>
            </a:lvl5pPr>
            <a:lvl6pPr marL="2286000" lvl="5" indent="1270" algn="l" defTabSz="914400">
              <a:lnSpc>
                <a:spcPct val="100000"/>
              </a:lnSpc>
              <a:spcBef>
                <a:spcPct val="0"/>
              </a:spcBef>
              <a:spcAft>
                <a:spcPct val="0"/>
              </a:spcAft>
              <a:buNone/>
              <a:defRPr sz="1350" b="0" i="0" u="none" kern="1200" baseline="0">
                <a:solidFill>
                  <a:schemeClr val="lt1"/>
                </a:solidFill>
                <a:latin typeface="Arial"/>
                <a:ea typeface="宋体"/>
              </a:defRPr>
            </a:lvl6pPr>
            <a:lvl7pPr marL="2743200" lvl="6" indent="1270" algn="l" defTabSz="914400">
              <a:lnSpc>
                <a:spcPct val="100000"/>
              </a:lnSpc>
              <a:spcBef>
                <a:spcPct val="0"/>
              </a:spcBef>
              <a:spcAft>
                <a:spcPct val="0"/>
              </a:spcAft>
              <a:buNone/>
              <a:defRPr sz="1350" b="0" i="0" u="none" kern="1200" baseline="0">
                <a:solidFill>
                  <a:schemeClr val="lt1"/>
                </a:solidFill>
                <a:latin typeface="Arial"/>
                <a:ea typeface="宋体"/>
              </a:defRPr>
            </a:lvl7pPr>
            <a:lvl8pPr marL="3200400" lvl="7" indent="1270" algn="l" defTabSz="914400">
              <a:lnSpc>
                <a:spcPct val="100000"/>
              </a:lnSpc>
              <a:spcBef>
                <a:spcPct val="0"/>
              </a:spcBef>
              <a:spcAft>
                <a:spcPct val="0"/>
              </a:spcAft>
              <a:buNone/>
              <a:defRPr sz="1350" b="0" i="0" u="none" kern="1200" baseline="0">
                <a:solidFill>
                  <a:schemeClr val="lt1"/>
                </a:solidFill>
                <a:latin typeface="Arial"/>
                <a:ea typeface="宋体"/>
              </a:defRPr>
            </a:lvl8pPr>
            <a:lvl9pPr marL="3657600" lvl="8" indent="1270" algn="l" defTabSz="914400">
              <a:lnSpc>
                <a:spcPct val="100000"/>
              </a:lnSpc>
              <a:spcBef>
                <a:spcPct val="0"/>
              </a:spcBef>
              <a:spcAft>
                <a:spcPct val="0"/>
              </a:spcAft>
              <a:buNone/>
              <a:defRPr sz="1350" b="0" i="0" u="none" kern="1200" baseline="0">
                <a:solidFill>
                  <a:schemeClr val="lt1"/>
                </a:solidFill>
                <a:latin typeface="Arial"/>
                <a:ea typeface="宋体"/>
              </a:defRPr>
            </a:lvl9pPr>
          </a:lstStyle>
          <a:p>
            <a:endParaRPr lang="en-US" sz="1200" b="1">
              <a:solidFill>
                <a:srgbClr val="FFFFFF"/>
              </a:solidFill>
              <a:latin typeface="微软雅黑"/>
              <a:ea typeface="微软雅黑"/>
            </a:endParaRPr>
          </a:p>
        </p:txBody>
      </p:sp>
      <p:sp>
        <p:nvSpPr>
          <p:cNvPr id="2" name="文本框 1"/>
          <p:cNvSpPr txBox="1"/>
          <p:nvPr/>
        </p:nvSpPr>
        <p:spPr>
          <a:xfrm>
            <a:off x="535780" y="91172"/>
            <a:ext cx="1821656" cy="276999"/>
          </a:xfrm>
          <a:prstGeom prst="rect">
            <a:avLst/>
          </a:prstGeom>
          <a:noFill/>
        </p:spPr>
        <p:txBody>
          <a:bodyPr wrap="square">
            <a:spAutoFit/>
          </a:bodyPr>
          <a:lstStyle/>
          <a:p>
            <a:pPr marL="0" lvl="0" indent="0" algn="l" defTabSz="914400">
              <a:lnSpc>
                <a:spcPct val="100000"/>
              </a:lnSpc>
              <a:spcBef>
                <a:spcPts val="0"/>
              </a:spcBef>
              <a:spcAft>
                <a:spcPts val="0"/>
              </a:spcAft>
              <a:tabLst/>
            </a:pPr>
            <a:r>
              <a:rPr lang="zh-CN" sz="1350">
                <a:latin typeface="OPPOSans B"/>
                <a:ea typeface="OPPOSans B"/>
              </a:rPr>
              <a:t>联合实验室进展</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2" y="4795838"/>
            <a:ext cx="3307556" cy="219075"/>
          </a:xfrm>
        </p:spPr>
        <p:txBody>
          <a:bodyPr>
            <a:normAutofit/>
          </a:bodyPr>
          <a:lstStyle>
            <a:lvl1pPr lvl="0">
              <a:defRPr sz="712"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9.png"/><Relationship Id="rId5" Type="http://schemas.openxmlformats.org/officeDocument/2006/relationships/theme" Target="../theme/theme4.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00D68A8B-6C62-432B-A43C-A1BCAB8AA3A8}"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46CA1F34-64BF-43C4-8E64-78EC09648AC6}"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1"/>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2B865F8E-C9A6-450B-A9C7-5798BE3FFA29}"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lvl="0" algn="ctr">
        <a:spcBef>
          <a:spcPct val="0"/>
        </a:spcBef>
        <a:spcAft>
          <a:spcPct val="0"/>
        </a:spcAft>
        <a:defRPr sz="5867">
          <a:solidFill>
            <a:schemeClr val="tx1"/>
          </a:solidFill>
          <a:latin typeface="Calibri"/>
          <a:ea typeface="宋体"/>
        </a:defRPr>
      </a:lvl1pPr>
      <a:lvl2pPr lvl="1" algn="ctr">
        <a:spcBef>
          <a:spcPct val="0"/>
        </a:spcBef>
        <a:spcAft>
          <a:spcPct val="0"/>
        </a:spcAft>
        <a:defRPr sz="5867">
          <a:solidFill>
            <a:schemeClr val="tx1"/>
          </a:solidFill>
          <a:latin typeface="Calibri"/>
          <a:ea typeface="宋体"/>
        </a:defRPr>
      </a:lvl2pPr>
      <a:lvl3pPr lvl="2" algn="ctr">
        <a:spcBef>
          <a:spcPct val="0"/>
        </a:spcBef>
        <a:spcAft>
          <a:spcPct val="0"/>
        </a:spcAft>
        <a:defRPr sz="5867">
          <a:solidFill>
            <a:schemeClr val="tx1"/>
          </a:solidFill>
          <a:latin typeface="Calibri"/>
          <a:ea typeface="宋体"/>
        </a:defRPr>
      </a:lvl3pPr>
      <a:lvl4pPr lvl="3" algn="ctr">
        <a:spcBef>
          <a:spcPct val="0"/>
        </a:spcBef>
        <a:spcAft>
          <a:spcPct val="0"/>
        </a:spcAft>
        <a:defRPr sz="5867">
          <a:solidFill>
            <a:schemeClr val="tx1"/>
          </a:solidFill>
          <a:latin typeface="Calibri"/>
          <a:ea typeface="宋体"/>
        </a:defRPr>
      </a:lvl4pPr>
      <a:lvl5pPr lvl="4" algn="ctr">
        <a:spcBef>
          <a:spcPct val="0"/>
        </a:spcBef>
        <a:spcAft>
          <a:spcPct val="0"/>
        </a:spcAft>
        <a:defRPr sz="5867">
          <a:solidFill>
            <a:schemeClr val="tx1"/>
          </a:solidFill>
          <a:latin typeface="Calibri"/>
          <a:ea typeface="宋体"/>
        </a:defRPr>
      </a:lvl5pPr>
      <a:lvl6pPr marL="609585" lvl="5" algn="ctr">
        <a:spcBef>
          <a:spcPct val="0"/>
        </a:spcBef>
        <a:spcAft>
          <a:spcPct val="0"/>
        </a:spcAft>
        <a:defRPr sz="5867">
          <a:solidFill>
            <a:schemeClr val="tx1"/>
          </a:solidFill>
          <a:latin typeface="Calibri"/>
          <a:ea typeface="宋体"/>
        </a:defRPr>
      </a:lvl6pPr>
      <a:lvl7pPr marL="1219170" lvl="6" algn="ctr">
        <a:spcBef>
          <a:spcPct val="0"/>
        </a:spcBef>
        <a:spcAft>
          <a:spcPct val="0"/>
        </a:spcAft>
        <a:defRPr sz="5867">
          <a:solidFill>
            <a:schemeClr val="tx1"/>
          </a:solidFill>
          <a:latin typeface="Calibri"/>
          <a:ea typeface="宋体"/>
        </a:defRPr>
      </a:lvl7pPr>
      <a:lvl8pPr marL="1828754" lvl="7" algn="ctr">
        <a:spcBef>
          <a:spcPct val="0"/>
        </a:spcBef>
        <a:spcAft>
          <a:spcPct val="0"/>
        </a:spcAft>
        <a:defRPr sz="5867">
          <a:solidFill>
            <a:schemeClr val="tx1"/>
          </a:solidFill>
          <a:latin typeface="Calibri"/>
          <a:ea typeface="宋体"/>
        </a:defRPr>
      </a:lvl8pPr>
      <a:lvl9pPr marL="2438339" lvl="8" algn="ctr">
        <a:spcBef>
          <a:spcPct val="0"/>
        </a:spcBef>
        <a:spcAft>
          <a:spcPct val="0"/>
        </a:spcAft>
        <a:defRPr sz="5867">
          <a:solidFill>
            <a:schemeClr val="tx1"/>
          </a:solidFill>
          <a:latin typeface="Calibri"/>
          <a:ea typeface="宋体"/>
        </a:defRPr>
      </a:lvl9pPr>
    </p:titleStyle>
    <p:bodyStyle>
      <a:lvl1pPr marL="457189" lvl="0" indent="-457189" algn="l">
        <a:spcBef>
          <a:spcPct val="20000"/>
        </a:spcBef>
        <a:spcAft>
          <a:spcPct val="0"/>
        </a:spcAft>
        <a:buFont typeface="Arial" charset="0"/>
        <a:buChar char="•"/>
        <a:defRPr sz="4267">
          <a:solidFill>
            <a:schemeClr val="tx1"/>
          </a:solidFill>
          <a:latin typeface="Calibri"/>
          <a:ea typeface="宋体"/>
        </a:defRPr>
      </a:lvl1pPr>
      <a:lvl2pPr marL="990575" lvl="1" indent="-380990" algn="l">
        <a:spcBef>
          <a:spcPct val="20000"/>
        </a:spcBef>
        <a:spcAft>
          <a:spcPct val="0"/>
        </a:spcAft>
        <a:buFont typeface="Arial" charset="0"/>
        <a:buChar char="–"/>
        <a:defRPr sz="3733">
          <a:solidFill>
            <a:schemeClr val="tx1"/>
          </a:solidFill>
          <a:latin typeface="Calibri"/>
          <a:ea typeface="宋体"/>
        </a:defRPr>
      </a:lvl2pPr>
      <a:lvl3pPr marL="1523962" lvl="2" indent="-304792" algn="l">
        <a:spcBef>
          <a:spcPct val="20000"/>
        </a:spcBef>
        <a:spcAft>
          <a:spcPct val="0"/>
        </a:spcAft>
        <a:buFont typeface="Arial" charset="0"/>
        <a:buChar char="•"/>
        <a:defRPr sz="3200">
          <a:solidFill>
            <a:schemeClr val="tx1"/>
          </a:solidFill>
          <a:latin typeface="Calibri"/>
          <a:ea typeface="宋体"/>
        </a:defRPr>
      </a:lvl3pPr>
      <a:lvl4pPr marL="2133547" lvl="3" indent="-304792" algn="l">
        <a:spcBef>
          <a:spcPct val="20000"/>
        </a:spcBef>
        <a:spcAft>
          <a:spcPct val="0"/>
        </a:spcAft>
        <a:buFont typeface="Arial" charset="0"/>
        <a:buChar char="–"/>
        <a:defRPr sz="2667">
          <a:solidFill>
            <a:schemeClr val="tx1"/>
          </a:solidFill>
          <a:latin typeface="Calibri"/>
          <a:ea typeface="宋体"/>
        </a:defRPr>
      </a:lvl4pPr>
      <a:lvl5pPr marL="2743131" lvl="4" indent="-304792" algn="l">
        <a:spcBef>
          <a:spcPct val="20000"/>
        </a:spcBef>
        <a:spcAft>
          <a:spcPct val="0"/>
        </a:spcAft>
        <a:buFont typeface="Arial" charset="0"/>
        <a:buChar char="»"/>
        <a:defRPr sz="2667">
          <a:solidFill>
            <a:schemeClr val="tx1"/>
          </a:solidFill>
          <a:latin typeface="Calibri"/>
          <a:ea typeface="宋体"/>
        </a:defRPr>
      </a:lvl5pPr>
      <a:lvl6pPr marL="3352716" lvl="5" indent="-304792" algn="l">
        <a:spcBef>
          <a:spcPct val="20000"/>
        </a:spcBef>
        <a:spcAft>
          <a:spcPct val="0"/>
        </a:spcAft>
        <a:buFont typeface="Arial" charset="0"/>
        <a:buChar char="»"/>
        <a:defRPr sz="2667">
          <a:solidFill>
            <a:schemeClr val="tx1"/>
          </a:solidFill>
          <a:latin typeface="Calibri"/>
          <a:ea typeface="宋体"/>
        </a:defRPr>
      </a:lvl6pPr>
      <a:lvl7pPr marL="3962301" lvl="6" indent="-304792" algn="l">
        <a:spcBef>
          <a:spcPct val="20000"/>
        </a:spcBef>
        <a:spcAft>
          <a:spcPct val="0"/>
        </a:spcAft>
        <a:buFont typeface="Arial" charset="0"/>
        <a:buChar char="»"/>
        <a:defRPr sz="2667">
          <a:solidFill>
            <a:schemeClr val="tx1"/>
          </a:solidFill>
          <a:latin typeface="Calibri"/>
          <a:ea typeface="宋体"/>
        </a:defRPr>
      </a:lvl7pPr>
      <a:lvl8pPr marL="4571886" lvl="7" indent="-304792" algn="l">
        <a:spcBef>
          <a:spcPct val="20000"/>
        </a:spcBef>
        <a:spcAft>
          <a:spcPct val="0"/>
        </a:spcAft>
        <a:buFont typeface="Arial" charset="0"/>
        <a:buChar char="»"/>
        <a:defRPr sz="2667">
          <a:solidFill>
            <a:schemeClr val="tx1"/>
          </a:solidFill>
          <a:latin typeface="Calibri"/>
          <a:ea typeface="宋体"/>
        </a:defRPr>
      </a:lvl8pPr>
      <a:lvl9pPr marL="5181470" lvl="8" indent="-304792" algn="l">
        <a:spcBef>
          <a:spcPct val="20000"/>
        </a:spcBef>
        <a:spcAft>
          <a:spcPct val="0"/>
        </a:spcAft>
        <a:buFont typeface="Arial" charset="0"/>
        <a:buChar char="»"/>
        <a:defRPr sz="2667">
          <a:solidFill>
            <a:schemeClr val="tx1"/>
          </a:solidFill>
          <a:latin typeface="Calibri"/>
          <a:ea typeface="宋体"/>
        </a:defRPr>
      </a:lvl9pPr>
    </p:bodyStyle>
    <p:otherStyle>
      <a:lvl1pPr marL="0" lvl="0" algn="l" defTabSz="1219170">
        <a:defRPr sz="2400" kern="1200">
          <a:solidFill>
            <a:schemeClr val="tx1"/>
          </a:solidFill>
          <a:latin typeface="Calibri"/>
          <a:ea typeface="宋体"/>
        </a:defRPr>
      </a:lvl1pPr>
      <a:lvl2pPr marL="609585" lvl="1" algn="l" defTabSz="1219170">
        <a:defRPr sz="2400" kern="1200">
          <a:solidFill>
            <a:schemeClr val="tx1"/>
          </a:solidFill>
          <a:latin typeface="Calibri"/>
          <a:ea typeface="宋体"/>
        </a:defRPr>
      </a:lvl2pPr>
      <a:lvl3pPr marL="1219170" lvl="2" algn="l" defTabSz="1219170">
        <a:defRPr sz="2400" kern="1200">
          <a:solidFill>
            <a:schemeClr val="tx1"/>
          </a:solidFill>
          <a:latin typeface="Calibri"/>
          <a:ea typeface="宋体"/>
        </a:defRPr>
      </a:lvl3pPr>
      <a:lvl4pPr marL="1828754" lvl="3" algn="l" defTabSz="1219170">
        <a:defRPr sz="2400" kern="1200">
          <a:solidFill>
            <a:schemeClr val="tx1"/>
          </a:solidFill>
          <a:latin typeface="Calibri"/>
          <a:ea typeface="宋体"/>
        </a:defRPr>
      </a:lvl4pPr>
      <a:lvl5pPr marL="2438339" lvl="4" algn="l" defTabSz="1219170">
        <a:defRPr sz="2400" kern="1200">
          <a:solidFill>
            <a:schemeClr val="tx1"/>
          </a:solidFill>
          <a:latin typeface="Calibri"/>
          <a:ea typeface="宋体"/>
        </a:defRPr>
      </a:lvl5pPr>
      <a:lvl6pPr marL="3047924" lvl="5" algn="l" defTabSz="1219170">
        <a:defRPr sz="2400" kern="1200">
          <a:solidFill>
            <a:schemeClr val="tx1"/>
          </a:solidFill>
          <a:latin typeface="Calibri"/>
          <a:ea typeface="宋体"/>
        </a:defRPr>
      </a:lvl6pPr>
      <a:lvl7pPr marL="3657509" lvl="6" algn="l" defTabSz="1219170">
        <a:defRPr sz="2400" kern="1200">
          <a:solidFill>
            <a:schemeClr val="tx1"/>
          </a:solidFill>
          <a:latin typeface="Calibri"/>
          <a:ea typeface="宋体"/>
        </a:defRPr>
      </a:lvl7pPr>
      <a:lvl8pPr marL="4267093" lvl="7" algn="l" defTabSz="1219170">
        <a:defRPr sz="2400" kern="1200">
          <a:solidFill>
            <a:schemeClr val="tx1"/>
          </a:solidFill>
          <a:latin typeface="Calibri"/>
          <a:ea typeface="宋体"/>
        </a:defRPr>
      </a:lvl8pPr>
      <a:lvl9pPr marL="4876678" lvl="8" algn="l" defTabSz="1219170">
        <a:defRPr sz="2400" kern="1200">
          <a:solidFill>
            <a:schemeClr val="tx1"/>
          </a:solidFill>
          <a:latin typeface="Calibri"/>
          <a:ea typeface="宋体"/>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82563" y="171688"/>
            <a:ext cx="8686800" cy="611981"/>
          </a:xfrm>
          <a:prstGeom prst="rect">
            <a:avLst/>
          </a:prstGeom>
          <a:noFill/>
          <a:ln>
            <a:noFill/>
          </a:ln>
        </p:spPr>
        <p:txBody>
          <a:bodyPr anchor="b"/>
          <a:lstStyle/>
          <a:p>
            <a:pPr lvl="0"/>
            <a:endParaRPr lang="en-US"/>
          </a:p>
        </p:txBody>
      </p:sp>
      <p:sp>
        <p:nvSpPr>
          <p:cNvPr id="1027" name="Rectangle 3"/>
          <p:cNvSpPr>
            <a:spLocks noGrp="1"/>
          </p:cNvSpPr>
          <p:nvPr>
            <p:ph type="body"/>
          </p:nvPr>
        </p:nvSpPr>
        <p:spPr>
          <a:xfrm>
            <a:off x="182563" y="913448"/>
            <a:ext cx="8686800" cy="3368278"/>
          </a:xfrm>
          <a:prstGeom prst="rect">
            <a:avLst/>
          </a:prstGeom>
          <a:noFill/>
          <a:ln>
            <a:noFill/>
          </a:ln>
        </p:spPr>
        <p:txBody>
          <a:bodyPr anchor="t"/>
          <a:lstStyle/>
          <a:p>
            <a:pPr lvl="0" indent="-130016"/>
            <a:r>
              <a:rPr lang="en-US"/>
              <a:t>Click to edit Master text styles</a:t>
            </a:r>
          </a:p>
          <a:p>
            <a:pPr lvl="1" indent="-122872"/>
            <a:r>
              <a:rPr lang="en-US"/>
              <a:t>Second level</a:t>
            </a:r>
          </a:p>
          <a:p>
            <a:pPr lvl="2" indent="-130016"/>
            <a:r>
              <a:rPr lang="en-US"/>
              <a:t>Third level</a:t>
            </a:r>
          </a:p>
        </p:txBody>
      </p:sp>
      <p:sp>
        <p:nvSpPr>
          <p:cNvPr id="1029" name="灯片编号占位符 1"/>
          <p:cNvSpPr txBox="1">
            <a:spLocks noGrp="1"/>
          </p:cNvSpPr>
          <p:nvPr/>
        </p:nvSpPr>
        <p:spPr>
          <a:xfrm>
            <a:off x="182563" y="4902994"/>
            <a:ext cx="366713" cy="138112"/>
          </a:xfrm>
          <a:prstGeom prst="rect">
            <a:avLst/>
          </a:prstGeom>
          <a:noFill/>
          <a:ln>
            <a:noFill/>
          </a:ln>
        </p:spPr>
        <p:txBody>
          <a:bodyPr lIns="122766" tIns="61384" rIns="122766" bIns="61384"/>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a:spcBef>
                <a:spcPct val="0"/>
              </a:spcBef>
              <a:spcAft>
                <a:spcPct val="0"/>
              </a:spcAft>
              <a:defRPr>
                <a:solidFill>
                  <a:schemeClr val="tx1"/>
                </a:solidFill>
                <a:latin typeface="Arial"/>
                <a:ea typeface="宋体"/>
              </a:defRPr>
            </a:lvl6pPr>
            <a:lvl7pPr marL="2971800" lvl="6" indent="-228600">
              <a:spcBef>
                <a:spcPct val="0"/>
              </a:spcBef>
              <a:spcAft>
                <a:spcPct val="0"/>
              </a:spcAft>
              <a:defRPr>
                <a:solidFill>
                  <a:schemeClr val="tx1"/>
                </a:solidFill>
                <a:latin typeface="Arial"/>
                <a:ea typeface="宋体"/>
              </a:defRPr>
            </a:lvl7pPr>
            <a:lvl8pPr marL="3429000" lvl="7" indent="-228600">
              <a:spcBef>
                <a:spcPct val="0"/>
              </a:spcBef>
              <a:spcAft>
                <a:spcPct val="0"/>
              </a:spcAft>
              <a:defRPr>
                <a:solidFill>
                  <a:schemeClr val="tx1"/>
                </a:solidFill>
                <a:latin typeface="Arial"/>
                <a:ea typeface="宋体"/>
              </a:defRPr>
            </a:lvl8pPr>
            <a:lvl9pPr marL="3886200" lvl="8" indent="-228600">
              <a:spcBef>
                <a:spcPct val="0"/>
              </a:spcBef>
              <a:spcAft>
                <a:spcPct val="0"/>
              </a:spcAft>
              <a:defRPr>
                <a:solidFill>
                  <a:schemeClr val="tx1"/>
                </a:solidFill>
                <a:latin typeface="Arial"/>
                <a:ea typeface="宋体"/>
              </a:defRPr>
            </a:lvl9pPr>
          </a:lstStyle>
          <a:p>
            <a:pPr marL="0" lvl="0" indent="0" algn="l" defTabSz="914400">
              <a:lnSpc>
                <a:spcPct val="100000"/>
              </a:lnSpc>
              <a:spcBef>
                <a:spcPct val="0"/>
              </a:spcBef>
              <a:spcAft>
                <a:spcPct val="0"/>
              </a:spcAft>
              <a:buClrTx/>
              <a:buSzTx/>
              <a:buFontTx/>
              <a:buNone/>
            </a:pPr>
            <a:fld id="{6359C5F3-6B52-41BD-A82B-B26B2F758E32}" type="slidenum">
              <a:rPr lang="zh-CN" sz="799" b="0" i="0" u="none" strike="noStrike" kern="1200" spc="0" baseline="0">
                <a:ln>
                  <a:noFill/>
                </a:ln>
                <a:solidFill>
                  <a:schemeClr val="tx1"/>
                </a:solidFill>
                <a:effectLst/>
                <a:latin typeface="Arial"/>
                <a:ea typeface="宋体"/>
              </a:rPr>
              <a:t>‹#›</a:t>
            </a:fld>
            <a:endParaRPr lang="en-US" sz="799" b="0" i="0" u="none" strike="noStrike" kern="1200" spc="0" baseline="0">
              <a:ln>
                <a:noFill/>
              </a:ln>
              <a:solidFill>
                <a:schemeClr val="tx1"/>
              </a:solidFill>
              <a:effectLst/>
              <a:latin typeface="Arial"/>
              <a:ea typeface="宋体"/>
            </a:endParaRPr>
          </a:p>
        </p:txBody>
      </p:sp>
      <p:pic>
        <p:nvPicPr>
          <p:cNvPr id="1030" name="Picture 6"/>
          <p:cNvPicPr>
            <a:picLocks noChangeAspect="1"/>
          </p:cNvPicPr>
          <p:nvPr/>
        </p:nvPicPr>
        <p:blipFill>
          <a:blip r:embed="rId6"/>
          <a:stretch/>
        </p:blipFill>
        <p:spPr>
          <a:xfrm>
            <a:off x="7118350" y="-476"/>
            <a:ext cx="1779588" cy="394097"/>
          </a:xfrm>
          <a:prstGeom prst="rect">
            <a:avLst/>
          </a:prstGeom>
          <a:noFill/>
          <a:ln>
            <a:noFill/>
          </a:ln>
        </p:spPr>
      </p:pic>
      <p:sp>
        <p:nvSpPr>
          <p:cNvPr id="7" name="Line 4"/>
          <p:cNvSpPr/>
          <p:nvPr/>
        </p:nvSpPr>
        <p:spPr>
          <a:xfrm flipV="1">
            <a:off x="274638" y="424382"/>
            <a:ext cx="8594725" cy="0"/>
          </a:xfrm>
          <a:prstGeom prst="line">
            <a:avLst/>
          </a:prstGeom>
          <a:ln w="38100">
            <a:solidFill>
              <a:srgbClr val="00B050"/>
            </a:solidFill>
            <a:prstDash val="solid"/>
            <a:headEnd type="none" w="med" len="med"/>
            <a:tailEnd type="none" w="med" len="med"/>
          </a:ln>
        </p:spPr>
        <p:txBody>
          <a:bodyPr/>
          <a:lstStyle/>
          <a:p>
            <a:endParaRPr/>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Lst>
  <p:hf sldNum="0" hdr="0" ftr="0" dt="0"/>
  <p:txStyles>
    <p:titleStyle>
      <a:lvl1pPr lvl="0" algn="l">
        <a:lnSpc>
          <a:spcPct val="90000"/>
        </a:lnSpc>
        <a:spcBef>
          <a:spcPct val="0"/>
        </a:spcBef>
        <a:spcAft>
          <a:spcPct val="0"/>
        </a:spcAft>
        <a:defRPr sz="2200" b="1">
          <a:solidFill>
            <a:schemeClr val="hlink"/>
          </a:solidFill>
          <a:latin typeface="Arial"/>
          <a:ea typeface="宋体"/>
        </a:defRPr>
      </a:lvl1pPr>
      <a:lvl2pPr lvl="1" algn="l">
        <a:lnSpc>
          <a:spcPct val="90000"/>
        </a:lnSpc>
        <a:spcBef>
          <a:spcPct val="0"/>
        </a:spcBef>
        <a:spcAft>
          <a:spcPct val="0"/>
        </a:spcAft>
        <a:defRPr sz="2200" b="1">
          <a:solidFill>
            <a:schemeClr val="hlink"/>
          </a:solidFill>
          <a:latin typeface="Arial"/>
          <a:ea typeface="宋体"/>
        </a:defRPr>
      </a:lvl2pPr>
      <a:lvl3pPr lvl="2" algn="l">
        <a:lnSpc>
          <a:spcPct val="90000"/>
        </a:lnSpc>
        <a:spcBef>
          <a:spcPct val="0"/>
        </a:spcBef>
        <a:spcAft>
          <a:spcPct val="0"/>
        </a:spcAft>
        <a:defRPr sz="2200" b="1">
          <a:solidFill>
            <a:schemeClr val="hlink"/>
          </a:solidFill>
          <a:latin typeface="Arial"/>
          <a:ea typeface="宋体"/>
        </a:defRPr>
      </a:lvl3pPr>
      <a:lvl4pPr lvl="3" algn="l">
        <a:lnSpc>
          <a:spcPct val="90000"/>
        </a:lnSpc>
        <a:spcBef>
          <a:spcPct val="0"/>
        </a:spcBef>
        <a:spcAft>
          <a:spcPct val="0"/>
        </a:spcAft>
        <a:defRPr sz="2200" b="1">
          <a:solidFill>
            <a:schemeClr val="hlink"/>
          </a:solidFill>
          <a:latin typeface="Arial"/>
          <a:ea typeface="宋体"/>
        </a:defRPr>
      </a:lvl4pPr>
      <a:lvl5pPr lvl="4" algn="l">
        <a:lnSpc>
          <a:spcPct val="90000"/>
        </a:lnSpc>
        <a:spcBef>
          <a:spcPct val="0"/>
        </a:spcBef>
        <a:spcAft>
          <a:spcPct val="0"/>
        </a:spcAft>
        <a:defRPr sz="2200" b="1">
          <a:solidFill>
            <a:schemeClr val="hlink"/>
          </a:solidFill>
          <a:latin typeface="Arial"/>
          <a:ea typeface="宋体"/>
        </a:defRPr>
      </a:lvl5pPr>
      <a:lvl6pPr marL="457200" lvl="5" algn="l">
        <a:lnSpc>
          <a:spcPct val="90000"/>
        </a:lnSpc>
        <a:spcBef>
          <a:spcPct val="0"/>
        </a:spcBef>
        <a:spcAft>
          <a:spcPct val="0"/>
        </a:spcAft>
        <a:defRPr sz="2200" b="1">
          <a:solidFill>
            <a:schemeClr val="hlink"/>
          </a:solidFill>
          <a:latin typeface="Arial"/>
          <a:ea typeface="宋体"/>
        </a:defRPr>
      </a:lvl6pPr>
      <a:lvl7pPr marL="914400" lvl="6" algn="l">
        <a:lnSpc>
          <a:spcPct val="90000"/>
        </a:lnSpc>
        <a:spcBef>
          <a:spcPct val="0"/>
        </a:spcBef>
        <a:spcAft>
          <a:spcPct val="0"/>
        </a:spcAft>
        <a:defRPr sz="2200" b="1">
          <a:solidFill>
            <a:schemeClr val="hlink"/>
          </a:solidFill>
          <a:latin typeface="Arial"/>
          <a:ea typeface="宋体"/>
        </a:defRPr>
      </a:lvl7pPr>
      <a:lvl8pPr marL="1371600" lvl="7" algn="l">
        <a:lnSpc>
          <a:spcPct val="90000"/>
        </a:lnSpc>
        <a:spcBef>
          <a:spcPct val="0"/>
        </a:spcBef>
        <a:spcAft>
          <a:spcPct val="0"/>
        </a:spcAft>
        <a:defRPr sz="2200" b="1">
          <a:solidFill>
            <a:schemeClr val="hlink"/>
          </a:solidFill>
          <a:latin typeface="Arial"/>
          <a:ea typeface="宋体"/>
        </a:defRPr>
      </a:lvl8pPr>
      <a:lvl9pPr marL="1828800" lvl="8" algn="l">
        <a:lnSpc>
          <a:spcPct val="90000"/>
        </a:lnSpc>
        <a:spcBef>
          <a:spcPct val="0"/>
        </a:spcBef>
        <a:spcAft>
          <a:spcPct val="0"/>
        </a:spcAft>
        <a:defRPr sz="2200" b="1">
          <a:solidFill>
            <a:schemeClr val="hlink"/>
          </a:solidFill>
          <a:latin typeface="Arial"/>
          <a:ea typeface="宋体"/>
        </a:defRPr>
      </a:lvl9pPr>
    </p:titleStyle>
    <p:bodyStyle>
      <a:lvl1pPr marL="173355" lvl="0" indent="-173355" algn="l">
        <a:spcBef>
          <a:spcPct val="20000"/>
        </a:spcBef>
        <a:spcAft>
          <a:spcPct val="0"/>
        </a:spcAft>
        <a:buClr>
          <a:schemeClr val="accent1"/>
        </a:buClr>
        <a:buSzPct val="60000"/>
        <a:buFont typeface="Wingdings" charset="2"/>
        <a:buChar char="n"/>
        <a:defRPr sz="1600">
          <a:solidFill>
            <a:schemeClr val="tx1"/>
          </a:solidFill>
          <a:latin typeface="Arial"/>
          <a:ea typeface="宋体"/>
        </a:defRPr>
      </a:lvl1pPr>
      <a:lvl2pPr marL="509905" lvl="1" indent="-163830" algn="l">
        <a:spcBef>
          <a:spcPct val="20000"/>
        </a:spcBef>
        <a:spcAft>
          <a:spcPct val="0"/>
        </a:spcAft>
        <a:buClr>
          <a:schemeClr val="accent1"/>
        </a:buClr>
        <a:buFont typeface="Arial" charset="0"/>
        <a:buChar char="–"/>
        <a:defRPr sz="1400">
          <a:solidFill>
            <a:schemeClr val="tx1"/>
          </a:solidFill>
          <a:latin typeface="Arial"/>
          <a:ea typeface="宋体"/>
        </a:defRPr>
      </a:lvl2pPr>
      <a:lvl3pPr marL="855980" lvl="2" indent="-173355" algn="l">
        <a:spcBef>
          <a:spcPct val="20000"/>
        </a:spcBef>
        <a:spcAft>
          <a:spcPct val="0"/>
        </a:spcAft>
        <a:buClr>
          <a:schemeClr val="accent1"/>
        </a:buClr>
        <a:buChar char="•"/>
        <a:defRPr sz="1200">
          <a:solidFill>
            <a:schemeClr val="tx1"/>
          </a:solidFill>
          <a:latin typeface="Arial"/>
          <a:ea typeface="宋体"/>
        </a:defRPr>
      </a:lvl3pPr>
      <a:lvl4pPr marL="1202055" lvl="3" indent="-173355" algn="l">
        <a:spcBef>
          <a:spcPct val="20000"/>
        </a:spcBef>
        <a:spcAft>
          <a:spcPct val="0"/>
        </a:spcAft>
        <a:buClr>
          <a:schemeClr val="bg1"/>
        </a:buClr>
        <a:buChar char="–"/>
        <a:defRPr sz="1600">
          <a:solidFill>
            <a:schemeClr val="bg1"/>
          </a:solidFill>
          <a:latin typeface="Arial"/>
          <a:ea typeface="宋体"/>
        </a:defRPr>
      </a:lvl4pPr>
      <a:lvl5pPr marL="1538605" lvl="4" indent="-163830" algn="l">
        <a:spcBef>
          <a:spcPct val="20000"/>
        </a:spcBef>
        <a:spcAft>
          <a:spcPct val="0"/>
        </a:spcAft>
        <a:buClr>
          <a:schemeClr val="bg1"/>
        </a:buClr>
        <a:buChar char="»"/>
        <a:defRPr sz="1600">
          <a:solidFill>
            <a:schemeClr val="bg1"/>
          </a:solidFill>
          <a:latin typeface="Arial"/>
          <a:ea typeface="宋体"/>
        </a:defRPr>
      </a:lvl5pPr>
      <a:lvl6pPr marL="1997075" lvl="5" indent="-163830" algn="l">
        <a:spcBef>
          <a:spcPct val="20000"/>
        </a:spcBef>
        <a:spcAft>
          <a:spcPct val="0"/>
        </a:spcAft>
        <a:buClr>
          <a:schemeClr val="bg1"/>
        </a:buClr>
        <a:buChar char="»"/>
        <a:defRPr sz="1600">
          <a:solidFill>
            <a:schemeClr val="bg1"/>
          </a:solidFill>
          <a:latin typeface="Arial"/>
          <a:ea typeface="宋体"/>
        </a:defRPr>
      </a:lvl6pPr>
      <a:lvl7pPr marL="2454275" lvl="6" indent="-163830" algn="l">
        <a:spcBef>
          <a:spcPct val="20000"/>
        </a:spcBef>
        <a:spcAft>
          <a:spcPct val="0"/>
        </a:spcAft>
        <a:buClr>
          <a:schemeClr val="bg1"/>
        </a:buClr>
        <a:buChar char="»"/>
        <a:defRPr sz="1600">
          <a:solidFill>
            <a:schemeClr val="bg1"/>
          </a:solidFill>
          <a:latin typeface="Arial"/>
          <a:ea typeface="宋体"/>
        </a:defRPr>
      </a:lvl7pPr>
      <a:lvl8pPr marL="2911475" lvl="7" indent="-163830" algn="l">
        <a:spcBef>
          <a:spcPct val="20000"/>
        </a:spcBef>
        <a:spcAft>
          <a:spcPct val="0"/>
        </a:spcAft>
        <a:buClr>
          <a:schemeClr val="bg1"/>
        </a:buClr>
        <a:buChar char="»"/>
        <a:defRPr sz="1600">
          <a:solidFill>
            <a:schemeClr val="bg1"/>
          </a:solidFill>
          <a:latin typeface="Arial"/>
          <a:ea typeface="宋体"/>
        </a:defRPr>
      </a:lvl8pPr>
      <a:lvl9pPr marL="3368675" lvl="8" indent="-163830" algn="l">
        <a:spcBef>
          <a:spcPct val="20000"/>
        </a:spcBef>
        <a:spcAft>
          <a:spcPct val="0"/>
        </a:spcAft>
        <a:buClr>
          <a:schemeClr val="bg1"/>
        </a:buClr>
        <a:buChar char="»"/>
        <a:defRPr sz="1600">
          <a:solidFill>
            <a:schemeClr val="bg1"/>
          </a:solidFill>
          <a:latin typeface="Arial"/>
          <a:ea typeface="宋体"/>
        </a:defRPr>
      </a:lvl9pPr>
    </p:bodyStyle>
    <p:otherStyle>
      <a:lvl1pPr marL="0" lvl="0" algn="l" defTabSz="914400">
        <a:defRPr sz="1800" kern="1200">
          <a:solidFill>
            <a:schemeClr val="tx1"/>
          </a:solidFill>
          <a:latin typeface="Arial"/>
          <a:ea typeface="宋体"/>
        </a:defRPr>
      </a:lvl1pPr>
      <a:lvl2pPr marL="457200" lvl="1" algn="l" defTabSz="914400">
        <a:defRPr sz="1800" kern="1200">
          <a:solidFill>
            <a:schemeClr val="tx1"/>
          </a:solidFill>
          <a:latin typeface="Arial"/>
          <a:ea typeface="宋体"/>
        </a:defRPr>
      </a:lvl2pPr>
      <a:lvl3pPr marL="914400" lvl="2" algn="l" defTabSz="914400">
        <a:defRPr sz="1800" kern="1200">
          <a:solidFill>
            <a:schemeClr val="tx1"/>
          </a:solidFill>
          <a:latin typeface="Arial"/>
          <a:ea typeface="宋体"/>
        </a:defRPr>
      </a:lvl3pPr>
      <a:lvl4pPr marL="1371600" lvl="3" algn="l" defTabSz="914400">
        <a:defRPr sz="1800" kern="1200">
          <a:solidFill>
            <a:schemeClr val="tx1"/>
          </a:solidFill>
          <a:latin typeface="Arial"/>
          <a:ea typeface="宋体"/>
        </a:defRPr>
      </a:lvl4pPr>
      <a:lvl5pPr marL="1828800" lvl="4" algn="l" defTabSz="914400">
        <a:defRPr sz="1800" kern="1200">
          <a:solidFill>
            <a:schemeClr val="tx1"/>
          </a:solidFill>
          <a:latin typeface="Arial"/>
          <a:ea typeface="宋体"/>
        </a:defRPr>
      </a:lvl5pPr>
      <a:lvl6pPr marL="2286000" lvl="5" algn="l" defTabSz="914400">
        <a:defRPr sz="1800" kern="1200">
          <a:solidFill>
            <a:schemeClr val="tx1"/>
          </a:solidFill>
          <a:latin typeface="Arial"/>
          <a:ea typeface="宋体"/>
        </a:defRPr>
      </a:lvl6pPr>
      <a:lvl7pPr marL="2743200" lvl="6" algn="l" defTabSz="914400">
        <a:defRPr sz="1800" kern="1200">
          <a:solidFill>
            <a:schemeClr val="tx1"/>
          </a:solidFill>
          <a:latin typeface="Arial"/>
          <a:ea typeface="宋体"/>
        </a:defRPr>
      </a:lvl7pPr>
      <a:lvl8pPr marL="3200400" lvl="7" algn="l" defTabSz="914400">
        <a:defRPr sz="1800" kern="1200">
          <a:solidFill>
            <a:schemeClr val="tx1"/>
          </a:solidFill>
          <a:latin typeface="Arial"/>
          <a:ea typeface="宋体"/>
        </a:defRPr>
      </a:lvl8pPr>
      <a:lvl9pPr marL="3657600" lvl="8" algn="l" defTabSz="914400">
        <a:defRPr sz="1800" kern="1200">
          <a:solidFill>
            <a:schemeClr val="tx1"/>
          </a:solidFill>
          <a:latin typeface="Arial"/>
          <a:ea typeface="宋体"/>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hemeOverride" Target="../theme/themeOverride1.xml"/><Relationship Id="rId5" Type="http://schemas.openxmlformats.org/officeDocument/2006/relationships/image" Target="../media/image33.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47.png"/><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7543" y="1357939"/>
            <a:ext cx="8208912" cy="648072"/>
          </a:xfrm>
        </p:spPr>
        <p:txBody>
          <a:bodyPr vert="horz" wrap="square" lIns="91440" tIns="45720" rIns="91440" bIns="45720" anchor="t" anchorCtr="0"/>
          <a:lstStyle/>
          <a:p>
            <a:pPr lvl="0" algn="ctr"/>
            <a:r>
              <a:rPr lang="zh-CN" altLang="en-US" sz="3600" dirty="0">
                <a:solidFill>
                  <a:srgbClr val="254061"/>
                </a:solidFill>
                <a:effectLst>
                  <a:outerShdw blurRad="38100" dist="38100" dir="2700000" algn="tl">
                    <a:srgbClr val="000000">
                      <a:alpha val="43137"/>
                    </a:srgbClr>
                  </a:outerShdw>
                </a:effectLst>
                <a:latin typeface="微软雅黑"/>
                <a:ea typeface="微软雅黑"/>
              </a:rPr>
              <a:t>第</a:t>
            </a:r>
            <a:r>
              <a:rPr lang="en-US" altLang="zh-CN" sz="3600" dirty="0">
                <a:solidFill>
                  <a:srgbClr val="254061"/>
                </a:solidFill>
                <a:effectLst>
                  <a:outerShdw blurRad="38100" dist="38100" dir="2700000" algn="tl">
                    <a:srgbClr val="000000">
                      <a:alpha val="43137"/>
                    </a:srgbClr>
                  </a:outerShdw>
                </a:effectLst>
                <a:latin typeface="微软雅黑"/>
                <a:ea typeface="微软雅黑"/>
              </a:rPr>
              <a:t>6</a:t>
            </a:r>
            <a:r>
              <a:rPr lang="zh-CN" altLang="en-US" sz="3600" dirty="0">
                <a:solidFill>
                  <a:srgbClr val="254061"/>
                </a:solidFill>
                <a:effectLst>
                  <a:outerShdw blurRad="38100" dist="38100" dir="2700000" algn="tl">
                    <a:srgbClr val="000000">
                      <a:alpha val="43137"/>
                    </a:srgbClr>
                  </a:outerShdw>
                </a:effectLst>
                <a:latin typeface="微软雅黑"/>
                <a:ea typeface="微软雅黑"/>
              </a:rPr>
              <a:t>章 并发性</a:t>
            </a:r>
            <a:r>
              <a:rPr lang="en-US" altLang="zh-CN" sz="3600" dirty="0">
                <a:solidFill>
                  <a:srgbClr val="254061"/>
                </a:solidFill>
                <a:effectLst>
                  <a:outerShdw blurRad="38100" dist="38100" dir="2700000" algn="tl">
                    <a:srgbClr val="000000">
                      <a:alpha val="43137"/>
                    </a:srgbClr>
                  </a:outerShdw>
                </a:effectLst>
                <a:latin typeface="微软雅黑"/>
                <a:ea typeface="微软雅黑"/>
              </a:rPr>
              <a:t>——</a:t>
            </a:r>
            <a:r>
              <a:rPr lang="zh-CN" altLang="en-US" sz="3600" dirty="0">
                <a:solidFill>
                  <a:srgbClr val="254061"/>
                </a:solidFill>
                <a:effectLst>
                  <a:outerShdw blurRad="38100" dist="38100" dir="2700000" algn="tl">
                    <a:srgbClr val="000000">
                      <a:alpha val="43137"/>
                    </a:srgbClr>
                  </a:outerShdw>
                </a:effectLst>
                <a:latin typeface="微软雅黑"/>
                <a:ea typeface="微软雅黑"/>
              </a:rPr>
              <a:t>死锁与饥饿</a:t>
            </a:r>
            <a:endParaRPr lang="zh-CN" sz="2400"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Rectangle 2"/>
          <p:cNvSpPr txBox="1">
            <a:spLocks noChangeArrowheads="1"/>
          </p:cNvSpPr>
          <p:nvPr/>
        </p:nvSpPr>
        <p:spPr>
          <a:xfrm>
            <a:off x="3740068" y="4654991"/>
            <a:ext cx="1478682" cy="500063"/>
          </a:xfrm>
          <a:prstGeom prst="rect">
            <a:avLst/>
          </a:prstGeom>
          <a:noFill/>
          <a:ln>
            <a:noFill/>
          </a:ln>
        </p:spPr>
        <p:txBody>
          <a:bodyPr anchor="ctr"/>
          <a:lstStyle/>
          <a:p>
            <a:pPr algn="ctr"/>
            <a:fld id="{2860F326-4499-4A67-8F03-170333456A58}" type="datetime1">
              <a:rPr lang="en-US" altLang="zh-CN" sz="1600">
                <a:solidFill>
                  <a:srgbClr val="17375E"/>
                </a:solidFill>
                <a:latin typeface="Broadway"/>
                <a:ea typeface="华文行楷"/>
              </a:rPr>
              <a:t>10/2/2023</a:t>
            </a:fld>
            <a:endParaRPr lang="en-US" sz="1600">
              <a:solidFill>
                <a:srgbClr val="17375E"/>
              </a:solidFill>
              <a:latin typeface="Broadway"/>
              <a:ea typeface="华文行楷"/>
            </a:endParaRPr>
          </a:p>
        </p:txBody>
      </p:sp>
      <p:grpSp>
        <p:nvGrpSpPr>
          <p:cNvPr id="7" name="组合 6">
            <a:extLst>
              <a:ext uri="{FF2B5EF4-FFF2-40B4-BE49-F238E27FC236}">
                <a16:creationId xmlns:a16="http://schemas.microsoft.com/office/drawing/2014/main" id="{4F018464-AAE5-4663-B2FF-22814387CF72}"/>
              </a:ext>
            </a:extLst>
          </p:cNvPr>
          <p:cNvGrpSpPr/>
          <p:nvPr/>
        </p:nvGrpSpPr>
        <p:grpSpPr>
          <a:xfrm>
            <a:off x="0" y="2752987"/>
            <a:ext cx="9144000" cy="1897394"/>
            <a:chOff x="0" y="2762588"/>
            <a:chExt cx="9144000" cy="1897394"/>
          </a:xfrm>
        </p:grpSpPr>
        <p:pic>
          <p:nvPicPr>
            <p:cNvPr id="4" name="图片 3">
              <a:extLst>
                <a:ext uri="{FF2B5EF4-FFF2-40B4-BE49-F238E27FC236}">
                  <a16:creationId xmlns:a16="http://schemas.microsoft.com/office/drawing/2014/main" id="{2B647894-CD4F-4FA2-B187-FCA4C09F86F4}"/>
                </a:ext>
              </a:extLst>
            </p:cNvPr>
            <p:cNvPicPr>
              <a:picLocks noChangeAspect="1"/>
            </p:cNvPicPr>
            <p:nvPr/>
          </p:nvPicPr>
          <p:blipFill>
            <a:blip r:embed="rId3"/>
            <a:stretch>
              <a:fillRect/>
            </a:stretch>
          </p:blipFill>
          <p:spPr>
            <a:xfrm>
              <a:off x="0" y="2931790"/>
              <a:ext cx="3059832" cy="1554009"/>
            </a:xfrm>
            <a:prstGeom prst="rect">
              <a:avLst/>
            </a:prstGeom>
          </p:spPr>
        </p:pic>
        <p:pic>
          <p:nvPicPr>
            <p:cNvPr id="6" name="图片 5">
              <a:extLst>
                <a:ext uri="{FF2B5EF4-FFF2-40B4-BE49-F238E27FC236}">
                  <a16:creationId xmlns:a16="http://schemas.microsoft.com/office/drawing/2014/main" id="{28A03D7B-164F-4C9F-9867-D689658162C4}"/>
                </a:ext>
              </a:extLst>
            </p:cNvPr>
            <p:cNvPicPr>
              <a:picLocks noChangeAspect="1"/>
            </p:cNvPicPr>
            <p:nvPr/>
          </p:nvPicPr>
          <p:blipFill>
            <a:blip r:embed="rId4"/>
            <a:stretch>
              <a:fillRect/>
            </a:stretch>
          </p:blipFill>
          <p:spPr>
            <a:xfrm>
              <a:off x="6028692" y="2934479"/>
              <a:ext cx="3115308" cy="1558630"/>
            </a:xfrm>
            <a:prstGeom prst="rect">
              <a:avLst/>
            </a:prstGeom>
          </p:spPr>
        </p:pic>
        <p:pic>
          <p:nvPicPr>
            <p:cNvPr id="5" name="图片 4">
              <a:extLst>
                <a:ext uri="{FF2B5EF4-FFF2-40B4-BE49-F238E27FC236}">
                  <a16:creationId xmlns:a16="http://schemas.microsoft.com/office/drawing/2014/main" id="{295B3FB4-D30E-47F8-8C9D-C8DD4EDC37E6}"/>
                </a:ext>
              </a:extLst>
            </p:cNvPr>
            <p:cNvPicPr>
              <a:picLocks noChangeAspect="1"/>
            </p:cNvPicPr>
            <p:nvPr/>
          </p:nvPicPr>
          <p:blipFill>
            <a:blip r:embed="rId5"/>
            <a:stretch>
              <a:fillRect/>
            </a:stretch>
          </p:blipFill>
          <p:spPr>
            <a:xfrm>
              <a:off x="3000374" y="2762588"/>
              <a:ext cx="3143251" cy="18973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grpSp>
        <p:nvGrpSpPr>
          <p:cNvPr id="14" name="组合 13">
            <a:extLst>
              <a:ext uri="{FF2B5EF4-FFF2-40B4-BE49-F238E27FC236}">
                <a16:creationId xmlns:a16="http://schemas.microsoft.com/office/drawing/2014/main" id="{7BC1E073-CE8A-4C78-A1AB-394008508CD2}"/>
              </a:ext>
            </a:extLst>
          </p:cNvPr>
          <p:cNvGrpSpPr/>
          <p:nvPr/>
        </p:nvGrpSpPr>
        <p:grpSpPr>
          <a:xfrm>
            <a:off x="2483768" y="122390"/>
            <a:ext cx="3327790" cy="577152"/>
            <a:chOff x="2483768" y="122390"/>
            <a:chExt cx="3327790" cy="577152"/>
          </a:xfrm>
        </p:grpSpPr>
        <p:pic>
          <p:nvPicPr>
            <p:cNvPr id="3" name="图片 2">
              <a:extLst>
                <a:ext uri="{FF2B5EF4-FFF2-40B4-BE49-F238E27FC236}">
                  <a16:creationId xmlns:a16="http://schemas.microsoft.com/office/drawing/2014/main" id="{57289174-A8A6-4188-88A8-EA01ECDB7586}"/>
                </a:ext>
              </a:extLst>
            </p:cNvPr>
            <p:cNvPicPr>
              <a:picLocks noChangeAspect="1"/>
            </p:cNvPicPr>
            <p:nvPr/>
          </p:nvPicPr>
          <p:blipFill>
            <a:blip r:embed="rId6"/>
            <a:stretch>
              <a:fillRect/>
            </a:stretch>
          </p:blipFill>
          <p:spPr>
            <a:xfrm>
              <a:off x="3147262" y="238477"/>
              <a:ext cx="2664296" cy="311140"/>
            </a:xfrm>
            <a:prstGeom prst="rect">
              <a:avLst/>
            </a:prstGeom>
          </p:spPr>
        </p:pic>
        <p:pic>
          <p:nvPicPr>
            <p:cNvPr id="8" name="图片 7">
              <a:extLst>
                <a:ext uri="{FF2B5EF4-FFF2-40B4-BE49-F238E27FC236}">
                  <a16:creationId xmlns:a16="http://schemas.microsoft.com/office/drawing/2014/main" id="{26A49076-80F6-4533-B789-F02377856BDF}"/>
                </a:ext>
              </a:extLst>
            </p:cNvPr>
            <p:cNvPicPr>
              <a:picLocks noChangeAspect="1"/>
            </p:cNvPicPr>
            <p:nvPr/>
          </p:nvPicPr>
          <p:blipFill>
            <a:blip r:embed="rId7"/>
            <a:stretch>
              <a:fillRect/>
            </a:stretch>
          </p:blipFill>
          <p:spPr>
            <a:xfrm>
              <a:off x="2483768" y="122390"/>
              <a:ext cx="576064" cy="577152"/>
            </a:xfrm>
            <a:prstGeom prst="rect">
              <a:avLst/>
            </a:prstGeom>
          </p:spPr>
        </p:pic>
      </p:grpSp>
    </p:spTree>
    <p:extLst>
      <p:ext uri="{BB962C8B-B14F-4D97-AF65-F5344CB8AC3E}">
        <p14:creationId xmlns:p14="http://schemas.microsoft.com/office/powerpoint/2010/main" val="46504866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0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请同学们思考的问题</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AC8DFB50-7230-DC06-9C5D-49399B362F41}"/>
              </a:ext>
            </a:extLst>
          </p:cNvPr>
          <p:cNvSpPr txBox="1"/>
          <p:nvPr/>
        </p:nvSpPr>
        <p:spPr>
          <a:xfrm>
            <a:off x="467544" y="1491630"/>
            <a:ext cx="7776864" cy="1200329"/>
          </a:xfrm>
          <a:prstGeom prst="rect">
            <a:avLst/>
          </a:prstGeom>
          <a:noFill/>
        </p:spPr>
        <p:txBody>
          <a:bodyPr wrap="square">
            <a:spAutoFit/>
          </a:bodyPr>
          <a:lstStyle/>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为什么会产生死锁？产生死锁有什么条件？</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有什么办法可以解决死锁问题？</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825656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6D351D02-662C-6646-9872-08CF51406D4D}"/>
              </a:ext>
            </a:extLst>
          </p:cNvPr>
          <p:cNvSpPr txBox="1"/>
          <p:nvPr/>
        </p:nvSpPr>
        <p:spPr>
          <a:xfrm>
            <a:off x="611560" y="1419622"/>
            <a:ext cx="7560840" cy="2308324"/>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死锁的定义</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多个进程因为竞争资源造成的一种僵局，没有外力作用，这些进程都无法向前继续推进</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举例说明：汽车过桥</a:t>
            </a:r>
          </a:p>
        </p:txBody>
      </p:sp>
    </p:spTree>
    <p:extLst>
      <p:ext uri="{BB962C8B-B14F-4D97-AF65-F5344CB8AC3E}">
        <p14:creationId xmlns:p14="http://schemas.microsoft.com/office/powerpoint/2010/main" val="2820154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5" name="文本框 4">
            <a:extLst>
              <a:ext uri="{FF2B5EF4-FFF2-40B4-BE49-F238E27FC236}">
                <a16:creationId xmlns:a16="http://schemas.microsoft.com/office/drawing/2014/main" id="{8100D112-5CC6-1837-0725-F626B2EE9ECC}"/>
              </a:ext>
            </a:extLst>
          </p:cNvPr>
          <p:cNvSpPr txBox="1"/>
          <p:nvPr/>
        </p:nvSpPr>
        <p:spPr>
          <a:xfrm>
            <a:off x="1187624" y="1419622"/>
            <a:ext cx="4464496" cy="1938992"/>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死锁产生的原因</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en-US" altLang="zh-CN" sz="2400" b="1" dirty="0">
                <a:solidFill>
                  <a:srgbClr val="254061"/>
                </a:solidFill>
                <a:effectLst>
                  <a:outerShdw blurRad="38100" dist="38100" dir="2700000" algn="tl">
                    <a:srgbClr val="000000">
                      <a:alpha val="43137"/>
                    </a:srgbClr>
                  </a:outerShdw>
                </a:effectLst>
                <a:latin typeface="微软雅黑"/>
                <a:ea typeface="微软雅黑"/>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系统资源的竞争</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r>
              <a:rPr lang="en-US" altLang="zh-CN" sz="2400" b="1" dirty="0">
                <a:solidFill>
                  <a:srgbClr val="254061"/>
                </a:solidFill>
                <a:effectLst>
                  <a:outerShdw blurRad="38100" dist="38100" dir="2700000" algn="tl">
                    <a:srgbClr val="000000">
                      <a:alpha val="43137"/>
                    </a:srgbClr>
                  </a:outerShdw>
                </a:effectLst>
                <a:latin typeface="微软雅黑"/>
                <a:ea typeface="微软雅黑"/>
              </a:rPr>
              <a:t>(2)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进程推进顺序非法</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1538417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5" name="文本框 4">
            <a:extLst>
              <a:ext uri="{FF2B5EF4-FFF2-40B4-BE49-F238E27FC236}">
                <a16:creationId xmlns:a16="http://schemas.microsoft.com/office/drawing/2014/main" id="{2B8E1627-161B-96F3-9056-1504F706EAEC}"/>
              </a:ext>
            </a:extLst>
          </p:cNvPr>
          <p:cNvSpPr txBox="1"/>
          <p:nvPr/>
        </p:nvSpPr>
        <p:spPr>
          <a:xfrm>
            <a:off x="260314" y="1071627"/>
            <a:ext cx="446449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死锁产生的必要条件</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8" name="图片 7">
            <a:extLst>
              <a:ext uri="{FF2B5EF4-FFF2-40B4-BE49-F238E27FC236}">
                <a16:creationId xmlns:a16="http://schemas.microsoft.com/office/drawing/2014/main" id="{7B71FDE8-8715-02A6-5F48-00163E7FAE78}"/>
              </a:ext>
            </a:extLst>
          </p:cNvPr>
          <p:cNvPicPr>
            <a:picLocks noChangeAspect="1"/>
          </p:cNvPicPr>
          <p:nvPr/>
        </p:nvPicPr>
        <p:blipFill>
          <a:blip r:embed="rId3"/>
          <a:stretch>
            <a:fillRect/>
          </a:stretch>
        </p:blipFill>
        <p:spPr>
          <a:xfrm>
            <a:off x="233772" y="1635646"/>
            <a:ext cx="8676456" cy="985175"/>
          </a:xfrm>
          <a:prstGeom prst="rect">
            <a:avLst/>
          </a:prstGeom>
        </p:spPr>
      </p:pic>
      <p:pic>
        <p:nvPicPr>
          <p:cNvPr id="10" name="图片 9">
            <a:extLst>
              <a:ext uri="{FF2B5EF4-FFF2-40B4-BE49-F238E27FC236}">
                <a16:creationId xmlns:a16="http://schemas.microsoft.com/office/drawing/2014/main" id="{902334A6-7FB6-7C25-FAF7-50117D4F75DB}"/>
              </a:ext>
            </a:extLst>
          </p:cNvPr>
          <p:cNvPicPr>
            <a:picLocks noChangeAspect="1"/>
          </p:cNvPicPr>
          <p:nvPr/>
        </p:nvPicPr>
        <p:blipFill>
          <a:blip r:embed="rId4"/>
          <a:stretch>
            <a:fillRect/>
          </a:stretch>
        </p:blipFill>
        <p:spPr>
          <a:xfrm>
            <a:off x="1043608" y="2859782"/>
            <a:ext cx="2304256" cy="1939980"/>
          </a:xfrm>
          <a:prstGeom prst="rect">
            <a:avLst/>
          </a:prstGeom>
        </p:spPr>
      </p:pic>
      <p:pic>
        <p:nvPicPr>
          <p:cNvPr id="12" name="图片 11">
            <a:extLst>
              <a:ext uri="{FF2B5EF4-FFF2-40B4-BE49-F238E27FC236}">
                <a16:creationId xmlns:a16="http://schemas.microsoft.com/office/drawing/2014/main" id="{8DDB4932-20AE-DA00-AA11-474F505CA9F3}"/>
              </a:ext>
            </a:extLst>
          </p:cNvPr>
          <p:cNvPicPr>
            <a:picLocks noChangeAspect="1"/>
          </p:cNvPicPr>
          <p:nvPr/>
        </p:nvPicPr>
        <p:blipFill>
          <a:blip r:embed="rId5"/>
          <a:stretch>
            <a:fillRect/>
          </a:stretch>
        </p:blipFill>
        <p:spPr>
          <a:xfrm>
            <a:off x="4724810" y="2703583"/>
            <a:ext cx="2568163" cy="1928027"/>
          </a:xfrm>
          <a:prstGeom prst="rect">
            <a:avLst/>
          </a:prstGeom>
        </p:spPr>
      </p:pic>
    </p:spTree>
    <p:extLst>
      <p:ext uri="{BB962C8B-B14F-4D97-AF65-F5344CB8AC3E}">
        <p14:creationId xmlns:p14="http://schemas.microsoft.com/office/powerpoint/2010/main" val="2419436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死锁的处理策略</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F0FEA0AE-4FFE-A986-F7C2-F9311B4BCCAA}"/>
              </a:ext>
            </a:extLst>
          </p:cNvPr>
          <p:cNvPicPr>
            <a:picLocks noChangeAspect="1"/>
          </p:cNvPicPr>
          <p:nvPr/>
        </p:nvPicPr>
        <p:blipFill>
          <a:blip r:embed="rId3"/>
          <a:stretch>
            <a:fillRect/>
          </a:stretch>
        </p:blipFill>
        <p:spPr>
          <a:xfrm>
            <a:off x="107504" y="603027"/>
            <a:ext cx="6107853" cy="4383777"/>
          </a:xfrm>
          <a:prstGeom prst="rect">
            <a:avLst/>
          </a:prstGeom>
        </p:spPr>
      </p:pic>
    </p:spTree>
    <p:extLst>
      <p:ext uri="{BB962C8B-B14F-4D97-AF65-F5344CB8AC3E}">
        <p14:creationId xmlns:p14="http://schemas.microsoft.com/office/powerpoint/2010/main" val="1802142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死锁预防</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C25C0FBE-DCB4-96EA-B968-4390E7627E3C}"/>
              </a:ext>
            </a:extLst>
          </p:cNvPr>
          <p:cNvPicPr>
            <a:picLocks noChangeAspect="1"/>
          </p:cNvPicPr>
          <p:nvPr/>
        </p:nvPicPr>
        <p:blipFill>
          <a:blip r:embed="rId3"/>
          <a:stretch>
            <a:fillRect/>
          </a:stretch>
        </p:blipFill>
        <p:spPr>
          <a:xfrm>
            <a:off x="179512" y="1095586"/>
            <a:ext cx="8215754" cy="2952328"/>
          </a:xfrm>
          <a:prstGeom prst="rect">
            <a:avLst/>
          </a:prstGeom>
        </p:spPr>
      </p:pic>
    </p:spTree>
    <p:extLst>
      <p:ext uri="{BB962C8B-B14F-4D97-AF65-F5344CB8AC3E}">
        <p14:creationId xmlns:p14="http://schemas.microsoft.com/office/powerpoint/2010/main" val="842094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死锁避免</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14261161-4440-72FA-9FC1-A9CF08C25A3A}"/>
              </a:ext>
            </a:extLst>
          </p:cNvPr>
          <p:cNvPicPr>
            <a:picLocks noChangeAspect="1"/>
          </p:cNvPicPr>
          <p:nvPr/>
        </p:nvPicPr>
        <p:blipFill>
          <a:blip r:embed="rId3"/>
          <a:stretch>
            <a:fillRect/>
          </a:stretch>
        </p:blipFill>
        <p:spPr>
          <a:xfrm>
            <a:off x="395536" y="915566"/>
            <a:ext cx="1498667" cy="432048"/>
          </a:xfrm>
          <a:prstGeom prst="rect">
            <a:avLst/>
          </a:prstGeom>
        </p:spPr>
      </p:pic>
      <p:pic>
        <p:nvPicPr>
          <p:cNvPr id="5" name="图片 4">
            <a:extLst>
              <a:ext uri="{FF2B5EF4-FFF2-40B4-BE49-F238E27FC236}">
                <a16:creationId xmlns:a16="http://schemas.microsoft.com/office/drawing/2014/main" id="{7CFA7A98-AD00-B6A0-0891-BA0B577734BB}"/>
              </a:ext>
            </a:extLst>
          </p:cNvPr>
          <p:cNvPicPr>
            <a:picLocks noChangeAspect="1"/>
          </p:cNvPicPr>
          <p:nvPr/>
        </p:nvPicPr>
        <p:blipFill>
          <a:blip r:embed="rId4"/>
          <a:stretch>
            <a:fillRect/>
          </a:stretch>
        </p:blipFill>
        <p:spPr>
          <a:xfrm>
            <a:off x="403141" y="1508815"/>
            <a:ext cx="8129300" cy="375012"/>
          </a:xfrm>
          <a:prstGeom prst="rect">
            <a:avLst/>
          </a:prstGeom>
        </p:spPr>
      </p:pic>
      <p:pic>
        <p:nvPicPr>
          <p:cNvPr id="16" name="图片 15">
            <a:extLst>
              <a:ext uri="{FF2B5EF4-FFF2-40B4-BE49-F238E27FC236}">
                <a16:creationId xmlns:a16="http://schemas.microsoft.com/office/drawing/2014/main" id="{FD468ACA-10FE-8433-DC77-E841574187D8}"/>
              </a:ext>
            </a:extLst>
          </p:cNvPr>
          <p:cNvPicPr>
            <a:picLocks noChangeAspect="1"/>
          </p:cNvPicPr>
          <p:nvPr/>
        </p:nvPicPr>
        <p:blipFill>
          <a:blip r:embed="rId5"/>
          <a:stretch>
            <a:fillRect/>
          </a:stretch>
        </p:blipFill>
        <p:spPr>
          <a:xfrm>
            <a:off x="1830230" y="2220184"/>
            <a:ext cx="3939597" cy="1512168"/>
          </a:xfrm>
          <a:prstGeom prst="rect">
            <a:avLst/>
          </a:prstGeom>
        </p:spPr>
      </p:pic>
    </p:spTree>
    <p:extLst>
      <p:ext uri="{BB962C8B-B14F-4D97-AF65-F5344CB8AC3E}">
        <p14:creationId xmlns:p14="http://schemas.microsoft.com/office/powerpoint/2010/main" val="2135282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死锁避免</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2" name="图片 1">
            <a:extLst>
              <a:ext uri="{FF2B5EF4-FFF2-40B4-BE49-F238E27FC236}">
                <a16:creationId xmlns:a16="http://schemas.microsoft.com/office/drawing/2014/main" id="{8D4FB353-3AAC-A51A-EAFF-2FF4754BD198}"/>
              </a:ext>
            </a:extLst>
          </p:cNvPr>
          <p:cNvPicPr>
            <a:picLocks noChangeAspect="1"/>
          </p:cNvPicPr>
          <p:nvPr/>
        </p:nvPicPr>
        <p:blipFill>
          <a:blip r:embed="rId3"/>
          <a:stretch>
            <a:fillRect/>
          </a:stretch>
        </p:blipFill>
        <p:spPr>
          <a:xfrm>
            <a:off x="412805" y="769509"/>
            <a:ext cx="1060379" cy="375012"/>
          </a:xfrm>
          <a:prstGeom prst="rect">
            <a:avLst/>
          </a:prstGeom>
        </p:spPr>
      </p:pic>
      <p:pic>
        <p:nvPicPr>
          <p:cNvPr id="4" name="图片 3">
            <a:extLst>
              <a:ext uri="{FF2B5EF4-FFF2-40B4-BE49-F238E27FC236}">
                <a16:creationId xmlns:a16="http://schemas.microsoft.com/office/drawing/2014/main" id="{3AB21AEA-8CEB-79EA-4B0C-D3DF886F2373}"/>
              </a:ext>
            </a:extLst>
          </p:cNvPr>
          <p:cNvPicPr>
            <a:picLocks noChangeAspect="1"/>
          </p:cNvPicPr>
          <p:nvPr/>
        </p:nvPicPr>
        <p:blipFill>
          <a:blip r:embed="rId4"/>
          <a:stretch>
            <a:fillRect/>
          </a:stretch>
        </p:blipFill>
        <p:spPr>
          <a:xfrm>
            <a:off x="412805" y="1228716"/>
            <a:ext cx="6217936" cy="375011"/>
          </a:xfrm>
          <a:prstGeom prst="rect">
            <a:avLst/>
          </a:prstGeom>
        </p:spPr>
      </p:pic>
      <p:pic>
        <p:nvPicPr>
          <p:cNvPr id="5" name="图片 4">
            <a:extLst>
              <a:ext uri="{FF2B5EF4-FFF2-40B4-BE49-F238E27FC236}">
                <a16:creationId xmlns:a16="http://schemas.microsoft.com/office/drawing/2014/main" id="{F4C745F2-0F77-C037-0546-A9FF5133E698}"/>
              </a:ext>
            </a:extLst>
          </p:cNvPr>
          <p:cNvPicPr>
            <a:picLocks noChangeAspect="1"/>
          </p:cNvPicPr>
          <p:nvPr/>
        </p:nvPicPr>
        <p:blipFill>
          <a:blip r:embed="rId5"/>
          <a:stretch>
            <a:fillRect/>
          </a:stretch>
        </p:blipFill>
        <p:spPr>
          <a:xfrm>
            <a:off x="395536" y="1707654"/>
            <a:ext cx="4547010" cy="375011"/>
          </a:xfrm>
          <a:prstGeom prst="rect">
            <a:avLst/>
          </a:prstGeom>
        </p:spPr>
      </p:pic>
    </p:spTree>
    <p:extLst>
      <p:ext uri="{BB962C8B-B14F-4D97-AF65-F5344CB8AC3E}">
        <p14:creationId xmlns:p14="http://schemas.microsoft.com/office/powerpoint/2010/main" val="3870213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死锁避免</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BEFFEBFD-86E9-ABE2-D268-2EB3BE5EBBAF}"/>
              </a:ext>
            </a:extLst>
          </p:cNvPr>
          <p:cNvSpPr txBox="1"/>
          <p:nvPr/>
        </p:nvSpPr>
        <p:spPr>
          <a:xfrm>
            <a:off x="251520" y="843558"/>
            <a:ext cx="8640960" cy="3785652"/>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(1) 数据结构描述</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b="1" dirty="0">
                <a:solidFill>
                  <a:srgbClr val="FF0000"/>
                </a:solidFill>
              </a:rPr>
              <a:t>可利用资源向量Available</a:t>
            </a:r>
            <a:r>
              <a:rPr lang="zh-CN" altLang="en-US" dirty="0"/>
              <a:t>：含有m个元素的数组，其中每个元素代表一类可用的资源数目。Available[j]=K表示系统中现有Rj类资源K个。</a:t>
            </a:r>
          </a:p>
          <a:p>
            <a:r>
              <a:rPr lang="zh-CN" altLang="en-US" b="1" dirty="0">
                <a:solidFill>
                  <a:srgbClr val="FF0000"/>
                </a:solidFill>
              </a:rPr>
              <a:t>最大需求矩阵Max</a:t>
            </a:r>
            <a:r>
              <a:rPr lang="zh-CN" altLang="en-US" dirty="0"/>
              <a:t>：n×m矩阵，定义系统中n个进程中的每个进程对m类资源的最大需求。</a:t>
            </a:r>
            <a:endParaRPr lang="en-US" altLang="zh-CN" dirty="0"/>
          </a:p>
          <a:p>
            <a:r>
              <a:rPr lang="zh-CN" altLang="en-US" dirty="0"/>
              <a:t>简单来说，一行代表一个进程，一列代表一类资源。</a:t>
            </a:r>
            <a:r>
              <a:rPr lang="en-US" altLang="zh-CN" dirty="0"/>
              <a:t>Mx[</a:t>
            </a:r>
            <a:r>
              <a:rPr lang="en-US" altLang="zh-CN" dirty="0" err="1"/>
              <a:t>i,j</a:t>
            </a:r>
            <a:r>
              <a:rPr lang="en-US" altLang="zh-CN" dirty="0"/>
              <a:t>]=K</a:t>
            </a:r>
            <a:r>
              <a:rPr lang="zh-CN" altLang="en-US" dirty="0"/>
              <a:t>表示进程</a:t>
            </a:r>
            <a:r>
              <a:rPr lang="en-US" altLang="zh-CN" dirty="0" err="1"/>
              <a:t>i</a:t>
            </a:r>
            <a:r>
              <a:rPr lang="zh-CN" altLang="en-US" dirty="0"/>
              <a:t>需要</a:t>
            </a:r>
            <a:r>
              <a:rPr lang="en-US" altLang="zh-CN" dirty="0" err="1"/>
              <a:t>Rj</a:t>
            </a:r>
            <a:r>
              <a:rPr lang="zh-CN" altLang="en-US" dirty="0"/>
              <a:t>类资源的最大数目为</a:t>
            </a:r>
            <a:r>
              <a:rPr lang="en-US" altLang="zh-CN" dirty="0"/>
              <a:t>K</a:t>
            </a:r>
            <a:r>
              <a:rPr lang="zh-CN" altLang="en-US" dirty="0"/>
              <a:t>。</a:t>
            </a:r>
          </a:p>
          <a:p>
            <a:r>
              <a:rPr lang="zh-CN" altLang="en-US" b="1" dirty="0">
                <a:solidFill>
                  <a:srgbClr val="FF0000"/>
                </a:solidFill>
              </a:rPr>
              <a:t>分配矩阵</a:t>
            </a:r>
            <a:r>
              <a:rPr lang="en-US" altLang="zh-CN" b="1" dirty="0">
                <a:solidFill>
                  <a:srgbClr val="FF0000"/>
                </a:solidFill>
              </a:rPr>
              <a:t>Allocation</a:t>
            </a:r>
            <a:r>
              <a:rPr lang="zh-CN" altLang="en-US" dirty="0"/>
              <a:t>：</a:t>
            </a:r>
            <a:r>
              <a:rPr lang="en-US" altLang="zh-CN" dirty="0" err="1"/>
              <a:t>n×m</a:t>
            </a:r>
            <a:r>
              <a:rPr lang="zh-CN" altLang="en-US" dirty="0"/>
              <a:t>矩阵，定义系统中每类资源当前已分配给每个进程的资源数。</a:t>
            </a:r>
            <a:r>
              <a:rPr lang="en-US" altLang="zh-CN" dirty="0"/>
              <a:t>Allocation[</a:t>
            </a:r>
            <a:r>
              <a:rPr lang="en-US" altLang="zh-CN" dirty="0" err="1"/>
              <a:t>i,j</a:t>
            </a:r>
            <a:r>
              <a:rPr lang="en-US" altLang="zh-CN" dirty="0"/>
              <a:t>]=K</a:t>
            </a:r>
            <a:r>
              <a:rPr lang="zh-CN" altLang="en-US" dirty="0"/>
              <a:t>表示进程</a:t>
            </a:r>
            <a:r>
              <a:rPr lang="en-US" altLang="zh-CN" dirty="0" err="1"/>
              <a:t>i</a:t>
            </a:r>
            <a:r>
              <a:rPr lang="zh-CN" altLang="en-US" dirty="0"/>
              <a:t>当前已分得</a:t>
            </a:r>
            <a:r>
              <a:rPr lang="en-US" altLang="zh-CN" dirty="0" err="1"/>
              <a:t>Rj</a:t>
            </a:r>
            <a:r>
              <a:rPr lang="zh-CN" altLang="en-US" dirty="0"/>
              <a:t>类资源的数目为</a:t>
            </a:r>
            <a:r>
              <a:rPr lang="en-US" altLang="zh-CN" dirty="0"/>
              <a:t>K</a:t>
            </a:r>
            <a:r>
              <a:rPr lang="zh-CN" altLang="en-US" dirty="0"/>
              <a:t>。</a:t>
            </a:r>
          </a:p>
          <a:p>
            <a:r>
              <a:rPr lang="zh-CN" altLang="en-US" b="1" dirty="0">
                <a:solidFill>
                  <a:srgbClr val="FF0000"/>
                </a:solidFill>
              </a:rPr>
              <a:t>需求矩阵</a:t>
            </a:r>
            <a:r>
              <a:rPr lang="en-US" altLang="zh-CN" b="1" dirty="0">
                <a:solidFill>
                  <a:srgbClr val="FF0000"/>
                </a:solidFill>
              </a:rPr>
              <a:t>Need</a:t>
            </a:r>
            <a:r>
              <a:rPr lang="zh-CN" altLang="en-US" dirty="0"/>
              <a:t>：</a:t>
            </a:r>
            <a:r>
              <a:rPr lang="en-US" altLang="zh-CN" dirty="0" err="1"/>
              <a:t>n×m</a:t>
            </a:r>
            <a:r>
              <a:rPr lang="zh-CN" altLang="en-US" dirty="0"/>
              <a:t>矩阵，表示每个进程接下来最多还需要多少资源。</a:t>
            </a:r>
            <a:r>
              <a:rPr lang="en-US" altLang="zh-CN" dirty="0"/>
              <a:t>Need[</a:t>
            </a:r>
            <a:r>
              <a:rPr lang="en-US" altLang="zh-CN" dirty="0" err="1"/>
              <a:t>i,j</a:t>
            </a:r>
            <a:r>
              <a:rPr lang="en-US" altLang="zh-CN" dirty="0"/>
              <a:t>]=K</a:t>
            </a:r>
            <a:r>
              <a:rPr lang="zh-CN" altLang="en-US" dirty="0"/>
              <a:t>表示进程</a:t>
            </a:r>
            <a:r>
              <a:rPr lang="en-US" altLang="zh-CN" dirty="0" err="1"/>
              <a:t>i</a:t>
            </a:r>
            <a:r>
              <a:rPr lang="zh-CN" altLang="en-US" dirty="0"/>
              <a:t>还需要</a:t>
            </a:r>
            <a:r>
              <a:rPr lang="en-US" altLang="zh-CN" dirty="0" err="1"/>
              <a:t>Rj</a:t>
            </a:r>
            <a:r>
              <a:rPr lang="zh-CN" altLang="en-US" dirty="0"/>
              <a:t>类资源的数目为</a:t>
            </a:r>
            <a:r>
              <a:rPr lang="en-US" altLang="zh-CN" dirty="0"/>
              <a:t>K</a:t>
            </a:r>
            <a:r>
              <a:rPr lang="zh-CN" altLang="en-US" dirty="0"/>
              <a:t>。</a:t>
            </a:r>
          </a:p>
          <a:p>
            <a:r>
              <a:rPr lang="zh-CN" altLang="en-US" dirty="0"/>
              <a:t>上述三个矩阵间存在下述关系：</a:t>
            </a:r>
          </a:p>
          <a:p>
            <a:pPr algn="ctr"/>
            <a:r>
              <a:rPr lang="en-US" altLang="zh-CN" b="1" dirty="0">
                <a:solidFill>
                  <a:srgbClr val="FF0000"/>
                </a:solidFill>
              </a:rPr>
              <a:t>Need=Max-Allocation</a:t>
            </a:r>
            <a:endParaRPr lang="zh-CN" altLang="en-US" b="1" dirty="0">
              <a:solidFill>
                <a:srgbClr val="FF0000"/>
              </a:solidFill>
            </a:endParaRPr>
          </a:p>
        </p:txBody>
      </p:sp>
    </p:spTree>
    <p:extLst>
      <p:ext uri="{BB962C8B-B14F-4D97-AF65-F5344CB8AC3E}">
        <p14:creationId xmlns:p14="http://schemas.microsoft.com/office/powerpoint/2010/main" val="2276966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0F1AB35F-E2BD-15DA-4C57-255F3F4B5589}"/>
              </a:ext>
            </a:extLst>
          </p:cNvPr>
          <p:cNvSpPr txBox="1"/>
          <p:nvPr/>
        </p:nvSpPr>
        <p:spPr>
          <a:xfrm>
            <a:off x="251520" y="843558"/>
            <a:ext cx="8640960" cy="3785652"/>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(1) 数据结构描述</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b="1" dirty="0">
                <a:solidFill>
                  <a:srgbClr val="FF0000"/>
                </a:solidFill>
              </a:rPr>
              <a:t>可利用资源向量Available</a:t>
            </a:r>
            <a:r>
              <a:rPr lang="zh-CN" altLang="en-US" dirty="0"/>
              <a:t>：含有m个元素的数组，其中每个元素代表一类可用的资源数目。Available[j]=K表示系统中现有Rj类资源K个。</a:t>
            </a:r>
          </a:p>
          <a:p>
            <a:r>
              <a:rPr lang="zh-CN" altLang="en-US" b="1" dirty="0">
                <a:solidFill>
                  <a:srgbClr val="FF0000"/>
                </a:solidFill>
              </a:rPr>
              <a:t>最大需求矩阵Max</a:t>
            </a:r>
            <a:r>
              <a:rPr lang="zh-CN" altLang="en-US" dirty="0"/>
              <a:t>：n×m矩阵，定义系统中n个进程中的每个进程对m类资源的最大需求。</a:t>
            </a:r>
            <a:endParaRPr lang="en-US" altLang="zh-CN" dirty="0"/>
          </a:p>
          <a:p>
            <a:r>
              <a:rPr lang="zh-CN" altLang="en-US" dirty="0"/>
              <a:t>简单来说，一行代表一个进程，一列代表一类资源。</a:t>
            </a:r>
            <a:r>
              <a:rPr lang="en-US" altLang="zh-CN" dirty="0"/>
              <a:t>Mx[</a:t>
            </a:r>
            <a:r>
              <a:rPr lang="en-US" altLang="zh-CN" dirty="0" err="1"/>
              <a:t>i,j</a:t>
            </a:r>
            <a:r>
              <a:rPr lang="en-US" altLang="zh-CN" dirty="0"/>
              <a:t>]=K</a:t>
            </a:r>
            <a:r>
              <a:rPr lang="zh-CN" altLang="en-US" dirty="0"/>
              <a:t>表示进程</a:t>
            </a:r>
            <a:r>
              <a:rPr lang="en-US" altLang="zh-CN" dirty="0" err="1"/>
              <a:t>i</a:t>
            </a:r>
            <a:r>
              <a:rPr lang="zh-CN" altLang="en-US" dirty="0"/>
              <a:t>需要</a:t>
            </a:r>
            <a:r>
              <a:rPr lang="en-US" altLang="zh-CN" dirty="0" err="1"/>
              <a:t>Rj</a:t>
            </a:r>
            <a:r>
              <a:rPr lang="zh-CN" altLang="en-US" dirty="0"/>
              <a:t>类资源的最大数目为</a:t>
            </a:r>
            <a:r>
              <a:rPr lang="en-US" altLang="zh-CN" dirty="0"/>
              <a:t>K</a:t>
            </a:r>
            <a:r>
              <a:rPr lang="zh-CN" altLang="en-US" dirty="0"/>
              <a:t>。</a:t>
            </a:r>
          </a:p>
          <a:p>
            <a:r>
              <a:rPr lang="zh-CN" altLang="en-US" b="1" dirty="0">
                <a:solidFill>
                  <a:srgbClr val="FF0000"/>
                </a:solidFill>
              </a:rPr>
              <a:t>分配矩阵</a:t>
            </a:r>
            <a:r>
              <a:rPr lang="en-US" altLang="zh-CN" b="1" dirty="0">
                <a:solidFill>
                  <a:srgbClr val="FF0000"/>
                </a:solidFill>
              </a:rPr>
              <a:t>Allocation</a:t>
            </a:r>
            <a:r>
              <a:rPr lang="zh-CN" altLang="en-US" dirty="0"/>
              <a:t>：</a:t>
            </a:r>
            <a:r>
              <a:rPr lang="en-US" altLang="zh-CN" dirty="0" err="1"/>
              <a:t>n×m</a:t>
            </a:r>
            <a:r>
              <a:rPr lang="zh-CN" altLang="en-US" dirty="0"/>
              <a:t>矩阵，定义系统中每类资源当前已分配给每个进程的资源数。</a:t>
            </a:r>
            <a:r>
              <a:rPr lang="en-US" altLang="zh-CN" dirty="0"/>
              <a:t>Allocation[</a:t>
            </a:r>
            <a:r>
              <a:rPr lang="en-US" altLang="zh-CN" dirty="0" err="1"/>
              <a:t>i,j</a:t>
            </a:r>
            <a:r>
              <a:rPr lang="en-US" altLang="zh-CN" dirty="0"/>
              <a:t>]=K</a:t>
            </a:r>
            <a:r>
              <a:rPr lang="zh-CN" altLang="en-US" dirty="0"/>
              <a:t>表示进程</a:t>
            </a:r>
            <a:r>
              <a:rPr lang="en-US" altLang="zh-CN" dirty="0" err="1"/>
              <a:t>i</a:t>
            </a:r>
            <a:r>
              <a:rPr lang="zh-CN" altLang="en-US" dirty="0"/>
              <a:t>当前已分得</a:t>
            </a:r>
            <a:r>
              <a:rPr lang="en-US" altLang="zh-CN" dirty="0" err="1"/>
              <a:t>Rj</a:t>
            </a:r>
            <a:r>
              <a:rPr lang="zh-CN" altLang="en-US" dirty="0"/>
              <a:t>类资源的数目为</a:t>
            </a:r>
            <a:r>
              <a:rPr lang="en-US" altLang="zh-CN" dirty="0"/>
              <a:t>K</a:t>
            </a:r>
            <a:r>
              <a:rPr lang="zh-CN" altLang="en-US" dirty="0"/>
              <a:t>。</a:t>
            </a:r>
          </a:p>
          <a:p>
            <a:r>
              <a:rPr lang="zh-CN" altLang="en-US" b="1" dirty="0">
                <a:solidFill>
                  <a:srgbClr val="FF0000"/>
                </a:solidFill>
              </a:rPr>
              <a:t>需求矩阵</a:t>
            </a:r>
            <a:r>
              <a:rPr lang="en-US" altLang="zh-CN" b="1" dirty="0">
                <a:solidFill>
                  <a:srgbClr val="FF0000"/>
                </a:solidFill>
              </a:rPr>
              <a:t>Need</a:t>
            </a:r>
            <a:r>
              <a:rPr lang="zh-CN" altLang="en-US" dirty="0"/>
              <a:t>：</a:t>
            </a:r>
            <a:r>
              <a:rPr lang="en-US" altLang="zh-CN" dirty="0" err="1"/>
              <a:t>n×m</a:t>
            </a:r>
            <a:r>
              <a:rPr lang="zh-CN" altLang="en-US" dirty="0"/>
              <a:t>矩阵，表示每个进程接下来最多还需要多少资源。</a:t>
            </a:r>
            <a:r>
              <a:rPr lang="en-US" altLang="zh-CN" dirty="0"/>
              <a:t>Need[</a:t>
            </a:r>
            <a:r>
              <a:rPr lang="en-US" altLang="zh-CN" dirty="0" err="1"/>
              <a:t>i,j</a:t>
            </a:r>
            <a:r>
              <a:rPr lang="en-US" altLang="zh-CN" dirty="0"/>
              <a:t>]=K</a:t>
            </a:r>
            <a:r>
              <a:rPr lang="zh-CN" altLang="en-US" dirty="0"/>
              <a:t>表示进程</a:t>
            </a:r>
            <a:r>
              <a:rPr lang="en-US" altLang="zh-CN" dirty="0" err="1"/>
              <a:t>i</a:t>
            </a:r>
            <a:r>
              <a:rPr lang="zh-CN" altLang="en-US" dirty="0"/>
              <a:t>还需要</a:t>
            </a:r>
            <a:r>
              <a:rPr lang="en-US" altLang="zh-CN" dirty="0" err="1"/>
              <a:t>Rj</a:t>
            </a:r>
            <a:r>
              <a:rPr lang="zh-CN" altLang="en-US" dirty="0"/>
              <a:t>类资源的数目为</a:t>
            </a:r>
            <a:r>
              <a:rPr lang="en-US" altLang="zh-CN" dirty="0"/>
              <a:t>K</a:t>
            </a:r>
            <a:r>
              <a:rPr lang="zh-CN" altLang="en-US" dirty="0"/>
              <a:t>。</a:t>
            </a:r>
          </a:p>
          <a:p>
            <a:r>
              <a:rPr lang="zh-CN" altLang="en-US" dirty="0"/>
              <a:t>上述三个矩阵间存在下述关系：</a:t>
            </a:r>
          </a:p>
          <a:p>
            <a:pPr algn="ctr"/>
            <a:r>
              <a:rPr lang="en-US" altLang="zh-CN" b="1" dirty="0">
                <a:solidFill>
                  <a:srgbClr val="FF0000"/>
                </a:solidFill>
              </a:rPr>
              <a:t>Need=Max-Allocation</a:t>
            </a:r>
            <a:endParaRPr lang="zh-CN" altLang="en-US" b="1" dirty="0">
              <a:solidFill>
                <a:srgbClr val="FF0000"/>
              </a:solidFill>
            </a:endParaRPr>
          </a:p>
        </p:txBody>
      </p:sp>
    </p:spTree>
    <p:extLst>
      <p:ext uri="{BB962C8B-B14F-4D97-AF65-F5344CB8AC3E}">
        <p14:creationId xmlns:p14="http://schemas.microsoft.com/office/powerpoint/2010/main" val="2410221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B0A88E0A-47BB-2EAE-19BD-87353841DEC7}"/>
              </a:ext>
            </a:extLst>
          </p:cNvPr>
          <p:cNvSpPr txBox="1"/>
          <p:nvPr/>
        </p:nvSpPr>
        <p:spPr>
          <a:xfrm>
            <a:off x="251520" y="843558"/>
            <a:ext cx="8640960" cy="3785652"/>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2</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 银行家算法描述</a:t>
            </a:r>
            <a:endParaRPr lang="zh-CN" altLang="en-US" b="1" dirty="0">
              <a:solidFill>
                <a:srgbClr val="FF0000"/>
              </a:solidFill>
            </a:endParaRPr>
          </a:p>
          <a:p>
            <a:r>
              <a:rPr lang="zh-CN" altLang="en-US" dirty="0"/>
              <a:t>设</a:t>
            </a:r>
            <a:r>
              <a:rPr lang="en-US" altLang="zh-CN" dirty="0"/>
              <a:t>Request;</a:t>
            </a:r>
            <a:r>
              <a:rPr lang="zh-CN" altLang="en-US" dirty="0"/>
              <a:t>是进程</a:t>
            </a:r>
            <a:r>
              <a:rPr lang="en-US" altLang="zh-CN" dirty="0"/>
              <a:t>Pi</a:t>
            </a:r>
            <a:r>
              <a:rPr lang="zh-CN" altLang="en-US" dirty="0"/>
              <a:t>的请求向量，</a:t>
            </a:r>
            <a:r>
              <a:rPr lang="en-US" altLang="zh-CN" dirty="0" err="1"/>
              <a:t>Requesti</a:t>
            </a:r>
            <a:r>
              <a:rPr lang="en-US" altLang="zh-CN" dirty="0"/>
              <a:t>[j]=K</a:t>
            </a:r>
            <a:r>
              <a:rPr lang="zh-CN" altLang="en-US" dirty="0"/>
              <a:t>表示进程</a:t>
            </a:r>
            <a:r>
              <a:rPr lang="en-US" altLang="zh-CN" dirty="0"/>
              <a:t>Pi</a:t>
            </a:r>
            <a:r>
              <a:rPr lang="zh-CN" altLang="en-US" dirty="0"/>
              <a:t>需要</a:t>
            </a:r>
            <a:r>
              <a:rPr lang="en-US" altLang="zh-CN" dirty="0"/>
              <a:t>j</a:t>
            </a:r>
            <a:r>
              <a:rPr lang="zh-CN" altLang="en-US" dirty="0"/>
              <a:t>类资源</a:t>
            </a:r>
            <a:r>
              <a:rPr lang="en-US" altLang="zh-CN" dirty="0"/>
              <a:t>K</a:t>
            </a:r>
            <a:r>
              <a:rPr lang="zh-CN" altLang="en-US" dirty="0"/>
              <a:t>个。当</a:t>
            </a:r>
            <a:r>
              <a:rPr lang="en-US" altLang="zh-CN" dirty="0"/>
              <a:t>Pi</a:t>
            </a:r>
            <a:r>
              <a:rPr lang="zh-CN" altLang="en-US" dirty="0"/>
              <a:t>发出资源请求后，系统按下述步骤进行检查：</a:t>
            </a:r>
          </a:p>
          <a:p>
            <a:r>
              <a:rPr lang="zh-CN" altLang="en-US" dirty="0"/>
              <a:t>①若</a:t>
            </a:r>
            <a:r>
              <a:rPr lang="en-US" altLang="zh-CN" dirty="0" err="1"/>
              <a:t>Requesti</a:t>
            </a:r>
            <a:r>
              <a:rPr lang="en-US" altLang="zh-CN" dirty="0"/>
              <a:t>[j]≤Need[</a:t>
            </a:r>
            <a:r>
              <a:rPr lang="en-US" altLang="zh-CN" dirty="0" err="1"/>
              <a:t>i,j</a:t>
            </a:r>
            <a:r>
              <a:rPr lang="en-US" altLang="zh-CN" dirty="0"/>
              <a:t>]</a:t>
            </a:r>
            <a:r>
              <a:rPr lang="zh-CN" altLang="en-US" dirty="0"/>
              <a:t>，则转向步骤②；否则认为出错，因为它所需要的资源数已超过它所宣布的最大值。</a:t>
            </a:r>
          </a:p>
          <a:p>
            <a:r>
              <a:rPr lang="zh-CN" altLang="en-US" dirty="0"/>
              <a:t>②若</a:t>
            </a:r>
            <a:r>
              <a:rPr lang="en-US" altLang="zh-CN" dirty="0" err="1"/>
              <a:t>Requesti</a:t>
            </a:r>
            <a:r>
              <a:rPr lang="en-US" altLang="zh-CN" dirty="0"/>
              <a:t>[j]≤Available[j]</a:t>
            </a:r>
            <a:r>
              <a:rPr lang="zh-CN" altLang="en-US" dirty="0"/>
              <a:t>则转向步骤③；否则，表示尚无足够资源，</a:t>
            </a:r>
            <a:r>
              <a:rPr lang="en-US" altLang="zh-CN" dirty="0"/>
              <a:t>Pi</a:t>
            </a:r>
            <a:r>
              <a:rPr lang="zh-CN" altLang="en-US" dirty="0"/>
              <a:t>须等待。</a:t>
            </a:r>
          </a:p>
          <a:p>
            <a:r>
              <a:rPr lang="zh-CN" altLang="en-US" dirty="0"/>
              <a:t>③系统试探着把资源分配给进程</a:t>
            </a:r>
            <a:r>
              <a:rPr lang="en-US" altLang="zh-CN" dirty="0"/>
              <a:t>Pi</a:t>
            </a:r>
            <a:r>
              <a:rPr lang="zh-CN" altLang="en-US" dirty="0"/>
              <a:t>，并修改下面数据结构中的数值：</a:t>
            </a:r>
          </a:p>
          <a:p>
            <a:pPr algn="ctr"/>
            <a:r>
              <a:rPr lang="en-US" altLang="zh-CN" b="1" dirty="0">
                <a:solidFill>
                  <a:srgbClr val="FF0000"/>
                </a:solidFill>
              </a:rPr>
              <a:t>Available = Available-</a:t>
            </a:r>
            <a:r>
              <a:rPr lang="en-US" altLang="zh-CN" b="1" dirty="0" err="1">
                <a:solidFill>
                  <a:srgbClr val="FF0000"/>
                </a:solidFill>
              </a:rPr>
              <a:t>Requesti</a:t>
            </a:r>
            <a:r>
              <a:rPr lang="zh-CN" altLang="en-US" b="1" dirty="0">
                <a:solidFill>
                  <a:srgbClr val="FF0000"/>
                </a:solidFill>
              </a:rPr>
              <a:t>；</a:t>
            </a:r>
          </a:p>
          <a:p>
            <a:pPr algn="ctr"/>
            <a:r>
              <a:rPr lang="en-US" altLang="zh-CN" b="1" dirty="0">
                <a:solidFill>
                  <a:srgbClr val="FF0000"/>
                </a:solidFill>
              </a:rPr>
              <a:t>Allocation[</a:t>
            </a:r>
            <a:r>
              <a:rPr lang="en-US" altLang="zh-CN" b="1" dirty="0" err="1">
                <a:solidFill>
                  <a:srgbClr val="FF0000"/>
                </a:solidFill>
              </a:rPr>
              <a:t>i,j</a:t>
            </a:r>
            <a:r>
              <a:rPr lang="en-US" altLang="zh-CN" b="1" dirty="0">
                <a:solidFill>
                  <a:srgbClr val="FF0000"/>
                </a:solidFill>
              </a:rPr>
              <a:t>]=Allocation[</a:t>
            </a:r>
            <a:r>
              <a:rPr lang="en-US" altLang="zh-CN" b="1" dirty="0" err="1">
                <a:solidFill>
                  <a:srgbClr val="FF0000"/>
                </a:solidFill>
              </a:rPr>
              <a:t>i,j</a:t>
            </a:r>
            <a:r>
              <a:rPr lang="en-US" altLang="zh-CN" b="1" dirty="0">
                <a:solidFill>
                  <a:srgbClr val="FF0000"/>
                </a:solidFill>
              </a:rPr>
              <a:t>]+Request[</a:t>
            </a:r>
            <a:r>
              <a:rPr lang="en-US" altLang="zh-CN" b="1" dirty="0" err="1">
                <a:solidFill>
                  <a:srgbClr val="FF0000"/>
                </a:solidFill>
              </a:rPr>
              <a:t>i,j</a:t>
            </a:r>
            <a:r>
              <a:rPr lang="en-US" altLang="zh-CN" b="1" dirty="0">
                <a:solidFill>
                  <a:srgbClr val="FF0000"/>
                </a:solidFill>
              </a:rPr>
              <a:t>]</a:t>
            </a:r>
            <a:r>
              <a:rPr lang="zh-CN" altLang="en-US" b="1" dirty="0">
                <a:solidFill>
                  <a:srgbClr val="FF0000"/>
                </a:solidFill>
              </a:rPr>
              <a:t>；</a:t>
            </a:r>
          </a:p>
          <a:p>
            <a:pPr algn="ctr"/>
            <a:r>
              <a:rPr lang="en-US" altLang="zh-CN" b="1" dirty="0">
                <a:solidFill>
                  <a:srgbClr val="FF0000"/>
                </a:solidFill>
              </a:rPr>
              <a:t>Need[</a:t>
            </a:r>
            <a:r>
              <a:rPr lang="en-US" altLang="zh-CN" b="1" dirty="0" err="1">
                <a:solidFill>
                  <a:srgbClr val="FF0000"/>
                </a:solidFill>
              </a:rPr>
              <a:t>i,j</a:t>
            </a:r>
            <a:r>
              <a:rPr lang="en-US" altLang="zh-CN" b="1" dirty="0">
                <a:solidFill>
                  <a:srgbClr val="FF0000"/>
                </a:solidFill>
              </a:rPr>
              <a:t>]=Need[</a:t>
            </a:r>
            <a:r>
              <a:rPr lang="en-US" altLang="zh-CN" b="1" dirty="0" err="1">
                <a:solidFill>
                  <a:srgbClr val="FF0000"/>
                </a:solidFill>
              </a:rPr>
              <a:t>i,j</a:t>
            </a:r>
            <a:r>
              <a:rPr lang="en-US" altLang="zh-CN" b="1" dirty="0">
                <a:solidFill>
                  <a:srgbClr val="FF0000"/>
                </a:solidFill>
              </a:rPr>
              <a:t>]-</a:t>
            </a:r>
            <a:r>
              <a:rPr lang="en-US" altLang="zh-CN" b="1" dirty="0" err="1">
                <a:solidFill>
                  <a:srgbClr val="FF0000"/>
                </a:solidFill>
              </a:rPr>
              <a:t>Requesti</a:t>
            </a:r>
            <a:r>
              <a:rPr lang="en-US" altLang="zh-CN" b="1" dirty="0">
                <a:solidFill>
                  <a:srgbClr val="FF0000"/>
                </a:solidFill>
              </a:rPr>
              <a:t>[j]</a:t>
            </a:r>
            <a:r>
              <a:rPr lang="zh-CN" altLang="en-US" b="1" dirty="0">
                <a:solidFill>
                  <a:srgbClr val="FF0000"/>
                </a:solidFill>
              </a:rPr>
              <a:t>；</a:t>
            </a:r>
          </a:p>
          <a:p>
            <a:r>
              <a:rPr lang="zh-CN" altLang="en-US" dirty="0"/>
              <a:t>④系统执行安全性算法，检查此次资源分配后，系统是否处于安全状态。若安全，才正式将资源分配给进程</a:t>
            </a:r>
            <a:r>
              <a:rPr lang="en-US" altLang="zh-CN" dirty="0"/>
              <a:t>Pi,</a:t>
            </a:r>
            <a:r>
              <a:rPr lang="zh-CN" altLang="en-US" dirty="0"/>
              <a:t>以完成本次分配：否则，将本次的试探分配作废，恢复原来的资源分配状态，让进程</a:t>
            </a:r>
            <a:r>
              <a:rPr lang="en-US" altLang="zh-CN" dirty="0"/>
              <a:t>Pi</a:t>
            </a:r>
            <a:r>
              <a:rPr lang="zh-CN" altLang="en-US" dirty="0"/>
              <a:t>等待。</a:t>
            </a:r>
          </a:p>
        </p:txBody>
      </p:sp>
    </p:spTree>
    <p:extLst>
      <p:ext uri="{BB962C8B-B14F-4D97-AF65-F5344CB8AC3E}">
        <p14:creationId xmlns:p14="http://schemas.microsoft.com/office/powerpoint/2010/main" val="1873385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死锁避免</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8B9F1EE1-B6C4-12CD-F5C6-9033D41D3D76}"/>
              </a:ext>
            </a:extLst>
          </p:cNvPr>
          <p:cNvSpPr txBox="1"/>
          <p:nvPr/>
        </p:nvSpPr>
        <p:spPr>
          <a:xfrm>
            <a:off x="107504" y="636245"/>
            <a:ext cx="8892480" cy="1292662"/>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安全性算法举例</a:t>
            </a:r>
            <a:endParaRPr lang="zh-CN" altLang="en-US" dirty="0"/>
          </a:p>
          <a:p>
            <a:r>
              <a:rPr lang="zh-CN" altLang="en-US" dirty="0"/>
              <a:t>假定系统中有</a:t>
            </a:r>
            <a:r>
              <a:rPr lang="en-US" altLang="zh-CN" dirty="0"/>
              <a:t>5</a:t>
            </a:r>
            <a:r>
              <a:rPr lang="zh-CN" altLang="en-US" dirty="0"/>
              <a:t>个进程</a:t>
            </a:r>
            <a:r>
              <a:rPr lang="en-US" altLang="zh-CN" dirty="0"/>
              <a:t>(P0,P1,P2,P3,P4}</a:t>
            </a:r>
            <a:r>
              <a:rPr lang="zh-CN" altLang="en-US" dirty="0"/>
              <a:t>和三类资源</a:t>
            </a:r>
            <a:r>
              <a:rPr lang="en-US" altLang="zh-CN" dirty="0"/>
              <a:t>{A,B,C),</a:t>
            </a:r>
            <a:r>
              <a:rPr lang="zh-CN" altLang="en-US" dirty="0"/>
              <a:t>各种资源的数量分别为</a:t>
            </a:r>
            <a:r>
              <a:rPr lang="en-US" altLang="zh-CN" dirty="0"/>
              <a:t>10,5,7</a:t>
            </a:r>
            <a:r>
              <a:rPr lang="zh-CN" altLang="en-US" dirty="0"/>
              <a:t>，在</a:t>
            </a:r>
            <a:r>
              <a:rPr lang="en-US" altLang="zh-CN" dirty="0"/>
              <a:t>T0</a:t>
            </a:r>
            <a:r>
              <a:rPr lang="zh-CN" altLang="en-US" dirty="0"/>
              <a:t>时刻的资源分配情况见下表。</a:t>
            </a:r>
            <a:r>
              <a:rPr lang="en-US" altLang="zh-CN" dirty="0"/>
              <a:t>T0</a:t>
            </a:r>
            <a:r>
              <a:rPr lang="zh-CN" altLang="en-US" dirty="0"/>
              <a:t>时刻的安全性。利用安全性算法对</a:t>
            </a:r>
            <a:r>
              <a:rPr lang="en-US" altLang="zh-CN" dirty="0"/>
              <a:t>T0</a:t>
            </a:r>
            <a:r>
              <a:rPr lang="zh-CN" altLang="en-US" dirty="0"/>
              <a:t>时刻的资源分配进行分析。</a:t>
            </a:r>
          </a:p>
        </p:txBody>
      </p:sp>
      <p:pic>
        <p:nvPicPr>
          <p:cNvPr id="5" name="图片 4">
            <a:extLst>
              <a:ext uri="{FF2B5EF4-FFF2-40B4-BE49-F238E27FC236}">
                <a16:creationId xmlns:a16="http://schemas.microsoft.com/office/drawing/2014/main" id="{7BCE77CD-A0D3-2877-4BCA-7B84DCA62A8E}"/>
              </a:ext>
            </a:extLst>
          </p:cNvPr>
          <p:cNvPicPr>
            <a:picLocks noChangeAspect="1"/>
          </p:cNvPicPr>
          <p:nvPr/>
        </p:nvPicPr>
        <p:blipFill>
          <a:blip r:embed="rId3"/>
          <a:stretch>
            <a:fillRect/>
          </a:stretch>
        </p:blipFill>
        <p:spPr>
          <a:xfrm>
            <a:off x="1187624" y="1938388"/>
            <a:ext cx="6462320" cy="2583404"/>
          </a:xfrm>
          <a:prstGeom prst="rect">
            <a:avLst/>
          </a:prstGeom>
        </p:spPr>
      </p:pic>
    </p:spTree>
    <p:extLst>
      <p:ext uri="{BB962C8B-B14F-4D97-AF65-F5344CB8AC3E}">
        <p14:creationId xmlns:p14="http://schemas.microsoft.com/office/powerpoint/2010/main" val="1014633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死锁避免</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34E61503-467E-3B86-3918-DD8E438DE4C4}"/>
              </a:ext>
            </a:extLst>
          </p:cNvPr>
          <p:cNvPicPr>
            <a:picLocks noChangeAspect="1"/>
          </p:cNvPicPr>
          <p:nvPr/>
        </p:nvPicPr>
        <p:blipFill>
          <a:blip r:embed="rId3"/>
          <a:stretch>
            <a:fillRect/>
          </a:stretch>
        </p:blipFill>
        <p:spPr>
          <a:xfrm>
            <a:off x="734997" y="771550"/>
            <a:ext cx="7674005" cy="2126164"/>
          </a:xfrm>
          <a:prstGeom prst="rect">
            <a:avLst/>
          </a:prstGeom>
        </p:spPr>
      </p:pic>
      <p:pic>
        <p:nvPicPr>
          <p:cNvPr id="5" name="图片 4">
            <a:extLst>
              <a:ext uri="{FF2B5EF4-FFF2-40B4-BE49-F238E27FC236}">
                <a16:creationId xmlns:a16="http://schemas.microsoft.com/office/drawing/2014/main" id="{0B022282-B8D9-B77B-E275-489F478028FB}"/>
              </a:ext>
            </a:extLst>
          </p:cNvPr>
          <p:cNvPicPr>
            <a:picLocks noChangeAspect="1"/>
          </p:cNvPicPr>
          <p:nvPr/>
        </p:nvPicPr>
        <p:blipFill>
          <a:blip r:embed="rId4"/>
          <a:stretch>
            <a:fillRect/>
          </a:stretch>
        </p:blipFill>
        <p:spPr>
          <a:xfrm>
            <a:off x="611560" y="3075806"/>
            <a:ext cx="7696867" cy="1432684"/>
          </a:xfrm>
          <a:prstGeom prst="rect">
            <a:avLst/>
          </a:prstGeom>
        </p:spPr>
      </p:pic>
    </p:spTree>
    <p:extLst>
      <p:ext uri="{BB962C8B-B14F-4D97-AF65-F5344CB8AC3E}">
        <p14:creationId xmlns:p14="http://schemas.microsoft.com/office/powerpoint/2010/main" val="1145582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75C85A2C-EB4E-8E38-A899-07787D4B2ACE}"/>
              </a:ext>
            </a:extLst>
          </p:cNvPr>
          <p:cNvPicPr>
            <a:picLocks noChangeAspect="1"/>
          </p:cNvPicPr>
          <p:nvPr/>
        </p:nvPicPr>
        <p:blipFill>
          <a:blip r:embed="rId3"/>
          <a:stretch>
            <a:fillRect/>
          </a:stretch>
        </p:blipFill>
        <p:spPr>
          <a:xfrm>
            <a:off x="910272" y="1247164"/>
            <a:ext cx="7323455" cy="2149026"/>
          </a:xfrm>
          <a:prstGeom prst="rect">
            <a:avLst/>
          </a:prstGeom>
        </p:spPr>
      </p:pic>
      <p:pic>
        <p:nvPicPr>
          <p:cNvPr id="7" name="图片 6">
            <a:extLst>
              <a:ext uri="{FF2B5EF4-FFF2-40B4-BE49-F238E27FC236}">
                <a16:creationId xmlns:a16="http://schemas.microsoft.com/office/drawing/2014/main" id="{D0C1ECF1-696D-B4A3-2849-A3500BD05773}"/>
              </a:ext>
            </a:extLst>
          </p:cNvPr>
          <p:cNvPicPr>
            <a:picLocks noChangeAspect="1"/>
          </p:cNvPicPr>
          <p:nvPr/>
        </p:nvPicPr>
        <p:blipFill>
          <a:blip r:embed="rId4"/>
          <a:stretch>
            <a:fillRect/>
          </a:stretch>
        </p:blipFill>
        <p:spPr>
          <a:xfrm>
            <a:off x="1187624" y="3396190"/>
            <a:ext cx="4000847" cy="327688"/>
          </a:xfrm>
          <a:prstGeom prst="rect">
            <a:avLst/>
          </a:prstGeom>
        </p:spPr>
      </p:pic>
    </p:spTree>
    <p:extLst>
      <p:ext uri="{BB962C8B-B14F-4D97-AF65-F5344CB8AC3E}">
        <p14:creationId xmlns:p14="http://schemas.microsoft.com/office/powerpoint/2010/main" val="2873069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6D442E17-C17E-9BF8-288A-7E02E97B608C}"/>
              </a:ext>
            </a:extLst>
          </p:cNvPr>
          <p:cNvPicPr>
            <a:picLocks noChangeAspect="1"/>
          </p:cNvPicPr>
          <p:nvPr/>
        </p:nvPicPr>
        <p:blipFill>
          <a:blip r:embed="rId3"/>
          <a:stretch>
            <a:fillRect/>
          </a:stretch>
        </p:blipFill>
        <p:spPr>
          <a:xfrm>
            <a:off x="620930" y="1131590"/>
            <a:ext cx="7902140" cy="2880320"/>
          </a:xfrm>
          <a:prstGeom prst="rect">
            <a:avLst/>
          </a:prstGeom>
        </p:spPr>
      </p:pic>
    </p:spTree>
    <p:extLst>
      <p:ext uri="{BB962C8B-B14F-4D97-AF65-F5344CB8AC3E}">
        <p14:creationId xmlns:p14="http://schemas.microsoft.com/office/powerpoint/2010/main" val="573953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6D351D02-662C-6646-9872-08CF51406D4D}"/>
              </a:ext>
            </a:extLst>
          </p:cNvPr>
          <p:cNvSpPr txBox="1"/>
          <p:nvPr/>
        </p:nvSpPr>
        <p:spPr>
          <a:xfrm>
            <a:off x="645151" y="1026653"/>
            <a:ext cx="7560840" cy="738664"/>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银行家算法举例</a:t>
            </a:r>
          </a:p>
          <a:p>
            <a:r>
              <a:rPr lang="zh-CN" altLang="en-US" dirty="0"/>
              <a:t>假设当前系统中资源的分配和剩余情况如下表所示。</a:t>
            </a:r>
            <a:endParaRPr lang="en-US" altLang="zh-CN" dirty="0"/>
          </a:p>
        </p:txBody>
      </p:sp>
      <p:pic>
        <p:nvPicPr>
          <p:cNvPr id="4" name="图片 3">
            <a:extLst>
              <a:ext uri="{FF2B5EF4-FFF2-40B4-BE49-F238E27FC236}">
                <a16:creationId xmlns:a16="http://schemas.microsoft.com/office/drawing/2014/main" id="{D3EF3D4B-E34C-C2E6-1862-CFBD4BEEA25F}"/>
              </a:ext>
            </a:extLst>
          </p:cNvPr>
          <p:cNvPicPr>
            <a:picLocks noChangeAspect="1"/>
          </p:cNvPicPr>
          <p:nvPr/>
        </p:nvPicPr>
        <p:blipFill>
          <a:blip r:embed="rId5"/>
          <a:stretch>
            <a:fillRect/>
          </a:stretch>
        </p:blipFill>
        <p:spPr>
          <a:xfrm>
            <a:off x="1043608" y="1923678"/>
            <a:ext cx="6576630" cy="2591025"/>
          </a:xfrm>
          <a:prstGeom prst="rect">
            <a:avLst/>
          </a:prstGeom>
        </p:spPr>
      </p:pic>
    </p:spTree>
    <p:extLst>
      <p:ext uri="{BB962C8B-B14F-4D97-AF65-F5344CB8AC3E}">
        <p14:creationId xmlns:p14="http://schemas.microsoft.com/office/powerpoint/2010/main" val="3751808005"/>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98F67858-4D41-B7B8-F405-767F5DA6862D}"/>
              </a:ext>
            </a:extLst>
          </p:cNvPr>
          <p:cNvPicPr>
            <a:picLocks noChangeAspect="1"/>
          </p:cNvPicPr>
          <p:nvPr/>
        </p:nvPicPr>
        <p:blipFill>
          <a:blip r:embed="rId3"/>
          <a:stretch>
            <a:fillRect/>
          </a:stretch>
        </p:blipFill>
        <p:spPr>
          <a:xfrm>
            <a:off x="179512" y="1419622"/>
            <a:ext cx="6812870" cy="2141406"/>
          </a:xfrm>
          <a:prstGeom prst="rect">
            <a:avLst/>
          </a:prstGeom>
        </p:spPr>
      </p:pic>
    </p:spTree>
    <p:extLst>
      <p:ext uri="{BB962C8B-B14F-4D97-AF65-F5344CB8AC3E}">
        <p14:creationId xmlns:p14="http://schemas.microsoft.com/office/powerpoint/2010/main" val="1325022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2" name="图片 1">
            <a:extLst>
              <a:ext uri="{FF2B5EF4-FFF2-40B4-BE49-F238E27FC236}">
                <a16:creationId xmlns:a16="http://schemas.microsoft.com/office/drawing/2014/main" id="{27928917-0671-E8DD-0C36-4583CCE0BC41}"/>
              </a:ext>
            </a:extLst>
          </p:cNvPr>
          <p:cNvPicPr>
            <a:picLocks noChangeAspect="1"/>
          </p:cNvPicPr>
          <p:nvPr/>
        </p:nvPicPr>
        <p:blipFill>
          <a:blip r:embed="rId3"/>
          <a:stretch>
            <a:fillRect/>
          </a:stretch>
        </p:blipFill>
        <p:spPr>
          <a:xfrm>
            <a:off x="1443365" y="1203598"/>
            <a:ext cx="6035563" cy="350550"/>
          </a:xfrm>
          <a:prstGeom prst="rect">
            <a:avLst/>
          </a:prstGeom>
        </p:spPr>
      </p:pic>
      <p:pic>
        <p:nvPicPr>
          <p:cNvPr id="4" name="图片 3">
            <a:extLst>
              <a:ext uri="{FF2B5EF4-FFF2-40B4-BE49-F238E27FC236}">
                <a16:creationId xmlns:a16="http://schemas.microsoft.com/office/drawing/2014/main" id="{36D29A58-28BB-2EE2-2C9A-5C32604F1B27}"/>
              </a:ext>
            </a:extLst>
          </p:cNvPr>
          <p:cNvPicPr>
            <a:picLocks noChangeAspect="1"/>
          </p:cNvPicPr>
          <p:nvPr/>
        </p:nvPicPr>
        <p:blipFill>
          <a:blip r:embed="rId4"/>
          <a:stretch>
            <a:fillRect/>
          </a:stretch>
        </p:blipFill>
        <p:spPr>
          <a:xfrm>
            <a:off x="1580536" y="1707654"/>
            <a:ext cx="5761219" cy="2057578"/>
          </a:xfrm>
          <a:prstGeom prst="rect">
            <a:avLst/>
          </a:prstGeom>
        </p:spPr>
      </p:pic>
    </p:spTree>
    <p:extLst>
      <p:ext uri="{BB962C8B-B14F-4D97-AF65-F5344CB8AC3E}">
        <p14:creationId xmlns:p14="http://schemas.microsoft.com/office/powerpoint/2010/main" val="3774506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13C2E9DC-F5CF-14B5-C7E9-8889B88E692F}"/>
              </a:ext>
            </a:extLst>
          </p:cNvPr>
          <p:cNvPicPr>
            <a:picLocks noChangeAspect="1"/>
          </p:cNvPicPr>
          <p:nvPr/>
        </p:nvPicPr>
        <p:blipFill>
          <a:blip r:embed="rId3"/>
          <a:stretch>
            <a:fillRect/>
          </a:stretch>
        </p:blipFill>
        <p:spPr>
          <a:xfrm>
            <a:off x="899592" y="906855"/>
            <a:ext cx="7643522" cy="335309"/>
          </a:xfrm>
          <a:prstGeom prst="rect">
            <a:avLst/>
          </a:prstGeom>
        </p:spPr>
      </p:pic>
      <p:pic>
        <p:nvPicPr>
          <p:cNvPr id="5" name="图片 4">
            <a:extLst>
              <a:ext uri="{FF2B5EF4-FFF2-40B4-BE49-F238E27FC236}">
                <a16:creationId xmlns:a16="http://schemas.microsoft.com/office/drawing/2014/main" id="{2D9FC25B-FD98-5387-23D9-A4858BD47CF4}"/>
              </a:ext>
            </a:extLst>
          </p:cNvPr>
          <p:cNvPicPr>
            <a:picLocks noChangeAspect="1"/>
          </p:cNvPicPr>
          <p:nvPr/>
        </p:nvPicPr>
        <p:blipFill>
          <a:blip r:embed="rId4"/>
          <a:stretch>
            <a:fillRect/>
          </a:stretch>
        </p:blipFill>
        <p:spPr>
          <a:xfrm>
            <a:off x="899592" y="1242164"/>
            <a:ext cx="3330229" cy="350550"/>
          </a:xfrm>
          <a:prstGeom prst="rect">
            <a:avLst/>
          </a:prstGeom>
        </p:spPr>
      </p:pic>
      <p:pic>
        <p:nvPicPr>
          <p:cNvPr id="8" name="图片 7">
            <a:extLst>
              <a:ext uri="{FF2B5EF4-FFF2-40B4-BE49-F238E27FC236}">
                <a16:creationId xmlns:a16="http://schemas.microsoft.com/office/drawing/2014/main" id="{9B57929F-86E9-F041-3824-BB26B8C69378}"/>
              </a:ext>
            </a:extLst>
          </p:cNvPr>
          <p:cNvPicPr>
            <a:picLocks noChangeAspect="1"/>
          </p:cNvPicPr>
          <p:nvPr/>
        </p:nvPicPr>
        <p:blipFill>
          <a:blip r:embed="rId5"/>
          <a:stretch>
            <a:fillRect/>
          </a:stretch>
        </p:blipFill>
        <p:spPr>
          <a:xfrm>
            <a:off x="1259632" y="1832577"/>
            <a:ext cx="6720662" cy="2404067"/>
          </a:xfrm>
          <a:prstGeom prst="rect">
            <a:avLst/>
          </a:prstGeom>
        </p:spPr>
      </p:pic>
    </p:spTree>
    <p:extLst>
      <p:ext uri="{BB962C8B-B14F-4D97-AF65-F5344CB8AC3E}">
        <p14:creationId xmlns:p14="http://schemas.microsoft.com/office/powerpoint/2010/main" val="3084804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F70AECC4-DFE1-B4A6-9A76-A8DD93DFE8C9}"/>
              </a:ext>
            </a:extLst>
          </p:cNvPr>
          <p:cNvPicPr>
            <a:picLocks noChangeAspect="1"/>
          </p:cNvPicPr>
          <p:nvPr/>
        </p:nvPicPr>
        <p:blipFill>
          <a:blip r:embed="rId3"/>
          <a:stretch>
            <a:fillRect/>
          </a:stretch>
        </p:blipFill>
        <p:spPr>
          <a:xfrm>
            <a:off x="755576" y="666585"/>
            <a:ext cx="7216765" cy="1905165"/>
          </a:xfrm>
          <a:prstGeom prst="rect">
            <a:avLst/>
          </a:prstGeom>
        </p:spPr>
      </p:pic>
      <p:pic>
        <p:nvPicPr>
          <p:cNvPr id="7" name="图片 6">
            <a:extLst>
              <a:ext uri="{FF2B5EF4-FFF2-40B4-BE49-F238E27FC236}">
                <a16:creationId xmlns:a16="http://schemas.microsoft.com/office/drawing/2014/main" id="{4F080688-B7F2-5661-2964-BF65769BB4AD}"/>
              </a:ext>
            </a:extLst>
          </p:cNvPr>
          <p:cNvPicPr>
            <a:picLocks noChangeAspect="1"/>
          </p:cNvPicPr>
          <p:nvPr/>
        </p:nvPicPr>
        <p:blipFill>
          <a:blip r:embed="rId4"/>
          <a:stretch>
            <a:fillRect/>
          </a:stretch>
        </p:blipFill>
        <p:spPr>
          <a:xfrm>
            <a:off x="827584" y="2602090"/>
            <a:ext cx="4831499" cy="922100"/>
          </a:xfrm>
          <a:prstGeom prst="rect">
            <a:avLst/>
          </a:prstGeom>
        </p:spPr>
      </p:pic>
      <p:pic>
        <p:nvPicPr>
          <p:cNvPr id="9" name="图片 8">
            <a:extLst>
              <a:ext uri="{FF2B5EF4-FFF2-40B4-BE49-F238E27FC236}">
                <a16:creationId xmlns:a16="http://schemas.microsoft.com/office/drawing/2014/main" id="{84227F04-1A43-DA8C-AE0E-44161A42AD7E}"/>
              </a:ext>
            </a:extLst>
          </p:cNvPr>
          <p:cNvPicPr>
            <a:picLocks noChangeAspect="1"/>
          </p:cNvPicPr>
          <p:nvPr/>
        </p:nvPicPr>
        <p:blipFill>
          <a:blip r:embed="rId5"/>
          <a:stretch>
            <a:fillRect/>
          </a:stretch>
        </p:blipFill>
        <p:spPr>
          <a:xfrm>
            <a:off x="899592" y="3554530"/>
            <a:ext cx="2812024" cy="259102"/>
          </a:xfrm>
          <a:prstGeom prst="rect">
            <a:avLst/>
          </a:prstGeom>
        </p:spPr>
      </p:pic>
    </p:spTree>
    <p:extLst>
      <p:ext uri="{BB962C8B-B14F-4D97-AF65-F5344CB8AC3E}">
        <p14:creationId xmlns:p14="http://schemas.microsoft.com/office/powerpoint/2010/main" val="641606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EDC5799D-D4DD-EAB8-5EE5-4038B4FC1272}"/>
              </a:ext>
            </a:extLst>
          </p:cNvPr>
          <p:cNvPicPr>
            <a:picLocks noChangeAspect="1"/>
          </p:cNvPicPr>
          <p:nvPr/>
        </p:nvPicPr>
        <p:blipFill>
          <a:blip r:embed="rId3"/>
          <a:stretch>
            <a:fillRect/>
          </a:stretch>
        </p:blipFill>
        <p:spPr>
          <a:xfrm>
            <a:off x="1403648" y="1059582"/>
            <a:ext cx="5745978" cy="2133785"/>
          </a:xfrm>
          <a:prstGeom prst="rect">
            <a:avLst/>
          </a:prstGeom>
        </p:spPr>
      </p:pic>
      <p:pic>
        <p:nvPicPr>
          <p:cNvPr id="5" name="图片 4">
            <a:extLst>
              <a:ext uri="{FF2B5EF4-FFF2-40B4-BE49-F238E27FC236}">
                <a16:creationId xmlns:a16="http://schemas.microsoft.com/office/drawing/2014/main" id="{A26B5DB6-D43B-2111-24DF-54E48B477B1C}"/>
              </a:ext>
            </a:extLst>
          </p:cNvPr>
          <p:cNvPicPr>
            <a:picLocks noChangeAspect="1"/>
          </p:cNvPicPr>
          <p:nvPr/>
        </p:nvPicPr>
        <p:blipFill>
          <a:blip r:embed="rId4"/>
          <a:stretch>
            <a:fillRect/>
          </a:stretch>
        </p:blipFill>
        <p:spPr>
          <a:xfrm>
            <a:off x="563532" y="3435846"/>
            <a:ext cx="8016935" cy="548688"/>
          </a:xfrm>
          <a:prstGeom prst="rect">
            <a:avLst/>
          </a:prstGeom>
        </p:spPr>
      </p:pic>
    </p:spTree>
    <p:extLst>
      <p:ext uri="{BB962C8B-B14F-4D97-AF65-F5344CB8AC3E}">
        <p14:creationId xmlns:p14="http://schemas.microsoft.com/office/powerpoint/2010/main" val="940732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死锁检测和解除</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5502F1BB-1F49-778C-2F93-928C6D387661}"/>
              </a:ext>
            </a:extLst>
          </p:cNvPr>
          <p:cNvPicPr>
            <a:picLocks noChangeAspect="1"/>
          </p:cNvPicPr>
          <p:nvPr/>
        </p:nvPicPr>
        <p:blipFill>
          <a:blip r:embed="rId3"/>
          <a:stretch>
            <a:fillRect/>
          </a:stretch>
        </p:blipFill>
        <p:spPr>
          <a:xfrm>
            <a:off x="467543" y="915565"/>
            <a:ext cx="1179965" cy="393321"/>
          </a:xfrm>
          <a:prstGeom prst="rect">
            <a:avLst/>
          </a:prstGeom>
        </p:spPr>
      </p:pic>
      <p:pic>
        <p:nvPicPr>
          <p:cNvPr id="7" name="图片 6">
            <a:extLst>
              <a:ext uri="{FF2B5EF4-FFF2-40B4-BE49-F238E27FC236}">
                <a16:creationId xmlns:a16="http://schemas.microsoft.com/office/drawing/2014/main" id="{A0FF4E6D-088E-DAF6-0F24-16396DB70DB0}"/>
              </a:ext>
            </a:extLst>
          </p:cNvPr>
          <p:cNvPicPr>
            <a:picLocks noChangeAspect="1"/>
          </p:cNvPicPr>
          <p:nvPr/>
        </p:nvPicPr>
        <p:blipFill>
          <a:blip r:embed="rId4"/>
          <a:stretch>
            <a:fillRect/>
          </a:stretch>
        </p:blipFill>
        <p:spPr>
          <a:xfrm>
            <a:off x="467543" y="1308887"/>
            <a:ext cx="7985191" cy="360040"/>
          </a:xfrm>
          <a:prstGeom prst="rect">
            <a:avLst/>
          </a:prstGeom>
        </p:spPr>
      </p:pic>
      <p:pic>
        <p:nvPicPr>
          <p:cNvPr id="9" name="图片 8">
            <a:extLst>
              <a:ext uri="{FF2B5EF4-FFF2-40B4-BE49-F238E27FC236}">
                <a16:creationId xmlns:a16="http://schemas.microsoft.com/office/drawing/2014/main" id="{7C4A9210-F132-DBCB-E651-D342F602C659}"/>
              </a:ext>
            </a:extLst>
          </p:cNvPr>
          <p:cNvPicPr>
            <a:picLocks noChangeAspect="1"/>
          </p:cNvPicPr>
          <p:nvPr/>
        </p:nvPicPr>
        <p:blipFill>
          <a:blip r:embed="rId5"/>
          <a:stretch>
            <a:fillRect/>
          </a:stretch>
        </p:blipFill>
        <p:spPr>
          <a:xfrm>
            <a:off x="2771800" y="1923678"/>
            <a:ext cx="2507197" cy="2232853"/>
          </a:xfrm>
          <a:prstGeom prst="rect">
            <a:avLst/>
          </a:prstGeom>
        </p:spPr>
      </p:pic>
    </p:spTree>
    <p:extLst>
      <p:ext uri="{BB962C8B-B14F-4D97-AF65-F5344CB8AC3E}">
        <p14:creationId xmlns:p14="http://schemas.microsoft.com/office/powerpoint/2010/main" val="3247405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死锁检测和解除</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10" name="图片 9">
            <a:extLst>
              <a:ext uri="{FF2B5EF4-FFF2-40B4-BE49-F238E27FC236}">
                <a16:creationId xmlns:a16="http://schemas.microsoft.com/office/drawing/2014/main" id="{8F05E66D-D1C2-EAD2-31AF-62A325B653A6}"/>
              </a:ext>
            </a:extLst>
          </p:cNvPr>
          <p:cNvPicPr>
            <a:picLocks noChangeAspect="1"/>
          </p:cNvPicPr>
          <p:nvPr/>
        </p:nvPicPr>
        <p:blipFill>
          <a:blip r:embed="rId3"/>
          <a:stretch>
            <a:fillRect/>
          </a:stretch>
        </p:blipFill>
        <p:spPr>
          <a:xfrm>
            <a:off x="395536" y="1707654"/>
            <a:ext cx="7597798" cy="2430991"/>
          </a:xfrm>
          <a:prstGeom prst="rect">
            <a:avLst/>
          </a:prstGeom>
        </p:spPr>
      </p:pic>
      <p:pic>
        <p:nvPicPr>
          <p:cNvPr id="12" name="图片 11">
            <a:extLst>
              <a:ext uri="{FF2B5EF4-FFF2-40B4-BE49-F238E27FC236}">
                <a16:creationId xmlns:a16="http://schemas.microsoft.com/office/drawing/2014/main" id="{9560220D-2FBE-1311-3432-FE2DEC27173A}"/>
              </a:ext>
            </a:extLst>
          </p:cNvPr>
          <p:cNvPicPr>
            <a:picLocks noChangeAspect="1"/>
          </p:cNvPicPr>
          <p:nvPr/>
        </p:nvPicPr>
        <p:blipFill>
          <a:blip r:embed="rId4"/>
          <a:stretch>
            <a:fillRect/>
          </a:stretch>
        </p:blipFill>
        <p:spPr>
          <a:xfrm>
            <a:off x="717934" y="738091"/>
            <a:ext cx="6953002" cy="776252"/>
          </a:xfrm>
          <a:prstGeom prst="rect">
            <a:avLst/>
          </a:prstGeom>
        </p:spPr>
      </p:pic>
    </p:spTree>
    <p:extLst>
      <p:ext uri="{BB962C8B-B14F-4D97-AF65-F5344CB8AC3E}">
        <p14:creationId xmlns:p14="http://schemas.microsoft.com/office/powerpoint/2010/main" val="3865889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死锁检测和解除</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4094D284-A934-0189-D6B2-43C1EDB63266}"/>
              </a:ext>
            </a:extLst>
          </p:cNvPr>
          <p:cNvPicPr>
            <a:picLocks noChangeAspect="1"/>
          </p:cNvPicPr>
          <p:nvPr/>
        </p:nvPicPr>
        <p:blipFill>
          <a:blip r:embed="rId3"/>
          <a:stretch>
            <a:fillRect/>
          </a:stretch>
        </p:blipFill>
        <p:spPr>
          <a:xfrm>
            <a:off x="107504" y="1698943"/>
            <a:ext cx="8964488" cy="695752"/>
          </a:xfrm>
          <a:prstGeom prst="rect">
            <a:avLst/>
          </a:prstGeom>
        </p:spPr>
      </p:pic>
    </p:spTree>
    <p:extLst>
      <p:ext uri="{BB962C8B-B14F-4D97-AF65-F5344CB8AC3E}">
        <p14:creationId xmlns:p14="http://schemas.microsoft.com/office/powerpoint/2010/main" val="3772225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死锁检测和解除</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F96A2C70-E0F0-EF70-973B-9E4FE155A0E3}"/>
              </a:ext>
            </a:extLst>
          </p:cNvPr>
          <p:cNvSpPr txBox="1"/>
          <p:nvPr/>
        </p:nvSpPr>
        <p:spPr>
          <a:xfrm>
            <a:off x="35496" y="771550"/>
            <a:ext cx="9036496" cy="4154984"/>
          </a:xfrm>
          <a:prstGeom prst="rect">
            <a:avLst/>
          </a:prstGeom>
          <a:noFill/>
        </p:spPr>
        <p:txBody>
          <a:bodyPr wrap="square">
            <a:spAutoFit/>
          </a:bodyPr>
          <a:lstStyle/>
          <a:p>
            <a:r>
              <a:rPr lang="en-US" altLang="zh-CN" sz="2400" b="1" dirty="0">
                <a:solidFill>
                  <a:srgbClr val="254061"/>
                </a:solidFill>
                <a:effectLst>
                  <a:outerShdw blurRad="38100" dist="38100" dir="2700000" algn="tl">
                    <a:srgbClr val="000000">
                      <a:alpha val="43137"/>
                    </a:srgbClr>
                  </a:outerShdw>
                </a:effectLst>
                <a:latin typeface="微软雅黑"/>
                <a:ea typeface="微软雅黑"/>
              </a:rPr>
              <a:t>1)</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为什么会产生死锁？产生死锁有什么条件？</a:t>
            </a:r>
          </a:p>
          <a:p>
            <a:r>
              <a:rPr lang="zh-CN" altLang="en-US" dirty="0"/>
              <a:t>由于系统中存在一些不可剥夺资源，当两个或两个以上的进程占有自身的资源并请求对方的资源时，会导致每个进程都无法向前推进，这就是死锁。死锁产生的必要条件有</a:t>
            </a:r>
            <a:r>
              <a:rPr lang="en-US" altLang="zh-CN" dirty="0"/>
              <a:t>4</a:t>
            </a:r>
            <a:r>
              <a:rPr lang="zh-CN" altLang="en-US" dirty="0"/>
              <a:t>个，分别是互斥条件、不剥夺条件、请求并保持条件和循环等待条件。</a:t>
            </a:r>
          </a:p>
          <a:p>
            <a:r>
              <a:rPr lang="zh-CN" altLang="en-US" dirty="0"/>
              <a:t>互斥条件是指进程要求分配的资源是排他性的，即最多只能同时供一个进程使用。不剥夺条件是指进程在使用完资源之前，资源不能被强制夺走。请求并保持条件是指进程占有自身本来拥有的资源并要求其他资源。循环等待条件是指存在一种进程资源的循环等待链。</a:t>
            </a:r>
          </a:p>
          <a:p>
            <a:r>
              <a:rPr lang="en-US" altLang="zh-CN" sz="2400" b="1" dirty="0">
                <a:solidFill>
                  <a:srgbClr val="254061"/>
                </a:solidFill>
                <a:effectLst>
                  <a:outerShdw blurRad="38100" dist="38100" dir="2700000" algn="tl">
                    <a:srgbClr val="000000">
                      <a:alpha val="43137"/>
                    </a:srgbClr>
                  </a:outerShdw>
                </a:effectLst>
                <a:latin typeface="微软雅黑"/>
                <a:ea typeface="微软雅黑"/>
              </a:rPr>
              <a:t>2)</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有什么办法可以解决死锁问题？</a:t>
            </a:r>
          </a:p>
          <a:p>
            <a:r>
              <a:rPr lang="zh-CN" altLang="en-US" dirty="0"/>
              <a:t>死锁的处理策略可以分为预防死锁、避免死锁及死锁的检测与解除。死锁预防是指通过设立一些限制条件，破坏死锁的一些必要条件，让死锁无法发生。死锁避免指在动态分配资源的过程中，用一些算法防止系统进入不安全状态，从而避免死锁。死锁的检测和解除是指在死锁产生前不采取任何措施，只检测当前系统有没有发生死锁，若有，则采取一些措施解除死锁。</a:t>
            </a:r>
          </a:p>
        </p:txBody>
      </p:sp>
    </p:spTree>
    <p:extLst>
      <p:ext uri="{BB962C8B-B14F-4D97-AF65-F5344CB8AC3E}">
        <p14:creationId xmlns:p14="http://schemas.microsoft.com/office/powerpoint/2010/main" val="2999904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D59E8CDF-B620-4E8C-B787-7128127C8336}"/>
              </a:ext>
            </a:extLst>
          </p:cNvPr>
          <p:cNvSpPr/>
          <p:nvPr>
            <p:custDataLst>
              <p:tags r:id="rId1"/>
            </p:custDataLst>
          </p:nvPr>
        </p:nvSpPr>
        <p:spPr>
          <a:xfrm>
            <a:off x="-36512" y="1635646"/>
            <a:ext cx="9180512" cy="1667152"/>
          </a:xfrm>
          <a:prstGeom prst="rect">
            <a:avLst/>
          </a:prstGeom>
          <a:solidFill>
            <a:srgbClr val="002060"/>
          </a:solidFill>
          <a:ln>
            <a:noFill/>
          </a:ln>
        </p:spPr>
        <p:txBody>
          <a:bodyPr anchor="ctr"/>
          <a:lstStyle/>
          <a:p>
            <a:pPr algn="ctr"/>
            <a:endParaRPr lang="zh-CN" sz="1350">
              <a:solidFill>
                <a:schemeClr val="bg1"/>
              </a:solidFill>
              <a:latin typeface="微软雅黑"/>
              <a:ea typeface="微软雅黑"/>
            </a:endParaRPr>
          </a:p>
        </p:txBody>
      </p:sp>
      <p:sp>
        <p:nvSpPr>
          <p:cNvPr id="5" name="文本框 7">
            <a:extLst>
              <a:ext uri="{FF2B5EF4-FFF2-40B4-BE49-F238E27FC236}">
                <a16:creationId xmlns:a16="http://schemas.microsoft.com/office/drawing/2014/main" id="{B914676D-2707-4D58-98F3-655BBED91BCE}"/>
              </a:ext>
            </a:extLst>
          </p:cNvPr>
          <p:cNvSpPr txBox="1"/>
          <p:nvPr>
            <p:custDataLst>
              <p:tags r:id="rId2"/>
            </p:custDataLst>
          </p:nvPr>
        </p:nvSpPr>
        <p:spPr>
          <a:xfrm>
            <a:off x="2582551" y="2163475"/>
            <a:ext cx="4225766" cy="685800"/>
          </a:xfrm>
          <a:prstGeom prst="rect">
            <a:avLst/>
          </a:prstGeom>
          <a:noFill/>
        </p:spPr>
        <p:txBody>
          <a:bodyPr wrap="square" lIns="47625" tIns="19050" rIns="47625" bIns="19050" anchor="ctr"/>
          <a:lstStyle/>
          <a:p>
            <a:pPr marL="0" indent="0" algn="ctr">
              <a:lnSpc>
                <a:spcPct val="100000"/>
              </a:lnSpc>
              <a:spcBef>
                <a:spcPts val="0"/>
              </a:spcBef>
              <a:spcAft>
                <a:spcPts val="0"/>
              </a:spcAft>
              <a:buSzPct val="100000"/>
              <a:buNone/>
            </a:pPr>
            <a:r>
              <a:rPr lang="zh-CN" altLang="en-US" sz="3200" b="1" spc="300" dirty="0">
                <a:solidFill>
                  <a:schemeClr val="bg1"/>
                </a:solidFill>
                <a:latin typeface="微软雅黑"/>
                <a:ea typeface="微软雅黑"/>
              </a:rPr>
              <a:t>谢谢</a:t>
            </a:r>
            <a:endParaRPr lang="zh-CN" sz="3200" b="1" spc="300" dirty="0">
              <a:solidFill>
                <a:schemeClr val="bg1"/>
              </a:solidFill>
              <a:latin typeface="微软雅黑"/>
              <a:ea typeface="微软雅黑"/>
            </a:endParaRPr>
          </a:p>
        </p:txBody>
      </p:sp>
      <p:grpSp>
        <p:nvGrpSpPr>
          <p:cNvPr id="18" name="组合 17">
            <a:extLst>
              <a:ext uri="{FF2B5EF4-FFF2-40B4-BE49-F238E27FC236}">
                <a16:creationId xmlns:a16="http://schemas.microsoft.com/office/drawing/2014/main" id="{521A3BC6-F6EA-4F46-A238-D5E70BE0475E}"/>
              </a:ext>
            </a:extLst>
          </p:cNvPr>
          <p:cNvGrpSpPr/>
          <p:nvPr/>
        </p:nvGrpSpPr>
        <p:grpSpPr>
          <a:xfrm>
            <a:off x="2699792" y="-918"/>
            <a:ext cx="3327790" cy="577152"/>
            <a:chOff x="2483768" y="122390"/>
            <a:chExt cx="3327790" cy="577152"/>
          </a:xfrm>
        </p:grpSpPr>
        <p:pic>
          <p:nvPicPr>
            <p:cNvPr id="19" name="图片 18">
              <a:extLst>
                <a:ext uri="{FF2B5EF4-FFF2-40B4-BE49-F238E27FC236}">
                  <a16:creationId xmlns:a16="http://schemas.microsoft.com/office/drawing/2014/main" id="{CD42DF88-B883-46D2-B76B-7DCE544B5274}"/>
                </a:ext>
              </a:extLst>
            </p:cNvPr>
            <p:cNvPicPr>
              <a:picLocks noChangeAspect="1"/>
            </p:cNvPicPr>
            <p:nvPr/>
          </p:nvPicPr>
          <p:blipFill>
            <a:blip r:embed="rId4"/>
            <a:stretch>
              <a:fillRect/>
            </a:stretch>
          </p:blipFill>
          <p:spPr>
            <a:xfrm>
              <a:off x="3147262" y="238477"/>
              <a:ext cx="2664296" cy="311140"/>
            </a:xfrm>
            <a:prstGeom prst="rect">
              <a:avLst/>
            </a:prstGeom>
          </p:spPr>
        </p:pic>
        <p:pic>
          <p:nvPicPr>
            <p:cNvPr id="20" name="图片 19">
              <a:extLst>
                <a:ext uri="{FF2B5EF4-FFF2-40B4-BE49-F238E27FC236}">
                  <a16:creationId xmlns:a16="http://schemas.microsoft.com/office/drawing/2014/main" id="{3EE04374-D444-417B-8632-4FE8C583BD12}"/>
                </a:ext>
              </a:extLst>
            </p:cNvPr>
            <p:cNvPicPr>
              <a:picLocks noChangeAspect="1"/>
            </p:cNvPicPr>
            <p:nvPr/>
          </p:nvPicPr>
          <p:blipFill>
            <a:blip r:embed="rId5"/>
            <a:stretch>
              <a:fillRect/>
            </a:stretch>
          </p:blipFill>
          <p:spPr>
            <a:xfrm>
              <a:off x="2483768" y="122390"/>
              <a:ext cx="576064" cy="577152"/>
            </a:xfrm>
            <a:prstGeom prst="rect">
              <a:avLst/>
            </a:prstGeom>
          </p:spPr>
        </p:pic>
      </p:grpSp>
      <p:sp>
        <p:nvSpPr>
          <p:cNvPr id="25" name="矩形 24">
            <a:extLst>
              <a:ext uri="{FF2B5EF4-FFF2-40B4-BE49-F238E27FC236}">
                <a16:creationId xmlns:a16="http://schemas.microsoft.com/office/drawing/2014/main" id="{6259C244-8D74-4468-AA86-20094C28A194}"/>
              </a:ext>
            </a:extLst>
          </p:cNvPr>
          <p:cNvSpPr/>
          <p:nvPr/>
        </p:nvSpPr>
        <p:spPr>
          <a:xfrm>
            <a:off x="6372200" y="25872"/>
            <a:ext cx="2520280" cy="646331"/>
          </a:xfrm>
          <a:prstGeom prst="rect">
            <a:avLst/>
          </a:prstGeom>
          <a:solidFill>
            <a:schemeClr val="bg1"/>
          </a:solidFill>
          <a:ln>
            <a:solidFill>
              <a:schemeClr val="bg1"/>
            </a:solidFill>
          </a:ln>
        </p:spPr>
        <p:txBody>
          <a:bodyPr wrap="square">
            <a:spAutoFit/>
          </a:bodyPr>
          <a:lstStyle/>
          <a:p>
            <a:endParaRPr lang="en-US"/>
          </a:p>
          <a:p>
            <a:endParaRPr lang="zh-CN"/>
          </a:p>
        </p:txBody>
      </p:sp>
      <p:cxnSp>
        <p:nvCxnSpPr>
          <p:cNvPr id="22" name="直接连接符 21">
            <a:extLst>
              <a:ext uri="{FF2B5EF4-FFF2-40B4-BE49-F238E27FC236}">
                <a16:creationId xmlns:a16="http://schemas.microsoft.com/office/drawing/2014/main" id="{FC1D829A-63AA-4DF0-9139-1E5DDD71A72A}"/>
              </a:ext>
            </a:extLst>
          </p:cNvPr>
          <p:cNvCxnSpPr/>
          <p:nvPr/>
        </p:nvCxnSpPr>
        <p:spPr>
          <a:xfrm>
            <a:off x="35496" y="576234"/>
            <a:ext cx="9073008" cy="8720"/>
          </a:xfrm>
          <a:prstGeom prst="line">
            <a:avLst/>
          </a:prstGeom>
          <a:ln w="9525">
            <a:solidFill>
              <a:schemeClr val="accent6">
                <a:shade val="95000"/>
              </a:schemeClr>
            </a:solidFill>
            <a:prstDash val="solid"/>
            <a:headEnd type="none" w="med" len="med"/>
            <a:tailEnd type="none" w="med" len="med"/>
          </a:ln>
        </p:spPr>
      </p:cxnSp>
    </p:spTree>
    <p:extLst>
      <p:ext uri="{BB962C8B-B14F-4D97-AF65-F5344CB8AC3E}">
        <p14:creationId xmlns:p14="http://schemas.microsoft.com/office/powerpoint/2010/main" val="219839482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BLOCK" val="0"/>
  <p:tag name="KSO_WM_UNIT_DEC_AREA_ID" val="40d7a0f1b3604e6c919066e9622fd25f"/>
  <p:tag name="KSO_WM_UNIT_HIGHLIGHT" val="0"/>
  <p:tag name="KSO_WM_UNIT_COMPATIBLE" val="0"/>
  <p:tag name="KSO_WM_UNIT_DIAGRAM_ISNUMVISUAL" val="0"/>
  <p:tag name="KSO_WM_UNIT_DIAGRAM_ISREFERUNIT" val="0"/>
  <p:tag name="KSO_WM_UNIT_TYPE" val="i"/>
  <p:tag name="KSO_WM_UNIT_INDEX" val="1"/>
  <p:tag name="KSO_WM_UNIT_ID" val="diagram20210145_1*i*1"/>
  <p:tag name="KSO_WM_TEMPLATE_CATEGORY" val="diagram"/>
  <p:tag name="KSO_WM_TEMPLATE_INDEX" val="20210145"/>
  <p:tag name="KSO_WM_UNIT_LAYERLEVEL" val="1"/>
  <p:tag name="KSO_WM_TAG_VERSION" val="1.0"/>
  <p:tag name="KSO_WM_BEAUTIFY_FLAG" val="#wm#"/>
  <p:tag name="KSO_WM_UNIT_SM_LIMIT_TYPE" val="1"/>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a0e3645e1f15ec24fd3f5"/>
  <p:tag name="KSO_WM_CHIP_XID" val="5f2a0e3645e1f15ec24fd3f6"/>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583"/>
  <p:tag name="KSO_WM_TEMPLATE_ASSEMBLE_XID" val="5f48a2c2f3f92eac73830e8c"/>
  <p:tag name="KSO_WM_TEMPLATE_ASSEMBLE_GROUPID" val="5f48a2c2f3f92eac73830e8c"/>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10145_1*a*1"/>
  <p:tag name="KSO_WM_TEMPLATE_CATEGORY" val="diagram"/>
  <p:tag name="KSO_WM_TEMPLATE_INDEX" val="20210145"/>
  <p:tag name="KSO_WM_UNIT_LAYERLEVEL" val="1"/>
  <p:tag name="KSO_WM_TAG_VERSION" val="1.0"/>
  <p:tag name="KSO_WM_BEAUTIFY_FLAG" val="#wm#"/>
  <p:tag name="KSO_WM_UNIT_PRESET_TEXT" val="标题"/>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cm&quot;,&quot;fill_mode&quot;:&quot;full&quot;}"/>
  <p:tag name="KSO_WM_UNIT_DEC_AREA_ID" val="d8c195ecc7734c688ed4d0a18e265861"/>
  <p:tag name="KSO_WM_ASSEMBLE_CHIP_INDEX" val="06cc6b2436d54d959c9c99756b32b152"/>
  <p:tag name="KSO_WM_UNIT_TEXT_FILL_FORE_SCHEMECOLOR_INDEX_BRIGHTNESS" val="0"/>
  <p:tag name="KSO_WM_UNIT_TEXT_FILL_FORE_SCHEMECOLOR_INDEX" val="13"/>
  <p:tag name="KSO_WM_UNIT_TEXT_FILL_TYPE" val="1"/>
  <p:tag name="KSO_WM_TEMPLATE_ASSEMBLE_XID" val="5f48a2c2f3f92eac73830e8c"/>
  <p:tag name="KSO_WM_TEMPLATE_ASSEMBLE_GROUPID" val="5f48a2c2f3f92eac73830e8c"/>
  <p:tag name="KSO_WM_TAG_FRONT_SIZE" val=""/>
  <p:tag name="KSO_WM_TAG_BACKGROUP_ID" val=""/>
  <p:tag name="KSO_WM_TAG_BACKGROUP_SIZE" val=""/>
  <p:tag name="KSO_WM_TAG_ZODER_POSITION" val=""/>
</p:tagLst>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000000"/>
      </a:dk2>
      <a:lt2>
        <a:srgbClr val="FFFFFF"/>
      </a:lt2>
      <a:accent1>
        <a:srgbClr val="7889FB"/>
      </a:accent1>
      <a:accent2>
        <a:srgbClr val="D6DBFE"/>
      </a:accent2>
      <a:accent3>
        <a:srgbClr val="FFFFFF"/>
      </a:accent3>
      <a:accent4>
        <a:srgbClr val="000000"/>
      </a:accent4>
      <a:accent5>
        <a:srgbClr val="BEC4FD"/>
      </a:accent5>
      <a:accent6>
        <a:srgbClr val="C2C6E6"/>
      </a:accent6>
      <a:hlink>
        <a:srgbClr val="7889FB"/>
      </a:hlink>
      <a:folHlink>
        <a:srgbClr val="9900CC"/>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15839</TotalTime>
  <Words>4283</Words>
  <Application>Microsoft Office PowerPoint</Application>
  <PresentationFormat>全屏显示(16:9)</PresentationFormat>
  <Paragraphs>138</Paragraphs>
  <Slides>27</Slides>
  <Notes>26</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27</vt:i4>
      </vt:variant>
    </vt:vector>
  </HeadingPairs>
  <TitlesOfParts>
    <vt:vector size="39" baseType="lpstr">
      <vt:lpstr>OPPOSans B</vt:lpstr>
      <vt:lpstr>OPPOSans-S</vt:lpstr>
      <vt:lpstr>微软雅黑</vt:lpstr>
      <vt:lpstr>Arial</vt:lpstr>
      <vt:lpstr>Arial Black</vt:lpstr>
      <vt:lpstr>Broadway</vt:lpstr>
      <vt:lpstr>Calibri</vt:lpstr>
      <vt:lpstr>Wingdings</vt:lpstr>
      <vt:lpstr>Office 主题​​</vt:lpstr>
      <vt:lpstr>Office 主题​​</vt:lpstr>
      <vt:lpstr>Office 主题​​</vt:lpstr>
      <vt:lpstr>Office 主题​​</vt:lpstr>
      <vt:lpstr>第6章 并发性——死锁与饥饿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诚 聘 英 才</dc:title>
  <dc:creator>Fish</dc:creator>
  <cp:lastModifiedBy>guilin li</cp:lastModifiedBy>
  <cp:revision>2665</cp:revision>
  <cp:lastPrinted>2017-11-30T03:12:00Z</cp:lastPrinted>
  <dcterms:created xsi:type="dcterms:W3CDTF">2018-05-31T06:32:00Z</dcterms:created>
  <dcterms:modified xsi:type="dcterms:W3CDTF">2023-10-02T06:00:24Z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