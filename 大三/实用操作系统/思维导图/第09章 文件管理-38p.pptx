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43"/>
  </p:notesMasterIdLst>
  <p:handoutMasterIdLst>
    <p:handoutMasterId r:id="rId44"/>
  </p:handoutMasterIdLst>
  <p:sldIdLst>
    <p:sldId id="256" r:id="rId5"/>
    <p:sldId id="325" r:id="rId6"/>
    <p:sldId id="327" r:id="rId7"/>
    <p:sldId id="326" r:id="rId8"/>
    <p:sldId id="340" r:id="rId9"/>
    <p:sldId id="341" r:id="rId10"/>
    <p:sldId id="328" r:id="rId11"/>
    <p:sldId id="329" r:id="rId12"/>
    <p:sldId id="330" r:id="rId13"/>
    <p:sldId id="342" r:id="rId14"/>
    <p:sldId id="343" r:id="rId15"/>
    <p:sldId id="331" r:id="rId16"/>
    <p:sldId id="332" r:id="rId17"/>
    <p:sldId id="344" r:id="rId18"/>
    <p:sldId id="345" r:id="rId19"/>
    <p:sldId id="346" r:id="rId20"/>
    <p:sldId id="347" r:id="rId21"/>
    <p:sldId id="349" r:id="rId22"/>
    <p:sldId id="350" r:id="rId23"/>
    <p:sldId id="348" r:id="rId24"/>
    <p:sldId id="351" r:id="rId25"/>
    <p:sldId id="335" r:id="rId26"/>
    <p:sldId id="353" r:id="rId27"/>
    <p:sldId id="354" r:id="rId28"/>
    <p:sldId id="355" r:id="rId29"/>
    <p:sldId id="356" r:id="rId30"/>
    <p:sldId id="334" r:id="rId31"/>
    <p:sldId id="337" r:id="rId32"/>
    <p:sldId id="357" r:id="rId33"/>
    <p:sldId id="358" r:id="rId34"/>
    <p:sldId id="359" r:id="rId35"/>
    <p:sldId id="339" r:id="rId36"/>
    <p:sldId id="360" r:id="rId37"/>
    <p:sldId id="362" r:id="rId38"/>
    <p:sldId id="363" r:id="rId39"/>
    <p:sldId id="336" r:id="rId40"/>
    <p:sldId id="352" r:id="rId41"/>
    <p:sldId id="320" r:id="rId42"/>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autoAdjust="0"/>
    <p:restoredTop sz="72117" autoAdjust="0"/>
  </p:normalViewPr>
  <p:slideViewPr>
    <p:cSldViewPr>
      <p:cViewPr varScale="1">
        <p:scale>
          <a:sx n="81" d="100"/>
          <a:sy n="81" d="100"/>
        </p:scale>
        <p:origin x="1522" y="58"/>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2023/10/3</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文件的基本概念</a:t>
            </a:r>
          </a:p>
          <a:p>
            <a:pPr lvl="0"/>
            <a:r>
              <a:rPr lang="zh-CN" altLang="en-US" dirty="0"/>
              <a:t>文件是以硬盘为载体的存储在计算机上的信息集合，文件可以是文本文档、图片、程序等。在系统运行时，计算机以进程为基本单位进行资源的调度和分配：而在用户进行的输入、输出中，则以文件为基本单位。大多数应用程序的输入都是通过文件来实现的，其输出也都保存在文件中，以便信息的长期存储及将来的访问。当用户将文件用于程序的输入、输出时，还希望可以访问、修改和保存文件等，实现对文件的维护管理，这就需要系统提供一个文件管理系统，操作系统中的文件系统</a:t>
            </a:r>
            <a:r>
              <a:rPr lang="en-US" altLang="zh-CN" dirty="0"/>
              <a:t>(File System)</a:t>
            </a:r>
            <a:r>
              <a:rPr lang="zh-CN" altLang="en-US" dirty="0"/>
              <a:t>就是用于实现用户的这些管理要求的。</a:t>
            </a:r>
          </a:p>
          <a:p>
            <a:pPr lvl="0"/>
            <a:r>
              <a:rPr lang="zh-CN" altLang="en-US" dirty="0"/>
              <a:t>要清晰地理解文件的概念，就要了解文件究竞由哪些东西组成。</a:t>
            </a:r>
          </a:p>
          <a:p>
            <a:pPr lvl="0"/>
            <a:r>
              <a:rPr lang="zh-CN" altLang="en-US" dirty="0"/>
              <a:t>首先，文件中肯定包括一块存储空间，更准确地说，是存储空间中的数据；其次，由于操作系统要管理成千上万的数据，因此必定需要对这些数据进行划分，然后贴上“标签”，以便于分类和索引，所以文件必定包含分类和索引的信息：最后，不同的用户拥有对数据的不同访问权限，因此文件中一定包含一些关于访问权限的信息。</a:t>
            </a:r>
          </a:p>
          <a:p>
            <a:pPr lvl="0"/>
            <a:r>
              <a:rPr lang="zh-CN" altLang="en-US" dirty="0"/>
              <a:t>再举一个直观的例子“图书馆管理图书”来类比文件。可以认为，计算机中的一个文件相当于图书馆中的一本书，操作系统管理文件，相当于图书管理员管理图书馆中的书。</a:t>
            </a:r>
          </a:p>
          <a:p>
            <a:pPr lvl="0"/>
            <a:r>
              <a:rPr lang="zh-CN" altLang="en-US" dirty="0"/>
              <a:t>首先，一本书的主体一定是书中的内容，相当于文件中的数据：其次，不同类别的书需要放在不同的书库，然后加上编号，再把编号登记在图书管理系统中，方便读者查阅，相当于文件的分类和查找：最后，有些已经绝版或价格比较高的外文书籍，只能借给</a:t>
            </a:r>
            <a:r>
              <a:rPr lang="en-US" altLang="zh-CN" dirty="0"/>
              <a:t>VIP</a:t>
            </a:r>
            <a:r>
              <a:rPr lang="zh-CN" altLang="en-US" dirty="0"/>
              <a:t>会员或权限比较高的其他读者，而有些普通的书籍可供任何人借阅，这就是文件中的访问权限。所举例子与实际操作系统中的情形并不等价。但对于某些关键的属性，图书馆管理图书和操作系统管理文件的思想却有相一致的地方，因此通过这种类比可使初学者快速认识陌生的概念。</a:t>
            </a:r>
            <a:endParaRPr lang="en-US" altLang="zh-CN" dirty="0"/>
          </a:p>
          <a:p>
            <a:pPr lvl="0"/>
            <a:r>
              <a:rPr lang="zh-CN" altLang="en-US" dirty="0"/>
              <a:t>从用户的角度看，文件系统是操作系统的重要部分之一。用户关心的是如何命名、分类和查找文件，如何保证文件数据的安全性及对文件可以进行哪些操作等。而对于其中的细节，如文件如何存储在辅存上、如何管理文件辅存区域等方面关心甚少。</a:t>
            </a:r>
          </a:p>
          <a:p>
            <a:pPr lvl="0"/>
            <a:r>
              <a:rPr lang="zh-CN" altLang="en-US" dirty="0"/>
              <a:t>文件系统提供了与二级存储相关的资源的抽象，让用户能在不了解文件的各种属性、文件存储介质的特征及文件在存储介质上的具体位置等情况下，方便快捷地使用文件。用户通过文件系统建立文件，提供应用程序的输入、输出，对资源进行管理。</a:t>
            </a:r>
          </a:p>
          <a:p>
            <a:pPr lvl="0"/>
            <a:r>
              <a:rPr lang="zh-CN" altLang="en-US" dirty="0"/>
              <a:t>首先了解文件的结构，我们通过自底向上的方式来定义。</a:t>
            </a:r>
          </a:p>
          <a:p>
            <a:pPr lvl="0"/>
            <a:r>
              <a:rPr lang="en-US" altLang="zh-CN" dirty="0"/>
              <a:t>1)</a:t>
            </a:r>
            <a:r>
              <a:rPr lang="zh-CN" altLang="en-US" dirty="0"/>
              <a:t>数据项。是文件系统中最低级的数据组织形式，可分为以下两种类型：</a:t>
            </a:r>
          </a:p>
          <a:p>
            <a:pPr lvl="0"/>
            <a:r>
              <a:rPr lang="en-US" altLang="zh-CN" dirty="0"/>
              <a:t>·</a:t>
            </a:r>
            <a:r>
              <a:rPr lang="zh-CN" altLang="en-US" dirty="0"/>
              <a:t>基本数据项。用于描述一个对象的某种属性的一个值，是数据中的最小逻辑单位。</a:t>
            </a:r>
          </a:p>
          <a:p>
            <a:pPr lvl="0"/>
            <a:r>
              <a:rPr lang="en-US" altLang="zh-CN" dirty="0"/>
              <a:t>·</a:t>
            </a:r>
            <a:r>
              <a:rPr lang="zh-CN" altLang="en-US" dirty="0"/>
              <a:t>组合数据项。由多个基本数据项组成。</a:t>
            </a:r>
          </a:p>
          <a:p>
            <a:pPr lvl="0"/>
            <a:r>
              <a:rPr lang="en-US" altLang="zh-CN" dirty="0"/>
              <a:t>2)</a:t>
            </a:r>
            <a:r>
              <a:rPr lang="zh-CN" altLang="en-US" dirty="0"/>
              <a:t>记录。是一组相关的数据项的集合，用于描述一个对象在某方面的属性。</a:t>
            </a:r>
          </a:p>
          <a:p>
            <a:pPr lvl="0"/>
            <a:r>
              <a:rPr lang="en-US" altLang="zh-CN" dirty="0"/>
              <a:t>3)</a:t>
            </a:r>
            <a:r>
              <a:rPr lang="zh-CN" altLang="en-US" dirty="0"/>
              <a:t>文件。是指由创建者所定义的、具有文件名的一组相关元素的集合，可分为有结构文件和无结构文件两种。在有结构的文件中，文件由若干个相似的记录组成，如一个班的学生记录；而无结构文件则被视为一个字符流，比如一个二进制文件或字符文件。</a:t>
            </a:r>
          </a:p>
          <a:p>
            <a:pPr lvl="0"/>
            <a:r>
              <a:rPr lang="zh-CN" altLang="en-US" dirty="0"/>
              <a:t>虽然上面给出了结构化的表述，但实际上关于文件并无严格的定义。在操作系统中，通常将程序和数据组织成文件。文件可以是数字、字符或二进制代码，基本访问单元可以是字节或记录。文件可以长期存储在硬盘中，允许可控制的进程间共享访问，能够被组织成复杂的结构。</a:t>
            </a:r>
            <a:endParaRPr lang="zh-CN" dirty="0"/>
          </a:p>
        </p:txBody>
      </p:sp>
    </p:spTree>
    <p:extLst>
      <p:ext uri="{BB962C8B-B14F-4D97-AF65-F5344CB8AC3E}">
        <p14:creationId xmlns:p14="http://schemas.microsoft.com/office/powerpoint/2010/main" val="2977546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与进程管理一样，为便于文件管理，在操作系统中引入了文件控制块的数据结构。</a:t>
            </a:r>
          </a:p>
          <a:p>
            <a:pPr lvl="0"/>
            <a:r>
              <a:rPr lang="en-US" altLang="zh-CN" dirty="0"/>
              <a:t>1.</a:t>
            </a:r>
            <a:r>
              <a:rPr lang="zh-CN" altLang="en-US" dirty="0"/>
              <a:t>文件的属性</a:t>
            </a:r>
          </a:p>
          <a:p>
            <a:pPr lvl="0"/>
            <a:r>
              <a:rPr lang="zh-CN" altLang="en-US" dirty="0"/>
              <a:t>除了文件数据，操作系统还会保存与文件相关的信息，如所有者、创建时间等，这些附加信息称为文件属性或文件元数据。文件属性在不同系统中差别很大，但通常都包括如下属性。</a:t>
            </a:r>
          </a:p>
          <a:p>
            <a:pPr lvl="0"/>
            <a:r>
              <a:rPr lang="en-US" altLang="zh-CN" dirty="0"/>
              <a:t>1)</a:t>
            </a:r>
            <a:r>
              <a:rPr lang="zh-CN" altLang="en-US" dirty="0"/>
              <a:t>名称。文件名称唯一，以容易读取的形式保存。</a:t>
            </a:r>
          </a:p>
          <a:p>
            <a:pPr lvl="0"/>
            <a:r>
              <a:rPr lang="en-US" altLang="zh-CN" dirty="0"/>
              <a:t>2)</a:t>
            </a:r>
            <a:r>
              <a:rPr lang="zh-CN" altLang="en-US" dirty="0"/>
              <a:t>类型。被支持不同类型的文件系统所使用。</a:t>
            </a:r>
            <a:endParaRPr lang="en-US" altLang="zh-CN" dirty="0"/>
          </a:p>
          <a:p>
            <a:pPr lvl="0"/>
            <a:r>
              <a:rPr lang="en-US" altLang="zh-CN" dirty="0"/>
              <a:t>3)</a:t>
            </a:r>
            <a:r>
              <a:rPr lang="zh-CN" altLang="en-US" dirty="0"/>
              <a:t>创建者。文件创建者的</a:t>
            </a:r>
            <a:r>
              <a:rPr lang="en-US" altLang="zh-CN" dirty="0"/>
              <a:t>ID.</a:t>
            </a:r>
          </a:p>
          <a:p>
            <a:pPr lvl="0"/>
            <a:r>
              <a:rPr lang="en-US" altLang="zh-CN" dirty="0"/>
              <a:t>4)</a:t>
            </a:r>
            <a:r>
              <a:rPr lang="zh-CN" altLang="en-US" dirty="0"/>
              <a:t>所有者。文件当前所有者的</a:t>
            </a:r>
            <a:r>
              <a:rPr lang="en-US" altLang="zh-CN" dirty="0"/>
              <a:t>ID.</a:t>
            </a:r>
          </a:p>
          <a:p>
            <a:pPr lvl="0"/>
            <a:r>
              <a:rPr lang="en-US" altLang="zh-CN" dirty="0"/>
              <a:t>5)</a:t>
            </a:r>
            <a:r>
              <a:rPr lang="zh-CN" altLang="en-US" dirty="0"/>
              <a:t>位置。指向设备和设备上文件的指针。</a:t>
            </a:r>
          </a:p>
          <a:p>
            <a:pPr lvl="0"/>
            <a:r>
              <a:rPr lang="en-US" altLang="zh-CN" dirty="0"/>
              <a:t>6)</a:t>
            </a:r>
            <a:r>
              <a:rPr lang="zh-CN" altLang="en-US" dirty="0"/>
              <a:t>大小。文件当前大小</a:t>
            </a:r>
            <a:r>
              <a:rPr lang="en-US" altLang="zh-CN" dirty="0"/>
              <a:t>(</a:t>
            </a:r>
            <a:r>
              <a:rPr lang="zh-CN" altLang="en-US" dirty="0"/>
              <a:t>用字节、字或块表示</a:t>
            </a:r>
            <a:r>
              <a:rPr lang="en-US" altLang="zh-CN" dirty="0"/>
              <a:t>)</a:t>
            </a:r>
            <a:r>
              <a:rPr lang="zh-CN" altLang="en-US" dirty="0"/>
              <a:t>，也可包含文件允许的最大值。</a:t>
            </a:r>
          </a:p>
          <a:p>
            <a:pPr lvl="0"/>
            <a:r>
              <a:rPr lang="en-US" altLang="zh-CN" dirty="0"/>
              <a:t>7)</a:t>
            </a:r>
            <a:r>
              <a:rPr lang="zh-CN" altLang="en-US" dirty="0"/>
              <a:t>保护。对文件进行保护的访问控制信息。</a:t>
            </a:r>
          </a:p>
          <a:p>
            <a:pPr lvl="0"/>
            <a:r>
              <a:rPr lang="en-US" altLang="zh-CN" dirty="0"/>
              <a:t>8)</a:t>
            </a:r>
            <a:r>
              <a:rPr lang="zh-CN" altLang="en-US" dirty="0"/>
              <a:t>创建时间、最后一次修改时间和最后一次存取时间。文件创建、上次修改和上次访问的相关信息，用于保护和跟踪文件的使用。</a:t>
            </a:r>
          </a:p>
          <a:p>
            <a:pPr lvl="0"/>
            <a:r>
              <a:rPr lang="zh-CN" altLang="en-US" dirty="0"/>
              <a:t>操作系统通过文件控制块</a:t>
            </a:r>
            <a:r>
              <a:rPr lang="en-US" altLang="zh-CN" dirty="0"/>
              <a:t>(FCB)</a:t>
            </a:r>
            <a:r>
              <a:rPr lang="zh-CN" altLang="en-US" dirty="0"/>
              <a:t>来维护文件元数据。</a:t>
            </a:r>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文件控制块</a:t>
            </a:r>
          </a:p>
          <a:p>
            <a:pPr lvl="0"/>
            <a:r>
              <a:rPr lang="zh-CN" altLang="en-US" dirty="0"/>
              <a:t>文件控制块</a:t>
            </a:r>
            <a:r>
              <a:rPr lang="en-US" altLang="zh-CN" dirty="0"/>
              <a:t>(FCB)</a:t>
            </a:r>
            <a:r>
              <a:rPr lang="zh-CN" altLang="en-US" dirty="0"/>
              <a:t>是用来存放控制文件需要的各种信息的数据结构，以实现“按名存取”。</a:t>
            </a:r>
            <a:r>
              <a:rPr lang="en-US" altLang="zh-CN" dirty="0"/>
              <a:t>FCB</a:t>
            </a:r>
            <a:r>
              <a:rPr lang="zh-CN" altLang="en-US" dirty="0"/>
              <a:t>的有序集合称为文件目录，一个</a:t>
            </a:r>
            <a:r>
              <a:rPr lang="en-US" altLang="zh-CN" dirty="0"/>
              <a:t>FCB</a:t>
            </a:r>
            <a:r>
              <a:rPr lang="zh-CN" altLang="en-US" dirty="0"/>
              <a:t>就是一个文件目录项。图</a:t>
            </a:r>
            <a:r>
              <a:rPr lang="en-US" altLang="zh-CN" dirty="0"/>
              <a:t>41</a:t>
            </a:r>
            <a:r>
              <a:rPr lang="zh-CN" altLang="en-US" dirty="0"/>
              <a:t>是一个典型的</a:t>
            </a:r>
            <a:r>
              <a:rPr lang="en-US" altLang="zh-CN" dirty="0"/>
              <a:t>FCB</a:t>
            </a:r>
            <a:r>
              <a:rPr lang="zh-CN" altLang="en-US" dirty="0"/>
              <a:t>。为了创建一个新文件，系统将分配一个</a:t>
            </a:r>
            <a:r>
              <a:rPr lang="en-US" altLang="zh-CN" dirty="0"/>
              <a:t>FCB</a:t>
            </a:r>
            <a:r>
              <a:rPr lang="zh-CN" altLang="en-US" dirty="0"/>
              <a:t>并存放在文件目录中，称为目录项。</a:t>
            </a:r>
            <a:endParaRPr lang="en-US" altLang="zh-CN" dirty="0"/>
          </a:p>
          <a:p>
            <a:pPr lvl="0"/>
            <a:r>
              <a:rPr lang="en-US" altLang="zh-CN" dirty="0"/>
              <a:t>FCB</a:t>
            </a:r>
            <a:r>
              <a:rPr lang="zh-CN" altLang="en-US" dirty="0"/>
              <a:t>主要包含以下信息：</a:t>
            </a:r>
          </a:p>
          <a:p>
            <a:pPr lvl="0"/>
            <a:r>
              <a:rPr lang="en-US" altLang="zh-CN" dirty="0"/>
              <a:t>·</a:t>
            </a:r>
            <a:r>
              <a:rPr lang="zh-CN" altLang="en-US" dirty="0"/>
              <a:t>基本信息，如文件名、文件的物理位置、文件的逻辑结构、文件的物理结构等。</a:t>
            </a:r>
          </a:p>
          <a:p>
            <a:pPr lvl="0"/>
            <a:r>
              <a:rPr lang="en-US" altLang="zh-CN" dirty="0"/>
              <a:t>·</a:t>
            </a:r>
            <a:r>
              <a:rPr lang="zh-CN" altLang="en-US" dirty="0"/>
              <a:t>存取控制信息，包括文件主的存取权限、核准用户的存取权限以及一般用户的存取权限。</a:t>
            </a:r>
          </a:p>
          <a:p>
            <a:pPr lvl="0"/>
            <a:r>
              <a:rPr lang="en-US" altLang="zh-CN" dirty="0"/>
              <a:t>·</a:t>
            </a:r>
            <a:r>
              <a:rPr lang="zh-CN" altLang="en-US" dirty="0"/>
              <a:t>使用信息，如文件建立时间、上次修改时间等。</a:t>
            </a:r>
          </a:p>
          <a:p>
            <a:pPr lvl="0"/>
            <a:r>
              <a:rPr lang="zh-CN" altLang="en-US" dirty="0"/>
              <a:t>一个文件目录也被视为一个文件，称为目录文件。</a:t>
            </a:r>
            <a:endParaRPr lang="zh-CN" dirty="0"/>
          </a:p>
        </p:txBody>
      </p:sp>
    </p:spTree>
    <p:extLst>
      <p:ext uri="{BB962C8B-B14F-4D97-AF65-F5344CB8AC3E}">
        <p14:creationId xmlns:p14="http://schemas.microsoft.com/office/powerpoint/2010/main" val="2582129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索引结点</a:t>
            </a:r>
            <a:r>
              <a:rPr lang="en-US" altLang="zh-CN" dirty="0"/>
              <a:t>(</a:t>
            </a:r>
            <a:r>
              <a:rPr lang="en-US" altLang="zh-CN" dirty="0" err="1"/>
              <a:t>inode</a:t>
            </a:r>
            <a:r>
              <a:rPr lang="en-US" altLang="zh-CN" dirty="0"/>
              <a:t>)</a:t>
            </a:r>
          </a:p>
          <a:p>
            <a:pPr lvl="0"/>
            <a:r>
              <a:rPr lang="zh-CN" altLang="en-US" dirty="0"/>
              <a:t>文件目录通常存放在磁盘上，当文件很多时，文件目录会占用大量的盘块。在查找目录的过程中，要先将存放目录文件的第一个盘块中的目录调入内存，然后用给定的文件名逐一比较，若未找到指定文件，就还需要不断地将下一盘块中的目录项调入内存，逐一比较。我们发现，在检索目录的过程中，只用到了文件名，仅当找到一个目录项（其中的文件名与要查找的文件名匹配）时，才需从该目录项中读出该文件的物理地址。也就是说，在检索目录时，文件的其他描述信息不会用到，也不需要调入内存。因此，有的系统</a:t>
            </a:r>
            <a:r>
              <a:rPr lang="en-US" altLang="zh-CN" dirty="0"/>
              <a:t>(</a:t>
            </a:r>
            <a:r>
              <a:rPr lang="zh-CN" altLang="en-US" dirty="0"/>
              <a:t>如</a:t>
            </a:r>
            <a:r>
              <a:rPr lang="en-US" altLang="zh-CN" dirty="0"/>
              <a:t>UNIX,</a:t>
            </a:r>
            <a:r>
              <a:rPr lang="zh-CN" altLang="en-US" dirty="0"/>
              <a:t>图</a:t>
            </a:r>
            <a:r>
              <a:rPr lang="en-US" altLang="zh-CN" dirty="0"/>
              <a:t>4.2)</a:t>
            </a:r>
            <a:r>
              <a:rPr lang="zh-CN" altLang="en-US" dirty="0"/>
              <a:t>便采用了文件名和文件描述信息分开的方法，使文件描述信息单独形成一个称为索引结点的数据结构，简称</a:t>
            </a:r>
            <a:r>
              <a:rPr lang="en-US" altLang="zh-CN" dirty="0" err="1"/>
              <a:t>i</a:t>
            </a:r>
            <a:r>
              <a:rPr lang="zh-CN" altLang="en-US" dirty="0"/>
              <a:t>结，点</a:t>
            </a:r>
            <a:r>
              <a:rPr lang="en-US" altLang="zh-CN" dirty="0"/>
              <a:t>(</a:t>
            </a:r>
            <a:r>
              <a:rPr lang="en-US" altLang="zh-CN" dirty="0" err="1"/>
              <a:t>inode</a:t>
            </a:r>
            <a:r>
              <a:rPr lang="en-US" altLang="zh-CN" dirty="0"/>
              <a:t>).</a:t>
            </a:r>
            <a:r>
              <a:rPr lang="zh-CN" altLang="en-US" dirty="0"/>
              <a:t>在文件目录中的每个目录项仅由文件名和指向该文件所对应的</a:t>
            </a:r>
            <a:r>
              <a:rPr lang="en-US" altLang="zh-CN" dirty="0"/>
              <a:t>ⅰ</a:t>
            </a:r>
            <a:r>
              <a:rPr lang="zh-CN" altLang="en-US" dirty="0"/>
              <a:t>结点的指针构成。</a:t>
            </a:r>
          </a:p>
          <a:p>
            <a:pPr lvl="0"/>
            <a:endParaRPr lang="zh-CN" altLang="en-US" dirty="0"/>
          </a:p>
          <a:p>
            <a:pPr lvl="0"/>
            <a:r>
              <a:rPr lang="zh-CN" altLang="en-US" dirty="0"/>
              <a:t>假设一个</a:t>
            </a:r>
            <a:r>
              <a:rPr lang="en-US" altLang="zh-CN" dirty="0"/>
              <a:t>FCB</a:t>
            </a:r>
            <a:r>
              <a:rPr lang="zh-CN" altLang="en-US" dirty="0"/>
              <a:t>为</a:t>
            </a:r>
            <a:r>
              <a:rPr lang="en-US" altLang="zh-CN" dirty="0"/>
              <a:t>64B,</a:t>
            </a:r>
            <a:r>
              <a:rPr lang="zh-CN" altLang="en-US" dirty="0"/>
              <a:t>盘块大小是</a:t>
            </a:r>
            <a:r>
              <a:rPr lang="en-US" altLang="zh-CN" dirty="0"/>
              <a:t>1KB,</a:t>
            </a:r>
            <a:r>
              <a:rPr lang="zh-CN" altLang="en-US" dirty="0"/>
              <a:t>则每个盘块中可以存放</a:t>
            </a:r>
            <a:r>
              <a:rPr lang="en-US" altLang="zh-CN" dirty="0"/>
              <a:t>16</a:t>
            </a:r>
            <a:r>
              <a:rPr lang="zh-CN" altLang="en-US" dirty="0"/>
              <a:t>个</a:t>
            </a:r>
            <a:r>
              <a:rPr lang="en-US" altLang="zh-CN" dirty="0"/>
              <a:t>FCB(FCB</a:t>
            </a:r>
            <a:r>
              <a:rPr lang="zh-CN" altLang="en-US" dirty="0"/>
              <a:t>必须连续存放），若一个文件目录共有</a:t>
            </a:r>
            <a:r>
              <a:rPr lang="en-US" altLang="zh-CN" dirty="0"/>
              <a:t>640</a:t>
            </a:r>
            <a:r>
              <a:rPr lang="zh-CN" altLang="en-US" dirty="0"/>
              <a:t>个</a:t>
            </a:r>
            <a:r>
              <a:rPr lang="en-US" altLang="zh-CN" dirty="0"/>
              <a:t>FCB,</a:t>
            </a:r>
            <a:r>
              <a:rPr lang="zh-CN" altLang="en-US" dirty="0"/>
              <a:t>则查找文件平均需要启动磁盘</a:t>
            </a:r>
            <a:r>
              <a:rPr lang="en-US" altLang="zh-CN" dirty="0"/>
              <a:t>20</a:t>
            </a:r>
            <a:r>
              <a:rPr lang="zh-CN" altLang="en-US" dirty="0"/>
              <a:t>次。而在</a:t>
            </a:r>
            <a:r>
              <a:rPr lang="en-US" altLang="zh-CN" dirty="0"/>
              <a:t>UNIX</a:t>
            </a:r>
            <a:r>
              <a:rPr lang="zh-CN" altLang="en-US" dirty="0"/>
              <a:t>系统中，一个目录项仅占</a:t>
            </a:r>
            <a:r>
              <a:rPr lang="en-US" altLang="zh-CN" dirty="0"/>
              <a:t>16B,</a:t>
            </a:r>
            <a:r>
              <a:rPr lang="zh-CN" altLang="en-US" dirty="0"/>
              <a:t>其中</a:t>
            </a:r>
            <a:r>
              <a:rPr lang="en-US" altLang="zh-CN" dirty="0"/>
              <a:t>14B</a:t>
            </a:r>
            <a:r>
              <a:rPr lang="zh-CN" altLang="en-US" dirty="0"/>
              <a:t>是文件名，</a:t>
            </a:r>
            <a:r>
              <a:rPr lang="en-US" altLang="zh-CN" dirty="0"/>
              <a:t>2B</a:t>
            </a:r>
            <a:r>
              <a:rPr lang="zh-CN" altLang="en-US" dirty="0"/>
              <a:t>是</a:t>
            </a:r>
            <a:r>
              <a:rPr lang="en-US" altLang="zh-CN" dirty="0" err="1"/>
              <a:t>i</a:t>
            </a:r>
            <a:r>
              <a:rPr lang="zh-CN" altLang="en-US" dirty="0"/>
              <a:t>结点指针。在</a:t>
            </a:r>
            <a:r>
              <a:rPr lang="en-US" altLang="zh-CN" dirty="0"/>
              <a:t>1KB</a:t>
            </a:r>
            <a:r>
              <a:rPr lang="zh-CN" altLang="en-US" dirty="0"/>
              <a:t>的盘块中可存放</a:t>
            </a:r>
            <a:r>
              <a:rPr lang="en-US" altLang="zh-CN" dirty="0"/>
              <a:t>64</a:t>
            </a:r>
            <a:r>
              <a:rPr lang="zh-CN" altLang="en-US" dirty="0"/>
              <a:t>个目录项。这样，可使查找文件的平均启动磁盘次数减少到原来的</a:t>
            </a:r>
            <a:r>
              <a:rPr lang="en-US" altLang="zh-CN" dirty="0"/>
              <a:t>1/4</a:t>
            </a:r>
            <a:r>
              <a:rPr lang="zh-CN" altLang="en-US" dirty="0"/>
              <a:t>，大大节省了系统开销。</a:t>
            </a:r>
          </a:p>
          <a:p>
            <a:pPr lvl="0"/>
            <a:endParaRPr lang="zh-CN" altLang="en-US" dirty="0"/>
          </a:p>
          <a:p>
            <a:pPr lvl="0"/>
            <a:r>
              <a:rPr lang="en-US" altLang="zh-CN" dirty="0"/>
              <a:t>(1)</a:t>
            </a:r>
            <a:r>
              <a:rPr lang="zh-CN" altLang="en-US" dirty="0"/>
              <a:t>磁盘索引结点</a:t>
            </a:r>
          </a:p>
          <a:p>
            <a:pPr lvl="0"/>
            <a:r>
              <a:rPr lang="zh-CN" altLang="en-US" dirty="0"/>
              <a:t>它是指存放在磁盘上的索引结点。每个文件有一个唯一的磁盘索引结点，主要包括以下内容：</a:t>
            </a:r>
            <a:endParaRPr lang="en-US" altLang="zh-CN" dirty="0"/>
          </a:p>
          <a:p>
            <a:pPr lvl="0"/>
            <a:r>
              <a:rPr lang="en-US" altLang="zh-CN" dirty="0"/>
              <a:t>·</a:t>
            </a:r>
            <a:r>
              <a:rPr lang="zh-CN" altLang="en-US" dirty="0"/>
              <a:t>文件主标识符，拥有该文件的个人或小组的标识符。</a:t>
            </a:r>
          </a:p>
          <a:p>
            <a:pPr lvl="0"/>
            <a:r>
              <a:rPr lang="en-US" altLang="zh-CN" dirty="0"/>
              <a:t>·</a:t>
            </a:r>
            <a:r>
              <a:rPr lang="zh-CN" altLang="en-US" dirty="0"/>
              <a:t>文件类型，包括普通文件、目录文件或特别文件。</a:t>
            </a:r>
          </a:p>
          <a:p>
            <a:pPr lvl="0"/>
            <a:r>
              <a:rPr lang="en-US" altLang="zh-CN" dirty="0"/>
              <a:t>·</a:t>
            </a:r>
            <a:r>
              <a:rPr lang="zh-CN" altLang="en-US" dirty="0"/>
              <a:t>文件存取权限，各类用户对该文件的存取权限。</a:t>
            </a:r>
          </a:p>
          <a:p>
            <a:pPr lvl="0"/>
            <a:r>
              <a:rPr lang="en-US" altLang="zh-CN" dirty="0"/>
              <a:t>·</a:t>
            </a:r>
            <a:r>
              <a:rPr lang="zh-CN" altLang="en-US" dirty="0"/>
              <a:t>文件物理地址，每个索引结点中含有</a:t>
            </a:r>
            <a:r>
              <a:rPr lang="en-US" altLang="zh-CN" dirty="0"/>
              <a:t>13</a:t>
            </a:r>
            <a:r>
              <a:rPr lang="zh-CN" altLang="en-US" dirty="0"/>
              <a:t>个地址项，即</a:t>
            </a:r>
            <a:r>
              <a:rPr lang="en-US" altLang="zh-CN" dirty="0" err="1"/>
              <a:t>iaddr</a:t>
            </a:r>
            <a:r>
              <a:rPr lang="en-US" altLang="zh-CN" dirty="0"/>
              <a:t>(0)~</a:t>
            </a:r>
            <a:r>
              <a:rPr lang="en-US" altLang="zh-CN" dirty="0" err="1"/>
              <a:t>iaddr</a:t>
            </a:r>
            <a:r>
              <a:rPr lang="en-US" altLang="zh-CN" dirty="0"/>
              <a:t>(12),</a:t>
            </a:r>
            <a:r>
              <a:rPr lang="zh-CN" altLang="en-US" dirty="0"/>
              <a:t>它们以直接或间接方式给出数据文件所在盘块的编号。</a:t>
            </a:r>
          </a:p>
          <a:p>
            <a:pPr lvl="0"/>
            <a:r>
              <a:rPr lang="en-US" altLang="zh-CN" dirty="0"/>
              <a:t>·</a:t>
            </a:r>
            <a:r>
              <a:rPr lang="zh-CN" altLang="en-US" dirty="0"/>
              <a:t>文件长度，指以字节为单位的文件长度。</a:t>
            </a:r>
          </a:p>
          <a:p>
            <a:pPr lvl="0"/>
            <a:r>
              <a:rPr lang="en-US" altLang="zh-CN" dirty="0"/>
              <a:t>·</a:t>
            </a:r>
            <a:r>
              <a:rPr lang="zh-CN" altLang="en-US" dirty="0"/>
              <a:t>文件链接计数，在本文件系统中所有指向该文件的文件名的指针计数。</a:t>
            </a:r>
          </a:p>
          <a:p>
            <a:pPr lvl="0"/>
            <a:r>
              <a:rPr lang="en-US" altLang="zh-CN" dirty="0"/>
              <a:t>·</a:t>
            </a:r>
            <a:r>
              <a:rPr lang="zh-CN" altLang="en-US" dirty="0"/>
              <a:t>文件存取时间，本文件最近被进程存取的时间、最近被修改的时间及索引结点最近被修改的时间。</a:t>
            </a:r>
          </a:p>
          <a:p>
            <a:pPr lvl="0"/>
            <a:endParaRPr lang="zh-CN" altLang="en-US" dirty="0"/>
          </a:p>
          <a:p>
            <a:pPr lvl="0"/>
            <a:r>
              <a:rPr lang="en-US" altLang="zh-CN" dirty="0"/>
              <a:t>(2)</a:t>
            </a:r>
            <a:r>
              <a:rPr lang="zh-CN" altLang="en-US" dirty="0"/>
              <a:t>内存索引结点</a:t>
            </a:r>
          </a:p>
          <a:p>
            <a:pPr lvl="0"/>
            <a:r>
              <a:rPr lang="zh-CN" altLang="en-US" dirty="0"/>
              <a:t>它是指存放在内存中的索引结点。当文件被打开时，要将磁盘索引结点复制到内存的索引结点中，便于以后使用。在内存索引结点中增加了以下内容：</a:t>
            </a:r>
          </a:p>
          <a:p>
            <a:pPr lvl="0"/>
            <a:r>
              <a:rPr lang="en-US" altLang="zh-CN" dirty="0"/>
              <a:t>·</a:t>
            </a:r>
            <a:r>
              <a:rPr lang="zh-CN" altLang="en-US" dirty="0"/>
              <a:t>索引结点编号，用于标识内存索引结点。</a:t>
            </a:r>
          </a:p>
          <a:p>
            <a:pPr lvl="0"/>
            <a:r>
              <a:rPr lang="en-US" altLang="zh-CN" dirty="0"/>
              <a:t>·</a:t>
            </a:r>
            <a:r>
              <a:rPr lang="zh-CN" altLang="en-US" dirty="0"/>
              <a:t>状态，指示</a:t>
            </a:r>
            <a:r>
              <a:rPr lang="en-US" altLang="zh-CN" dirty="0" err="1"/>
              <a:t>i</a:t>
            </a:r>
            <a:r>
              <a:rPr lang="zh-CN" altLang="en-US" dirty="0"/>
              <a:t>结点是否上锁或被修改。</a:t>
            </a:r>
          </a:p>
          <a:p>
            <a:pPr lvl="0"/>
            <a:r>
              <a:rPr lang="en-US" altLang="zh-CN" dirty="0"/>
              <a:t>·</a:t>
            </a:r>
            <a:r>
              <a:rPr lang="zh-CN" altLang="en-US" dirty="0"/>
              <a:t>访问计数，每当有一进程要访问此</a:t>
            </a:r>
            <a:r>
              <a:rPr lang="en-US" altLang="zh-CN" dirty="0" err="1"/>
              <a:t>i</a:t>
            </a:r>
            <a:r>
              <a:rPr lang="zh-CN" altLang="en-US" dirty="0"/>
              <a:t>结点时，计数加</a:t>
            </a:r>
            <a:r>
              <a:rPr lang="en-US" altLang="zh-CN" dirty="0"/>
              <a:t>1</a:t>
            </a:r>
            <a:r>
              <a:rPr lang="zh-CN" altLang="en-US" dirty="0"/>
              <a:t>：访问结束减</a:t>
            </a:r>
            <a:r>
              <a:rPr lang="en-US" altLang="zh-CN" dirty="0"/>
              <a:t>1.</a:t>
            </a:r>
          </a:p>
          <a:p>
            <a:pPr lvl="0"/>
            <a:r>
              <a:rPr lang="en-US" altLang="zh-CN" dirty="0"/>
              <a:t>·</a:t>
            </a:r>
            <a:r>
              <a:rPr lang="zh-CN" altLang="en-US" dirty="0"/>
              <a:t>逻辑设备号，文件所属文件系统的逻辑设备号。</a:t>
            </a:r>
          </a:p>
          <a:p>
            <a:pPr lvl="0"/>
            <a:r>
              <a:rPr lang="en-US" altLang="zh-CN" dirty="0"/>
              <a:t>·</a:t>
            </a:r>
            <a:r>
              <a:rPr lang="zh-CN" altLang="en-US" dirty="0"/>
              <a:t>链接指针，设置分别指向空闲链表和散列队列的指针。</a:t>
            </a:r>
          </a:p>
          <a:p>
            <a:pPr lvl="0"/>
            <a:r>
              <a:rPr lang="en-US" altLang="zh-CN" dirty="0"/>
              <a:t>FCB</a:t>
            </a:r>
            <a:r>
              <a:rPr lang="zh-CN" altLang="en-US" dirty="0"/>
              <a:t>或索引结点相当于图书馆中图书的索书号，我们可以在图书馆网站上找到图书的索书号，然后根据索书号找到想要的书本。</a:t>
            </a:r>
            <a:endParaRPr lang="zh-CN" dirty="0"/>
          </a:p>
        </p:txBody>
      </p:sp>
    </p:spTree>
    <p:extLst>
      <p:ext uri="{BB962C8B-B14F-4D97-AF65-F5344CB8AC3E}">
        <p14:creationId xmlns:p14="http://schemas.microsoft.com/office/powerpoint/2010/main" val="3037739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文件的基本操作</a:t>
            </a:r>
          </a:p>
          <a:p>
            <a:pPr lvl="0"/>
            <a:r>
              <a:rPr lang="zh-CN" altLang="en-US" dirty="0"/>
              <a:t>文件属于抽象数据类型。为了正确地定义文件，需要考虑可以对文件执行的操作。操作系统提供系统调用，它对文件进行创建、写、读、重定位、删除和截断等操作。</a:t>
            </a:r>
          </a:p>
          <a:p>
            <a:pPr lvl="0"/>
            <a:r>
              <a:rPr lang="en-US" altLang="zh-CN" dirty="0"/>
              <a:t>1)</a:t>
            </a:r>
            <a:r>
              <a:rPr lang="zh-CN" altLang="en-US" dirty="0"/>
              <a:t>创建文件。创建文件有两个必要步骤：一是为新文件分配必要的外存空间：二是在目录中为之创建一个目录项，目录项记录了新文件名、在外存中的地址及其他可能的信息。</a:t>
            </a:r>
          </a:p>
          <a:p>
            <a:pPr lvl="0"/>
            <a:r>
              <a:rPr lang="en-US" altLang="zh-CN" dirty="0"/>
              <a:t>2)</a:t>
            </a:r>
            <a:r>
              <a:rPr lang="zh-CN" altLang="en-US" dirty="0"/>
              <a:t>写文件。为了写文件，执行一个系统调用。对于给定文件名，搜索目录以查找文件位置。系统必须为该文件维护一个写位置的指针。每当发生写操作时，便更新写指针。</a:t>
            </a:r>
          </a:p>
          <a:p>
            <a:pPr lvl="0"/>
            <a:r>
              <a:rPr lang="en-US" altLang="zh-CN" dirty="0"/>
              <a:t>3)</a:t>
            </a:r>
            <a:r>
              <a:rPr lang="zh-CN" altLang="en-US" dirty="0"/>
              <a:t>读文件。为了读文件，执行一个系统调用。同样需要搜索目录以找到相关目录项，系统维护一个读位置的指针。每当发生读操作时，更新读指针。一个进程通常只对一个文件读或写，因此当前操作位置可作为每个进程当前文件位置的指针。由于读和写操作使用同一指针，因此节省了空间，也降低了系统复杂度。</a:t>
            </a:r>
          </a:p>
          <a:p>
            <a:pPr lvl="0"/>
            <a:r>
              <a:rPr lang="en-US" altLang="zh-CN" dirty="0"/>
              <a:t>4)</a:t>
            </a:r>
            <a:r>
              <a:rPr lang="zh-CN" altLang="en-US" dirty="0"/>
              <a:t>重新定位文件，也称文件定位。搜索目录以找到适当的条目，并将当前文件位置指针重新定位到给定值。重新定位文件不涉及读、写文件。</a:t>
            </a:r>
          </a:p>
          <a:p>
            <a:pPr lvl="0"/>
            <a:r>
              <a:rPr lang="en-US" altLang="zh-CN" dirty="0"/>
              <a:t>5)</a:t>
            </a:r>
            <a:r>
              <a:rPr lang="zh-CN" altLang="en-US" dirty="0"/>
              <a:t>删除文件。为了删除文件，先从目录中检索指定文件名的目录项，然后释放该文件所占的存储空间，以便可被其他文件重复使用，并删除目录条目。</a:t>
            </a:r>
          </a:p>
          <a:p>
            <a:pPr lvl="0"/>
            <a:r>
              <a:rPr lang="en-US" altLang="zh-CN" dirty="0"/>
              <a:t>6)</a:t>
            </a:r>
            <a:r>
              <a:rPr lang="zh-CN" altLang="en-US" dirty="0"/>
              <a:t>截断文件。允许文件所有属性不变，并删除文件内容，将其长度置为</a:t>
            </a:r>
            <a:r>
              <a:rPr lang="en-US" altLang="zh-CN" dirty="0"/>
              <a:t>0</a:t>
            </a:r>
            <a:r>
              <a:rPr lang="zh-CN" altLang="en-US" dirty="0"/>
              <a:t>并释放其空间。</a:t>
            </a:r>
          </a:p>
          <a:p>
            <a:pPr lvl="0"/>
            <a:r>
              <a:rPr lang="zh-CN" altLang="en-US" dirty="0"/>
              <a:t>这</a:t>
            </a:r>
            <a:r>
              <a:rPr lang="en-US" altLang="zh-CN" dirty="0"/>
              <a:t>6</a:t>
            </a:r>
            <a:r>
              <a:rPr lang="zh-CN" altLang="en-US" dirty="0"/>
              <a:t>个基本操作可以组合起来执行其他文件操作。例如，一个文件的复制，可以创建新文件、从旧文件读出并写入新文件。</a:t>
            </a:r>
            <a:endParaRPr lang="zh-CN" dirty="0"/>
          </a:p>
        </p:txBody>
      </p:sp>
    </p:spTree>
    <p:extLst>
      <p:ext uri="{BB962C8B-B14F-4D97-AF65-F5344CB8AC3E}">
        <p14:creationId xmlns:p14="http://schemas.microsoft.com/office/powerpoint/2010/main" val="3088076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文件的打开与关闭</a:t>
            </a:r>
          </a:p>
          <a:p>
            <a:pPr lvl="0"/>
            <a:r>
              <a:rPr lang="zh-CN" altLang="en-US" dirty="0"/>
              <a:t>当用户对一个文件实施操作时，每次都要从检索目录开始。为了避免多次重复地检索目录，大多数操作系统要求，在文件使用之前通过系统调用</a:t>
            </a:r>
            <a:r>
              <a:rPr lang="en-US" altLang="zh-CN" dirty="0"/>
              <a:t>open</a:t>
            </a:r>
            <a:r>
              <a:rPr lang="zh-CN" altLang="en-US" dirty="0"/>
              <a:t>被显式地打开。操作系统维护一个包含所有打开文件信息的表（打开文件表）。所谓“打开”，是指调用</a:t>
            </a:r>
            <a:r>
              <a:rPr lang="en-US" altLang="zh-CN" dirty="0"/>
              <a:t>open</a:t>
            </a:r>
            <a:r>
              <a:rPr lang="zh-CN" altLang="en-US" dirty="0"/>
              <a:t>根据文件名搜索目录，将指明文件的属性（包括该文件在外存上的物理位置），从外存复制到内存打开文件表的一个表目中，并将该表目的编号（也称索引）返回给用户。当用户再次向系统发出文件操作请求时，可通过索引在打开文件表中查到文件信息，从而节省再次搜索目录的开销。当文件不再使用时，可利用系统调用</a:t>
            </a:r>
            <a:r>
              <a:rPr lang="en-US" altLang="zh-CN" dirty="0"/>
              <a:t>close</a:t>
            </a:r>
            <a:r>
              <a:rPr lang="zh-CN" altLang="en-US" dirty="0"/>
              <a:t>关闭它，操作系统将会从打开文件表中删除这一条目。</a:t>
            </a:r>
          </a:p>
          <a:p>
            <a:pPr lvl="0"/>
            <a:r>
              <a:rPr lang="zh-CN" altLang="en-US" dirty="0"/>
              <a:t>在多个不同进程可以同时打开文件的操作系统中，通常采用两级表：每个进程表和整个系统表。每个进程表根据它打开的所有文件，表中存储的是进程对文件的使用信息。系统打开文件表包含文件相关信息，如文件在磁盘的位置、访问日期和大小。一旦有进程打开了一个文件，系统表就包含该文件的条目。当另一个进程执行调用</a:t>
            </a:r>
            <a:r>
              <a:rPr lang="en-US" altLang="zh-CN" dirty="0" err="1"/>
              <a:t>opn</a:t>
            </a:r>
            <a:r>
              <a:rPr lang="zh-CN" altLang="en-US" dirty="0"/>
              <a:t>时，只不过是在其进程打开表中增加一个条目，并指向系统表的相应条目。通常，系统打开文件表为每个文件关联一个打开计数器（</a:t>
            </a:r>
            <a:r>
              <a:rPr lang="en-US" altLang="zh-CN" dirty="0"/>
              <a:t>Open Count),</a:t>
            </a:r>
            <a:r>
              <a:rPr lang="zh-CN" altLang="en-US" dirty="0"/>
              <a:t>以记录多少进程打开了该文件。每个关闭操作</a:t>
            </a:r>
            <a:r>
              <a:rPr lang="en-US" altLang="zh-CN" dirty="0"/>
              <a:t>close</a:t>
            </a:r>
            <a:r>
              <a:rPr lang="zh-CN" altLang="en-US" dirty="0"/>
              <a:t>使</a:t>
            </a:r>
            <a:r>
              <a:rPr lang="en-US" altLang="zh-CN" dirty="0"/>
              <a:t>count</a:t>
            </a:r>
            <a:r>
              <a:rPr lang="zh-CN" altLang="en-US" dirty="0"/>
              <a:t>递减，当打开计数器为</a:t>
            </a:r>
            <a:r>
              <a:rPr lang="en-US" altLang="zh-CN" dirty="0"/>
              <a:t>0</a:t>
            </a:r>
            <a:r>
              <a:rPr lang="zh-CN" altLang="en-US" dirty="0"/>
              <a:t>时，表示该文件不再被使用，并且可从系统打开文件表中删除相应条目。如图展示了这种结构。</a:t>
            </a:r>
            <a:endParaRPr lang="en-US" altLang="zh-CN" dirty="0"/>
          </a:p>
          <a:p>
            <a:pPr lvl="0"/>
            <a:r>
              <a:rPr lang="zh-CN" altLang="en-US" dirty="0"/>
              <a:t>文件名不必是打开文件表的一部分，因为一旦完成对</a:t>
            </a:r>
            <a:r>
              <a:rPr lang="en-US" altLang="zh-CN" dirty="0"/>
              <a:t>FCB</a:t>
            </a:r>
            <a:r>
              <a:rPr lang="zh-CN" altLang="en-US" dirty="0"/>
              <a:t>在磁盘上的定位，系统就不再使用文件名。对于访问打开文件表的索引，</a:t>
            </a:r>
            <a:r>
              <a:rPr lang="en-US" altLang="zh-CN" dirty="0"/>
              <a:t>UNX</a:t>
            </a:r>
            <a:r>
              <a:rPr lang="zh-CN" altLang="en-US" dirty="0"/>
              <a:t>称之为文件描述符，而</a:t>
            </a:r>
            <a:r>
              <a:rPr lang="en-US" altLang="zh-CN" dirty="0"/>
              <a:t>Windows</a:t>
            </a:r>
            <a:r>
              <a:rPr lang="zh-CN" altLang="en-US" dirty="0"/>
              <a:t>称之为文件句柄。因此，只要文件未被关闭，所有文件操作就通过打开文件表来进行。</a:t>
            </a:r>
          </a:p>
        </p:txBody>
      </p:sp>
    </p:spTree>
    <p:extLst>
      <p:ext uri="{BB962C8B-B14F-4D97-AF65-F5344CB8AC3E}">
        <p14:creationId xmlns:p14="http://schemas.microsoft.com/office/powerpoint/2010/main" val="1263543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每个打开文件都具有如下关联信息：</a:t>
            </a:r>
          </a:p>
          <a:p>
            <a:pPr lvl="0"/>
            <a:r>
              <a:rPr lang="en-US" altLang="zh-CN" dirty="0"/>
              <a:t>·</a:t>
            </a:r>
            <a:r>
              <a:rPr lang="zh-CN" altLang="en-US" dirty="0"/>
              <a:t>文件指针。系统跟踪上次的读写位置作为当前文件位置的指针，这种指针对打开文件的某个进程来说是唯一的，因此必须与磁盘文件属性分开保存。</a:t>
            </a:r>
          </a:p>
          <a:p>
            <a:pPr lvl="0"/>
            <a:r>
              <a:rPr lang="en-US" altLang="zh-CN" dirty="0"/>
              <a:t>·</a:t>
            </a:r>
            <a:r>
              <a:rPr lang="zh-CN" altLang="en-US" dirty="0"/>
              <a:t>文件打开计数。计数器跟踪当前文件打开和关闭的数量。因为多个进程可能打开同一个文件，所以系统在删除打开文件条目之前，必须等待最后一个进程关闭文件。</a:t>
            </a:r>
          </a:p>
          <a:p>
            <a:pPr lvl="0"/>
            <a:r>
              <a:rPr lang="en-US" altLang="zh-CN" dirty="0"/>
              <a:t>·</a:t>
            </a:r>
            <a:r>
              <a:rPr lang="zh-CN" altLang="en-US" dirty="0"/>
              <a:t>文件磁盘位置。大多数文件操作要求系统修改文件数据。查找磁盘上的文件所需的信息保存在内存中，以便系统不必为每个操作都从磁盘上读取该信息。</a:t>
            </a:r>
          </a:p>
          <a:p>
            <a:pPr lvl="0"/>
            <a:r>
              <a:rPr lang="en-US" altLang="zh-CN" dirty="0"/>
              <a:t>·</a:t>
            </a:r>
            <a:r>
              <a:rPr lang="zh-CN" altLang="en-US" dirty="0"/>
              <a:t>访问权限。每个进程打开文件都需要有一个访问模式</a:t>
            </a:r>
            <a:r>
              <a:rPr lang="en-US" altLang="zh-CN" dirty="0"/>
              <a:t>(</a:t>
            </a:r>
            <a:r>
              <a:rPr lang="zh-CN" altLang="en-US" dirty="0"/>
              <a:t>创建、只读、读写、添加等</a:t>
            </a:r>
            <a:r>
              <a:rPr lang="en-US" altLang="zh-CN" dirty="0"/>
              <a:t>)</a:t>
            </a:r>
            <a:r>
              <a:rPr lang="zh-CN" altLang="en-US" dirty="0"/>
              <a:t>。该信息保存在讲程的打开文件表中，以便操作系统能够允许或拒绝后续的</a:t>
            </a:r>
            <a:r>
              <a:rPr lang="en-US" altLang="zh-CN" dirty="0"/>
              <a:t>I/O</a:t>
            </a:r>
            <a:r>
              <a:rPr lang="zh-CN" altLang="en-US" dirty="0"/>
              <a:t>请求。</a:t>
            </a:r>
            <a:endParaRPr lang="zh-CN" altLang="zh-CN" dirty="0"/>
          </a:p>
        </p:txBody>
      </p:sp>
    </p:spTree>
    <p:extLst>
      <p:ext uri="{BB962C8B-B14F-4D97-AF65-F5344CB8AC3E}">
        <p14:creationId xmlns:p14="http://schemas.microsoft.com/office/powerpoint/2010/main" val="1539574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为了防止文件共享可能会导致文件被破坏或未经核准的用户修改文件，文件系统必须控制用户对文件的存取，即解决对文件的读、写、执行的许可问题。为此，必须在文件系统中建立相应的文件保护机制。文件保护通过口令保护、加密保护和访问控制等方式实现。其中，口令和加密是为了防止用户文件被他人存取或窃取，而访问控制则用于控制用户对文件的访问方式。</a:t>
            </a:r>
            <a:endParaRPr lang="en-US" altLang="zh-CN" dirty="0"/>
          </a:p>
          <a:p>
            <a:pPr lvl="0"/>
            <a:r>
              <a:rPr lang="zh-CN" altLang="en-US" dirty="0"/>
              <a:t>访问类型</a:t>
            </a:r>
          </a:p>
          <a:p>
            <a:pPr lvl="0"/>
            <a:r>
              <a:rPr lang="zh-CN" altLang="en-US" dirty="0"/>
              <a:t>对文件的保护可从限制对文件的访问类型中出发。可加以控制的访问类型主要有以下几种。</a:t>
            </a:r>
          </a:p>
          <a:p>
            <a:pPr lvl="0"/>
            <a:r>
              <a:rPr lang="en-US" altLang="zh-CN" dirty="0"/>
              <a:t>·</a:t>
            </a:r>
            <a:r>
              <a:rPr lang="zh-CN" altLang="en-US" dirty="0"/>
              <a:t>读。从文件中读。</a:t>
            </a:r>
          </a:p>
          <a:p>
            <a:pPr lvl="0"/>
            <a:r>
              <a:rPr lang="en-US" altLang="zh-CN" dirty="0"/>
              <a:t>·</a:t>
            </a:r>
            <a:r>
              <a:rPr lang="zh-CN" altLang="en-US" dirty="0"/>
              <a:t>写。向文件中写。</a:t>
            </a:r>
          </a:p>
          <a:p>
            <a:pPr lvl="0"/>
            <a:r>
              <a:rPr lang="en-US" altLang="zh-CN" dirty="0"/>
              <a:t>·</a:t>
            </a:r>
            <a:r>
              <a:rPr lang="zh-CN" altLang="en-US" dirty="0"/>
              <a:t>执行。将文件装入内存并执行。</a:t>
            </a:r>
          </a:p>
          <a:p>
            <a:pPr lvl="0"/>
            <a:r>
              <a:rPr lang="en-US" altLang="zh-CN" dirty="0"/>
              <a:t>·</a:t>
            </a:r>
            <a:r>
              <a:rPr lang="zh-CN" altLang="en-US" dirty="0"/>
              <a:t>添加。将新信息添加到文件结尾部分。</a:t>
            </a:r>
          </a:p>
          <a:p>
            <a:pPr lvl="0"/>
            <a:r>
              <a:rPr lang="en-US" altLang="zh-CN" dirty="0"/>
              <a:t>·</a:t>
            </a:r>
            <a:r>
              <a:rPr lang="zh-CN" altLang="en-US" dirty="0"/>
              <a:t>删除。删除文件，释放空间。</a:t>
            </a:r>
          </a:p>
          <a:p>
            <a:pPr lvl="0"/>
            <a:r>
              <a:rPr lang="en-US" altLang="zh-CN" dirty="0"/>
              <a:t>·</a:t>
            </a:r>
            <a:r>
              <a:rPr lang="zh-CN" altLang="en-US" dirty="0"/>
              <a:t>列表清单。列出文件名和文件属性。</a:t>
            </a:r>
          </a:p>
          <a:p>
            <a:pPr lvl="0"/>
            <a:r>
              <a:rPr lang="zh-CN" altLang="en-US" dirty="0"/>
              <a:t>此外还可以对文件的重命名、复制、编辑等加以控制。这些高层的功能可以通过系统程序调用低层系统调用来实现。保护可以只在低层提供。例如，复制文件可利用一系列的读请求来完成，这样，具有读访问权限的用户同时也就具有了复制和打印权限。</a:t>
            </a:r>
            <a:endParaRPr lang="zh-CN" dirty="0"/>
          </a:p>
        </p:txBody>
      </p:sp>
    </p:spTree>
    <p:extLst>
      <p:ext uri="{BB962C8B-B14F-4D97-AF65-F5344CB8AC3E}">
        <p14:creationId xmlns:p14="http://schemas.microsoft.com/office/powerpoint/2010/main" val="1560736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访问控制</a:t>
            </a:r>
          </a:p>
          <a:p>
            <a:pPr lvl="0"/>
            <a:r>
              <a:rPr lang="zh-CN" altLang="en-US" dirty="0"/>
              <a:t>解决访问控制最常用的方法是根据用户身份进行控制。而实现基于身份访问的最为普通的方法是，为每个文件和目录增加一个访问控制列表</a:t>
            </a:r>
            <a:r>
              <a:rPr lang="en-US" altLang="zh-CN" dirty="0"/>
              <a:t>(Access-Control </a:t>
            </a:r>
            <a:r>
              <a:rPr lang="en-US" altLang="zh-CN" dirty="0" err="1"/>
              <a:t>List,ACL</a:t>
            </a:r>
            <a:r>
              <a:rPr lang="en-US" altLang="zh-CN" dirty="0"/>
              <a:t>),</a:t>
            </a:r>
            <a:r>
              <a:rPr lang="zh-CN" altLang="en-US" dirty="0"/>
              <a:t>以规定每个用户名及其所允许的访问类型。这种方法的优点是可以使用复杂的访问方法，缺点是长度无法预计并且可能导致复杂的空间管理，使用精简的访问列表可以解决这个问题。</a:t>
            </a:r>
          </a:p>
          <a:p>
            <a:pPr lvl="0"/>
            <a:r>
              <a:rPr lang="zh-CN" altLang="en-US" dirty="0"/>
              <a:t>精简的访问列表采用拥有者、组和其他三种用户类型。</a:t>
            </a:r>
          </a:p>
          <a:p>
            <a:pPr lvl="0"/>
            <a:r>
              <a:rPr lang="en-US" altLang="zh-CN" dirty="0"/>
              <a:t>1)</a:t>
            </a:r>
            <a:r>
              <a:rPr lang="zh-CN" altLang="en-US" dirty="0"/>
              <a:t>拥有者。创建文件的用户。</a:t>
            </a:r>
          </a:p>
          <a:p>
            <a:pPr lvl="0"/>
            <a:r>
              <a:rPr lang="en-US" altLang="zh-CN" dirty="0"/>
              <a:t>2)</a:t>
            </a:r>
            <a:r>
              <a:rPr lang="zh-CN" altLang="en-US" dirty="0"/>
              <a:t>组。一组需要共享文件且具有类似访问的用户。</a:t>
            </a:r>
          </a:p>
          <a:p>
            <a:pPr lvl="0"/>
            <a:r>
              <a:rPr lang="en-US" altLang="zh-CN" dirty="0"/>
              <a:t>3)</a:t>
            </a:r>
            <a:r>
              <a:rPr lang="zh-CN" altLang="en-US" dirty="0"/>
              <a:t>其他。系统内的所有其他用户。</a:t>
            </a:r>
          </a:p>
          <a:p>
            <a:pPr lvl="0"/>
            <a:r>
              <a:rPr lang="zh-CN" altLang="en-US" dirty="0"/>
              <a:t>这样，只需用三个域即可列出访问表中这三类用户的访问权限。文件拥有者在创建文件时，说明创建者用户名及所在的组名，系统在创建文件时也将文件主的名字、所属组名列在该文件的</a:t>
            </a:r>
            <a:r>
              <a:rPr lang="en-US" altLang="zh-CN" dirty="0"/>
              <a:t>FCB</a:t>
            </a:r>
            <a:r>
              <a:rPr lang="zh-CN" altLang="en-US" dirty="0"/>
              <a:t>中。用户访问该文件时，按照拥有者所拥有的权限访问文件，若用户和拥有者在同一个用户组，则按照同组权限访问，否则只能按其他用户权限访问。</a:t>
            </a:r>
            <a:r>
              <a:rPr lang="en-US" altLang="zh-CN" dirty="0"/>
              <a:t>UNIX</a:t>
            </a:r>
            <a:r>
              <a:rPr lang="zh-CN" altLang="en-US" dirty="0"/>
              <a:t>操作系统即采用此种方法。</a:t>
            </a:r>
            <a:endParaRPr lang="en-US" altLang="zh-CN" dirty="0"/>
          </a:p>
          <a:p>
            <a:pPr lvl="0"/>
            <a:endParaRPr lang="en-US" altLang="zh-CN" dirty="0"/>
          </a:p>
          <a:p>
            <a:pPr lvl="0"/>
            <a:r>
              <a:rPr lang="zh-CN" altLang="en-US" dirty="0"/>
              <a:t>口令和密码是另外两种访问控制方法。</a:t>
            </a:r>
          </a:p>
          <a:p>
            <a:pPr lvl="0"/>
            <a:r>
              <a:rPr lang="zh-CN" altLang="en-US" dirty="0"/>
              <a:t>口令指用户在建立一个文件时提供一个口令，系统为其建立</a:t>
            </a:r>
            <a:r>
              <a:rPr lang="en-US" altLang="zh-CN" dirty="0"/>
              <a:t>FCB</a:t>
            </a:r>
            <a:r>
              <a:rPr lang="zh-CN" altLang="en-US" dirty="0"/>
              <a:t>时附上相应口令，同时告诉允许共享该文件的其他用户。用户请求访问时必须提供相应的口令。这种方法时间和空间的开销不多，缺点是口令直接存在系统内部，不够安全。</a:t>
            </a:r>
          </a:p>
          <a:p>
            <a:pPr lvl="0"/>
            <a:r>
              <a:rPr lang="zh-CN" altLang="en-US" dirty="0"/>
              <a:t>密码指用户对文件进行加密，文件被访问时需要使用密钥。这种方法保密性强，节省了存储空间，不过编码和译码要花费一定的时间。</a:t>
            </a:r>
          </a:p>
          <a:p>
            <a:pPr lvl="0"/>
            <a:r>
              <a:rPr lang="zh-CN" altLang="en-US" dirty="0"/>
              <a:t>口令和密码都是防止用户文件被他人存取或窃取，并没有控制用户对文件的访问类型。</a:t>
            </a:r>
          </a:p>
          <a:p>
            <a:pPr lvl="0"/>
            <a:r>
              <a:rPr lang="zh-CN" altLang="en-US" dirty="0"/>
              <a:t>注意两个问题：</a:t>
            </a:r>
          </a:p>
          <a:p>
            <a:pPr lvl="0"/>
            <a:r>
              <a:rPr lang="en-US" altLang="zh-CN" dirty="0"/>
              <a:t>1)</a:t>
            </a:r>
            <a:r>
              <a:rPr lang="zh-CN" altLang="en-US" dirty="0"/>
              <a:t>现代操作系统常用的文件保护方法是，将访问控制列表与用户、组和其他成员访问控制方案</a:t>
            </a:r>
            <a:r>
              <a:rPr lang="en-US" altLang="zh-CN" dirty="0"/>
              <a:t>-</a:t>
            </a:r>
            <a:r>
              <a:rPr lang="zh-CN" altLang="en-US" dirty="0"/>
              <a:t>一起组合使用。</a:t>
            </a:r>
          </a:p>
          <a:p>
            <a:pPr lvl="0"/>
            <a:r>
              <a:rPr lang="en-US" altLang="zh-CN" dirty="0"/>
              <a:t>2)</a:t>
            </a:r>
            <a:r>
              <a:rPr lang="zh-CN" altLang="en-US" dirty="0"/>
              <a:t>对于多级目录结构而言，不仅需要保护单个文件，而且需要保护子目录内的文件，即需要提供目录保护机制。目录操作与文件操作并不相同，因此需要不同的保护机制。</a:t>
            </a:r>
            <a:endParaRPr lang="en-US" altLang="zh-CN" dirty="0"/>
          </a:p>
          <a:p>
            <a:pPr lvl="0"/>
            <a:endParaRPr lang="zh-CN" dirty="0"/>
          </a:p>
        </p:txBody>
      </p:sp>
    </p:spTree>
    <p:extLst>
      <p:ext uri="{BB962C8B-B14F-4D97-AF65-F5344CB8AC3E}">
        <p14:creationId xmlns:p14="http://schemas.microsoft.com/office/powerpoint/2010/main" val="965371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4.1.5</a:t>
            </a:r>
            <a:r>
              <a:rPr lang="zh-CN" altLang="en-US" dirty="0"/>
              <a:t>文件的逻辑结构</a:t>
            </a:r>
          </a:p>
          <a:p>
            <a:pPr lvl="0"/>
            <a:r>
              <a:rPr lang="zh-CN" altLang="en-US" dirty="0"/>
              <a:t>文件的逻辑结构是从用户观点出发看到的文件的组织形式。文件的物理结构（又称文件的存储结构，见下一节）是从实现观点出发看到的文件在外存上的存储组织形式。文件的逻辑结构与存储介质特性无关，它实际上是指在文件的内部，数据逻辑上是如何组织起来的。</a:t>
            </a:r>
          </a:p>
          <a:p>
            <a:pPr lvl="0"/>
            <a:r>
              <a:rPr lang="zh-CN" altLang="en-US" dirty="0"/>
              <a:t>按逻辑结构，文件可划分为无结构文件和有结构文件两大类。</a:t>
            </a:r>
          </a:p>
          <a:p>
            <a:pPr lvl="0"/>
            <a:r>
              <a:rPr lang="en-US" altLang="zh-CN" dirty="0"/>
              <a:t>1.</a:t>
            </a:r>
            <a:r>
              <a:rPr lang="zh-CN" altLang="en-US" dirty="0"/>
              <a:t>无结构文件（流式文件）</a:t>
            </a:r>
          </a:p>
          <a:p>
            <a:pPr lvl="0"/>
            <a:r>
              <a:rPr lang="zh-CN" altLang="en-US" dirty="0"/>
              <a:t>无结构文件是最简单的文件组织形式。无结构文件将数据按顺序组织成记录并积累、保存，它是有序相关信息项的集合，以字节</a:t>
            </a:r>
            <a:r>
              <a:rPr lang="en-US" altLang="zh-CN" dirty="0"/>
              <a:t>(Byte)</a:t>
            </a:r>
            <a:r>
              <a:rPr lang="zh-CN" altLang="en-US" dirty="0"/>
              <a:t>为单位。由于无结构文件没有结构，因而对记录的访问只能通过穷举搜索的方式，因此这种文件形式对大多数应用不适用。但字符流的无结构文件管理简单，用户可以方便地对其进行操作。所以，那些对基本信息单位操作不多的文件较适于采用字符流的无结构方式，如源程序文件、目标代码文件等。</a:t>
            </a:r>
            <a:endParaRPr lang="zh-CN" dirty="0"/>
          </a:p>
        </p:txBody>
      </p:sp>
    </p:spTree>
    <p:extLst>
      <p:ext uri="{BB962C8B-B14F-4D97-AF65-F5344CB8AC3E}">
        <p14:creationId xmlns:p14="http://schemas.microsoft.com/office/powerpoint/2010/main" val="3491239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有结构文件（记录式文件）</a:t>
            </a:r>
          </a:p>
          <a:p>
            <a:pPr lvl="0"/>
            <a:r>
              <a:rPr lang="zh-CN" altLang="en-US" dirty="0"/>
              <a:t>有结构文件按记录的组织形式可以分为如下几种：</a:t>
            </a:r>
          </a:p>
          <a:p>
            <a:pPr lvl="0"/>
            <a:r>
              <a:rPr lang="en-US" altLang="zh-CN" dirty="0"/>
              <a:t>(1)</a:t>
            </a:r>
            <a:r>
              <a:rPr lang="zh-CN" altLang="en-US" dirty="0"/>
              <a:t>顺序文件</a:t>
            </a:r>
          </a:p>
          <a:p>
            <a:pPr lvl="0"/>
            <a:r>
              <a:rPr lang="zh-CN" altLang="en-US" dirty="0"/>
              <a:t>文件中的记录一个接一个地顺序排列，记录通常是定长的，可以顺序存储或以链表形式存储。顺序文件有以下两种结构：第一种是串结构，记录之间的顺序与关键字无关，通常是按存入时间的先后进行排列，对串结构文件进行检索必须从头开始顺序依次查找，比较费时。第二种是顺序结构，指文件中的所有记录按关键字顺序排列，可采用折半查找法，提高了检索效率。</a:t>
            </a:r>
          </a:p>
          <a:p>
            <a:pPr lvl="0"/>
            <a:r>
              <a:rPr lang="zh-CN" altLang="en-US" dirty="0"/>
              <a:t>在对记录进行批量操作，即每次要读或写一大批记录时，顺序文件的效率是所有逻辑文件中最高的。此外，对于顺序存储设备（如磁带），也只有顺序文件才能被存储并能有效地工作。在经常需要查找、修改、增加或删除单个记录的场合，顺序文件的性能也比较差。</a:t>
            </a:r>
            <a:endParaRPr lang="zh-CN" dirty="0"/>
          </a:p>
        </p:txBody>
      </p:sp>
    </p:spTree>
    <p:extLst>
      <p:ext uri="{BB962C8B-B14F-4D97-AF65-F5344CB8AC3E}">
        <p14:creationId xmlns:p14="http://schemas.microsoft.com/office/powerpoint/2010/main" val="1058083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索引文件</a:t>
            </a:r>
          </a:p>
          <a:p>
            <a:pPr lvl="0"/>
            <a:r>
              <a:rPr lang="zh-CN" altLang="en-US" dirty="0"/>
              <a:t>对于定长记录文件，要查找第</a:t>
            </a:r>
            <a:r>
              <a:rPr lang="en-US" altLang="zh-CN" dirty="0" err="1"/>
              <a:t>i</a:t>
            </a:r>
            <a:r>
              <a:rPr lang="zh-CN" altLang="en-US" dirty="0"/>
              <a:t>条记录，可直接根据下式计算得到第</a:t>
            </a:r>
            <a:r>
              <a:rPr lang="en-US" altLang="zh-CN" dirty="0" err="1"/>
              <a:t>i</a:t>
            </a:r>
            <a:r>
              <a:rPr lang="zh-CN" altLang="en-US" dirty="0"/>
              <a:t>条记录相对于第</a:t>
            </a:r>
            <a:r>
              <a:rPr lang="en-US" altLang="zh-CN" dirty="0"/>
              <a:t>1</a:t>
            </a:r>
            <a:r>
              <a:rPr lang="zh-CN" altLang="en-US" dirty="0"/>
              <a:t>条记录的地址：</a:t>
            </a:r>
            <a:r>
              <a:rPr lang="en-US" altLang="zh-CN" dirty="0"/>
              <a:t>Ai=</a:t>
            </a:r>
            <a:r>
              <a:rPr lang="en-US" altLang="zh-CN" dirty="0" err="1"/>
              <a:t>i</a:t>
            </a:r>
            <a:r>
              <a:rPr lang="en-US" altLang="zh-CN" dirty="0"/>
              <a:t>*L</a:t>
            </a:r>
            <a:r>
              <a:rPr lang="zh-CN" altLang="en-US" dirty="0"/>
              <a:t>。然而，对于可变长记录的文件，要查找第</a:t>
            </a:r>
            <a:r>
              <a:rPr lang="en-US" altLang="zh-CN" dirty="0" err="1"/>
              <a:t>i</a:t>
            </a:r>
            <a:r>
              <a:rPr lang="zh-CN" altLang="en-US" dirty="0"/>
              <a:t>条记录，必须顺序地查找前</a:t>
            </a:r>
            <a:r>
              <a:rPr lang="en-US" altLang="zh-CN" dirty="0"/>
              <a:t>i-1</a:t>
            </a:r>
            <a:r>
              <a:rPr lang="zh-CN" altLang="en-US" dirty="0"/>
              <a:t>条记录，从而获得相应记录的长度</a:t>
            </a:r>
            <a:r>
              <a:rPr lang="en-US" altLang="zh-CN" dirty="0"/>
              <a:t>L,</a:t>
            </a:r>
            <a:r>
              <a:rPr lang="zh-CN" altLang="en-US" dirty="0"/>
              <a:t>进而按下式计算出第</a:t>
            </a:r>
            <a:r>
              <a:rPr lang="en-US" altLang="zh-CN" dirty="0" err="1"/>
              <a:t>i</a:t>
            </a:r>
            <a:r>
              <a:rPr lang="zh-CN" altLang="en-US" dirty="0"/>
              <a:t>条记录的首址：</a:t>
            </a:r>
            <a:r>
              <a:rPr lang="en-US" altLang="zh-CN" dirty="0"/>
              <a:t>Ai=sigma(</a:t>
            </a:r>
            <a:r>
              <a:rPr lang="en-US" altLang="zh-CN" dirty="0" err="1"/>
              <a:t>i</a:t>
            </a:r>
            <a:r>
              <a:rPr lang="en-US" altLang="zh-CN" dirty="0"/>
              <a:t>=0...i-1) Li +1</a:t>
            </a:r>
          </a:p>
          <a:p>
            <a:pPr lvl="0"/>
            <a:r>
              <a:rPr lang="zh-CN" altLang="en-US" dirty="0"/>
              <a:t>注意：假定每条记录前用一个字节指明该记录的长度。</a:t>
            </a:r>
          </a:p>
          <a:p>
            <a:pPr lvl="0"/>
            <a:r>
              <a:rPr lang="zh-CN" altLang="en-US" dirty="0"/>
              <a:t>变长记录文件只能顺序查找，效率较低。为此，可以建立一张索引表，为主文件的每个记录在索引表中分别设置一个表项，包含指向变长记录的指针（即逻辑起始地址）和记录长度，索引表按关键字排序，因此其本身也是一个定长记录的顺序文件。这样就把对变长记录顺序文件的检索转变为对定长记录索引文件的随机检索，从而加快了记录的检索速度。如图所示为索引文件示意图。</a:t>
            </a:r>
            <a:endParaRPr lang="zh-CN" dirty="0"/>
          </a:p>
        </p:txBody>
      </p:sp>
    </p:spTree>
    <p:extLst>
      <p:ext uri="{BB962C8B-B14F-4D97-AF65-F5344CB8AC3E}">
        <p14:creationId xmlns:p14="http://schemas.microsoft.com/office/powerpoint/2010/main" val="638749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索引顺序文件</a:t>
            </a:r>
          </a:p>
          <a:p>
            <a:pPr lvl="0"/>
            <a:r>
              <a:rPr lang="zh-CN" altLang="en-US" dirty="0"/>
              <a:t>索引顺序文件是顺序文件和索引文件的结合。最简单的索引顺序文件只使用了一级索引。索引顺序文件将顺序文件中的所有记录分为若干组，为顺序文件建立一张索引表，在索引表中为每组中的第一条记录建立一个索引项，其中含有该记录的关键字值和指向该记录的指针。</a:t>
            </a:r>
          </a:p>
          <a:p>
            <a:pPr lvl="0"/>
            <a:r>
              <a:rPr lang="zh-CN" altLang="en-US" dirty="0"/>
              <a:t>如图所示，主文件名包含姓名和其他数据项。姓名为关键字，索引表中为每组的第一条记录（不是每条记录）的关键字值，用指针指向主文件中该记录的起始位置。索引表只包含关键字和指针两个数据项，所有姓名关键字递增排列。主文件中记录分组排列，同一个组中的关键字可以无序，但组与组之间的关键字必须有序。查找一条记录时，首先通过索引表找到其所在的组，然后在该组中使用顺序查找，就能很快地找到记录。</a:t>
            </a:r>
            <a:endParaRPr lang="en-US" altLang="zh-CN" dirty="0"/>
          </a:p>
          <a:p>
            <a:pPr lvl="0"/>
            <a:r>
              <a:rPr lang="zh-CN" altLang="en-US" dirty="0"/>
              <a:t>对于含有</a:t>
            </a:r>
            <a:r>
              <a:rPr lang="en-US" altLang="zh-CN" dirty="0"/>
              <a:t>N</a:t>
            </a:r>
            <a:r>
              <a:rPr lang="zh-CN" altLang="en-US" dirty="0"/>
              <a:t>条记录的顺序文件，查找某关键字的记录时，平均需要查找</a:t>
            </a:r>
            <a:r>
              <a:rPr lang="en-US" altLang="zh-CN" dirty="0"/>
              <a:t>N/2</a:t>
            </a:r>
            <a:r>
              <a:rPr lang="zh-CN" altLang="en-US" dirty="0"/>
              <a:t>次。在索引顺序文件中，假设</a:t>
            </a:r>
            <a:r>
              <a:rPr lang="en-US" altLang="zh-CN" dirty="0"/>
              <a:t>N</a:t>
            </a:r>
            <a:r>
              <a:rPr lang="zh-CN" altLang="en-US" dirty="0"/>
              <a:t>条记录分为√</a:t>
            </a:r>
            <a:r>
              <a:rPr lang="en-US" altLang="zh-CN" dirty="0"/>
              <a:t>N</a:t>
            </a:r>
            <a:r>
              <a:rPr lang="zh-CN" altLang="en-US" dirty="0"/>
              <a:t>组，索引表中有√</a:t>
            </a:r>
            <a:r>
              <a:rPr lang="en-US" altLang="zh-CN" dirty="0"/>
              <a:t>N</a:t>
            </a:r>
            <a:r>
              <a:rPr lang="zh-CN" altLang="en-US" dirty="0"/>
              <a:t>个表项，每组有√</a:t>
            </a:r>
            <a:r>
              <a:rPr lang="en-US" altLang="zh-CN" dirty="0"/>
              <a:t>N</a:t>
            </a:r>
            <a:r>
              <a:rPr lang="zh-CN" altLang="en-US" dirty="0"/>
              <a:t>条记录，在查找某关键字的记录时，先顺序查找索引表，需要查找√</a:t>
            </a:r>
            <a:r>
              <a:rPr lang="en-US" altLang="zh-CN" dirty="0"/>
              <a:t>N/2</a:t>
            </a:r>
            <a:r>
              <a:rPr lang="zh-CN" altLang="en-US" dirty="0"/>
              <a:t>次，然后在主文件中对应的组中顺序查找，也需要查找√</a:t>
            </a:r>
            <a:r>
              <a:rPr lang="en-US" altLang="zh-CN" dirty="0"/>
              <a:t>N/2</a:t>
            </a:r>
            <a:r>
              <a:rPr lang="zh-CN" altLang="en-US" dirty="0"/>
              <a:t>次，因此共需查找√</a:t>
            </a:r>
            <a:r>
              <a:rPr lang="en-US" altLang="zh-CN" dirty="0"/>
              <a:t>N/2+√N/2=√N</a:t>
            </a:r>
            <a:r>
              <a:rPr lang="zh-CN" altLang="en-US" dirty="0"/>
              <a:t>次。显然，索引顺序文件提高了查找效率，若记录数很多，则可采用两级或多级索引。这种方式就是数据结构中的分块查找。</a:t>
            </a:r>
          </a:p>
          <a:p>
            <a:pPr lvl="0"/>
            <a:r>
              <a:rPr lang="zh-CN" altLang="en-US" dirty="0"/>
              <a:t>索引文件和索引顺序文件都提高了存取的速度，但因为配置索引表而增加了存储空间。</a:t>
            </a:r>
            <a:endParaRPr lang="zh-CN" dirty="0"/>
          </a:p>
        </p:txBody>
      </p:sp>
    </p:spTree>
    <p:extLst>
      <p:ext uri="{BB962C8B-B14F-4D97-AF65-F5344CB8AC3E}">
        <p14:creationId xmlns:p14="http://schemas.microsoft.com/office/powerpoint/2010/main" val="1192650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给定记录的键值或通过散列函数转换的键值直接决定记录的物理地址。这种映射结构不同于顺序文件或索引文件，没有顺序的特性。</a:t>
            </a:r>
          </a:p>
          <a:p>
            <a:pPr lvl="0"/>
            <a:r>
              <a:rPr lang="zh-CN" altLang="en-US" dirty="0"/>
              <a:t>散列文件有很高的存取速度，但是会引起冲突，即不同关键字的散列函数值相同。</a:t>
            </a:r>
          </a:p>
          <a:p>
            <a:pPr lvl="0"/>
            <a:r>
              <a:rPr lang="zh-CN" altLang="en-US" dirty="0"/>
              <a:t>复习了数据结构的读者读到这里时，会有这样的感觉：有结构文件逻辑上的组织，是为在文件中查找数据服务的</a:t>
            </a:r>
            <a:r>
              <a:rPr lang="en-US" altLang="zh-CN" dirty="0"/>
              <a:t>(</a:t>
            </a:r>
            <a:r>
              <a:rPr lang="zh-CN" altLang="en-US" dirty="0"/>
              <a:t>顺序查找、索引查找、索引顺序查找、哈希查找</a:t>
            </a:r>
            <a:r>
              <a:rPr lang="en-US" altLang="zh-CN" dirty="0"/>
              <a:t>)</a:t>
            </a:r>
            <a:r>
              <a:rPr lang="zh-CN" altLang="en-US" dirty="0"/>
              <a:t>。</a:t>
            </a:r>
          </a:p>
          <a:p>
            <a:pPr lvl="0"/>
            <a:r>
              <a:rPr lang="zh-CN" altLang="en-US" dirty="0"/>
              <a:t>前面介绍了文件内部的逻辑结构，下面介绍多个文件之间在逻辑上是如何组织的，这实际上是文件“外部”的逻辑结构的问题。</a:t>
            </a:r>
            <a:endParaRPr lang="zh-CN" dirty="0"/>
          </a:p>
        </p:txBody>
      </p:sp>
    </p:spTree>
    <p:extLst>
      <p:ext uri="{BB962C8B-B14F-4D97-AF65-F5344CB8AC3E}">
        <p14:creationId xmlns:p14="http://schemas.microsoft.com/office/powerpoint/2010/main" val="1169667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前面说过，文件实际上是一种抽象数据类型，我们要研究它的逻辑结构、物理结构，以及关于它的一系列操作。文件的物理结构就是研究文件的实现，即文件数据在物理存储设备上是如何分布和组织的。同一个问题有两个方面的回答：一是文件的分配方式，讲的是对磁盘非空闲块的管理：二是文件存储空间管理，讲的是对磁盘空闲块的管理。</a:t>
            </a:r>
            <a:endParaRPr lang="en-US" altLang="zh-CN" dirty="0"/>
          </a:p>
          <a:p>
            <a:pPr lvl="0"/>
            <a:r>
              <a:rPr lang="zh-CN" altLang="en-US" dirty="0"/>
              <a:t>文件分配对应于文件的物理结构，是指如何为文件分配磁盘块。常用的磁盘空间分配方法有三种：连续分配、链接分配和索引分配。</a:t>
            </a:r>
          </a:p>
          <a:p>
            <a:pPr lvl="0"/>
            <a:r>
              <a:rPr lang="en-US" altLang="zh-CN" dirty="0"/>
              <a:t>1.</a:t>
            </a:r>
            <a:r>
              <a:rPr lang="zh-CN" altLang="en-US" dirty="0"/>
              <a:t>连续分配</a:t>
            </a:r>
          </a:p>
          <a:p>
            <a:pPr lvl="0"/>
            <a:r>
              <a:rPr lang="zh-CN" altLang="en-US" dirty="0"/>
              <a:t>连续分配方法要求每个文件在磁盘上占有一组连续的块，如图</a:t>
            </a:r>
            <a:r>
              <a:rPr lang="en-US" altLang="zh-CN" dirty="0"/>
              <a:t>4.6</a:t>
            </a:r>
            <a:r>
              <a:rPr lang="zh-CN" altLang="en-US" dirty="0"/>
              <a:t>所示。磁盘地址定义了磁盘上的一个线性排序，这种排序使作业访问磁盘时需要的寻道数和寻道时间最小。</a:t>
            </a:r>
            <a:endParaRPr lang="en-US" altLang="zh-CN" dirty="0"/>
          </a:p>
          <a:p>
            <a:pPr lvl="0"/>
            <a:r>
              <a:rPr lang="zh-CN" altLang="en-US" dirty="0"/>
              <a:t>采用连续分配时，逻辑文件中的记录顺序也存储在相邻接的块中。一个文件的目录项中“文件物理地址”字段应包括第一块的地址和该文件所分配区域的长度，若文件长块并从位置</a:t>
            </a:r>
            <a:r>
              <a:rPr lang="en-US" altLang="zh-CN" dirty="0"/>
              <a:t>b</a:t>
            </a:r>
            <a:r>
              <a:rPr lang="zh-CN" altLang="en-US" dirty="0"/>
              <a:t>开始，则该文件将占有块</a:t>
            </a:r>
            <a:r>
              <a:rPr lang="en-US" altLang="zh-CN" dirty="0"/>
              <a:t>b,b+1,b+2,…,b+n-1.</a:t>
            </a:r>
          </a:p>
          <a:p>
            <a:pPr lvl="0"/>
            <a:r>
              <a:rPr lang="zh-CN" altLang="en-US" dirty="0"/>
              <a:t>连续分配支持顺序访问和直接访问。优点是实现简单、存取速度快。缺点是：①文件长度不宜动态增加，因为一个文件末尾后的盘块可能已分配给其他文件，一旦需要增加，就需要大量移动盘块。②为保持文件的有序性，删除和插入记录时，需要对相邻的记录做物理上的移动，还会动态改变文件的长度。③反复增删文件后会产生外部碎片（与内存管理分配方式中的碎片相似）。④很难确定一个文件需要的空间大小，因而只适用于长度固定的文件。</a:t>
            </a:r>
            <a:endParaRPr lang="zh-CN" dirty="0"/>
          </a:p>
        </p:txBody>
      </p:sp>
    </p:spTree>
    <p:extLst>
      <p:ext uri="{BB962C8B-B14F-4D97-AF65-F5344CB8AC3E}">
        <p14:creationId xmlns:p14="http://schemas.microsoft.com/office/powerpoint/2010/main" val="83078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链接分配</a:t>
            </a:r>
          </a:p>
          <a:p>
            <a:pPr lvl="0"/>
            <a:r>
              <a:rPr lang="zh-CN" altLang="en-US" dirty="0"/>
              <a:t>链接分配是一种采用离散分配的方式。它消除了磁盘的外部碎片，提高了磁盘的利用率。可以动态地为文件分配盘块，因此无须事先知道文件的大小。此外，对文件的插入、删除和修改也非常方便。链接分配又可分为隐式链接和显式链接两种形式。</a:t>
            </a:r>
          </a:p>
        </p:txBody>
      </p:sp>
    </p:spTree>
    <p:extLst>
      <p:ext uri="{BB962C8B-B14F-4D97-AF65-F5344CB8AC3E}">
        <p14:creationId xmlns:p14="http://schemas.microsoft.com/office/powerpoint/2010/main" val="2584894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隐式链接</a:t>
            </a:r>
          </a:p>
          <a:p>
            <a:pPr lvl="0"/>
            <a:r>
              <a:rPr lang="zh-CN" altLang="en-US" dirty="0"/>
              <a:t>隐式链接方式如图所示。目录项中含有文件第一块的指针和最后一块的指针。每个文件对应一个磁盘块的链表：磁盘块分布在磁盘的任何地方，除最后一个盘块外，每个盘块都含有指向文件下一个盘块的指针，这些指针对用户是透明的。</a:t>
            </a:r>
            <a:endParaRPr lang="en-US" altLang="zh-CN" dirty="0"/>
          </a:p>
          <a:p>
            <a:pPr lvl="0"/>
            <a:r>
              <a:rPr lang="zh-CN" altLang="en-US" dirty="0"/>
              <a:t>隐式链接的缺点是只适合顺序访问，若要访问文件的第个盘块，则只能从第</a:t>
            </a:r>
            <a:r>
              <a:rPr lang="en-US" altLang="zh-CN" dirty="0"/>
              <a:t>1</a:t>
            </a:r>
            <a:r>
              <a:rPr lang="zh-CN" altLang="en-US" dirty="0"/>
              <a:t>个盘块开始通过盘块指针顺序查找到第</a:t>
            </a:r>
            <a:r>
              <a:rPr lang="en-US" altLang="zh-CN" dirty="0" err="1"/>
              <a:t>i</a:t>
            </a:r>
            <a:r>
              <a:rPr lang="zh-CN" altLang="en-US" dirty="0"/>
              <a:t>块，随机访问效率很低。隐式链接的稳定性也是一个问题，系统在运行过程中由于软件或硬件错误导致链表中的指针丢失或损坏，会导致文件数据的丢失。通常的解决方案是，将几个盘块组成簇</a:t>
            </a:r>
            <a:r>
              <a:rPr lang="en-US" altLang="zh-CN" dirty="0"/>
              <a:t>(cluster),</a:t>
            </a:r>
            <a:r>
              <a:rPr lang="zh-CN" altLang="en-US" dirty="0"/>
              <a:t>按簇而不按块来分配，可以成倍地减少查找时间。比如一簇为</a:t>
            </a:r>
            <a:r>
              <a:rPr lang="en-US" altLang="zh-CN" dirty="0"/>
              <a:t>4</a:t>
            </a:r>
            <a:r>
              <a:rPr lang="zh-CN" altLang="en-US" dirty="0"/>
              <a:t>块，这样，指针所占的磁盘空间比例也要小得多。这种方法的代价是增加了内部碎片。簇可以改善许多算法的磁盘访问时间，因此应用于大多数操作系统。</a:t>
            </a:r>
            <a:endParaRPr lang="en-US" altLang="zh-CN" dirty="0"/>
          </a:p>
          <a:p>
            <a:pPr lvl="0"/>
            <a:endParaRPr lang="en-US" altLang="zh-CN" dirty="0"/>
          </a:p>
          <a:p>
            <a:pPr lvl="0"/>
            <a:r>
              <a:rPr lang="en-US" altLang="zh-CN" dirty="0"/>
              <a:t>(2)</a:t>
            </a:r>
            <a:r>
              <a:rPr lang="zh-CN" altLang="en-US" dirty="0"/>
              <a:t>显式链接</a:t>
            </a:r>
          </a:p>
          <a:p>
            <a:pPr lvl="0"/>
            <a:r>
              <a:rPr lang="zh-CN" altLang="en-US" dirty="0"/>
              <a:t>显式链接是指把用于链接文件各物理块的指针，从每个物理块的末尾中提取出来，显式地存放在内存的一张链接表中。该表在整个磁盘中仅设置一张，称为文件分配表（</a:t>
            </a:r>
            <a:r>
              <a:rPr lang="en-US" altLang="zh-CN" dirty="0"/>
              <a:t>File Allocation Table, FAT)</a:t>
            </a:r>
            <a:r>
              <a:rPr lang="zh-CN" altLang="en-US" dirty="0"/>
              <a:t>。每个表项中存放链接指针，即下一个盘块号。文件的第一个盘块号记录在目录项“物理地址”字段中，后续的盘块可通过查</a:t>
            </a:r>
            <a:r>
              <a:rPr lang="en-US" altLang="zh-CN" dirty="0"/>
              <a:t>FAT</a:t>
            </a:r>
            <a:r>
              <a:rPr lang="zh-CN" altLang="en-US" dirty="0"/>
              <a:t>找到。例如，某磁盘共有</a:t>
            </a:r>
            <a:r>
              <a:rPr lang="en-US" altLang="zh-CN" dirty="0"/>
              <a:t>100</a:t>
            </a:r>
            <a:r>
              <a:rPr lang="zh-CN" altLang="en-US" dirty="0"/>
              <a:t>个磁盘块，存放了两个文件：文件“</a:t>
            </a:r>
            <a:r>
              <a:rPr lang="en-US" altLang="zh-CN" dirty="0" err="1"/>
              <a:t>aaa</a:t>
            </a:r>
            <a:r>
              <a:rPr lang="en-US" altLang="zh-CN" dirty="0"/>
              <a:t>”</a:t>
            </a:r>
            <a:r>
              <a:rPr lang="zh-CN" altLang="en-US" dirty="0"/>
              <a:t>占三个盘块，依次是</a:t>
            </a:r>
            <a:r>
              <a:rPr lang="en-US" altLang="zh-CN" dirty="0"/>
              <a:t>2→8→5</a:t>
            </a:r>
            <a:r>
              <a:rPr lang="zh-CN" altLang="en-US" dirty="0"/>
              <a:t>：文件“</a:t>
            </a:r>
            <a:r>
              <a:rPr lang="en-US" altLang="zh-CN" dirty="0" err="1"/>
              <a:t>bbb</a:t>
            </a:r>
            <a:r>
              <a:rPr lang="en-US" altLang="zh-CN" dirty="0"/>
              <a:t>”</a:t>
            </a:r>
            <a:r>
              <a:rPr lang="zh-CN" altLang="en-US" dirty="0"/>
              <a:t>占两个盘块，依次是</a:t>
            </a:r>
            <a:r>
              <a:rPr lang="en-US" altLang="zh-CN" dirty="0"/>
              <a:t>7→1</a:t>
            </a:r>
            <a:r>
              <a:rPr lang="zh-CN" altLang="en-US" dirty="0"/>
              <a:t>。其余盘块都是空闲</a:t>
            </a:r>
          </a:p>
          <a:p>
            <a:pPr lvl="0"/>
            <a:r>
              <a:rPr lang="zh-CN" altLang="en-US" dirty="0"/>
              <a:t>盘块，则该磁盘的</a:t>
            </a:r>
            <a:r>
              <a:rPr lang="en-US" altLang="zh-CN" dirty="0"/>
              <a:t>FAT</a:t>
            </a:r>
            <a:r>
              <a:rPr lang="zh-CN" altLang="en-US" dirty="0"/>
              <a:t>表如图所示。</a:t>
            </a:r>
            <a:endParaRPr lang="en-US" altLang="zh-CN" dirty="0"/>
          </a:p>
          <a:p>
            <a:pPr lvl="0"/>
            <a:endParaRPr lang="en-US" altLang="zh-CN" dirty="0"/>
          </a:p>
          <a:p>
            <a:pPr lvl="0"/>
            <a:r>
              <a:rPr lang="zh-CN" altLang="en-US" dirty="0"/>
              <a:t>不难看出，文件分配表</a:t>
            </a:r>
            <a:r>
              <a:rPr lang="en-US" altLang="zh-CN" dirty="0"/>
              <a:t>FAT</a:t>
            </a:r>
            <a:r>
              <a:rPr lang="zh-CN" altLang="en-US" dirty="0"/>
              <a:t>的表项与全部磁盘块一一对应，并且可以用一个特殊的数字</a:t>
            </a:r>
            <a:r>
              <a:rPr lang="en-US" altLang="zh-CN" dirty="0"/>
              <a:t>-1</a:t>
            </a:r>
            <a:r>
              <a:rPr lang="zh-CN" altLang="en-US" dirty="0"/>
              <a:t>表示文件的最后一块，可以用</a:t>
            </a:r>
            <a:r>
              <a:rPr lang="en-US" altLang="zh-CN" dirty="0"/>
              <a:t>-2</a:t>
            </a:r>
            <a:r>
              <a:rPr lang="zh-CN" altLang="en-US" dirty="0"/>
              <a:t>表示这个磁盘块是空闲的（当然也可指定为</a:t>
            </a:r>
            <a:r>
              <a:rPr lang="en-US" altLang="zh-CN" dirty="0"/>
              <a:t>-3</a:t>
            </a:r>
            <a:r>
              <a:rPr lang="zh-CN" altLang="en-US" dirty="0"/>
              <a:t>，</a:t>
            </a:r>
            <a:r>
              <a:rPr lang="en-US" altLang="zh-CN" dirty="0"/>
              <a:t>-4)</a:t>
            </a:r>
            <a:r>
              <a:rPr lang="zh-CN" altLang="en-US" dirty="0"/>
              <a:t>。因此，</a:t>
            </a:r>
            <a:r>
              <a:rPr lang="en-US" altLang="zh-CN" dirty="0"/>
              <a:t>FAT</a:t>
            </a:r>
            <a:r>
              <a:rPr lang="zh-CN" altLang="en-US" dirty="0"/>
              <a:t>不仅记录了文件各块之间的先后链接关系，同时还标记了空闲的磁盘块，操作系统也可以通过</a:t>
            </a:r>
            <a:r>
              <a:rPr lang="en-US" altLang="zh-CN" dirty="0"/>
              <a:t>FAT</a:t>
            </a:r>
            <a:r>
              <a:rPr lang="zh-CN" altLang="en-US" dirty="0"/>
              <a:t>对文件存储空间进行管理。当某进程请求操作系统分配一个磁盘块时，操作系统只需从</a:t>
            </a:r>
            <a:r>
              <a:rPr lang="en-US" altLang="zh-CN" dirty="0"/>
              <a:t>FAT</a:t>
            </a:r>
            <a:r>
              <a:rPr lang="zh-CN" altLang="en-US" dirty="0"/>
              <a:t>中找到</a:t>
            </a:r>
            <a:r>
              <a:rPr lang="en-US" altLang="zh-CN" dirty="0"/>
              <a:t>-2</a:t>
            </a:r>
            <a:r>
              <a:rPr lang="zh-CN" altLang="en-US" dirty="0"/>
              <a:t>的表项，并将对应的磁盘块分配给进程即可。</a:t>
            </a:r>
            <a:endParaRPr lang="en-US" altLang="zh-CN" dirty="0"/>
          </a:p>
          <a:p>
            <a:pPr lvl="0"/>
            <a:endParaRPr lang="en-US" altLang="zh-CN" dirty="0"/>
          </a:p>
          <a:p>
            <a:pPr lvl="0"/>
            <a:r>
              <a:rPr lang="en-US" altLang="zh-CN" dirty="0"/>
              <a:t>FAT</a:t>
            </a:r>
            <a:r>
              <a:rPr lang="zh-CN" altLang="en-US" dirty="0"/>
              <a:t>表在系统启动时就会被读入内存，因此查找记录的过程是在内存中进行的，因而不仅显著地提高了检索速度，而且明显减少了访问磁盘的次数。</a:t>
            </a:r>
          </a:p>
        </p:txBody>
      </p:sp>
    </p:spTree>
    <p:extLst>
      <p:ext uri="{BB962C8B-B14F-4D97-AF65-F5344CB8AC3E}">
        <p14:creationId xmlns:p14="http://schemas.microsoft.com/office/powerpoint/2010/main" val="3113789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索引分配</a:t>
            </a:r>
          </a:p>
          <a:p>
            <a:pPr lvl="0"/>
            <a:r>
              <a:rPr lang="zh-CN" altLang="en-US" dirty="0"/>
              <a:t>链接分配解决了连续分配的外部碎片和文件大小管理的问题。但依然存在问题：①链接分配不能有效支持直接访问</a:t>
            </a:r>
            <a:r>
              <a:rPr lang="en-US" altLang="zh-CN" dirty="0"/>
              <a:t>(FAT</a:t>
            </a:r>
            <a:r>
              <a:rPr lang="zh-CN" altLang="en-US" dirty="0"/>
              <a:t>除外</a:t>
            </a:r>
            <a:r>
              <a:rPr lang="en-US" altLang="zh-CN" dirty="0"/>
              <a:t>)</a:t>
            </a:r>
            <a:r>
              <a:rPr lang="zh-CN" altLang="en-US" dirty="0"/>
              <a:t>：②</a:t>
            </a:r>
            <a:r>
              <a:rPr lang="en-US" altLang="zh-CN" dirty="0"/>
              <a:t>FAT</a:t>
            </a:r>
            <a:r>
              <a:rPr lang="zh-CN" altLang="en-US" dirty="0"/>
              <a:t>需要占用较大的内存空间。事实上，在打开某个文件时，只需将该文件对应盘块的编号调入内存即可，完全没有必要将整个</a:t>
            </a:r>
            <a:r>
              <a:rPr lang="en-US" altLang="zh-CN" dirty="0"/>
              <a:t>FAT</a:t>
            </a:r>
            <a:r>
              <a:rPr lang="zh-CN" altLang="en-US" dirty="0"/>
              <a:t>调入内存。为此，索引分配将每个文件所有的盘块号都集中放在一起构成索引块（表），如图所示。</a:t>
            </a:r>
            <a:endParaRPr lang="en-US" altLang="zh-CN" dirty="0"/>
          </a:p>
          <a:p>
            <a:pPr lvl="0"/>
            <a:endParaRPr lang="en-US" altLang="zh-CN" dirty="0"/>
          </a:p>
          <a:p>
            <a:pPr lvl="0"/>
            <a:r>
              <a:rPr lang="zh-CN" altLang="en-US" dirty="0"/>
              <a:t>每个文件都有其索引块，这是一个磁盘块地址的数组。索引块的第</a:t>
            </a:r>
            <a:r>
              <a:rPr lang="en-US" altLang="zh-CN" dirty="0" err="1"/>
              <a:t>i</a:t>
            </a:r>
            <a:r>
              <a:rPr lang="zh-CN" altLang="en-US" dirty="0"/>
              <a:t>个条目指向文件的第</a:t>
            </a:r>
            <a:r>
              <a:rPr lang="en-US" altLang="zh-CN" dirty="0" err="1"/>
              <a:t>i</a:t>
            </a:r>
            <a:r>
              <a:rPr lang="zh-CN" altLang="en-US" dirty="0"/>
              <a:t>个块。要读第</a:t>
            </a:r>
            <a:r>
              <a:rPr lang="en-US" altLang="zh-CN" dirty="0" err="1"/>
              <a:t>i</a:t>
            </a:r>
            <a:r>
              <a:rPr lang="zh-CN" altLang="en-US" dirty="0"/>
              <a:t>块，通过索引块的第</a:t>
            </a:r>
            <a:r>
              <a:rPr lang="en-US" altLang="zh-CN" dirty="0" err="1"/>
              <a:t>i</a:t>
            </a:r>
            <a:r>
              <a:rPr lang="zh-CN" altLang="en-US" dirty="0"/>
              <a:t>个条目的指针来查找和读入所需的块。</a:t>
            </a:r>
          </a:p>
          <a:p>
            <a:pPr lvl="0"/>
            <a:r>
              <a:rPr lang="zh-CN" altLang="en-US" dirty="0"/>
              <a:t>索引分配的优点是支持直接访问，且没有外部碎片问题。缺点是由于索引块的分配，增加了系统存储空间的开销。索引块的大小是一个重要的问题，每个文件必须有一个索引块，因此索引块应尽可能小，但索引块太小就无法支持大文件。可以采用以下机制来处理这个问题。</a:t>
            </a:r>
          </a:p>
          <a:p>
            <a:pPr lvl="0"/>
            <a:r>
              <a:rPr lang="en-US" altLang="zh-CN" dirty="0"/>
              <a:t>·</a:t>
            </a:r>
            <a:r>
              <a:rPr lang="zh-CN" altLang="en-US" dirty="0"/>
              <a:t>链接方案。一个索引块通常为一个磁盘块，因此它本身能直接读写。为了支持大文件，可以将多个索引块链接起来。</a:t>
            </a:r>
          </a:p>
          <a:p>
            <a:pPr lvl="0"/>
            <a:r>
              <a:rPr lang="en-US" altLang="zh-CN" dirty="0"/>
              <a:t>·</a:t>
            </a:r>
            <a:r>
              <a:rPr lang="zh-CN" altLang="en-US" dirty="0"/>
              <a:t>多层索引。通过第一级索引块指向一组第二级的索引块，第二级索引块再指向文件块。查找时，通过第一级索引查找第二级索引，再采用这个第二级索引查找所需数据块。这种方法根据最大文件大小，可以继续到第三级或第四级。例如，</a:t>
            </a:r>
            <a:r>
              <a:rPr lang="en-US" altLang="zh-CN" dirty="0"/>
              <a:t>4096B</a:t>
            </a:r>
            <a:r>
              <a:rPr lang="zh-CN" altLang="en-US" dirty="0"/>
              <a:t>的块，能在索引块中存入</a:t>
            </a:r>
            <a:r>
              <a:rPr lang="en-US" altLang="zh-CN" dirty="0"/>
              <a:t>1024</a:t>
            </a:r>
            <a:r>
              <a:rPr lang="zh-CN" altLang="en-US" dirty="0"/>
              <a:t>个</a:t>
            </a:r>
            <a:r>
              <a:rPr lang="en-US" altLang="zh-CN" dirty="0"/>
              <a:t>4B</a:t>
            </a:r>
            <a:r>
              <a:rPr lang="zh-CN" altLang="en-US" dirty="0"/>
              <a:t>的指针。两级索引支持</a:t>
            </a:r>
            <a:r>
              <a:rPr lang="en-US" altLang="zh-CN" dirty="0"/>
              <a:t>1048576</a:t>
            </a:r>
            <a:r>
              <a:rPr lang="zh-CN" altLang="en-US" dirty="0"/>
              <a:t>个数据块，即支持最大文件为</a:t>
            </a:r>
            <a:r>
              <a:rPr lang="en-US" altLang="zh-CN" dirty="0"/>
              <a:t>4GB.</a:t>
            </a:r>
          </a:p>
          <a:p>
            <a:pPr lvl="0"/>
            <a:r>
              <a:rPr lang="en-US" altLang="zh-CN" dirty="0"/>
              <a:t>·</a:t>
            </a:r>
            <a:r>
              <a:rPr lang="zh-CN" altLang="en-US" dirty="0"/>
              <a:t>混合索引。将多种索引分配方式相结合的分配方式。例如，系统既采用直接地址，又采用单级索引分配方式或两级索引分配方式。该内容为高频考点，下面用一节专门介绍。</a:t>
            </a:r>
          </a:p>
          <a:p>
            <a:pPr lvl="0"/>
            <a:r>
              <a:rPr lang="zh-CN" altLang="en-US" dirty="0"/>
              <a:t>此外，访问文件需两次访问外存，先读取索引块的内容，然后访问具体的磁盘块，因而降低了文件的存取速度。为了解决这一问题，通常将文件的索引块读入内存，以提高访问速度。</a:t>
            </a:r>
            <a:endParaRPr lang="zh-CN" dirty="0"/>
          </a:p>
        </p:txBody>
      </p:sp>
    </p:spTree>
    <p:extLst>
      <p:ext uri="{BB962C8B-B14F-4D97-AF65-F5344CB8AC3E}">
        <p14:creationId xmlns:p14="http://schemas.microsoft.com/office/powerpoint/2010/main" val="2738117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混合索引分配</a:t>
            </a:r>
          </a:p>
          <a:p>
            <a:pPr lvl="0"/>
            <a:r>
              <a:rPr lang="zh-CN" altLang="en-US" dirty="0"/>
              <a:t>为了能够较全面地照顾到小型、中型、大型和特大型文件，可采用混合索引分配方式。对于小文件，为了提高对众多小文件的访问速度，最好能将它们的每个盘块地址直接放入</a:t>
            </a:r>
            <a:r>
              <a:rPr lang="en-US" altLang="zh-CN" dirty="0"/>
              <a:t>FCB,</a:t>
            </a:r>
            <a:r>
              <a:rPr lang="zh-CN" altLang="en-US" dirty="0"/>
              <a:t>这样就可以直接从</a:t>
            </a:r>
            <a:r>
              <a:rPr lang="en-US" altLang="zh-CN" dirty="0"/>
              <a:t>FCB</a:t>
            </a:r>
            <a:r>
              <a:rPr lang="zh-CN" altLang="en-US" dirty="0"/>
              <a:t>中获得该文件的盘块地址，即为直接寻址。对于中型文件，可以采用单级索引方式，需要先从</a:t>
            </a:r>
            <a:r>
              <a:rPr lang="en-US" altLang="zh-CN" dirty="0"/>
              <a:t>FCB</a:t>
            </a:r>
            <a:r>
              <a:rPr lang="zh-CN" altLang="en-US" dirty="0"/>
              <a:t>中找到该文件的索引表，从中获得该文件的盘块地址，即为一次间址。对于大型或特大型文件，可以采用两级和三级索引分配方式。</a:t>
            </a:r>
            <a:r>
              <a:rPr lang="en-US" altLang="zh-CN" dirty="0"/>
              <a:t>UNIX</a:t>
            </a:r>
            <a:r>
              <a:rPr lang="zh-CN" altLang="en-US" dirty="0"/>
              <a:t>系统采用的就是这种分配方式，在其索引结点中，共设有</a:t>
            </a:r>
            <a:r>
              <a:rPr lang="en-US" altLang="zh-CN" dirty="0"/>
              <a:t>13</a:t>
            </a:r>
            <a:r>
              <a:rPr lang="zh-CN" altLang="en-US" dirty="0"/>
              <a:t>个地址项，即</a:t>
            </a:r>
            <a:r>
              <a:rPr lang="en-US" altLang="zh-CN" dirty="0" err="1"/>
              <a:t>i.addr</a:t>
            </a:r>
            <a:r>
              <a:rPr lang="en-US" altLang="zh-CN" dirty="0"/>
              <a:t>(0)~</a:t>
            </a:r>
            <a:r>
              <a:rPr lang="en-US" altLang="zh-CN" dirty="0" err="1"/>
              <a:t>i.addr</a:t>
            </a:r>
            <a:r>
              <a:rPr lang="en-US" altLang="zh-CN" dirty="0"/>
              <a:t>(12),</a:t>
            </a:r>
            <a:r>
              <a:rPr lang="zh-CN" altLang="en-US" dirty="0"/>
              <a:t>如图所示。</a:t>
            </a:r>
            <a:endParaRPr lang="en-US" altLang="zh-CN" dirty="0"/>
          </a:p>
          <a:p>
            <a:pPr lvl="0"/>
            <a:endParaRPr lang="en-US" altLang="zh-CN" dirty="0"/>
          </a:p>
          <a:p>
            <a:pPr lvl="0"/>
            <a:r>
              <a:rPr lang="en-US" altLang="zh-CN" dirty="0"/>
              <a:t>1)</a:t>
            </a:r>
            <a:r>
              <a:rPr lang="zh-CN" altLang="en-US" dirty="0"/>
              <a:t>直接地址。为了提高对文件的检索速度，在索引结点中可设置</a:t>
            </a:r>
            <a:r>
              <a:rPr lang="en-US" altLang="zh-CN" dirty="0"/>
              <a:t>10</a:t>
            </a:r>
            <a:r>
              <a:rPr lang="zh-CN" altLang="en-US" dirty="0"/>
              <a:t>个直接地址项，即用</a:t>
            </a:r>
            <a:r>
              <a:rPr lang="en-US" altLang="zh-CN" dirty="0" err="1"/>
              <a:t>i.addr</a:t>
            </a:r>
            <a:r>
              <a:rPr lang="en-US" altLang="zh-CN" dirty="0"/>
              <a:t>(0)~</a:t>
            </a:r>
            <a:r>
              <a:rPr lang="en-US" altLang="zh-CN" dirty="0" err="1"/>
              <a:t>i.addr</a:t>
            </a:r>
            <a:r>
              <a:rPr lang="en-US" altLang="zh-CN" dirty="0"/>
              <a:t>(9)</a:t>
            </a:r>
            <a:r>
              <a:rPr lang="zh-CN" altLang="en-US" dirty="0"/>
              <a:t>来存放直接地址，即文件数据盘块的盘块号。假如每个盘块的大小为</a:t>
            </a:r>
            <a:r>
              <a:rPr lang="en-US" altLang="zh-CN" dirty="0"/>
              <a:t>4KB,</a:t>
            </a:r>
            <a:r>
              <a:rPr lang="zh-CN" altLang="en-US" dirty="0"/>
              <a:t>当文件不大于</a:t>
            </a:r>
            <a:r>
              <a:rPr lang="en-US" altLang="zh-CN" dirty="0"/>
              <a:t>40KB</a:t>
            </a:r>
            <a:r>
              <a:rPr lang="zh-CN" altLang="en-US" dirty="0"/>
              <a:t>时，便可直接从索引结点中读出该文件的全部盘块号。</a:t>
            </a:r>
          </a:p>
          <a:p>
            <a:pPr lvl="0"/>
            <a:r>
              <a:rPr lang="en-US" altLang="zh-CN" dirty="0"/>
              <a:t>2)</a:t>
            </a:r>
            <a:r>
              <a:rPr lang="zh-CN" altLang="en-US" dirty="0"/>
              <a:t>一次间接地址。对于中、大型文件，只采用直接地址并不现实的。为此，可再利用索引结点中的地址项</a:t>
            </a:r>
            <a:r>
              <a:rPr lang="en-US" altLang="zh-CN" dirty="0" err="1"/>
              <a:t>i.addr</a:t>
            </a:r>
            <a:r>
              <a:rPr lang="en-US" altLang="zh-CN" dirty="0"/>
              <a:t>(10)</a:t>
            </a:r>
            <a:r>
              <a:rPr lang="zh-CN" altLang="en-US" dirty="0"/>
              <a:t>来提供一次间接地址。这种方式的实质就是一级索引分配方式。图中的一次间址块也就是索引块，系统将分配给文件的多个盘块号记入其中。在一次间址块中可存放</a:t>
            </a:r>
            <a:r>
              <a:rPr lang="en-US" altLang="zh-CN" dirty="0"/>
              <a:t>1024</a:t>
            </a:r>
            <a:r>
              <a:rPr lang="zh-CN" altLang="en-US" dirty="0"/>
              <a:t>个盘块号，因而允许文件长达</a:t>
            </a:r>
            <a:r>
              <a:rPr lang="en-US" altLang="zh-CN" dirty="0"/>
              <a:t>4MB.</a:t>
            </a:r>
          </a:p>
          <a:p>
            <a:pPr lvl="0"/>
            <a:r>
              <a:rPr lang="en-US" altLang="zh-CN" dirty="0"/>
              <a:t>3)</a:t>
            </a:r>
            <a:r>
              <a:rPr lang="zh-CN" altLang="en-US" dirty="0"/>
              <a:t>多次间接地址。当文件长度大于</a:t>
            </a:r>
            <a:r>
              <a:rPr lang="en-US" altLang="zh-CN" dirty="0"/>
              <a:t>4MB+40KB(</a:t>
            </a:r>
            <a:r>
              <a:rPr lang="zh-CN" altLang="en-US" dirty="0"/>
              <a:t>一次间接地址与</a:t>
            </a:r>
            <a:r>
              <a:rPr lang="en-US" altLang="zh-CN" dirty="0"/>
              <a:t>10</a:t>
            </a:r>
            <a:r>
              <a:rPr lang="zh-CN" altLang="en-US" dirty="0"/>
              <a:t>个直接地址项</a:t>
            </a:r>
            <a:r>
              <a:rPr lang="en-US" altLang="zh-CN" dirty="0"/>
              <a:t>)</a:t>
            </a:r>
            <a:r>
              <a:rPr lang="zh-CN" altLang="en-US" dirty="0"/>
              <a:t>时，系统还需采用二次间接地址分配方式。这时，用地址项</a:t>
            </a:r>
            <a:r>
              <a:rPr lang="en-US" altLang="zh-CN" dirty="0" err="1"/>
              <a:t>i.add</a:t>
            </a:r>
            <a:r>
              <a:rPr lang="en-US" altLang="zh-CN" dirty="0"/>
              <a:t>(11)</a:t>
            </a:r>
            <a:r>
              <a:rPr lang="zh-CN" altLang="en-US" dirty="0"/>
              <a:t>提供二次间接地址。该方式的实质是两级索引分配方式。系统此时在二次间址块中记入所有一次间址块的盘号。地址项</a:t>
            </a:r>
            <a:r>
              <a:rPr lang="en-US" altLang="zh-CN" dirty="0" err="1"/>
              <a:t>i.addr</a:t>
            </a:r>
            <a:r>
              <a:rPr lang="en-US" altLang="zh-CN" dirty="0"/>
              <a:t>(11)</a:t>
            </a:r>
            <a:r>
              <a:rPr lang="zh-CN" altLang="en-US" dirty="0"/>
              <a:t>作为二次间址块，允许文件最大长度可达</a:t>
            </a:r>
            <a:r>
              <a:rPr lang="en-US" altLang="zh-CN" dirty="0"/>
              <a:t>4GB</a:t>
            </a:r>
            <a:r>
              <a:rPr lang="zh-CN" altLang="en-US" dirty="0"/>
              <a:t>。同理，地址项</a:t>
            </a:r>
            <a:r>
              <a:rPr lang="en-US" altLang="zh-CN" dirty="0" err="1"/>
              <a:t>iaddr</a:t>
            </a:r>
            <a:r>
              <a:rPr lang="en-US" altLang="zh-CN" dirty="0"/>
              <a:t>(12)</a:t>
            </a:r>
            <a:r>
              <a:rPr lang="zh-CN" altLang="en-US" dirty="0"/>
              <a:t>作为三次间址块，其允许的文件最大长度可达</a:t>
            </a:r>
            <a:r>
              <a:rPr lang="en-US" altLang="zh-CN" dirty="0"/>
              <a:t>4TB</a:t>
            </a:r>
            <a:r>
              <a:rPr lang="zh-CN" altLang="en-US" dirty="0"/>
              <a:t>。</a:t>
            </a:r>
            <a:endParaRPr lang="zh-CN" dirty="0"/>
          </a:p>
        </p:txBody>
      </p:sp>
    </p:spTree>
    <p:extLst>
      <p:ext uri="{BB962C8B-B14F-4D97-AF65-F5344CB8AC3E}">
        <p14:creationId xmlns:p14="http://schemas.microsoft.com/office/powerpoint/2010/main" val="1996636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4.2.1</a:t>
            </a:r>
            <a:r>
              <a:rPr lang="zh-CN" altLang="en-US" dirty="0"/>
              <a:t>目录的基本概念</a:t>
            </a:r>
          </a:p>
          <a:p>
            <a:pPr lvl="0"/>
            <a:r>
              <a:rPr lang="en-US" altLang="zh-CN" dirty="0"/>
              <a:t>FCB</a:t>
            </a:r>
            <a:r>
              <a:rPr lang="zh-CN" altLang="en-US" dirty="0"/>
              <a:t>的有序集合称为文件目录，一个</a:t>
            </a:r>
            <a:r>
              <a:rPr lang="en-US" altLang="zh-CN" dirty="0"/>
              <a:t>FCB</a:t>
            </a:r>
            <a:r>
              <a:rPr lang="zh-CN" altLang="en-US" dirty="0"/>
              <a:t>就是一个文件目录项。与文件管理系统和文件集合相关联的是文件目录，它包含有关文件的属性、位置和所有权等。</a:t>
            </a:r>
          </a:p>
          <a:p>
            <a:pPr lvl="0"/>
            <a:r>
              <a:rPr lang="zh-CN" altLang="en-US" dirty="0"/>
              <a:t>首先来看目录管理的基本要求：从用户的角度看，目录在用户（应用程序）所需要的文件名和文件之间提供一种映射，所以目录管理要实现“按名存取”：目录存取的效率直接影响到系统的性能，所以要提高对目录的检索速度：在多用户系统中，应允许多个用户共享一个文件，因此目录还需要提供用于控制访问文件的信息。此外，应允许不同用户对不同文件采用相同的名字，以便于用户按自己的习惯给文件命名，目录管理通过树形结构来解决和实现。</a:t>
            </a:r>
            <a:endParaRPr lang="zh-CN" dirty="0"/>
          </a:p>
        </p:txBody>
      </p:sp>
    </p:spTree>
    <p:extLst>
      <p:ext uri="{BB962C8B-B14F-4D97-AF65-F5344CB8AC3E}">
        <p14:creationId xmlns:p14="http://schemas.microsoft.com/office/powerpoint/2010/main" val="1478755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4.2.2</a:t>
            </a:r>
            <a:r>
              <a:rPr lang="zh-CN" altLang="en-US" dirty="0"/>
              <a:t>目录结构</a:t>
            </a:r>
          </a:p>
          <a:p>
            <a:pPr lvl="0"/>
            <a:r>
              <a:rPr lang="en-US" altLang="zh-CN" dirty="0"/>
              <a:t>1.</a:t>
            </a:r>
            <a:r>
              <a:rPr lang="zh-CN" altLang="en-US" dirty="0"/>
              <a:t>单级目录结构</a:t>
            </a:r>
          </a:p>
          <a:p>
            <a:pPr lvl="0"/>
            <a:r>
              <a:rPr lang="zh-CN" altLang="en-US" dirty="0"/>
              <a:t>在整个文件系统中只建立一张目录表，每个文件占一个目录项，如图所示。</a:t>
            </a:r>
            <a:endParaRPr lang="en-US" altLang="zh-CN" dirty="0"/>
          </a:p>
          <a:p>
            <a:pPr lvl="0"/>
            <a:r>
              <a:rPr lang="zh-CN" altLang="en-US" dirty="0"/>
              <a:t>当访问一个文件时，先按文件名在该目录中查找到相应的</a:t>
            </a:r>
            <a:r>
              <a:rPr lang="en-US" altLang="zh-CN" dirty="0"/>
              <a:t>F℃B,</a:t>
            </a:r>
            <a:r>
              <a:rPr lang="zh-CN" altLang="en-US" dirty="0"/>
              <a:t>经合法性检查后执行相应的操作。当建立一个新文件时，必须先检索所有目录项，以确保没有“重名”的情况，然后在该目录中增设一项，把新文件的属性信息填入到该项中。当删除一个文件时，先从该目录中找到该文件的目录项，回收该文件所占用的存储空间，然后清除该目录项。</a:t>
            </a:r>
          </a:p>
          <a:p>
            <a:pPr lvl="0"/>
            <a:r>
              <a:rPr lang="zh-CN" altLang="en-US" dirty="0"/>
              <a:t>单级目录结构实现了“按名存取”，但是存在查找速度慢、文件不允许重名、不便于文件共享等缺点，而且对于多用户的操作系统显然是不适用的。</a:t>
            </a:r>
            <a:endParaRPr lang="zh-CN" dirty="0"/>
          </a:p>
        </p:txBody>
      </p:sp>
    </p:spTree>
    <p:extLst>
      <p:ext uri="{BB962C8B-B14F-4D97-AF65-F5344CB8AC3E}">
        <p14:creationId xmlns:p14="http://schemas.microsoft.com/office/powerpoint/2010/main" val="2615546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两级目录结构</a:t>
            </a:r>
          </a:p>
          <a:p>
            <a:pPr lvl="0"/>
            <a:r>
              <a:rPr lang="zh-CN" altLang="en-US" dirty="0"/>
              <a:t>为了克服单级目录所存在的缺点，可以采用两级方案，将文件目录分成主文件目录（</a:t>
            </a:r>
            <a:r>
              <a:rPr lang="en-US" altLang="zh-CN" dirty="0"/>
              <a:t>Master File </a:t>
            </a:r>
            <a:r>
              <a:rPr lang="en-US" altLang="zh-CN" dirty="0" err="1"/>
              <a:t>Directory,MFD</a:t>
            </a:r>
            <a:r>
              <a:rPr lang="en-US" altLang="zh-CN" dirty="0"/>
              <a:t>)</a:t>
            </a:r>
            <a:r>
              <a:rPr lang="zh-CN" altLang="en-US" dirty="0"/>
              <a:t>和用户文件目录</a:t>
            </a:r>
            <a:r>
              <a:rPr lang="en-US" altLang="zh-CN" dirty="0"/>
              <a:t>(User File </a:t>
            </a:r>
            <a:r>
              <a:rPr lang="en-US" altLang="zh-CN" dirty="0" err="1"/>
              <a:t>Directory,UFD</a:t>
            </a:r>
            <a:r>
              <a:rPr lang="en-US" altLang="zh-CN" dirty="0"/>
              <a:t>)</a:t>
            </a:r>
            <a:r>
              <a:rPr lang="zh-CN" altLang="en-US" dirty="0"/>
              <a:t>两级，如图所示。</a:t>
            </a:r>
            <a:endParaRPr lang="en-US" altLang="zh-CN" dirty="0"/>
          </a:p>
          <a:p>
            <a:pPr lvl="0"/>
            <a:r>
              <a:rPr lang="zh-CN" altLang="en-US" dirty="0"/>
              <a:t>主文件目录项记录用户名及相应用户文件目录所在的存储位置。用户文件目录项记录该用户文件的</a:t>
            </a:r>
            <a:r>
              <a:rPr lang="en-US" altLang="zh-CN" dirty="0"/>
              <a:t>FCB</a:t>
            </a:r>
            <a:r>
              <a:rPr lang="zh-CN" altLang="en-US" dirty="0"/>
              <a:t>信息。当某用户欲对其文件进行访问时，只需搜索该用户对应的</a:t>
            </a:r>
            <a:r>
              <a:rPr lang="en-US" altLang="zh-CN" dirty="0"/>
              <a:t>UFD,</a:t>
            </a:r>
            <a:r>
              <a:rPr lang="zh-CN" altLang="en-US" dirty="0"/>
              <a:t>这既解决了不同用户文件的“重名”问题，又在一定程度上保证了文件的安全。</a:t>
            </a:r>
          </a:p>
          <a:p>
            <a:pPr lvl="0"/>
            <a:r>
              <a:rPr lang="zh-CN" altLang="en-US" dirty="0"/>
              <a:t>两级目录结构提高了检索的速度，解决了多用户之间的文件重名问题，文件系统可以在目录上实现访问限制。但是两级目录结构缺乏灵活性，不能对文件分类。</a:t>
            </a:r>
            <a:endParaRPr lang="zh-CN" dirty="0"/>
          </a:p>
        </p:txBody>
      </p:sp>
    </p:spTree>
    <p:extLst>
      <p:ext uri="{BB962C8B-B14F-4D97-AF65-F5344CB8AC3E}">
        <p14:creationId xmlns:p14="http://schemas.microsoft.com/office/powerpoint/2010/main" val="4088647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树形目录结构</a:t>
            </a:r>
          </a:p>
          <a:p>
            <a:pPr lvl="0"/>
            <a:r>
              <a:rPr lang="zh-CN" altLang="en-US" dirty="0"/>
              <a:t>将两级目录结构加以推广，就形成了树形目录结构，如图所示。它可以明显地提高对目录的检索速度和文件系统的性能。当用户要访问某个文件时，用文件的路径名标识文件，文件路径名是个字符串，由从根目录出发到所找文件通路上所有目录名与数据文件名用分隔符“</a:t>
            </a:r>
            <a:r>
              <a:rPr lang="en-US" altLang="zh-CN" dirty="0"/>
              <a:t>/”</a:t>
            </a:r>
            <a:r>
              <a:rPr lang="zh-CN" altLang="en-US" dirty="0"/>
              <a:t>链接而成。从根目录出发的路径称为绝对路径。当层次较多时，每次从根目录查询会浪费时间，于是加入了当前目录（又称工作目录），进程对各文件的访问都是相对于当前目录进行的。当用户要访问某个文件时，使用相对路径标识文件，相对路径由从当前目录出发到所找文件通路上所有</a:t>
            </a:r>
          </a:p>
          <a:p>
            <a:pPr lvl="0"/>
            <a:r>
              <a:rPr lang="zh-CN" altLang="en-US" dirty="0"/>
              <a:t>目录名与数据文件名用分隔符“</a:t>
            </a:r>
            <a:r>
              <a:rPr lang="en-US" altLang="zh-CN" dirty="0"/>
              <a:t>/”</a:t>
            </a:r>
            <a:r>
              <a:rPr lang="zh-CN" altLang="en-US" dirty="0"/>
              <a:t>链接而成。</a:t>
            </a:r>
          </a:p>
          <a:p>
            <a:pPr lvl="0"/>
            <a:r>
              <a:rPr lang="zh-CN" altLang="en-US" dirty="0"/>
              <a:t>图</a:t>
            </a:r>
            <a:r>
              <a:rPr lang="en-US" altLang="zh-CN" dirty="0"/>
              <a:t>4.13</a:t>
            </a:r>
            <a:r>
              <a:rPr lang="zh-CN" altLang="en-US" dirty="0"/>
              <a:t>是</a:t>
            </a:r>
            <a:r>
              <a:rPr lang="en-US" altLang="zh-CN" dirty="0"/>
              <a:t>Linux</a:t>
            </a:r>
            <a:r>
              <a:rPr lang="zh-CN" altLang="en-US" dirty="0"/>
              <a:t>操作系统的目录结构，“</a:t>
            </a:r>
            <a:r>
              <a:rPr lang="en-US" altLang="zh-CN" dirty="0"/>
              <a:t>/dev/</a:t>
            </a:r>
            <a:r>
              <a:rPr lang="en-US" altLang="zh-CN" dirty="0" err="1"/>
              <a:t>hda</a:t>
            </a:r>
            <a:r>
              <a:rPr lang="en-US" altLang="zh-CN" dirty="0"/>
              <a:t>”</a:t>
            </a:r>
            <a:r>
              <a:rPr lang="zh-CN" altLang="en-US" dirty="0"/>
              <a:t>就是一个绝对路径。若当前目录为“</a:t>
            </a:r>
            <a:r>
              <a:rPr lang="en-US" altLang="zh-CN" dirty="0"/>
              <a:t>bin”</a:t>
            </a:r>
            <a:r>
              <a:rPr lang="zh-CN" altLang="en-US" dirty="0"/>
              <a:t>，则“</a:t>
            </a:r>
            <a:r>
              <a:rPr lang="en-US" altLang="zh-CN" dirty="0"/>
              <a:t>./ls”</a:t>
            </a:r>
            <a:r>
              <a:rPr lang="zh-CN" altLang="en-US" dirty="0"/>
              <a:t>就是一个相对路径，其中符号“</a:t>
            </a:r>
            <a:r>
              <a:rPr lang="en-US" altLang="zh-CN" dirty="0"/>
              <a:t>.”</a:t>
            </a:r>
            <a:r>
              <a:rPr lang="zh-CN" altLang="en-US" dirty="0"/>
              <a:t>表示当前工作目录。</a:t>
            </a:r>
          </a:p>
          <a:p>
            <a:pPr lvl="0"/>
            <a:r>
              <a:rPr lang="zh-CN" altLang="en-US" dirty="0"/>
              <a:t>通常，每个用户都有各自的“当前目录”，登录后自动进入该用户的“当前目录”。操作系统提供一条专门的系统调用，供用户随时改变“当前目录”。例如，在</a:t>
            </a:r>
            <a:r>
              <a:rPr lang="en-US" altLang="zh-CN" dirty="0"/>
              <a:t>UNIX</a:t>
            </a:r>
            <a:r>
              <a:rPr lang="zh-CN" altLang="en-US" dirty="0"/>
              <a:t>系统中，“</a:t>
            </a:r>
            <a:r>
              <a:rPr lang="en-US" altLang="zh-CN" dirty="0"/>
              <a:t>/</a:t>
            </a:r>
            <a:r>
              <a:rPr lang="en-US" altLang="zh-CN" dirty="0" err="1"/>
              <a:t>etc</a:t>
            </a:r>
            <a:r>
              <a:rPr lang="en-US" altLang="zh-CN" dirty="0"/>
              <a:t>/passwd”</a:t>
            </a:r>
            <a:r>
              <a:rPr lang="zh-CN" altLang="en-US" dirty="0"/>
              <a:t>文件就包含有用户登录时默认的“当前目录”，可用</a:t>
            </a:r>
            <a:r>
              <a:rPr lang="en-US" altLang="zh-CN" dirty="0"/>
              <a:t>cd</a:t>
            </a:r>
            <a:r>
              <a:rPr lang="zh-CN" altLang="en-US" dirty="0"/>
              <a:t>命令改变“当前目录”。</a:t>
            </a:r>
          </a:p>
          <a:p>
            <a:pPr lvl="0"/>
            <a:r>
              <a:rPr lang="zh-CN" altLang="en-US" dirty="0"/>
              <a:t>树形目录结构可以很方便地对文件进行分类，层次结构清晰，也能够更有效地进行文件的管理和保护。在树形目录中，不同性质、不同用户的文件，可以分别呈现在系统目录树的不同层次或不同子树中，很容易地赋予不同的存取权限。但是，在树形目录中查找一个文件，需要按路径名逐级访问中间结点，增加了磁盘访问次数，这无疑会影响查询速度。目前，大多数操作系统如</a:t>
            </a:r>
            <a:r>
              <a:rPr lang="en-US" altLang="zh-CN" dirty="0"/>
              <a:t>UNIX</a:t>
            </a:r>
            <a:r>
              <a:rPr lang="zh-CN" altLang="en-US" dirty="0"/>
              <a:t>、</a:t>
            </a:r>
            <a:r>
              <a:rPr lang="en-US" altLang="zh-CN" dirty="0"/>
              <a:t>Linux</a:t>
            </a:r>
            <a:r>
              <a:rPr lang="zh-CN" altLang="en-US" dirty="0"/>
              <a:t>和</a:t>
            </a:r>
            <a:r>
              <a:rPr lang="en-US" altLang="zh-CN" dirty="0"/>
              <a:t>Windows</a:t>
            </a:r>
            <a:r>
              <a:rPr lang="zh-CN" altLang="en-US" dirty="0"/>
              <a:t>系统都采用了树形文件目录。</a:t>
            </a:r>
            <a:endParaRPr lang="zh-CN" dirty="0"/>
          </a:p>
        </p:txBody>
      </p:sp>
    </p:spTree>
    <p:extLst>
      <p:ext uri="{BB962C8B-B14F-4D97-AF65-F5344CB8AC3E}">
        <p14:creationId xmlns:p14="http://schemas.microsoft.com/office/powerpoint/2010/main" val="3518627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无环图目录结构</a:t>
            </a:r>
          </a:p>
          <a:p>
            <a:pPr lvl="0"/>
            <a:r>
              <a:rPr lang="zh-CN" altLang="en-US" dirty="0"/>
              <a:t>树形目录结构能便于实现文件分类，但不便于实现文件共享，为此在树形目录结构的基础上增加了一些指向同一结点的有向边，使整个目录成为一个有向无环图，如图所示。</a:t>
            </a:r>
          </a:p>
          <a:p>
            <a:pPr lvl="0"/>
            <a:r>
              <a:rPr lang="zh-CN" altLang="en-US" dirty="0"/>
              <a:t>当某用户要求删除一个共享结点时，若系统只是简单地将它删除，则当另一共享用户需要访问时，会因无法找到这个文件而发生错误。为此，可为每个共享结点设置一个共享计数器，每当图中增加对该结点的共享链时，计数器加</a:t>
            </a:r>
            <a:r>
              <a:rPr lang="en-US" altLang="zh-CN" dirty="0"/>
              <a:t>1</a:t>
            </a:r>
            <a:r>
              <a:rPr lang="zh-CN" altLang="en-US" dirty="0"/>
              <a:t>：每当某用户提出删除该结点时，计数器减</a:t>
            </a:r>
            <a:r>
              <a:rPr lang="en-US" altLang="zh-CN" dirty="0"/>
              <a:t>1</a:t>
            </a:r>
            <a:r>
              <a:rPr lang="zh-CN" altLang="en-US" dirty="0"/>
              <a:t>。仅当共享计数器为</a:t>
            </a:r>
            <a:r>
              <a:rPr lang="en-US" altLang="zh-CN" dirty="0"/>
              <a:t>0</a:t>
            </a:r>
            <a:r>
              <a:rPr lang="zh-CN" altLang="en-US" dirty="0"/>
              <a:t>时，才真正删除该结点，否则仅删除请求用户的共享链。</a:t>
            </a:r>
            <a:endParaRPr lang="en-US" altLang="zh-CN" dirty="0"/>
          </a:p>
          <a:p>
            <a:pPr lvl="0"/>
            <a:r>
              <a:rPr lang="zh-CN" altLang="en-US" dirty="0"/>
              <a:t>共享文件（或目录）不同于文件拷贝（副本）。若有两个文件拷贝，则每个程序员看到的是拷贝而不是原件：然而，若一个文件被修改，则另一个程序员的拷贝不会改变。对于共享文件，只存在一个真正的文件，任何改变都会为其他用户所见。</a:t>
            </a:r>
          </a:p>
          <a:p>
            <a:pPr lvl="0"/>
            <a:r>
              <a:rPr lang="zh-CN" altLang="en-US" dirty="0"/>
              <a:t>无环图目录结构方便地实现了文件的共享，但使得系统的管理变得更加复杂。</a:t>
            </a:r>
            <a:endParaRPr lang="zh-CN" dirty="0"/>
          </a:p>
        </p:txBody>
      </p:sp>
    </p:spTree>
    <p:extLst>
      <p:ext uri="{BB962C8B-B14F-4D97-AF65-F5344CB8AC3E}">
        <p14:creationId xmlns:p14="http://schemas.microsoft.com/office/powerpoint/2010/main" val="2026861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在理解一个文件系统的需求前，我们首先考虑在目录这个层次上所需要执行的操作，这有助于后面文件系统的整体理解。</a:t>
            </a:r>
          </a:p>
          <a:p>
            <a:pPr lvl="0"/>
            <a:r>
              <a:rPr lang="en-US" altLang="zh-CN" dirty="0"/>
              <a:t>·</a:t>
            </a:r>
            <a:r>
              <a:rPr lang="zh-CN" altLang="en-US" dirty="0"/>
              <a:t>搜索。当用户使用一个文件时，需要搜索目录，以找到该文件的对应目录项。</a:t>
            </a:r>
          </a:p>
          <a:p>
            <a:pPr lvl="0"/>
            <a:r>
              <a:rPr lang="en-US" altLang="zh-CN" dirty="0"/>
              <a:t>·</a:t>
            </a:r>
            <a:r>
              <a:rPr lang="zh-CN" altLang="en-US" dirty="0"/>
              <a:t>剑建文件。当创建一个新文件时，需要在目录中增加一个目录项。</a:t>
            </a:r>
          </a:p>
          <a:p>
            <a:pPr lvl="0"/>
            <a:r>
              <a:rPr lang="en-US" altLang="zh-CN" dirty="0"/>
              <a:t>·</a:t>
            </a:r>
            <a:r>
              <a:rPr lang="zh-CN" altLang="en-US" dirty="0"/>
              <a:t>别除文件。当删除一个文件时，需要在目录中删除相应的目录项。</a:t>
            </a:r>
          </a:p>
          <a:p>
            <a:pPr lvl="0"/>
            <a:r>
              <a:rPr lang="en-US" altLang="zh-CN" dirty="0"/>
              <a:t>·</a:t>
            </a:r>
            <a:r>
              <a:rPr lang="zh-CN" altLang="en-US" dirty="0"/>
              <a:t>创建目录。在树形目录结构中，用户可创建自己的用户文件目录，并可再创建子目录。</a:t>
            </a:r>
          </a:p>
          <a:p>
            <a:pPr lvl="0"/>
            <a:r>
              <a:rPr lang="en-US" altLang="zh-CN" dirty="0"/>
              <a:t>·</a:t>
            </a:r>
            <a:r>
              <a:rPr lang="zh-CN" altLang="en-US" dirty="0"/>
              <a:t>删除目录。有两种方式：①不删除非空目录，删除时要先删除目录中的所有文件，并递归地删除子目录。②可删除非空目录，目录中的文件和子目录同时被删除。</a:t>
            </a:r>
          </a:p>
          <a:p>
            <a:pPr lvl="0"/>
            <a:r>
              <a:rPr lang="en-US" altLang="zh-CN" dirty="0"/>
              <a:t>·</a:t>
            </a:r>
            <a:r>
              <a:rPr lang="zh-CN" altLang="en-US" dirty="0"/>
              <a:t>移动司录。将文件或子目录在不同的父目录之间移动，文件的路径名也会随之改变。</a:t>
            </a:r>
            <a:endParaRPr lang="en-US" altLang="zh-CN" dirty="0"/>
          </a:p>
          <a:p>
            <a:pPr lvl="0"/>
            <a:r>
              <a:rPr lang="en-US" altLang="zh-CN" dirty="0"/>
              <a:t>·</a:t>
            </a:r>
            <a:r>
              <a:rPr lang="zh-CN" altLang="en-US" dirty="0"/>
              <a:t>显示目录。用户可以请求显示目录的内容，如显示该用户目录中的所有文件及属性。</a:t>
            </a:r>
          </a:p>
          <a:p>
            <a:pPr lvl="0"/>
            <a:r>
              <a:rPr lang="en-US" altLang="zh-CN" dirty="0"/>
              <a:t>·</a:t>
            </a:r>
            <a:r>
              <a:rPr lang="zh-CN" altLang="en-US" dirty="0"/>
              <a:t>修改目录。某些文件属性保存在目录中，因而这些属性的变化需要改变相应的目录项。</a:t>
            </a:r>
            <a:endParaRPr lang="zh-CN" dirty="0"/>
          </a:p>
        </p:txBody>
      </p:sp>
    </p:spTree>
    <p:extLst>
      <p:ext uri="{BB962C8B-B14F-4D97-AF65-F5344CB8AC3E}">
        <p14:creationId xmlns:p14="http://schemas.microsoft.com/office/powerpoint/2010/main" val="2947974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文件共享</a:t>
            </a:r>
          </a:p>
          <a:p>
            <a:pPr lvl="0"/>
            <a:r>
              <a:rPr lang="zh-CN" altLang="en-US" dirty="0"/>
              <a:t>文件共享使多个用户共享同一个文件，系统中只需保留该文件的一个副本。若系统不能提供共享功能，则每个需要该文件的用户都要有各自的副本，会造成对存储空间的极大浪费。</a:t>
            </a:r>
          </a:p>
          <a:p>
            <a:pPr lvl="0"/>
            <a:r>
              <a:rPr lang="zh-CN" altLang="en-US" dirty="0"/>
              <a:t>现代常用的两种文件共享方法如下。</a:t>
            </a:r>
          </a:p>
          <a:p>
            <a:pPr lvl="0"/>
            <a:r>
              <a:rPr lang="en-US" altLang="zh-CN" dirty="0"/>
              <a:t>1,</a:t>
            </a:r>
            <a:r>
              <a:rPr lang="zh-CN" altLang="en-US" dirty="0"/>
              <a:t>基于索引结点的共享方式（硬链接）</a:t>
            </a:r>
          </a:p>
          <a:p>
            <a:pPr lvl="0"/>
            <a:r>
              <a:rPr lang="zh-CN" altLang="en-US" dirty="0"/>
              <a:t>在树形结构的目录中，当有两个或多个用户要共享一个子目录或文件时，必须将共享文件或子目录链接到两个或多个用户的目录中，才能方便地找到该文件，如图所示。</a:t>
            </a:r>
            <a:endParaRPr lang="en-US" altLang="zh-CN" dirty="0"/>
          </a:p>
          <a:p>
            <a:pPr lvl="0"/>
            <a:r>
              <a:rPr lang="zh-CN" altLang="en-US" dirty="0"/>
              <a:t>在这种共享方式中，诸如文件的物理地址及其他的文件属性等信息，不再放在目录项中，而放在索引结点中。在文件目录中只设置文件名及指向相应索引结点的指针。在索引结点中还应有一个链接计数</a:t>
            </a:r>
            <a:r>
              <a:rPr lang="en-US" altLang="zh-CN" dirty="0"/>
              <a:t>count,</a:t>
            </a:r>
            <a:r>
              <a:rPr lang="zh-CN" altLang="en-US" dirty="0"/>
              <a:t>用于表示链接到本索引结点（即文件）上的用户目录项的数目。当</a:t>
            </a:r>
            <a:r>
              <a:rPr lang="en-US" altLang="zh-CN" dirty="0"/>
              <a:t>count=2</a:t>
            </a:r>
            <a:r>
              <a:rPr lang="zh-CN" altLang="en-US" dirty="0"/>
              <a:t>时，表示有两个用户目录项链接到本文件上，或者说有两个用户共享此文件。</a:t>
            </a:r>
            <a:endParaRPr lang="en-US" altLang="zh-CN" dirty="0"/>
          </a:p>
          <a:p>
            <a:pPr lvl="0"/>
            <a:r>
              <a:rPr lang="zh-CN" altLang="en-US" dirty="0"/>
              <a:t>用户</a:t>
            </a:r>
            <a:r>
              <a:rPr lang="en-US" altLang="zh-CN" dirty="0"/>
              <a:t>A</a:t>
            </a:r>
            <a:r>
              <a:rPr lang="zh-CN" altLang="en-US" dirty="0"/>
              <a:t>创建一个新文件时，他便是该文件的所有者，此时将</a:t>
            </a:r>
            <a:r>
              <a:rPr lang="en-US" altLang="zh-CN" dirty="0" err="1"/>
              <a:t>cout</a:t>
            </a:r>
            <a:r>
              <a:rPr lang="zh-CN" altLang="en-US" dirty="0"/>
              <a:t>置为</a:t>
            </a:r>
            <a:r>
              <a:rPr lang="en-US" altLang="zh-CN" dirty="0"/>
              <a:t>1</a:t>
            </a:r>
            <a:r>
              <a:rPr lang="zh-CN" altLang="en-US" dirty="0"/>
              <a:t>。用户</a:t>
            </a:r>
            <a:r>
              <a:rPr lang="en-US" altLang="zh-CN" dirty="0"/>
              <a:t>B</a:t>
            </a:r>
            <a:r>
              <a:rPr lang="zh-CN" altLang="en-US" dirty="0"/>
              <a:t>要共享此文件时，在</a:t>
            </a:r>
            <a:r>
              <a:rPr lang="en-US" altLang="zh-CN" dirty="0"/>
              <a:t>B</a:t>
            </a:r>
            <a:r>
              <a:rPr lang="zh-CN" altLang="en-US" dirty="0"/>
              <a:t>的目录中增加一个目录项，并设置一个指针指向该文件的索引结点。此时，文件主仍然是用户</a:t>
            </a:r>
            <a:r>
              <a:rPr lang="en-US" altLang="zh-CN" dirty="0" err="1"/>
              <a:t>A,cout</a:t>
            </a:r>
            <a:r>
              <a:rPr lang="en-US" altLang="zh-CN" dirty="0"/>
              <a:t>=2</a:t>
            </a:r>
            <a:r>
              <a:rPr lang="zh-CN" altLang="en-US" dirty="0"/>
              <a:t>。如</a:t>
            </a:r>
            <a:r>
              <a:rPr lang="en-US" altLang="zh-CN" dirty="0"/>
              <a:t>1</a:t>
            </a:r>
            <a:r>
              <a:rPr lang="zh-CN" altLang="en-US" dirty="0"/>
              <a:t>果用户</a:t>
            </a:r>
            <a:r>
              <a:rPr lang="en-US" altLang="zh-CN" dirty="0"/>
              <a:t>A</a:t>
            </a:r>
            <a:r>
              <a:rPr lang="zh-CN" altLang="en-US" dirty="0"/>
              <a:t>不再需要此文件，能否直接将其删除呢？答案是否定的。因为若删除了该文件，也必然删除了该文件的索引结点，这样便会使用户</a:t>
            </a:r>
            <a:r>
              <a:rPr lang="en-US" altLang="zh-CN" dirty="0"/>
              <a:t>B</a:t>
            </a:r>
            <a:r>
              <a:rPr lang="zh-CN" altLang="en-US" dirty="0"/>
              <a:t>的指针悬空，而</a:t>
            </a:r>
            <a:r>
              <a:rPr lang="en-US" altLang="zh-CN" dirty="0"/>
              <a:t>B</a:t>
            </a:r>
            <a:r>
              <a:rPr lang="zh-CN" altLang="en-US" dirty="0"/>
              <a:t>可能正在此文件上执行写操作，此时将因此半途而废。因此用户</a:t>
            </a:r>
            <a:r>
              <a:rPr lang="en-US" altLang="zh-CN" dirty="0"/>
              <a:t>A</a:t>
            </a:r>
            <a:r>
              <a:rPr lang="zh-CN" altLang="en-US" dirty="0"/>
              <a:t>不能删除此文件，只是将该文件的</a:t>
            </a:r>
            <a:r>
              <a:rPr lang="en-US" altLang="zh-CN" dirty="0" err="1"/>
              <a:t>cout</a:t>
            </a:r>
            <a:r>
              <a:rPr lang="zh-CN" altLang="en-US" dirty="0"/>
              <a:t>减</a:t>
            </a:r>
            <a:r>
              <a:rPr lang="en-US" altLang="zh-CN" dirty="0"/>
              <a:t>1</a:t>
            </a:r>
            <a:r>
              <a:rPr lang="zh-CN" altLang="en-US" dirty="0"/>
              <a:t>，然后删除自己目录中的相应目录项。用户</a:t>
            </a:r>
            <a:r>
              <a:rPr lang="en-US" altLang="zh-CN" dirty="0"/>
              <a:t>B</a:t>
            </a:r>
            <a:r>
              <a:rPr lang="zh-CN" altLang="en-US" dirty="0"/>
              <a:t>仍可以使用该文件。当</a:t>
            </a:r>
            <a:r>
              <a:rPr lang="en-US" altLang="zh-CN" dirty="0" err="1"/>
              <a:t>cout</a:t>
            </a:r>
            <a:r>
              <a:rPr lang="en-US" altLang="zh-CN" dirty="0"/>
              <a:t>=0</a:t>
            </a:r>
            <a:r>
              <a:rPr lang="zh-CN" altLang="en-US" dirty="0"/>
              <a:t>时，表示没有用户使用该文件，才会删除该文件。</a:t>
            </a:r>
            <a:endParaRPr lang="zh-CN" dirty="0"/>
          </a:p>
        </p:txBody>
      </p:sp>
    </p:spTree>
    <p:extLst>
      <p:ext uri="{BB962C8B-B14F-4D97-AF65-F5344CB8AC3E}">
        <p14:creationId xmlns:p14="http://schemas.microsoft.com/office/powerpoint/2010/main" val="27273001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利用符号链实现文件共享（软链接）</a:t>
            </a:r>
          </a:p>
          <a:p>
            <a:pPr lvl="0"/>
            <a:r>
              <a:rPr lang="zh-CN" altLang="en-US" dirty="0"/>
              <a:t>为使用户</a:t>
            </a:r>
            <a:r>
              <a:rPr lang="en-US" altLang="zh-CN" dirty="0"/>
              <a:t>B</a:t>
            </a:r>
            <a:r>
              <a:rPr lang="zh-CN" altLang="en-US" dirty="0"/>
              <a:t>能共享用户</a:t>
            </a:r>
            <a:r>
              <a:rPr lang="en-US" altLang="zh-CN" dirty="0"/>
              <a:t>A</a:t>
            </a:r>
            <a:r>
              <a:rPr lang="zh-CN" altLang="en-US" dirty="0"/>
              <a:t>的一个文件</a:t>
            </a:r>
            <a:r>
              <a:rPr lang="en-US" altLang="zh-CN" dirty="0"/>
              <a:t>F,</a:t>
            </a:r>
            <a:r>
              <a:rPr lang="zh-CN" altLang="en-US" dirty="0"/>
              <a:t>可以由系统创建一个</a:t>
            </a:r>
            <a:r>
              <a:rPr lang="en-US" altLang="zh-CN" dirty="0"/>
              <a:t>LINK</a:t>
            </a:r>
            <a:r>
              <a:rPr lang="zh-CN" altLang="en-US" dirty="0"/>
              <a:t>类型的新文件，也取名为</a:t>
            </a:r>
            <a:r>
              <a:rPr lang="en-US" altLang="zh-CN" dirty="0"/>
              <a:t>F,</a:t>
            </a:r>
            <a:r>
              <a:rPr lang="zh-CN" altLang="en-US" dirty="0"/>
              <a:t>并将该文件写入用户</a:t>
            </a:r>
            <a:r>
              <a:rPr lang="en-US" altLang="zh-CN" dirty="0"/>
              <a:t>B</a:t>
            </a:r>
            <a:r>
              <a:rPr lang="zh-CN" altLang="en-US" dirty="0"/>
              <a:t>的目录中，以实现用户</a:t>
            </a:r>
            <a:r>
              <a:rPr lang="en-US" altLang="zh-CN" dirty="0"/>
              <a:t>B</a:t>
            </a:r>
            <a:r>
              <a:rPr lang="zh-CN" altLang="en-US" dirty="0"/>
              <a:t>的目录与文件</a:t>
            </a:r>
            <a:r>
              <a:rPr lang="en-US" altLang="zh-CN" dirty="0"/>
              <a:t>F</a:t>
            </a:r>
            <a:r>
              <a:rPr lang="zh-CN" altLang="en-US" dirty="0"/>
              <a:t>的链接。在新文件中只包含被链接文件</a:t>
            </a:r>
            <a:r>
              <a:rPr lang="en-US" altLang="zh-CN" dirty="0"/>
              <a:t>F</a:t>
            </a:r>
            <a:r>
              <a:rPr lang="zh-CN" altLang="en-US" dirty="0"/>
              <a:t>的路径名。当用户</a:t>
            </a:r>
            <a:r>
              <a:rPr lang="en-US" altLang="zh-CN" dirty="0"/>
              <a:t>B</a:t>
            </a:r>
            <a:r>
              <a:rPr lang="zh-CN" altLang="en-US" dirty="0"/>
              <a:t>要访问被链接的文件</a:t>
            </a:r>
            <a:r>
              <a:rPr lang="en-US" altLang="zh-CN" dirty="0"/>
              <a:t>F</a:t>
            </a:r>
            <a:r>
              <a:rPr lang="zh-CN" altLang="en-US" dirty="0"/>
              <a:t>且正要读</a:t>
            </a:r>
            <a:r>
              <a:rPr lang="en-US" altLang="zh-CN" dirty="0"/>
              <a:t>LINK</a:t>
            </a:r>
            <a:r>
              <a:rPr lang="zh-CN" altLang="en-US" dirty="0"/>
              <a:t>类新文件时，操作系统查看到要读的文件是</a:t>
            </a:r>
            <a:r>
              <a:rPr lang="en-US" altLang="zh-CN" dirty="0"/>
              <a:t>LNK</a:t>
            </a:r>
            <a:r>
              <a:rPr lang="zh-CN" altLang="en-US" dirty="0"/>
              <a:t>类型，则根据该文件中的路径名去找到文件</a:t>
            </a:r>
            <a:r>
              <a:rPr lang="en-US" altLang="zh-CN" dirty="0"/>
              <a:t>F,</a:t>
            </a:r>
            <a:r>
              <a:rPr lang="zh-CN" altLang="en-US" dirty="0"/>
              <a:t>然后对它进行读，从而实现用户</a:t>
            </a:r>
            <a:r>
              <a:rPr lang="en-US" altLang="zh-CN" dirty="0"/>
              <a:t>B</a:t>
            </a:r>
            <a:r>
              <a:rPr lang="zh-CN" altLang="en-US" dirty="0"/>
              <a:t>对文件</a:t>
            </a:r>
            <a:r>
              <a:rPr lang="en-US" altLang="zh-CN" dirty="0"/>
              <a:t>F</a:t>
            </a:r>
            <a:r>
              <a:rPr lang="zh-CN" altLang="en-US" dirty="0"/>
              <a:t>的共享。这样的链接方法被称为符号链接。</a:t>
            </a:r>
          </a:p>
          <a:p>
            <a:pPr lvl="0"/>
            <a:r>
              <a:rPr lang="zh-CN" altLang="en-US" dirty="0"/>
              <a:t>在利用符号链方式实现文件共享时，只有文件主才拥有指向其索引结点的指针。而共享该文件的其他用户只有该文件的路径名，并不拥有指向其索引结点的指针。这样，也就不会发生在文件主删除一共享文件后留下一悬空指针的情况。当文件主把一个共享文件删除后，若其他用户又试图通过符号链去访问它时，则会访问失败，于是将符号链删除，此时不会产生任何影响。</a:t>
            </a:r>
          </a:p>
          <a:p>
            <a:pPr lvl="0"/>
            <a:r>
              <a:rPr lang="zh-CN" altLang="en-US" dirty="0"/>
              <a:t>在符号链的共享方式中，当其他用户读共享文件时，系统根据文件路径名逐个查找目录，直至找到该文件的索引结点。因此，每次访问共享文件时，都可能要多次地读盘。使得访问文件的开销甚大，且增加了启动磁盘的频率。此外，符号链的索引结点也要耗费一定的磁盘空间。</a:t>
            </a:r>
          </a:p>
          <a:p>
            <a:pPr lvl="0"/>
            <a:r>
              <a:rPr lang="zh-CN" altLang="en-US" dirty="0"/>
              <a:t>利用符号链实现网络文件共享时，只需提供该文件所在机器的网络地址及文件路径名。</a:t>
            </a:r>
            <a:endParaRPr lang="zh-CN" dirty="0"/>
          </a:p>
        </p:txBody>
      </p:sp>
    </p:spTree>
    <p:extLst>
      <p:ext uri="{BB962C8B-B14F-4D97-AF65-F5344CB8AC3E}">
        <p14:creationId xmlns:p14="http://schemas.microsoft.com/office/powerpoint/2010/main" val="1152296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文件系统在磁盘中的结构</a:t>
            </a:r>
          </a:p>
          <a:p>
            <a:pPr lvl="0"/>
            <a:r>
              <a:rPr lang="zh-CN" altLang="en-US" dirty="0"/>
              <a:t>文件系统存放在磁盘上，多数磁盘划分为一个或多个分区，每个分区中有一个独立的文件系统。文件系统可能包括如下信息：启动存储在那里的操作系统的方式、总的块数、空闲块的数量和位置、目录结构以及各个具体文件等。如图所示为一个可能的文件系统布局。</a:t>
            </a:r>
            <a:endParaRPr lang="en-US" altLang="zh-CN" dirty="0"/>
          </a:p>
          <a:p>
            <a:pPr lvl="0"/>
            <a:r>
              <a:rPr lang="zh-CN" altLang="en-US" dirty="0"/>
              <a:t>简单描述如下：</a:t>
            </a:r>
          </a:p>
          <a:p>
            <a:pPr lvl="0"/>
            <a:r>
              <a:rPr lang="en-US" altLang="zh-CN" dirty="0"/>
              <a:t>1)</a:t>
            </a:r>
            <a:r>
              <a:rPr lang="zh-CN" altLang="en-US" dirty="0"/>
              <a:t>主引导记录</a:t>
            </a:r>
            <a:r>
              <a:rPr lang="en-US" altLang="zh-CN" dirty="0"/>
              <a:t>(Master Boot </a:t>
            </a:r>
            <a:r>
              <a:rPr lang="en-US" altLang="zh-CN" dirty="0" err="1"/>
              <a:t>Record,MBR</a:t>
            </a:r>
            <a:r>
              <a:rPr lang="en-US" altLang="zh-CN" dirty="0"/>
              <a:t>),</a:t>
            </a:r>
            <a:r>
              <a:rPr lang="zh-CN" altLang="en-US" dirty="0"/>
              <a:t>位于磁盘的</a:t>
            </a:r>
            <a:r>
              <a:rPr lang="en-US" altLang="zh-CN" dirty="0"/>
              <a:t>0</a:t>
            </a:r>
            <a:r>
              <a:rPr lang="zh-CN" altLang="en-US" dirty="0"/>
              <a:t>号扇区，用来引导计算机，</a:t>
            </a:r>
            <a:r>
              <a:rPr lang="en-US" altLang="zh-CN" dirty="0"/>
              <a:t>MBR</a:t>
            </a:r>
            <a:r>
              <a:rPr lang="zh-CN" altLang="en-US" dirty="0"/>
              <a:t>后面是分区表，该表给出每个分区的起始和结束地址。表中的一个分区被标记为活动分区，当计算机启动时，</a:t>
            </a:r>
            <a:r>
              <a:rPr lang="en-US" altLang="zh-CN" dirty="0"/>
              <a:t>BIOS</a:t>
            </a:r>
            <a:r>
              <a:rPr lang="zh-CN" altLang="en-US" dirty="0"/>
              <a:t>读入并执行</a:t>
            </a:r>
            <a:r>
              <a:rPr lang="en-US" altLang="zh-CN" dirty="0"/>
              <a:t>MBR.MBR</a:t>
            </a:r>
            <a:r>
              <a:rPr lang="zh-CN" altLang="en-US" dirty="0"/>
              <a:t>做的第一件事是确定活动分区，读入它的第一块，即引导块。</a:t>
            </a:r>
          </a:p>
          <a:p>
            <a:pPr lvl="0"/>
            <a:r>
              <a:rPr lang="en-US" altLang="zh-CN" dirty="0"/>
              <a:t>2)</a:t>
            </a:r>
            <a:r>
              <a:rPr lang="zh-CN" altLang="en-US" dirty="0"/>
              <a:t>引导块</a:t>
            </a:r>
            <a:r>
              <a:rPr lang="en-US" altLang="zh-CN" dirty="0"/>
              <a:t>(boot block),MBR</a:t>
            </a:r>
            <a:r>
              <a:rPr lang="zh-CN" altLang="en-US" dirty="0"/>
              <a:t>执行引导块中的程序后，该程序负责启动该分区中的操作系统。为统一起见，每个分区都从一个引导块开始，即使它不含有一个可启动的操作系统，也不排除以后会在该分区安装一个操作系统。</a:t>
            </a:r>
            <a:r>
              <a:rPr lang="en-US" altLang="zh-CN" dirty="0"/>
              <a:t>Windows</a:t>
            </a:r>
            <a:r>
              <a:rPr lang="zh-CN" altLang="en-US" dirty="0"/>
              <a:t>系统称之为分区引导扇区。</a:t>
            </a:r>
          </a:p>
          <a:p>
            <a:pPr lvl="0"/>
            <a:r>
              <a:rPr lang="zh-CN" altLang="en-US" dirty="0"/>
              <a:t>除了从引导块开始，磁盘分区的布局是随着文件系统的不同而变化的。文件系统经常包含有如图所列的一些项目。</a:t>
            </a:r>
          </a:p>
          <a:p>
            <a:pPr lvl="0"/>
            <a:r>
              <a:rPr lang="en-US" altLang="zh-CN" dirty="0"/>
              <a:t>3)</a:t>
            </a:r>
            <a:r>
              <a:rPr lang="zh-CN" altLang="en-US" dirty="0"/>
              <a:t>超级块</a:t>
            </a:r>
            <a:r>
              <a:rPr lang="en-US" altLang="zh-CN" dirty="0"/>
              <a:t>(super block),</a:t>
            </a:r>
            <a:r>
              <a:rPr lang="zh-CN" altLang="en-US" dirty="0"/>
              <a:t>包含文件系统的所有关键信息，在计算机启动时，或者在该文件系统首次使用时，超级块会被载入内存。超级块中的典型信息包括分区的块的数量、块的大小、空闲块的数量和指针、空闲的</a:t>
            </a:r>
            <a:r>
              <a:rPr lang="en-US" altLang="zh-CN" dirty="0"/>
              <a:t>FCB</a:t>
            </a:r>
            <a:r>
              <a:rPr lang="zh-CN" altLang="en-US" dirty="0"/>
              <a:t>数量和</a:t>
            </a:r>
            <a:r>
              <a:rPr lang="en-US" altLang="zh-CN" dirty="0"/>
              <a:t>FCB</a:t>
            </a:r>
            <a:r>
              <a:rPr lang="zh-CN" altLang="en-US" dirty="0"/>
              <a:t>指针等。</a:t>
            </a:r>
          </a:p>
          <a:p>
            <a:pPr lvl="0"/>
            <a:r>
              <a:rPr lang="en-US" altLang="zh-CN" dirty="0"/>
              <a:t>4)</a:t>
            </a:r>
            <a:r>
              <a:rPr lang="zh-CN" altLang="en-US" dirty="0"/>
              <a:t>文件系统中空闲块的信息，可以使用位示图或指针链接的形式给出。后面也许跟的是一组</a:t>
            </a:r>
            <a:r>
              <a:rPr lang="en-US" altLang="zh-CN" dirty="0" err="1"/>
              <a:t>i</a:t>
            </a:r>
            <a:r>
              <a:rPr lang="zh-CN" altLang="en-US" dirty="0"/>
              <a:t>结点，每个文件对应一个结点，</a:t>
            </a:r>
            <a:r>
              <a:rPr lang="en-US" altLang="zh-CN" dirty="0" err="1"/>
              <a:t>i</a:t>
            </a:r>
            <a:r>
              <a:rPr lang="zh-CN" altLang="en-US" dirty="0"/>
              <a:t>结点说明了文件的方方面面。接着可能是根目录，它存放文件系统目录树的根部。最后，磁盘的其他部分存放了其他所有的目录和文件。</a:t>
            </a:r>
            <a:endParaRPr lang="zh-CN" dirty="0"/>
          </a:p>
        </p:txBody>
      </p:sp>
    </p:spTree>
    <p:extLst>
      <p:ext uri="{BB962C8B-B14F-4D97-AF65-F5344CB8AC3E}">
        <p14:creationId xmlns:p14="http://schemas.microsoft.com/office/powerpoint/2010/main" val="40490764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文件系统在内存中的结构</a:t>
            </a:r>
          </a:p>
          <a:p>
            <a:pPr lvl="0"/>
            <a:r>
              <a:rPr lang="zh-CN" altLang="en-US" dirty="0"/>
              <a:t>内存中的信息用于管理文件系统并通过缓存来提高性能。这些数据在安装文件系统时被加载，在文件系统操作期间被更新，在卸载时被丢弃。这些结构的类型可能包括：</a:t>
            </a:r>
          </a:p>
          <a:p>
            <a:pPr lvl="0"/>
            <a:r>
              <a:rPr lang="en-US" altLang="zh-CN" dirty="0"/>
              <a:t>1)</a:t>
            </a:r>
            <a:r>
              <a:rPr lang="zh-CN" altLang="en-US" dirty="0"/>
              <a:t>内存中的安装表</a:t>
            </a:r>
            <a:r>
              <a:rPr lang="en-US" altLang="zh-CN" dirty="0"/>
              <a:t>(mount table),</a:t>
            </a:r>
            <a:r>
              <a:rPr lang="zh-CN" altLang="en-US" dirty="0"/>
              <a:t>包含每个已安装文件系统分区的有关信息。</a:t>
            </a:r>
          </a:p>
          <a:p>
            <a:pPr lvl="0"/>
            <a:r>
              <a:rPr lang="en-US" altLang="zh-CN" dirty="0"/>
              <a:t>2)</a:t>
            </a:r>
            <a:r>
              <a:rPr lang="zh-CN" altLang="en-US" dirty="0"/>
              <a:t>内存中的目录结构的缓存包含最近访问目录的信息。对安装分区的目录，它可以包括一个指向分区表的指针。</a:t>
            </a:r>
          </a:p>
          <a:p>
            <a:pPr lvl="0"/>
            <a:r>
              <a:rPr lang="en-US" altLang="zh-CN" dirty="0"/>
              <a:t>3)</a:t>
            </a:r>
            <a:r>
              <a:rPr lang="zh-CN" altLang="en-US" dirty="0"/>
              <a:t>整个系统的打开文件表，包含每个打开文件的</a:t>
            </a:r>
            <a:r>
              <a:rPr lang="en-US" altLang="zh-CN" dirty="0"/>
              <a:t>FCB</a:t>
            </a:r>
            <a:r>
              <a:rPr lang="zh-CN" altLang="en-US" dirty="0"/>
              <a:t>副本及其他信息。</a:t>
            </a:r>
          </a:p>
          <a:p>
            <a:pPr lvl="0"/>
            <a:r>
              <a:rPr lang="en-US" altLang="zh-CN" dirty="0"/>
              <a:t>4)</a:t>
            </a:r>
            <a:r>
              <a:rPr lang="zh-CN" altLang="en-US" dirty="0"/>
              <a:t>每个进程的打开文件表，包含一个指向整个系统的打开文件表中的适当条目的指针，以及其他信息</a:t>
            </a:r>
            <a:endParaRPr lang="zh-CN" dirty="0"/>
          </a:p>
        </p:txBody>
      </p:sp>
    </p:spTree>
    <p:extLst>
      <p:ext uri="{BB962C8B-B14F-4D97-AF65-F5344CB8AC3E}">
        <p14:creationId xmlns:p14="http://schemas.microsoft.com/office/powerpoint/2010/main" val="1850786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一个存储设备可以按整体用于文件系统，也可以细分。例如，一个磁盘可以划分为</a:t>
            </a:r>
            <a:r>
              <a:rPr lang="en-US" altLang="zh-CN" dirty="0"/>
              <a:t>4</a:t>
            </a:r>
            <a:r>
              <a:rPr lang="zh-CN" altLang="en-US" dirty="0"/>
              <a:t>个分区，每个分区都可以有单独的文件系统。包含文件系统的分区通常称为卷</a:t>
            </a:r>
            <a:r>
              <a:rPr lang="en-US" altLang="zh-CN" dirty="0"/>
              <a:t>(volume)</a:t>
            </a:r>
            <a:r>
              <a:rPr lang="zh-CN" altLang="en-US" dirty="0"/>
              <a:t>。卷可以是磁盘的一部分，也可以是整个磁盘，还可以是多个磁盘组成</a:t>
            </a:r>
            <a:r>
              <a:rPr lang="en-US" altLang="zh-CN" dirty="0"/>
              <a:t>RAD</a:t>
            </a:r>
            <a:r>
              <a:rPr lang="zh-CN" altLang="en-US" dirty="0"/>
              <a:t>集，如图所示。</a:t>
            </a:r>
            <a:endParaRPr lang="en-US" altLang="zh-CN" dirty="0"/>
          </a:p>
          <a:p>
            <a:pPr lvl="0"/>
            <a:r>
              <a:rPr lang="zh-CN" altLang="en-US" dirty="0"/>
              <a:t>在一个卷中，存放文件数据的空间（文件区）和</a:t>
            </a:r>
            <a:r>
              <a:rPr lang="en-US" altLang="zh-CN" dirty="0"/>
              <a:t>FCB</a:t>
            </a:r>
            <a:r>
              <a:rPr lang="zh-CN" altLang="en-US" dirty="0"/>
              <a:t>的空间（目录区）是分离的。由于存在很多种类的文件表示和存放格式，所以现代操作系统中一般都有很多不同的文件管理模块，通过它们可以访问不同格式的卷中的文件。卷在提供文件服务前，必须由对应的文件程序进行初始化，划分好目录区和文件区，建立空闲空间管理表格及存放卷信息的超级块。</a:t>
            </a:r>
          </a:p>
          <a:p>
            <a:pPr lvl="0"/>
            <a:r>
              <a:rPr lang="zh-CN" altLang="en-US" dirty="0"/>
              <a:t>文件存储设备分成许多大小相同的物理块，并以块为单位交换信息，因此，文件存储设备的管理实质上是对空闲块的组织和管理，它包括空闲块的组织、分配与回收等问题。</a:t>
            </a:r>
            <a:endParaRPr lang="zh-CN" dirty="0"/>
          </a:p>
        </p:txBody>
      </p:sp>
    </p:spTree>
    <p:extLst>
      <p:ext uri="{BB962C8B-B14F-4D97-AF65-F5344CB8AC3E}">
        <p14:creationId xmlns:p14="http://schemas.microsoft.com/office/powerpoint/2010/main" val="2354606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空闲表法</a:t>
            </a:r>
          </a:p>
          <a:p>
            <a:pPr lvl="0"/>
            <a:r>
              <a:rPr lang="zh-CN" altLang="en-US" dirty="0"/>
              <a:t>空闲表法属于连续分配方式，它与内存的动态分配方式类似，为每个文件分配一块连续的存储空间。系统为外存上的所有空闲区建立一张空闲盘块表，每个空闲区对应于一个空闲表项，其中包括表项序号、该空闲区的第一个盘块号、该区的空闲盘块数等信息。再将所有空闲区按其起始盘块号递增的次序排列，如表所示。空闲盘区的分配与内存的动态分配类似，同样采用首次适应算法和最佳适应算法等。例如，在系统为某新创建的文件分配空闲盘块时，先顺序地检索空闲盘块表的各表项，直至找到第一个其大小能满足要求的空闲区，再将该盘区分配给用户，同时修改空闲盘块表。</a:t>
            </a:r>
          </a:p>
          <a:p>
            <a:pPr lvl="0"/>
            <a:r>
              <a:rPr lang="zh-CN" altLang="en-US" dirty="0"/>
              <a:t>系统在对用户所释放的存储空间进行回收时，也采取类似于内存回收的方法，即要考虑回收区是否与空闲盘块表中插入点的前区和后区相邻接，对相邻接者应予以合并。</a:t>
            </a:r>
            <a:endParaRPr lang="en-US" altLang="zh-CN" dirty="0"/>
          </a:p>
          <a:p>
            <a:pPr lvl="0"/>
            <a:endParaRPr lang="en-US" altLang="zh-CN" dirty="0"/>
          </a:p>
          <a:p>
            <a:pPr lvl="0"/>
            <a:r>
              <a:rPr lang="en-US" altLang="zh-CN" dirty="0"/>
              <a:t>2.</a:t>
            </a:r>
            <a:r>
              <a:rPr lang="zh-CN" altLang="en-US" dirty="0"/>
              <a:t>空闲链表法</a:t>
            </a:r>
          </a:p>
          <a:p>
            <a:pPr lvl="0"/>
            <a:r>
              <a:rPr lang="zh-CN" altLang="en-US" dirty="0"/>
              <a:t>将所有空闲盘区拉成一条空闲链。根据构成链所用基本元素的不同，分为两种形式：</a:t>
            </a:r>
          </a:p>
          <a:p>
            <a:pPr lvl="0"/>
            <a:r>
              <a:rPr lang="en-US" altLang="zh-CN" dirty="0"/>
              <a:t>1)</a:t>
            </a:r>
            <a:r>
              <a:rPr lang="zh-CN" altLang="en-US" dirty="0"/>
              <a:t>空闲盘块链。将磁盘上的所有空闲空间以盘块为单位拉成一条链。当用户因创建文件而请求分配存储空间时，系统从链首开始，依次摘下适当数目的空闲盘块分配给用户。当用户因删除文件而释放存储空间时，系统将回收的盘块依次插入空闲盘块链的末尾。这种方法的优点是分配和回收一个盘块的过程非常简单，但在为一个文件分配盘块时可能要重复操作多次，效率较低。又因它是以盘块为单位的，空闲盘块链会很长。</a:t>
            </a:r>
          </a:p>
          <a:p>
            <a:pPr lvl="0"/>
            <a:r>
              <a:rPr lang="en-US" altLang="zh-CN" dirty="0"/>
              <a:t>2)</a:t>
            </a:r>
            <a:r>
              <a:rPr lang="zh-CN" altLang="en-US" dirty="0"/>
              <a:t>空闲盘区链。将磁盘上的所有空闲盘区（每个盘区可包含若干个盘块）拉成一条链。每个盘区除含有用于指示下一个空闲盘区的指针外，还应有能指明本盘区大小（盘块数）的信息。分配盘区的方法与内存的动态分区分配类似，通常采用首次适应算法。在回收盘区时，同样也要将回收区与相邻接的空闲盘区合并。这种方法的优缺点刚好与第一种方法的相反，即分配与回收的过程比较复杂，但效率通常较高，且空闲盘区链较短。</a:t>
            </a:r>
            <a:endParaRPr lang="zh-CN" altLang="zh-CN" dirty="0"/>
          </a:p>
          <a:p>
            <a:pPr lvl="0"/>
            <a:endParaRPr lang="zh-CN" dirty="0"/>
          </a:p>
        </p:txBody>
      </p:sp>
    </p:spTree>
    <p:extLst>
      <p:ext uri="{BB962C8B-B14F-4D97-AF65-F5344CB8AC3E}">
        <p14:creationId xmlns:p14="http://schemas.microsoft.com/office/powerpoint/2010/main" val="2125553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位示图法</a:t>
            </a:r>
          </a:p>
          <a:p>
            <a:pPr lvl="0"/>
            <a:r>
              <a:rPr lang="zh-CN" altLang="en-US" dirty="0"/>
              <a:t>位示图是利用二进制的一位来表示磁盘中一个盘块的使用情况，磁盘上所有的盘块都有一个二进制位与之对应。当其值为“</a:t>
            </a:r>
            <a:r>
              <a:rPr lang="en-US" altLang="zh-CN" dirty="0"/>
              <a:t>0”</a:t>
            </a:r>
            <a:r>
              <a:rPr lang="zh-CN" altLang="en-US" dirty="0"/>
              <a:t>时，表示对应的盘块空闲：为“</a:t>
            </a:r>
            <a:r>
              <a:rPr lang="en-US" altLang="zh-CN" dirty="0"/>
              <a:t>1”</a:t>
            </a:r>
            <a:r>
              <a:rPr lang="zh-CN" altLang="en-US" dirty="0"/>
              <a:t>时，表示已分配。这样，个</a:t>
            </a:r>
            <a:r>
              <a:rPr lang="en-US" altLang="zh-CN" dirty="0" err="1"/>
              <a:t>m×n</a:t>
            </a:r>
            <a:r>
              <a:rPr lang="zh-CN" altLang="en-US" dirty="0"/>
              <a:t>位组成的位示图就可用来表示</a:t>
            </a:r>
            <a:r>
              <a:rPr lang="en-US" altLang="zh-CN" dirty="0" err="1"/>
              <a:t>m×n</a:t>
            </a:r>
            <a:r>
              <a:rPr lang="zh-CN" altLang="en-US" dirty="0"/>
              <a:t>个盘块的使用情况，如图所示。</a:t>
            </a:r>
            <a:endParaRPr lang="en-US" altLang="zh-CN" dirty="0"/>
          </a:p>
          <a:p>
            <a:pPr lvl="0"/>
            <a:r>
              <a:rPr lang="en-US" altLang="zh-CN" dirty="0"/>
              <a:t>1)</a:t>
            </a:r>
            <a:r>
              <a:rPr lang="zh-CN" altLang="en-US" dirty="0"/>
              <a:t>顺序扫描位示图，从中找出一个或一组其值为“</a:t>
            </a:r>
            <a:r>
              <a:rPr lang="en-US" altLang="zh-CN" dirty="0"/>
              <a:t>0”</a:t>
            </a:r>
            <a:r>
              <a:rPr lang="zh-CN" altLang="en-US" dirty="0"/>
              <a:t>的二进制位。</a:t>
            </a:r>
          </a:p>
          <a:p>
            <a:pPr lvl="0"/>
            <a:r>
              <a:rPr lang="en-US" altLang="zh-CN" dirty="0"/>
              <a:t>2)</a:t>
            </a:r>
            <a:r>
              <a:rPr lang="zh-CN" altLang="en-US" dirty="0"/>
              <a:t>将找到的一个或一组二进制位，转换成与之对应的盘块号。若找到的其值为“</a:t>
            </a:r>
            <a:r>
              <a:rPr lang="en-US" altLang="zh-CN" dirty="0"/>
              <a:t>0”</a:t>
            </a:r>
            <a:r>
              <a:rPr lang="zh-CN" altLang="en-US" dirty="0"/>
              <a:t>的二进制位位于位示图的第</a:t>
            </a:r>
            <a:r>
              <a:rPr lang="en-US" altLang="zh-CN" dirty="0" err="1"/>
              <a:t>i</a:t>
            </a:r>
            <a:r>
              <a:rPr lang="zh-CN" altLang="en-US" dirty="0"/>
              <a:t>行、第</a:t>
            </a:r>
            <a:r>
              <a:rPr lang="en-US" altLang="zh-CN" dirty="0"/>
              <a:t>j</a:t>
            </a:r>
            <a:r>
              <a:rPr lang="zh-CN" altLang="en-US" dirty="0"/>
              <a:t>列</a:t>
            </a:r>
            <a:endParaRPr lang="en-US" altLang="zh-CN" dirty="0"/>
          </a:p>
          <a:p>
            <a:pPr lvl="0"/>
            <a:r>
              <a:rPr lang="en-US" altLang="zh-CN" dirty="0"/>
              <a:t>3)</a:t>
            </a:r>
            <a:r>
              <a:rPr lang="zh-CN" altLang="en-US" dirty="0"/>
              <a:t>修改位示图</a:t>
            </a:r>
            <a:endParaRPr lang="en-US" altLang="zh-CN" dirty="0"/>
          </a:p>
          <a:p>
            <a:pPr lvl="0"/>
            <a:endParaRPr lang="en-US" altLang="zh-CN" dirty="0"/>
          </a:p>
          <a:p>
            <a:pPr lvl="0"/>
            <a:r>
              <a:rPr lang="zh-CN" altLang="en-US" dirty="0"/>
              <a:t>盘块的回收：</a:t>
            </a:r>
          </a:p>
          <a:p>
            <a:pPr lvl="0"/>
            <a:r>
              <a:rPr lang="en-US" altLang="zh-CN" dirty="0"/>
              <a:t>1)</a:t>
            </a:r>
            <a:r>
              <a:rPr lang="zh-CN" altLang="en-US" dirty="0"/>
              <a:t>将回收盘块的盘块号转换成位示图中的行号和列号。</a:t>
            </a:r>
            <a:endParaRPr lang="en-US" altLang="zh-CN" dirty="0"/>
          </a:p>
          <a:p>
            <a:pPr lvl="0"/>
            <a:r>
              <a:rPr lang="en-US" altLang="zh-CN" dirty="0"/>
              <a:t>2)</a:t>
            </a:r>
            <a:r>
              <a:rPr lang="zh-CN" altLang="en-US" dirty="0"/>
              <a:t>修改位示图</a:t>
            </a:r>
            <a:endParaRPr lang="en-US" altLang="zh-CN" dirty="0"/>
          </a:p>
          <a:p>
            <a:pPr lvl="0"/>
            <a:r>
              <a:rPr lang="zh-CN" altLang="en-US" dirty="0"/>
              <a:t>空闲表法和空闲链表法都不适用于大型文件系统，因为这会使空闲表或空闲链表太大。</a:t>
            </a:r>
            <a:endParaRPr lang="zh-CN" dirty="0"/>
          </a:p>
        </p:txBody>
      </p:sp>
    </p:spTree>
    <p:extLst>
      <p:ext uri="{BB962C8B-B14F-4D97-AF65-F5344CB8AC3E}">
        <p14:creationId xmlns:p14="http://schemas.microsoft.com/office/powerpoint/2010/main" val="2758821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成组链接法</a:t>
            </a:r>
          </a:p>
          <a:p>
            <a:pPr lvl="0"/>
            <a:r>
              <a:rPr lang="zh-CN" altLang="en-US" dirty="0"/>
              <a:t>在</a:t>
            </a:r>
            <a:r>
              <a:rPr lang="en-US" altLang="zh-CN" dirty="0"/>
              <a:t>UNX</a:t>
            </a:r>
            <a:r>
              <a:rPr lang="zh-CN" altLang="en-US" dirty="0"/>
              <a:t>系统中采用的是成组链接法，这种方法结合了空闲表和空闲链表两种方法，它具有上述两种方法的优点，克服了两种方法均有的表太长的缺点。</a:t>
            </a:r>
          </a:p>
          <a:p>
            <a:pPr lvl="0"/>
            <a:r>
              <a:rPr lang="zh-CN" altLang="en-US" dirty="0"/>
              <a:t>用来存放一组空闲盘块号（空闲盘块的块号）的盘块称为成组链块。成组链接法的大致思想是：把顺序的个空闲盘块号保存在第一个成组链块中，其最后一个空闲盘块（作为成组链块）则用于保存另一组空闲盘块号，如此继续，直至所有空闲盘块均予以链接。系统只需保存指向第一个成组链块的指针。假设磁盘最初全为空闲盘块，其成组链接如图所示。</a:t>
            </a:r>
            <a:endParaRPr lang="en-US" altLang="zh-CN" dirty="0"/>
          </a:p>
          <a:p>
            <a:pPr lvl="0"/>
            <a:r>
              <a:rPr lang="zh-CN" altLang="en-US" dirty="0"/>
              <a:t>盘块的分配：</a:t>
            </a:r>
          </a:p>
          <a:p>
            <a:pPr lvl="0"/>
            <a:r>
              <a:rPr lang="zh-CN" altLang="en-US" dirty="0"/>
              <a:t>根据第一个成组链块的指针，将其对应的盘块分配给用户，然后将指针下移一格。若该指针指向的是最后一个盘块（即成组链块），由于该盘块记录的是下一组空闲盘块号，因此要将该盘块读入内存，并将指针指向新的成组链块的第一条记录，然后执行上述分配操作。</a:t>
            </a:r>
          </a:p>
          <a:p>
            <a:pPr lvl="0"/>
            <a:r>
              <a:rPr lang="zh-CN" altLang="en-US" dirty="0"/>
              <a:t>盘块的回收：</a:t>
            </a:r>
          </a:p>
          <a:p>
            <a:pPr lvl="0"/>
            <a:r>
              <a:rPr lang="zh-CN" altLang="en-US" dirty="0"/>
              <a:t>成组链块的指针上移一格，再记入回收盘块号。当成组链块的链接数达到时，表示已满，便将现有已记录个空闲盘块号的成组链块号记入新回收的盘块（作为新的成组链块）。</a:t>
            </a:r>
          </a:p>
          <a:p>
            <a:pPr lvl="0"/>
            <a:r>
              <a:rPr lang="zh-CN" altLang="en-US" dirty="0"/>
              <a:t>表示空闲空间的位向量表或第一个成组链块，以及卷中的目录区、文件区划分信息都要存放在磁盘中，一般放在卷头位置，在</a:t>
            </a:r>
            <a:r>
              <a:rPr lang="en-US" altLang="zh-CN" dirty="0"/>
              <a:t>UX</a:t>
            </a:r>
            <a:r>
              <a:rPr lang="zh-CN" altLang="en-US" dirty="0"/>
              <a:t>系统中称为超级块。在对卷中的文件进行操作前，超级块需要预先读入系统空闲的主存，并且经常保持主存超级块与磁盘卷中超级块的一致性。</a:t>
            </a:r>
            <a:endParaRPr lang="zh-CN" dirty="0"/>
          </a:p>
        </p:txBody>
      </p:sp>
    </p:spTree>
    <p:extLst>
      <p:ext uri="{BB962C8B-B14F-4D97-AF65-F5344CB8AC3E}">
        <p14:creationId xmlns:p14="http://schemas.microsoft.com/office/powerpoint/2010/main" val="39416588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7192263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35244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9</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文件管理</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10/3/2023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7776864" cy="1569660"/>
          </a:xfrm>
          <a:prstGeom prst="rect">
            <a:avLst/>
          </a:prstGeom>
          <a:noFill/>
        </p:spPr>
        <p:txBody>
          <a:bodyPr wrap="square">
            <a:spAutoFit/>
          </a:bodyPr>
          <a:lstStyle/>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什么是文件？</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单个文件的逻辑结构和物理结构之间是否存在某些制约关系？</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DF1E4D7-C2C7-6D79-794D-24AA0E98331D}"/>
              </a:ext>
            </a:extLst>
          </p:cNvPr>
          <p:cNvPicPr>
            <a:picLocks noChangeAspect="1"/>
          </p:cNvPicPr>
          <p:nvPr/>
        </p:nvPicPr>
        <p:blipFill>
          <a:blip r:embed="rId3"/>
          <a:stretch>
            <a:fillRect/>
          </a:stretch>
        </p:blipFill>
        <p:spPr>
          <a:xfrm>
            <a:off x="356397" y="1371568"/>
            <a:ext cx="8431206" cy="2400363"/>
          </a:xfrm>
          <a:prstGeom prst="rect">
            <a:avLst/>
          </a:prstGeom>
        </p:spPr>
      </p:pic>
    </p:spTree>
    <p:extLst>
      <p:ext uri="{BB962C8B-B14F-4D97-AF65-F5344CB8AC3E}">
        <p14:creationId xmlns:p14="http://schemas.microsoft.com/office/powerpoint/2010/main" val="2543676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1F2EB8F-AB2B-76D4-2995-E2553645BB47}"/>
              </a:ext>
            </a:extLst>
          </p:cNvPr>
          <p:cNvPicPr>
            <a:picLocks noChangeAspect="1"/>
          </p:cNvPicPr>
          <p:nvPr/>
        </p:nvPicPr>
        <p:blipFill>
          <a:blip r:embed="rId3"/>
          <a:stretch>
            <a:fillRect/>
          </a:stretch>
        </p:blipFill>
        <p:spPr>
          <a:xfrm>
            <a:off x="1232720" y="1689984"/>
            <a:ext cx="6678560" cy="1763532"/>
          </a:xfrm>
          <a:prstGeom prst="rect">
            <a:avLst/>
          </a:prstGeom>
        </p:spPr>
      </p:pic>
    </p:spTree>
    <p:extLst>
      <p:ext uri="{BB962C8B-B14F-4D97-AF65-F5344CB8AC3E}">
        <p14:creationId xmlns:p14="http://schemas.microsoft.com/office/powerpoint/2010/main" val="282015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文件控制块</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479F86ED-6794-168A-209C-0F298BFD1643}"/>
              </a:ext>
            </a:extLst>
          </p:cNvPr>
          <p:cNvPicPr>
            <a:picLocks noChangeAspect="1"/>
          </p:cNvPicPr>
          <p:nvPr/>
        </p:nvPicPr>
        <p:blipFill>
          <a:blip r:embed="rId3"/>
          <a:stretch>
            <a:fillRect/>
          </a:stretch>
        </p:blipFill>
        <p:spPr>
          <a:xfrm>
            <a:off x="607947" y="2499742"/>
            <a:ext cx="3989719" cy="2362262"/>
          </a:xfrm>
          <a:prstGeom prst="rect">
            <a:avLst/>
          </a:prstGeom>
        </p:spPr>
      </p:pic>
      <p:pic>
        <p:nvPicPr>
          <p:cNvPr id="8" name="图片 7">
            <a:extLst>
              <a:ext uri="{FF2B5EF4-FFF2-40B4-BE49-F238E27FC236}">
                <a16:creationId xmlns:a16="http://schemas.microsoft.com/office/drawing/2014/main" id="{120BAEEA-E38D-182B-C720-43772ED5E5EC}"/>
              </a:ext>
            </a:extLst>
          </p:cNvPr>
          <p:cNvPicPr>
            <a:picLocks noChangeAspect="1"/>
          </p:cNvPicPr>
          <p:nvPr/>
        </p:nvPicPr>
        <p:blipFill>
          <a:blip r:embed="rId4"/>
          <a:stretch>
            <a:fillRect/>
          </a:stretch>
        </p:blipFill>
        <p:spPr>
          <a:xfrm>
            <a:off x="1305449" y="1203598"/>
            <a:ext cx="6188690" cy="996069"/>
          </a:xfrm>
          <a:prstGeom prst="rect">
            <a:avLst/>
          </a:prstGeom>
        </p:spPr>
      </p:pic>
      <p:pic>
        <p:nvPicPr>
          <p:cNvPr id="10" name="图片 9">
            <a:extLst>
              <a:ext uri="{FF2B5EF4-FFF2-40B4-BE49-F238E27FC236}">
                <a16:creationId xmlns:a16="http://schemas.microsoft.com/office/drawing/2014/main" id="{32739B3B-5365-82B2-7433-09762CF5F077}"/>
              </a:ext>
            </a:extLst>
          </p:cNvPr>
          <p:cNvPicPr>
            <a:picLocks noChangeAspect="1"/>
          </p:cNvPicPr>
          <p:nvPr/>
        </p:nvPicPr>
        <p:blipFill>
          <a:blip r:embed="rId5"/>
          <a:stretch>
            <a:fillRect/>
          </a:stretch>
        </p:blipFill>
        <p:spPr>
          <a:xfrm>
            <a:off x="4597666" y="2546374"/>
            <a:ext cx="3950942" cy="2232248"/>
          </a:xfrm>
          <a:prstGeom prst="rect">
            <a:avLst/>
          </a:prstGeom>
        </p:spPr>
      </p:pic>
    </p:spTree>
    <p:extLst>
      <p:ext uri="{BB962C8B-B14F-4D97-AF65-F5344CB8AC3E}">
        <p14:creationId xmlns:p14="http://schemas.microsoft.com/office/powerpoint/2010/main" val="1790055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索引节点</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7" name="图片 6">
            <a:extLst>
              <a:ext uri="{FF2B5EF4-FFF2-40B4-BE49-F238E27FC236}">
                <a16:creationId xmlns:a16="http://schemas.microsoft.com/office/drawing/2014/main" id="{04C4D0ED-1FC1-FF06-4EAB-11E8D34423E7}"/>
              </a:ext>
            </a:extLst>
          </p:cNvPr>
          <p:cNvPicPr>
            <a:picLocks noChangeAspect="1"/>
          </p:cNvPicPr>
          <p:nvPr/>
        </p:nvPicPr>
        <p:blipFill>
          <a:blip r:embed="rId3"/>
          <a:stretch>
            <a:fillRect/>
          </a:stretch>
        </p:blipFill>
        <p:spPr>
          <a:xfrm>
            <a:off x="519687" y="930685"/>
            <a:ext cx="8104626" cy="3282129"/>
          </a:xfrm>
          <a:prstGeom prst="rect">
            <a:avLst/>
          </a:prstGeom>
        </p:spPr>
      </p:pic>
    </p:spTree>
    <p:extLst>
      <p:ext uri="{BB962C8B-B14F-4D97-AF65-F5344CB8AC3E}">
        <p14:creationId xmlns:p14="http://schemas.microsoft.com/office/powerpoint/2010/main" val="1487859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43AD0162-536D-9AC0-E773-E7F7C293D775}"/>
              </a:ext>
            </a:extLst>
          </p:cNvPr>
          <p:cNvPicPr>
            <a:picLocks noChangeAspect="1"/>
          </p:cNvPicPr>
          <p:nvPr/>
        </p:nvPicPr>
        <p:blipFill>
          <a:blip r:embed="rId3"/>
          <a:stretch>
            <a:fillRect/>
          </a:stretch>
        </p:blipFill>
        <p:spPr>
          <a:xfrm>
            <a:off x="0" y="1713846"/>
            <a:ext cx="9144000" cy="1715808"/>
          </a:xfrm>
          <a:prstGeom prst="rect">
            <a:avLst/>
          </a:prstGeom>
        </p:spPr>
      </p:pic>
    </p:spTree>
    <p:extLst>
      <p:ext uri="{BB962C8B-B14F-4D97-AF65-F5344CB8AC3E}">
        <p14:creationId xmlns:p14="http://schemas.microsoft.com/office/powerpoint/2010/main" val="104683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D2ABFCAB-1389-E39E-E360-A0A5D4A2CA85}"/>
              </a:ext>
            </a:extLst>
          </p:cNvPr>
          <p:cNvPicPr>
            <a:picLocks noChangeAspect="1"/>
          </p:cNvPicPr>
          <p:nvPr/>
        </p:nvPicPr>
        <p:blipFill>
          <a:blip r:embed="rId3"/>
          <a:stretch>
            <a:fillRect/>
          </a:stretch>
        </p:blipFill>
        <p:spPr>
          <a:xfrm>
            <a:off x="755576" y="1059582"/>
            <a:ext cx="707590" cy="250378"/>
          </a:xfrm>
          <a:prstGeom prst="rect">
            <a:avLst/>
          </a:prstGeom>
        </p:spPr>
      </p:pic>
      <p:pic>
        <p:nvPicPr>
          <p:cNvPr id="7" name="图片 6">
            <a:extLst>
              <a:ext uri="{FF2B5EF4-FFF2-40B4-BE49-F238E27FC236}">
                <a16:creationId xmlns:a16="http://schemas.microsoft.com/office/drawing/2014/main" id="{5353F721-1587-C38F-647D-9864A018643E}"/>
              </a:ext>
            </a:extLst>
          </p:cNvPr>
          <p:cNvPicPr>
            <a:picLocks noChangeAspect="1"/>
          </p:cNvPicPr>
          <p:nvPr/>
        </p:nvPicPr>
        <p:blipFill>
          <a:blip r:embed="rId4"/>
          <a:stretch>
            <a:fillRect/>
          </a:stretch>
        </p:blipFill>
        <p:spPr>
          <a:xfrm>
            <a:off x="0" y="1512115"/>
            <a:ext cx="9144000" cy="221182"/>
          </a:xfrm>
          <a:prstGeom prst="rect">
            <a:avLst/>
          </a:prstGeom>
        </p:spPr>
      </p:pic>
      <p:pic>
        <p:nvPicPr>
          <p:cNvPr id="9" name="图片 8">
            <a:extLst>
              <a:ext uri="{FF2B5EF4-FFF2-40B4-BE49-F238E27FC236}">
                <a16:creationId xmlns:a16="http://schemas.microsoft.com/office/drawing/2014/main" id="{3517CE66-6C19-780E-C648-B97D4604A83E}"/>
              </a:ext>
            </a:extLst>
          </p:cNvPr>
          <p:cNvPicPr>
            <a:picLocks noChangeAspect="1"/>
          </p:cNvPicPr>
          <p:nvPr/>
        </p:nvPicPr>
        <p:blipFill>
          <a:blip r:embed="rId5"/>
          <a:stretch>
            <a:fillRect/>
          </a:stretch>
        </p:blipFill>
        <p:spPr>
          <a:xfrm>
            <a:off x="0" y="1793934"/>
            <a:ext cx="3908074" cy="283036"/>
          </a:xfrm>
          <a:prstGeom prst="rect">
            <a:avLst/>
          </a:prstGeom>
        </p:spPr>
      </p:pic>
      <p:pic>
        <p:nvPicPr>
          <p:cNvPr id="11" name="图片 10">
            <a:extLst>
              <a:ext uri="{FF2B5EF4-FFF2-40B4-BE49-F238E27FC236}">
                <a16:creationId xmlns:a16="http://schemas.microsoft.com/office/drawing/2014/main" id="{A31D8EA5-271A-DD2F-6216-BA0F4411220C}"/>
              </a:ext>
            </a:extLst>
          </p:cNvPr>
          <p:cNvPicPr>
            <a:picLocks noChangeAspect="1"/>
          </p:cNvPicPr>
          <p:nvPr/>
        </p:nvPicPr>
        <p:blipFill>
          <a:blip r:embed="rId6"/>
          <a:stretch>
            <a:fillRect/>
          </a:stretch>
        </p:blipFill>
        <p:spPr>
          <a:xfrm>
            <a:off x="611560" y="2185830"/>
            <a:ext cx="8077411" cy="522528"/>
          </a:xfrm>
          <a:prstGeom prst="rect">
            <a:avLst/>
          </a:prstGeom>
        </p:spPr>
      </p:pic>
      <p:pic>
        <p:nvPicPr>
          <p:cNvPr id="3" name="图片 2">
            <a:extLst>
              <a:ext uri="{FF2B5EF4-FFF2-40B4-BE49-F238E27FC236}">
                <a16:creationId xmlns:a16="http://schemas.microsoft.com/office/drawing/2014/main" id="{79FC577A-119C-D51D-64C3-B28E7F0FAFFA}"/>
              </a:ext>
            </a:extLst>
          </p:cNvPr>
          <p:cNvPicPr>
            <a:picLocks noChangeAspect="1"/>
          </p:cNvPicPr>
          <p:nvPr/>
        </p:nvPicPr>
        <p:blipFill>
          <a:blip r:embed="rId7"/>
          <a:stretch>
            <a:fillRect/>
          </a:stretch>
        </p:blipFill>
        <p:spPr>
          <a:xfrm>
            <a:off x="1972967" y="2931790"/>
            <a:ext cx="5198065" cy="1856063"/>
          </a:xfrm>
          <a:prstGeom prst="rect">
            <a:avLst/>
          </a:prstGeom>
        </p:spPr>
      </p:pic>
    </p:spTree>
    <p:extLst>
      <p:ext uri="{BB962C8B-B14F-4D97-AF65-F5344CB8AC3E}">
        <p14:creationId xmlns:p14="http://schemas.microsoft.com/office/powerpoint/2010/main" val="1163696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614B0833-82B7-A0CA-7266-2210A851E98F}"/>
              </a:ext>
            </a:extLst>
          </p:cNvPr>
          <p:cNvPicPr>
            <a:picLocks noChangeAspect="1"/>
          </p:cNvPicPr>
          <p:nvPr/>
        </p:nvPicPr>
        <p:blipFill>
          <a:blip r:embed="rId3"/>
          <a:stretch>
            <a:fillRect/>
          </a:stretch>
        </p:blipFill>
        <p:spPr>
          <a:xfrm>
            <a:off x="0" y="1563638"/>
            <a:ext cx="9144000" cy="826320"/>
          </a:xfrm>
          <a:prstGeom prst="rect">
            <a:avLst/>
          </a:prstGeom>
        </p:spPr>
      </p:pic>
    </p:spTree>
    <p:extLst>
      <p:ext uri="{BB962C8B-B14F-4D97-AF65-F5344CB8AC3E}">
        <p14:creationId xmlns:p14="http://schemas.microsoft.com/office/powerpoint/2010/main" val="243991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文件保护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ABAA25DA-9BB5-6F8B-2118-C4AA5A8D0C99}"/>
              </a:ext>
            </a:extLst>
          </p:cNvPr>
          <p:cNvPicPr>
            <a:picLocks noChangeAspect="1"/>
          </p:cNvPicPr>
          <p:nvPr/>
        </p:nvPicPr>
        <p:blipFill>
          <a:blip r:embed="rId3"/>
          <a:stretch>
            <a:fillRect/>
          </a:stretch>
        </p:blipFill>
        <p:spPr>
          <a:xfrm>
            <a:off x="1055822" y="1883210"/>
            <a:ext cx="7032355" cy="1377079"/>
          </a:xfrm>
          <a:prstGeom prst="rect">
            <a:avLst/>
          </a:prstGeom>
        </p:spPr>
      </p:pic>
    </p:spTree>
    <p:extLst>
      <p:ext uri="{BB962C8B-B14F-4D97-AF65-F5344CB8AC3E}">
        <p14:creationId xmlns:p14="http://schemas.microsoft.com/office/powerpoint/2010/main" val="2303928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文件保护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ECFD519-041E-CF5A-1F6A-D170F7CD3F1E}"/>
              </a:ext>
            </a:extLst>
          </p:cNvPr>
          <p:cNvPicPr>
            <a:picLocks noChangeAspect="1"/>
          </p:cNvPicPr>
          <p:nvPr/>
        </p:nvPicPr>
        <p:blipFill>
          <a:blip r:embed="rId3"/>
          <a:stretch>
            <a:fillRect/>
          </a:stretch>
        </p:blipFill>
        <p:spPr>
          <a:xfrm>
            <a:off x="220322" y="2046500"/>
            <a:ext cx="8703356" cy="1050499"/>
          </a:xfrm>
          <a:prstGeom prst="rect">
            <a:avLst/>
          </a:prstGeom>
        </p:spPr>
      </p:pic>
      <p:pic>
        <p:nvPicPr>
          <p:cNvPr id="7" name="图片 6">
            <a:extLst>
              <a:ext uri="{FF2B5EF4-FFF2-40B4-BE49-F238E27FC236}">
                <a16:creationId xmlns:a16="http://schemas.microsoft.com/office/drawing/2014/main" id="{7FE74CF4-AF09-5979-934E-29CA9F6C1CC6}"/>
              </a:ext>
            </a:extLst>
          </p:cNvPr>
          <p:cNvPicPr>
            <a:picLocks noChangeAspect="1"/>
          </p:cNvPicPr>
          <p:nvPr/>
        </p:nvPicPr>
        <p:blipFill>
          <a:blip r:embed="rId4"/>
          <a:stretch>
            <a:fillRect/>
          </a:stretch>
        </p:blipFill>
        <p:spPr>
          <a:xfrm>
            <a:off x="220322" y="3096999"/>
            <a:ext cx="4855156" cy="865437"/>
          </a:xfrm>
          <a:prstGeom prst="rect">
            <a:avLst/>
          </a:prstGeom>
        </p:spPr>
      </p:pic>
    </p:spTree>
    <p:extLst>
      <p:ext uri="{BB962C8B-B14F-4D97-AF65-F5344CB8AC3E}">
        <p14:creationId xmlns:p14="http://schemas.microsoft.com/office/powerpoint/2010/main" val="270644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ADF7148-83A8-429E-3F00-EB6FE7C21455}"/>
              </a:ext>
            </a:extLst>
          </p:cNvPr>
          <p:cNvPicPr>
            <a:picLocks noChangeAspect="1"/>
          </p:cNvPicPr>
          <p:nvPr/>
        </p:nvPicPr>
        <p:blipFill>
          <a:blip r:embed="rId3"/>
          <a:stretch>
            <a:fillRect/>
          </a:stretch>
        </p:blipFill>
        <p:spPr>
          <a:xfrm>
            <a:off x="1986575" y="1940362"/>
            <a:ext cx="5170850" cy="1262776"/>
          </a:xfrm>
          <a:prstGeom prst="rect">
            <a:avLst/>
          </a:prstGeom>
        </p:spPr>
      </p:pic>
    </p:spTree>
    <p:extLst>
      <p:ext uri="{BB962C8B-B14F-4D97-AF65-F5344CB8AC3E}">
        <p14:creationId xmlns:p14="http://schemas.microsoft.com/office/powerpoint/2010/main" val="142236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有结构文件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CEE9078B-1665-9DEE-A900-A5DF349EDD7D}"/>
              </a:ext>
            </a:extLst>
          </p:cNvPr>
          <p:cNvPicPr>
            <a:picLocks noChangeAspect="1"/>
          </p:cNvPicPr>
          <p:nvPr/>
        </p:nvPicPr>
        <p:blipFill>
          <a:blip r:embed="rId3"/>
          <a:stretch>
            <a:fillRect/>
          </a:stretch>
        </p:blipFill>
        <p:spPr>
          <a:xfrm>
            <a:off x="683568" y="2283718"/>
            <a:ext cx="8160834" cy="1077846"/>
          </a:xfrm>
          <a:prstGeom prst="rect">
            <a:avLst/>
          </a:prstGeom>
        </p:spPr>
      </p:pic>
    </p:spTree>
    <p:extLst>
      <p:ext uri="{BB962C8B-B14F-4D97-AF65-F5344CB8AC3E}">
        <p14:creationId xmlns:p14="http://schemas.microsoft.com/office/powerpoint/2010/main" val="3199845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有结构文件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DF67FFF-C6D9-BD22-C3B0-57A6C4BD4729}"/>
              </a:ext>
            </a:extLst>
          </p:cNvPr>
          <p:cNvPicPr>
            <a:picLocks noChangeAspect="1"/>
          </p:cNvPicPr>
          <p:nvPr/>
        </p:nvPicPr>
        <p:blipFill>
          <a:blip r:embed="rId3"/>
          <a:stretch>
            <a:fillRect/>
          </a:stretch>
        </p:blipFill>
        <p:spPr>
          <a:xfrm>
            <a:off x="2195736" y="915566"/>
            <a:ext cx="4577563" cy="566072"/>
          </a:xfrm>
          <a:prstGeom prst="rect">
            <a:avLst/>
          </a:prstGeom>
        </p:spPr>
      </p:pic>
      <p:pic>
        <p:nvPicPr>
          <p:cNvPr id="7" name="图片 6">
            <a:extLst>
              <a:ext uri="{FF2B5EF4-FFF2-40B4-BE49-F238E27FC236}">
                <a16:creationId xmlns:a16="http://schemas.microsoft.com/office/drawing/2014/main" id="{3B97FEEB-7BA9-88B7-0848-96FA279874A2}"/>
              </a:ext>
            </a:extLst>
          </p:cNvPr>
          <p:cNvPicPr>
            <a:picLocks noChangeAspect="1"/>
          </p:cNvPicPr>
          <p:nvPr/>
        </p:nvPicPr>
        <p:blipFill>
          <a:blip r:embed="rId4"/>
          <a:stretch>
            <a:fillRect/>
          </a:stretch>
        </p:blipFill>
        <p:spPr>
          <a:xfrm>
            <a:off x="1728418" y="1851670"/>
            <a:ext cx="5764136" cy="2269731"/>
          </a:xfrm>
          <a:prstGeom prst="rect">
            <a:avLst/>
          </a:prstGeom>
        </p:spPr>
      </p:pic>
    </p:spTree>
    <p:extLst>
      <p:ext uri="{BB962C8B-B14F-4D97-AF65-F5344CB8AC3E}">
        <p14:creationId xmlns:p14="http://schemas.microsoft.com/office/powerpoint/2010/main" val="1377378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有结构文件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BC68069-B741-609D-A798-B84D6D80E93F}"/>
              </a:ext>
            </a:extLst>
          </p:cNvPr>
          <p:cNvPicPr>
            <a:picLocks noChangeAspect="1"/>
          </p:cNvPicPr>
          <p:nvPr/>
        </p:nvPicPr>
        <p:blipFill>
          <a:blip r:embed="rId3"/>
          <a:stretch>
            <a:fillRect/>
          </a:stretch>
        </p:blipFill>
        <p:spPr>
          <a:xfrm>
            <a:off x="1183733" y="843558"/>
            <a:ext cx="6776534" cy="707590"/>
          </a:xfrm>
          <a:prstGeom prst="rect">
            <a:avLst/>
          </a:prstGeom>
        </p:spPr>
      </p:pic>
      <p:pic>
        <p:nvPicPr>
          <p:cNvPr id="5" name="图片 4">
            <a:extLst>
              <a:ext uri="{FF2B5EF4-FFF2-40B4-BE49-F238E27FC236}">
                <a16:creationId xmlns:a16="http://schemas.microsoft.com/office/drawing/2014/main" id="{CC3F9820-4275-2450-9040-A4D5B8463658}"/>
              </a:ext>
            </a:extLst>
          </p:cNvPr>
          <p:cNvPicPr>
            <a:picLocks noChangeAspect="1"/>
          </p:cNvPicPr>
          <p:nvPr/>
        </p:nvPicPr>
        <p:blipFill>
          <a:blip r:embed="rId4"/>
          <a:stretch>
            <a:fillRect/>
          </a:stretch>
        </p:blipFill>
        <p:spPr>
          <a:xfrm>
            <a:off x="1889870" y="1851670"/>
            <a:ext cx="5579075" cy="2579982"/>
          </a:xfrm>
          <a:prstGeom prst="rect">
            <a:avLst/>
          </a:prstGeom>
        </p:spPr>
      </p:pic>
    </p:spTree>
    <p:extLst>
      <p:ext uri="{BB962C8B-B14F-4D97-AF65-F5344CB8AC3E}">
        <p14:creationId xmlns:p14="http://schemas.microsoft.com/office/powerpoint/2010/main" val="1157493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有结构文件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A8E2D01-1C09-E337-48EB-23A30D90B9B7}"/>
              </a:ext>
            </a:extLst>
          </p:cNvPr>
          <p:cNvPicPr>
            <a:picLocks noChangeAspect="1"/>
          </p:cNvPicPr>
          <p:nvPr/>
        </p:nvPicPr>
        <p:blipFill>
          <a:blip r:embed="rId3"/>
          <a:stretch>
            <a:fillRect/>
          </a:stretch>
        </p:blipFill>
        <p:spPr>
          <a:xfrm>
            <a:off x="2413850" y="2373080"/>
            <a:ext cx="4316299" cy="397339"/>
          </a:xfrm>
          <a:prstGeom prst="rect">
            <a:avLst/>
          </a:prstGeom>
        </p:spPr>
      </p:pic>
    </p:spTree>
    <p:extLst>
      <p:ext uri="{BB962C8B-B14F-4D97-AF65-F5344CB8AC3E}">
        <p14:creationId xmlns:p14="http://schemas.microsoft.com/office/powerpoint/2010/main" val="694989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文件的物理结构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06994338-B546-830A-D5F7-84A6EC0F3C2F}"/>
              </a:ext>
            </a:extLst>
          </p:cNvPr>
          <p:cNvPicPr>
            <a:picLocks noChangeAspect="1"/>
          </p:cNvPicPr>
          <p:nvPr/>
        </p:nvPicPr>
        <p:blipFill>
          <a:blip r:embed="rId3"/>
          <a:stretch>
            <a:fillRect/>
          </a:stretch>
        </p:blipFill>
        <p:spPr>
          <a:xfrm>
            <a:off x="1237179" y="811909"/>
            <a:ext cx="4784397" cy="887209"/>
          </a:xfrm>
          <a:prstGeom prst="rect">
            <a:avLst/>
          </a:prstGeom>
        </p:spPr>
      </p:pic>
      <p:pic>
        <p:nvPicPr>
          <p:cNvPr id="7" name="图片 6">
            <a:extLst>
              <a:ext uri="{FF2B5EF4-FFF2-40B4-BE49-F238E27FC236}">
                <a16:creationId xmlns:a16="http://schemas.microsoft.com/office/drawing/2014/main" id="{0103170A-9FF8-241B-D178-7AA2CC837503}"/>
              </a:ext>
            </a:extLst>
          </p:cNvPr>
          <p:cNvPicPr>
            <a:picLocks noChangeAspect="1"/>
          </p:cNvPicPr>
          <p:nvPr/>
        </p:nvPicPr>
        <p:blipFill>
          <a:blip r:embed="rId4"/>
          <a:stretch>
            <a:fillRect/>
          </a:stretch>
        </p:blipFill>
        <p:spPr>
          <a:xfrm>
            <a:off x="1835696" y="1874783"/>
            <a:ext cx="3587364" cy="2718964"/>
          </a:xfrm>
          <a:prstGeom prst="rect">
            <a:avLst/>
          </a:prstGeom>
        </p:spPr>
      </p:pic>
    </p:spTree>
    <p:extLst>
      <p:ext uri="{BB962C8B-B14F-4D97-AF65-F5344CB8AC3E}">
        <p14:creationId xmlns:p14="http://schemas.microsoft.com/office/powerpoint/2010/main" val="1179162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文件的物理结构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26F7A849-AF7D-72B5-5D25-9D4F66A84EFC}"/>
              </a:ext>
            </a:extLst>
          </p:cNvPr>
          <p:cNvPicPr>
            <a:picLocks noChangeAspect="1"/>
          </p:cNvPicPr>
          <p:nvPr/>
        </p:nvPicPr>
        <p:blipFill>
          <a:blip r:embed="rId3"/>
          <a:stretch>
            <a:fillRect/>
          </a:stretch>
        </p:blipFill>
        <p:spPr>
          <a:xfrm>
            <a:off x="400744" y="1635646"/>
            <a:ext cx="8342511" cy="1872208"/>
          </a:xfrm>
          <a:prstGeom prst="rect">
            <a:avLst/>
          </a:prstGeom>
        </p:spPr>
      </p:pic>
    </p:spTree>
    <p:extLst>
      <p:ext uri="{BB962C8B-B14F-4D97-AF65-F5344CB8AC3E}">
        <p14:creationId xmlns:p14="http://schemas.microsoft.com/office/powerpoint/2010/main" val="3231650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文件的物理结构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7" name="图片 6">
            <a:extLst>
              <a:ext uri="{FF2B5EF4-FFF2-40B4-BE49-F238E27FC236}">
                <a16:creationId xmlns:a16="http://schemas.microsoft.com/office/drawing/2014/main" id="{0E2F5B65-B9B2-501D-FD84-962EC9E61CFF}"/>
              </a:ext>
            </a:extLst>
          </p:cNvPr>
          <p:cNvPicPr>
            <a:picLocks noChangeAspect="1"/>
          </p:cNvPicPr>
          <p:nvPr/>
        </p:nvPicPr>
        <p:blipFill>
          <a:blip r:embed="rId3"/>
          <a:stretch>
            <a:fillRect/>
          </a:stretch>
        </p:blipFill>
        <p:spPr>
          <a:xfrm>
            <a:off x="323527" y="1131590"/>
            <a:ext cx="4314609" cy="3600400"/>
          </a:xfrm>
          <a:prstGeom prst="rect">
            <a:avLst/>
          </a:prstGeom>
        </p:spPr>
      </p:pic>
      <p:pic>
        <p:nvPicPr>
          <p:cNvPr id="9" name="图片 8">
            <a:extLst>
              <a:ext uri="{FF2B5EF4-FFF2-40B4-BE49-F238E27FC236}">
                <a16:creationId xmlns:a16="http://schemas.microsoft.com/office/drawing/2014/main" id="{0101766B-3319-A67A-BC2B-07C222641AFB}"/>
              </a:ext>
            </a:extLst>
          </p:cNvPr>
          <p:cNvPicPr>
            <a:picLocks noChangeAspect="1"/>
          </p:cNvPicPr>
          <p:nvPr/>
        </p:nvPicPr>
        <p:blipFill>
          <a:blip r:embed="rId4"/>
          <a:stretch>
            <a:fillRect/>
          </a:stretch>
        </p:blipFill>
        <p:spPr>
          <a:xfrm>
            <a:off x="4932040" y="1320122"/>
            <a:ext cx="3897513" cy="3339860"/>
          </a:xfrm>
          <a:prstGeom prst="rect">
            <a:avLst/>
          </a:prstGeom>
        </p:spPr>
      </p:pic>
    </p:spTree>
    <p:extLst>
      <p:ext uri="{BB962C8B-B14F-4D97-AF65-F5344CB8AC3E}">
        <p14:creationId xmlns:p14="http://schemas.microsoft.com/office/powerpoint/2010/main" val="1797097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文件的物理结构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8926B24-E1E5-2EFA-2D04-A8FDE1109B97}"/>
              </a:ext>
            </a:extLst>
          </p:cNvPr>
          <p:cNvPicPr>
            <a:picLocks noChangeAspect="1"/>
          </p:cNvPicPr>
          <p:nvPr/>
        </p:nvPicPr>
        <p:blipFill>
          <a:blip r:embed="rId3"/>
          <a:stretch>
            <a:fillRect/>
          </a:stretch>
        </p:blipFill>
        <p:spPr>
          <a:xfrm>
            <a:off x="1499812" y="661965"/>
            <a:ext cx="5992742" cy="1083157"/>
          </a:xfrm>
          <a:prstGeom prst="rect">
            <a:avLst/>
          </a:prstGeom>
        </p:spPr>
      </p:pic>
      <p:pic>
        <p:nvPicPr>
          <p:cNvPr id="7" name="图片 6">
            <a:extLst>
              <a:ext uri="{FF2B5EF4-FFF2-40B4-BE49-F238E27FC236}">
                <a16:creationId xmlns:a16="http://schemas.microsoft.com/office/drawing/2014/main" id="{C640865B-B9BF-9929-1A68-359F8C290B3E}"/>
              </a:ext>
            </a:extLst>
          </p:cNvPr>
          <p:cNvPicPr>
            <a:picLocks noChangeAspect="1"/>
          </p:cNvPicPr>
          <p:nvPr/>
        </p:nvPicPr>
        <p:blipFill>
          <a:blip r:embed="rId4"/>
          <a:stretch>
            <a:fillRect/>
          </a:stretch>
        </p:blipFill>
        <p:spPr>
          <a:xfrm>
            <a:off x="2361146" y="1770842"/>
            <a:ext cx="4270073" cy="3282561"/>
          </a:xfrm>
          <a:prstGeom prst="rect">
            <a:avLst/>
          </a:prstGeom>
        </p:spPr>
      </p:pic>
    </p:spTree>
    <p:extLst>
      <p:ext uri="{BB962C8B-B14F-4D97-AF65-F5344CB8AC3E}">
        <p14:creationId xmlns:p14="http://schemas.microsoft.com/office/powerpoint/2010/main" val="625768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文件的物理结构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8274998B-6DCD-1EE9-8CAB-4BACC52BF9F6}"/>
              </a:ext>
            </a:extLst>
          </p:cNvPr>
          <p:cNvPicPr>
            <a:picLocks noChangeAspect="1"/>
          </p:cNvPicPr>
          <p:nvPr/>
        </p:nvPicPr>
        <p:blipFill>
          <a:blip r:embed="rId3"/>
          <a:stretch>
            <a:fillRect/>
          </a:stretch>
        </p:blipFill>
        <p:spPr>
          <a:xfrm>
            <a:off x="1547664" y="843558"/>
            <a:ext cx="5252495" cy="4082250"/>
          </a:xfrm>
          <a:prstGeom prst="rect">
            <a:avLst/>
          </a:prstGeom>
        </p:spPr>
      </p:pic>
    </p:spTree>
    <p:extLst>
      <p:ext uri="{BB962C8B-B14F-4D97-AF65-F5344CB8AC3E}">
        <p14:creationId xmlns:p14="http://schemas.microsoft.com/office/powerpoint/2010/main" val="1623339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D346EF2D-9FB9-6C49-2D87-BB2BEB249675}"/>
              </a:ext>
            </a:extLst>
          </p:cNvPr>
          <p:cNvPicPr>
            <a:picLocks noChangeAspect="1"/>
          </p:cNvPicPr>
          <p:nvPr/>
        </p:nvPicPr>
        <p:blipFill>
          <a:blip r:embed="rId3"/>
          <a:stretch>
            <a:fillRect/>
          </a:stretch>
        </p:blipFill>
        <p:spPr>
          <a:xfrm>
            <a:off x="0" y="1181245"/>
            <a:ext cx="9144000" cy="2781010"/>
          </a:xfrm>
          <a:prstGeom prst="rect">
            <a:avLst/>
          </a:prstGeom>
        </p:spPr>
      </p:pic>
    </p:spTree>
    <p:extLst>
      <p:ext uri="{BB962C8B-B14F-4D97-AF65-F5344CB8AC3E}">
        <p14:creationId xmlns:p14="http://schemas.microsoft.com/office/powerpoint/2010/main" val="3433125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3FE20531-71DA-E8C3-D0D9-72272192EDFF}"/>
              </a:ext>
            </a:extLst>
          </p:cNvPr>
          <p:cNvPicPr>
            <a:picLocks noChangeAspect="1"/>
          </p:cNvPicPr>
          <p:nvPr/>
        </p:nvPicPr>
        <p:blipFill>
          <a:blip r:embed="rId3"/>
          <a:stretch>
            <a:fillRect/>
          </a:stretch>
        </p:blipFill>
        <p:spPr>
          <a:xfrm>
            <a:off x="1442275" y="771550"/>
            <a:ext cx="6259449" cy="756577"/>
          </a:xfrm>
          <a:prstGeom prst="rect">
            <a:avLst/>
          </a:prstGeom>
        </p:spPr>
      </p:pic>
      <p:pic>
        <p:nvPicPr>
          <p:cNvPr id="5" name="图片 4">
            <a:extLst>
              <a:ext uri="{FF2B5EF4-FFF2-40B4-BE49-F238E27FC236}">
                <a16:creationId xmlns:a16="http://schemas.microsoft.com/office/drawing/2014/main" id="{8A9FD0E1-3A8D-8597-7A6C-AB6559738E19}"/>
              </a:ext>
            </a:extLst>
          </p:cNvPr>
          <p:cNvPicPr>
            <a:picLocks noChangeAspect="1"/>
          </p:cNvPicPr>
          <p:nvPr/>
        </p:nvPicPr>
        <p:blipFill>
          <a:blip r:embed="rId4"/>
          <a:stretch>
            <a:fillRect/>
          </a:stretch>
        </p:blipFill>
        <p:spPr>
          <a:xfrm>
            <a:off x="2364863" y="1904982"/>
            <a:ext cx="4414273" cy="1333535"/>
          </a:xfrm>
          <a:prstGeom prst="rect">
            <a:avLst/>
          </a:prstGeom>
        </p:spPr>
      </p:pic>
    </p:spTree>
    <p:extLst>
      <p:ext uri="{BB962C8B-B14F-4D97-AF65-F5344CB8AC3E}">
        <p14:creationId xmlns:p14="http://schemas.microsoft.com/office/powerpoint/2010/main" val="1107498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01D1FCC-A2FF-8168-1F20-DB3C79D6BD8D}"/>
              </a:ext>
            </a:extLst>
          </p:cNvPr>
          <p:cNvPicPr>
            <a:picLocks noChangeAspect="1"/>
          </p:cNvPicPr>
          <p:nvPr/>
        </p:nvPicPr>
        <p:blipFill>
          <a:blip r:embed="rId3"/>
          <a:stretch>
            <a:fillRect/>
          </a:stretch>
        </p:blipFill>
        <p:spPr>
          <a:xfrm>
            <a:off x="144120" y="987574"/>
            <a:ext cx="8855760" cy="740248"/>
          </a:xfrm>
          <a:prstGeom prst="rect">
            <a:avLst/>
          </a:prstGeom>
        </p:spPr>
      </p:pic>
      <p:pic>
        <p:nvPicPr>
          <p:cNvPr id="5" name="图片 4">
            <a:extLst>
              <a:ext uri="{FF2B5EF4-FFF2-40B4-BE49-F238E27FC236}">
                <a16:creationId xmlns:a16="http://schemas.microsoft.com/office/drawing/2014/main" id="{3BD0E495-251B-737F-508E-C61F2FB2E778}"/>
              </a:ext>
            </a:extLst>
          </p:cNvPr>
          <p:cNvPicPr>
            <a:picLocks noChangeAspect="1"/>
          </p:cNvPicPr>
          <p:nvPr/>
        </p:nvPicPr>
        <p:blipFill>
          <a:blip r:embed="rId4"/>
          <a:stretch>
            <a:fillRect/>
          </a:stretch>
        </p:blipFill>
        <p:spPr>
          <a:xfrm>
            <a:off x="1763688" y="2188501"/>
            <a:ext cx="5927426" cy="1997581"/>
          </a:xfrm>
          <a:prstGeom prst="rect">
            <a:avLst/>
          </a:prstGeom>
        </p:spPr>
      </p:pic>
    </p:spTree>
    <p:extLst>
      <p:ext uri="{BB962C8B-B14F-4D97-AF65-F5344CB8AC3E}">
        <p14:creationId xmlns:p14="http://schemas.microsoft.com/office/powerpoint/2010/main" val="3927347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7D8B397-BF47-4485-3482-4296D5C8EB0D}"/>
              </a:ext>
            </a:extLst>
          </p:cNvPr>
          <p:cNvPicPr>
            <a:picLocks noChangeAspect="1"/>
          </p:cNvPicPr>
          <p:nvPr/>
        </p:nvPicPr>
        <p:blipFill>
          <a:blip r:embed="rId3"/>
          <a:stretch>
            <a:fillRect/>
          </a:stretch>
        </p:blipFill>
        <p:spPr>
          <a:xfrm>
            <a:off x="1403648" y="915566"/>
            <a:ext cx="6210462" cy="1012398"/>
          </a:xfrm>
          <a:prstGeom prst="rect">
            <a:avLst/>
          </a:prstGeom>
        </p:spPr>
      </p:pic>
      <p:pic>
        <p:nvPicPr>
          <p:cNvPr id="5" name="图片 4">
            <a:extLst>
              <a:ext uri="{FF2B5EF4-FFF2-40B4-BE49-F238E27FC236}">
                <a16:creationId xmlns:a16="http://schemas.microsoft.com/office/drawing/2014/main" id="{F4BE9D75-CC31-6746-1F9F-DB6509012401}"/>
              </a:ext>
            </a:extLst>
          </p:cNvPr>
          <p:cNvPicPr>
            <a:picLocks noChangeAspect="1"/>
          </p:cNvPicPr>
          <p:nvPr/>
        </p:nvPicPr>
        <p:blipFill>
          <a:blip r:embed="rId4"/>
          <a:stretch>
            <a:fillRect/>
          </a:stretch>
        </p:blipFill>
        <p:spPr>
          <a:xfrm>
            <a:off x="2299547" y="1995686"/>
            <a:ext cx="4544905" cy="2079226"/>
          </a:xfrm>
          <a:prstGeom prst="rect">
            <a:avLst/>
          </a:prstGeom>
        </p:spPr>
      </p:pic>
    </p:spTree>
    <p:extLst>
      <p:ext uri="{BB962C8B-B14F-4D97-AF65-F5344CB8AC3E}">
        <p14:creationId xmlns:p14="http://schemas.microsoft.com/office/powerpoint/2010/main" val="341602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6B784058-B247-F8F0-06C8-CEC1F5BB14B3}"/>
              </a:ext>
            </a:extLst>
          </p:cNvPr>
          <p:cNvPicPr>
            <a:picLocks noChangeAspect="1"/>
          </p:cNvPicPr>
          <p:nvPr/>
        </p:nvPicPr>
        <p:blipFill>
          <a:blip r:embed="rId3"/>
          <a:stretch>
            <a:fillRect/>
          </a:stretch>
        </p:blipFill>
        <p:spPr>
          <a:xfrm>
            <a:off x="1175568" y="771550"/>
            <a:ext cx="6792863" cy="489870"/>
          </a:xfrm>
          <a:prstGeom prst="rect">
            <a:avLst/>
          </a:prstGeom>
        </p:spPr>
      </p:pic>
      <p:pic>
        <p:nvPicPr>
          <p:cNvPr id="8" name="图片 7">
            <a:extLst>
              <a:ext uri="{FF2B5EF4-FFF2-40B4-BE49-F238E27FC236}">
                <a16:creationId xmlns:a16="http://schemas.microsoft.com/office/drawing/2014/main" id="{52468A61-3D8F-286D-BE87-479CD63198AA}"/>
              </a:ext>
            </a:extLst>
          </p:cNvPr>
          <p:cNvPicPr>
            <a:picLocks noChangeAspect="1"/>
          </p:cNvPicPr>
          <p:nvPr/>
        </p:nvPicPr>
        <p:blipFill>
          <a:blip r:embed="rId4"/>
          <a:stretch>
            <a:fillRect/>
          </a:stretch>
        </p:blipFill>
        <p:spPr>
          <a:xfrm>
            <a:off x="2724100" y="1707654"/>
            <a:ext cx="3695797" cy="2863018"/>
          </a:xfrm>
          <a:prstGeom prst="rect">
            <a:avLst/>
          </a:prstGeom>
        </p:spPr>
      </p:pic>
    </p:spTree>
    <p:extLst>
      <p:ext uri="{BB962C8B-B14F-4D97-AF65-F5344CB8AC3E}">
        <p14:creationId xmlns:p14="http://schemas.microsoft.com/office/powerpoint/2010/main" val="2884634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27D5CD0-8A71-52BC-F198-F66CF2F4D8B3}"/>
              </a:ext>
            </a:extLst>
          </p:cNvPr>
          <p:cNvPicPr>
            <a:picLocks noChangeAspect="1"/>
          </p:cNvPicPr>
          <p:nvPr/>
        </p:nvPicPr>
        <p:blipFill>
          <a:blip r:embed="rId3"/>
          <a:stretch>
            <a:fillRect/>
          </a:stretch>
        </p:blipFill>
        <p:spPr>
          <a:xfrm>
            <a:off x="1572907" y="1940362"/>
            <a:ext cx="5998185" cy="1262776"/>
          </a:xfrm>
          <a:prstGeom prst="rect">
            <a:avLst/>
          </a:prstGeom>
        </p:spPr>
      </p:pic>
    </p:spTree>
    <p:extLst>
      <p:ext uri="{BB962C8B-B14F-4D97-AF65-F5344CB8AC3E}">
        <p14:creationId xmlns:p14="http://schemas.microsoft.com/office/powerpoint/2010/main" val="846458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文件共享</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1946972D-00E3-A6CA-EDBD-F5A28801D376}"/>
              </a:ext>
            </a:extLst>
          </p:cNvPr>
          <p:cNvPicPr>
            <a:picLocks noChangeAspect="1"/>
          </p:cNvPicPr>
          <p:nvPr/>
        </p:nvPicPr>
        <p:blipFill>
          <a:blip r:embed="rId3"/>
          <a:stretch>
            <a:fillRect/>
          </a:stretch>
        </p:blipFill>
        <p:spPr>
          <a:xfrm>
            <a:off x="2266888" y="1902636"/>
            <a:ext cx="4610221" cy="2770487"/>
          </a:xfrm>
          <a:prstGeom prst="rect">
            <a:avLst/>
          </a:prstGeom>
        </p:spPr>
      </p:pic>
      <p:pic>
        <p:nvPicPr>
          <p:cNvPr id="7" name="图片 6">
            <a:extLst>
              <a:ext uri="{FF2B5EF4-FFF2-40B4-BE49-F238E27FC236}">
                <a16:creationId xmlns:a16="http://schemas.microsoft.com/office/drawing/2014/main" id="{1E521B4D-67B2-CE93-80FD-EC44484C2A58}"/>
              </a:ext>
            </a:extLst>
          </p:cNvPr>
          <p:cNvPicPr>
            <a:picLocks noChangeAspect="1"/>
          </p:cNvPicPr>
          <p:nvPr/>
        </p:nvPicPr>
        <p:blipFill>
          <a:blip r:embed="rId4"/>
          <a:stretch>
            <a:fillRect/>
          </a:stretch>
        </p:blipFill>
        <p:spPr>
          <a:xfrm>
            <a:off x="702741" y="690831"/>
            <a:ext cx="2776308" cy="432048"/>
          </a:xfrm>
          <a:prstGeom prst="rect">
            <a:avLst/>
          </a:prstGeom>
        </p:spPr>
      </p:pic>
      <p:pic>
        <p:nvPicPr>
          <p:cNvPr id="9" name="图片 8">
            <a:extLst>
              <a:ext uri="{FF2B5EF4-FFF2-40B4-BE49-F238E27FC236}">
                <a16:creationId xmlns:a16="http://schemas.microsoft.com/office/drawing/2014/main" id="{F31EC5CE-B7CF-EB44-D83F-757AC661ACDE}"/>
              </a:ext>
            </a:extLst>
          </p:cNvPr>
          <p:cNvPicPr>
            <a:picLocks noChangeAspect="1"/>
          </p:cNvPicPr>
          <p:nvPr/>
        </p:nvPicPr>
        <p:blipFill>
          <a:blip r:embed="rId5"/>
          <a:stretch>
            <a:fillRect/>
          </a:stretch>
        </p:blipFill>
        <p:spPr>
          <a:xfrm>
            <a:off x="617660" y="1180689"/>
            <a:ext cx="7908678" cy="674932"/>
          </a:xfrm>
          <a:prstGeom prst="rect">
            <a:avLst/>
          </a:prstGeom>
        </p:spPr>
      </p:pic>
    </p:spTree>
    <p:extLst>
      <p:ext uri="{BB962C8B-B14F-4D97-AF65-F5344CB8AC3E}">
        <p14:creationId xmlns:p14="http://schemas.microsoft.com/office/powerpoint/2010/main" val="809166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文件共享</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2369D200-D55F-F6EB-11A9-65ADD5C6451A}"/>
              </a:ext>
            </a:extLst>
          </p:cNvPr>
          <p:cNvPicPr>
            <a:picLocks noChangeAspect="1"/>
          </p:cNvPicPr>
          <p:nvPr/>
        </p:nvPicPr>
        <p:blipFill>
          <a:blip r:embed="rId3"/>
          <a:stretch>
            <a:fillRect/>
          </a:stretch>
        </p:blipFill>
        <p:spPr>
          <a:xfrm>
            <a:off x="755575" y="966364"/>
            <a:ext cx="3003945" cy="453258"/>
          </a:xfrm>
          <a:prstGeom prst="rect">
            <a:avLst/>
          </a:prstGeom>
        </p:spPr>
      </p:pic>
      <p:pic>
        <p:nvPicPr>
          <p:cNvPr id="10" name="图片 9">
            <a:extLst>
              <a:ext uri="{FF2B5EF4-FFF2-40B4-BE49-F238E27FC236}">
                <a16:creationId xmlns:a16="http://schemas.microsoft.com/office/drawing/2014/main" id="{3892471B-AEA4-BB44-12B8-8903EF891AE1}"/>
              </a:ext>
            </a:extLst>
          </p:cNvPr>
          <p:cNvPicPr>
            <a:picLocks noChangeAspect="1"/>
          </p:cNvPicPr>
          <p:nvPr/>
        </p:nvPicPr>
        <p:blipFill>
          <a:blip r:embed="rId4"/>
          <a:stretch>
            <a:fillRect/>
          </a:stretch>
        </p:blipFill>
        <p:spPr>
          <a:xfrm>
            <a:off x="539552" y="1766035"/>
            <a:ext cx="7788932" cy="870880"/>
          </a:xfrm>
          <a:prstGeom prst="rect">
            <a:avLst/>
          </a:prstGeom>
        </p:spPr>
      </p:pic>
    </p:spTree>
    <p:extLst>
      <p:ext uri="{BB962C8B-B14F-4D97-AF65-F5344CB8AC3E}">
        <p14:creationId xmlns:p14="http://schemas.microsoft.com/office/powerpoint/2010/main" val="7110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文件系统在磁盘中的结构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31E0A3EE-EAD2-E0D0-BBF3-FFBF44A0B6AF}"/>
              </a:ext>
            </a:extLst>
          </p:cNvPr>
          <p:cNvPicPr>
            <a:picLocks noChangeAspect="1"/>
          </p:cNvPicPr>
          <p:nvPr/>
        </p:nvPicPr>
        <p:blipFill>
          <a:blip r:embed="rId3"/>
          <a:stretch>
            <a:fillRect/>
          </a:stretch>
        </p:blipFill>
        <p:spPr>
          <a:xfrm>
            <a:off x="1687210" y="1344353"/>
            <a:ext cx="5769579" cy="2454793"/>
          </a:xfrm>
          <a:prstGeom prst="rect">
            <a:avLst/>
          </a:prstGeom>
        </p:spPr>
      </p:pic>
    </p:spTree>
    <p:extLst>
      <p:ext uri="{BB962C8B-B14F-4D97-AF65-F5344CB8AC3E}">
        <p14:creationId xmlns:p14="http://schemas.microsoft.com/office/powerpoint/2010/main" val="2196535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文件系统在内存中的结构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C452070-F127-EB01-A7BD-1B835AD74F89}"/>
              </a:ext>
            </a:extLst>
          </p:cNvPr>
          <p:cNvSpPr txBox="1"/>
          <p:nvPr/>
        </p:nvSpPr>
        <p:spPr>
          <a:xfrm>
            <a:off x="467544" y="1123503"/>
            <a:ext cx="7704856" cy="1754326"/>
          </a:xfrm>
          <a:prstGeom prst="rect">
            <a:avLst/>
          </a:prstGeom>
          <a:noFill/>
        </p:spPr>
        <p:txBody>
          <a:bodyPr wrap="square">
            <a:spAutoFit/>
          </a:bodyPr>
          <a:lstStyle/>
          <a:p>
            <a:pPr lvl="0"/>
            <a:r>
              <a:rPr lang="en-US" altLang="zh-CN" dirty="0"/>
              <a:t>1)</a:t>
            </a:r>
            <a:r>
              <a:rPr lang="zh-CN" altLang="en-US" dirty="0"/>
              <a:t>内存中的安装表</a:t>
            </a:r>
            <a:r>
              <a:rPr lang="en-US" altLang="zh-CN" dirty="0"/>
              <a:t>(mount table),</a:t>
            </a:r>
            <a:r>
              <a:rPr lang="zh-CN" altLang="en-US" dirty="0"/>
              <a:t>包含每个已安装文件系统分区的有关信息。</a:t>
            </a:r>
          </a:p>
          <a:p>
            <a:pPr lvl="0"/>
            <a:r>
              <a:rPr lang="en-US" altLang="zh-CN" dirty="0"/>
              <a:t>2)</a:t>
            </a:r>
            <a:r>
              <a:rPr lang="zh-CN" altLang="en-US" dirty="0"/>
              <a:t>内存中的目录结构的缓存包含最近访问目录的信息。对安装分区的目录，它可以包括一个指向分区表的指针。</a:t>
            </a:r>
          </a:p>
          <a:p>
            <a:pPr lvl="0"/>
            <a:r>
              <a:rPr lang="en-US" altLang="zh-CN" dirty="0"/>
              <a:t>3)</a:t>
            </a:r>
            <a:r>
              <a:rPr lang="zh-CN" altLang="en-US" dirty="0"/>
              <a:t>整个系统的打开文件表，包含每个打开文件的</a:t>
            </a:r>
            <a:r>
              <a:rPr lang="en-US" altLang="zh-CN" dirty="0"/>
              <a:t>FCB</a:t>
            </a:r>
            <a:r>
              <a:rPr lang="zh-CN" altLang="en-US" dirty="0"/>
              <a:t>副本及其他信息。</a:t>
            </a:r>
          </a:p>
          <a:p>
            <a:pPr lvl="0"/>
            <a:r>
              <a:rPr lang="en-US" altLang="zh-CN" dirty="0"/>
              <a:t>4)</a:t>
            </a:r>
            <a:r>
              <a:rPr lang="zh-CN" altLang="en-US" dirty="0"/>
              <a:t>每个进程的打开文件表，包含一个指向整个系统的打开文件表中的适当条目的指针，以及其他信息</a:t>
            </a:r>
            <a:endParaRPr lang="zh-CN" altLang="zh-CN" dirty="0"/>
          </a:p>
        </p:txBody>
      </p:sp>
    </p:spTree>
    <p:extLst>
      <p:ext uri="{BB962C8B-B14F-4D97-AF65-F5344CB8AC3E}">
        <p14:creationId xmlns:p14="http://schemas.microsoft.com/office/powerpoint/2010/main" val="3850681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外村空闲空间管理</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48A4E2EC-5228-C5AB-512D-3018DAFDFF83}"/>
              </a:ext>
            </a:extLst>
          </p:cNvPr>
          <p:cNvPicPr>
            <a:picLocks noChangeAspect="1"/>
          </p:cNvPicPr>
          <p:nvPr/>
        </p:nvPicPr>
        <p:blipFill>
          <a:blip r:embed="rId3"/>
          <a:stretch>
            <a:fillRect/>
          </a:stretch>
        </p:blipFill>
        <p:spPr>
          <a:xfrm>
            <a:off x="-36512" y="746511"/>
            <a:ext cx="9144000" cy="1825239"/>
          </a:xfrm>
          <a:prstGeom prst="rect">
            <a:avLst/>
          </a:prstGeom>
        </p:spPr>
      </p:pic>
      <p:pic>
        <p:nvPicPr>
          <p:cNvPr id="4" name="图片 3">
            <a:extLst>
              <a:ext uri="{FF2B5EF4-FFF2-40B4-BE49-F238E27FC236}">
                <a16:creationId xmlns:a16="http://schemas.microsoft.com/office/drawing/2014/main" id="{25A738B6-0082-A42E-851F-6EBE4927F8FE}"/>
              </a:ext>
            </a:extLst>
          </p:cNvPr>
          <p:cNvPicPr>
            <a:picLocks noChangeAspect="1"/>
          </p:cNvPicPr>
          <p:nvPr/>
        </p:nvPicPr>
        <p:blipFill>
          <a:blip r:embed="rId4"/>
          <a:stretch>
            <a:fillRect/>
          </a:stretch>
        </p:blipFill>
        <p:spPr>
          <a:xfrm>
            <a:off x="2267744" y="2637237"/>
            <a:ext cx="4278198" cy="2454793"/>
          </a:xfrm>
          <a:prstGeom prst="rect">
            <a:avLst/>
          </a:prstGeom>
        </p:spPr>
      </p:pic>
    </p:spTree>
    <p:extLst>
      <p:ext uri="{BB962C8B-B14F-4D97-AF65-F5344CB8AC3E}">
        <p14:creationId xmlns:p14="http://schemas.microsoft.com/office/powerpoint/2010/main" val="133876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7354459D-C19A-673D-CCA5-EBC4416E074D}"/>
              </a:ext>
            </a:extLst>
          </p:cNvPr>
          <p:cNvPicPr>
            <a:picLocks noChangeAspect="1"/>
          </p:cNvPicPr>
          <p:nvPr/>
        </p:nvPicPr>
        <p:blipFill>
          <a:blip r:embed="rId3"/>
          <a:stretch>
            <a:fillRect/>
          </a:stretch>
        </p:blipFill>
        <p:spPr>
          <a:xfrm>
            <a:off x="2990808" y="1787958"/>
            <a:ext cx="3162383" cy="1567584"/>
          </a:xfrm>
          <a:prstGeom prst="rect">
            <a:avLst/>
          </a:prstGeom>
        </p:spPr>
      </p:pic>
    </p:spTree>
    <p:extLst>
      <p:ext uri="{BB962C8B-B14F-4D97-AF65-F5344CB8AC3E}">
        <p14:creationId xmlns:p14="http://schemas.microsoft.com/office/powerpoint/2010/main" val="1481141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635E6E4-B490-5BFF-12AD-D0F3F18D0EE6}"/>
              </a:ext>
            </a:extLst>
          </p:cNvPr>
          <p:cNvPicPr>
            <a:picLocks noChangeAspect="1"/>
          </p:cNvPicPr>
          <p:nvPr/>
        </p:nvPicPr>
        <p:blipFill>
          <a:blip r:embed="rId3"/>
          <a:stretch>
            <a:fillRect/>
          </a:stretch>
        </p:blipFill>
        <p:spPr>
          <a:xfrm>
            <a:off x="1398731" y="1711756"/>
            <a:ext cx="6346537" cy="1719988"/>
          </a:xfrm>
          <a:prstGeom prst="rect">
            <a:avLst/>
          </a:prstGeom>
        </p:spPr>
      </p:pic>
    </p:spTree>
    <p:extLst>
      <p:ext uri="{BB962C8B-B14F-4D97-AF65-F5344CB8AC3E}">
        <p14:creationId xmlns:p14="http://schemas.microsoft.com/office/powerpoint/2010/main" val="3235127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C4248E5-9981-C051-70B3-CFA4442E100F}"/>
              </a:ext>
            </a:extLst>
          </p:cNvPr>
          <p:cNvPicPr>
            <a:picLocks noChangeAspect="1"/>
          </p:cNvPicPr>
          <p:nvPr/>
        </p:nvPicPr>
        <p:blipFill>
          <a:blip r:embed="rId3"/>
          <a:stretch>
            <a:fillRect/>
          </a:stretch>
        </p:blipFill>
        <p:spPr>
          <a:xfrm>
            <a:off x="2642456" y="985115"/>
            <a:ext cx="3859087" cy="3173269"/>
          </a:xfrm>
          <a:prstGeom prst="rect">
            <a:avLst/>
          </a:prstGeom>
        </p:spPr>
      </p:pic>
    </p:spTree>
    <p:extLst>
      <p:ext uri="{BB962C8B-B14F-4D97-AF65-F5344CB8AC3E}">
        <p14:creationId xmlns:p14="http://schemas.microsoft.com/office/powerpoint/2010/main" val="42590368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97B1F5D7-88DD-DC9C-7656-8BA0495E0B4C}"/>
              </a:ext>
            </a:extLst>
          </p:cNvPr>
          <p:cNvPicPr>
            <a:picLocks noChangeAspect="1"/>
          </p:cNvPicPr>
          <p:nvPr/>
        </p:nvPicPr>
        <p:blipFill>
          <a:blip r:embed="rId3"/>
          <a:stretch>
            <a:fillRect/>
          </a:stretch>
        </p:blipFill>
        <p:spPr>
          <a:xfrm>
            <a:off x="0" y="1774134"/>
            <a:ext cx="9144000" cy="1595231"/>
          </a:xfrm>
          <a:prstGeom prst="rect">
            <a:avLst/>
          </a:prstGeom>
        </p:spPr>
      </p:pic>
    </p:spTree>
    <p:extLst>
      <p:ext uri="{BB962C8B-B14F-4D97-AF65-F5344CB8AC3E}">
        <p14:creationId xmlns:p14="http://schemas.microsoft.com/office/powerpoint/2010/main" val="1468856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C8DFB50-7230-DC06-9C5D-49399B362F41}"/>
              </a:ext>
            </a:extLst>
          </p:cNvPr>
          <p:cNvSpPr txBox="1"/>
          <p:nvPr/>
        </p:nvSpPr>
        <p:spPr>
          <a:xfrm>
            <a:off x="251520" y="771257"/>
            <a:ext cx="8640960" cy="3600986"/>
          </a:xfrm>
          <a:prstGeom prst="rect">
            <a:avLst/>
          </a:prstGeom>
          <a:noFill/>
        </p:spPr>
        <p:txBody>
          <a:bodyPr wrap="square">
            <a:spAutoFit/>
          </a:bodyPr>
          <a:lstStyle/>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1</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）什么是文件？</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文件是以计算机硬盘为载体的存储在计算机上的信息集合，它的形式多样。</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0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2</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）单个文件的逻辑结构和物理结构之间是否存在某些制约关系？</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文件的逻辑结构是用户可见的结构，即从用户角度看到的文件的全貌。文件的物理结构是文件在存储器上的组织结构，它表示一个文件在辅存上安置、链接、编目的方法。它和文件的存取方法以及存储设备的特性等都有着密切的联系。单个文件的逻辑结构和物理结构之间虽无明显的制约或关联关系，但是如果物理结构选择不慎，也很难体现出逻辑结构的特点，比如一个逻辑结构是顺序结构，而物理结构是隐式链接结构的文件，即使理论上可以很快找出某条记录的地址，而实际找时仍然需要在磁盘上一块一块地找。</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1305427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16809</TotalTime>
  <Words>11253</Words>
  <Application>Microsoft Office PowerPoint</Application>
  <PresentationFormat>全屏显示(16:9)</PresentationFormat>
  <Paragraphs>294</Paragraphs>
  <Slides>38</Slides>
  <Notes>37</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38</vt:i4>
      </vt:variant>
    </vt:vector>
  </HeadingPairs>
  <TitlesOfParts>
    <vt:vector size="50" baseType="lpstr">
      <vt:lpstr>OPPOSans B</vt:lpstr>
      <vt:lpstr>OPPOSans-S</vt:lpstr>
      <vt:lpstr>微软雅黑</vt:lpstr>
      <vt:lpstr>Arial</vt:lpstr>
      <vt:lpstr>Arial Black</vt:lpstr>
      <vt:lpstr>Broadway</vt:lpstr>
      <vt:lpstr>Calibri</vt:lpstr>
      <vt:lpstr>Wingdings</vt:lpstr>
      <vt:lpstr>Office 主题​​</vt:lpstr>
      <vt:lpstr>Office 主题​​</vt:lpstr>
      <vt:lpstr>Office 主题​​</vt:lpstr>
      <vt:lpstr>Office 主题​​</vt:lpstr>
      <vt:lpstr>第9章 文件管理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2668</cp:revision>
  <cp:lastPrinted>2017-11-30T03:12:00Z</cp:lastPrinted>
  <dcterms:created xsi:type="dcterms:W3CDTF">2018-05-31T06:32:00Z</dcterms:created>
  <dcterms:modified xsi:type="dcterms:W3CDTF">2023-10-03T13:11:21Z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