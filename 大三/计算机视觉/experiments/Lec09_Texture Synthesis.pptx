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359" r:id="rId2"/>
    <p:sldId id="364" r:id="rId3"/>
    <p:sldId id="366" r:id="rId4"/>
    <p:sldId id="365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4" r:id="rId18"/>
    <p:sldId id="313" r:id="rId19"/>
    <p:sldId id="367" r:id="rId20"/>
    <p:sldId id="320" r:id="rId21"/>
    <p:sldId id="321" r:id="rId22"/>
    <p:sldId id="361" r:id="rId23"/>
    <p:sldId id="371" r:id="rId24"/>
    <p:sldId id="329" r:id="rId25"/>
    <p:sldId id="330" r:id="rId26"/>
    <p:sldId id="331" r:id="rId27"/>
    <p:sldId id="332" r:id="rId28"/>
    <p:sldId id="333" r:id="rId29"/>
    <p:sldId id="334" r:id="rId30"/>
    <p:sldId id="335" r:id="rId31"/>
    <p:sldId id="336" r:id="rId32"/>
    <p:sldId id="338" r:id="rId33"/>
    <p:sldId id="339" r:id="rId34"/>
    <p:sldId id="340" r:id="rId35"/>
    <p:sldId id="341" r:id="rId36"/>
    <p:sldId id="342" r:id="rId37"/>
    <p:sldId id="343" r:id="rId38"/>
    <p:sldId id="344" r:id="rId39"/>
    <p:sldId id="345" r:id="rId40"/>
    <p:sldId id="353" r:id="rId41"/>
    <p:sldId id="354" r:id="rId42"/>
    <p:sldId id="368" r:id="rId43"/>
    <p:sldId id="369" r:id="rId44"/>
    <p:sldId id="370" r:id="rId45"/>
    <p:sldId id="348" r:id="rId46"/>
    <p:sldId id="349" r:id="rId47"/>
    <p:sldId id="350" r:id="rId48"/>
    <p:sldId id="363" r:id="rId49"/>
    <p:sldId id="356" r:id="rId5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07"/>
    <p:restoredTop sz="91047" autoAdjust="0"/>
  </p:normalViewPr>
  <p:slideViewPr>
    <p:cSldViewPr>
      <p:cViewPr varScale="1">
        <p:scale>
          <a:sx n="115" d="100"/>
          <a:sy n="115" d="100"/>
        </p:scale>
        <p:origin x="91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63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png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4" Type="http://schemas.openxmlformats.org/officeDocument/2006/relationships/image" Target="../media/image8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5" Type="http://schemas.openxmlformats.org/officeDocument/2006/relationships/image" Target="../media/image124.wmf"/><Relationship Id="rId4" Type="http://schemas.openxmlformats.org/officeDocument/2006/relationships/image" Target="../media/image12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1F2F1C78-359A-4DFA-BC47-F9A621FFC0DF}" type="datetimeFigureOut">
              <a:rPr lang="zh-CN" altLang="en-US"/>
              <a:pPr>
                <a:defRPr/>
              </a:pPr>
              <a:t>2024/10/25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2E0B1C8D-EBCC-40DD-A7FF-41642EF7737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4843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FD893A-BC08-4F97-AC15-30713E2DD13A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4425" y="303213"/>
            <a:ext cx="4622800" cy="3467100"/>
          </a:xfrm>
          <a:solidFill>
            <a:srgbClr val="FFFFFF"/>
          </a:solidFill>
          <a:ln/>
        </p:spPr>
      </p:sp>
      <p:sp>
        <p:nvSpPr>
          <p:cNvPr id="31748" name="Text Box 3"/>
          <p:cNvSpPr txBox="1">
            <a:spLocks noChangeArrowheads="1"/>
          </p:cNvSpPr>
          <p:nvPr/>
        </p:nvSpPr>
        <p:spPr bwMode="auto">
          <a:xfrm>
            <a:off x="502869" y="4267721"/>
            <a:ext cx="5852263" cy="4054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9922" tIns="44961" rIns="89922" bIns="44961" anchor="ctr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5D938-09B5-49AE-B16F-81A699278EB3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327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4425" y="303213"/>
            <a:ext cx="4622800" cy="3467100"/>
          </a:xfrm>
          <a:solidFill>
            <a:srgbClr val="FFFFFF"/>
          </a:solidFill>
          <a:ln/>
        </p:spPr>
      </p:sp>
      <p:sp>
        <p:nvSpPr>
          <p:cNvPr id="32772" name="Text Box 1027"/>
          <p:cNvSpPr txBox="1">
            <a:spLocks noChangeArrowheads="1"/>
          </p:cNvSpPr>
          <p:nvPr/>
        </p:nvSpPr>
        <p:spPr bwMode="auto">
          <a:xfrm>
            <a:off x="502869" y="4267721"/>
            <a:ext cx="5852263" cy="4054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9922" tIns="44961" rIns="89922" bIns="44961" anchor="ctr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7CBE29-691C-453E-9C5C-489A9A4BE892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3379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4425" y="303213"/>
            <a:ext cx="4622800" cy="3467100"/>
          </a:xfrm>
          <a:solidFill>
            <a:srgbClr val="FFFFFF"/>
          </a:solidFill>
          <a:ln/>
        </p:spPr>
      </p:sp>
      <p:sp>
        <p:nvSpPr>
          <p:cNvPr id="33796" name="Text Box 1027"/>
          <p:cNvSpPr txBox="1">
            <a:spLocks noChangeArrowheads="1"/>
          </p:cNvSpPr>
          <p:nvPr/>
        </p:nvSpPr>
        <p:spPr bwMode="auto">
          <a:xfrm>
            <a:off x="502869" y="4267721"/>
            <a:ext cx="5852263" cy="4054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9922" tIns="44961" rIns="89922" bIns="44961" anchor="ctr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9A9305-921F-4A10-989A-981C46E6F970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3481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864ED3-272B-4D99-80CD-81F826D5C1AA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35843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2623" y="303496"/>
            <a:ext cx="4849641" cy="3654471"/>
          </a:xfrm>
          <a:solidFill>
            <a:srgbClr val="FFFFFF"/>
          </a:solidFill>
          <a:ln/>
        </p:spPr>
      </p:sp>
      <p:sp>
        <p:nvSpPr>
          <p:cNvPr id="35844" name="Text Box 2051"/>
          <p:cNvSpPr txBox="1">
            <a:spLocks noChangeArrowheads="1"/>
          </p:cNvSpPr>
          <p:nvPr/>
        </p:nvSpPr>
        <p:spPr bwMode="auto">
          <a:xfrm>
            <a:off x="502869" y="4314654"/>
            <a:ext cx="5855377" cy="4059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914832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9FB795-A192-40AB-818B-1CEBFB85974B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3686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5615" y="303496"/>
            <a:ext cx="4600542" cy="3466741"/>
          </a:xfrm>
          <a:solidFill>
            <a:srgbClr val="FFFFFF"/>
          </a:solidFill>
          <a:ln/>
        </p:spPr>
      </p:sp>
      <p:sp>
        <p:nvSpPr>
          <p:cNvPr id="36868" name="Text Box 1027"/>
          <p:cNvSpPr txBox="1">
            <a:spLocks noChangeArrowheads="1"/>
          </p:cNvSpPr>
          <p:nvPr/>
        </p:nvSpPr>
        <p:spPr bwMode="auto">
          <a:xfrm>
            <a:off x="502869" y="4267721"/>
            <a:ext cx="5852263" cy="4054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9922" tIns="44961" rIns="89922" bIns="44961" anchor="ctr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CE5C87-06F3-46F3-8AC5-52042B4ADC34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378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5615" y="303496"/>
            <a:ext cx="4600542" cy="3466741"/>
          </a:xfrm>
          <a:solidFill>
            <a:srgbClr val="FFFFFF"/>
          </a:solidFill>
          <a:ln/>
        </p:spPr>
      </p:sp>
      <p:sp>
        <p:nvSpPr>
          <p:cNvPr id="37892" name="Text Box 1027"/>
          <p:cNvSpPr txBox="1">
            <a:spLocks noChangeArrowheads="1"/>
          </p:cNvSpPr>
          <p:nvPr/>
        </p:nvSpPr>
        <p:spPr bwMode="auto">
          <a:xfrm>
            <a:off x="502869" y="4267721"/>
            <a:ext cx="5852263" cy="4054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9922" tIns="44961" rIns="89922" bIns="44961" anchor="ctr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9A1CBD-ED21-4AB2-9862-ACAA4A621C23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3891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5615" y="303496"/>
            <a:ext cx="4600542" cy="3466741"/>
          </a:xfrm>
          <a:solidFill>
            <a:srgbClr val="FFFFFF"/>
          </a:solidFill>
          <a:ln/>
        </p:spPr>
      </p:sp>
      <p:sp>
        <p:nvSpPr>
          <p:cNvPr id="38916" name="Text Box 1027"/>
          <p:cNvSpPr txBox="1">
            <a:spLocks noChangeArrowheads="1"/>
          </p:cNvSpPr>
          <p:nvPr/>
        </p:nvSpPr>
        <p:spPr bwMode="auto">
          <a:xfrm>
            <a:off x="502869" y="4267721"/>
            <a:ext cx="5852263" cy="4054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9922" tIns="44961" rIns="89922" bIns="44961" anchor="ctr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A408DC-EAB6-4976-8F06-6A88A3253A39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3993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5615" y="303496"/>
            <a:ext cx="4600542" cy="3466741"/>
          </a:xfrm>
          <a:solidFill>
            <a:srgbClr val="FFFFFF"/>
          </a:solidFill>
          <a:ln/>
        </p:spPr>
      </p:sp>
      <p:sp>
        <p:nvSpPr>
          <p:cNvPr id="39940" name="Text Box 1027"/>
          <p:cNvSpPr txBox="1">
            <a:spLocks noChangeArrowheads="1"/>
          </p:cNvSpPr>
          <p:nvPr/>
        </p:nvSpPr>
        <p:spPr bwMode="auto">
          <a:xfrm>
            <a:off x="502869" y="4267721"/>
            <a:ext cx="5852263" cy="4054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9922" tIns="44961" rIns="89922" bIns="44961" anchor="ctr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D80159-DEBC-49C1-83F4-424AB67515EE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303213"/>
            <a:ext cx="4870450" cy="3654425"/>
          </a:xfrm>
          <a:solidFill>
            <a:srgbClr val="FFFFFF"/>
          </a:solidFill>
          <a:ln/>
        </p:spPr>
      </p:sp>
      <p:sp>
        <p:nvSpPr>
          <p:cNvPr id="41988" name="Text Box 3"/>
          <p:cNvSpPr txBox="1">
            <a:spLocks noChangeArrowheads="1"/>
          </p:cNvSpPr>
          <p:nvPr/>
        </p:nvSpPr>
        <p:spPr bwMode="auto">
          <a:xfrm>
            <a:off x="502869" y="4314654"/>
            <a:ext cx="5855377" cy="4059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914832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1D864F-4C87-49F2-A353-333CD126FBB3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2623" y="303496"/>
            <a:ext cx="4849641" cy="3654471"/>
          </a:xfrm>
          <a:solidFill>
            <a:srgbClr val="FFFFFF"/>
          </a:solidFill>
          <a:ln/>
        </p:spPr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502869" y="4314654"/>
            <a:ext cx="5855377" cy="4059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914832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6D1D2E-F301-4B27-B5A8-26BE95B46EE2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2623" y="303496"/>
            <a:ext cx="4849641" cy="3654471"/>
          </a:xfrm>
          <a:solidFill>
            <a:srgbClr val="FFFFFF"/>
          </a:solidFill>
          <a:ln/>
        </p:spPr>
      </p:sp>
      <p:sp>
        <p:nvSpPr>
          <p:cNvPr id="47108" name="Text Box 3"/>
          <p:cNvSpPr txBox="1">
            <a:spLocks noChangeArrowheads="1"/>
          </p:cNvSpPr>
          <p:nvPr/>
        </p:nvSpPr>
        <p:spPr bwMode="auto">
          <a:xfrm>
            <a:off x="502869" y="4314654"/>
            <a:ext cx="5855377" cy="4059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914832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D5DF48-D952-47BB-86D5-09E61005EA32}" type="datetimeFigureOut">
              <a:rPr lang="zh-CN" altLang="en-US"/>
              <a:pPr>
                <a:defRPr/>
              </a:pPr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6DEBAD-66C7-44F5-A208-EA2D8A93C91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4A76CE-BB4B-4A59-89AE-F88B540AD05F}" type="datetimeFigureOut">
              <a:rPr lang="zh-CN" altLang="en-US"/>
              <a:pPr>
                <a:defRPr/>
              </a:pPr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F717E6-4656-44CD-8350-85527E63843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7233A4-8D92-4692-8E81-D5938C53B986}" type="datetimeFigureOut">
              <a:rPr lang="zh-CN" altLang="en-US"/>
              <a:pPr>
                <a:defRPr/>
              </a:pPr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A4716-1201-4752-A04C-C3A565798A6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066A0-2FB6-4492-8350-95C02A2CF239}" type="datetimeFigureOut">
              <a:rPr lang="zh-CN" altLang="en-US"/>
              <a:pPr>
                <a:defRPr/>
              </a:pPr>
              <a:t>2024/10/25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614123-67BB-4B0D-A622-AAB1B8EF210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7A3378-16B9-44CC-BFA3-65E9F9AD78FF}" type="datetimeFigureOut">
              <a:rPr lang="zh-CN" altLang="en-US"/>
              <a:pPr>
                <a:defRPr/>
              </a:pPr>
              <a:t>2024/10/25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FC3109-8D7D-4822-BA3C-4C9F93F5F86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05AEC-79C5-41B4-B550-E0833656F3DC}" type="datetimeFigureOut">
              <a:rPr lang="zh-CN" altLang="en-US"/>
              <a:pPr>
                <a:defRPr/>
              </a:pPr>
              <a:t>2024/10/25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256A3-6977-4747-AE1A-C2371AB5712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F5C332-E8F9-4BC5-A3A5-466577744541}" type="datetimeFigureOut">
              <a:rPr lang="zh-CN" altLang="en-US"/>
              <a:pPr>
                <a:defRPr/>
              </a:pPr>
              <a:t>2024/10/25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3B584-23C8-4866-8E52-F1677CCFC13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0EDBC6-BC03-4DE9-86F3-BB23355AF548}" type="datetimeFigureOut">
              <a:rPr lang="zh-CN" altLang="en-US"/>
              <a:pPr>
                <a:defRPr/>
              </a:pPr>
              <a:t>2024/10/25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FA51A0-0249-4795-BF1A-7999266335F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BFED9-A435-4024-8B9A-7352BEF42249}" type="datetimeFigureOut">
              <a:rPr lang="zh-CN" altLang="en-US"/>
              <a:pPr>
                <a:defRPr/>
              </a:pPr>
              <a:t>2024/10/25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4153B9-54DC-4D65-8100-A1315C8A84F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8A6418-984D-423B-A692-77C55530FC75}" type="datetimeFigureOut">
              <a:rPr lang="zh-CN" altLang="en-US"/>
              <a:pPr>
                <a:defRPr/>
              </a:pPr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50E56-A87F-4450-B531-CD584D69277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0E6F5B-A0D9-4070-ADC9-B1A32B3AED9D}" type="datetimeFigureOut">
              <a:rPr lang="zh-CN" altLang="en-US"/>
              <a:pPr>
                <a:defRPr/>
              </a:pPr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84C19-4427-4FF6-96A5-CC833F3060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1B98163-E082-4830-B4A2-B22991581233}" type="datetimeFigureOut">
              <a:rPr lang="zh-CN" altLang="en-US"/>
              <a:pPr>
                <a:defRPr/>
              </a:pPr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3EFED35-0BF6-4A8B-A17F-60D572A494F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png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9.bin"/><Relationship Id="rId4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80.w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82.wmf"/><Relationship Id="rId4" Type="http://schemas.openxmlformats.org/officeDocument/2006/relationships/image" Target="../media/image79.wmf"/><Relationship Id="rId9" Type="http://schemas.openxmlformats.org/officeDocument/2006/relationships/oleObject" Target="../embeddings/oleObject13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3" Type="http://schemas.openxmlformats.org/officeDocument/2006/relationships/image" Target="../media/image89.png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87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9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93.wmf"/><Relationship Id="rId3" Type="http://schemas.openxmlformats.org/officeDocument/2006/relationships/oleObject" Target="../embeddings/oleObject16.bin"/><Relationship Id="rId7" Type="http://schemas.openxmlformats.org/officeDocument/2006/relationships/image" Target="../media/image96.png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95.png"/><Relationship Id="rId11" Type="http://schemas.openxmlformats.org/officeDocument/2006/relationships/image" Target="../media/image92.wmf"/><Relationship Id="rId5" Type="http://schemas.openxmlformats.org/officeDocument/2006/relationships/image" Target="../media/image94.png"/><Relationship Id="rId10" Type="http://schemas.openxmlformats.org/officeDocument/2006/relationships/oleObject" Target="../embeddings/oleObject17.bin"/><Relationship Id="rId4" Type="http://schemas.openxmlformats.org/officeDocument/2006/relationships/image" Target="../media/image91.wmf"/><Relationship Id="rId9" Type="http://schemas.openxmlformats.org/officeDocument/2006/relationships/image" Target="../media/image9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13" Type="http://schemas.openxmlformats.org/officeDocument/2006/relationships/oleObject" Target="../embeddings/oleObject23.bin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106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4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100.wmf"/><Relationship Id="rId11" Type="http://schemas.openxmlformats.org/officeDocument/2006/relationships/image" Target="../media/image105.jpeg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102.wmf"/><Relationship Id="rId4" Type="http://schemas.openxmlformats.org/officeDocument/2006/relationships/image" Target="../media/image99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103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eg"/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jpeg"/><Relationship Id="rId5" Type="http://schemas.openxmlformats.org/officeDocument/2006/relationships/image" Target="../media/image110.jpeg"/><Relationship Id="rId4" Type="http://schemas.openxmlformats.org/officeDocument/2006/relationships/image" Target="../media/image109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eg"/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jpeg"/><Relationship Id="rId5" Type="http://schemas.openxmlformats.org/officeDocument/2006/relationships/image" Target="../media/image115.jpeg"/><Relationship Id="rId4" Type="http://schemas.openxmlformats.org/officeDocument/2006/relationships/image" Target="../media/image114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image" Target="../media/image124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21.wmf"/><Relationship Id="rId11" Type="http://schemas.openxmlformats.org/officeDocument/2006/relationships/image" Target="../media/image123.wmf"/><Relationship Id="rId5" Type="http://schemas.openxmlformats.org/officeDocument/2006/relationships/oleObject" Target="../embeddings/oleObject26.bin"/><Relationship Id="rId10" Type="http://schemas.openxmlformats.org/officeDocument/2006/relationships/oleObject" Target="../embeddings/oleObject29.bin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28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jpeg"/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Relationship Id="rId9" Type="http://schemas.openxmlformats.org/officeDocument/2006/relationships/image" Target="../media/image132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2.jpeg"/><Relationship Id="rId5" Type="http://schemas.openxmlformats.org/officeDocument/2006/relationships/image" Target="../media/image136.jpeg"/><Relationship Id="rId4" Type="http://schemas.openxmlformats.org/officeDocument/2006/relationships/image" Target="../media/image13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ea typeface="宋体" charset="-122"/>
              </a:rPr>
              <a:t>Texture Synthesis by Non-parametric Sampling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Image Quilting for Texture Synthesis &amp; Transfer 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7F28270-FE48-F044-AD59-25C93995D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0882"/>
            <a:ext cx="9144000" cy="603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842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64D8CA9-AB94-6946-9CB4-19F7E7888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38100"/>
            <a:ext cx="875030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7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4A10660-99E2-EA4D-943F-0A2B8938DD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225"/>
          <a:stretch/>
        </p:blipFill>
        <p:spPr>
          <a:xfrm>
            <a:off x="288032" y="332656"/>
            <a:ext cx="8388424" cy="60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788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charset="-122"/>
              </a:rPr>
              <a:t>Motivation from Language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5486400"/>
          </a:xfrm>
        </p:spPr>
        <p:txBody>
          <a:bodyPr/>
          <a:lstStyle/>
          <a:p>
            <a:r>
              <a:rPr lang="en-US" altLang="zh-CN" dirty="0">
                <a:ea typeface="宋体" charset="-122"/>
              </a:rPr>
              <a:t>[Shannon,’48] proposed a way to generate English-looking text using N-grams:</a:t>
            </a:r>
          </a:p>
          <a:p>
            <a:pPr lvl="1"/>
            <a:r>
              <a:rPr lang="en-US" altLang="zh-CN" dirty="0">
                <a:ea typeface="宋体" charset="-122"/>
              </a:rPr>
              <a:t>Assume a generalized Markov model</a:t>
            </a:r>
          </a:p>
          <a:p>
            <a:pPr lvl="1"/>
            <a:r>
              <a:rPr lang="en-US" altLang="zh-CN" dirty="0">
                <a:ea typeface="宋体" charset="-122"/>
              </a:rPr>
              <a:t>Use a large text to compute probability distributions of each letter given N-1 previous letters </a:t>
            </a:r>
          </a:p>
          <a:p>
            <a:pPr lvl="2"/>
            <a:r>
              <a:rPr lang="en-US" altLang="zh-CN" dirty="0">
                <a:ea typeface="宋体" charset="-122"/>
              </a:rPr>
              <a:t>precompute or sample randomly</a:t>
            </a:r>
          </a:p>
          <a:p>
            <a:pPr lvl="1"/>
            <a:r>
              <a:rPr lang="en-US" altLang="zh-CN" dirty="0">
                <a:ea typeface="宋体" charset="-122"/>
              </a:rPr>
              <a:t>Starting from a seed repeatedly sample this Markov chain to generate new letters</a:t>
            </a:r>
          </a:p>
          <a:p>
            <a:pPr lvl="1"/>
            <a:r>
              <a:rPr lang="en-US" altLang="zh-CN" dirty="0">
                <a:ea typeface="宋体" charset="-122"/>
              </a:rPr>
              <a:t>One can use whole words instead of letters too:</a:t>
            </a:r>
          </a:p>
        </p:txBody>
      </p:sp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1219200" y="5791200"/>
            <a:ext cx="2667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>
                <a:solidFill>
                  <a:srgbClr val="FF0000"/>
                </a:solidFill>
                <a:ea typeface="宋体" charset="-122"/>
              </a:rPr>
              <a:t>WE  NEED</a:t>
            </a:r>
            <a:endParaRPr lang="en-US" altLang="zh-CN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3733800" y="5791200"/>
            <a:ext cx="1143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>
                <a:solidFill>
                  <a:srgbClr val="FF0000"/>
                </a:solidFill>
                <a:ea typeface="宋体" charset="-122"/>
              </a:rPr>
              <a:t>TO</a:t>
            </a:r>
            <a:endParaRPr lang="en-US" altLang="zh-CN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39943" name="Text Box 7"/>
          <p:cNvSpPr txBox="1">
            <a:spLocks noChangeArrowheads="1"/>
          </p:cNvSpPr>
          <p:nvPr/>
        </p:nvSpPr>
        <p:spPr bwMode="auto">
          <a:xfrm>
            <a:off x="4724400" y="5791200"/>
            <a:ext cx="1371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>
                <a:solidFill>
                  <a:srgbClr val="FF0000"/>
                </a:solidFill>
                <a:ea typeface="宋体" charset="-122"/>
              </a:rPr>
              <a:t>EAT</a:t>
            </a:r>
            <a:endParaRPr lang="en-US" altLang="zh-CN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39944" name="Text Box 8"/>
          <p:cNvSpPr txBox="1">
            <a:spLocks noChangeArrowheads="1"/>
          </p:cNvSpPr>
          <p:nvPr/>
        </p:nvSpPr>
        <p:spPr bwMode="auto">
          <a:xfrm>
            <a:off x="5943600" y="5791200"/>
            <a:ext cx="1676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>
                <a:solidFill>
                  <a:srgbClr val="FF0000"/>
                </a:solidFill>
                <a:ea typeface="宋体" charset="-122"/>
              </a:rPr>
              <a:t>CAKE</a:t>
            </a:r>
            <a:endParaRPr lang="en-US" altLang="zh-CN">
              <a:solidFill>
                <a:srgbClr val="FF0000"/>
              </a:solidFill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1" grpId="0" autoUpdateAnimBg="0"/>
      <p:bldP spid="39942" grpId="0" autoUpdateAnimBg="0"/>
      <p:bldP spid="39943" grpId="0" autoUpdateAnimBg="0"/>
      <p:bldP spid="3994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charset="-122"/>
              </a:rPr>
              <a:t>Mark V. Shaney (Bell Labs)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8077200" cy="4724400"/>
          </a:xfrm>
        </p:spPr>
        <p:txBody>
          <a:bodyPr/>
          <a:lstStyle/>
          <a:p>
            <a:r>
              <a:rPr lang="en-US" altLang="zh-CN">
                <a:ea typeface="宋体" charset="-122"/>
              </a:rPr>
              <a:t>Results (using </a:t>
            </a:r>
            <a:r>
              <a:rPr lang="en-US" altLang="zh-CN" u="sng">
                <a:ea typeface="宋体" charset="-122"/>
              </a:rPr>
              <a:t>alt.singles</a:t>
            </a:r>
            <a:r>
              <a:rPr lang="en-US" altLang="zh-CN">
                <a:ea typeface="宋体" charset="-122"/>
              </a:rPr>
              <a:t> corpus):</a:t>
            </a:r>
          </a:p>
          <a:p>
            <a:pPr lvl="1"/>
            <a:r>
              <a:rPr lang="en-US" altLang="zh-CN" i="1">
                <a:ea typeface="宋体" charset="-122"/>
              </a:rPr>
              <a:t> “As I've commented before, really relating to someone involves standing next to impossible.”</a:t>
            </a:r>
          </a:p>
          <a:p>
            <a:pPr lvl="1"/>
            <a:r>
              <a:rPr lang="en-US" altLang="zh-CN" i="1">
                <a:ea typeface="宋体" charset="-122"/>
              </a:rPr>
              <a:t>"One morning I shot an elephant in my arms and kissed him.”</a:t>
            </a:r>
          </a:p>
          <a:p>
            <a:pPr lvl="1"/>
            <a:r>
              <a:rPr lang="en-US" altLang="zh-CN" i="1">
                <a:ea typeface="宋体" charset="-122"/>
              </a:rPr>
              <a:t>"I spent an interesting evening recently with a grain of salt"</a:t>
            </a:r>
            <a:endParaRPr lang="en-US" altLang="zh-CN" b="1" i="1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Notice how well local structure is preserved!</a:t>
            </a:r>
          </a:p>
          <a:p>
            <a:pPr lvl="1"/>
            <a:r>
              <a:rPr lang="en-US" altLang="zh-CN">
                <a:ea typeface="宋体" charset="-122"/>
              </a:rPr>
              <a:t>Now let’s try this in 2D...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0"/>
          <p:cNvGraphicFramePr>
            <a:graphicFrameLocks noChangeAspect="1"/>
          </p:cNvGraphicFramePr>
          <p:nvPr/>
        </p:nvGraphicFramePr>
        <p:xfrm>
          <a:off x="1338263" y="990600"/>
          <a:ext cx="1709737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Bitmap Image" r:id="rId4" imgW="828791" imgH="885949" progId="PBrush">
                  <p:embed/>
                </p:oleObj>
              </mc:Choice>
              <mc:Fallback>
                <p:oleObj name="Bitmap Image" r:id="rId4" imgW="828791" imgH="885949" progId="PBrush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8263" y="990600"/>
                        <a:ext cx="1709737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4838" cy="757238"/>
          </a:xfrm>
        </p:spPr>
        <p:txBody>
          <a:bodyPr lIns="18000" tIns="46800" rIns="18000" bIns="46800"/>
          <a:lstStyle/>
          <a:p>
            <a:pPr>
              <a:spcBef>
                <a:spcPts val="513"/>
              </a:spcBef>
              <a:defRPr/>
            </a:pPr>
            <a:r>
              <a:rPr lang="en-GB"/>
              <a:t>Synthesizing One Pixel</a:t>
            </a:r>
          </a:p>
        </p:txBody>
      </p:sp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1147763" y="2819400"/>
            <a:ext cx="2205037" cy="452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61000"/>
              </a:lnSpc>
              <a:spcBef>
                <a:spcPts val="513"/>
              </a:spcBef>
              <a:tabLst>
                <a:tab pos="771525" algn="l"/>
                <a:tab pos="1543050" algn="l"/>
                <a:tab pos="1939925" algn="l"/>
                <a:tab pos="2052638" algn="l"/>
                <a:tab pos="2171700" algn="l"/>
              </a:tabLst>
            </a:pPr>
            <a:r>
              <a:rPr lang="en-GB" altLang="zh-CN" b="1" i="1">
                <a:ea typeface="宋体" charset="-122"/>
              </a:rPr>
              <a:t>Infinite</a:t>
            </a:r>
            <a:r>
              <a:rPr lang="en-GB" altLang="zh-CN" b="1">
                <a:ea typeface="宋体" charset="-122"/>
              </a:rPr>
              <a:t> sample image</a:t>
            </a:r>
          </a:p>
        </p:txBody>
      </p:sp>
      <p:sp>
        <p:nvSpPr>
          <p:cNvPr id="1030" name="Oval 6"/>
          <p:cNvSpPr>
            <a:spLocks noChangeArrowheads="1"/>
          </p:cNvSpPr>
          <p:nvPr/>
        </p:nvSpPr>
        <p:spPr bwMode="auto">
          <a:xfrm>
            <a:off x="4648200" y="2438400"/>
            <a:ext cx="1519238" cy="15240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031" name="AutoShape 9"/>
          <p:cNvSpPr>
            <a:spLocks noChangeArrowheads="1"/>
          </p:cNvSpPr>
          <p:nvPr/>
        </p:nvSpPr>
        <p:spPr bwMode="auto">
          <a:xfrm>
            <a:off x="2138363" y="2062163"/>
            <a:ext cx="300037" cy="376237"/>
          </a:xfrm>
          <a:prstGeom prst="roundRect">
            <a:avLst>
              <a:gd name="adj" fmla="val 523"/>
            </a:avLst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032" name="AutoShape 10"/>
          <p:cNvSpPr>
            <a:spLocks noChangeArrowheads="1"/>
          </p:cNvSpPr>
          <p:nvPr/>
        </p:nvSpPr>
        <p:spPr bwMode="auto">
          <a:xfrm>
            <a:off x="1990725" y="1376363"/>
            <a:ext cx="300038" cy="376237"/>
          </a:xfrm>
          <a:prstGeom prst="roundRect">
            <a:avLst>
              <a:gd name="adj" fmla="val 523"/>
            </a:avLst>
          </a:prstGeom>
          <a:noFill/>
          <a:ln w="19050">
            <a:solidFill>
              <a:schemeClr val="accent2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033" name="Text Box 11"/>
          <p:cNvSpPr txBox="1">
            <a:spLocks noChangeArrowheads="1"/>
          </p:cNvSpPr>
          <p:nvPr/>
        </p:nvSpPr>
        <p:spPr bwMode="auto">
          <a:xfrm>
            <a:off x="5257800" y="3352800"/>
            <a:ext cx="2538413" cy="452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61000"/>
              </a:lnSpc>
              <a:spcBef>
                <a:spcPts val="513"/>
              </a:spcBef>
              <a:tabLst>
                <a:tab pos="771525" algn="l"/>
                <a:tab pos="1543050" algn="l"/>
                <a:tab pos="1939925" algn="l"/>
                <a:tab pos="2052638" algn="l"/>
                <a:tab pos="2171700" algn="l"/>
              </a:tabLst>
            </a:pPr>
            <a:r>
              <a:rPr lang="en-GB" altLang="zh-CN" b="1">
                <a:ea typeface="宋体" charset="-122"/>
              </a:rPr>
              <a:t>Generated image</a:t>
            </a:r>
          </a:p>
        </p:txBody>
      </p:sp>
      <p:sp>
        <p:nvSpPr>
          <p:cNvPr id="1034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4763" y="3581400"/>
            <a:ext cx="9139237" cy="2357438"/>
          </a:xfrm>
          <a:noFill/>
        </p:spPr>
        <p:txBody>
          <a:bodyPr lIns="18000" tIns="46800" rIns="18000" bIns="46800"/>
          <a:lstStyle/>
          <a:p>
            <a:pPr marL="571500" lvl="1">
              <a:spcBef>
                <a:spcPts val="700"/>
              </a:spcBef>
            </a:pPr>
            <a:r>
              <a:rPr lang="en-GB" altLang="zh-CN">
                <a:ea typeface="宋体" charset="-122"/>
              </a:rPr>
              <a:t>Assuming Markov property, what is conditional probability distribution of p, given the neighbourhood window?</a:t>
            </a:r>
          </a:p>
          <a:p>
            <a:pPr marL="571500" lvl="1">
              <a:spcBef>
                <a:spcPts val="700"/>
              </a:spcBef>
            </a:pPr>
            <a:r>
              <a:rPr lang="en-GB" altLang="zh-CN">
                <a:ea typeface="宋体" charset="-122"/>
              </a:rPr>
              <a:t>Instead of constructing a model, let’s directly search the input image for all such neighbourhoods to produce a histogram for p </a:t>
            </a:r>
          </a:p>
          <a:p>
            <a:pPr marL="571500" lvl="1">
              <a:spcBef>
                <a:spcPts val="700"/>
              </a:spcBef>
            </a:pPr>
            <a:r>
              <a:rPr lang="en-GB" altLang="zh-CN">
                <a:ea typeface="宋体" charset="-122"/>
              </a:rPr>
              <a:t>To synthesize p,  just pick one match at random</a:t>
            </a:r>
          </a:p>
        </p:txBody>
      </p:sp>
      <p:sp>
        <p:nvSpPr>
          <p:cNvPr id="1035" name="AutoShape 15"/>
          <p:cNvSpPr>
            <a:spLocks noChangeArrowheads="1"/>
          </p:cNvSpPr>
          <p:nvPr/>
        </p:nvSpPr>
        <p:spPr bwMode="auto">
          <a:xfrm>
            <a:off x="1757363" y="1833563"/>
            <a:ext cx="300037" cy="376237"/>
          </a:xfrm>
          <a:prstGeom prst="roundRect">
            <a:avLst>
              <a:gd name="adj" fmla="val 523"/>
            </a:avLst>
          </a:prstGeom>
          <a:noFill/>
          <a:ln w="19050">
            <a:solidFill>
              <a:schemeClr val="accent2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036" name="Line 21"/>
          <p:cNvSpPr>
            <a:spLocks noChangeShapeType="1"/>
          </p:cNvSpPr>
          <p:nvPr/>
        </p:nvSpPr>
        <p:spPr bwMode="auto">
          <a:xfrm>
            <a:off x="3357563" y="2320925"/>
            <a:ext cx="1371600" cy="0"/>
          </a:xfrm>
          <a:prstGeom prst="line">
            <a:avLst/>
          </a:prstGeom>
          <a:noFill/>
          <a:ln w="28440">
            <a:solidFill>
              <a:srgbClr val="00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7" name="Text Box 22"/>
          <p:cNvSpPr txBox="1">
            <a:spLocks noChangeArrowheads="1"/>
          </p:cNvSpPr>
          <p:nvPr/>
        </p:nvSpPr>
        <p:spPr bwMode="auto">
          <a:xfrm>
            <a:off x="3205163" y="1676400"/>
            <a:ext cx="15890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>
                <a:ea typeface="宋体" charset="-122"/>
              </a:rPr>
              <a:t>SAMPLE</a:t>
            </a:r>
            <a:endParaRPr lang="en-US" altLang="zh-CN">
              <a:ea typeface="宋体" charset="-122"/>
            </a:endParaRPr>
          </a:p>
        </p:txBody>
      </p:sp>
      <p:graphicFrame>
        <p:nvGraphicFramePr>
          <p:cNvPr id="1027" name="Object 1"/>
          <p:cNvGraphicFramePr>
            <a:graphicFrameLocks noChangeAspect="1"/>
          </p:cNvGraphicFramePr>
          <p:nvPr/>
        </p:nvGraphicFramePr>
        <p:xfrm>
          <a:off x="5414963" y="862013"/>
          <a:ext cx="2486025" cy="241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Bitmap Image" r:id="rId6" imgW="1647619" imgH="1600000" progId="PBrush">
                  <p:embed/>
                </p:oleObj>
              </mc:Choice>
              <mc:Fallback>
                <p:oleObj name="Bitmap Image" r:id="rId6" imgW="1647619" imgH="1600000" progId="PBrush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4963" y="862013"/>
                        <a:ext cx="2486025" cy="241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8" name="AutoShape 24"/>
          <p:cNvSpPr>
            <a:spLocks noChangeArrowheads="1"/>
          </p:cNvSpPr>
          <p:nvPr/>
        </p:nvSpPr>
        <p:spPr bwMode="auto">
          <a:xfrm>
            <a:off x="5872163" y="2362200"/>
            <a:ext cx="223837" cy="223838"/>
          </a:xfrm>
          <a:prstGeom prst="roundRect">
            <a:avLst>
              <a:gd name="adj" fmla="val 704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039" name="AutoShape 25"/>
          <p:cNvSpPr>
            <a:spLocks noChangeArrowheads="1"/>
          </p:cNvSpPr>
          <p:nvPr/>
        </p:nvSpPr>
        <p:spPr bwMode="auto">
          <a:xfrm>
            <a:off x="5186363" y="1752600"/>
            <a:ext cx="1519237" cy="1443038"/>
          </a:xfrm>
          <a:prstGeom prst="roundRect">
            <a:avLst>
              <a:gd name="adj" fmla="val 106"/>
            </a:avLst>
          </a:prstGeom>
          <a:noFill/>
          <a:ln w="57277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040" name="Text Box 26"/>
          <p:cNvSpPr txBox="1">
            <a:spLocks noChangeArrowheads="1"/>
          </p:cNvSpPr>
          <p:nvPr/>
        </p:nvSpPr>
        <p:spPr bwMode="auto">
          <a:xfrm>
            <a:off x="5567363" y="2286000"/>
            <a:ext cx="3825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ea typeface="宋体" charset="-122"/>
              </a:rPr>
              <a:t>p</a:t>
            </a:r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1043"/>
          <p:cNvGraphicFramePr>
            <a:graphicFrameLocks noChangeAspect="1"/>
          </p:cNvGraphicFramePr>
          <p:nvPr/>
        </p:nvGraphicFramePr>
        <p:xfrm>
          <a:off x="5410200" y="1319213"/>
          <a:ext cx="2486025" cy="241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Bitmap Image" r:id="rId4" imgW="1647619" imgH="1600000" progId="PBrush">
                  <p:embed/>
                </p:oleObj>
              </mc:Choice>
              <mc:Fallback>
                <p:oleObj name="Bitmap Image" r:id="rId4" imgW="1647619" imgH="1600000" progId="PBrush">
                  <p:embed/>
                  <p:pic>
                    <p:nvPicPr>
                      <p:cNvPr id="0" name="Object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319213"/>
                        <a:ext cx="2486025" cy="241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212725"/>
            <a:ext cx="8224838" cy="757238"/>
          </a:xfrm>
        </p:spPr>
        <p:txBody>
          <a:bodyPr lIns="18000" tIns="46800" rIns="18000" bIns="46800"/>
          <a:lstStyle/>
          <a:p>
            <a:pPr>
              <a:spcBef>
                <a:spcPts val="513"/>
              </a:spcBef>
              <a:defRPr/>
            </a:pPr>
            <a:r>
              <a:rPr lang="en-GB"/>
              <a:t>Really Synthesizing One Pixel</a:t>
            </a:r>
          </a:p>
        </p:txBody>
      </p:sp>
      <p:pic>
        <p:nvPicPr>
          <p:cNvPr id="2052" name="Picture 1027"/>
          <p:cNvPicPr>
            <a:picLocks noChangeAspect="1" noChangeArrowheads="1"/>
          </p:cNvPicPr>
          <p:nvPr/>
        </p:nvPicPr>
        <p:blipFill>
          <a:blip r:embed="rId6" cstate="print">
            <a:lum contrast="-18000"/>
          </a:blip>
          <a:srcRect/>
          <a:stretch>
            <a:fillRect/>
          </a:stretch>
        </p:blipFill>
        <p:spPr bwMode="auto">
          <a:xfrm>
            <a:off x="1528763" y="1676400"/>
            <a:ext cx="1335087" cy="1365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053" name="Text Box 1028"/>
          <p:cNvSpPr txBox="1">
            <a:spLocks noChangeArrowheads="1"/>
          </p:cNvSpPr>
          <p:nvPr/>
        </p:nvSpPr>
        <p:spPr bwMode="auto">
          <a:xfrm>
            <a:off x="1300163" y="3128963"/>
            <a:ext cx="22050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61000"/>
              </a:lnSpc>
              <a:spcBef>
                <a:spcPts val="513"/>
              </a:spcBef>
              <a:tabLst>
                <a:tab pos="771525" algn="l"/>
                <a:tab pos="1543050" algn="l"/>
                <a:tab pos="1939925" algn="l"/>
                <a:tab pos="2052638" algn="l"/>
                <a:tab pos="2171700" algn="l"/>
              </a:tabLst>
            </a:pPr>
            <a:r>
              <a:rPr lang="en-GB" altLang="zh-CN" b="1" i="1">
                <a:ea typeface="宋体" charset="-122"/>
              </a:rPr>
              <a:t>finite</a:t>
            </a:r>
            <a:r>
              <a:rPr lang="en-GB" altLang="zh-CN" b="1">
                <a:ea typeface="宋体" charset="-122"/>
              </a:rPr>
              <a:t> sample image</a:t>
            </a:r>
          </a:p>
        </p:txBody>
      </p:sp>
      <p:sp>
        <p:nvSpPr>
          <p:cNvPr id="2054" name="Oval 1030"/>
          <p:cNvSpPr>
            <a:spLocks noChangeArrowheads="1"/>
          </p:cNvSpPr>
          <p:nvPr/>
        </p:nvSpPr>
        <p:spPr bwMode="auto">
          <a:xfrm>
            <a:off x="4648200" y="2667000"/>
            <a:ext cx="1519238" cy="15240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2055" name="AutoShape 1031"/>
          <p:cNvSpPr>
            <a:spLocks noChangeArrowheads="1"/>
          </p:cNvSpPr>
          <p:nvPr/>
        </p:nvSpPr>
        <p:spPr bwMode="auto">
          <a:xfrm>
            <a:off x="5867400" y="2819400"/>
            <a:ext cx="223838" cy="223838"/>
          </a:xfrm>
          <a:prstGeom prst="roundRect">
            <a:avLst>
              <a:gd name="adj" fmla="val 704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2056" name="AutoShape 1032"/>
          <p:cNvSpPr>
            <a:spLocks noChangeArrowheads="1"/>
          </p:cNvSpPr>
          <p:nvPr/>
        </p:nvSpPr>
        <p:spPr bwMode="auto">
          <a:xfrm>
            <a:off x="5181600" y="2209800"/>
            <a:ext cx="1519238" cy="1443038"/>
          </a:xfrm>
          <a:prstGeom prst="roundRect">
            <a:avLst>
              <a:gd name="adj" fmla="val 106"/>
            </a:avLst>
          </a:prstGeom>
          <a:noFill/>
          <a:ln w="57277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2057" name="AutoShape 1033"/>
          <p:cNvSpPr>
            <a:spLocks noChangeArrowheads="1"/>
          </p:cNvSpPr>
          <p:nvPr/>
        </p:nvSpPr>
        <p:spPr bwMode="auto">
          <a:xfrm>
            <a:off x="2438400" y="2443163"/>
            <a:ext cx="300038" cy="376237"/>
          </a:xfrm>
          <a:prstGeom prst="roundRect">
            <a:avLst>
              <a:gd name="adj" fmla="val 523"/>
            </a:avLst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2058" name="AutoShape 1034"/>
          <p:cNvSpPr>
            <a:spLocks noChangeArrowheads="1"/>
          </p:cNvSpPr>
          <p:nvPr/>
        </p:nvSpPr>
        <p:spPr bwMode="auto">
          <a:xfrm>
            <a:off x="2214563" y="1757363"/>
            <a:ext cx="300037" cy="376237"/>
          </a:xfrm>
          <a:prstGeom prst="roundRect">
            <a:avLst>
              <a:gd name="adj" fmla="val 523"/>
            </a:avLst>
          </a:prstGeom>
          <a:noFill/>
          <a:ln w="19050">
            <a:solidFill>
              <a:schemeClr val="accent2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2059" name="Text Box 1035"/>
          <p:cNvSpPr txBox="1">
            <a:spLocks noChangeArrowheads="1"/>
          </p:cNvSpPr>
          <p:nvPr/>
        </p:nvSpPr>
        <p:spPr bwMode="auto">
          <a:xfrm>
            <a:off x="5257800" y="3733800"/>
            <a:ext cx="2538413" cy="452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61000"/>
              </a:lnSpc>
              <a:spcBef>
                <a:spcPts val="513"/>
              </a:spcBef>
              <a:tabLst>
                <a:tab pos="771525" algn="l"/>
                <a:tab pos="1543050" algn="l"/>
                <a:tab pos="1939925" algn="l"/>
                <a:tab pos="2052638" algn="l"/>
                <a:tab pos="2171700" algn="l"/>
              </a:tabLst>
            </a:pPr>
            <a:r>
              <a:rPr lang="en-GB" altLang="zh-CN" b="1">
                <a:ea typeface="宋体" charset="-122"/>
              </a:rPr>
              <a:t>Generated image</a:t>
            </a:r>
          </a:p>
        </p:txBody>
      </p:sp>
      <p:sp>
        <p:nvSpPr>
          <p:cNvPr id="2060" name="Line 1036"/>
          <p:cNvSpPr>
            <a:spLocks noChangeShapeType="1"/>
          </p:cNvSpPr>
          <p:nvPr/>
        </p:nvSpPr>
        <p:spPr bwMode="auto">
          <a:xfrm>
            <a:off x="3352800" y="2778125"/>
            <a:ext cx="1371600" cy="0"/>
          </a:xfrm>
          <a:prstGeom prst="line">
            <a:avLst/>
          </a:prstGeom>
          <a:noFill/>
          <a:ln w="28440">
            <a:solidFill>
              <a:srgbClr val="00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61" name="Rectangle 1038"/>
          <p:cNvSpPr>
            <a:spLocks noGrp="1" noChangeArrowheads="1"/>
          </p:cNvSpPr>
          <p:nvPr>
            <p:ph type="body" idx="1"/>
          </p:nvPr>
        </p:nvSpPr>
        <p:spPr>
          <a:xfrm>
            <a:off x="-228600" y="4038600"/>
            <a:ext cx="9367838" cy="2357438"/>
          </a:xfrm>
          <a:noFill/>
        </p:spPr>
        <p:txBody>
          <a:bodyPr lIns="18000" tIns="46800" rIns="18000" bIns="46800"/>
          <a:lstStyle/>
          <a:p>
            <a:pPr lvl="1">
              <a:spcBef>
                <a:spcPts val="700"/>
              </a:spcBef>
            </a:pPr>
            <a:endParaRPr lang="en-GB" altLang="zh-CN">
              <a:ea typeface="宋体" charset="-122"/>
            </a:endParaRPr>
          </a:p>
          <a:p>
            <a:pPr lvl="1">
              <a:spcBef>
                <a:spcPts val="700"/>
              </a:spcBef>
            </a:pPr>
            <a:endParaRPr lang="en-GB" altLang="zh-CN">
              <a:ea typeface="宋体" charset="-122"/>
            </a:endParaRPr>
          </a:p>
        </p:txBody>
      </p:sp>
      <p:sp>
        <p:nvSpPr>
          <p:cNvPr id="2062" name="AutoShape 1039"/>
          <p:cNvSpPr>
            <a:spLocks noChangeArrowheads="1"/>
          </p:cNvSpPr>
          <p:nvPr/>
        </p:nvSpPr>
        <p:spPr bwMode="auto">
          <a:xfrm>
            <a:off x="1524000" y="2057400"/>
            <a:ext cx="300038" cy="376238"/>
          </a:xfrm>
          <a:prstGeom prst="roundRect">
            <a:avLst>
              <a:gd name="adj" fmla="val 523"/>
            </a:avLst>
          </a:prstGeom>
          <a:noFill/>
          <a:ln w="19050">
            <a:solidFill>
              <a:schemeClr val="accent2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2063" name="Text Box 1040"/>
          <p:cNvSpPr txBox="1">
            <a:spLocks noChangeArrowheads="1"/>
          </p:cNvSpPr>
          <p:nvPr/>
        </p:nvSpPr>
        <p:spPr bwMode="auto">
          <a:xfrm>
            <a:off x="5562600" y="2743200"/>
            <a:ext cx="3825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>
                <a:ea typeface="宋体" charset="-122"/>
              </a:rPr>
              <a:t>p</a:t>
            </a:r>
            <a:endParaRPr lang="en-US" altLang="zh-CN">
              <a:ea typeface="宋体" charset="-122"/>
            </a:endParaRPr>
          </a:p>
        </p:txBody>
      </p:sp>
      <p:sp>
        <p:nvSpPr>
          <p:cNvPr id="2064" name="Rectangle 1041"/>
          <p:cNvSpPr>
            <a:spLocks noChangeArrowheads="1"/>
          </p:cNvSpPr>
          <p:nvPr/>
        </p:nvSpPr>
        <p:spPr bwMode="auto">
          <a:xfrm>
            <a:off x="-304800" y="4191000"/>
            <a:ext cx="9448800" cy="2357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 marL="742950" lvl="1" indent="-285750">
              <a:spcBef>
                <a:spcPts val="700"/>
              </a:spcBef>
              <a:buFontTx/>
              <a:buChar char="–"/>
            </a:pPr>
            <a:r>
              <a:rPr lang="en-GB" altLang="zh-CN" sz="2800">
                <a:ea typeface="宋体" charset="-122"/>
              </a:rPr>
              <a:t>However, since our sample image is finite, an exact neighbourhood match might not be present</a:t>
            </a:r>
          </a:p>
          <a:p>
            <a:pPr marL="742950" lvl="1" indent="-285750">
              <a:spcBef>
                <a:spcPts val="700"/>
              </a:spcBef>
              <a:buFontTx/>
              <a:buChar char="–"/>
            </a:pPr>
            <a:r>
              <a:rPr lang="en-GB" altLang="zh-CN" sz="2800">
                <a:ea typeface="宋体" charset="-122"/>
              </a:rPr>
              <a:t>So we find the </a:t>
            </a:r>
            <a:r>
              <a:rPr lang="en-GB" altLang="zh-CN" sz="2800" b="1">
                <a:ea typeface="宋体" charset="-122"/>
              </a:rPr>
              <a:t>best</a:t>
            </a:r>
            <a:r>
              <a:rPr lang="en-GB" altLang="zh-CN" sz="2800">
                <a:ea typeface="宋体" charset="-122"/>
              </a:rPr>
              <a:t> match using SSD error (weighted by a Gaussian to emphasize local structure), and take all samples within some distance from that match</a:t>
            </a:r>
          </a:p>
          <a:p>
            <a:pPr marL="742950" lvl="1" indent="-285750">
              <a:spcBef>
                <a:spcPts val="700"/>
              </a:spcBef>
              <a:buFontTx/>
              <a:buChar char="–"/>
            </a:pPr>
            <a:endParaRPr lang="en-GB" altLang="zh-CN" sz="2800">
              <a:ea typeface="宋体" charset="-122"/>
            </a:endParaRPr>
          </a:p>
        </p:txBody>
      </p:sp>
      <p:sp>
        <p:nvSpPr>
          <p:cNvPr id="2065" name="Text Box 1042"/>
          <p:cNvSpPr txBox="1">
            <a:spLocks noChangeArrowheads="1"/>
          </p:cNvSpPr>
          <p:nvPr/>
        </p:nvSpPr>
        <p:spPr bwMode="auto">
          <a:xfrm>
            <a:off x="3200400" y="2133600"/>
            <a:ext cx="15890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>
                <a:ea typeface="宋体" charset="-122"/>
              </a:rPr>
              <a:t>SAMPLE</a:t>
            </a:r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050"/>
          <p:cNvSpPr>
            <a:spLocks noGrp="1" noChangeArrowheads="1"/>
          </p:cNvSpPr>
          <p:nvPr>
            <p:ph type="title"/>
          </p:nvPr>
        </p:nvSpPr>
        <p:spPr>
          <a:xfrm>
            <a:off x="228600" y="212725"/>
            <a:ext cx="8224838" cy="757238"/>
          </a:xfrm>
        </p:spPr>
        <p:txBody>
          <a:bodyPr lIns="18000" tIns="46800" rIns="18000" bIns="46800"/>
          <a:lstStyle/>
          <a:p>
            <a:pPr>
              <a:spcBef>
                <a:spcPts val="513"/>
              </a:spcBef>
              <a:defRPr/>
            </a:pPr>
            <a:r>
              <a:rPr lang="en-GB"/>
              <a:t>Growing Texture</a:t>
            </a:r>
          </a:p>
        </p:txBody>
      </p:sp>
      <p:sp>
        <p:nvSpPr>
          <p:cNvPr id="12291" name="Rectangle 2062"/>
          <p:cNvSpPr>
            <a:spLocks noGrp="1" noChangeArrowheads="1"/>
          </p:cNvSpPr>
          <p:nvPr>
            <p:ph type="body" idx="1"/>
          </p:nvPr>
        </p:nvSpPr>
        <p:spPr>
          <a:xfrm>
            <a:off x="-228600" y="4038600"/>
            <a:ext cx="9367838" cy="2357438"/>
          </a:xfrm>
          <a:noFill/>
        </p:spPr>
        <p:txBody>
          <a:bodyPr lIns="18000" tIns="46800" rIns="18000" bIns="46800"/>
          <a:lstStyle/>
          <a:p>
            <a:pPr lvl="1">
              <a:spcBef>
                <a:spcPts val="700"/>
              </a:spcBef>
            </a:pPr>
            <a:endParaRPr lang="en-GB" altLang="zh-CN">
              <a:ea typeface="宋体" charset="-122"/>
            </a:endParaRPr>
          </a:p>
          <a:p>
            <a:pPr lvl="1">
              <a:spcBef>
                <a:spcPts val="700"/>
              </a:spcBef>
            </a:pPr>
            <a:endParaRPr lang="en-GB" altLang="zh-CN">
              <a:ea typeface="宋体" charset="-122"/>
            </a:endParaRPr>
          </a:p>
        </p:txBody>
      </p:sp>
      <p:sp>
        <p:nvSpPr>
          <p:cNvPr id="12292" name="Rectangle 2065"/>
          <p:cNvSpPr>
            <a:spLocks noChangeArrowheads="1"/>
          </p:cNvSpPr>
          <p:nvPr/>
        </p:nvSpPr>
        <p:spPr bwMode="auto">
          <a:xfrm>
            <a:off x="-9524" y="3962400"/>
            <a:ext cx="9153556" cy="258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 marL="742950" lvl="1" indent="-285750">
              <a:spcBef>
                <a:spcPts val="700"/>
              </a:spcBef>
              <a:buFontTx/>
              <a:buChar char="–"/>
            </a:pPr>
            <a:r>
              <a:rPr lang="en-GB" altLang="zh-CN" sz="2400" dirty="0">
                <a:ea typeface="宋体" charset="-122"/>
              </a:rPr>
              <a:t>Starting from the initial configuration, we  “grow” the texture one pixel at a time</a:t>
            </a:r>
          </a:p>
          <a:p>
            <a:pPr marL="742950" lvl="1" indent="-285750">
              <a:spcBef>
                <a:spcPts val="700"/>
              </a:spcBef>
              <a:buFontTx/>
              <a:buChar char="–"/>
            </a:pPr>
            <a:r>
              <a:rPr lang="en-GB" altLang="zh-CN" sz="2400" dirty="0">
                <a:ea typeface="宋体" charset="-122"/>
              </a:rPr>
              <a:t>The size of the neighbourhood window is a parameter that specifies how stochastic the user believes this texture to be</a:t>
            </a:r>
          </a:p>
          <a:p>
            <a:pPr marL="742950" lvl="1" indent="-285750">
              <a:spcBef>
                <a:spcPts val="700"/>
              </a:spcBef>
              <a:buFontTx/>
              <a:buChar char="–"/>
            </a:pPr>
            <a:r>
              <a:rPr lang="en-GB" altLang="zh-CN" sz="2400" dirty="0">
                <a:ea typeface="宋体" charset="-122"/>
              </a:rPr>
              <a:t>To grow from scratch, we use a random 3x3 patch from  input image as seed</a:t>
            </a:r>
          </a:p>
          <a:p>
            <a:pPr marL="742950" lvl="1" indent="-285750">
              <a:spcBef>
                <a:spcPts val="700"/>
              </a:spcBef>
              <a:buFontTx/>
              <a:buChar char="–"/>
            </a:pPr>
            <a:endParaRPr lang="en-GB" altLang="zh-CN" sz="2400" dirty="0">
              <a:ea typeface="宋体" charset="-122"/>
            </a:endParaRPr>
          </a:p>
        </p:txBody>
      </p:sp>
      <p:pic>
        <p:nvPicPr>
          <p:cNvPr id="12293" name="Picture 2070" descr="E:\run\movie\start.t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295400"/>
            <a:ext cx="2439988" cy="249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4" name="Picture 2072" descr="E:\run\movie\3.t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40100" y="1295400"/>
            <a:ext cx="2451100" cy="248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5" name="Picture 2073" descr="E:\run\movie\15.t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11900" y="1295400"/>
            <a:ext cx="2451100" cy="248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6" name="AutoShape 2074"/>
          <p:cNvSpPr>
            <a:spLocks noChangeArrowheads="1"/>
          </p:cNvSpPr>
          <p:nvPr/>
        </p:nvSpPr>
        <p:spPr bwMode="auto">
          <a:xfrm>
            <a:off x="2971800" y="2438400"/>
            <a:ext cx="304800" cy="3048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2297" name="AutoShape 2075"/>
          <p:cNvSpPr>
            <a:spLocks noChangeArrowheads="1"/>
          </p:cNvSpPr>
          <p:nvPr/>
        </p:nvSpPr>
        <p:spPr bwMode="auto">
          <a:xfrm>
            <a:off x="5867400" y="2438400"/>
            <a:ext cx="304800" cy="3048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charset="-122"/>
              </a:rPr>
              <a:t>Some Details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4876800"/>
          </a:xfrm>
        </p:spPr>
        <p:txBody>
          <a:bodyPr/>
          <a:lstStyle/>
          <a:p>
            <a:r>
              <a:rPr lang="en-US" altLang="zh-CN">
                <a:ea typeface="宋体" charset="-122"/>
              </a:rPr>
              <a:t>Growing is in “onion skin” order</a:t>
            </a:r>
          </a:p>
          <a:p>
            <a:pPr lvl="1"/>
            <a:r>
              <a:rPr lang="en-US" altLang="zh-CN">
                <a:ea typeface="宋体" charset="-122"/>
              </a:rPr>
              <a:t>Within each “layer”, pixels with most neighbors are synthesized first</a:t>
            </a:r>
          </a:p>
          <a:p>
            <a:pPr lvl="1"/>
            <a:r>
              <a:rPr lang="en-US" altLang="zh-CN">
                <a:ea typeface="宋体" charset="-122"/>
              </a:rPr>
              <a:t>If no close match can be found, the pixel is not synthesized until the end</a:t>
            </a:r>
          </a:p>
          <a:p>
            <a:r>
              <a:rPr lang="en-US" altLang="zh-CN">
                <a:ea typeface="宋体" charset="-122"/>
              </a:rPr>
              <a:t>Using </a:t>
            </a:r>
            <a:r>
              <a:rPr lang="en-US" altLang="zh-CN" i="1">
                <a:ea typeface="宋体" charset="-122"/>
              </a:rPr>
              <a:t>Gaussian-weighted </a:t>
            </a:r>
            <a:r>
              <a:rPr lang="en-US" altLang="zh-CN">
                <a:ea typeface="宋体" charset="-122"/>
              </a:rPr>
              <a:t>SSD is very important</a:t>
            </a:r>
          </a:p>
          <a:p>
            <a:pPr lvl="1"/>
            <a:r>
              <a:rPr lang="en-US" altLang="zh-CN">
                <a:ea typeface="宋体" charset="-122"/>
              </a:rPr>
              <a:t> to make sure the new pixel agrees with its closest neighbors</a:t>
            </a:r>
          </a:p>
          <a:p>
            <a:pPr lvl="1"/>
            <a:r>
              <a:rPr lang="en-US" altLang="zh-CN">
                <a:ea typeface="宋体" charset="-122"/>
              </a:rPr>
              <a:t>Approximates reduction to a smaller neighborhood window if data is too sparse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charset="-122"/>
              </a:rPr>
              <a:t>Randomness Parameter</a:t>
            </a:r>
          </a:p>
        </p:txBody>
      </p:sp>
      <p:pic>
        <p:nvPicPr>
          <p:cNvPr id="14339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1606550"/>
            <a:ext cx="2362200" cy="235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4283075"/>
            <a:ext cx="3048000" cy="242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1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71800" y="4283075"/>
            <a:ext cx="3048000" cy="242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2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67400" y="4284663"/>
            <a:ext cx="3048000" cy="2420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867400" y="1995488"/>
            <a:ext cx="3048000" cy="2424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4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286000"/>
            <a:ext cx="1066800" cy="1065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5" name="Rectangle 12"/>
          <p:cNvSpPr>
            <a:spLocks noChangeArrowheads="1"/>
          </p:cNvSpPr>
          <p:nvPr/>
        </p:nvSpPr>
        <p:spPr bwMode="auto">
          <a:xfrm>
            <a:off x="3810000" y="2590800"/>
            <a:ext cx="838200" cy="762000"/>
          </a:xfrm>
          <a:prstGeom prst="rect">
            <a:avLst/>
          </a:prstGeom>
          <a:noFill/>
          <a:ln w="38100">
            <a:solidFill>
              <a:srgbClr val="FF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4346" name="Rectangle 11"/>
          <p:cNvSpPr>
            <a:spLocks noChangeArrowheads="1"/>
          </p:cNvSpPr>
          <p:nvPr/>
        </p:nvSpPr>
        <p:spPr bwMode="auto">
          <a:xfrm>
            <a:off x="3810000" y="2590800"/>
            <a:ext cx="609600" cy="6096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4347" name="Rectangle 9"/>
          <p:cNvSpPr>
            <a:spLocks noChangeArrowheads="1"/>
          </p:cNvSpPr>
          <p:nvPr/>
        </p:nvSpPr>
        <p:spPr bwMode="auto">
          <a:xfrm>
            <a:off x="3810000" y="2590800"/>
            <a:ext cx="457200" cy="4572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4348" name="Rectangle 8"/>
          <p:cNvSpPr>
            <a:spLocks noChangeArrowheads="1"/>
          </p:cNvSpPr>
          <p:nvPr/>
        </p:nvSpPr>
        <p:spPr bwMode="auto">
          <a:xfrm>
            <a:off x="3810000" y="2590800"/>
            <a:ext cx="304800" cy="3048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4349" name="Line 14"/>
          <p:cNvSpPr>
            <a:spLocks noChangeShapeType="1"/>
          </p:cNvSpPr>
          <p:nvPr/>
        </p:nvSpPr>
        <p:spPr bwMode="auto">
          <a:xfrm flipH="1">
            <a:off x="1371600" y="2895600"/>
            <a:ext cx="2590800" cy="1524000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0" name="Line 16"/>
          <p:cNvSpPr>
            <a:spLocks noChangeShapeType="1"/>
          </p:cNvSpPr>
          <p:nvPr/>
        </p:nvSpPr>
        <p:spPr bwMode="auto">
          <a:xfrm>
            <a:off x="4038600" y="3048000"/>
            <a:ext cx="0" cy="1371600"/>
          </a:xfrm>
          <a:prstGeom prst="line">
            <a:avLst/>
          </a:prstGeom>
          <a:noFill/>
          <a:ln w="38100">
            <a:solidFill>
              <a:srgbClr val="00FF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1" name="Line 17"/>
          <p:cNvSpPr>
            <a:spLocks noChangeShapeType="1"/>
          </p:cNvSpPr>
          <p:nvPr/>
        </p:nvSpPr>
        <p:spPr bwMode="auto">
          <a:xfrm>
            <a:off x="4267200" y="3200400"/>
            <a:ext cx="1828800" cy="1219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2" name="Line 18"/>
          <p:cNvSpPr>
            <a:spLocks noChangeShapeType="1"/>
          </p:cNvSpPr>
          <p:nvPr/>
        </p:nvSpPr>
        <p:spPr bwMode="auto">
          <a:xfrm>
            <a:off x="4648200" y="2971800"/>
            <a:ext cx="1371600" cy="152400"/>
          </a:xfrm>
          <a:prstGeom prst="line">
            <a:avLst/>
          </a:prstGeom>
          <a:noFill/>
          <a:ln w="38100">
            <a:solidFill>
              <a:srgbClr val="FF00FF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050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7772400" cy="1143000"/>
          </a:xfrm>
        </p:spPr>
        <p:txBody>
          <a:bodyPr lIns="0" tIns="0" rIns="0" bIns="0"/>
          <a:lstStyle/>
          <a:p>
            <a:pPr>
              <a:defRPr/>
            </a:pPr>
            <a:r>
              <a:rPr lang="en-GB"/>
              <a:t>More Synthesis Results</a:t>
            </a:r>
          </a:p>
        </p:txBody>
      </p:sp>
      <p:pic>
        <p:nvPicPr>
          <p:cNvPr id="15363" name="Picture 205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530225"/>
            <a:ext cx="914400" cy="903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4" name="Picture 205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1368425"/>
            <a:ext cx="2133600" cy="210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5" name="Picture 205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438400" y="1368425"/>
            <a:ext cx="2132013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6" name="Picture 205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97388" y="1368425"/>
            <a:ext cx="2132012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7" name="Picture 206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53200" y="1368425"/>
            <a:ext cx="2133600" cy="2097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8" name="Picture 206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28600" y="3578225"/>
            <a:ext cx="838200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9" name="Picture 206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914400" y="4264025"/>
            <a:ext cx="2438400" cy="175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70" name="Picture 206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505200" y="4264025"/>
            <a:ext cx="24384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71" name="Picture 2065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096000" y="4264025"/>
            <a:ext cx="2370138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72" name="Text Box 2071"/>
          <p:cNvSpPr txBox="1">
            <a:spLocks noChangeArrowheads="1"/>
          </p:cNvSpPr>
          <p:nvPr/>
        </p:nvSpPr>
        <p:spPr bwMode="auto">
          <a:xfrm>
            <a:off x="898525" y="6137275"/>
            <a:ext cx="3060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Increasing window size</a:t>
            </a:r>
          </a:p>
        </p:txBody>
      </p:sp>
      <p:sp>
        <p:nvSpPr>
          <p:cNvPr id="15373" name="Line 2072"/>
          <p:cNvSpPr>
            <a:spLocks noChangeShapeType="1"/>
          </p:cNvSpPr>
          <p:nvPr/>
        </p:nvSpPr>
        <p:spPr bwMode="auto">
          <a:xfrm>
            <a:off x="4038600" y="6400800"/>
            <a:ext cx="3962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689850" cy="914400"/>
          </a:xfrm>
        </p:spPr>
        <p:txBody>
          <a:bodyPr lIns="18000" tIns="46800" rIns="18000" bIns="46800"/>
          <a:lstStyle/>
          <a:p>
            <a:pPr>
              <a:spcBef>
                <a:spcPts val="963"/>
              </a:spcBef>
              <a:defRPr/>
            </a:pPr>
            <a:r>
              <a:rPr lang="en-GB"/>
              <a:t>Brodatz Results</a:t>
            </a: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241675"/>
            <a:ext cx="3424238" cy="330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57400" y="1609725"/>
            <a:ext cx="1062038" cy="102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53000" y="3203575"/>
            <a:ext cx="3500438" cy="334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10288" y="1581150"/>
            <a:ext cx="1062037" cy="1014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91" name="Freeform 7"/>
          <p:cNvSpPr>
            <a:spLocks noChangeArrowheads="1"/>
          </p:cNvSpPr>
          <p:nvPr/>
        </p:nvSpPr>
        <p:spPr bwMode="auto">
          <a:xfrm>
            <a:off x="6491288" y="2735263"/>
            <a:ext cx="376237" cy="385762"/>
          </a:xfrm>
          <a:custGeom>
            <a:avLst/>
            <a:gdLst>
              <a:gd name="T0" fmla="*/ 788 w 1051"/>
              <a:gd name="T1" fmla="*/ 0 h 1077"/>
              <a:gd name="T2" fmla="*/ 263 w 1051"/>
              <a:gd name="T3" fmla="*/ 0 h 1077"/>
              <a:gd name="T4" fmla="*/ 263 w 1051"/>
              <a:gd name="T5" fmla="*/ 807 h 1077"/>
              <a:gd name="T6" fmla="*/ 0 w 1051"/>
              <a:gd name="T7" fmla="*/ 807 h 1077"/>
              <a:gd name="T8" fmla="*/ 525 w 1051"/>
              <a:gd name="T9" fmla="*/ 1076 h 1077"/>
              <a:gd name="T10" fmla="*/ 1050 w 1051"/>
              <a:gd name="T11" fmla="*/ 807 h 1077"/>
              <a:gd name="T12" fmla="*/ 788 w 1051"/>
              <a:gd name="T13" fmla="*/ 807 h 1077"/>
              <a:gd name="T14" fmla="*/ 788 w 1051"/>
              <a:gd name="T15" fmla="*/ 0 h 107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51"/>
              <a:gd name="T25" fmla="*/ 0 h 1077"/>
              <a:gd name="T26" fmla="*/ 1051 w 1051"/>
              <a:gd name="T27" fmla="*/ 1077 h 107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51" h="1077">
                <a:moveTo>
                  <a:pt x="788" y="0"/>
                </a:moveTo>
                <a:lnTo>
                  <a:pt x="263" y="0"/>
                </a:lnTo>
                <a:lnTo>
                  <a:pt x="263" y="807"/>
                </a:lnTo>
                <a:lnTo>
                  <a:pt x="0" y="807"/>
                </a:lnTo>
                <a:lnTo>
                  <a:pt x="525" y="1076"/>
                </a:lnTo>
                <a:lnTo>
                  <a:pt x="1050" y="807"/>
                </a:lnTo>
                <a:lnTo>
                  <a:pt x="788" y="807"/>
                </a:lnTo>
                <a:lnTo>
                  <a:pt x="788" y="0"/>
                </a:lnTo>
              </a:path>
            </a:pathLst>
          </a:custGeom>
          <a:solidFill>
            <a:schemeClr val="tx1"/>
          </a:solidFill>
          <a:ln w="144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6392" name="Freeform 8"/>
          <p:cNvSpPr>
            <a:spLocks noChangeArrowheads="1"/>
          </p:cNvSpPr>
          <p:nvPr/>
        </p:nvSpPr>
        <p:spPr bwMode="auto">
          <a:xfrm>
            <a:off x="2460625" y="2767013"/>
            <a:ext cx="376238" cy="385762"/>
          </a:xfrm>
          <a:custGeom>
            <a:avLst/>
            <a:gdLst>
              <a:gd name="T0" fmla="*/ 788 w 1051"/>
              <a:gd name="T1" fmla="*/ 0 h 1077"/>
              <a:gd name="T2" fmla="*/ 263 w 1051"/>
              <a:gd name="T3" fmla="*/ 0 h 1077"/>
              <a:gd name="T4" fmla="*/ 263 w 1051"/>
              <a:gd name="T5" fmla="*/ 806 h 1077"/>
              <a:gd name="T6" fmla="*/ 0 w 1051"/>
              <a:gd name="T7" fmla="*/ 806 h 1077"/>
              <a:gd name="T8" fmla="*/ 525 w 1051"/>
              <a:gd name="T9" fmla="*/ 1076 h 1077"/>
              <a:gd name="T10" fmla="*/ 1050 w 1051"/>
              <a:gd name="T11" fmla="*/ 806 h 1077"/>
              <a:gd name="T12" fmla="*/ 788 w 1051"/>
              <a:gd name="T13" fmla="*/ 806 h 1077"/>
              <a:gd name="T14" fmla="*/ 788 w 1051"/>
              <a:gd name="T15" fmla="*/ 0 h 107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51"/>
              <a:gd name="T25" fmla="*/ 0 h 1077"/>
              <a:gd name="T26" fmla="*/ 1051 w 1051"/>
              <a:gd name="T27" fmla="*/ 1077 h 107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51" h="1077">
                <a:moveTo>
                  <a:pt x="788" y="0"/>
                </a:moveTo>
                <a:lnTo>
                  <a:pt x="263" y="0"/>
                </a:lnTo>
                <a:lnTo>
                  <a:pt x="263" y="806"/>
                </a:lnTo>
                <a:lnTo>
                  <a:pt x="0" y="806"/>
                </a:lnTo>
                <a:lnTo>
                  <a:pt x="525" y="1076"/>
                </a:lnTo>
                <a:lnTo>
                  <a:pt x="1050" y="806"/>
                </a:lnTo>
                <a:lnTo>
                  <a:pt x="788" y="806"/>
                </a:lnTo>
                <a:lnTo>
                  <a:pt x="788" y="0"/>
                </a:lnTo>
              </a:path>
            </a:pathLst>
          </a:custGeom>
          <a:solidFill>
            <a:schemeClr val="tx1"/>
          </a:solidFill>
          <a:ln w="144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5591175" y="1157288"/>
            <a:ext cx="20732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/>
          <a:lstStyle/>
          <a:p>
            <a:pPr>
              <a:lnSpc>
                <a:spcPct val="61000"/>
              </a:lnSpc>
              <a:tabLst>
                <a:tab pos="646113" algn="l"/>
                <a:tab pos="1292225" algn="l"/>
                <a:tab pos="1633538" algn="l"/>
                <a:tab pos="1728788" algn="l"/>
              </a:tabLst>
            </a:pPr>
            <a:r>
              <a:rPr lang="en-GB" altLang="zh-CN">
                <a:ea typeface="宋体" charset="-122"/>
              </a:rPr>
              <a:t>aluminum wire</a:t>
            </a:r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1666875" y="1187450"/>
            <a:ext cx="16986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/>
          <a:lstStyle/>
          <a:p>
            <a:pPr>
              <a:lnSpc>
                <a:spcPct val="61000"/>
              </a:lnSpc>
              <a:tabLst>
                <a:tab pos="646113" algn="l"/>
                <a:tab pos="1292225" algn="l"/>
                <a:tab pos="1368425" algn="l"/>
                <a:tab pos="1447800" algn="l"/>
              </a:tabLst>
            </a:pPr>
            <a:r>
              <a:rPr lang="en-GB" altLang="zh-CN">
                <a:ea typeface="宋体" charset="-122"/>
              </a:rPr>
              <a:t>reptile skin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reeform 2"/>
          <p:cNvSpPr>
            <a:spLocks noChangeArrowheads="1"/>
          </p:cNvSpPr>
          <p:nvPr/>
        </p:nvSpPr>
        <p:spPr bwMode="auto">
          <a:xfrm>
            <a:off x="2438400" y="2782888"/>
            <a:ext cx="376238" cy="427037"/>
          </a:xfrm>
          <a:custGeom>
            <a:avLst/>
            <a:gdLst>
              <a:gd name="T0" fmla="*/ 787 w 1051"/>
              <a:gd name="T1" fmla="*/ 0 h 1192"/>
              <a:gd name="T2" fmla="*/ 263 w 1051"/>
              <a:gd name="T3" fmla="*/ 0 h 1192"/>
              <a:gd name="T4" fmla="*/ 263 w 1051"/>
              <a:gd name="T5" fmla="*/ 893 h 1192"/>
              <a:gd name="T6" fmla="*/ 0 w 1051"/>
              <a:gd name="T7" fmla="*/ 893 h 1192"/>
              <a:gd name="T8" fmla="*/ 525 w 1051"/>
              <a:gd name="T9" fmla="*/ 1191 h 1192"/>
              <a:gd name="T10" fmla="*/ 1050 w 1051"/>
              <a:gd name="T11" fmla="*/ 893 h 1192"/>
              <a:gd name="T12" fmla="*/ 787 w 1051"/>
              <a:gd name="T13" fmla="*/ 893 h 1192"/>
              <a:gd name="T14" fmla="*/ 787 w 1051"/>
              <a:gd name="T15" fmla="*/ 0 h 119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51"/>
              <a:gd name="T25" fmla="*/ 0 h 1192"/>
              <a:gd name="T26" fmla="*/ 1051 w 1051"/>
              <a:gd name="T27" fmla="*/ 1192 h 119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51" h="1192">
                <a:moveTo>
                  <a:pt x="787" y="0"/>
                </a:moveTo>
                <a:lnTo>
                  <a:pt x="263" y="0"/>
                </a:lnTo>
                <a:lnTo>
                  <a:pt x="263" y="893"/>
                </a:lnTo>
                <a:lnTo>
                  <a:pt x="0" y="893"/>
                </a:lnTo>
                <a:lnTo>
                  <a:pt x="525" y="1191"/>
                </a:lnTo>
                <a:lnTo>
                  <a:pt x="1050" y="893"/>
                </a:lnTo>
                <a:lnTo>
                  <a:pt x="787" y="893"/>
                </a:lnTo>
                <a:lnTo>
                  <a:pt x="787" y="0"/>
                </a:lnTo>
              </a:path>
            </a:pathLst>
          </a:custGeom>
          <a:solidFill>
            <a:schemeClr val="tx1"/>
          </a:solidFill>
          <a:ln w="144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7411" name="Freeform 3"/>
          <p:cNvSpPr>
            <a:spLocks noChangeArrowheads="1"/>
          </p:cNvSpPr>
          <p:nvPr/>
        </p:nvSpPr>
        <p:spPr bwMode="auto">
          <a:xfrm>
            <a:off x="6477000" y="2768600"/>
            <a:ext cx="376238" cy="396875"/>
          </a:xfrm>
          <a:custGeom>
            <a:avLst/>
            <a:gdLst>
              <a:gd name="T0" fmla="*/ 787 w 1050"/>
              <a:gd name="T1" fmla="*/ 0 h 1107"/>
              <a:gd name="T2" fmla="*/ 262 w 1050"/>
              <a:gd name="T3" fmla="*/ 0 h 1107"/>
              <a:gd name="T4" fmla="*/ 262 w 1050"/>
              <a:gd name="T5" fmla="*/ 829 h 1107"/>
              <a:gd name="T6" fmla="*/ 0 w 1050"/>
              <a:gd name="T7" fmla="*/ 829 h 1107"/>
              <a:gd name="T8" fmla="*/ 524 w 1050"/>
              <a:gd name="T9" fmla="*/ 1106 h 1107"/>
              <a:gd name="T10" fmla="*/ 1049 w 1050"/>
              <a:gd name="T11" fmla="*/ 829 h 1107"/>
              <a:gd name="T12" fmla="*/ 787 w 1050"/>
              <a:gd name="T13" fmla="*/ 829 h 1107"/>
              <a:gd name="T14" fmla="*/ 787 w 1050"/>
              <a:gd name="T15" fmla="*/ 0 h 110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50"/>
              <a:gd name="T25" fmla="*/ 0 h 1107"/>
              <a:gd name="T26" fmla="*/ 1050 w 1050"/>
              <a:gd name="T27" fmla="*/ 1107 h 110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50" h="1107">
                <a:moveTo>
                  <a:pt x="787" y="0"/>
                </a:moveTo>
                <a:lnTo>
                  <a:pt x="262" y="0"/>
                </a:lnTo>
                <a:lnTo>
                  <a:pt x="262" y="829"/>
                </a:lnTo>
                <a:lnTo>
                  <a:pt x="0" y="829"/>
                </a:lnTo>
                <a:lnTo>
                  <a:pt x="524" y="1106"/>
                </a:lnTo>
                <a:lnTo>
                  <a:pt x="1049" y="829"/>
                </a:lnTo>
                <a:lnTo>
                  <a:pt x="787" y="829"/>
                </a:lnTo>
                <a:lnTo>
                  <a:pt x="787" y="0"/>
                </a:lnTo>
              </a:path>
            </a:pathLst>
          </a:custGeom>
          <a:solidFill>
            <a:schemeClr val="tx1"/>
          </a:solidFill>
          <a:ln w="144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70625" y="1633538"/>
            <a:ext cx="887413" cy="98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00" y="3238500"/>
            <a:ext cx="2978150" cy="3309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90600" y="3276600"/>
            <a:ext cx="3016250" cy="326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163763" y="1639888"/>
            <a:ext cx="911225" cy="98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4" name="Rectangle 10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996238" cy="990600"/>
          </a:xfrm>
        </p:spPr>
        <p:txBody>
          <a:bodyPr lIns="0" tIns="0" rIns="0" bIns="0"/>
          <a:lstStyle/>
          <a:p>
            <a:pPr>
              <a:lnSpc>
                <a:spcPct val="61000"/>
              </a:lnSpc>
              <a:spcBef>
                <a:spcPts val="963"/>
              </a:spcBef>
              <a:defRPr/>
            </a:pPr>
            <a:r>
              <a:rPr lang="en-GB"/>
              <a:t>More Brodatz Results</a:t>
            </a:r>
          </a:p>
        </p:txBody>
      </p:sp>
      <p:sp>
        <p:nvSpPr>
          <p:cNvPr id="17417" name="Text Box 11"/>
          <p:cNvSpPr txBox="1">
            <a:spLocks noChangeArrowheads="1"/>
          </p:cNvSpPr>
          <p:nvPr/>
        </p:nvSpPr>
        <p:spPr bwMode="auto">
          <a:xfrm>
            <a:off x="1752600" y="1066800"/>
            <a:ext cx="186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french canvas</a:t>
            </a:r>
          </a:p>
        </p:txBody>
      </p:sp>
      <p:sp>
        <p:nvSpPr>
          <p:cNvPr id="17418" name="Text Box 12"/>
          <p:cNvSpPr txBox="1">
            <a:spLocks noChangeArrowheads="1"/>
          </p:cNvSpPr>
          <p:nvPr/>
        </p:nvSpPr>
        <p:spPr bwMode="auto">
          <a:xfrm>
            <a:off x="5943600" y="1066800"/>
            <a:ext cx="1595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rafia weave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46038"/>
            <a:ext cx="7767638" cy="814388"/>
          </a:xfrm>
        </p:spPr>
        <p:txBody>
          <a:bodyPr lIns="18000" tIns="46800" rIns="18000" bIns="46800"/>
          <a:lstStyle/>
          <a:p>
            <a:pPr>
              <a:spcBef>
                <a:spcPts val="963"/>
              </a:spcBef>
              <a:defRPr/>
            </a:pPr>
            <a:r>
              <a:rPr lang="en-GB"/>
              <a:t>More Results</a:t>
            </a: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3248025"/>
            <a:ext cx="3271838" cy="327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03375" y="1295400"/>
            <a:ext cx="1519238" cy="139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00600" y="3248025"/>
            <a:ext cx="3271838" cy="327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745163" y="1308100"/>
            <a:ext cx="1468437" cy="142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9" name="Freeform 7"/>
          <p:cNvSpPr>
            <a:spLocks noChangeArrowheads="1"/>
          </p:cNvSpPr>
          <p:nvPr/>
        </p:nvSpPr>
        <p:spPr bwMode="auto">
          <a:xfrm>
            <a:off x="2209800" y="2782888"/>
            <a:ext cx="376238" cy="376237"/>
          </a:xfrm>
          <a:custGeom>
            <a:avLst/>
            <a:gdLst>
              <a:gd name="T0" fmla="*/ 787 w 1051"/>
              <a:gd name="T1" fmla="*/ 0 h 1051"/>
              <a:gd name="T2" fmla="*/ 263 w 1051"/>
              <a:gd name="T3" fmla="*/ 0 h 1051"/>
              <a:gd name="T4" fmla="*/ 263 w 1051"/>
              <a:gd name="T5" fmla="*/ 787 h 1051"/>
              <a:gd name="T6" fmla="*/ 0 w 1051"/>
              <a:gd name="T7" fmla="*/ 787 h 1051"/>
              <a:gd name="T8" fmla="*/ 525 w 1051"/>
              <a:gd name="T9" fmla="*/ 1050 h 1051"/>
              <a:gd name="T10" fmla="*/ 1050 w 1051"/>
              <a:gd name="T11" fmla="*/ 787 h 1051"/>
              <a:gd name="T12" fmla="*/ 787 w 1051"/>
              <a:gd name="T13" fmla="*/ 787 h 1051"/>
              <a:gd name="T14" fmla="*/ 787 w 1051"/>
              <a:gd name="T15" fmla="*/ 0 h 105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51"/>
              <a:gd name="T25" fmla="*/ 0 h 1051"/>
              <a:gd name="T26" fmla="*/ 1051 w 1051"/>
              <a:gd name="T27" fmla="*/ 1051 h 105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51" h="1051">
                <a:moveTo>
                  <a:pt x="787" y="0"/>
                </a:moveTo>
                <a:lnTo>
                  <a:pt x="263" y="0"/>
                </a:lnTo>
                <a:lnTo>
                  <a:pt x="263" y="787"/>
                </a:lnTo>
                <a:lnTo>
                  <a:pt x="0" y="787"/>
                </a:lnTo>
                <a:lnTo>
                  <a:pt x="525" y="1050"/>
                </a:lnTo>
                <a:lnTo>
                  <a:pt x="1050" y="787"/>
                </a:lnTo>
                <a:lnTo>
                  <a:pt x="787" y="787"/>
                </a:lnTo>
                <a:lnTo>
                  <a:pt x="787" y="0"/>
                </a:lnTo>
              </a:path>
            </a:pathLst>
          </a:custGeom>
          <a:solidFill>
            <a:schemeClr val="tx1"/>
          </a:solidFill>
          <a:ln w="144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8440" name="Freeform 8"/>
          <p:cNvSpPr>
            <a:spLocks noChangeArrowheads="1"/>
          </p:cNvSpPr>
          <p:nvPr/>
        </p:nvSpPr>
        <p:spPr bwMode="auto">
          <a:xfrm>
            <a:off x="6324600" y="2819400"/>
            <a:ext cx="376238" cy="360363"/>
          </a:xfrm>
          <a:custGeom>
            <a:avLst/>
            <a:gdLst>
              <a:gd name="T0" fmla="*/ 787 w 1051"/>
              <a:gd name="T1" fmla="*/ 0 h 1006"/>
              <a:gd name="T2" fmla="*/ 263 w 1051"/>
              <a:gd name="T3" fmla="*/ 0 h 1006"/>
              <a:gd name="T4" fmla="*/ 263 w 1051"/>
              <a:gd name="T5" fmla="*/ 754 h 1006"/>
              <a:gd name="T6" fmla="*/ 0 w 1051"/>
              <a:gd name="T7" fmla="*/ 754 h 1006"/>
              <a:gd name="T8" fmla="*/ 525 w 1051"/>
              <a:gd name="T9" fmla="*/ 1005 h 1006"/>
              <a:gd name="T10" fmla="*/ 1050 w 1051"/>
              <a:gd name="T11" fmla="*/ 754 h 1006"/>
              <a:gd name="T12" fmla="*/ 787 w 1051"/>
              <a:gd name="T13" fmla="*/ 754 h 1006"/>
              <a:gd name="T14" fmla="*/ 787 w 1051"/>
              <a:gd name="T15" fmla="*/ 0 h 100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51"/>
              <a:gd name="T25" fmla="*/ 0 h 1006"/>
              <a:gd name="T26" fmla="*/ 1051 w 1051"/>
              <a:gd name="T27" fmla="*/ 1006 h 100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51" h="1006">
                <a:moveTo>
                  <a:pt x="787" y="0"/>
                </a:moveTo>
                <a:lnTo>
                  <a:pt x="263" y="0"/>
                </a:lnTo>
                <a:lnTo>
                  <a:pt x="263" y="754"/>
                </a:lnTo>
                <a:lnTo>
                  <a:pt x="0" y="754"/>
                </a:lnTo>
                <a:lnTo>
                  <a:pt x="525" y="1005"/>
                </a:lnTo>
                <a:lnTo>
                  <a:pt x="1050" y="754"/>
                </a:lnTo>
                <a:lnTo>
                  <a:pt x="787" y="754"/>
                </a:lnTo>
                <a:lnTo>
                  <a:pt x="787" y="0"/>
                </a:lnTo>
              </a:path>
            </a:pathLst>
          </a:custGeom>
          <a:solidFill>
            <a:schemeClr val="tx1"/>
          </a:solidFill>
          <a:ln w="144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8441" name="Text Box 11"/>
          <p:cNvSpPr txBox="1">
            <a:spLocks noChangeArrowheads="1"/>
          </p:cNvSpPr>
          <p:nvPr/>
        </p:nvSpPr>
        <p:spPr bwMode="auto">
          <a:xfrm>
            <a:off x="1905000" y="762000"/>
            <a:ext cx="862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wood</a:t>
            </a:r>
          </a:p>
        </p:txBody>
      </p:sp>
      <p:sp>
        <p:nvSpPr>
          <p:cNvPr id="18442" name="Text Box 12"/>
          <p:cNvSpPr txBox="1">
            <a:spLocks noChangeArrowheads="1"/>
          </p:cNvSpPr>
          <p:nvPr/>
        </p:nvSpPr>
        <p:spPr bwMode="auto">
          <a:xfrm>
            <a:off x="6003925" y="762000"/>
            <a:ext cx="1028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granite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44525" y="-46038"/>
            <a:ext cx="7767638" cy="814388"/>
          </a:xfrm>
        </p:spPr>
        <p:txBody>
          <a:bodyPr lIns="18000" tIns="46800" rIns="18000" bIns="46800"/>
          <a:lstStyle/>
          <a:p>
            <a:pPr>
              <a:spcBef>
                <a:spcPts val="963"/>
              </a:spcBef>
              <a:defRPr/>
            </a:pPr>
            <a:r>
              <a:rPr lang="en-GB"/>
              <a:t>More Results</a:t>
            </a: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3248025"/>
            <a:ext cx="3271838" cy="327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58938" y="1309688"/>
            <a:ext cx="1519237" cy="139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00600" y="3248025"/>
            <a:ext cx="3271838" cy="327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745163" y="1308100"/>
            <a:ext cx="1468437" cy="142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3" name="Freeform 7"/>
          <p:cNvSpPr>
            <a:spLocks noChangeArrowheads="1"/>
          </p:cNvSpPr>
          <p:nvPr/>
        </p:nvSpPr>
        <p:spPr bwMode="auto">
          <a:xfrm>
            <a:off x="2209800" y="2782888"/>
            <a:ext cx="376238" cy="376237"/>
          </a:xfrm>
          <a:custGeom>
            <a:avLst/>
            <a:gdLst>
              <a:gd name="T0" fmla="*/ 787 w 1051"/>
              <a:gd name="T1" fmla="*/ 0 h 1051"/>
              <a:gd name="T2" fmla="*/ 263 w 1051"/>
              <a:gd name="T3" fmla="*/ 0 h 1051"/>
              <a:gd name="T4" fmla="*/ 263 w 1051"/>
              <a:gd name="T5" fmla="*/ 787 h 1051"/>
              <a:gd name="T6" fmla="*/ 0 w 1051"/>
              <a:gd name="T7" fmla="*/ 787 h 1051"/>
              <a:gd name="T8" fmla="*/ 525 w 1051"/>
              <a:gd name="T9" fmla="*/ 1050 h 1051"/>
              <a:gd name="T10" fmla="*/ 1050 w 1051"/>
              <a:gd name="T11" fmla="*/ 787 h 1051"/>
              <a:gd name="T12" fmla="*/ 787 w 1051"/>
              <a:gd name="T13" fmla="*/ 787 h 1051"/>
              <a:gd name="T14" fmla="*/ 787 w 1051"/>
              <a:gd name="T15" fmla="*/ 0 h 105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51"/>
              <a:gd name="T25" fmla="*/ 0 h 1051"/>
              <a:gd name="T26" fmla="*/ 1051 w 1051"/>
              <a:gd name="T27" fmla="*/ 1051 h 105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51" h="1051">
                <a:moveTo>
                  <a:pt x="787" y="0"/>
                </a:moveTo>
                <a:lnTo>
                  <a:pt x="263" y="0"/>
                </a:lnTo>
                <a:lnTo>
                  <a:pt x="263" y="787"/>
                </a:lnTo>
                <a:lnTo>
                  <a:pt x="0" y="787"/>
                </a:lnTo>
                <a:lnTo>
                  <a:pt x="525" y="1050"/>
                </a:lnTo>
                <a:lnTo>
                  <a:pt x="1050" y="787"/>
                </a:lnTo>
                <a:lnTo>
                  <a:pt x="787" y="787"/>
                </a:lnTo>
                <a:lnTo>
                  <a:pt x="787" y="0"/>
                </a:lnTo>
              </a:path>
            </a:pathLst>
          </a:custGeom>
          <a:solidFill>
            <a:schemeClr val="tx1"/>
          </a:solidFill>
          <a:ln w="144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9464" name="Freeform 8"/>
          <p:cNvSpPr>
            <a:spLocks noChangeArrowheads="1"/>
          </p:cNvSpPr>
          <p:nvPr/>
        </p:nvSpPr>
        <p:spPr bwMode="auto">
          <a:xfrm>
            <a:off x="6324600" y="2819400"/>
            <a:ext cx="376238" cy="360363"/>
          </a:xfrm>
          <a:custGeom>
            <a:avLst/>
            <a:gdLst>
              <a:gd name="T0" fmla="*/ 787 w 1051"/>
              <a:gd name="T1" fmla="*/ 0 h 1006"/>
              <a:gd name="T2" fmla="*/ 263 w 1051"/>
              <a:gd name="T3" fmla="*/ 0 h 1006"/>
              <a:gd name="T4" fmla="*/ 263 w 1051"/>
              <a:gd name="T5" fmla="*/ 754 h 1006"/>
              <a:gd name="T6" fmla="*/ 0 w 1051"/>
              <a:gd name="T7" fmla="*/ 754 h 1006"/>
              <a:gd name="T8" fmla="*/ 525 w 1051"/>
              <a:gd name="T9" fmla="*/ 1005 h 1006"/>
              <a:gd name="T10" fmla="*/ 1050 w 1051"/>
              <a:gd name="T11" fmla="*/ 754 h 1006"/>
              <a:gd name="T12" fmla="*/ 787 w 1051"/>
              <a:gd name="T13" fmla="*/ 754 h 1006"/>
              <a:gd name="T14" fmla="*/ 787 w 1051"/>
              <a:gd name="T15" fmla="*/ 0 h 100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51"/>
              <a:gd name="T25" fmla="*/ 0 h 1006"/>
              <a:gd name="T26" fmla="*/ 1051 w 1051"/>
              <a:gd name="T27" fmla="*/ 1006 h 100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51" h="1006">
                <a:moveTo>
                  <a:pt x="787" y="0"/>
                </a:moveTo>
                <a:lnTo>
                  <a:pt x="263" y="0"/>
                </a:lnTo>
                <a:lnTo>
                  <a:pt x="263" y="754"/>
                </a:lnTo>
                <a:lnTo>
                  <a:pt x="0" y="754"/>
                </a:lnTo>
                <a:lnTo>
                  <a:pt x="525" y="1005"/>
                </a:lnTo>
                <a:lnTo>
                  <a:pt x="1050" y="754"/>
                </a:lnTo>
                <a:lnTo>
                  <a:pt x="787" y="754"/>
                </a:lnTo>
                <a:lnTo>
                  <a:pt x="787" y="0"/>
                </a:lnTo>
              </a:path>
            </a:pathLst>
          </a:custGeom>
          <a:solidFill>
            <a:schemeClr val="tx1"/>
          </a:solidFill>
          <a:ln w="144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9465" name="Text Box 11"/>
          <p:cNvSpPr txBox="1">
            <a:spLocks noChangeArrowheads="1"/>
          </p:cNvSpPr>
          <p:nvPr/>
        </p:nvSpPr>
        <p:spPr bwMode="auto">
          <a:xfrm>
            <a:off x="1524000" y="762000"/>
            <a:ext cx="1612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white bread</a:t>
            </a:r>
          </a:p>
        </p:txBody>
      </p:sp>
      <p:sp>
        <p:nvSpPr>
          <p:cNvPr id="19466" name="Text Box 12"/>
          <p:cNvSpPr txBox="1">
            <a:spLocks noChangeArrowheads="1"/>
          </p:cNvSpPr>
          <p:nvPr/>
        </p:nvSpPr>
        <p:spPr bwMode="auto">
          <a:xfrm>
            <a:off x="5791200" y="762000"/>
            <a:ext cx="140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brick wall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0" tIns="0" rIns="0" bIns="0"/>
          <a:lstStyle/>
          <a:p>
            <a:pPr>
              <a:defRPr/>
            </a:pPr>
            <a:r>
              <a:rPr lang="en-GB"/>
              <a:t>Visual Comparison</a:t>
            </a:r>
          </a:p>
        </p:txBody>
      </p:sp>
      <p:pic>
        <p:nvPicPr>
          <p:cNvPr id="3076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3352800"/>
            <a:ext cx="27432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38600" y="1524000"/>
            <a:ext cx="914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96000" y="3352800"/>
            <a:ext cx="27432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9" name="AutoShape 6"/>
          <p:cNvSpPr>
            <a:spLocks noChangeArrowheads="1"/>
          </p:cNvSpPr>
          <p:nvPr/>
        </p:nvSpPr>
        <p:spPr bwMode="auto">
          <a:xfrm>
            <a:off x="4267200" y="2667000"/>
            <a:ext cx="457200" cy="533400"/>
          </a:xfrm>
          <a:prstGeom prst="downArrow">
            <a:avLst>
              <a:gd name="adj1" fmla="val 50000"/>
              <a:gd name="adj2" fmla="val 2916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080" name="Text Box 7"/>
          <p:cNvSpPr txBox="1">
            <a:spLocks noChangeArrowheads="1"/>
          </p:cNvSpPr>
          <p:nvPr/>
        </p:nvSpPr>
        <p:spPr bwMode="auto">
          <a:xfrm>
            <a:off x="457200" y="6096000"/>
            <a:ext cx="206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ea typeface="宋体" charset="-122"/>
              </a:rPr>
              <a:t>[DeBonet, ‘97]</a:t>
            </a:r>
            <a:endParaRPr lang="en-US" altLang="zh-CN">
              <a:ea typeface="宋体" charset="-122"/>
            </a:endParaRPr>
          </a:p>
        </p:txBody>
      </p:sp>
      <p:sp>
        <p:nvSpPr>
          <p:cNvPr id="3081" name="Text Box 8"/>
          <p:cNvSpPr txBox="1">
            <a:spLocks noChangeArrowheads="1"/>
          </p:cNvSpPr>
          <p:nvPr/>
        </p:nvSpPr>
        <p:spPr bwMode="auto">
          <a:xfrm>
            <a:off x="6324600" y="60960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ea typeface="宋体" charset="-122"/>
              </a:rPr>
              <a:t>Our approach</a:t>
            </a:r>
          </a:p>
        </p:txBody>
      </p:sp>
      <p:graphicFrame>
        <p:nvGraphicFramePr>
          <p:cNvPr id="3074" name="Object 1024"/>
          <p:cNvGraphicFramePr>
            <a:graphicFrameLocks noChangeAspect="1"/>
          </p:cNvGraphicFramePr>
          <p:nvPr/>
        </p:nvGraphicFramePr>
        <p:xfrm>
          <a:off x="3124200" y="3352800"/>
          <a:ext cx="27432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Bitmap Image" r:id="rId7" imgW="2133898" imgH="2133898" progId="PBrush">
                  <p:embed/>
                </p:oleObj>
              </mc:Choice>
              <mc:Fallback>
                <p:oleObj name="Bitmap Image" r:id="rId7" imgW="2133898" imgH="2133898" progId="PBrush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352800"/>
                        <a:ext cx="2743200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Text Box 10"/>
          <p:cNvSpPr txBox="1">
            <a:spLocks noChangeArrowheads="1"/>
          </p:cNvSpPr>
          <p:nvPr/>
        </p:nvSpPr>
        <p:spPr bwMode="auto">
          <a:xfrm>
            <a:off x="3576638" y="6096000"/>
            <a:ext cx="18335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ea typeface="宋体" charset="-122"/>
              </a:rPr>
              <a:t>Simple tiling</a:t>
            </a:r>
            <a:endParaRPr lang="en-US" altLang="zh-CN">
              <a:ea typeface="宋体" charset="-122"/>
            </a:endParaRPr>
          </a:p>
        </p:txBody>
      </p:sp>
      <p:sp>
        <p:nvSpPr>
          <p:cNvPr id="3083" name="Text Box 11"/>
          <p:cNvSpPr txBox="1">
            <a:spLocks noChangeArrowheads="1"/>
          </p:cNvSpPr>
          <p:nvPr/>
        </p:nvSpPr>
        <p:spPr bwMode="auto">
          <a:xfrm>
            <a:off x="1828800" y="1524000"/>
            <a:ext cx="23622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i="1">
                <a:ea typeface="宋体" charset="-122"/>
              </a:rPr>
              <a:t>Synthetic tilable</a:t>
            </a:r>
          </a:p>
          <a:p>
            <a:r>
              <a:rPr lang="en-US" altLang="zh-CN" i="1">
                <a:ea typeface="宋体" charset="-122"/>
              </a:rPr>
              <a:t>texture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371600"/>
          </a:xfrm>
        </p:spPr>
        <p:txBody>
          <a:bodyPr lIns="0" tIns="0" rIns="0" bIns="0"/>
          <a:lstStyle/>
          <a:p>
            <a:pPr>
              <a:defRPr/>
            </a:pPr>
            <a:r>
              <a:rPr lang="en-GB"/>
              <a:t>Constrained Synthesis</a:t>
            </a:r>
          </a:p>
        </p:txBody>
      </p:sp>
      <p:pic>
        <p:nvPicPr>
          <p:cNvPr id="20483" name="Picture 102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3962400"/>
            <a:ext cx="2601913" cy="260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4" name="Picture 102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0" y="3962400"/>
            <a:ext cx="2601913" cy="260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5" name="Picture 102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34000" y="1295400"/>
            <a:ext cx="2438400" cy="243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6" name="Picture 103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43000" y="1295400"/>
            <a:ext cx="238442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7" name="AutoShape 1031"/>
          <p:cNvSpPr>
            <a:spLocks noChangeArrowheads="1"/>
          </p:cNvSpPr>
          <p:nvPr/>
        </p:nvSpPr>
        <p:spPr bwMode="auto">
          <a:xfrm>
            <a:off x="4114800" y="2362200"/>
            <a:ext cx="990600" cy="381000"/>
          </a:xfrm>
          <a:prstGeom prst="rightArrow">
            <a:avLst>
              <a:gd name="adj1" fmla="val 50000"/>
              <a:gd name="adj2" fmla="val 65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20488" name="AutoShape 1032"/>
          <p:cNvSpPr>
            <a:spLocks noChangeArrowheads="1"/>
          </p:cNvSpPr>
          <p:nvPr/>
        </p:nvSpPr>
        <p:spPr bwMode="auto">
          <a:xfrm>
            <a:off x="4114800" y="5181600"/>
            <a:ext cx="990600" cy="381000"/>
          </a:xfrm>
          <a:prstGeom prst="rightArrow">
            <a:avLst>
              <a:gd name="adj1" fmla="val 50000"/>
              <a:gd name="adj2" fmla="val 65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3BB022B-88EE-4141-BA40-B09E7DDE4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20650"/>
            <a:ext cx="8877300" cy="661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848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0" tIns="0" rIns="0" bIns="0"/>
          <a:lstStyle/>
          <a:p>
            <a:pPr>
              <a:defRPr/>
            </a:pPr>
            <a:r>
              <a:rPr lang="en-GB"/>
              <a:t>Image Extrapolation</a:t>
            </a: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0" y="2438400"/>
            <a:ext cx="3581400" cy="253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2438400"/>
            <a:ext cx="3597275" cy="254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9" name="AutoShape 5"/>
          <p:cNvSpPr>
            <a:spLocks noChangeArrowheads="1"/>
          </p:cNvSpPr>
          <p:nvPr/>
        </p:nvSpPr>
        <p:spPr bwMode="auto">
          <a:xfrm>
            <a:off x="4267200" y="3581400"/>
            <a:ext cx="457200" cy="381000"/>
          </a:xfrm>
          <a:prstGeom prst="rightArrow">
            <a:avLst>
              <a:gd name="adj1" fmla="val 50000"/>
              <a:gd name="adj2" fmla="val 3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charset="-122"/>
              </a:rPr>
              <a:t>Summary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410200"/>
          </a:xfrm>
        </p:spPr>
        <p:txBody>
          <a:bodyPr/>
          <a:lstStyle/>
          <a:p>
            <a:r>
              <a:rPr lang="en-US" altLang="zh-CN">
                <a:ea typeface="宋体" charset="-122"/>
              </a:rPr>
              <a:t>Advantages:</a:t>
            </a:r>
          </a:p>
          <a:p>
            <a:pPr lvl="1"/>
            <a:r>
              <a:rPr lang="en-US" altLang="zh-CN">
                <a:ea typeface="宋体" charset="-122"/>
              </a:rPr>
              <a:t>conceptually simple</a:t>
            </a:r>
          </a:p>
          <a:p>
            <a:pPr lvl="1"/>
            <a:r>
              <a:rPr lang="en-US" altLang="zh-CN">
                <a:ea typeface="宋体" charset="-122"/>
              </a:rPr>
              <a:t>models a wide range of real-world textures</a:t>
            </a:r>
          </a:p>
          <a:p>
            <a:pPr lvl="1"/>
            <a:r>
              <a:rPr lang="en-US" altLang="zh-CN">
                <a:ea typeface="宋体" charset="-122"/>
              </a:rPr>
              <a:t>naturally does hole-filling</a:t>
            </a:r>
          </a:p>
          <a:p>
            <a:r>
              <a:rPr lang="en-US" altLang="zh-CN">
                <a:ea typeface="宋体" charset="-122"/>
              </a:rPr>
              <a:t>Disadvantages:</a:t>
            </a:r>
          </a:p>
          <a:p>
            <a:pPr lvl="1"/>
            <a:r>
              <a:rPr lang="en-US" altLang="zh-CN">
                <a:ea typeface="宋体" charset="-122"/>
              </a:rPr>
              <a:t>it’s greedy</a:t>
            </a:r>
          </a:p>
          <a:p>
            <a:pPr lvl="1"/>
            <a:r>
              <a:rPr lang="en-US" altLang="zh-CN">
                <a:ea typeface="宋体" charset="-122"/>
              </a:rPr>
              <a:t>it’s slow </a:t>
            </a:r>
          </a:p>
          <a:p>
            <a:pPr lvl="1"/>
            <a:r>
              <a:rPr lang="en-US" altLang="zh-CN">
                <a:ea typeface="宋体" charset="-122"/>
              </a:rPr>
              <a:t>it’s a heuristic</a:t>
            </a:r>
          </a:p>
          <a:p>
            <a:r>
              <a:rPr lang="en-US" altLang="zh-CN">
                <a:ea typeface="宋体" charset="-122"/>
              </a:rPr>
              <a:t>Not an answer to texture analysis, but hopefully some inspiration!</a:t>
            </a:r>
          </a:p>
          <a:p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Texture Synthesis by Non-parametric Sampling</a:t>
            </a:r>
          </a:p>
          <a:p>
            <a:r>
              <a:rPr lang="en-US" altLang="zh-CN" b="1" dirty="0">
                <a:ea typeface="宋体" charset="-122"/>
              </a:rPr>
              <a:t>Image Quilting for Texture Synthesis &amp; Transfer </a:t>
            </a:r>
            <a:endParaRPr lang="zh-CN" altLang="en-US" b="1" dirty="0">
              <a:ea typeface="宋体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D385579-4EE2-B44E-983D-EF4160047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374650"/>
            <a:ext cx="9131300" cy="61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211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7" name="Rectangle 10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Efros &amp; Leung ’99</a:t>
            </a:r>
          </a:p>
        </p:txBody>
      </p:sp>
      <p:sp>
        <p:nvSpPr>
          <p:cNvPr id="52328" name="Rectangle 104"/>
          <p:cNvSpPr>
            <a:spLocks noGrp="1" noChangeArrowheads="1"/>
          </p:cNvSpPr>
          <p:nvPr>
            <p:ph type="body" idx="1"/>
          </p:nvPr>
        </p:nvSpPr>
        <p:spPr>
          <a:xfrm>
            <a:off x="304800" y="3962400"/>
            <a:ext cx="8686800" cy="2590800"/>
          </a:xfrm>
        </p:spPr>
        <p:txBody>
          <a:bodyPr/>
          <a:lstStyle/>
          <a:p>
            <a:pPr>
              <a:spcBef>
                <a:spcPts val="700"/>
              </a:spcBef>
            </a:pPr>
            <a:r>
              <a:rPr lang="en-GB" sz="2800"/>
              <a:t>Assuming Markov property, compute P(</a:t>
            </a:r>
            <a:r>
              <a:rPr lang="en-GB" sz="2800" b="0"/>
              <a:t>p</a:t>
            </a:r>
            <a:r>
              <a:rPr lang="en-GB" sz="2800"/>
              <a:t>|N(</a:t>
            </a:r>
            <a:r>
              <a:rPr lang="en-GB" sz="2800" b="0"/>
              <a:t>p</a:t>
            </a:r>
            <a:r>
              <a:rPr lang="en-GB" sz="2800"/>
              <a:t>))</a:t>
            </a:r>
          </a:p>
          <a:p>
            <a:pPr lvl="1">
              <a:spcBef>
                <a:spcPts val="700"/>
              </a:spcBef>
            </a:pPr>
            <a:r>
              <a:rPr lang="en-GB" sz="2200"/>
              <a:t>Building explicit probability tables infeasible </a:t>
            </a:r>
          </a:p>
          <a:p>
            <a:pPr lvl="1">
              <a:spcBef>
                <a:spcPts val="700"/>
              </a:spcBef>
            </a:pPr>
            <a:r>
              <a:rPr lang="en-GB" sz="2200"/>
              <a:t>Instead, let’s </a:t>
            </a:r>
            <a:r>
              <a:rPr lang="en-GB" sz="2200" i="1"/>
              <a:t>search the input image</a:t>
            </a:r>
            <a:r>
              <a:rPr lang="en-GB" sz="2200"/>
              <a:t> for all similar neighborhoods — that’s our histogram for </a:t>
            </a:r>
            <a:r>
              <a:rPr lang="en-GB" sz="2200" b="1"/>
              <a:t>p</a:t>
            </a:r>
          </a:p>
          <a:p>
            <a:pPr>
              <a:spcBef>
                <a:spcPts val="700"/>
              </a:spcBef>
            </a:pPr>
            <a:r>
              <a:rPr lang="en-GB" sz="2800"/>
              <a:t>To synthesize </a:t>
            </a:r>
            <a:r>
              <a:rPr lang="en-GB" sz="2800" b="0"/>
              <a:t>p</a:t>
            </a:r>
            <a:r>
              <a:rPr lang="en-GB" sz="2800"/>
              <a:t>, just pick one match at random</a:t>
            </a:r>
            <a:endParaRPr lang="en-US" altLang="zh-CN" sz="2800" i="1">
              <a:ea typeface="宋体" charset="-122"/>
            </a:endParaRPr>
          </a:p>
        </p:txBody>
      </p:sp>
      <p:grpSp>
        <p:nvGrpSpPr>
          <p:cNvPr id="2" name="Group 108"/>
          <p:cNvGrpSpPr>
            <a:grpSpLocks/>
          </p:cNvGrpSpPr>
          <p:nvPr/>
        </p:nvGrpSpPr>
        <p:grpSpPr bwMode="auto">
          <a:xfrm>
            <a:off x="5911850" y="1447800"/>
            <a:ext cx="2546350" cy="1844675"/>
            <a:chOff x="412" y="1067"/>
            <a:chExt cx="1604" cy="1162"/>
          </a:xfrm>
        </p:grpSpPr>
        <p:pic>
          <p:nvPicPr>
            <p:cNvPr id="50646" name="Picture 470" descr="H:\ex2.tif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32" y="1125"/>
              <a:ext cx="1536" cy="1104"/>
            </a:xfrm>
            <a:prstGeom prst="rect">
              <a:avLst/>
            </a:prstGeom>
            <a:noFill/>
          </p:spPr>
        </p:pic>
        <p:grpSp>
          <p:nvGrpSpPr>
            <p:cNvPr id="3" name="Group 650"/>
            <p:cNvGrpSpPr>
              <a:grpSpLocks noChangeAspect="1"/>
            </p:cNvGrpSpPr>
            <p:nvPr/>
          </p:nvGrpSpPr>
          <p:grpSpPr bwMode="auto">
            <a:xfrm>
              <a:off x="702" y="1680"/>
              <a:ext cx="432" cy="262"/>
              <a:chOff x="3288" y="1296"/>
              <a:chExt cx="1080" cy="648"/>
            </a:xfrm>
          </p:grpSpPr>
          <p:sp>
            <p:nvSpPr>
              <p:cNvPr id="51851" name="Rectangle 651"/>
              <p:cNvSpPr>
                <a:spLocks noChangeAspect="1" noChangeArrowheads="1"/>
              </p:cNvSpPr>
              <p:nvPr/>
            </p:nvSpPr>
            <p:spPr bwMode="auto">
              <a:xfrm flipV="1">
                <a:off x="3288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52" name="Rectangle 652"/>
              <p:cNvSpPr>
                <a:spLocks noChangeAspect="1" noChangeArrowheads="1"/>
              </p:cNvSpPr>
              <p:nvPr/>
            </p:nvSpPr>
            <p:spPr bwMode="auto">
              <a:xfrm flipV="1">
                <a:off x="3360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53" name="Rectangle 653"/>
              <p:cNvSpPr>
                <a:spLocks noChangeAspect="1" noChangeArrowheads="1"/>
              </p:cNvSpPr>
              <p:nvPr/>
            </p:nvSpPr>
            <p:spPr bwMode="auto">
              <a:xfrm flipV="1">
                <a:off x="3432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54" name="Rectangle 654"/>
              <p:cNvSpPr>
                <a:spLocks noChangeAspect="1" noChangeArrowheads="1"/>
              </p:cNvSpPr>
              <p:nvPr/>
            </p:nvSpPr>
            <p:spPr bwMode="auto">
              <a:xfrm flipV="1">
                <a:off x="3432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55" name="Rectangle 655"/>
              <p:cNvSpPr>
                <a:spLocks noChangeAspect="1" noChangeArrowheads="1"/>
              </p:cNvSpPr>
              <p:nvPr/>
            </p:nvSpPr>
            <p:spPr bwMode="auto">
              <a:xfrm flipV="1">
                <a:off x="3288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56" name="Rectangle 656"/>
              <p:cNvSpPr>
                <a:spLocks noChangeAspect="1" noChangeArrowheads="1"/>
              </p:cNvSpPr>
              <p:nvPr/>
            </p:nvSpPr>
            <p:spPr bwMode="auto">
              <a:xfrm flipV="1">
                <a:off x="3360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57" name="Rectangle 657"/>
              <p:cNvSpPr>
                <a:spLocks noChangeAspect="1" noChangeArrowheads="1"/>
              </p:cNvSpPr>
              <p:nvPr/>
            </p:nvSpPr>
            <p:spPr bwMode="auto">
              <a:xfrm flipV="1">
                <a:off x="3504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58" name="Rectangle 658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656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59" name="Rectangle 659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60" name="Rectangle 660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61" name="Rectangle 661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62" name="Rectangle 662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656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63" name="Rectangle 663"/>
              <p:cNvSpPr>
                <a:spLocks noChangeAspect="1" noChangeArrowheads="1"/>
              </p:cNvSpPr>
              <p:nvPr/>
            </p:nvSpPr>
            <p:spPr bwMode="auto">
              <a:xfrm flipV="1">
                <a:off x="3504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64" name="Rectangle 664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" name="Group 665"/>
              <p:cNvGrpSpPr>
                <a:grpSpLocks noChangeAspect="1"/>
              </p:cNvGrpSpPr>
              <p:nvPr/>
            </p:nvGrpSpPr>
            <p:grpSpPr bwMode="auto">
              <a:xfrm>
                <a:off x="3720" y="1512"/>
                <a:ext cx="216" cy="216"/>
                <a:chOff x="2928" y="2448"/>
                <a:chExt cx="144" cy="144"/>
              </a:xfrm>
            </p:grpSpPr>
            <p:sp>
              <p:nvSpPr>
                <p:cNvPr id="51866" name="Rectangle 66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867" name="Rectangle 66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868" name="Rectangle 66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869" name="Rectangle 66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870" name="Rectangle 67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871" name="Rectangle 67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872" name="Rectangle 67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873" name="Rectangle 67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874" name="Rectangle 67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" name="Group 675"/>
              <p:cNvGrpSpPr>
                <a:grpSpLocks noChangeAspect="1"/>
              </p:cNvGrpSpPr>
              <p:nvPr/>
            </p:nvGrpSpPr>
            <p:grpSpPr bwMode="auto">
              <a:xfrm>
                <a:off x="3936" y="1512"/>
                <a:ext cx="216" cy="216"/>
                <a:chOff x="2928" y="2448"/>
                <a:chExt cx="144" cy="144"/>
              </a:xfrm>
            </p:grpSpPr>
            <p:sp>
              <p:nvSpPr>
                <p:cNvPr id="51876" name="Rectangle 67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877" name="Rectangle 67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878" name="Rectangle 67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879" name="Rectangle 67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880" name="Rectangle 68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881" name="Rectangle 68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882" name="Rectangle 68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883" name="Rectangle 68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884" name="Rectangle 68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1885" name="Rectangle 685"/>
              <p:cNvSpPr>
                <a:spLocks noChangeAspect="1" noChangeArrowheads="1"/>
              </p:cNvSpPr>
              <p:nvPr/>
            </p:nvSpPr>
            <p:spPr bwMode="auto">
              <a:xfrm flipV="1">
                <a:off x="3936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86" name="Rectangle 686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87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87" name="Rectangle 687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88" name="Rectangle 688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89" name="Rectangle 689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90" name="Rectangle 690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87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91" name="Rectangle 691"/>
              <p:cNvSpPr>
                <a:spLocks noChangeAspect="1" noChangeArrowheads="1"/>
              </p:cNvSpPr>
              <p:nvPr/>
            </p:nvSpPr>
            <p:spPr bwMode="auto">
              <a:xfrm flipV="1">
                <a:off x="3936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92" name="Rectangle 692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93" name="Rectangle 693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94" name="Rectangle 694"/>
              <p:cNvSpPr>
                <a:spLocks noChangeAspect="1" noChangeArrowheads="1"/>
              </p:cNvSpPr>
              <p:nvPr/>
            </p:nvSpPr>
            <p:spPr bwMode="auto">
              <a:xfrm flipV="1">
                <a:off x="3864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95" name="Rectangle 695"/>
              <p:cNvSpPr>
                <a:spLocks noChangeAspect="1" noChangeArrowheads="1"/>
              </p:cNvSpPr>
              <p:nvPr/>
            </p:nvSpPr>
            <p:spPr bwMode="auto">
              <a:xfrm flipV="1">
                <a:off x="3864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96" name="Rectangle 696"/>
              <p:cNvSpPr>
                <a:spLocks noChangeAspect="1" noChangeArrowheads="1"/>
              </p:cNvSpPr>
              <p:nvPr/>
            </p:nvSpPr>
            <p:spPr bwMode="auto">
              <a:xfrm flipV="1">
                <a:off x="3720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97" name="Rectangle 697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6" name="Group 698"/>
              <p:cNvGrpSpPr>
                <a:grpSpLocks noChangeAspect="1"/>
              </p:cNvGrpSpPr>
              <p:nvPr/>
            </p:nvGrpSpPr>
            <p:grpSpPr bwMode="auto">
              <a:xfrm>
                <a:off x="3288" y="1296"/>
                <a:ext cx="216" cy="216"/>
                <a:chOff x="2928" y="2448"/>
                <a:chExt cx="144" cy="144"/>
              </a:xfrm>
            </p:grpSpPr>
            <p:sp>
              <p:nvSpPr>
                <p:cNvPr id="51899" name="Rectangle 69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00" name="Rectangle 70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01" name="Rectangle 70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02" name="Rectangle 70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03" name="Rectangle 70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04" name="Rectangle 70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05" name="Rectangle 70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06" name="Rectangle 70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07" name="Rectangle 70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" name="Group 708"/>
              <p:cNvGrpSpPr>
                <a:grpSpLocks noChangeAspect="1"/>
              </p:cNvGrpSpPr>
              <p:nvPr/>
            </p:nvGrpSpPr>
            <p:grpSpPr bwMode="auto">
              <a:xfrm>
                <a:off x="3504" y="1296"/>
                <a:ext cx="216" cy="216"/>
                <a:chOff x="2928" y="2448"/>
                <a:chExt cx="144" cy="144"/>
              </a:xfrm>
            </p:grpSpPr>
            <p:sp>
              <p:nvSpPr>
                <p:cNvPr id="51909" name="Rectangle 70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10" name="Rectangle 71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11" name="Rectangle 71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12" name="Rectangle 71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13" name="Rectangle 71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14" name="Rectangle 71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15" name="Rectangle 71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16" name="Rectangle 71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17" name="Rectangle 71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" name="Group 718"/>
              <p:cNvGrpSpPr>
                <a:grpSpLocks noChangeAspect="1"/>
              </p:cNvGrpSpPr>
              <p:nvPr/>
            </p:nvGrpSpPr>
            <p:grpSpPr bwMode="auto">
              <a:xfrm>
                <a:off x="3720" y="1296"/>
                <a:ext cx="216" cy="216"/>
                <a:chOff x="2928" y="2448"/>
                <a:chExt cx="144" cy="144"/>
              </a:xfrm>
            </p:grpSpPr>
            <p:sp>
              <p:nvSpPr>
                <p:cNvPr id="51919" name="Rectangle 71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20" name="Rectangle 72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21" name="Rectangle 72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22" name="Rectangle 72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23" name="Rectangle 72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24" name="Rectangle 72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25" name="Rectangle 72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26" name="Rectangle 72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27" name="Rectangle 72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Group 728"/>
              <p:cNvGrpSpPr>
                <a:grpSpLocks noChangeAspect="1"/>
              </p:cNvGrpSpPr>
              <p:nvPr/>
            </p:nvGrpSpPr>
            <p:grpSpPr bwMode="auto">
              <a:xfrm>
                <a:off x="3936" y="1296"/>
                <a:ext cx="216" cy="216"/>
                <a:chOff x="2928" y="2448"/>
                <a:chExt cx="144" cy="144"/>
              </a:xfrm>
            </p:grpSpPr>
            <p:sp>
              <p:nvSpPr>
                <p:cNvPr id="51929" name="Rectangle 72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30" name="Rectangle 73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31" name="Rectangle 73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32" name="Rectangle 73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33" name="Rectangle 73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34" name="Rectangle 73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35" name="Rectangle 73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36" name="Rectangle 73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37" name="Rectangle 73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Group 738"/>
              <p:cNvGrpSpPr>
                <a:grpSpLocks noChangeAspect="1"/>
              </p:cNvGrpSpPr>
              <p:nvPr/>
            </p:nvGrpSpPr>
            <p:grpSpPr bwMode="auto">
              <a:xfrm>
                <a:off x="4152" y="1296"/>
                <a:ext cx="216" cy="216"/>
                <a:chOff x="2928" y="2448"/>
                <a:chExt cx="144" cy="144"/>
              </a:xfrm>
            </p:grpSpPr>
            <p:sp>
              <p:nvSpPr>
                <p:cNvPr id="51939" name="Rectangle 73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40" name="Rectangle 74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41" name="Rectangle 74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42" name="Rectangle 74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43" name="Rectangle 74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44" name="Rectangle 74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45" name="Rectangle 74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46" name="Rectangle 74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47" name="Rectangle 74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" name="Group 748"/>
              <p:cNvGrpSpPr>
                <a:grpSpLocks noChangeAspect="1"/>
              </p:cNvGrpSpPr>
              <p:nvPr/>
            </p:nvGrpSpPr>
            <p:grpSpPr bwMode="auto">
              <a:xfrm>
                <a:off x="4152" y="1512"/>
                <a:ext cx="216" cy="216"/>
                <a:chOff x="2928" y="2448"/>
                <a:chExt cx="144" cy="144"/>
              </a:xfrm>
            </p:grpSpPr>
            <p:sp>
              <p:nvSpPr>
                <p:cNvPr id="51949" name="Rectangle 74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50" name="Rectangle 75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51" name="Rectangle 75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52" name="Rectangle 75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53" name="Rectangle 75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54" name="Rectangle 75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55" name="Rectangle 75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56" name="Rectangle 75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57" name="Rectangle 75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Group 758"/>
              <p:cNvGrpSpPr>
                <a:grpSpLocks noChangeAspect="1"/>
              </p:cNvGrpSpPr>
              <p:nvPr/>
            </p:nvGrpSpPr>
            <p:grpSpPr bwMode="auto">
              <a:xfrm>
                <a:off x="4152" y="1728"/>
                <a:ext cx="216" cy="216"/>
                <a:chOff x="2928" y="2448"/>
                <a:chExt cx="144" cy="144"/>
              </a:xfrm>
            </p:grpSpPr>
            <p:sp>
              <p:nvSpPr>
                <p:cNvPr id="51959" name="Rectangle 75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60" name="Rectangle 76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61" name="Rectangle 76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62" name="Rectangle 76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63" name="Rectangle 76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64" name="Rectangle 76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65" name="Rectangle 76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66" name="Rectangle 76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67" name="Rectangle 76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1968" name="Rectangle 768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800"/>
                <a:ext cx="72" cy="72"/>
              </a:xfrm>
              <a:prstGeom prst="rect">
                <a:avLst/>
              </a:prstGeom>
              <a:solidFill>
                <a:srgbClr val="11B119"/>
              </a:solidFill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" name="Group 769"/>
            <p:cNvGrpSpPr>
              <a:grpSpLocks noChangeAspect="1"/>
            </p:cNvGrpSpPr>
            <p:nvPr/>
          </p:nvGrpSpPr>
          <p:grpSpPr bwMode="auto">
            <a:xfrm>
              <a:off x="1584" y="1882"/>
              <a:ext cx="432" cy="262"/>
              <a:chOff x="3288" y="1296"/>
              <a:chExt cx="1080" cy="648"/>
            </a:xfrm>
          </p:grpSpPr>
          <p:sp>
            <p:nvSpPr>
              <p:cNvPr id="51970" name="Rectangle 770"/>
              <p:cNvSpPr>
                <a:spLocks noChangeAspect="1" noChangeArrowheads="1"/>
              </p:cNvSpPr>
              <p:nvPr/>
            </p:nvSpPr>
            <p:spPr bwMode="auto">
              <a:xfrm flipV="1">
                <a:off x="3288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971" name="Rectangle 771"/>
              <p:cNvSpPr>
                <a:spLocks noChangeAspect="1" noChangeArrowheads="1"/>
              </p:cNvSpPr>
              <p:nvPr/>
            </p:nvSpPr>
            <p:spPr bwMode="auto">
              <a:xfrm flipV="1">
                <a:off x="3360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972" name="Rectangle 772"/>
              <p:cNvSpPr>
                <a:spLocks noChangeAspect="1" noChangeArrowheads="1"/>
              </p:cNvSpPr>
              <p:nvPr/>
            </p:nvSpPr>
            <p:spPr bwMode="auto">
              <a:xfrm flipV="1">
                <a:off x="3432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973" name="Rectangle 773"/>
              <p:cNvSpPr>
                <a:spLocks noChangeAspect="1" noChangeArrowheads="1"/>
              </p:cNvSpPr>
              <p:nvPr/>
            </p:nvSpPr>
            <p:spPr bwMode="auto">
              <a:xfrm flipV="1">
                <a:off x="3432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974" name="Rectangle 774"/>
              <p:cNvSpPr>
                <a:spLocks noChangeAspect="1" noChangeArrowheads="1"/>
              </p:cNvSpPr>
              <p:nvPr/>
            </p:nvSpPr>
            <p:spPr bwMode="auto">
              <a:xfrm flipV="1">
                <a:off x="3288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975" name="Rectangle 775"/>
              <p:cNvSpPr>
                <a:spLocks noChangeAspect="1" noChangeArrowheads="1"/>
              </p:cNvSpPr>
              <p:nvPr/>
            </p:nvSpPr>
            <p:spPr bwMode="auto">
              <a:xfrm flipV="1">
                <a:off x="3360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976" name="Rectangle 776"/>
              <p:cNvSpPr>
                <a:spLocks noChangeAspect="1" noChangeArrowheads="1"/>
              </p:cNvSpPr>
              <p:nvPr/>
            </p:nvSpPr>
            <p:spPr bwMode="auto">
              <a:xfrm flipV="1">
                <a:off x="3504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977" name="Rectangle 777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656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978" name="Rectangle 778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979" name="Rectangle 779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980" name="Rectangle 780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981" name="Rectangle 781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656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982" name="Rectangle 782"/>
              <p:cNvSpPr>
                <a:spLocks noChangeAspect="1" noChangeArrowheads="1"/>
              </p:cNvSpPr>
              <p:nvPr/>
            </p:nvSpPr>
            <p:spPr bwMode="auto">
              <a:xfrm flipV="1">
                <a:off x="3504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983" name="Rectangle 783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4" name="Group 784"/>
              <p:cNvGrpSpPr>
                <a:grpSpLocks noChangeAspect="1"/>
              </p:cNvGrpSpPr>
              <p:nvPr/>
            </p:nvGrpSpPr>
            <p:grpSpPr bwMode="auto">
              <a:xfrm>
                <a:off x="3720" y="1512"/>
                <a:ext cx="216" cy="216"/>
                <a:chOff x="2928" y="2448"/>
                <a:chExt cx="144" cy="144"/>
              </a:xfrm>
            </p:grpSpPr>
            <p:sp>
              <p:nvSpPr>
                <p:cNvPr id="51985" name="Rectangle 78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86" name="Rectangle 78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87" name="Rectangle 78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88" name="Rectangle 78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89" name="Rectangle 78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90" name="Rectangle 79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91" name="Rectangle 79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92" name="Rectangle 79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93" name="Rectangle 79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Group 794"/>
              <p:cNvGrpSpPr>
                <a:grpSpLocks noChangeAspect="1"/>
              </p:cNvGrpSpPr>
              <p:nvPr/>
            </p:nvGrpSpPr>
            <p:grpSpPr bwMode="auto">
              <a:xfrm>
                <a:off x="3936" y="1512"/>
                <a:ext cx="216" cy="216"/>
                <a:chOff x="2928" y="2448"/>
                <a:chExt cx="144" cy="144"/>
              </a:xfrm>
            </p:grpSpPr>
            <p:sp>
              <p:nvSpPr>
                <p:cNvPr id="51995" name="Rectangle 79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96" name="Rectangle 79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97" name="Rectangle 79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98" name="Rectangle 79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999" name="Rectangle 79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00" name="Rectangle 80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01" name="Rectangle 80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02" name="Rectangle 80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03" name="Rectangle 80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2004" name="Rectangle 804"/>
              <p:cNvSpPr>
                <a:spLocks noChangeAspect="1" noChangeArrowheads="1"/>
              </p:cNvSpPr>
              <p:nvPr/>
            </p:nvSpPr>
            <p:spPr bwMode="auto">
              <a:xfrm flipV="1">
                <a:off x="3936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05" name="Rectangle 805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87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06" name="Rectangle 806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07" name="Rectangle 807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08" name="Rectangle 808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09" name="Rectangle 809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87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10" name="Rectangle 810"/>
              <p:cNvSpPr>
                <a:spLocks noChangeAspect="1" noChangeArrowheads="1"/>
              </p:cNvSpPr>
              <p:nvPr/>
            </p:nvSpPr>
            <p:spPr bwMode="auto">
              <a:xfrm flipV="1">
                <a:off x="3936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11" name="Rectangle 811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12" name="Rectangle 812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13" name="Rectangle 813"/>
              <p:cNvSpPr>
                <a:spLocks noChangeAspect="1" noChangeArrowheads="1"/>
              </p:cNvSpPr>
              <p:nvPr/>
            </p:nvSpPr>
            <p:spPr bwMode="auto">
              <a:xfrm flipV="1">
                <a:off x="3864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14" name="Rectangle 814"/>
              <p:cNvSpPr>
                <a:spLocks noChangeAspect="1" noChangeArrowheads="1"/>
              </p:cNvSpPr>
              <p:nvPr/>
            </p:nvSpPr>
            <p:spPr bwMode="auto">
              <a:xfrm flipV="1">
                <a:off x="3864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15" name="Rectangle 815"/>
              <p:cNvSpPr>
                <a:spLocks noChangeAspect="1" noChangeArrowheads="1"/>
              </p:cNvSpPr>
              <p:nvPr/>
            </p:nvSpPr>
            <p:spPr bwMode="auto">
              <a:xfrm flipV="1">
                <a:off x="3720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16" name="Rectangle 816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6" name="Group 817"/>
              <p:cNvGrpSpPr>
                <a:grpSpLocks noChangeAspect="1"/>
              </p:cNvGrpSpPr>
              <p:nvPr/>
            </p:nvGrpSpPr>
            <p:grpSpPr bwMode="auto">
              <a:xfrm>
                <a:off x="3288" y="1296"/>
                <a:ext cx="216" cy="216"/>
                <a:chOff x="2928" y="2448"/>
                <a:chExt cx="144" cy="144"/>
              </a:xfrm>
            </p:grpSpPr>
            <p:sp>
              <p:nvSpPr>
                <p:cNvPr id="52018" name="Rectangle 81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19" name="Rectangle 81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20" name="Rectangle 82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21" name="Rectangle 82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22" name="Rectangle 82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23" name="Rectangle 82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24" name="Rectangle 82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25" name="Rectangle 82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26" name="Rectangle 82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Group 827"/>
              <p:cNvGrpSpPr>
                <a:grpSpLocks noChangeAspect="1"/>
              </p:cNvGrpSpPr>
              <p:nvPr/>
            </p:nvGrpSpPr>
            <p:grpSpPr bwMode="auto">
              <a:xfrm>
                <a:off x="3504" y="1296"/>
                <a:ext cx="216" cy="216"/>
                <a:chOff x="2928" y="2448"/>
                <a:chExt cx="144" cy="144"/>
              </a:xfrm>
            </p:grpSpPr>
            <p:sp>
              <p:nvSpPr>
                <p:cNvPr id="52028" name="Rectangle 82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29" name="Rectangle 82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30" name="Rectangle 83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31" name="Rectangle 83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32" name="Rectangle 83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33" name="Rectangle 83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34" name="Rectangle 83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35" name="Rectangle 83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36" name="Rectangle 83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Group 837"/>
              <p:cNvGrpSpPr>
                <a:grpSpLocks noChangeAspect="1"/>
              </p:cNvGrpSpPr>
              <p:nvPr/>
            </p:nvGrpSpPr>
            <p:grpSpPr bwMode="auto">
              <a:xfrm>
                <a:off x="3720" y="1296"/>
                <a:ext cx="216" cy="216"/>
                <a:chOff x="2928" y="2448"/>
                <a:chExt cx="144" cy="144"/>
              </a:xfrm>
            </p:grpSpPr>
            <p:sp>
              <p:nvSpPr>
                <p:cNvPr id="52038" name="Rectangle 83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39" name="Rectangle 83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40" name="Rectangle 84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41" name="Rectangle 84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42" name="Rectangle 84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43" name="Rectangle 84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44" name="Rectangle 84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45" name="Rectangle 84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46" name="Rectangle 84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Group 847"/>
              <p:cNvGrpSpPr>
                <a:grpSpLocks noChangeAspect="1"/>
              </p:cNvGrpSpPr>
              <p:nvPr/>
            </p:nvGrpSpPr>
            <p:grpSpPr bwMode="auto">
              <a:xfrm>
                <a:off x="3936" y="1296"/>
                <a:ext cx="216" cy="216"/>
                <a:chOff x="2928" y="2448"/>
                <a:chExt cx="144" cy="144"/>
              </a:xfrm>
            </p:grpSpPr>
            <p:sp>
              <p:nvSpPr>
                <p:cNvPr id="52048" name="Rectangle 84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49" name="Rectangle 84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50" name="Rectangle 85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51" name="Rectangle 85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52" name="Rectangle 85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53" name="Rectangle 85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54" name="Rectangle 85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55" name="Rectangle 85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56" name="Rectangle 85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Group 857"/>
              <p:cNvGrpSpPr>
                <a:grpSpLocks noChangeAspect="1"/>
              </p:cNvGrpSpPr>
              <p:nvPr/>
            </p:nvGrpSpPr>
            <p:grpSpPr bwMode="auto">
              <a:xfrm>
                <a:off x="4152" y="1296"/>
                <a:ext cx="216" cy="216"/>
                <a:chOff x="2928" y="2448"/>
                <a:chExt cx="144" cy="144"/>
              </a:xfrm>
            </p:grpSpPr>
            <p:sp>
              <p:nvSpPr>
                <p:cNvPr id="52058" name="Rectangle 85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59" name="Rectangle 85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60" name="Rectangle 86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61" name="Rectangle 86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62" name="Rectangle 86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63" name="Rectangle 86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64" name="Rectangle 86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65" name="Rectangle 86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66" name="Rectangle 86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Group 867"/>
              <p:cNvGrpSpPr>
                <a:grpSpLocks noChangeAspect="1"/>
              </p:cNvGrpSpPr>
              <p:nvPr/>
            </p:nvGrpSpPr>
            <p:grpSpPr bwMode="auto">
              <a:xfrm>
                <a:off x="4152" y="1512"/>
                <a:ext cx="216" cy="216"/>
                <a:chOff x="2928" y="2448"/>
                <a:chExt cx="144" cy="144"/>
              </a:xfrm>
            </p:grpSpPr>
            <p:sp>
              <p:nvSpPr>
                <p:cNvPr id="52068" name="Rectangle 86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69" name="Rectangle 86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70" name="Rectangle 87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71" name="Rectangle 87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72" name="Rectangle 87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73" name="Rectangle 87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74" name="Rectangle 87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75" name="Rectangle 87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76" name="Rectangle 87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Group 877"/>
              <p:cNvGrpSpPr>
                <a:grpSpLocks noChangeAspect="1"/>
              </p:cNvGrpSpPr>
              <p:nvPr/>
            </p:nvGrpSpPr>
            <p:grpSpPr bwMode="auto">
              <a:xfrm>
                <a:off x="4152" y="1728"/>
                <a:ext cx="216" cy="216"/>
                <a:chOff x="2928" y="2448"/>
                <a:chExt cx="144" cy="144"/>
              </a:xfrm>
            </p:grpSpPr>
            <p:sp>
              <p:nvSpPr>
                <p:cNvPr id="52078" name="Rectangle 87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79" name="Rectangle 87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80" name="Rectangle 88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81" name="Rectangle 88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82" name="Rectangle 88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83" name="Rectangle 88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84" name="Rectangle 88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85" name="Rectangle 88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086" name="Rectangle 88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2087" name="Rectangle 887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800"/>
                <a:ext cx="72" cy="72"/>
              </a:xfrm>
              <a:prstGeom prst="rect">
                <a:avLst/>
              </a:prstGeom>
              <a:solidFill>
                <a:srgbClr val="11B119"/>
              </a:solidFill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" name="Group 888"/>
            <p:cNvGrpSpPr>
              <a:grpSpLocks noChangeAspect="1"/>
            </p:cNvGrpSpPr>
            <p:nvPr/>
          </p:nvGrpSpPr>
          <p:grpSpPr bwMode="auto">
            <a:xfrm>
              <a:off x="1320" y="1277"/>
              <a:ext cx="432" cy="262"/>
              <a:chOff x="3288" y="1296"/>
              <a:chExt cx="1080" cy="648"/>
            </a:xfrm>
          </p:grpSpPr>
          <p:sp>
            <p:nvSpPr>
              <p:cNvPr id="52089" name="Rectangle 889"/>
              <p:cNvSpPr>
                <a:spLocks noChangeAspect="1" noChangeArrowheads="1"/>
              </p:cNvSpPr>
              <p:nvPr/>
            </p:nvSpPr>
            <p:spPr bwMode="auto">
              <a:xfrm flipV="1">
                <a:off x="3288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90" name="Rectangle 890"/>
              <p:cNvSpPr>
                <a:spLocks noChangeAspect="1" noChangeArrowheads="1"/>
              </p:cNvSpPr>
              <p:nvPr/>
            </p:nvSpPr>
            <p:spPr bwMode="auto">
              <a:xfrm flipV="1">
                <a:off x="3360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91" name="Rectangle 891"/>
              <p:cNvSpPr>
                <a:spLocks noChangeAspect="1" noChangeArrowheads="1"/>
              </p:cNvSpPr>
              <p:nvPr/>
            </p:nvSpPr>
            <p:spPr bwMode="auto">
              <a:xfrm flipV="1">
                <a:off x="3432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92" name="Rectangle 892"/>
              <p:cNvSpPr>
                <a:spLocks noChangeAspect="1" noChangeArrowheads="1"/>
              </p:cNvSpPr>
              <p:nvPr/>
            </p:nvSpPr>
            <p:spPr bwMode="auto">
              <a:xfrm flipV="1">
                <a:off x="3432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93" name="Rectangle 893"/>
              <p:cNvSpPr>
                <a:spLocks noChangeAspect="1" noChangeArrowheads="1"/>
              </p:cNvSpPr>
              <p:nvPr/>
            </p:nvSpPr>
            <p:spPr bwMode="auto">
              <a:xfrm flipV="1">
                <a:off x="3288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94" name="Rectangle 894"/>
              <p:cNvSpPr>
                <a:spLocks noChangeAspect="1" noChangeArrowheads="1"/>
              </p:cNvSpPr>
              <p:nvPr/>
            </p:nvSpPr>
            <p:spPr bwMode="auto">
              <a:xfrm flipV="1">
                <a:off x="3360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95" name="Rectangle 895"/>
              <p:cNvSpPr>
                <a:spLocks noChangeAspect="1" noChangeArrowheads="1"/>
              </p:cNvSpPr>
              <p:nvPr/>
            </p:nvSpPr>
            <p:spPr bwMode="auto">
              <a:xfrm flipV="1">
                <a:off x="3504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96" name="Rectangle 896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656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97" name="Rectangle 897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98" name="Rectangle 898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099" name="Rectangle 899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100" name="Rectangle 900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656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101" name="Rectangle 901"/>
              <p:cNvSpPr>
                <a:spLocks noChangeAspect="1" noChangeArrowheads="1"/>
              </p:cNvSpPr>
              <p:nvPr/>
            </p:nvSpPr>
            <p:spPr bwMode="auto">
              <a:xfrm flipV="1">
                <a:off x="3504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102" name="Rectangle 902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4" name="Group 903"/>
              <p:cNvGrpSpPr>
                <a:grpSpLocks noChangeAspect="1"/>
              </p:cNvGrpSpPr>
              <p:nvPr/>
            </p:nvGrpSpPr>
            <p:grpSpPr bwMode="auto">
              <a:xfrm>
                <a:off x="3720" y="1512"/>
                <a:ext cx="216" cy="216"/>
                <a:chOff x="2928" y="2448"/>
                <a:chExt cx="144" cy="144"/>
              </a:xfrm>
            </p:grpSpPr>
            <p:sp>
              <p:nvSpPr>
                <p:cNvPr id="52104" name="Rectangle 90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05" name="Rectangle 90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06" name="Rectangle 90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07" name="Rectangle 90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08" name="Rectangle 90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09" name="Rectangle 90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10" name="Rectangle 91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11" name="Rectangle 91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12" name="Rectangle 91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" name="Group 913"/>
              <p:cNvGrpSpPr>
                <a:grpSpLocks noChangeAspect="1"/>
              </p:cNvGrpSpPr>
              <p:nvPr/>
            </p:nvGrpSpPr>
            <p:grpSpPr bwMode="auto">
              <a:xfrm>
                <a:off x="3936" y="1512"/>
                <a:ext cx="216" cy="216"/>
                <a:chOff x="2928" y="2448"/>
                <a:chExt cx="144" cy="144"/>
              </a:xfrm>
            </p:grpSpPr>
            <p:sp>
              <p:nvSpPr>
                <p:cNvPr id="52114" name="Rectangle 91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15" name="Rectangle 91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16" name="Rectangle 91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17" name="Rectangle 91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18" name="Rectangle 91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19" name="Rectangle 91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20" name="Rectangle 92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21" name="Rectangle 92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22" name="Rectangle 92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2123" name="Rectangle 923"/>
              <p:cNvSpPr>
                <a:spLocks noChangeAspect="1" noChangeArrowheads="1"/>
              </p:cNvSpPr>
              <p:nvPr/>
            </p:nvSpPr>
            <p:spPr bwMode="auto">
              <a:xfrm flipV="1">
                <a:off x="3936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124" name="Rectangle 924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87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125" name="Rectangle 925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126" name="Rectangle 926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127" name="Rectangle 927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128" name="Rectangle 928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87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129" name="Rectangle 929"/>
              <p:cNvSpPr>
                <a:spLocks noChangeAspect="1" noChangeArrowheads="1"/>
              </p:cNvSpPr>
              <p:nvPr/>
            </p:nvSpPr>
            <p:spPr bwMode="auto">
              <a:xfrm flipV="1">
                <a:off x="3936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130" name="Rectangle 930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131" name="Rectangle 931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132" name="Rectangle 932"/>
              <p:cNvSpPr>
                <a:spLocks noChangeAspect="1" noChangeArrowheads="1"/>
              </p:cNvSpPr>
              <p:nvPr/>
            </p:nvSpPr>
            <p:spPr bwMode="auto">
              <a:xfrm flipV="1">
                <a:off x="3864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133" name="Rectangle 933"/>
              <p:cNvSpPr>
                <a:spLocks noChangeAspect="1" noChangeArrowheads="1"/>
              </p:cNvSpPr>
              <p:nvPr/>
            </p:nvSpPr>
            <p:spPr bwMode="auto">
              <a:xfrm flipV="1">
                <a:off x="3864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134" name="Rectangle 934"/>
              <p:cNvSpPr>
                <a:spLocks noChangeAspect="1" noChangeArrowheads="1"/>
              </p:cNvSpPr>
              <p:nvPr/>
            </p:nvSpPr>
            <p:spPr bwMode="auto">
              <a:xfrm flipV="1">
                <a:off x="3720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135" name="Rectangle 935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6" name="Group 936"/>
              <p:cNvGrpSpPr>
                <a:grpSpLocks noChangeAspect="1"/>
              </p:cNvGrpSpPr>
              <p:nvPr/>
            </p:nvGrpSpPr>
            <p:grpSpPr bwMode="auto">
              <a:xfrm>
                <a:off x="3288" y="1296"/>
                <a:ext cx="216" cy="216"/>
                <a:chOff x="2928" y="2448"/>
                <a:chExt cx="144" cy="144"/>
              </a:xfrm>
            </p:grpSpPr>
            <p:sp>
              <p:nvSpPr>
                <p:cNvPr id="52137" name="Rectangle 93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38" name="Rectangle 93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39" name="Rectangle 93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40" name="Rectangle 94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41" name="Rectangle 94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42" name="Rectangle 94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43" name="Rectangle 94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44" name="Rectangle 94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45" name="Rectangle 94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" name="Group 946"/>
              <p:cNvGrpSpPr>
                <a:grpSpLocks noChangeAspect="1"/>
              </p:cNvGrpSpPr>
              <p:nvPr/>
            </p:nvGrpSpPr>
            <p:grpSpPr bwMode="auto">
              <a:xfrm>
                <a:off x="3504" y="1296"/>
                <a:ext cx="216" cy="216"/>
                <a:chOff x="2928" y="2448"/>
                <a:chExt cx="144" cy="144"/>
              </a:xfrm>
            </p:grpSpPr>
            <p:sp>
              <p:nvSpPr>
                <p:cNvPr id="52147" name="Rectangle 94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48" name="Rectangle 94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49" name="Rectangle 94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50" name="Rectangle 95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51" name="Rectangle 95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52" name="Rectangle 95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53" name="Rectangle 95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54" name="Rectangle 95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55" name="Rectangle 95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Group 956"/>
              <p:cNvGrpSpPr>
                <a:grpSpLocks noChangeAspect="1"/>
              </p:cNvGrpSpPr>
              <p:nvPr/>
            </p:nvGrpSpPr>
            <p:grpSpPr bwMode="auto">
              <a:xfrm>
                <a:off x="3720" y="1296"/>
                <a:ext cx="216" cy="216"/>
                <a:chOff x="2928" y="2448"/>
                <a:chExt cx="144" cy="144"/>
              </a:xfrm>
            </p:grpSpPr>
            <p:sp>
              <p:nvSpPr>
                <p:cNvPr id="52157" name="Rectangle 95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58" name="Rectangle 95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59" name="Rectangle 95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60" name="Rectangle 96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61" name="Rectangle 96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62" name="Rectangle 96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63" name="Rectangle 96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64" name="Rectangle 96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65" name="Rectangle 96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Group 966"/>
              <p:cNvGrpSpPr>
                <a:grpSpLocks noChangeAspect="1"/>
              </p:cNvGrpSpPr>
              <p:nvPr/>
            </p:nvGrpSpPr>
            <p:grpSpPr bwMode="auto">
              <a:xfrm>
                <a:off x="3936" y="1296"/>
                <a:ext cx="216" cy="216"/>
                <a:chOff x="2928" y="2448"/>
                <a:chExt cx="144" cy="144"/>
              </a:xfrm>
            </p:grpSpPr>
            <p:sp>
              <p:nvSpPr>
                <p:cNvPr id="52167" name="Rectangle 96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68" name="Rectangle 96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69" name="Rectangle 96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70" name="Rectangle 97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71" name="Rectangle 97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72" name="Rectangle 97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73" name="Rectangle 97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74" name="Rectangle 97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75" name="Rectangle 97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Group 976"/>
              <p:cNvGrpSpPr>
                <a:grpSpLocks noChangeAspect="1"/>
              </p:cNvGrpSpPr>
              <p:nvPr/>
            </p:nvGrpSpPr>
            <p:grpSpPr bwMode="auto">
              <a:xfrm>
                <a:off x="4152" y="1296"/>
                <a:ext cx="216" cy="216"/>
                <a:chOff x="2928" y="2448"/>
                <a:chExt cx="144" cy="144"/>
              </a:xfrm>
            </p:grpSpPr>
            <p:sp>
              <p:nvSpPr>
                <p:cNvPr id="52177" name="Rectangle 97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78" name="Rectangle 97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79" name="Rectangle 97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80" name="Rectangle 98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81" name="Rectangle 98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82" name="Rectangle 98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83" name="Rectangle 98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84" name="Rectangle 98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85" name="Rectangle 98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Group 986"/>
              <p:cNvGrpSpPr>
                <a:grpSpLocks noChangeAspect="1"/>
              </p:cNvGrpSpPr>
              <p:nvPr/>
            </p:nvGrpSpPr>
            <p:grpSpPr bwMode="auto">
              <a:xfrm>
                <a:off x="4152" y="1512"/>
                <a:ext cx="216" cy="216"/>
                <a:chOff x="2928" y="2448"/>
                <a:chExt cx="144" cy="144"/>
              </a:xfrm>
            </p:grpSpPr>
            <p:sp>
              <p:nvSpPr>
                <p:cNvPr id="52187" name="Rectangle 98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88" name="Rectangle 98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89" name="Rectangle 98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90" name="Rectangle 99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91" name="Rectangle 99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92" name="Rectangle 99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93" name="Rectangle 99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94" name="Rectangle 99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95" name="Rectangle 99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32" name="Group 996"/>
              <p:cNvGrpSpPr>
                <a:grpSpLocks noChangeAspect="1"/>
              </p:cNvGrpSpPr>
              <p:nvPr/>
            </p:nvGrpSpPr>
            <p:grpSpPr bwMode="auto">
              <a:xfrm>
                <a:off x="4152" y="1728"/>
                <a:ext cx="216" cy="216"/>
                <a:chOff x="2928" y="2448"/>
                <a:chExt cx="144" cy="144"/>
              </a:xfrm>
            </p:grpSpPr>
            <p:sp>
              <p:nvSpPr>
                <p:cNvPr id="52197" name="Rectangle 99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98" name="Rectangle 99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199" name="Rectangle 99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00" name="Rectangle 100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01" name="Rectangle 100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02" name="Rectangle 100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03" name="Rectangle 100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04" name="Rectangle 100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05" name="Rectangle 100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2206" name="Rectangle 1006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800"/>
                <a:ext cx="72" cy="72"/>
              </a:xfrm>
              <a:prstGeom prst="rect">
                <a:avLst/>
              </a:prstGeom>
              <a:solidFill>
                <a:srgbClr val="11B119"/>
              </a:solidFill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1233" name="Group 1007"/>
            <p:cNvGrpSpPr>
              <a:grpSpLocks noChangeAspect="1"/>
            </p:cNvGrpSpPr>
            <p:nvPr/>
          </p:nvGrpSpPr>
          <p:grpSpPr bwMode="auto">
            <a:xfrm>
              <a:off x="412" y="1067"/>
              <a:ext cx="432" cy="262"/>
              <a:chOff x="3288" y="1296"/>
              <a:chExt cx="1080" cy="648"/>
            </a:xfrm>
          </p:grpSpPr>
          <p:sp>
            <p:nvSpPr>
              <p:cNvPr id="52208" name="Rectangle 1008"/>
              <p:cNvSpPr>
                <a:spLocks noChangeAspect="1" noChangeArrowheads="1"/>
              </p:cNvSpPr>
              <p:nvPr/>
            </p:nvSpPr>
            <p:spPr bwMode="auto">
              <a:xfrm flipV="1">
                <a:off x="3288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09" name="Rectangle 1009"/>
              <p:cNvSpPr>
                <a:spLocks noChangeAspect="1" noChangeArrowheads="1"/>
              </p:cNvSpPr>
              <p:nvPr/>
            </p:nvSpPr>
            <p:spPr bwMode="auto">
              <a:xfrm flipV="1">
                <a:off x="3360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10" name="Rectangle 1010"/>
              <p:cNvSpPr>
                <a:spLocks noChangeAspect="1" noChangeArrowheads="1"/>
              </p:cNvSpPr>
              <p:nvPr/>
            </p:nvSpPr>
            <p:spPr bwMode="auto">
              <a:xfrm flipV="1">
                <a:off x="3432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11" name="Rectangle 1011"/>
              <p:cNvSpPr>
                <a:spLocks noChangeAspect="1" noChangeArrowheads="1"/>
              </p:cNvSpPr>
              <p:nvPr/>
            </p:nvSpPr>
            <p:spPr bwMode="auto">
              <a:xfrm flipV="1">
                <a:off x="3432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12" name="Rectangle 1012"/>
              <p:cNvSpPr>
                <a:spLocks noChangeAspect="1" noChangeArrowheads="1"/>
              </p:cNvSpPr>
              <p:nvPr/>
            </p:nvSpPr>
            <p:spPr bwMode="auto">
              <a:xfrm flipV="1">
                <a:off x="3288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13" name="Rectangle 1013"/>
              <p:cNvSpPr>
                <a:spLocks noChangeAspect="1" noChangeArrowheads="1"/>
              </p:cNvSpPr>
              <p:nvPr/>
            </p:nvSpPr>
            <p:spPr bwMode="auto">
              <a:xfrm flipV="1">
                <a:off x="3360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14" name="Rectangle 1014"/>
              <p:cNvSpPr>
                <a:spLocks noChangeAspect="1" noChangeArrowheads="1"/>
              </p:cNvSpPr>
              <p:nvPr/>
            </p:nvSpPr>
            <p:spPr bwMode="auto">
              <a:xfrm flipV="1">
                <a:off x="3504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15" name="Rectangle 1015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656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16" name="Rectangle 1016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17" name="Rectangle 1017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18" name="Rectangle 1018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19" name="Rectangle 1019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656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20" name="Rectangle 1020"/>
              <p:cNvSpPr>
                <a:spLocks noChangeAspect="1" noChangeArrowheads="1"/>
              </p:cNvSpPr>
              <p:nvPr/>
            </p:nvSpPr>
            <p:spPr bwMode="auto">
              <a:xfrm flipV="1">
                <a:off x="3504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21" name="Rectangle 1021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1234" name="Group 1022"/>
              <p:cNvGrpSpPr>
                <a:grpSpLocks noChangeAspect="1"/>
              </p:cNvGrpSpPr>
              <p:nvPr/>
            </p:nvGrpSpPr>
            <p:grpSpPr bwMode="auto">
              <a:xfrm>
                <a:off x="3720" y="1512"/>
                <a:ext cx="216" cy="216"/>
                <a:chOff x="2928" y="2448"/>
                <a:chExt cx="144" cy="144"/>
              </a:xfrm>
            </p:grpSpPr>
            <p:sp>
              <p:nvSpPr>
                <p:cNvPr id="52223" name="Rectangle 102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24" name="Rectangle 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25" name="Rectangle 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26" name="Rectangle 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27" name="Rectangle 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28" name="Rectangle 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29" name="Rectangle 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30" name="Rectangle 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31" name="Rectangle 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35" name="Group 8"/>
              <p:cNvGrpSpPr>
                <a:grpSpLocks noChangeAspect="1"/>
              </p:cNvGrpSpPr>
              <p:nvPr/>
            </p:nvGrpSpPr>
            <p:grpSpPr bwMode="auto">
              <a:xfrm>
                <a:off x="3936" y="1512"/>
                <a:ext cx="216" cy="216"/>
                <a:chOff x="2928" y="2448"/>
                <a:chExt cx="144" cy="144"/>
              </a:xfrm>
            </p:grpSpPr>
            <p:sp>
              <p:nvSpPr>
                <p:cNvPr id="52233" name="Rectangle 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34" name="Rectangle 1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35" name="Rectangle 1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36" name="Rectangle 1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37" name="Rectangle 1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38" name="Rectangle 1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39" name="Rectangle 1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40" name="Rectangle 1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41" name="Rectangle 1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2242" name="Rectangle 18"/>
              <p:cNvSpPr>
                <a:spLocks noChangeAspect="1" noChangeArrowheads="1"/>
              </p:cNvSpPr>
              <p:nvPr/>
            </p:nvSpPr>
            <p:spPr bwMode="auto">
              <a:xfrm flipV="1">
                <a:off x="3936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43" name="Rectangle 19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87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44" name="Rectangle 20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45" name="Rectangle 21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46" name="Rectangle 22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47" name="Rectangle 23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87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48" name="Rectangle 24"/>
              <p:cNvSpPr>
                <a:spLocks noChangeAspect="1" noChangeArrowheads="1"/>
              </p:cNvSpPr>
              <p:nvPr/>
            </p:nvSpPr>
            <p:spPr bwMode="auto">
              <a:xfrm flipV="1">
                <a:off x="3936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49" name="Rectangle 25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50" name="Rectangle 26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51" name="Rectangle 27"/>
              <p:cNvSpPr>
                <a:spLocks noChangeAspect="1" noChangeArrowheads="1"/>
              </p:cNvSpPr>
              <p:nvPr/>
            </p:nvSpPr>
            <p:spPr bwMode="auto">
              <a:xfrm flipV="1">
                <a:off x="3864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52" name="Rectangle 28"/>
              <p:cNvSpPr>
                <a:spLocks noChangeAspect="1" noChangeArrowheads="1"/>
              </p:cNvSpPr>
              <p:nvPr/>
            </p:nvSpPr>
            <p:spPr bwMode="auto">
              <a:xfrm flipV="1">
                <a:off x="3864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53" name="Rectangle 29"/>
              <p:cNvSpPr>
                <a:spLocks noChangeAspect="1" noChangeArrowheads="1"/>
              </p:cNvSpPr>
              <p:nvPr/>
            </p:nvSpPr>
            <p:spPr bwMode="auto">
              <a:xfrm flipV="1">
                <a:off x="3720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54" name="Rectangle 30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1236" name="Group 31"/>
              <p:cNvGrpSpPr>
                <a:grpSpLocks noChangeAspect="1"/>
              </p:cNvGrpSpPr>
              <p:nvPr/>
            </p:nvGrpSpPr>
            <p:grpSpPr bwMode="auto">
              <a:xfrm>
                <a:off x="3288" y="1296"/>
                <a:ext cx="216" cy="216"/>
                <a:chOff x="2928" y="2448"/>
                <a:chExt cx="144" cy="144"/>
              </a:xfrm>
            </p:grpSpPr>
            <p:sp>
              <p:nvSpPr>
                <p:cNvPr id="52256" name="Rectangle 3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57" name="Rectangle 3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58" name="Rectangle 3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59" name="Rectangle 3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60" name="Rectangle 3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61" name="Rectangle 3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62" name="Rectangle 3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63" name="Rectangle 3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64" name="Rectangle 4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37" name="Group 41"/>
              <p:cNvGrpSpPr>
                <a:grpSpLocks noChangeAspect="1"/>
              </p:cNvGrpSpPr>
              <p:nvPr/>
            </p:nvGrpSpPr>
            <p:grpSpPr bwMode="auto">
              <a:xfrm>
                <a:off x="3504" y="1296"/>
                <a:ext cx="216" cy="216"/>
                <a:chOff x="2928" y="2448"/>
                <a:chExt cx="144" cy="144"/>
              </a:xfrm>
            </p:grpSpPr>
            <p:sp>
              <p:nvSpPr>
                <p:cNvPr id="52266" name="Rectangle 4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67" name="Rectangle 4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68" name="Rectangle 4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69" name="Rectangle 4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70" name="Rectangle 4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71" name="Rectangle 4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72" name="Rectangle 4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73" name="Rectangle 4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74" name="Rectangle 5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38" name="Group 51"/>
              <p:cNvGrpSpPr>
                <a:grpSpLocks noChangeAspect="1"/>
              </p:cNvGrpSpPr>
              <p:nvPr/>
            </p:nvGrpSpPr>
            <p:grpSpPr bwMode="auto">
              <a:xfrm>
                <a:off x="3720" y="1296"/>
                <a:ext cx="216" cy="216"/>
                <a:chOff x="2928" y="2448"/>
                <a:chExt cx="144" cy="144"/>
              </a:xfrm>
            </p:grpSpPr>
            <p:sp>
              <p:nvSpPr>
                <p:cNvPr id="52276" name="Rectangle 5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77" name="Rectangle 5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78" name="Rectangle 5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79" name="Rectangle 5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80" name="Rectangle 5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81" name="Rectangle 5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82" name="Rectangle 5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83" name="Rectangle 5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84" name="Rectangle 6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39" name="Group 61"/>
              <p:cNvGrpSpPr>
                <a:grpSpLocks noChangeAspect="1"/>
              </p:cNvGrpSpPr>
              <p:nvPr/>
            </p:nvGrpSpPr>
            <p:grpSpPr bwMode="auto">
              <a:xfrm>
                <a:off x="3936" y="1296"/>
                <a:ext cx="216" cy="216"/>
                <a:chOff x="2928" y="2448"/>
                <a:chExt cx="144" cy="144"/>
              </a:xfrm>
            </p:grpSpPr>
            <p:sp>
              <p:nvSpPr>
                <p:cNvPr id="52286" name="Rectangle 6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87" name="Rectangle 6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88" name="Rectangle 6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89" name="Rectangle 6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90" name="Rectangle 6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91" name="Rectangle 6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92" name="Rectangle 6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93" name="Rectangle 6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94" name="Rectangle 7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40" name="Group 71"/>
              <p:cNvGrpSpPr>
                <a:grpSpLocks noChangeAspect="1"/>
              </p:cNvGrpSpPr>
              <p:nvPr/>
            </p:nvGrpSpPr>
            <p:grpSpPr bwMode="auto">
              <a:xfrm>
                <a:off x="4152" y="1296"/>
                <a:ext cx="216" cy="216"/>
                <a:chOff x="2928" y="2448"/>
                <a:chExt cx="144" cy="144"/>
              </a:xfrm>
            </p:grpSpPr>
            <p:sp>
              <p:nvSpPr>
                <p:cNvPr id="52296" name="Rectangle 7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97" name="Rectangle 7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98" name="Rectangle 7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99" name="Rectangle 7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300" name="Rectangle 7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301" name="Rectangle 7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302" name="Rectangle 7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303" name="Rectangle 7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304" name="Rectangle 8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41" name="Group 81"/>
              <p:cNvGrpSpPr>
                <a:grpSpLocks noChangeAspect="1"/>
              </p:cNvGrpSpPr>
              <p:nvPr/>
            </p:nvGrpSpPr>
            <p:grpSpPr bwMode="auto">
              <a:xfrm>
                <a:off x="4152" y="1512"/>
                <a:ext cx="216" cy="216"/>
                <a:chOff x="2928" y="2448"/>
                <a:chExt cx="144" cy="144"/>
              </a:xfrm>
            </p:grpSpPr>
            <p:sp>
              <p:nvSpPr>
                <p:cNvPr id="52306" name="Rectangle 8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307" name="Rectangle 8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308" name="Rectangle 8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309" name="Rectangle 8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310" name="Rectangle 8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311" name="Rectangle 8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312" name="Rectangle 8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313" name="Rectangle 8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314" name="Rectangle 9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42" name="Group 91"/>
              <p:cNvGrpSpPr>
                <a:grpSpLocks noChangeAspect="1"/>
              </p:cNvGrpSpPr>
              <p:nvPr/>
            </p:nvGrpSpPr>
            <p:grpSpPr bwMode="auto">
              <a:xfrm>
                <a:off x="4152" y="1728"/>
                <a:ext cx="216" cy="216"/>
                <a:chOff x="2928" y="2448"/>
                <a:chExt cx="144" cy="144"/>
              </a:xfrm>
            </p:grpSpPr>
            <p:sp>
              <p:nvSpPr>
                <p:cNvPr id="52316" name="Rectangle 9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317" name="Rectangle 9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318" name="Rectangle 9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319" name="Rectangle 9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320" name="Rectangle 9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321" name="Rectangle 9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322" name="Rectangle 9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323" name="Rectangle 9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324" name="Rectangle 10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2325" name="Rectangle 101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800"/>
                <a:ext cx="72" cy="72"/>
              </a:xfrm>
              <a:prstGeom prst="rect">
                <a:avLst/>
              </a:prstGeom>
              <a:solidFill>
                <a:srgbClr val="11B119"/>
              </a:solidFill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1243" name="Group 109"/>
          <p:cNvGrpSpPr>
            <a:grpSpLocks/>
          </p:cNvGrpSpPr>
          <p:nvPr/>
        </p:nvGrpSpPr>
        <p:grpSpPr bwMode="auto">
          <a:xfrm>
            <a:off x="488950" y="1295400"/>
            <a:ext cx="3321050" cy="2227263"/>
            <a:chOff x="2852" y="973"/>
            <a:chExt cx="2092" cy="1403"/>
          </a:xfrm>
        </p:grpSpPr>
        <p:pic>
          <p:nvPicPr>
            <p:cNvPr id="51469" name="Picture 269" descr="H:\ex2-part-large.tif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852" y="973"/>
              <a:ext cx="2092" cy="1195"/>
            </a:xfrm>
            <a:prstGeom prst="rect">
              <a:avLst/>
            </a:prstGeom>
            <a:noFill/>
          </p:spPr>
        </p:pic>
        <p:grpSp>
          <p:nvGrpSpPr>
            <p:cNvPr id="51244" name="Group 526"/>
            <p:cNvGrpSpPr>
              <a:grpSpLocks/>
            </p:cNvGrpSpPr>
            <p:nvPr/>
          </p:nvGrpSpPr>
          <p:grpSpPr bwMode="auto">
            <a:xfrm>
              <a:off x="3288" y="1296"/>
              <a:ext cx="1080" cy="648"/>
              <a:chOff x="3288" y="1296"/>
              <a:chExt cx="1080" cy="648"/>
            </a:xfrm>
          </p:grpSpPr>
          <p:sp>
            <p:nvSpPr>
              <p:cNvPr id="51263" name="Rectangle 63"/>
              <p:cNvSpPr>
                <a:spLocks noChangeAspect="1" noChangeArrowheads="1"/>
              </p:cNvSpPr>
              <p:nvPr/>
            </p:nvSpPr>
            <p:spPr bwMode="auto">
              <a:xfrm flipV="1">
                <a:off x="3288" y="1584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66" name="Rectangle 66"/>
              <p:cNvSpPr>
                <a:spLocks noChangeAspect="1" noChangeArrowheads="1"/>
              </p:cNvSpPr>
              <p:nvPr/>
            </p:nvSpPr>
            <p:spPr bwMode="auto">
              <a:xfrm flipV="1">
                <a:off x="3360" y="1584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67" name="Rectangle 67"/>
              <p:cNvSpPr>
                <a:spLocks noChangeAspect="1" noChangeArrowheads="1"/>
              </p:cNvSpPr>
              <p:nvPr/>
            </p:nvSpPr>
            <p:spPr bwMode="auto">
              <a:xfrm flipV="1">
                <a:off x="3432" y="1584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68" name="Rectangle 68"/>
              <p:cNvSpPr>
                <a:spLocks noChangeAspect="1" noChangeArrowheads="1"/>
              </p:cNvSpPr>
              <p:nvPr/>
            </p:nvSpPr>
            <p:spPr bwMode="auto">
              <a:xfrm flipV="1">
                <a:off x="3432" y="1512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70" name="Rectangle 70"/>
              <p:cNvSpPr>
                <a:spLocks noChangeAspect="1" noChangeArrowheads="1"/>
              </p:cNvSpPr>
              <p:nvPr/>
            </p:nvSpPr>
            <p:spPr bwMode="auto">
              <a:xfrm flipV="1">
                <a:off x="3288" y="1512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71" name="Rectangle 71"/>
              <p:cNvSpPr>
                <a:spLocks noChangeAspect="1" noChangeArrowheads="1"/>
              </p:cNvSpPr>
              <p:nvPr/>
            </p:nvSpPr>
            <p:spPr bwMode="auto">
              <a:xfrm flipV="1">
                <a:off x="3360" y="1512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73" name="Rectangle 73"/>
              <p:cNvSpPr>
                <a:spLocks noChangeAspect="1" noChangeArrowheads="1"/>
              </p:cNvSpPr>
              <p:nvPr/>
            </p:nvSpPr>
            <p:spPr bwMode="auto">
              <a:xfrm flipV="1">
                <a:off x="3504" y="1584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75" name="Rectangle 75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656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76" name="Rectangle 76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584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77" name="Rectangle 77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584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78" name="Rectangle 78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512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79" name="Rectangle 79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656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80" name="Rectangle 80"/>
              <p:cNvSpPr>
                <a:spLocks noChangeAspect="1" noChangeArrowheads="1"/>
              </p:cNvSpPr>
              <p:nvPr/>
            </p:nvSpPr>
            <p:spPr bwMode="auto">
              <a:xfrm flipV="1">
                <a:off x="3504" y="1512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81" name="Rectangle 81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512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1245" name="Group 103"/>
              <p:cNvGrpSpPr>
                <a:grpSpLocks noChangeAspect="1"/>
              </p:cNvGrpSpPr>
              <p:nvPr/>
            </p:nvGrpSpPr>
            <p:grpSpPr bwMode="auto">
              <a:xfrm>
                <a:off x="3720" y="1512"/>
                <a:ext cx="216" cy="216"/>
                <a:chOff x="2928" y="2448"/>
                <a:chExt cx="144" cy="144"/>
              </a:xfrm>
            </p:grpSpPr>
            <p:sp>
              <p:nvSpPr>
                <p:cNvPr id="51304" name="Rectangle 10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05" name="Rectangle 10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06" name="Rectangle 10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07" name="Rectangle 10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08" name="Rectangle 10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09" name="Rectangle 10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10" name="Rectangle 11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11" name="Rectangle 11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12" name="Rectangle 11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46" name="Group 113"/>
              <p:cNvGrpSpPr>
                <a:grpSpLocks noChangeAspect="1"/>
              </p:cNvGrpSpPr>
              <p:nvPr/>
            </p:nvGrpSpPr>
            <p:grpSpPr bwMode="auto">
              <a:xfrm>
                <a:off x="3936" y="1512"/>
                <a:ext cx="216" cy="216"/>
                <a:chOff x="2928" y="2448"/>
                <a:chExt cx="144" cy="144"/>
              </a:xfrm>
            </p:grpSpPr>
            <p:sp>
              <p:nvSpPr>
                <p:cNvPr id="51314" name="Rectangle 11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15" name="Rectangle 11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16" name="Rectangle 11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17" name="Rectangle 11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18" name="Rectangle 11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19" name="Rectangle 11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20" name="Rectangle 12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21" name="Rectangle 12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22" name="Rectangle 12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1324" name="Rectangle 124"/>
              <p:cNvSpPr>
                <a:spLocks noChangeAspect="1" noChangeArrowheads="1"/>
              </p:cNvSpPr>
              <p:nvPr/>
            </p:nvSpPr>
            <p:spPr bwMode="auto">
              <a:xfrm flipV="1">
                <a:off x="3936" y="1800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326" name="Rectangle 126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872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327" name="Rectangle 127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800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328" name="Rectangle 128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800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329" name="Rectangle 129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728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330" name="Rectangle 130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872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331" name="Rectangle 131"/>
              <p:cNvSpPr>
                <a:spLocks noChangeAspect="1" noChangeArrowheads="1"/>
              </p:cNvSpPr>
              <p:nvPr/>
            </p:nvSpPr>
            <p:spPr bwMode="auto">
              <a:xfrm flipV="1">
                <a:off x="3936" y="1728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332" name="Rectangle 132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728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337" name="Rectangle 137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800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338" name="Rectangle 138"/>
              <p:cNvSpPr>
                <a:spLocks noChangeAspect="1" noChangeArrowheads="1"/>
              </p:cNvSpPr>
              <p:nvPr/>
            </p:nvSpPr>
            <p:spPr bwMode="auto">
              <a:xfrm flipV="1">
                <a:off x="3864" y="1800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339" name="Rectangle 139"/>
              <p:cNvSpPr>
                <a:spLocks noChangeAspect="1" noChangeArrowheads="1"/>
              </p:cNvSpPr>
              <p:nvPr/>
            </p:nvSpPr>
            <p:spPr bwMode="auto">
              <a:xfrm flipV="1">
                <a:off x="3864" y="1728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341" name="Rectangle 141"/>
              <p:cNvSpPr>
                <a:spLocks noChangeAspect="1" noChangeArrowheads="1"/>
              </p:cNvSpPr>
              <p:nvPr/>
            </p:nvSpPr>
            <p:spPr bwMode="auto">
              <a:xfrm flipV="1">
                <a:off x="3720" y="1728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342" name="Rectangle 142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728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1247" name="Group 165"/>
              <p:cNvGrpSpPr>
                <a:grpSpLocks noChangeAspect="1"/>
              </p:cNvGrpSpPr>
              <p:nvPr/>
            </p:nvGrpSpPr>
            <p:grpSpPr bwMode="auto">
              <a:xfrm>
                <a:off x="3288" y="1296"/>
                <a:ext cx="216" cy="216"/>
                <a:chOff x="2928" y="2448"/>
                <a:chExt cx="144" cy="144"/>
              </a:xfrm>
            </p:grpSpPr>
            <p:sp>
              <p:nvSpPr>
                <p:cNvPr id="51366" name="Rectangle 16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67" name="Rectangle 16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68" name="Rectangle 16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69" name="Rectangle 16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70" name="Rectangle 17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71" name="Rectangle 17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72" name="Rectangle 17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73" name="Rectangle 17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74" name="Rectangle 17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48" name="Group 175"/>
              <p:cNvGrpSpPr>
                <a:grpSpLocks noChangeAspect="1"/>
              </p:cNvGrpSpPr>
              <p:nvPr/>
            </p:nvGrpSpPr>
            <p:grpSpPr bwMode="auto">
              <a:xfrm>
                <a:off x="3504" y="1296"/>
                <a:ext cx="216" cy="216"/>
                <a:chOff x="2928" y="2448"/>
                <a:chExt cx="144" cy="144"/>
              </a:xfrm>
            </p:grpSpPr>
            <p:sp>
              <p:nvSpPr>
                <p:cNvPr id="51376" name="Rectangle 17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77" name="Rectangle 17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78" name="Rectangle 17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79" name="Rectangle 17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80" name="Rectangle 18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81" name="Rectangle 18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82" name="Rectangle 18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83" name="Rectangle 18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84" name="Rectangle 18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49" name="Group 185"/>
              <p:cNvGrpSpPr>
                <a:grpSpLocks noChangeAspect="1"/>
              </p:cNvGrpSpPr>
              <p:nvPr/>
            </p:nvGrpSpPr>
            <p:grpSpPr bwMode="auto">
              <a:xfrm>
                <a:off x="3720" y="1296"/>
                <a:ext cx="216" cy="216"/>
                <a:chOff x="2928" y="2448"/>
                <a:chExt cx="144" cy="144"/>
              </a:xfrm>
            </p:grpSpPr>
            <p:sp>
              <p:nvSpPr>
                <p:cNvPr id="51386" name="Rectangle 18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87" name="Rectangle 18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88" name="Rectangle 18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89" name="Rectangle 18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90" name="Rectangle 19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91" name="Rectangle 19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92" name="Rectangle 19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93" name="Rectangle 19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94" name="Rectangle 19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50" name="Group 195"/>
              <p:cNvGrpSpPr>
                <a:grpSpLocks noChangeAspect="1"/>
              </p:cNvGrpSpPr>
              <p:nvPr/>
            </p:nvGrpSpPr>
            <p:grpSpPr bwMode="auto">
              <a:xfrm>
                <a:off x="3936" y="1296"/>
                <a:ext cx="216" cy="216"/>
                <a:chOff x="2928" y="2448"/>
                <a:chExt cx="144" cy="144"/>
              </a:xfrm>
            </p:grpSpPr>
            <p:sp>
              <p:nvSpPr>
                <p:cNvPr id="51396" name="Rectangle 19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97" name="Rectangle 19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98" name="Rectangle 19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99" name="Rectangle 19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00" name="Rectangle 20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01" name="Rectangle 20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02" name="Rectangle 20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03" name="Rectangle 20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04" name="Rectangle 20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51" name="Group 205"/>
              <p:cNvGrpSpPr>
                <a:grpSpLocks noChangeAspect="1"/>
              </p:cNvGrpSpPr>
              <p:nvPr/>
            </p:nvGrpSpPr>
            <p:grpSpPr bwMode="auto">
              <a:xfrm>
                <a:off x="4152" y="1296"/>
                <a:ext cx="216" cy="216"/>
                <a:chOff x="2928" y="2448"/>
                <a:chExt cx="144" cy="144"/>
              </a:xfrm>
            </p:grpSpPr>
            <p:sp>
              <p:nvSpPr>
                <p:cNvPr id="51406" name="Rectangle 20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07" name="Rectangle 20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08" name="Rectangle 20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09" name="Rectangle 20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10" name="Rectangle 21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11" name="Rectangle 21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12" name="Rectangle 21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13" name="Rectangle 21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14" name="Rectangle 21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52" name="Group 215"/>
              <p:cNvGrpSpPr>
                <a:grpSpLocks noChangeAspect="1"/>
              </p:cNvGrpSpPr>
              <p:nvPr/>
            </p:nvGrpSpPr>
            <p:grpSpPr bwMode="auto">
              <a:xfrm>
                <a:off x="4152" y="1512"/>
                <a:ext cx="216" cy="216"/>
                <a:chOff x="2928" y="2448"/>
                <a:chExt cx="144" cy="144"/>
              </a:xfrm>
            </p:grpSpPr>
            <p:sp>
              <p:nvSpPr>
                <p:cNvPr id="51416" name="Rectangle 21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17" name="Rectangle 21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18" name="Rectangle 21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19" name="Rectangle 21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20" name="Rectangle 22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21" name="Rectangle 22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22" name="Rectangle 22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23" name="Rectangle 22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24" name="Rectangle 22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53" name="Group 225"/>
              <p:cNvGrpSpPr>
                <a:grpSpLocks noChangeAspect="1"/>
              </p:cNvGrpSpPr>
              <p:nvPr/>
            </p:nvGrpSpPr>
            <p:grpSpPr bwMode="auto">
              <a:xfrm>
                <a:off x="4152" y="1728"/>
                <a:ext cx="216" cy="216"/>
                <a:chOff x="2928" y="2448"/>
                <a:chExt cx="144" cy="144"/>
              </a:xfrm>
            </p:grpSpPr>
            <p:sp>
              <p:nvSpPr>
                <p:cNvPr id="51426" name="Rectangle 22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27" name="Rectangle 22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28" name="Rectangle 22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29" name="Rectangle 22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30" name="Rectangle 23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31" name="Rectangle 23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32" name="Rectangle 23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33" name="Rectangle 23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34" name="Rectangle 23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1463" name="Rectangle 263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800"/>
                <a:ext cx="72" cy="72"/>
              </a:xfrm>
              <a:prstGeom prst="rect">
                <a:avLst/>
              </a:prstGeom>
              <a:solidFill>
                <a:srgbClr val="11B119"/>
              </a:solidFill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1254" name="Group 525"/>
            <p:cNvGrpSpPr>
              <a:grpSpLocks/>
            </p:cNvGrpSpPr>
            <p:nvPr/>
          </p:nvGrpSpPr>
          <p:grpSpPr bwMode="auto">
            <a:xfrm>
              <a:off x="3288" y="1296"/>
              <a:ext cx="1080" cy="1080"/>
              <a:chOff x="3384" y="1392"/>
              <a:chExt cx="1080" cy="1080"/>
            </a:xfrm>
          </p:grpSpPr>
          <p:grpSp>
            <p:nvGrpSpPr>
              <p:cNvPr id="51255" name="Group 270"/>
              <p:cNvGrpSpPr>
                <a:grpSpLocks/>
              </p:cNvGrpSpPr>
              <p:nvPr/>
            </p:nvGrpSpPr>
            <p:grpSpPr bwMode="auto">
              <a:xfrm>
                <a:off x="3384" y="2040"/>
                <a:ext cx="432" cy="432"/>
                <a:chOff x="2040" y="2544"/>
                <a:chExt cx="432" cy="432"/>
              </a:xfrm>
            </p:grpSpPr>
            <p:grpSp>
              <p:nvGrpSpPr>
                <p:cNvPr id="51256" name="Group 271"/>
                <p:cNvGrpSpPr>
                  <a:grpSpLocks noChangeAspect="1"/>
                </p:cNvGrpSpPr>
                <p:nvPr/>
              </p:nvGrpSpPr>
              <p:grpSpPr bwMode="auto">
                <a:xfrm>
                  <a:off x="2040" y="2544"/>
                  <a:ext cx="216" cy="216"/>
                  <a:chOff x="2928" y="2448"/>
                  <a:chExt cx="144" cy="144"/>
                </a:xfrm>
              </p:grpSpPr>
              <p:sp>
                <p:nvSpPr>
                  <p:cNvPr id="51472" name="Rectangle 27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73" name="Rectangle 27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74" name="Rectangle 27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75" name="Rectangle 27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76" name="Rectangle 27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77" name="Rectangle 27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78" name="Rectangle 27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79" name="Rectangle 27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80" name="Rectangle 28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257" name="Group 281"/>
                <p:cNvGrpSpPr>
                  <a:grpSpLocks noChangeAspect="1"/>
                </p:cNvGrpSpPr>
                <p:nvPr/>
              </p:nvGrpSpPr>
              <p:grpSpPr bwMode="auto">
                <a:xfrm>
                  <a:off x="2256" y="2544"/>
                  <a:ext cx="216" cy="216"/>
                  <a:chOff x="2928" y="2448"/>
                  <a:chExt cx="144" cy="144"/>
                </a:xfrm>
              </p:grpSpPr>
              <p:sp>
                <p:nvSpPr>
                  <p:cNvPr id="51482" name="Rectangle 28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83" name="Rectangle 28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84" name="Rectangle 28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85" name="Rectangle 28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86" name="Rectangle 28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87" name="Rectangle 28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88" name="Rectangle 28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89" name="Rectangle 28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90" name="Rectangle 29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258" name="Group 291"/>
                <p:cNvGrpSpPr>
                  <a:grpSpLocks noChangeAspect="1"/>
                </p:cNvGrpSpPr>
                <p:nvPr/>
              </p:nvGrpSpPr>
              <p:grpSpPr bwMode="auto">
                <a:xfrm>
                  <a:off x="2256" y="2760"/>
                  <a:ext cx="216" cy="216"/>
                  <a:chOff x="2928" y="2448"/>
                  <a:chExt cx="144" cy="144"/>
                </a:xfrm>
              </p:grpSpPr>
              <p:sp>
                <p:nvSpPr>
                  <p:cNvPr id="51492" name="Rectangle 29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93" name="Rectangle 29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94" name="Rectangle 29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95" name="Rectangle 29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96" name="Rectangle 29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97" name="Rectangle 29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98" name="Rectangle 29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99" name="Rectangle 29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00" name="Rectangle 30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259" name="Group 301"/>
                <p:cNvGrpSpPr>
                  <a:grpSpLocks noChangeAspect="1"/>
                </p:cNvGrpSpPr>
                <p:nvPr/>
              </p:nvGrpSpPr>
              <p:grpSpPr bwMode="auto">
                <a:xfrm>
                  <a:off x="2040" y="2760"/>
                  <a:ext cx="216" cy="216"/>
                  <a:chOff x="2928" y="2448"/>
                  <a:chExt cx="144" cy="144"/>
                </a:xfrm>
              </p:grpSpPr>
              <p:sp>
                <p:nvSpPr>
                  <p:cNvPr id="51502" name="Rectangle 30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03" name="Rectangle 30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04" name="Rectangle 30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05" name="Rectangle 30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06" name="Rectangle 30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07" name="Rectangle 30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08" name="Rectangle 30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09" name="Rectangle 30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10" name="Rectangle 31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51260" name="Group 311"/>
              <p:cNvGrpSpPr>
                <a:grpSpLocks/>
              </p:cNvGrpSpPr>
              <p:nvPr/>
            </p:nvGrpSpPr>
            <p:grpSpPr bwMode="auto">
              <a:xfrm>
                <a:off x="3816" y="2040"/>
                <a:ext cx="432" cy="432"/>
                <a:chOff x="2040" y="2544"/>
                <a:chExt cx="432" cy="432"/>
              </a:xfrm>
            </p:grpSpPr>
            <p:grpSp>
              <p:nvGrpSpPr>
                <p:cNvPr id="51261" name="Group 312"/>
                <p:cNvGrpSpPr>
                  <a:grpSpLocks noChangeAspect="1"/>
                </p:cNvGrpSpPr>
                <p:nvPr/>
              </p:nvGrpSpPr>
              <p:grpSpPr bwMode="auto">
                <a:xfrm>
                  <a:off x="2040" y="2544"/>
                  <a:ext cx="216" cy="216"/>
                  <a:chOff x="2928" y="2448"/>
                  <a:chExt cx="144" cy="144"/>
                </a:xfrm>
              </p:grpSpPr>
              <p:sp>
                <p:nvSpPr>
                  <p:cNvPr id="51513" name="Rectangle 31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14" name="Rectangle 31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15" name="Rectangle 31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16" name="Rectangle 31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17" name="Rectangle 31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18" name="Rectangle 31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19" name="Rectangle 31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20" name="Rectangle 32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21" name="Rectangle 32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262" name="Group 322"/>
                <p:cNvGrpSpPr>
                  <a:grpSpLocks noChangeAspect="1"/>
                </p:cNvGrpSpPr>
                <p:nvPr/>
              </p:nvGrpSpPr>
              <p:grpSpPr bwMode="auto">
                <a:xfrm>
                  <a:off x="2256" y="2544"/>
                  <a:ext cx="216" cy="216"/>
                  <a:chOff x="2928" y="2448"/>
                  <a:chExt cx="144" cy="144"/>
                </a:xfrm>
              </p:grpSpPr>
              <p:sp>
                <p:nvSpPr>
                  <p:cNvPr id="51523" name="Rectangle 32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24" name="Rectangle 32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25" name="Rectangle 32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26" name="Rectangle 32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27" name="Rectangle 32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28" name="Rectangle 32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29" name="Rectangle 32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30" name="Rectangle 33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31" name="Rectangle 33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264" name="Group 332"/>
                <p:cNvGrpSpPr>
                  <a:grpSpLocks noChangeAspect="1"/>
                </p:cNvGrpSpPr>
                <p:nvPr/>
              </p:nvGrpSpPr>
              <p:grpSpPr bwMode="auto">
                <a:xfrm>
                  <a:off x="2256" y="2760"/>
                  <a:ext cx="216" cy="216"/>
                  <a:chOff x="2928" y="2448"/>
                  <a:chExt cx="144" cy="144"/>
                </a:xfrm>
              </p:grpSpPr>
              <p:sp>
                <p:nvSpPr>
                  <p:cNvPr id="51533" name="Rectangle 33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34" name="Rectangle 33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35" name="Rectangle 33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36" name="Rectangle 33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37" name="Rectangle 33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38" name="Rectangle 33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39" name="Rectangle 33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40" name="Rectangle 34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41" name="Rectangle 34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265" name="Group 342"/>
                <p:cNvGrpSpPr>
                  <a:grpSpLocks noChangeAspect="1"/>
                </p:cNvGrpSpPr>
                <p:nvPr/>
              </p:nvGrpSpPr>
              <p:grpSpPr bwMode="auto">
                <a:xfrm>
                  <a:off x="2040" y="2760"/>
                  <a:ext cx="216" cy="216"/>
                  <a:chOff x="2928" y="2448"/>
                  <a:chExt cx="144" cy="144"/>
                </a:xfrm>
              </p:grpSpPr>
              <p:sp>
                <p:nvSpPr>
                  <p:cNvPr id="51543" name="Rectangle 34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44" name="Rectangle 34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45" name="Rectangle 34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46" name="Rectangle 34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47" name="Rectangle 34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48" name="Rectangle 34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49" name="Rectangle 34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50" name="Rectangle 35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51" name="Rectangle 35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51269" name="Group 352"/>
              <p:cNvGrpSpPr>
                <a:grpSpLocks/>
              </p:cNvGrpSpPr>
              <p:nvPr/>
            </p:nvGrpSpPr>
            <p:grpSpPr bwMode="auto">
              <a:xfrm>
                <a:off x="3384" y="1608"/>
                <a:ext cx="432" cy="432"/>
                <a:chOff x="2040" y="2544"/>
                <a:chExt cx="432" cy="432"/>
              </a:xfrm>
            </p:grpSpPr>
            <p:grpSp>
              <p:nvGrpSpPr>
                <p:cNvPr id="51272" name="Group 353"/>
                <p:cNvGrpSpPr>
                  <a:grpSpLocks noChangeAspect="1"/>
                </p:cNvGrpSpPr>
                <p:nvPr/>
              </p:nvGrpSpPr>
              <p:grpSpPr bwMode="auto">
                <a:xfrm>
                  <a:off x="2040" y="2544"/>
                  <a:ext cx="216" cy="216"/>
                  <a:chOff x="2928" y="2448"/>
                  <a:chExt cx="144" cy="144"/>
                </a:xfrm>
              </p:grpSpPr>
              <p:sp>
                <p:nvSpPr>
                  <p:cNvPr id="51554" name="Rectangle 35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55" name="Rectangle 35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56" name="Rectangle 35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57" name="Rectangle 35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58" name="Rectangle 35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59" name="Rectangle 35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60" name="Rectangle 36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61" name="Rectangle 36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62" name="Rectangle 36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274" name="Group 363"/>
                <p:cNvGrpSpPr>
                  <a:grpSpLocks noChangeAspect="1"/>
                </p:cNvGrpSpPr>
                <p:nvPr/>
              </p:nvGrpSpPr>
              <p:grpSpPr bwMode="auto">
                <a:xfrm>
                  <a:off x="2256" y="2544"/>
                  <a:ext cx="216" cy="216"/>
                  <a:chOff x="2928" y="2448"/>
                  <a:chExt cx="144" cy="144"/>
                </a:xfrm>
              </p:grpSpPr>
              <p:sp>
                <p:nvSpPr>
                  <p:cNvPr id="51564" name="Rectangle 36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65" name="Rectangle 36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66" name="Rectangle 36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67" name="Rectangle 36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68" name="Rectangle 36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69" name="Rectangle 36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70" name="Rectangle 37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71" name="Rectangle 37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72" name="Rectangle 37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282" name="Group 373"/>
                <p:cNvGrpSpPr>
                  <a:grpSpLocks noChangeAspect="1"/>
                </p:cNvGrpSpPr>
                <p:nvPr/>
              </p:nvGrpSpPr>
              <p:grpSpPr bwMode="auto">
                <a:xfrm>
                  <a:off x="2256" y="2760"/>
                  <a:ext cx="216" cy="216"/>
                  <a:chOff x="2928" y="2448"/>
                  <a:chExt cx="144" cy="144"/>
                </a:xfrm>
              </p:grpSpPr>
              <p:sp>
                <p:nvSpPr>
                  <p:cNvPr id="51574" name="Rectangle 37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75" name="Rectangle 37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76" name="Rectangle 37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77" name="Rectangle 37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78" name="Rectangle 37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79" name="Rectangle 37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80" name="Rectangle 38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81" name="Rectangle 38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82" name="Rectangle 38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283" name="Group 383"/>
                <p:cNvGrpSpPr>
                  <a:grpSpLocks noChangeAspect="1"/>
                </p:cNvGrpSpPr>
                <p:nvPr/>
              </p:nvGrpSpPr>
              <p:grpSpPr bwMode="auto">
                <a:xfrm>
                  <a:off x="2040" y="2760"/>
                  <a:ext cx="216" cy="216"/>
                  <a:chOff x="2928" y="2448"/>
                  <a:chExt cx="144" cy="144"/>
                </a:xfrm>
              </p:grpSpPr>
              <p:sp>
                <p:nvSpPr>
                  <p:cNvPr id="51584" name="Rectangle 38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85" name="Rectangle 38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86" name="Rectangle 38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87" name="Rectangle 38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88" name="Rectangle 38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89" name="Rectangle 38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90" name="Rectangle 39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91" name="Rectangle 39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92" name="Rectangle 39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51284" name="Group 393"/>
              <p:cNvGrpSpPr>
                <a:grpSpLocks/>
              </p:cNvGrpSpPr>
              <p:nvPr/>
            </p:nvGrpSpPr>
            <p:grpSpPr bwMode="auto">
              <a:xfrm>
                <a:off x="3816" y="1608"/>
                <a:ext cx="432" cy="432"/>
                <a:chOff x="2040" y="2544"/>
                <a:chExt cx="432" cy="432"/>
              </a:xfrm>
            </p:grpSpPr>
            <p:grpSp>
              <p:nvGrpSpPr>
                <p:cNvPr id="51285" name="Group 394"/>
                <p:cNvGrpSpPr>
                  <a:grpSpLocks noChangeAspect="1"/>
                </p:cNvGrpSpPr>
                <p:nvPr/>
              </p:nvGrpSpPr>
              <p:grpSpPr bwMode="auto">
                <a:xfrm>
                  <a:off x="2040" y="2544"/>
                  <a:ext cx="216" cy="216"/>
                  <a:chOff x="2928" y="2448"/>
                  <a:chExt cx="144" cy="144"/>
                </a:xfrm>
              </p:grpSpPr>
              <p:sp>
                <p:nvSpPr>
                  <p:cNvPr id="51595" name="Rectangle 39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96" name="Rectangle 39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97" name="Rectangle 39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98" name="Rectangle 39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99" name="Rectangle 39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00" name="Rectangle 40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01" name="Rectangle 40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02" name="Rectangle 40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03" name="Rectangle 40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286" name="Group 404"/>
                <p:cNvGrpSpPr>
                  <a:grpSpLocks noChangeAspect="1"/>
                </p:cNvGrpSpPr>
                <p:nvPr/>
              </p:nvGrpSpPr>
              <p:grpSpPr bwMode="auto">
                <a:xfrm>
                  <a:off x="2256" y="2544"/>
                  <a:ext cx="216" cy="216"/>
                  <a:chOff x="2928" y="2448"/>
                  <a:chExt cx="144" cy="144"/>
                </a:xfrm>
              </p:grpSpPr>
              <p:sp>
                <p:nvSpPr>
                  <p:cNvPr id="51605" name="Rectangle 40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06" name="Rectangle 40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07" name="Rectangle 40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08" name="Rectangle 40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09" name="Rectangle 40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10" name="Rectangle 41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11" name="Rectangle 41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12" name="Rectangle 41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13" name="Rectangle 41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287" name="Group 414"/>
                <p:cNvGrpSpPr>
                  <a:grpSpLocks noChangeAspect="1"/>
                </p:cNvGrpSpPr>
                <p:nvPr/>
              </p:nvGrpSpPr>
              <p:grpSpPr bwMode="auto">
                <a:xfrm>
                  <a:off x="2256" y="2760"/>
                  <a:ext cx="216" cy="216"/>
                  <a:chOff x="2928" y="2448"/>
                  <a:chExt cx="144" cy="144"/>
                </a:xfrm>
              </p:grpSpPr>
              <p:sp>
                <p:nvSpPr>
                  <p:cNvPr id="51615" name="Rectangle 41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16" name="Rectangle 41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17" name="Rectangle 41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18" name="Rectangle 41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19" name="Rectangle 41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20" name="Rectangle 42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21" name="Rectangle 42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22" name="Rectangle 42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23" name="Rectangle 42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288" name="Group 424"/>
                <p:cNvGrpSpPr>
                  <a:grpSpLocks noChangeAspect="1"/>
                </p:cNvGrpSpPr>
                <p:nvPr/>
              </p:nvGrpSpPr>
              <p:grpSpPr bwMode="auto">
                <a:xfrm>
                  <a:off x="2040" y="2760"/>
                  <a:ext cx="216" cy="216"/>
                  <a:chOff x="2928" y="2448"/>
                  <a:chExt cx="144" cy="144"/>
                </a:xfrm>
              </p:grpSpPr>
              <p:sp>
                <p:nvSpPr>
                  <p:cNvPr id="51625" name="Rectangle 42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26" name="Rectangle 42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27" name="Rectangle 42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28" name="Rectangle 42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29" name="Rectangle 42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30" name="Rectangle 43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31" name="Rectangle 43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32" name="Rectangle 43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33" name="Rectangle 43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51289" name="Group 434"/>
              <p:cNvGrpSpPr>
                <a:grpSpLocks noChangeAspect="1"/>
              </p:cNvGrpSpPr>
              <p:nvPr/>
            </p:nvGrpSpPr>
            <p:grpSpPr bwMode="auto">
              <a:xfrm>
                <a:off x="3384" y="1392"/>
                <a:ext cx="216" cy="216"/>
                <a:chOff x="2928" y="2448"/>
                <a:chExt cx="144" cy="144"/>
              </a:xfrm>
            </p:grpSpPr>
            <p:sp>
              <p:nvSpPr>
                <p:cNvPr id="51635" name="Rectangle 43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36" name="Rectangle 43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37" name="Rectangle 43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38" name="Rectangle 43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39" name="Rectangle 43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40" name="Rectangle 44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41" name="Rectangle 44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42" name="Rectangle 44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43" name="Rectangle 44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90" name="Group 444"/>
              <p:cNvGrpSpPr>
                <a:grpSpLocks noChangeAspect="1"/>
              </p:cNvGrpSpPr>
              <p:nvPr/>
            </p:nvGrpSpPr>
            <p:grpSpPr bwMode="auto">
              <a:xfrm>
                <a:off x="3600" y="1392"/>
                <a:ext cx="216" cy="216"/>
                <a:chOff x="2928" y="2448"/>
                <a:chExt cx="144" cy="144"/>
              </a:xfrm>
            </p:grpSpPr>
            <p:sp>
              <p:nvSpPr>
                <p:cNvPr id="51645" name="Rectangle 44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46" name="Rectangle 44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47" name="Rectangle 44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48" name="Rectangle 44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49" name="Rectangle 44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50" name="Rectangle 45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51" name="Rectangle 45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52" name="Rectangle 45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53" name="Rectangle 45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91" name="Group 454"/>
              <p:cNvGrpSpPr>
                <a:grpSpLocks noChangeAspect="1"/>
              </p:cNvGrpSpPr>
              <p:nvPr/>
            </p:nvGrpSpPr>
            <p:grpSpPr bwMode="auto">
              <a:xfrm>
                <a:off x="3816" y="1392"/>
                <a:ext cx="216" cy="216"/>
                <a:chOff x="2928" y="2448"/>
                <a:chExt cx="144" cy="144"/>
              </a:xfrm>
            </p:grpSpPr>
            <p:sp>
              <p:nvSpPr>
                <p:cNvPr id="51655" name="Rectangle 45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56" name="Rectangle 45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57" name="Rectangle 45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58" name="Rectangle 45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59" name="Rectangle 45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60" name="Rectangle 46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61" name="Rectangle 46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62" name="Rectangle 46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63" name="Rectangle 46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92" name="Group 464"/>
              <p:cNvGrpSpPr>
                <a:grpSpLocks noChangeAspect="1"/>
              </p:cNvGrpSpPr>
              <p:nvPr/>
            </p:nvGrpSpPr>
            <p:grpSpPr bwMode="auto">
              <a:xfrm>
                <a:off x="4032" y="1392"/>
                <a:ext cx="216" cy="216"/>
                <a:chOff x="2928" y="2448"/>
                <a:chExt cx="144" cy="144"/>
              </a:xfrm>
            </p:grpSpPr>
            <p:sp>
              <p:nvSpPr>
                <p:cNvPr id="51665" name="Rectangle 46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66" name="Rectangle 46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67" name="Rectangle 46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68" name="Rectangle 46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69" name="Rectangle 46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70" name="Rectangle 47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71" name="Rectangle 47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72" name="Rectangle 47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73" name="Rectangle 47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93" name="Group 474"/>
              <p:cNvGrpSpPr>
                <a:grpSpLocks noChangeAspect="1"/>
              </p:cNvGrpSpPr>
              <p:nvPr/>
            </p:nvGrpSpPr>
            <p:grpSpPr bwMode="auto">
              <a:xfrm>
                <a:off x="4248" y="1392"/>
                <a:ext cx="216" cy="216"/>
                <a:chOff x="2928" y="2448"/>
                <a:chExt cx="144" cy="144"/>
              </a:xfrm>
            </p:grpSpPr>
            <p:sp>
              <p:nvSpPr>
                <p:cNvPr id="51675" name="Rectangle 47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76" name="Rectangle 47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77" name="Rectangle 47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78" name="Rectangle 47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79" name="Rectangle 47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80" name="Rectangle 48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81" name="Rectangle 48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82" name="Rectangle 48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83" name="Rectangle 48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94" name="Group 484"/>
              <p:cNvGrpSpPr>
                <a:grpSpLocks noChangeAspect="1"/>
              </p:cNvGrpSpPr>
              <p:nvPr/>
            </p:nvGrpSpPr>
            <p:grpSpPr bwMode="auto">
              <a:xfrm>
                <a:off x="4248" y="1608"/>
                <a:ext cx="216" cy="216"/>
                <a:chOff x="2928" y="2448"/>
                <a:chExt cx="144" cy="144"/>
              </a:xfrm>
            </p:grpSpPr>
            <p:sp>
              <p:nvSpPr>
                <p:cNvPr id="51685" name="Rectangle 48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86" name="Rectangle 48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87" name="Rectangle 48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88" name="Rectangle 48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89" name="Rectangle 48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90" name="Rectangle 49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91" name="Rectangle 49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92" name="Rectangle 49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93" name="Rectangle 49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95" name="Group 494"/>
              <p:cNvGrpSpPr>
                <a:grpSpLocks noChangeAspect="1"/>
              </p:cNvGrpSpPr>
              <p:nvPr/>
            </p:nvGrpSpPr>
            <p:grpSpPr bwMode="auto">
              <a:xfrm>
                <a:off x="4248" y="1824"/>
                <a:ext cx="216" cy="216"/>
                <a:chOff x="2928" y="2448"/>
                <a:chExt cx="144" cy="144"/>
              </a:xfrm>
            </p:grpSpPr>
            <p:sp>
              <p:nvSpPr>
                <p:cNvPr id="51695" name="Rectangle 49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96" name="Rectangle 49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97" name="Rectangle 49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98" name="Rectangle 49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699" name="Rectangle 49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700" name="Rectangle 50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701" name="Rectangle 50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702" name="Rectangle 50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703" name="Rectangle 50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96" name="Group 504"/>
              <p:cNvGrpSpPr>
                <a:grpSpLocks noChangeAspect="1"/>
              </p:cNvGrpSpPr>
              <p:nvPr/>
            </p:nvGrpSpPr>
            <p:grpSpPr bwMode="auto">
              <a:xfrm>
                <a:off x="4248" y="2040"/>
                <a:ext cx="216" cy="216"/>
                <a:chOff x="2928" y="2448"/>
                <a:chExt cx="144" cy="144"/>
              </a:xfrm>
            </p:grpSpPr>
            <p:sp>
              <p:nvSpPr>
                <p:cNvPr id="51705" name="Rectangle 50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706" name="Rectangle 50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707" name="Rectangle 50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708" name="Rectangle 50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709" name="Rectangle 50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710" name="Rectangle 51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711" name="Rectangle 51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712" name="Rectangle 51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713" name="Rectangle 51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97" name="Group 514"/>
              <p:cNvGrpSpPr>
                <a:grpSpLocks noChangeAspect="1"/>
              </p:cNvGrpSpPr>
              <p:nvPr/>
            </p:nvGrpSpPr>
            <p:grpSpPr bwMode="auto">
              <a:xfrm>
                <a:off x="4248" y="2256"/>
                <a:ext cx="216" cy="216"/>
                <a:chOff x="2928" y="2448"/>
                <a:chExt cx="144" cy="144"/>
              </a:xfrm>
            </p:grpSpPr>
            <p:sp>
              <p:nvSpPr>
                <p:cNvPr id="51715" name="Rectangle 51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716" name="Rectangle 51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717" name="Rectangle 51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718" name="Rectangle 51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719" name="Rectangle 51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720" name="Rectangle 52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721" name="Rectangle 52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722" name="Rectangle 52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723" name="Rectangle 52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1724" name="Rectangle 524"/>
              <p:cNvSpPr>
                <a:spLocks noChangeAspect="1" noChangeArrowheads="1"/>
              </p:cNvSpPr>
              <p:nvPr/>
            </p:nvSpPr>
            <p:spPr bwMode="auto">
              <a:xfrm flipV="1">
                <a:off x="3888" y="1896"/>
                <a:ext cx="72" cy="72"/>
              </a:xfrm>
              <a:prstGeom prst="rect">
                <a:avLst/>
              </a:prstGeom>
              <a:noFill/>
              <a:ln w="9525" cap="rnd">
                <a:solidFill>
                  <a:srgbClr val="11B119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2331" name="Rectangle 107"/>
            <p:cNvSpPr>
              <a:spLocks noChangeArrowheads="1"/>
            </p:cNvSpPr>
            <p:nvPr/>
          </p:nvSpPr>
          <p:spPr bwMode="auto">
            <a:xfrm>
              <a:off x="3598" y="1728"/>
              <a:ext cx="242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700">
                  <a:effectLst>
                    <a:outerShdw blurRad="38100" dist="38100" dir="2700000" algn="tl">
                      <a:srgbClr val="1C1C1C"/>
                    </a:outerShdw>
                  </a:effectLst>
                </a:rPr>
                <a:t>p</a:t>
              </a:r>
              <a:endParaRPr lang="en-US" altLang="zh-CN" sz="2700">
                <a:effectLst>
                  <a:outerShdw blurRad="38100" dist="38100" dir="2700000" algn="tl">
                    <a:srgbClr val="1C1C1C"/>
                  </a:outerShdw>
                </a:effectLst>
                <a:ea typeface="宋体" charset="-122"/>
              </a:endParaRPr>
            </a:p>
          </p:txBody>
        </p:sp>
      </p:grpSp>
      <p:sp>
        <p:nvSpPr>
          <p:cNvPr id="52334" name="AutoShape 110"/>
          <p:cNvSpPr>
            <a:spLocks noChangeArrowheads="1"/>
          </p:cNvSpPr>
          <p:nvPr/>
        </p:nvSpPr>
        <p:spPr bwMode="auto">
          <a:xfrm flipH="1">
            <a:off x="4038600" y="2209800"/>
            <a:ext cx="1571625" cy="3810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11B119"/>
          </a:solidFill>
          <a:ln w="9525">
            <a:solidFill>
              <a:srgbClr val="11B11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>
              <a:solidFill>
                <a:srgbClr val="00CC00"/>
              </a:solidFill>
            </a:endParaRPr>
          </a:p>
        </p:txBody>
      </p:sp>
      <p:sp>
        <p:nvSpPr>
          <p:cNvPr id="52335" name="Text Box 111"/>
          <p:cNvSpPr txBox="1">
            <a:spLocks noChangeArrowheads="1"/>
          </p:cNvSpPr>
          <p:nvPr/>
        </p:nvSpPr>
        <p:spPr bwMode="auto">
          <a:xfrm>
            <a:off x="4129088" y="1704975"/>
            <a:ext cx="1662112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600">
                <a:ea typeface="宋体" charset="-122"/>
              </a:rPr>
              <a:t>non-parametric</a:t>
            </a:r>
          </a:p>
          <a:p>
            <a:pPr algn="ctr"/>
            <a:r>
              <a:rPr lang="en-US" altLang="zh-CN" sz="1600">
                <a:ea typeface="宋体" charset="-122"/>
              </a:rPr>
              <a:t>sampling</a:t>
            </a:r>
          </a:p>
        </p:txBody>
      </p:sp>
      <p:sp>
        <p:nvSpPr>
          <p:cNvPr id="52336" name="Text Box 112"/>
          <p:cNvSpPr txBox="1">
            <a:spLocks noChangeArrowheads="1"/>
          </p:cNvSpPr>
          <p:nvPr/>
        </p:nvSpPr>
        <p:spPr bwMode="auto">
          <a:xfrm>
            <a:off x="6477000" y="3290888"/>
            <a:ext cx="1504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800">
                <a:ea typeface="宋体" charset="-122"/>
              </a:rPr>
              <a:t>Input image</a:t>
            </a:r>
            <a:r>
              <a:rPr lang="en-US" altLang="zh-CN" sz="1600" b="0">
                <a:ea typeface="宋体" charset="-122"/>
              </a:rPr>
              <a:t> </a:t>
            </a:r>
          </a:p>
        </p:txBody>
      </p:sp>
      <p:sp>
        <p:nvSpPr>
          <p:cNvPr id="52337" name="Text Box 113"/>
          <p:cNvSpPr txBox="1">
            <a:spLocks noChangeArrowheads="1"/>
          </p:cNvSpPr>
          <p:nvPr/>
        </p:nvSpPr>
        <p:spPr bwMode="auto">
          <a:xfrm>
            <a:off x="893763" y="3557588"/>
            <a:ext cx="23066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800">
                <a:ea typeface="宋体" charset="-122"/>
              </a:rPr>
              <a:t>Synthesizing a pixel</a:t>
            </a:r>
            <a:endParaRPr lang="en-US" altLang="zh-CN" sz="1600" b="0">
              <a:ea typeface="宋体" charset="-122"/>
            </a:endParaRPr>
          </a:p>
        </p:txBody>
      </p:sp>
    </p:spTree>
  </p:cSld>
  <p:clrMapOvr>
    <a:masterClrMapping/>
  </p:clrMapOvr>
  <p:transition advTm="7760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Efros &amp; Leung ’99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839200" cy="5638800"/>
          </a:xfrm>
        </p:spPr>
        <p:txBody>
          <a:bodyPr/>
          <a:lstStyle/>
          <a:p>
            <a:r>
              <a:rPr lang="en-US" altLang="zh-CN">
                <a:ea typeface="宋体" charset="-122"/>
              </a:rPr>
              <a:t>The algorithm</a:t>
            </a:r>
          </a:p>
          <a:p>
            <a:pPr lvl="1"/>
            <a:r>
              <a:rPr lang="en-US" altLang="zh-CN">
                <a:ea typeface="宋体" charset="-122"/>
              </a:rPr>
              <a:t>Very simple</a:t>
            </a:r>
          </a:p>
          <a:p>
            <a:pPr lvl="1"/>
            <a:r>
              <a:rPr lang="en-US" altLang="zh-CN">
                <a:ea typeface="宋体" charset="-122"/>
              </a:rPr>
              <a:t>Surprisingly good results</a:t>
            </a:r>
          </a:p>
          <a:p>
            <a:pPr lvl="1"/>
            <a:r>
              <a:rPr lang="en-US" altLang="zh-CN">
                <a:ea typeface="宋体" charset="-122"/>
              </a:rPr>
              <a:t>Synthesis is easier than analysis!</a:t>
            </a:r>
          </a:p>
          <a:p>
            <a:pPr lvl="1"/>
            <a:r>
              <a:rPr lang="en-US" altLang="zh-CN">
                <a:ea typeface="宋体" charset="-122"/>
              </a:rPr>
              <a:t>…but very slow</a:t>
            </a:r>
          </a:p>
          <a:p>
            <a:r>
              <a:rPr lang="en-US" altLang="zh-CN">
                <a:ea typeface="宋体" charset="-122"/>
              </a:rPr>
              <a:t>Optimizations and Improvements</a:t>
            </a:r>
          </a:p>
          <a:p>
            <a:pPr lvl="1"/>
            <a:r>
              <a:rPr lang="en-US" altLang="zh-CN">
                <a:ea typeface="宋体" charset="-122"/>
              </a:rPr>
              <a:t>[Wei &amp; Levoy,’00] (based on [Popat &amp; Picard,’93]) </a:t>
            </a:r>
          </a:p>
          <a:p>
            <a:pPr lvl="1"/>
            <a:r>
              <a:rPr lang="en-US" altLang="zh-CN">
                <a:ea typeface="宋体" charset="-122"/>
              </a:rPr>
              <a:t>[Harrison,’01]</a:t>
            </a:r>
          </a:p>
          <a:p>
            <a:pPr lvl="1"/>
            <a:r>
              <a:rPr lang="en-US" altLang="zh-CN">
                <a:ea typeface="宋体" charset="-122"/>
              </a:rPr>
              <a:t>[Ashikhmin,’01]</a:t>
            </a:r>
          </a:p>
        </p:txBody>
      </p:sp>
    </p:spTree>
  </p:cSld>
  <p:clrMapOvr>
    <a:masterClrMapping/>
  </p:clrMapOvr>
  <p:transition advTm="29136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229600" cy="1384300"/>
          </a:xfrm>
        </p:spPr>
        <p:txBody>
          <a:bodyPr/>
          <a:lstStyle/>
          <a:p>
            <a:r>
              <a:rPr lang="en-US" altLang="zh-CN">
                <a:ea typeface="宋体" charset="-122"/>
              </a:rPr>
              <a:t>Chaos Mosaic </a:t>
            </a:r>
            <a:r>
              <a:rPr lang="en-GB" sz="3600" b="0"/>
              <a:t>[Xu, Guo &amp; Shum, ‘00]</a:t>
            </a:r>
            <a:endParaRPr lang="en-US" altLang="zh-CN" sz="3600" b="0">
              <a:ea typeface="宋体" charset="-122"/>
            </a:endParaRPr>
          </a:p>
        </p:txBody>
      </p:sp>
      <p:sp>
        <p:nvSpPr>
          <p:cNvPr id="90129" name="Rectangle 17"/>
          <p:cNvSpPr>
            <a:spLocks noGrp="1" noChangeArrowheads="1"/>
          </p:cNvSpPr>
          <p:nvPr>
            <p:ph type="body" idx="1"/>
          </p:nvPr>
        </p:nvSpPr>
        <p:spPr>
          <a:xfrm>
            <a:off x="304800" y="5105400"/>
            <a:ext cx="8153400" cy="1524000"/>
          </a:xfrm>
        </p:spPr>
        <p:txBody>
          <a:bodyPr/>
          <a:lstStyle/>
          <a:p>
            <a:pPr>
              <a:spcBef>
                <a:spcPct val="50000"/>
              </a:spcBef>
              <a:spcAft>
                <a:spcPts val="600"/>
              </a:spcAft>
            </a:pPr>
            <a:r>
              <a:rPr lang="en-GB" sz="3000" b="0">
                <a:effectLst/>
              </a:rPr>
              <a:t>Process: 1) tile input image; 2) pick random blocks and place them in random locations 3) Smooth edges</a:t>
            </a:r>
            <a:endParaRPr lang="en-US" altLang="zh-CN" sz="3500">
              <a:ea typeface="宋体" charset="-122"/>
            </a:endParaRPr>
          </a:p>
        </p:txBody>
      </p:sp>
      <p:graphicFrame>
        <p:nvGraphicFramePr>
          <p:cNvPr id="90115" name="Object 3"/>
          <p:cNvGraphicFramePr>
            <a:graphicFrameLocks noChangeAspect="1"/>
          </p:cNvGraphicFramePr>
          <p:nvPr/>
        </p:nvGraphicFramePr>
        <p:xfrm>
          <a:off x="5105400" y="1219200"/>
          <a:ext cx="3409950" cy="340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1" name="Bitmap Image" r:id="rId3" imgW="7104762" imgH="3610479" progId="PBrush">
                  <p:embed/>
                </p:oleObj>
              </mc:Choice>
              <mc:Fallback>
                <p:oleObj name="Bitmap Image" r:id="rId3" imgW="7104762" imgH="3610479" progId="PBrush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0391" t="2243" r="1608" b="3561"/>
                      <a:stretch>
                        <a:fillRect/>
                      </a:stretch>
                    </p:blipFill>
                    <p:spPr bwMode="auto">
                      <a:xfrm>
                        <a:off x="5105400" y="1219200"/>
                        <a:ext cx="3409950" cy="340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8" name="Object 6"/>
          <p:cNvGraphicFramePr>
            <a:graphicFrameLocks noChangeAspect="1"/>
          </p:cNvGraphicFramePr>
          <p:nvPr/>
        </p:nvGraphicFramePr>
        <p:xfrm>
          <a:off x="1524000" y="1219200"/>
          <a:ext cx="3352800" cy="340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2" name="Bitmap Image" r:id="rId5" imgW="7104762" imgH="3610479" progId="PBrush">
                  <p:embed/>
                </p:oleObj>
              </mc:Choice>
              <mc:Fallback>
                <p:oleObj name="Bitmap Image" r:id="rId5" imgW="7104762" imgH="3610479" progId="PBrush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21" t="2243" r="51083" b="3561"/>
                      <a:stretch>
                        <a:fillRect/>
                      </a:stretch>
                    </p:blipFill>
                    <p:spPr bwMode="auto">
                      <a:xfrm>
                        <a:off x="1524000" y="1219200"/>
                        <a:ext cx="3352800" cy="340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9" name="Object 7"/>
          <p:cNvGraphicFramePr>
            <a:graphicFrameLocks noChangeAspect="1"/>
          </p:cNvGraphicFramePr>
          <p:nvPr/>
        </p:nvGraphicFramePr>
        <p:xfrm>
          <a:off x="457200" y="2438400"/>
          <a:ext cx="836613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3" name="Bitmap Image" r:id="rId6" imgW="7104762" imgH="3610479" progId="PBrush">
                  <p:embed/>
                </p:oleObj>
              </mc:Choice>
              <mc:Fallback>
                <p:oleObj name="Bitmap Image" r:id="rId6" imgW="7104762" imgH="3610479" progId="PBrush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7140" t="72955" r="51083" b="3561"/>
                      <a:stretch>
                        <a:fillRect/>
                      </a:stretch>
                    </p:blipFill>
                    <p:spPr bwMode="auto">
                      <a:xfrm>
                        <a:off x="457200" y="2438400"/>
                        <a:ext cx="836613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3" name="Text Box 11"/>
          <p:cNvSpPr txBox="1">
            <a:spLocks noChangeArrowheads="1"/>
          </p:cNvSpPr>
          <p:nvPr/>
        </p:nvSpPr>
        <p:spPr bwMode="auto">
          <a:xfrm>
            <a:off x="381000" y="3276600"/>
            <a:ext cx="931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input</a:t>
            </a:r>
          </a:p>
        </p:txBody>
      </p:sp>
      <p:sp>
        <p:nvSpPr>
          <p:cNvPr id="90124" name="Text Box 12"/>
          <p:cNvSpPr txBox="1">
            <a:spLocks noChangeArrowheads="1"/>
          </p:cNvSpPr>
          <p:nvPr/>
        </p:nvSpPr>
        <p:spPr bwMode="auto">
          <a:xfrm>
            <a:off x="2794000" y="4648200"/>
            <a:ext cx="78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idea</a:t>
            </a:r>
          </a:p>
        </p:txBody>
      </p:sp>
      <p:sp>
        <p:nvSpPr>
          <p:cNvPr id="90125" name="Text Box 13"/>
          <p:cNvSpPr txBox="1">
            <a:spLocks noChangeArrowheads="1"/>
          </p:cNvSpPr>
          <p:nvPr/>
        </p:nvSpPr>
        <p:spPr bwMode="auto">
          <a:xfrm>
            <a:off x="6227763" y="4648200"/>
            <a:ext cx="10112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result</a:t>
            </a:r>
          </a:p>
        </p:txBody>
      </p:sp>
      <p:sp>
        <p:nvSpPr>
          <p:cNvPr id="90131" name="Text Box 19"/>
          <p:cNvSpPr txBox="1">
            <a:spLocks noChangeArrowheads="1"/>
          </p:cNvSpPr>
          <p:nvPr/>
        </p:nvSpPr>
        <p:spPr bwMode="auto">
          <a:xfrm>
            <a:off x="4038600" y="6324600"/>
            <a:ext cx="4968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0">
                <a:ea typeface="宋体" charset="-122"/>
              </a:rPr>
              <a:t>Used in Lapped Textures [Praun et.al,’00]</a:t>
            </a:r>
          </a:p>
        </p:txBody>
      </p:sp>
    </p:spTree>
  </p:cSld>
  <p:clrMapOvr>
    <a:masterClrMapping/>
  </p:clrMapOvr>
  <p:transition advTm="46528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229600" cy="1384300"/>
          </a:xfrm>
        </p:spPr>
        <p:txBody>
          <a:bodyPr/>
          <a:lstStyle/>
          <a:p>
            <a:r>
              <a:rPr lang="en-US" altLang="zh-CN">
                <a:ea typeface="宋体" charset="-122"/>
              </a:rPr>
              <a:t>Chaos Mosaic </a:t>
            </a:r>
            <a:r>
              <a:rPr lang="en-GB" sz="3600" b="0"/>
              <a:t>[Xu, Guo &amp; Shum, ‘00]</a:t>
            </a:r>
            <a:endParaRPr lang="en-US" altLang="zh-CN" sz="3600" b="0">
              <a:ea typeface="宋体" charset="-122"/>
            </a:endParaRP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5334000"/>
            <a:ext cx="8382000" cy="1371600"/>
          </a:xfrm>
        </p:spPr>
        <p:txBody>
          <a:bodyPr/>
          <a:lstStyle/>
          <a:p>
            <a:pPr>
              <a:spcBef>
                <a:spcPct val="50000"/>
              </a:spcBef>
              <a:spcAft>
                <a:spcPts val="600"/>
              </a:spcAft>
            </a:pPr>
            <a:r>
              <a:rPr lang="en-US" altLang="zh-CN" sz="3000">
                <a:effectLst/>
                <a:ea typeface="宋体" charset="-122"/>
              </a:rPr>
              <a:t>Of course, doesn’t work for structured textures</a:t>
            </a:r>
          </a:p>
        </p:txBody>
      </p:sp>
      <p:graphicFrame>
        <p:nvGraphicFramePr>
          <p:cNvPr id="100362" name="Object 10"/>
          <p:cNvGraphicFramePr>
            <a:graphicFrameLocks noChangeAspect="1"/>
          </p:cNvGraphicFramePr>
          <p:nvPr/>
        </p:nvGraphicFramePr>
        <p:xfrm>
          <a:off x="1617663" y="2362200"/>
          <a:ext cx="8651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Bitmap Image" r:id="rId3" imgW="4123810" imgH="3219899" progId="PBrush">
                  <p:embed/>
                </p:oleObj>
              </mc:Choice>
              <mc:Fallback>
                <p:oleObj name="Bitmap Image" r:id="rId3" imgW="4123810" imgH="3219899" progId="PBrush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424" t="1381" r="81294" b="75197"/>
                      <a:stretch>
                        <a:fillRect/>
                      </a:stretch>
                    </p:blipFill>
                    <p:spPr bwMode="auto">
                      <a:xfrm>
                        <a:off x="1617663" y="2362200"/>
                        <a:ext cx="8651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3" name="Object 11"/>
          <p:cNvGraphicFramePr>
            <a:graphicFrameLocks noChangeAspect="1"/>
          </p:cNvGraphicFramePr>
          <p:nvPr/>
        </p:nvGraphicFramePr>
        <p:xfrm>
          <a:off x="2989263" y="1219200"/>
          <a:ext cx="3482975" cy="340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Bitmap Image" r:id="rId5" imgW="4123810" imgH="3219899" progId="PBrush">
                  <p:embed/>
                </p:oleObj>
              </mc:Choice>
              <mc:Fallback>
                <p:oleObj name="Bitmap Image" r:id="rId5" imgW="4123810" imgH="3219899" progId="PBrush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1730" t="1988" r="2217" b="2840"/>
                      <a:stretch>
                        <a:fillRect/>
                      </a:stretch>
                    </p:blipFill>
                    <p:spPr bwMode="auto">
                      <a:xfrm>
                        <a:off x="2989263" y="1219200"/>
                        <a:ext cx="3482975" cy="340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5" name="Text Box 13"/>
          <p:cNvSpPr txBox="1">
            <a:spLocks noChangeArrowheads="1"/>
          </p:cNvSpPr>
          <p:nvPr/>
        </p:nvSpPr>
        <p:spPr bwMode="auto">
          <a:xfrm>
            <a:off x="1524000" y="3276600"/>
            <a:ext cx="931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input</a:t>
            </a:r>
          </a:p>
        </p:txBody>
      </p:sp>
      <p:sp>
        <p:nvSpPr>
          <p:cNvPr id="100366" name="Text Box 14"/>
          <p:cNvSpPr txBox="1">
            <a:spLocks noChangeArrowheads="1"/>
          </p:cNvSpPr>
          <p:nvPr/>
        </p:nvSpPr>
        <p:spPr bwMode="auto">
          <a:xfrm>
            <a:off x="4264025" y="4648200"/>
            <a:ext cx="10112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result</a:t>
            </a:r>
          </a:p>
        </p:txBody>
      </p:sp>
    </p:spTree>
  </p:cSld>
  <p:clrMapOvr>
    <a:masterClrMapping/>
  </p:clrMapOvr>
  <p:transition advTm="5568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Image Quilting</a:t>
            </a:r>
          </a:p>
        </p:txBody>
      </p:sp>
      <p:sp>
        <p:nvSpPr>
          <p:cNvPr id="7578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561388" cy="6248400"/>
          </a:xfrm>
        </p:spPr>
        <p:txBody>
          <a:bodyPr/>
          <a:lstStyle/>
          <a:p>
            <a:endParaRPr lang="en-US" altLang="zh-CN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Idea:</a:t>
            </a:r>
          </a:p>
          <a:p>
            <a:pPr lvl="1"/>
            <a:r>
              <a:rPr lang="en-US" altLang="zh-CN">
                <a:ea typeface="宋体" charset="-122"/>
              </a:rPr>
              <a:t> let’s combine random block placement of Chaos Mosaic with spatial constraints of Efros &amp; Leung</a:t>
            </a:r>
          </a:p>
          <a:p>
            <a:r>
              <a:rPr lang="en-US" altLang="zh-CN">
                <a:ea typeface="宋体" charset="-122"/>
              </a:rPr>
              <a:t>Related Work (concurrent):</a:t>
            </a:r>
          </a:p>
          <a:p>
            <a:pPr lvl="1"/>
            <a:r>
              <a:rPr lang="en-US" altLang="zh-CN">
                <a:ea typeface="宋体" charset="-122"/>
              </a:rPr>
              <a:t>Real-time patch-based sampling [Liang et.al. ’01]</a:t>
            </a:r>
          </a:p>
          <a:p>
            <a:pPr lvl="1"/>
            <a:r>
              <a:rPr lang="en-US" altLang="zh-CN">
                <a:ea typeface="宋体" charset="-122"/>
              </a:rPr>
              <a:t>Image Analogies [Hertzmann et.al. ’01] </a:t>
            </a:r>
          </a:p>
        </p:txBody>
      </p:sp>
    </p:spTree>
  </p:cSld>
  <p:clrMapOvr>
    <a:masterClrMapping/>
  </p:clrMapOvr>
  <p:transition advTm="37072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73"/>
          <p:cNvGrpSpPr>
            <a:grpSpLocks/>
          </p:cNvGrpSpPr>
          <p:nvPr/>
        </p:nvGrpSpPr>
        <p:grpSpPr bwMode="auto">
          <a:xfrm>
            <a:off x="488950" y="1295400"/>
            <a:ext cx="3321050" cy="2227263"/>
            <a:chOff x="2852" y="973"/>
            <a:chExt cx="2092" cy="1403"/>
          </a:xfrm>
        </p:grpSpPr>
        <p:pic>
          <p:nvPicPr>
            <p:cNvPr id="54122" name="Picture 874" descr="H:\ex2-part-large.tif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852" y="973"/>
              <a:ext cx="2092" cy="1195"/>
            </a:xfrm>
            <a:prstGeom prst="rect">
              <a:avLst/>
            </a:prstGeom>
            <a:noFill/>
          </p:spPr>
        </p:pic>
        <p:grpSp>
          <p:nvGrpSpPr>
            <p:cNvPr id="3" name="Group 875"/>
            <p:cNvGrpSpPr>
              <a:grpSpLocks/>
            </p:cNvGrpSpPr>
            <p:nvPr/>
          </p:nvGrpSpPr>
          <p:grpSpPr bwMode="auto">
            <a:xfrm>
              <a:off x="3288" y="1296"/>
              <a:ext cx="1080" cy="648"/>
              <a:chOff x="3288" y="1296"/>
              <a:chExt cx="1080" cy="648"/>
            </a:xfrm>
          </p:grpSpPr>
          <p:sp>
            <p:nvSpPr>
              <p:cNvPr id="54124" name="Rectangle 876"/>
              <p:cNvSpPr>
                <a:spLocks noChangeAspect="1" noChangeArrowheads="1"/>
              </p:cNvSpPr>
              <p:nvPr/>
            </p:nvSpPr>
            <p:spPr bwMode="auto">
              <a:xfrm flipV="1">
                <a:off x="3288" y="1584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25" name="Rectangle 877"/>
              <p:cNvSpPr>
                <a:spLocks noChangeAspect="1" noChangeArrowheads="1"/>
              </p:cNvSpPr>
              <p:nvPr/>
            </p:nvSpPr>
            <p:spPr bwMode="auto">
              <a:xfrm flipV="1">
                <a:off x="3360" y="1584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26" name="Rectangle 878"/>
              <p:cNvSpPr>
                <a:spLocks noChangeAspect="1" noChangeArrowheads="1"/>
              </p:cNvSpPr>
              <p:nvPr/>
            </p:nvSpPr>
            <p:spPr bwMode="auto">
              <a:xfrm flipV="1">
                <a:off x="3432" y="1584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27" name="Rectangle 879"/>
              <p:cNvSpPr>
                <a:spLocks noChangeAspect="1" noChangeArrowheads="1"/>
              </p:cNvSpPr>
              <p:nvPr/>
            </p:nvSpPr>
            <p:spPr bwMode="auto">
              <a:xfrm flipV="1">
                <a:off x="3432" y="1512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28" name="Rectangle 880"/>
              <p:cNvSpPr>
                <a:spLocks noChangeAspect="1" noChangeArrowheads="1"/>
              </p:cNvSpPr>
              <p:nvPr/>
            </p:nvSpPr>
            <p:spPr bwMode="auto">
              <a:xfrm flipV="1">
                <a:off x="3288" y="1512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29" name="Rectangle 881"/>
              <p:cNvSpPr>
                <a:spLocks noChangeAspect="1" noChangeArrowheads="1"/>
              </p:cNvSpPr>
              <p:nvPr/>
            </p:nvSpPr>
            <p:spPr bwMode="auto">
              <a:xfrm flipV="1">
                <a:off x="3360" y="1512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30" name="Rectangle 882"/>
              <p:cNvSpPr>
                <a:spLocks noChangeAspect="1" noChangeArrowheads="1"/>
              </p:cNvSpPr>
              <p:nvPr/>
            </p:nvSpPr>
            <p:spPr bwMode="auto">
              <a:xfrm flipV="1">
                <a:off x="3504" y="1584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31" name="Rectangle 883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656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32" name="Rectangle 884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584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33" name="Rectangle 885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584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34" name="Rectangle 886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512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35" name="Rectangle 887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656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36" name="Rectangle 888"/>
              <p:cNvSpPr>
                <a:spLocks noChangeAspect="1" noChangeArrowheads="1"/>
              </p:cNvSpPr>
              <p:nvPr/>
            </p:nvSpPr>
            <p:spPr bwMode="auto">
              <a:xfrm flipV="1">
                <a:off x="3504" y="1512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37" name="Rectangle 889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512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" name="Group 890"/>
              <p:cNvGrpSpPr>
                <a:grpSpLocks noChangeAspect="1"/>
              </p:cNvGrpSpPr>
              <p:nvPr/>
            </p:nvGrpSpPr>
            <p:grpSpPr bwMode="auto">
              <a:xfrm>
                <a:off x="3720" y="1512"/>
                <a:ext cx="216" cy="216"/>
                <a:chOff x="2928" y="2448"/>
                <a:chExt cx="144" cy="144"/>
              </a:xfrm>
            </p:grpSpPr>
            <p:sp>
              <p:nvSpPr>
                <p:cNvPr id="54139" name="Rectangle 89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40" name="Rectangle 89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41" name="Rectangle 89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42" name="Rectangle 89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43" name="Rectangle 89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44" name="Rectangle 89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45" name="Rectangle 89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46" name="Rectangle 89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47" name="Rectangle 89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" name="Group 900"/>
              <p:cNvGrpSpPr>
                <a:grpSpLocks noChangeAspect="1"/>
              </p:cNvGrpSpPr>
              <p:nvPr/>
            </p:nvGrpSpPr>
            <p:grpSpPr bwMode="auto">
              <a:xfrm>
                <a:off x="3936" y="1512"/>
                <a:ext cx="216" cy="216"/>
                <a:chOff x="2928" y="2448"/>
                <a:chExt cx="144" cy="144"/>
              </a:xfrm>
            </p:grpSpPr>
            <p:sp>
              <p:nvSpPr>
                <p:cNvPr id="54149" name="Rectangle 90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50" name="Rectangle 90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51" name="Rectangle 90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52" name="Rectangle 90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53" name="Rectangle 90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54" name="Rectangle 90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55" name="Rectangle 90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56" name="Rectangle 90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57" name="Rectangle 90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4158" name="Rectangle 910"/>
              <p:cNvSpPr>
                <a:spLocks noChangeAspect="1" noChangeArrowheads="1"/>
              </p:cNvSpPr>
              <p:nvPr/>
            </p:nvSpPr>
            <p:spPr bwMode="auto">
              <a:xfrm flipV="1">
                <a:off x="3936" y="1800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59" name="Rectangle 911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872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60" name="Rectangle 912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800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61" name="Rectangle 913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800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62" name="Rectangle 914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728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63" name="Rectangle 915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872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64" name="Rectangle 916"/>
              <p:cNvSpPr>
                <a:spLocks noChangeAspect="1" noChangeArrowheads="1"/>
              </p:cNvSpPr>
              <p:nvPr/>
            </p:nvSpPr>
            <p:spPr bwMode="auto">
              <a:xfrm flipV="1">
                <a:off x="3936" y="1728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65" name="Rectangle 917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728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66" name="Rectangle 918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800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67" name="Rectangle 919"/>
              <p:cNvSpPr>
                <a:spLocks noChangeAspect="1" noChangeArrowheads="1"/>
              </p:cNvSpPr>
              <p:nvPr/>
            </p:nvSpPr>
            <p:spPr bwMode="auto">
              <a:xfrm flipV="1">
                <a:off x="3864" y="1800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68" name="Rectangle 920"/>
              <p:cNvSpPr>
                <a:spLocks noChangeAspect="1" noChangeArrowheads="1"/>
              </p:cNvSpPr>
              <p:nvPr/>
            </p:nvSpPr>
            <p:spPr bwMode="auto">
              <a:xfrm flipV="1">
                <a:off x="3864" y="1728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69" name="Rectangle 921"/>
              <p:cNvSpPr>
                <a:spLocks noChangeAspect="1" noChangeArrowheads="1"/>
              </p:cNvSpPr>
              <p:nvPr/>
            </p:nvSpPr>
            <p:spPr bwMode="auto">
              <a:xfrm flipV="1">
                <a:off x="3720" y="1728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170" name="Rectangle 922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728"/>
                <a:ext cx="72" cy="72"/>
              </a:xfrm>
              <a:prstGeom prst="rect">
                <a:avLst/>
              </a:prstGeom>
              <a:noFill/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6" name="Group 923"/>
              <p:cNvGrpSpPr>
                <a:grpSpLocks noChangeAspect="1"/>
              </p:cNvGrpSpPr>
              <p:nvPr/>
            </p:nvGrpSpPr>
            <p:grpSpPr bwMode="auto">
              <a:xfrm>
                <a:off x="3288" y="1296"/>
                <a:ext cx="216" cy="216"/>
                <a:chOff x="2928" y="2448"/>
                <a:chExt cx="144" cy="144"/>
              </a:xfrm>
            </p:grpSpPr>
            <p:sp>
              <p:nvSpPr>
                <p:cNvPr id="54172" name="Rectangle 92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73" name="Rectangle 92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74" name="Rectangle 92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75" name="Rectangle 92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76" name="Rectangle 92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77" name="Rectangle 92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78" name="Rectangle 93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79" name="Rectangle 93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80" name="Rectangle 93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" name="Group 933"/>
              <p:cNvGrpSpPr>
                <a:grpSpLocks noChangeAspect="1"/>
              </p:cNvGrpSpPr>
              <p:nvPr/>
            </p:nvGrpSpPr>
            <p:grpSpPr bwMode="auto">
              <a:xfrm>
                <a:off x="3504" y="1296"/>
                <a:ext cx="216" cy="216"/>
                <a:chOff x="2928" y="2448"/>
                <a:chExt cx="144" cy="144"/>
              </a:xfrm>
            </p:grpSpPr>
            <p:sp>
              <p:nvSpPr>
                <p:cNvPr id="54182" name="Rectangle 93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83" name="Rectangle 93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84" name="Rectangle 93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85" name="Rectangle 93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86" name="Rectangle 93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87" name="Rectangle 93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88" name="Rectangle 94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89" name="Rectangle 94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90" name="Rectangle 94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" name="Group 943"/>
              <p:cNvGrpSpPr>
                <a:grpSpLocks noChangeAspect="1"/>
              </p:cNvGrpSpPr>
              <p:nvPr/>
            </p:nvGrpSpPr>
            <p:grpSpPr bwMode="auto">
              <a:xfrm>
                <a:off x="3720" y="1296"/>
                <a:ext cx="216" cy="216"/>
                <a:chOff x="2928" y="2448"/>
                <a:chExt cx="144" cy="144"/>
              </a:xfrm>
            </p:grpSpPr>
            <p:sp>
              <p:nvSpPr>
                <p:cNvPr id="54192" name="Rectangle 94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93" name="Rectangle 94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94" name="Rectangle 94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95" name="Rectangle 94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96" name="Rectangle 94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97" name="Rectangle 94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98" name="Rectangle 95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199" name="Rectangle 95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00" name="Rectangle 95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Group 953"/>
              <p:cNvGrpSpPr>
                <a:grpSpLocks noChangeAspect="1"/>
              </p:cNvGrpSpPr>
              <p:nvPr/>
            </p:nvGrpSpPr>
            <p:grpSpPr bwMode="auto">
              <a:xfrm>
                <a:off x="3936" y="1296"/>
                <a:ext cx="216" cy="216"/>
                <a:chOff x="2928" y="2448"/>
                <a:chExt cx="144" cy="144"/>
              </a:xfrm>
            </p:grpSpPr>
            <p:sp>
              <p:nvSpPr>
                <p:cNvPr id="54202" name="Rectangle 95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03" name="Rectangle 95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04" name="Rectangle 95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05" name="Rectangle 95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06" name="Rectangle 95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07" name="Rectangle 95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08" name="Rectangle 96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09" name="Rectangle 96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10" name="Rectangle 96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Group 963"/>
              <p:cNvGrpSpPr>
                <a:grpSpLocks noChangeAspect="1"/>
              </p:cNvGrpSpPr>
              <p:nvPr/>
            </p:nvGrpSpPr>
            <p:grpSpPr bwMode="auto">
              <a:xfrm>
                <a:off x="4152" y="1296"/>
                <a:ext cx="216" cy="216"/>
                <a:chOff x="2928" y="2448"/>
                <a:chExt cx="144" cy="144"/>
              </a:xfrm>
            </p:grpSpPr>
            <p:sp>
              <p:nvSpPr>
                <p:cNvPr id="54212" name="Rectangle 96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13" name="Rectangle 96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14" name="Rectangle 96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15" name="Rectangle 96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16" name="Rectangle 96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17" name="Rectangle 96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18" name="Rectangle 97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19" name="Rectangle 97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20" name="Rectangle 97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" name="Group 973"/>
              <p:cNvGrpSpPr>
                <a:grpSpLocks noChangeAspect="1"/>
              </p:cNvGrpSpPr>
              <p:nvPr/>
            </p:nvGrpSpPr>
            <p:grpSpPr bwMode="auto">
              <a:xfrm>
                <a:off x="4152" y="1512"/>
                <a:ext cx="216" cy="216"/>
                <a:chOff x="2928" y="2448"/>
                <a:chExt cx="144" cy="144"/>
              </a:xfrm>
            </p:grpSpPr>
            <p:sp>
              <p:nvSpPr>
                <p:cNvPr id="54222" name="Rectangle 97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23" name="Rectangle 97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24" name="Rectangle 97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25" name="Rectangle 97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26" name="Rectangle 97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27" name="Rectangle 97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28" name="Rectangle 98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29" name="Rectangle 98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30" name="Rectangle 98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Group 983"/>
              <p:cNvGrpSpPr>
                <a:grpSpLocks noChangeAspect="1"/>
              </p:cNvGrpSpPr>
              <p:nvPr/>
            </p:nvGrpSpPr>
            <p:grpSpPr bwMode="auto">
              <a:xfrm>
                <a:off x="4152" y="1728"/>
                <a:ext cx="216" cy="216"/>
                <a:chOff x="2928" y="2448"/>
                <a:chExt cx="144" cy="144"/>
              </a:xfrm>
            </p:grpSpPr>
            <p:sp>
              <p:nvSpPr>
                <p:cNvPr id="54232" name="Rectangle 98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33" name="Rectangle 98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34" name="Rectangle 98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35" name="Rectangle 98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36" name="Rectangle 98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37" name="Rectangle 98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38" name="Rectangle 99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39" name="Rectangle 99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240" name="Rectangle 99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19050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4241" name="Rectangle 993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800"/>
                <a:ext cx="72" cy="72"/>
              </a:xfrm>
              <a:prstGeom prst="rect">
                <a:avLst/>
              </a:prstGeom>
              <a:solidFill>
                <a:srgbClr val="11B119"/>
              </a:solidFill>
              <a:ln w="19050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" name="Group 994"/>
            <p:cNvGrpSpPr>
              <a:grpSpLocks/>
            </p:cNvGrpSpPr>
            <p:nvPr/>
          </p:nvGrpSpPr>
          <p:grpSpPr bwMode="auto">
            <a:xfrm>
              <a:off x="3288" y="1296"/>
              <a:ext cx="1080" cy="1080"/>
              <a:chOff x="3384" y="1392"/>
              <a:chExt cx="1080" cy="1080"/>
            </a:xfrm>
          </p:grpSpPr>
          <p:grpSp>
            <p:nvGrpSpPr>
              <p:cNvPr id="14" name="Group 995"/>
              <p:cNvGrpSpPr>
                <a:grpSpLocks/>
              </p:cNvGrpSpPr>
              <p:nvPr/>
            </p:nvGrpSpPr>
            <p:grpSpPr bwMode="auto">
              <a:xfrm>
                <a:off x="3384" y="2040"/>
                <a:ext cx="432" cy="432"/>
                <a:chOff x="2040" y="2544"/>
                <a:chExt cx="432" cy="432"/>
              </a:xfrm>
            </p:grpSpPr>
            <p:grpSp>
              <p:nvGrpSpPr>
                <p:cNvPr id="15" name="Group 996"/>
                <p:cNvGrpSpPr>
                  <a:grpSpLocks noChangeAspect="1"/>
                </p:cNvGrpSpPr>
                <p:nvPr/>
              </p:nvGrpSpPr>
              <p:grpSpPr bwMode="auto">
                <a:xfrm>
                  <a:off x="2040" y="2544"/>
                  <a:ext cx="216" cy="216"/>
                  <a:chOff x="2928" y="2448"/>
                  <a:chExt cx="144" cy="144"/>
                </a:xfrm>
              </p:grpSpPr>
              <p:sp>
                <p:nvSpPr>
                  <p:cNvPr id="54245" name="Rectangle 99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46" name="Rectangle 99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47" name="Rectangle 99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48" name="Rectangle 100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49" name="Rectangle 100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50" name="Rectangle 100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51" name="Rectangle 100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52" name="Rectangle 100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53" name="Rectangle 100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6" name="Group 1006"/>
                <p:cNvGrpSpPr>
                  <a:grpSpLocks noChangeAspect="1"/>
                </p:cNvGrpSpPr>
                <p:nvPr/>
              </p:nvGrpSpPr>
              <p:grpSpPr bwMode="auto">
                <a:xfrm>
                  <a:off x="2256" y="2544"/>
                  <a:ext cx="216" cy="216"/>
                  <a:chOff x="2928" y="2448"/>
                  <a:chExt cx="144" cy="144"/>
                </a:xfrm>
              </p:grpSpPr>
              <p:sp>
                <p:nvSpPr>
                  <p:cNvPr id="54255" name="Rectangle 100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56" name="Rectangle 100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57" name="Rectangle 100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58" name="Rectangle 101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59" name="Rectangle 101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60" name="Rectangle 101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61" name="Rectangle 101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62" name="Rectangle 101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63" name="Rectangle 101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7" name="Group 1016"/>
                <p:cNvGrpSpPr>
                  <a:grpSpLocks noChangeAspect="1"/>
                </p:cNvGrpSpPr>
                <p:nvPr/>
              </p:nvGrpSpPr>
              <p:grpSpPr bwMode="auto">
                <a:xfrm>
                  <a:off x="2256" y="2760"/>
                  <a:ext cx="216" cy="216"/>
                  <a:chOff x="2928" y="2448"/>
                  <a:chExt cx="144" cy="144"/>
                </a:xfrm>
              </p:grpSpPr>
              <p:sp>
                <p:nvSpPr>
                  <p:cNvPr id="54265" name="Rectangle 101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66" name="Rectangle 101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67" name="Rectangle 101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68" name="Rectangle 102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69" name="Rectangle 102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70" name="Rectangle 102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71" name="Rectangle 102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40" name="Rectangle 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41" name="Rectangle 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8" name="Group 2"/>
                <p:cNvGrpSpPr>
                  <a:grpSpLocks noChangeAspect="1"/>
                </p:cNvGrpSpPr>
                <p:nvPr/>
              </p:nvGrpSpPr>
              <p:grpSpPr bwMode="auto">
                <a:xfrm>
                  <a:off x="2040" y="2760"/>
                  <a:ext cx="216" cy="216"/>
                  <a:chOff x="2928" y="2448"/>
                  <a:chExt cx="144" cy="144"/>
                </a:xfrm>
              </p:grpSpPr>
              <p:sp>
                <p:nvSpPr>
                  <p:cNvPr id="61443" name="Rectangle 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44" name="Rectangle 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45" name="Rectangle 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46" name="Rectangle 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47" name="Rectangle 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48" name="Rectangle 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49" name="Rectangle 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50" name="Rectangle 1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51" name="Rectangle 1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3816" y="2040"/>
                <a:ext cx="432" cy="432"/>
                <a:chOff x="2040" y="2544"/>
                <a:chExt cx="432" cy="432"/>
              </a:xfrm>
            </p:grpSpPr>
            <p:grpSp>
              <p:nvGrpSpPr>
                <p:cNvPr id="20" name="Group 13"/>
                <p:cNvGrpSpPr>
                  <a:grpSpLocks noChangeAspect="1"/>
                </p:cNvGrpSpPr>
                <p:nvPr/>
              </p:nvGrpSpPr>
              <p:grpSpPr bwMode="auto">
                <a:xfrm>
                  <a:off x="2040" y="2544"/>
                  <a:ext cx="216" cy="216"/>
                  <a:chOff x="2928" y="2448"/>
                  <a:chExt cx="144" cy="144"/>
                </a:xfrm>
              </p:grpSpPr>
              <p:sp>
                <p:nvSpPr>
                  <p:cNvPr id="61454" name="Rectangle 1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55" name="Rectangle 1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56" name="Rectangle 1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57" name="Rectangle 1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58" name="Rectangle 1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59" name="Rectangle 1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60" name="Rectangle 2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61" name="Rectangle 2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62" name="Rectangle 2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1" name="Group 23"/>
                <p:cNvGrpSpPr>
                  <a:grpSpLocks noChangeAspect="1"/>
                </p:cNvGrpSpPr>
                <p:nvPr/>
              </p:nvGrpSpPr>
              <p:grpSpPr bwMode="auto">
                <a:xfrm>
                  <a:off x="2256" y="2544"/>
                  <a:ext cx="216" cy="216"/>
                  <a:chOff x="2928" y="2448"/>
                  <a:chExt cx="144" cy="144"/>
                </a:xfrm>
              </p:grpSpPr>
              <p:sp>
                <p:nvSpPr>
                  <p:cNvPr id="61464" name="Rectangle 2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65" name="Rectangle 2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66" name="Rectangle 2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67" name="Rectangle 2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68" name="Rectangle 2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69" name="Rectangle 2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70" name="Rectangle 3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71" name="Rectangle 3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72" name="Rectangle 3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" name="Group 33"/>
                <p:cNvGrpSpPr>
                  <a:grpSpLocks noChangeAspect="1"/>
                </p:cNvGrpSpPr>
                <p:nvPr/>
              </p:nvGrpSpPr>
              <p:grpSpPr bwMode="auto">
                <a:xfrm>
                  <a:off x="2256" y="2760"/>
                  <a:ext cx="216" cy="216"/>
                  <a:chOff x="2928" y="2448"/>
                  <a:chExt cx="144" cy="144"/>
                </a:xfrm>
              </p:grpSpPr>
              <p:sp>
                <p:nvSpPr>
                  <p:cNvPr id="61474" name="Rectangle 3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75" name="Rectangle 3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76" name="Rectangle 3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77" name="Rectangle 3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78" name="Rectangle 3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79" name="Rectangle 3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80" name="Rectangle 4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81" name="Rectangle 4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82" name="Rectangle 4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3" name="Group 43"/>
                <p:cNvGrpSpPr>
                  <a:grpSpLocks noChangeAspect="1"/>
                </p:cNvGrpSpPr>
                <p:nvPr/>
              </p:nvGrpSpPr>
              <p:grpSpPr bwMode="auto">
                <a:xfrm>
                  <a:off x="2040" y="2760"/>
                  <a:ext cx="216" cy="216"/>
                  <a:chOff x="2928" y="2448"/>
                  <a:chExt cx="144" cy="144"/>
                </a:xfrm>
              </p:grpSpPr>
              <p:sp>
                <p:nvSpPr>
                  <p:cNvPr id="61484" name="Rectangle 4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85" name="Rectangle 4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86" name="Rectangle 4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87" name="Rectangle 4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88" name="Rectangle 4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89" name="Rectangle 4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90" name="Rectangle 5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91" name="Rectangle 5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92" name="Rectangle 5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4" name="Group 53"/>
              <p:cNvGrpSpPr>
                <a:grpSpLocks/>
              </p:cNvGrpSpPr>
              <p:nvPr/>
            </p:nvGrpSpPr>
            <p:grpSpPr bwMode="auto">
              <a:xfrm>
                <a:off x="3384" y="1608"/>
                <a:ext cx="432" cy="432"/>
                <a:chOff x="2040" y="2544"/>
                <a:chExt cx="432" cy="432"/>
              </a:xfrm>
            </p:grpSpPr>
            <p:grpSp>
              <p:nvGrpSpPr>
                <p:cNvPr id="25" name="Group 54"/>
                <p:cNvGrpSpPr>
                  <a:grpSpLocks noChangeAspect="1"/>
                </p:cNvGrpSpPr>
                <p:nvPr/>
              </p:nvGrpSpPr>
              <p:grpSpPr bwMode="auto">
                <a:xfrm>
                  <a:off x="2040" y="2544"/>
                  <a:ext cx="216" cy="216"/>
                  <a:chOff x="2928" y="2448"/>
                  <a:chExt cx="144" cy="144"/>
                </a:xfrm>
              </p:grpSpPr>
              <p:sp>
                <p:nvSpPr>
                  <p:cNvPr id="61495" name="Rectangle 5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96" name="Rectangle 5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97" name="Rectangle 5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98" name="Rectangle 5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99" name="Rectangle 5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00" name="Rectangle 6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01" name="Rectangle 6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02" name="Rectangle 6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03" name="Rectangle 6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6" name="Group 64"/>
                <p:cNvGrpSpPr>
                  <a:grpSpLocks noChangeAspect="1"/>
                </p:cNvGrpSpPr>
                <p:nvPr/>
              </p:nvGrpSpPr>
              <p:grpSpPr bwMode="auto">
                <a:xfrm>
                  <a:off x="2256" y="2544"/>
                  <a:ext cx="216" cy="216"/>
                  <a:chOff x="2928" y="2448"/>
                  <a:chExt cx="144" cy="144"/>
                </a:xfrm>
              </p:grpSpPr>
              <p:sp>
                <p:nvSpPr>
                  <p:cNvPr id="61505" name="Rectangle 6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06" name="Rectangle 6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07" name="Rectangle 6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08" name="Rectangle 6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09" name="Rectangle 6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10" name="Rectangle 7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11" name="Rectangle 7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12" name="Rectangle 7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13" name="Rectangle 7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7" name="Group 74"/>
                <p:cNvGrpSpPr>
                  <a:grpSpLocks noChangeAspect="1"/>
                </p:cNvGrpSpPr>
                <p:nvPr/>
              </p:nvGrpSpPr>
              <p:grpSpPr bwMode="auto">
                <a:xfrm>
                  <a:off x="2256" y="2760"/>
                  <a:ext cx="216" cy="216"/>
                  <a:chOff x="2928" y="2448"/>
                  <a:chExt cx="144" cy="144"/>
                </a:xfrm>
              </p:grpSpPr>
              <p:sp>
                <p:nvSpPr>
                  <p:cNvPr id="61515" name="Rectangle 7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16" name="Rectangle 7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17" name="Rectangle 7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18" name="Rectangle 7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19" name="Rectangle 7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20" name="Rectangle 8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21" name="Rectangle 8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22" name="Rectangle 8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23" name="Rectangle 8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8" name="Group 84"/>
                <p:cNvGrpSpPr>
                  <a:grpSpLocks noChangeAspect="1"/>
                </p:cNvGrpSpPr>
                <p:nvPr/>
              </p:nvGrpSpPr>
              <p:grpSpPr bwMode="auto">
                <a:xfrm>
                  <a:off x="2040" y="2760"/>
                  <a:ext cx="216" cy="216"/>
                  <a:chOff x="2928" y="2448"/>
                  <a:chExt cx="144" cy="144"/>
                </a:xfrm>
              </p:grpSpPr>
              <p:sp>
                <p:nvSpPr>
                  <p:cNvPr id="61525" name="Rectangle 85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26" name="Rectangle 8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27" name="Rectangle 8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28" name="Rectangle 8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29" name="Rectangle 8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30" name="Rectangle 9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31" name="Rectangle 9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32" name="Rectangle 9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33" name="Rectangle 9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9" name="Group 94"/>
              <p:cNvGrpSpPr>
                <a:grpSpLocks/>
              </p:cNvGrpSpPr>
              <p:nvPr/>
            </p:nvGrpSpPr>
            <p:grpSpPr bwMode="auto">
              <a:xfrm>
                <a:off x="3816" y="1608"/>
                <a:ext cx="432" cy="432"/>
                <a:chOff x="2040" y="2544"/>
                <a:chExt cx="432" cy="432"/>
              </a:xfrm>
            </p:grpSpPr>
            <p:grpSp>
              <p:nvGrpSpPr>
                <p:cNvPr id="30" name="Group 95"/>
                <p:cNvGrpSpPr>
                  <a:grpSpLocks noChangeAspect="1"/>
                </p:cNvGrpSpPr>
                <p:nvPr/>
              </p:nvGrpSpPr>
              <p:grpSpPr bwMode="auto">
                <a:xfrm>
                  <a:off x="2040" y="2544"/>
                  <a:ext cx="216" cy="216"/>
                  <a:chOff x="2928" y="2448"/>
                  <a:chExt cx="144" cy="144"/>
                </a:xfrm>
              </p:grpSpPr>
              <p:sp>
                <p:nvSpPr>
                  <p:cNvPr id="61536" name="Rectangle 9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37" name="Rectangle 9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38" name="Rectangle 9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39" name="Rectangle 9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40" name="Rectangle 10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41" name="Rectangle 10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42" name="Rectangle 10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43" name="Rectangle 10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44" name="Rectangle 10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" name="Group 105"/>
                <p:cNvGrpSpPr>
                  <a:grpSpLocks noChangeAspect="1"/>
                </p:cNvGrpSpPr>
                <p:nvPr/>
              </p:nvGrpSpPr>
              <p:grpSpPr bwMode="auto">
                <a:xfrm>
                  <a:off x="2256" y="2544"/>
                  <a:ext cx="216" cy="216"/>
                  <a:chOff x="2928" y="2448"/>
                  <a:chExt cx="144" cy="144"/>
                </a:xfrm>
              </p:grpSpPr>
              <p:sp>
                <p:nvSpPr>
                  <p:cNvPr id="61546" name="Rectangle 10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47" name="Rectangle 10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48" name="Rectangle 10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49" name="Rectangle 10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50" name="Rectangle 11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51" name="Rectangle 11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52" name="Rectangle 11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53" name="Rectangle 11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54" name="Rectangle 11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1667" name="Group 115"/>
                <p:cNvGrpSpPr>
                  <a:grpSpLocks noChangeAspect="1"/>
                </p:cNvGrpSpPr>
                <p:nvPr/>
              </p:nvGrpSpPr>
              <p:grpSpPr bwMode="auto">
                <a:xfrm>
                  <a:off x="2256" y="2760"/>
                  <a:ext cx="216" cy="216"/>
                  <a:chOff x="2928" y="2448"/>
                  <a:chExt cx="144" cy="144"/>
                </a:xfrm>
              </p:grpSpPr>
              <p:sp>
                <p:nvSpPr>
                  <p:cNvPr id="61556" name="Rectangle 11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57" name="Rectangle 11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58" name="Rectangle 11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59" name="Rectangle 11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60" name="Rectangle 12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61" name="Rectangle 12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62" name="Rectangle 12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63" name="Rectangle 12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64" name="Rectangle 12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1669" name="Group 125"/>
                <p:cNvGrpSpPr>
                  <a:grpSpLocks noChangeAspect="1"/>
                </p:cNvGrpSpPr>
                <p:nvPr/>
              </p:nvGrpSpPr>
              <p:grpSpPr bwMode="auto">
                <a:xfrm>
                  <a:off x="2040" y="2760"/>
                  <a:ext cx="216" cy="216"/>
                  <a:chOff x="2928" y="2448"/>
                  <a:chExt cx="144" cy="144"/>
                </a:xfrm>
              </p:grpSpPr>
              <p:sp>
                <p:nvSpPr>
                  <p:cNvPr id="61566" name="Rectangle 126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67" name="Rectangle 127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68" name="Rectangle 128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69" name="Rectangle 129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70" name="Rectangle 130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96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71" name="Rectangle 131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72" name="Rectangle 13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3024" y="2544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73" name="Rectangle 13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28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74" name="Rectangle 134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2976" y="2448"/>
                    <a:ext cx="48" cy="48"/>
                  </a:xfrm>
                  <a:prstGeom prst="rect">
                    <a:avLst/>
                  </a:prstGeom>
                  <a:noFill/>
                  <a:ln w="9525" cap="rnd">
                    <a:solidFill>
                      <a:srgbClr val="11B119"/>
                    </a:solidFill>
                    <a:prstDash val="sysDot"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61670" name="Group 135"/>
              <p:cNvGrpSpPr>
                <a:grpSpLocks noChangeAspect="1"/>
              </p:cNvGrpSpPr>
              <p:nvPr/>
            </p:nvGrpSpPr>
            <p:grpSpPr bwMode="auto">
              <a:xfrm>
                <a:off x="3384" y="1392"/>
                <a:ext cx="216" cy="216"/>
                <a:chOff x="2928" y="2448"/>
                <a:chExt cx="144" cy="144"/>
              </a:xfrm>
            </p:grpSpPr>
            <p:sp>
              <p:nvSpPr>
                <p:cNvPr id="61576" name="Rectangle 13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577" name="Rectangle 13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578" name="Rectangle 13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579" name="Rectangle 13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580" name="Rectangle 14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581" name="Rectangle 14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582" name="Rectangle 14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583" name="Rectangle 14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584" name="Rectangle 14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671" name="Group 145"/>
              <p:cNvGrpSpPr>
                <a:grpSpLocks noChangeAspect="1"/>
              </p:cNvGrpSpPr>
              <p:nvPr/>
            </p:nvGrpSpPr>
            <p:grpSpPr bwMode="auto">
              <a:xfrm>
                <a:off x="3600" y="1392"/>
                <a:ext cx="216" cy="216"/>
                <a:chOff x="2928" y="2448"/>
                <a:chExt cx="144" cy="144"/>
              </a:xfrm>
            </p:grpSpPr>
            <p:sp>
              <p:nvSpPr>
                <p:cNvPr id="61586" name="Rectangle 14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587" name="Rectangle 14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588" name="Rectangle 14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589" name="Rectangle 14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590" name="Rectangle 15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591" name="Rectangle 15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592" name="Rectangle 15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593" name="Rectangle 15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594" name="Rectangle 15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672" name="Group 155"/>
              <p:cNvGrpSpPr>
                <a:grpSpLocks noChangeAspect="1"/>
              </p:cNvGrpSpPr>
              <p:nvPr/>
            </p:nvGrpSpPr>
            <p:grpSpPr bwMode="auto">
              <a:xfrm>
                <a:off x="3816" y="1392"/>
                <a:ext cx="216" cy="216"/>
                <a:chOff x="2928" y="2448"/>
                <a:chExt cx="144" cy="144"/>
              </a:xfrm>
            </p:grpSpPr>
            <p:sp>
              <p:nvSpPr>
                <p:cNvPr id="61596" name="Rectangle 15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597" name="Rectangle 15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598" name="Rectangle 15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599" name="Rectangle 15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00" name="Rectangle 16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01" name="Rectangle 16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02" name="Rectangle 16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03" name="Rectangle 16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04" name="Rectangle 16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673" name="Group 165"/>
              <p:cNvGrpSpPr>
                <a:grpSpLocks noChangeAspect="1"/>
              </p:cNvGrpSpPr>
              <p:nvPr/>
            </p:nvGrpSpPr>
            <p:grpSpPr bwMode="auto">
              <a:xfrm>
                <a:off x="4032" y="1392"/>
                <a:ext cx="216" cy="216"/>
                <a:chOff x="2928" y="2448"/>
                <a:chExt cx="144" cy="144"/>
              </a:xfrm>
            </p:grpSpPr>
            <p:sp>
              <p:nvSpPr>
                <p:cNvPr id="61606" name="Rectangle 16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07" name="Rectangle 16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08" name="Rectangle 16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09" name="Rectangle 16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10" name="Rectangle 17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11" name="Rectangle 17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12" name="Rectangle 17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13" name="Rectangle 17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14" name="Rectangle 17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674" name="Group 175"/>
              <p:cNvGrpSpPr>
                <a:grpSpLocks noChangeAspect="1"/>
              </p:cNvGrpSpPr>
              <p:nvPr/>
            </p:nvGrpSpPr>
            <p:grpSpPr bwMode="auto">
              <a:xfrm>
                <a:off x="4248" y="1392"/>
                <a:ext cx="216" cy="216"/>
                <a:chOff x="2928" y="2448"/>
                <a:chExt cx="144" cy="144"/>
              </a:xfrm>
            </p:grpSpPr>
            <p:sp>
              <p:nvSpPr>
                <p:cNvPr id="61616" name="Rectangle 17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17" name="Rectangle 17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18" name="Rectangle 17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19" name="Rectangle 17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20" name="Rectangle 18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21" name="Rectangle 18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22" name="Rectangle 18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23" name="Rectangle 18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24" name="Rectangle 18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675" name="Group 185"/>
              <p:cNvGrpSpPr>
                <a:grpSpLocks noChangeAspect="1"/>
              </p:cNvGrpSpPr>
              <p:nvPr/>
            </p:nvGrpSpPr>
            <p:grpSpPr bwMode="auto">
              <a:xfrm>
                <a:off x="4248" y="1608"/>
                <a:ext cx="216" cy="216"/>
                <a:chOff x="2928" y="2448"/>
                <a:chExt cx="144" cy="144"/>
              </a:xfrm>
            </p:grpSpPr>
            <p:sp>
              <p:nvSpPr>
                <p:cNvPr id="61626" name="Rectangle 18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27" name="Rectangle 18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28" name="Rectangle 18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29" name="Rectangle 18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30" name="Rectangle 19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31" name="Rectangle 19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32" name="Rectangle 19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33" name="Rectangle 19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34" name="Rectangle 19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676" name="Group 195"/>
              <p:cNvGrpSpPr>
                <a:grpSpLocks noChangeAspect="1"/>
              </p:cNvGrpSpPr>
              <p:nvPr/>
            </p:nvGrpSpPr>
            <p:grpSpPr bwMode="auto">
              <a:xfrm>
                <a:off x="4248" y="1824"/>
                <a:ext cx="216" cy="216"/>
                <a:chOff x="2928" y="2448"/>
                <a:chExt cx="144" cy="144"/>
              </a:xfrm>
            </p:grpSpPr>
            <p:sp>
              <p:nvSpPr>
                <p:cNvPr id="61636" name="Rectangle 19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37" name="Rectangle 19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38" name="Rectangle 19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39" name="Rectangle 19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40" name="Rectangle 20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41" name="Rectangle 20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42" name="Rectangle 20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43" name="Rectangle 20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44" name="Rectangle 20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677" name="Group 205"/>
              <p:cNvGrpSpPr>
                <a:grpSpLocks noChangeAspect="1"/>
              </p:cNvGrpSpPr>
              <p:nvPr/>
            </p:nvGrpSpPr>
            <p:grpSpPr bwMode="auto">
              <a:xfrm>
                <a:off x="4248" y="2040"/>
                <a:ext cx="216" cy="216"/>
                <a:chOff x="2928" y="2448"/>
                <a:chExt cx="144" cy="144"/>
              </a:xfrm>
            </p:grpSpPr>
            <p:sp>
              <p:nvSpPr>
                <p:cNvPr id="61646" name="Rectangle 20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47" name="Rectangle 20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48" name="Rectangle 20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49" name="Rectangle 20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50" name="Rectangle 21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51" name="Rectangle 21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52" name="Rectangle 21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53" name="Rectangle 21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54" name="Rectangle 21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678" name="Group 215"/>
              <p:cNvGrpSpPr>
                <a:grpSpLocks noChangeAspect="1"/>
              </p:cNvGrpSpPr>
              <p:nvPr/>
            </p:nvGrpSpPr>
            <p:grpSpPr bwMode="auto">
              <a:xfrm>
                <a:off x="4248" y="2256"/>
                <a:ext cx="216" cy="216"/>
                <a:chOff x="2928" y="2448"/>
                <a:chExt cx="144" cy="144"/>
              </a:xfrm>
            </p:grpSpPr>
            <p:sp>
              <p:nvSpPr>
                <p:cNvPr id="61656" name="Rectangle 21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57" name="Rectangle 21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58" name="Rectangle 21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59" name="Rectangle 21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60" name="Rectangle 22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61" name="Rectangle 22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62" name="Rectangle 22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63" name="Rectangle 22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664" name="Rectangle 22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9525" cap="rnd">
                  <a:solidFill>
                    <a:srgbClr val="11B119"/>
                  </a:solidFill>
                  <a:prstDash val="sysDot"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1665" name="Rectangle 225"/>
              <p:cNvSpPr>
                <a:spLocks noChangeAspect="1" noChangeArrowheads="1"/>
              </p:cNvSpPr>
              <p:nvPr/>
            </p:nvSpPr>
            <p:spPr bwMode="auto">
              <a:xfrm flipV="1">
                <a:off x="3888" y="1896"/>
                <a:ext cx="72" cy="72"/>
              </a:xfrm>
              <a:prstGeom prst="rect">
                <a:avLst/>
              </a:prstGeom>
              <a:noFill/>
              <a:ln w="9525" cap="rnd">
                <a:solidFill>
                  <a:srgbClr val="11B119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1666" name="Rectangle 226"/>
            <p:cNvSpPr>
              <a:spLocks noChangeArrowheads="1"/>
            </p:cNvSpPr>
            <p:nvPr/>
          </p:nvSpPr>
          <p:spPr bwMode="auto">
            <a:xfrm>
              <a:off x="3598" y="1728"/>
              <a:ext cx="242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700">
                  <a:effectLst>
                    <a:outerShdw blurRad="38100" dist="38100" dir="2700000" algn="tl">
                      <a:srgbClr val="1C1C1C"/>
                    </a:outerShdw>
                  </a:effectLst>
                </a:rPr>
                <a:t>p</a:t>
              </a:r>
              <a:endParaRPr lang="en-US" altLang="zh-CN" sz="2700">
                <a:effectLst>
                  <a:outerShdw blurRad="38100" dist="38100" dir="2700000" algn="tl">
                    <a:srgbClr val="1C1C1C"/>
                  </a:outerShdw>
                </a:effectLst>
                <a:ea typeface="宋体" charset="-122"/>
              </a:endParaRPr>
            </a:p>
          </p:txBody>
        </p:sp>
      </p:grp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Efros &amp; Leung ’99 extended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3962400"/>
            <a:ext cx="8686800" cy="609600"/>
          </a:xfrm>
        </p:spPr>
        <p:txBody>
          <a:bodyPr/>
          <a:lstStyle/>
          <a:p>
            <a:pPr>
              <a:spcBef>
                <a:spcPts val="700"/>
              </a:spcBef>
            </a:pPr>
            <a:r>
              <a:rPr lang="en-GB" sz="2800" u="sng"/>
              <a:t>Observation:</a:t>
            </a:r>
            <a:r>
              <a:rPr lang="en-GB" sz="2800"/>
              <a:t> neighbor pixels are highly correlated</a:t>
            </a:r>
          </a:p>
        </p:txBody>
      </p:sp>
      <p:grpSp>
        <p:nvGrpSpPr>
          <p:cNvPr id="61679" name="Group 4"/>
          <p:cNvGrpSpPr>
            <a:grpSpLocks/>
          </p:cNvGrpSpPr>
          <p:nvPr/>
        </p:nvGrpSpPr>
        <p:grpSpPr bwMode="auto">
          <a:xfrm>
            <a:off x="5911850" y="1447800"/>
            <a:ext cx="2546350" cy="1844675"/>
            <a:chOff x="412" y="1067"/>
            <a:chExt cx="1604" cy="1162"/>
          </a:xfrm>
        </p:grpSpPr>
        <p:pic>
          <p:nvPicPr>
            <p:cNvPr id="53253" name="Picture 5" descr="H:\ex2.tif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32" y="1125"/>
              <a:ext cx="1536" cy="1104"/>
            </a:xfrm>
            <a:prstGeom prst="rect">
              <a:avLst/>
            </a:prstGeom>
            <a:noFill/>
          </p:spPr>
        </p:pic>
        <p:grpSp>
          <p:nvGrpSpPr>
            <p:cNvPr id="61680" name="Group 6"/>
            <p:cNvGrpSpPr>
              <a:grpSpLocks noChangeAspect="1"/>
            </p:cNvGrpSpPr>
            <p:nvPr/>
          </p:nvGrpSpPr>
          <p:grpSpPr bwMode="auto">
            <a:xfrm>
              <a:off x="702" y="1680"/>
              <a:ext cx="432" cy="262"/>
              <a:chOff x="3288" y="1296"/>
              <a:chExt cx="1080" cy="648"/>
            </a:xfrm>
          </p:grpSpPr>
          <p:sp>
            <p:nvSpPr>
              <p:cNvPr id="53255" name="Rectangle 7"/>
              <p:cNvSpPr>
                <a:spLocks noChangeAspect="1" noChangeArrowheads="1"/>
              </p:cNvSpPr>
              <p:nvPr/>
            </p:nvSpPr>
            <p:spPr bwMode="auto">
              <a:xfrm flipV="1">
                <a:off x="3288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56" name="Rectangle 8"/>
              <p:cNvSpPr>
                <a:spLocks noChangeAspect="1" noChangeArrowheads="1"/>
              </p:cNvSpPr>
              <p:nvPr/>
            </p:nvSpPr>
            <p:spPr bwMode="auto">
              <a:xfrm flipV="1">
                <a:off x="3360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57" name="Rectangle 9"/>
              <p:cNvSpPr>
                <a:spLocks noChangeAspect="1" noChangeArrowheads="1"/>
              </p:cNvSpPr>
              <p:nvPr/>
            </p:nvSpPr>
            <p:spPr bwMode="auto">
              <a:xfrm flipV="1">
                <a:off x="3432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58" name="Rectangle 10"/>
              <p:cNvSpPr>
                <a:spLocks noChangeAspect="1" noChangeArrowheads="1"/>
              </p:cNvSpPr>
              <p:nvPr/>
            </p:nvSpPr>
            <p:spPr bwMode="auto">
              <a:xfrm flipV="1">
                <a:off x="3432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59" name="Rectangle 11"/>
              <p:cNvSpPr>
                <a:spLocks noChangeAspect="1" noChangeArrowheads="1"/>
              </p:cNvSpPr>
              <p:nvPr/>
            </p:nvSpPr>
            <p:spPr bwMode="auto">
              <a:xfrm flipV="1">
                <a:off x="3288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60" name="Rectangle 12"/>
              <p:cNvSpPr>
                <a:spLocks noChangeAspect="1" noChangeArrowheads="1"/>
              </p:cNvSpPr>
              <p:nvPr/>
            </p:nvSpPr>
            <p:spPr bwMode="auto">
              <a:xfrm flipV="1">
                <a:off x="3360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61" name="Rectangle 13"/>
              <p:cNvSpPr>
                <a:spLocks noChangeAspect="1" noChangeArrowheads="1"/>
              </p:cNvSpPr>
              <p:nvPr/>
            </p:nvSpPr>
            <p:spPr bwMode="auto">
              <a:xfrm flipV="1">
                <a:off x="3504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62" name="Rectangle 14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656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63" name="Rectangle 15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64" name="Rectangle 16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65" name="Rectangle 17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66" name="Rectangle 18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656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67" name="Rectangle 19"/>
              <p:cNvSpPr>
                <a:spLocks noChangeAspect="1" noChangeArrowheads="1"/>
              </p:cNvSpPr>
              <p:nvPr/>
            </p:nvSpPr>
            <p:spPr bwMode="auto">
              <a:xfrm flipV="1">
                <a:off x="3504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68" name="Rectangle 20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61681" name="Group 21"/>
              <p:cNvGrpSpPr>
                <a:grpSpLocks noChangeAspect="1"/>
              </p:cNvGrpSpPr>
              <p:nvPr/>
            </p:nvGrpSpPr>
            <p:grpSpPr bwMode="auto">
              <a:xfrm>
                <a:off x="3720" y="1512"/>
                <a:ext cx="216" cy="216"/>
                <a:chOff x="2928" y="2448"/>
                <a:chExt cx="144" cy="144"/>
              </a:xfrm>
            </p:grpSpPr>
            <p:sp>
              <p:nvSpPr>
                <p:cNvPr id="53270" name="Rectangle 2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71" name="Rectangle 2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72" name="Rectangle 2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73" name="Rectangle 2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74" name="Rectangle 2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75" name="Rectangle 2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76" name="Rectangle 2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77" name="Rectangle 2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78" name="Rectangle 3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682" name="Group 31"/>
              <p:cNvGrpSpPr>
                <a:grpSpLocks noChangeAspect="1"/>
              </p:cNvGrpSpPr>
              <p:nvPr/>
            </p:nvGrpSpPr>
            <p:grpSpPr bwMode="auto">
              <a:xfrm>
                <a:off x="3936" y="1512"/>
                <a:ext cx="216" cy="216"/>
                <a:chOff x="2928" y="2448"/>
                <a:chExt cx="144" cy="144"/>
              </a:xfrm>
            </p:grpSpPr>
            <p:sp>
              <p:nvSpPr>
                <p:cNvPr id="53280" name="Rectangle 3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81" name="Rectangle 3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82" name="Rectangle 3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83" name="Rectangle 3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84" name="Rectangle 3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85" name="Rectangle 3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86" name="Rectangle 3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87" name="Rectangle 3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288" name="Rectangle 4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3289" name="Rectangle 41"/>
              <p:cNvSpPr>
                <a:spLocks noChangeAspect="1" noChangeArrowheads="1"/>
              </p:cNvSpPr>
              <p:nvPr/>
            </p:nvSpPr>
            <p:spPr bwMode="auto">
              <a:xfrm flipV="1">
                <a:off x="3936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90" name="Rectangle 42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87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91" name="Rectangle 43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92" name="Rectangle 44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93" name="Rectangle 45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94" name="Rectangle 46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87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95" name="Rectangle 47"/>
              <p:cNvSpPr>
                <a:spLocks noChangeAspect="1" noChangeArrowheads="1"/>
              </p:cNvSpPr>
              <p:nvPr/>
            </p:nvSpPr>
            <p:spPr bwMode="auto">
              <a:xfrm flipV="1">
                <a:off x="3936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96" name="Rectangle 48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97" name="Rectangle 49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98" name="Rectangle 50"/>
              <p:cNvSpPr>
                <a:spLocks noChangeAspect="1" noChangeArrowheads="1"/>
              </p:cNvSpPr>
              <p:nvPr/>
            </p:nvSpPr>
            <p:spPr bwMode="auto">
              <a:xfrm flipV="1">
                <a:off x="3864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99" name="Rectangle 51"/>
              <p:cNvSpPr>
                <a:spLocks noChangeAspect="1" noChangeArrowheads="1"/>
              </p:cNvSpPr>
              <p:nvPr/>
            </p:nvSpPr>
            <p:spPr bwMode="auto">
              <a:xfrm flipV="1">
                <a:off x="3864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00" name="Rectangle 52"/>
              <p:cNvSpPr>
                <a:spLocks noChangeAspect="1" noChangeArrowheads="1"/>
              </p:cNvSpPr>
              <p:nvPr/>
            </p:nvSpPr>
            <p:spPr bwMode="auto">
              <a:xfrm flipV="1">
                <a:off x="3720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01" name="Rectangle 53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61683" name="Group 54"/>
              <p:cNvGrpSpPr>
                <a:grpSpLocks noChangeAspect="1"/>
              </p:cNvGrpSpPr>
              <p:nvPr/>
            </p:nvGrpSpPr>
            <p:grpSpPr bwMode="auto">
              <a:xfrm>
                <a:off x="3288" y="1296"/>
                <a:ext cx="216" cy="216"/>
                <a:chOff x="2928" y="2448"/>
                <a:chExt cx="144" cy="144"/>
              </a:xfrm>
            </p:grpSpPr>
            <p:sp>
              <p:nvSpPr>
                <p:cNvPr id="53303" name="Rectangle 5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04" name="Rectangle 5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05" name="Rectangle 5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06" name="Rectangle 5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07" name="Rectangle 5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08" name="Rectangle 6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09" name="Rectangle 6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10" name="Rectangle 6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11" name="Rectangle 6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684" name="Group 64"/>
              <p:cNvGrpSpPr>
                <a:grpSpLocks noChangeAspect="1"/>
              </p:cNvGrpSpPr>
              <p:nvPr/>
            </p:nvGrpSpPr>
            <p:grpSpPr bwMode="auto">
              <a:xfrm>
                <a:off x="3504" y="1296"/>
                <a:ext cx="216" cy="216"/>
                <a:chOff x="2928" y="2448"/>
                <a:chExt cx="144" cy="144"/>
              </a:xfrm>
            </p:grpSpPr>
            <p:sp>
              <p:nvSpPr>
                <p:cNvPr id="53313" name="Rectangle 6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14" name="Rectangle 6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15" name="Rectangle 6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16" name="Rectangle 6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17" name="Rectangle 6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18" name="Rectangle 7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19" name="Rectangle 7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20" name="Rectangle 7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21" name="Rectangle 7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685" name="Group 74"/>
              <p:cNvGrpSpPr>
                <a:grpSpLocks noChangeAspect="1"/>
              </p:cNvGrpSpPr>
              <p:nvPr/>
            </p:nvGrpSpPr>
            <p:grpSpPr bwMode="auto">
              <a:xfrm>
                <a:off x="3720" y="1296"/>
                <a:ext cx="216" cy="216"/>
                <a:chOff x="2928" y="2448"/>
                <a:chExt cx="144" cy="144"/>
              </a:xfrm>
            </p:grpSpPr>
            <p:sp>
              <p:nvSpPr>
                <p:cNvPr id="53323" name="Rectangle 7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24" name="Rectangle 7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25" name="Rectangle 7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26" name="Rectangle 7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27" name="Rectangle 7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28" name="Rectangle 8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29" name="Rectangle 8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30" name="Rectangle 8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31" name="Rectangle 8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686" name="Group 84"/>
              <p:cNvGrpSpPr>
                <a:grpSpLocks noChangeAspect="1"/>
              </p:cNvGrpSpPr>
              <p:nvPr/>
            </p:nvGrpSpPr>
            <p:grpSpPr bwMode="auto">
              <a:xfrm>
                <a:off x="3936" y="1296"/>
                <a:ext cx="216" cy="216"/>
                <a:chOff x="2928" y="2448"/>
                <a:chExt cx="144" cy="144"/>
              </a:xfrm>
            </p:grpSpPr>
            <p:sp>
              <p:nvSpPr>
                <p:cNvPr id="53333" name="Rectangle 8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34" name="Rectangle 8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35" name="Rectangle 8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36" name="Rectangle 8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37" name="Rectangle 8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38" name="Rectangle 9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39" name="Rectangle 9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40" name="Rectangle 9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41" name="Rectangle 9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687" name="Group 94"/>
              <p:cNvGrpSpPr>
                <a:grpSpLocks noChangeAspect="1"/>
              </p:cNvGrpSpPr>
              <p:nvPr/>
            </p:nvGrpSpPr>
            <p:grpSpPr bwMode="auto">
              <a:xfrm>
                <a:off x="4152" y="1296"/>
                <a:ext cx="216" cy="216"/>
                <a:chOff x="2928" y="2448"/>
                <a:chExt cx="144" cy="144"/>
              </a:xfrm>
            </p:grpSpPr>
            <p:sp>
              <p:nvSpPr>
                <p:cNvPr id="53343" name="Rectangle 9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44" name="Rectangle 9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45" name="Rectangle 9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46" name="Rectangle 9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47" name="Rectangle 9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48" name="Rectangle 10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49" name="Rectangle 10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50" name="Rectangle 10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51" name="Rectangle 10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688" name="Group 104"/>
              <p:cNvGrpSpPr>
                <a:grpSpLocks noChangeAspect="1"/>
              </p:cNvGrpSpPr>
              <p:nvPr/>
            </p:nvGrpSpPr>
            <p:grpSpPr bwMode="auto">
              <a:xfrm>
                <a:off x="4152" y="1512"/>
                <a:ext cx="216" cy="216"/>
                <a:chOff x="2928" y="2448"/>
                <a:chExt cx="144" cy="144"/>
              </a:xfrm>
            </p:grpSpPr>
            <p:sp>
              <p:nvSpPr>
                <p:cNvPr id="53353" name="Rectangle 10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54" name="Rectangle 10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55" name="Rectangle 10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56" name="Rectangle 10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57" name="Rectangle 10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58" name="Rectangle 11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59" name="Rectangle 11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0" name="Rectangle 11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1" name="Rectangle 11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689" name="Group 114"/>
              <p:cNvGrpSpPr>
                <a:grpSpLocks noChangeAspect="1"/>
              </p:cNvGrpSpPr>
              <p:nvPr/>
            </p:nvGrpSpPr>
            <p:grpSpPr bwMode="auto">
              <a:xfrm>
                <a:off x="4152" y="1728"/>
                <a:ext cx="216" cy="216"/>
                <a:chOff x="2928" y="2448"/>
                <a:chExt cx="144" cy="144"/>
              </a:xfrm>
            </p:grpSpPr>
            <p:sp>
              <p:nvSpPr>
                <p:cNvPr id="53363" name="Rectangle 11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4" name="Rectangle 11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5" name="Rectangle 11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6" name="Rectangle 11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7" name="Rectangle 11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8" name="Rectangle 12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9" name="Rectangle 12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0" name="Rectangle 12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1" name="Rectangle 12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3372" name="Rectangle 124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800"/>
                <a:ext cx="72" cy="72"/>
              </a:xfrm>
              <a:prstGeom prst="rect">
                <a:avLst/>
              </a:prstGeom>
              <a:solidFill>
                <a:srgbClr val="11B119"/>
              </a:solidFill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1690" name="Group 125"/>
            <p:cNvGrpSpPr>
              <a:grpSpLocks noChangeAspect="1"/>
            </p:cNvGrpSpPr>
            <p:nvPr/>
          </p:nvGrpSpPr>
          <p:grpSpPr bwMode="auto">
            <a:xfrm>
              <a:off x="1584" y="1882"/>
              <a:ext cx="432" cy="262"/>
              <a:chOff x="3288" y="1296"/>
              <a:chExt cx="1080" cy="648"/>
            </a:xfrm>
          </p:grpSpPr>
          <p:sp>
            <p:nvSpPr>
              <p:cNvPr id="53374" name="Rectangle 126"/>
              <p:cNvSpPr>
                <a:spLocks noChangeAspect="1" noChangeArrowheads="1"/>
              </p:cNvSpPr>
              <p:nvPr/>
            </p:nvSpPr>
            <p:spPr bwMode="auto">
              <a:xfrm flipV="1">
                <a:off x="3288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75" name="Rectangle 127"/>
              <p:cNvSpPr>
                <a:spLocks noChangeAspect="1" noChangeArrowheads="1"/>
              </p:cNvSpPr>
              <p:nvPr/>
            </p:nvSpPr>
            <p:spPr bwMode="auto">
              <a:xfrm flipV="1">
                <a:off x="3360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76" name="Rectangle 128"/>
              <p:cNvSpPr>
                <a:spLocks noChangeAspect="1" noChangeArrowheads="1"/>
              </p:cNvSpPr>
              <p:nvPr/>
            </p:nvSpPr>
            <p:spPr bwMode="auto">
              <a:xfrm flipV="1">
                <a:off x="3432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77" name="Rectangle 129"/>
              <p:cNvSpPr>
                <a:spLocks noChangeAspect="1" noChangeArrowheads="1"/>
              </p:cNvSpPr>
              <p:nvPr/>
            </p:nvSpPr>
            <p:spPr bwMode="auto">
              <a:xfrm flipV="1">
                <a:off x="3432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78" name="Rectangle 130"/>
              <p:cNvSpPr>
                <a:spLocks noChangeAspect="1" noChangeArrowheads="1"/>
              </p:cNvSpPr>
              <p:nvPr/>
            </p:nvSpPr>
            <p:spPr bwMode="auto">
              <a:xfrm flipV="1">
                <a:off x="3288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79" name="Rectangle 131"/>
              <p:cNvSpPr>
                <a:spLocks noChangeAspect="1" noChangeArrowheads="1"/>
              </p:cNvSpPr>
              <p:nvPr/>
            </p:nvSpPr>
            <p:spPr bwMode="auto">
              <a:xfrm flipV="1">
                <a:off x="3360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80" name="Rectangle 132"/>
              <p:cNvSpPr>
                <a:spLocks noChangeAspect="1" noChangeArrowheads="1"/>
              </p:cNvSpPr>
              <p:nvPr/>
            </p:nvSpPr>
            <p:spPr bwMode="auto">
              <a:xfrm flipV="1">
                <a:off x="3504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81" name="Rectangle 133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656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82" name="Rectangle 134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83" name="Rectangle 135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84" name="Rectangle 136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85" name="Rectangle 137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656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86" name="Rectangle 138"/>
              <p:cNvSpPr>
                <a:spLocks noChangeAspect="1" noChangeArrowheads="1"/>
              </p:cNvSpPr>
              <p:nvPr/>
            </p:nvSpPr>
            <p:spPr bwMode="auto">
              <a:xfrm flipV="1">
                <a:off x="3504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87" name="Rectangle 139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61691" name="Group 140"/>
              <p:cNvGrpSpPr>
                <a:grpSpLocks noChangeAspect="1"/>
              </p:cNvGrpSpPr>
              <p:nvPr/>
            </p:nvGrpSpPr>
            <p:grpSpPr bwMode="auto">
              <a:xfrm>
                <a:off x="3720" y="1512"/>
                <a:ext cx="216" cy="216"/>
                <a:chOff x="2928" y="2448"/>
                <a:chExt cx="144" cy="144"/>
              </a:xfrm>
            </p:grpSpPr>
            <p:sp>
              <p:nvSpPr>
                <p:cNvPr id="53389" name="Rectangle 14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0" name="Rectangle 14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1" name="Rectangle 14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2" name="Rectangle 14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3" name="Rectangle 14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4" name="Rectangle 14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5" name="Rectangle 14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6" name="Rectangle 14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7" name="Rectangle 14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692" name="Group 150"/>
              <p:cNvGrpSpPr>
                <a:grpSpLocks noChangeAspect="1"/>
              </p:cNvGrpSpPr>
              <p:nvPr/>
            </p:nvGrpSpPr>
            <p:grpSpPr bwMode="auto">
              <a:xfrm>
                <a:off x="3936" y="1512"/>
                <a:ext cx="216" cy="216"/>
                <a:chOff x="2928" y="2448"/>
                <a:chExt cx="144" cy="144"/>
              </a:xfrm>
            </p:grpSpPr>
            <p:sp>
              <p:nvSpPr>
                <p:cNvPr id="53399" name="Rectangle 15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0" name="Rectangle 15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1" name="Rectangle 15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2" name="Rectangle 15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3" name="Rectangle 15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4" name="Rectangle 15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5" name="Rectangle 15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6" name="Rectangle 15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7" name="Rectangle 15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3408" name="Rectangle 160"/>
              <p:cNvSpPr>
                <a:spLocks noChangeAspect="1" noChangeArrowheads="1"/>
              </p:cNvSpPr>
              <p:nvPr/>
            </p:nvSpPr>
            <p:spPr bwMode="auto">
              <a:xfrm flipV="1">
                <a:off x="3936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09" name="Rectangle 161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87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10" name="Rectangle 162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11" name="Rectangle 163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12" name="Rectangle 164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13" name="Rectangle 165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87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14" name="Rectangle 166"/>
              <p:cNvSpPr>
                <a:spLocks noChangeAspect="1" noChangeArrowheads="1"/>
              </p:cNvSpPr>
              <p:nvPr/>
            </p:nvSpPr>
            <p:spPr bwMode="auto">
              <a:xfrm flipV="1">
                <a:off x="3936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15" name="Rectangle 167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16" name="Rectangle 168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17" name="Rectangle 169"/>
              <p:cNvSpPr>
                <a:spLocks noChangeAspect="1" noChangeArrowheads="1"/>
              </p:cNvSpPr>
              <p:nvPr/>
            </p:nvSpPr>
            <p:spPr bwMode="auto">
              <a:xfrm flipV="1">
                <a:off x="3864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18" name="Rectangle 170"/>
              <p:cNvSpPr>
                <a:spLocks noChangeAspect="1" noChangeArrowheads="1"/>
              </p:cNvSpPr>
              <p:nvPr/>
            </p:nvSpPr>
            <p:spPr bwMode="auto">
              <a:xfrm flipV="1">
                <a:off x="3864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19" name="Rectangle 171"/>
              <p:cNvSpPr>
                <a:spLocks noChangeAspect="1" noChangeArrowheads="1"/>
              </p:cNvSpPr>
              <p:nvPr/>
            </p:nvSpPr>
            <p:spPr bwMode="auto">
              <a:xfrm flipV="1">
                <a:off x="3720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20" name="Rectangle 172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61693" name="Group 173"/>
              <p:cNvGrpSpPr>
                <a:grpSpLocks noChangeAspect="1"/>
              </p:cNvGrpSpPr>
              <p:nvPr/>
            </p:nvGrpSpPr>
            <p:grpSpPr bwMode="auto">
              <a:xfrm>
                <a:off x="3288" y="1296"/>
                <a:ext cx="216" cy="216"/>
                <a:chOff x="2928" y="2448"/>
                <a:chExt cx="144" cy="144"/>
              </a:xfrm>
            </p:grpSpPr>
            <p:sp>
              <p:nvSpPr>
                <p:cNvPr id="53422" name="Rectangle 17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23" name="Rectangle 17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24" name="Rectangle 17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25" name="Rectangle 17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26" name="Rectangle 17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27" name="Rectangle 17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28" name="Rectangle 18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29" name="Rectangle 18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30" name="Rectangle 18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694" name="Group 183"/>
              <p:cNvGrpSpPr>
                <a:grpSpLocks noChangeAspect="1"/>
              </p:cNvGrpSpPr>
              <p:nvPr/>
            </p:nvGrpSpPr>
            <p:grpSpPr bwMode="auto">
              <a:xfrm>
                <a:off x="3504" y="1296"/>
                <a:ext cx="216" cy="216"/>
                <a:chOff x="2928" y="2448"/>
                <a:chExt cx="144" cy="144"/>
              </a:xfrm>
            </p:grpSpPr>
            <p:sp>
              <p:nvSpPr>
                <p:cNvPr id="53432" name="Rectangle 18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33" name="Rectangle 18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34" name="Rectangle 18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35" name="Rectangle 18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36" name="Rectangle 18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37" name="Rectangle 18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38" name="Rectangle 19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39" name="Rectangle 19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40" name="Rectangle 19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695" name="Group 193"/>
              <p:cNvGrpSpPr>
                <a:grpSpLocks noChangeAspect="1"/>
              </p:cNvGrpSpPr>
              <p:nvPr/>
            </p:nvGrpSpPr>
            <p:grpSpPr bwMode="auto">
              <a:xfrm>
                <a:off x="3720" y="1296"/>
                <a:ext cx="216" cy="216"/>
                <a:chOff x="2928" y="2448"/>
                <a:chExt cx="144" cy="144"/>
              </a:xfrm>
            </p:grpSpPr>
            <p:sp>
              <p:nvSpPr>
                <p:cNvPr id="53442" name="Rectangle 19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43" name="Rectangle 19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44" name="Rectangle 19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45" name="Rectangle 19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46" name="Rectangle 19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47" name="Rectangle 19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48" name="Rectangle 20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49" name="Rectangle 20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50" name="Rectangle 20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080" name="Group 203"/>
              <p:cNvGrpSpPr>
                <a:grpSpLocks noChangeAspect="1"/>
              </p:cNvGrpSpPr>
              <p:nvPr/>
            </p:nvGrpSpPr>
            <p:grpSpPr bwMode="auto">
              <a:xfrm>
                <a:off x="3936" y="1296"/>
                <a:ext cx="216" cy="216"/>
                <a:chOff x="2928" y="2448"/>
                <a:chExt cx="144" cy="144"/>
              </a:xfrm>
            </p:grpSpPr>
            <p:sp>
              <p:nvSpPr>
                <p:cNvPr id="53452" name="Rectangle 20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53" name="Rectangle 20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54" name="Rectangle 20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55" name="Rectangle 20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56" name="Rectangle 20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57" name="Rectangle 20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58" name="Rectangle 21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59" name="Rectangle 21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60" name="Rectangle 21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081" name="Group 213"/>
              <p:cNvGrpSpPr>
                <a:grpSpLocks noChangeAspect="1"/>
              </p:cNvGrpSpPr>
              <p:nvPr/>
            </p:nvGrpSpPr>
            <p:grpSpPr bwMode="auto">
              <a:xfrm>
                <a:off x="4152" y="1296"/>
                <a:ext cx="216" cy="216"/>
                <a:chOff x="2928" y="2448"/>
                <a:chExt cx="144" cy="144"/>
              </a:xfrm>
            </p:grpSpPr>
            <p:sp>
              <p:nvSpPr>
                <p:cNvPr id="53462" name="Rectangle 21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63" name="Rectangle 21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64" name="Rectangle 21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65" name="Rectangle 21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66" name="Rectangle 21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67" name="Rectangle 21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68" name="Rectangle 22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69" name="Rectangle 22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70" name="Rectangle 22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082" name="Group 223"/>
              <p:cNvGrpSpPr>
                <a:grpSpLocks noChangeAspect="1"/>
              </p:cNvGrpSpPr>
              <p:nvPr/>
            </p:nvGrpSpPr>
            <p:grpSpPr bwMode="auto">
              <a:xfrm>
                <a:off x="4152" y="1512"/>
                <a:ext cx="216" cy="216"/>
                <a:chOff x="2928" y="2448"/>
                <a:chExt cx="144" cy="144"/>
              </a:xfrm>
            </p:grpSpPr>
            <p:sp>
              <p:nvSpPr>
                <p:cNvPr id="53472" name="Rectangle 22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73" name="Rectangle 22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74" name="Rectangle 22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75" name="Rectangle 22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76" name="Rectangle 22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77" name="Rectangle 22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78" name="Rectangle 23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79" name="Rectangle 23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80" name="Rectangle 23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083" name="Group 233"/>
              <p:cNvGrpSpPr>
                <a:grpSpLocks noChangeAspect="1"/>
              </p:cNvGrpSpPr>
              <p:nvPr/>
            </p:nvGrpSpPr>
            <p:grpSpPr bwMode="auto">
              <a:xfrm>
                <a:off x="4152" y="1728"/>
                <a:ext cx="216" cy="216"/>
                <a:chOff x="2928" y="2448"/>
                <a:chExt cx="144" cy="144"/>
              </a:xfrm>
            </p:grpSpPr>
            <p:sp>
              <p:nvSpPr>
                <p:cNvPr id="53482" name="Rectangle 23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83" name="Rectangle 23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84" name="Rectangle 23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85" name="Rectangle 23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86" name="Rectangle 23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87" name="Rectangle 23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88" name="Rectangle 24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89" name="Rectangle 24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90" name="Rectangle 24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3491" name="Rectangle 243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800"/>
                <a:ext cx="72" cy="72"/>
              </a:xfrm>
              <a:prstGeom prst="rect">
                <a:avLst/>
              </a:prstGeom>
              <a:solidFill>
                <a:srgbClr val="11B119"/>
              </a:solidFill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4084" name="Group 244"/>
            <p:cNvGrpSpPr>
              <a:grpSpLocks noChangeAspect="1"/>
            </p:cNvGrpSpPr>
            <p:nvPr/>
          </p:nvGrpSpPr>
          <p:grpSpPr bwMode="auto">
            <a:xfrm>
              <a:off x="1320" y="1277"/>
              <a:ext cx="432" cy="262"/>
              <a:chOff x="3288" y="1296"/>
              <a:chExt cx="1080" cy="648"/>
            </a:xfrm>
          </p:grpSpPr>
          <p:sp>
            <p:nvSpPr>
              <p:cNvPr id="53493" name="Rectangle 245"/>
              <p:cNvSpPr>
                <a:spLocks noChangeAspect="1" noChangeArrowheads="1"/>
              </p:cNvSpPr>
              <p:nvPr/>
            </p:nvSpPr>
            <p:spPr bwMode="auto">
              <a:xfrm flipV="1">
                <a:off x="3288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4" name="Rectangle 246"/>
              <p:cNvSpPr>
                <a:spLocks noChangeAspect="1" noChangeArrowheads="1"/>
              </p:cNvSpPr>
              <p:nvPr/>
            </p:nvSpPr>
            <p:spPr bwMode="auto">
              <a:xfrm flipV="1">
                <a:off x="3360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5" name="Rectangle 247"/>
              <p:cNvSpPr>
                <a:spLocks noChangeAspect="1" noChangeArrowheads="1"/>
              </p:cNvSpPr>
              <p:nvPr/>
            </p:nvSpPr>
            <p:spPr bwMode="auto">
              <a:xfrm flipV="1">
                <a:off x="3432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6" name="Rectangle 248"/>
              <p:cNvSpPr>
                <a:spLocks noChangeAspect="1" noChangeArrowheads="1"/>
              </p:cNvSpPr>
              <p:nvPr/>
            </p:nvSpPr>
            <p:spPr bwMode="auto">
              <a:xfrm flipV="1">
                <a:off x="3432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7" name="Rectangle 249"/>
              <p:cNvSpPr>
                <a:spLocks noChangeAspect="1" noChangeArrowheads="1"/>
              </p:cNvSpPr>
              <p:nvPr/>
            </p:nvSpPr>
            <p:spPr bwMode="auto">
              <a:xfrm flipV="1">
                <a:off x="3288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8" name="Rectangle 250"/>
              <p:cNvSpPr>
                <a:spLocks noChangeAspect="1" noChangeArrowheads="1"/>
              </p:cNvSpPr>
              <p:nvPr/>
            </p:nvSpPr>
            <p:spPr bwMode="auto">
              <a:xfrm flipV="1">
                <a:off x="3360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9" name="Rectangle 251"/>
              <p:cNvSpPr>
                <a:spLocks noChangeAspect="1" noChangeArrowheads="1"/>
              </p:cNvSpPr>
              <p:nvPr/>
            </p:nvSpPr>
            <p:spPr bwMode="auto">
              <a:xfrm flipV="1">
                <a:off x="3504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00" name="Rectangle 252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656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01" name="Rectangle 253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02" name="Rectangle 254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03" name="Rectangle 255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04" name="Rectangle 256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656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05" name="Rectangle 257"/>
              <p:cNvSpPr>
                <a:spLocks noChangeAspect="1" noChangeArrowheads="1"/>
              </p:cNvSpPr>
              <p:nvPr/>
            </p:nvSpPr>
            <p:spPr bwMode="auto">
              <a:xfrm flipV="1">
                <a:off x="3504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06" name="Rectangle 258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4085" name="Group 259"/>
              <p:cNvGrpSpPr>
                <a:grpSpLocks noChangeAspect="1"/>
              </p:cNvGrpSpPr>
              <p:nvPr/>
            </p:nvGrpSpPr>
            <p:grpSpPr bwMode="auto">
              <a:xfrm>
                <a:off x="3720" y="1512"/>
                <a:ext cx="216" cy="216"/>
                <a:chOff x="2928" y="2448"/>
                <a:chExt cx="144" cy="144"/>
              </a:xfrm>
            </p:grpSpPr>
            <p:sp>
              <p:nvSpPr>
                <p:cNvPr id="53508" name="Rectangle 26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09" name="Rectangle 26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10" name="Rectangle 26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11" name="Rectangle 26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12" name="Rectangle 26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13" name="Rectangle 26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14" name="Rectangle 26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15" name="Rectangle 26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16" name="Rectangle 26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086" name="Group 269"/>
              <p:cNvGrpSpPr>
                <a:grpSpLocks noChangeAspect="1"/>
              </p:cNvGrpSpPr>
              <p:nvPr/>
            </p:nvGrpSpPr>
            <p:grpSpPr bwMode="auto">
              <a:xfrm>
                <a:off x="3936" y="1512"/>
                <a:ext cx="216" cy="216"/>
                <a:chOff x="2928" y="2448"/>
                <a:chExt cx="144" cy="144"/>
              </a:xfrm>
            </p:grpSpPr>
            <p:sp>
              <p:nvSpPr>
                <p:cNvPr id="53518" name="Rectangle 27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19" name="Rectangle 27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20" name="Rectangle 27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21" name="Rectangle 27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22" name="Rectangle 27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23" name="Rectangle 27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24" name="Rectangle 27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25" name="Rectangle 27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26" name="Rectangle 27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3527" name="Rectangle 279"/>
              <p:cNvSpPr>
                <a:spLocks noChangeAspect="1" noChangeArrowheads="1"/>
              </p:cNvSpPr>
              <p:nvPr/>
            </p:nvSpPr>
            <p:spPr bwMode="auto">
              <a:xfrm flipV="1">
                <a:off x="3936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28" name="Rectangle 280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87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29" name="Rectangle 281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30" name="Rectangle 282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31" name="Rectangle 283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32" name="Rectangle 284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87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33" name="Rectangle 285"/>
              <p:cNvSpPr>
                <a:spLocks noChangeAspect="1" noChangeArrowheads="1"/>
              </p:cNvSpPr>
              <p:nvPr/>
            </p:nvSpPr>
            <p:spPr bwMode="auto">
              <a:xfrm flipV="1">
                <a:off x="3936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34" name="Rectangle 286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35" name="Rectangle 287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36" name="Rectangle 288"/>
              <p:cNvSpPr>
                <a:spLocks noChangeAspect="1" noChangeArrowheads="1"/>
              </p:cNvSpPr>
              <p:nvPr/>
            </p:nvSpPr>
            <p:spPr bwMode="auto">
              <a:xfrm flipV="1">
                <a:off x="3864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37" name="Rectangle 289"/>
              <p:cNvSpPr>
                <a:spLocks noChangeAspect="1" noChangeArrowheads="1"/>
              </p:cNvSpPr>
              <p:nvPr/>
            </p:nvSpPr>
            <p:spPr bwMode="auto">
              <a:xfrm flipV="1">
                <a:off x="3864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38" name="Rectangle 290"/>
              <p:cNvSpPr>
                <a:spLocks noChangeAspect="1" noChangeArrowheads="1"/>
              </p:cNvSpPr>
              <p:nvPr/>
            </p:nvSpPr>
            <p:spPr bwMode="auto">
              <a:xfrm flipV="1">
                <a:off x="3720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39" name="Rectangle 291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4087" name="Group 292"/>
              <p:cNvGrpSpPr>
                <a:grpSpLocks noChangeAspect="1"/>
              </p:cNvGrpSpPr>
              <p:nvPr/>
            </p:nvGrpSpPr>
            <p:grpSpPr bwMode="auto">
              <a:xfrm>
                <a:off x="3288" y="1296"/>
                <a:ext cx="216" cy="216"/>
                <a:chOff x="2928" y="2448"/>
                <a:chExt cx="144" cy="144"/>
              </a:xfrm>
            </p:grpSpPr>
            <p:sp>
              <p:nvSpPr>
                <p:cNvPr id="53541" name="Rectangle 29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42" name="Rectangle 29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43" name="Rectangle 29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44" name="Rectangle 29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45" name="Rectangle 29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46" name="Rectangle 29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47" name="Rectangle 29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48" name="Rectangle 30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49" name="Rectangle 30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088" name="Group 302"/>
              <p:cNvGrpSpPr>
                <a:grpSpLocks noChangeAspect="1"/>
              </p:cNvGrpSpPr>
              <p:nvPr/>
            </p:nvGrpSpPr>
            <p:grpSpPr bwMode="auto">
              <a:xfrm>
                <a:off x="3504" y="1296"/>
                <a:ext cx="216" cy="216"/>
                <a:chOff x="2928" y="2448"/>
                <a:chExt cx="144" cy="144"/>
              </a:xfrm>
            </p:grpSpPr>
            <p:sp>
              <p:nvSpPr>
                <p:cNvPr id="53551" name="Rectangle 30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52" name="Rectangle 30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53" name="Rectangle 30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54" name="Rectangle 30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55" name="Rectangle 30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56" name="Rectangle 30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57" name="Rectangle 30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58" name="Rectangle 31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59" name="Rectangle 31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089" name="Group 312"/>
              <p:cNvGrpSpPr>
                <a:grpSpLocks noChangeAspect="1"/>
              </p:cNvGrpSpPr>
              <p:nvPr/>
            </p:nvGrpSpPr>
            <p:grpSpPr bwMode="auto">
              <a:xfrm>
                <a:off x="3720" y="1296"/>
                <a:ext cx="216" cy="216"/>
                <a:chOff x="2928" y="2448"/>
                <a:chExt cx="144" cy="144"/>
              </a:xfrm>
            </p:grpSpPr>
            <p:sp>
              <p:nvSpPr>
                <p:cNvPr id="53561" name="Rectangle 31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62" name="Rectangle 31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63" name="Rectangle 31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64" name="Rectangle 31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65" name="Rectangle 31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66" name="Rectangle 31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67" name="Rectangle 31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68" name="Rectangle 32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69" name="Rectangle 32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090" name="Group 322"/>
              <p:cNvGrpSpPr>
                <a:grpSpLocks noChangeAspect="1"/>
              </p:cNvGrpSpPr>
              <p:nvPr/>
            </p:nvGrpSpPr>
            <p:grpSpPr bwMode="auto">
              <a:xfrm>
                <a:off x="3936" y="1296"/>
                <a:ext cx="216" cy="216"/>
                <a:chOff x="2928" y="2448"/>
                <a:chExt cx="144" cy="144"/>
              </a:xfrm>
            </p:grpSpPr>
            <p:sp>
              <p:nvSpPr>
                <p:cNvPr id="53571" name="Rectangle 32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72" name="Rectangle 32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73" name="Rectangle 32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74" name="Rectangle 32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75" name="Rectangle 32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76" name="Rectangle 32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77" name="Rectangle 32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78" name="Rectangle 33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79" name="Rectangle 33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091" name="Group 332"/>
              <p:cNvGrpSpPr>
                <a:grpSpLocks noChangeAspect="1"/>
              </p:cNvGrpSpPr>
              <p:nvPr/>
            </p:nvGrpSpPr>
            <p:grpSpPr bwMode="auto">
              <a:xfrm>
                <a:off x="4152" y="1296"/>
                <a:ext cx="216" cy="216"/>
                <a:chOff x="2928" y="2448"/>
                <a:chExt cx="144" cy="144"/>
              </a:xfrm>
            </p:grpSpPr>
            <p:sp>
              <p:nvSpPr>
                <p:cNvPr id="53581" name="Rectangle 33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82" name="Rectangle 33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83" name="Rectangle 33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84" name="Rectangle 33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85" name="Rectangle 33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86" name="Rectangle 33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87" name="Rectangle 33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88" name="Rectangle 34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89" name="Rectangle 34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092" name="Group 342"/>
              <p:cNvGrpSpPr>
                <a:grpSpLocks noChangeAspect="1"/>
              </p:cNvGrpSpPr>
              <p:nvPr/>
            </p:nvGrpSpPr>
            <p:grpSpPr bwMode="auto">
              <a:xfrm>
                <a:off x="4152" y="1512"/>
                <a:ext cx="216" cy="216"/>
                <a:chOff x="2928" y="2448"/>
                <a:chExt cx="144" cy="144"/>
              </a:xfrm>
            </p:grpSpPr>
            <p:sp>
              <p:nvSpPr>
                <p:cNvPr id="53591" name="Rectangle 34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92" name="Rectangle 34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93" name="Rectangle 34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94" name="Rectangle 34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95" name="Rectangle 34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96" name="Rectangle 34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97" name="Rectangle 34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98" name="Rectangle 35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599" name="Rectangle 35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093" name="Group 352"/>
              <p:cNvGrpSpPr>
                <a:grpSpLocks noChangeAspect="1"/>
              </p:cNvGrpSpPr>
              <p:nvPr/>
            </p:nvGrpSpPr>
            <p:grpSpPr bwMode="auto">
              <a:xfrm>
                <a:off x="4152" y="1728"/>
                <a:ext cx="216" cy="216"/>
                <a:chOff x="2928" y="2448"/>
                <a:chExt cx="144" cy="144"/>
              </a:xfrm>
            </p:grpSpPr>
            <p:sp>
              <p:nvSpPr>
                <p:cNvPr id="53601" name="Rectangle 35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02" name="Rectangle 35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03" name="Rectangle 35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04" name="Rectangle 35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05" name="Rectangle 35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06" name="Rectangle 35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07" name="Rectangle 35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08" name="Rectangle 36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09" name="Rectangle 36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3610" name="Rectangle 362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800"/>
                <a:ext cx="72" cy="72"/>
              </a:xfrm>
              <a:prstGeom prst="rect">
                <a:avLst/>
              </a:prstGeom>
              <a:solidFill>
                <a:srgbClr val="11B119"/>
              </a:solidFill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4094" name="Group 363"/>
            <p:cNvGrpSpPr>
              <a:grpSpLocks noChangeAspect="1"/>
            </p:cNvGrpSpPr>
            <p:nvPr/>
          </p:nvGrpSpPr>
          <p:grpSpPr bwMode="auto">
            <a:xfrm>
              <a:off x="412" y="1067"/>
              <a:ext cx="432" cy="262"/>
              <a:chOff x="3288" y="1296"/>
              <a:chExt cx="1080" cy="648"/>
            </a:xfrm>
          </p:grpSpPr>
          <p:sp>
            <p:nvSpPr>
              <p:cNvPr id="53612" name="Rectangle 364"/>
              <p:cNvSpPr>
                <a:spLocks noChangeAspect="1" noChangeArrowheads="1"/>
              </p:cNvSpPr>
              <p:nvPr/>
            </p:nvSpPr>
            <p:spPr bwMode="auto">
              <a:xfrm flipV="1">
                <a:off x="3288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13" name="Rectangle 365"/>
              <p:cNvSpPr>
                <a:spLocks noChangeAspect="1" noChangeArrowheads="1"/>
              </p:cNvSpPr>
              <p:nvPr/>
            </p:nvSpPr>
            <p:spPr bwMode="auto">
              <a:xfrm flipV="1">
                <a:off x="3360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14" name="Rectangle 366"/>
              <p:cNvSpPr>
                <a:spLocks noChangeAspect="1" noChangeArrowheads="1"/>
              </p:cNvSpPr>
              <p:nvPr/>
            </p:nvSpPr>
            <p:spPr bwMode="auto">
              <a:xfrm flipV="1">
                <a:off x="3432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15" name="Rectangle 367"/>
              <p:cNvSpPr>
                <a:spLocks noChangeAspect="1" noChangeArrowheads="1"/>
              </p:cNvSpPr>
              <p:nvPr/>
            </p:nvSpPr>
            <p:spPr bwMode="auto">
              <a:xfrm flipV="1">
                <a:off x="3432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16" name="Rectangle 368"/>
              <p:cNvSpPr>
                <a:spLocks noChangeAspect="1" noChangeArrowheads="1"/>
              </p:cNvSpPr>
              <p:nvPr/>
            </p:nvSpPr>
            <p:spPr bwMode="auto">
              <a:xfrm flipV="1">
                <a:off x="3288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17" name="Rectangle 369"/>
              <p:cNvSpPr>
                <a:spLocks noChangeAspect="1" noChangeArrowheads="1"/>
              </p:cNvSpPr>
              <p:nvPr/>
            </p:nvSpPr>
            <p:spPr bwMode="auto">
              <a:xfrm flipV="1">
                <a:off x="3360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18" name="Rectangle 370"/>
              <p:cNvSpPr>
                <a:spLocks noChangeAspect="1" noChangeArrowheads="1"/>
              </p:cNvSpPr>
              <p:nvPr/>
            </p:nvSpPr>
            <p:spPr bwMode="auto">
              <a:xfrm flipV="1">
                <a:off x="3504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19" name="Rectangle 371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656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20" name="Rectangle 372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21" name="Rectangle 373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584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22" name="Rectangle 374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23" name="Rectangle 375"/>
              <p:cNvSpPr>
                <a:spLocks noChangeAspect="1" noChangeArrowheads="1"/>
              </p:cNvSpPr>
              <p:nvPr/>
            </p:nvSpPr>
            <p:spPr bwMode="auto">
              <a:xfrm flipV="1">
                <a:off x="3648" y="1656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24" name="Rectangle 376"/>
              <p:cNvSpPr>
                <a:spLocks noChangeAspect="1" noChangeArrowheads="1"/>
              </p:cNvSpPr>
              <p:nvPr/>
            </p:nvSpPr>
            <p:spPr bwMode="auto">
              <a:xfrm flipV="1">
                <a:off x="3504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25" name="Rectangle 377"/>
              <p:cNvSpPr>
                <a:spLocks noChangeAspect="1" noChangeArrowheads="1"/>
              </p:cNvSpPr>
              <p:nvPr/>
            </p:nvSpPr>
            <p:spPr bwMode="auto">
              <a:xfrm flipV="1">
                <a:off x="3576" y="151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4095" name="Group 378"/>
              <p:cNvGrpSpPr>
                <a:grpSpLocks noChangeAspect="1"/>
              </p:cNvGrpSpPr>
              <p:nvPr/>
            </p:nvGrpSpPr>
            <p:grpSpPr bwMode="auto">
              <a:xfrm>
                <a:off x="3720" y="1512"/>
                <a:ext cx="216" cy="216"/>
                <a:chOff x="2928" y="2448"/>
                <a:chExt cx="144" cy="144"/>
              </a:xfrm>
            </p:grpSpPr>
            <p:sp>
              <p:nvSpPr>
                <p:cNvPr id="53627" name="Rectangle 37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28" name="Rectangle 38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29" name="Rectangle 38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30" name="Rectangle 38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31" name="Rectangle 38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32" name="Rectangle 38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33" name="Rectangle 38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34" name="Rectangle 38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35" name="Rectangle 38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096" name="Group 388"/>
              <p:cNvGrpSpPr>
                <a:grpSpLocks noChangeAspect="1"/>
              </p:cNvGrpSpPr>
              <p:nvPr/>
            </p:nvGrpSpPr>
            <p:grpSpPr bwMode="auto">
              <a:xfrm>
                <a:off x="3936" y="1512"/>
                <a:ext cx="216" cy="216"/>
                <a:chOff x="2928" y="2448"/>
                <a:chExt cx="144" cy="144"/>
              </a:xfrm>
            </p:grpSpPr>
            <p:sp>
              <p:nvSpPr>
                <p:cNvPr id="53637" name="Rectangle 38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38" name="Rectangle 39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39" name="Rectangle 391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40" name="Rectangle 39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41" name="Rectangle 39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42" name="Rectangle 39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43" name="Rectangle 39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44" name="Rectangle 39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45" name="Rectangle 39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3646" name="Rectangle 398"/>
              <p:cNvSpPr>
                <a:spLocks noChangeAspect="1" noChangeArrowheads="1"/>
              </p:cNvSpPr>
              <p:nvPr/>
            </p:nvSpPr>
            <p:spPr bwMode="auto">
              <a:xfrm flipV="1">
                <a:off x="3936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47" name="Rectangle 399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87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48" name="Rectangle 400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49" name="Rectangle 401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50" name="Rectangle 402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51" name="Rectangle 403"/>
              <p:cNvSpPr>
                <a:spLocks noChangeAspect="1" noChangeArrowheads="1"/>
              </p:cNvSpPr>
              <p:nvPr/>
            </p:nvSpPr>
            <p:spPr bwMode="auto">
              <a:xfrm flipV="1">
                <a:off x="4080" y="1872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52" name="Rectangle 404"/>
              <p:cNvSpPr>
                <a:spLocks noChangeAspect="1" noChangeArrowheads="1"/>
              </p:cNvSpPr>
              <p:nvPr/>
            </p:nvSpPr>
            <p:spPr bwMode="auto">
              <a:xfrm flipV="1">
                <a:off x="3936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53" name="Rectangle 405"/>
              <p:cNvSpPr>
                <a:spLocks noChangeAspect="1" noChangeArrowheads="1"/>
              </p:cNvSpPr>
              <p:nvPr/>
            </p:nvSpPr>
            <p:spPr bwMode="auto">
              <a:xfrm flipV="1">
                <a:off x="4008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54" name="Rectangle 406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55" name="Rectangle 407"/>
              <p:cNvSpPr>
                <a:spLocks noChangeAspect="1" noChangeArrowheads="1"/>
              </p:cNvSpPr>
              <p:nvPr/>
            </p:nvSpPr>
            <p:spPr bwMode="auto">
              <a:xfrm flipV="1">
                <a:off x="3864" y="1800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56" name="Rectangle 408"/>
              <p:cNvSpPr>
                <a:spLocks noChangeAspect="1" noChangeArrowheads="1"/>
              </p:cNvSpPr>
              <p:nvPr/>
            </p:nvSpPr>
            <p:spPr bwMode="auto">
              <a:xfrm flipV="1">
                <a:off x="3864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57" name="Rectangle 409"/>
              <p:cNvSpPr>
                <a:spLocks noChangeAspect="1" noChangeArrowheads="1"/>
              </p:cNvSpPr>
              <p:nvPr/>
            </p:nvSpPr>
            <p:spPr bwMode="auto">
              <a:xfrm flipV="1">
                <a:off x="3720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658" name="Rectangle 410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728"/>
                <a:ext cx="72" cy="72"/>
              </a:xfrm>
              <a:prstGeom prst="rect">
                <a:avLst/>
              </a:prstGeom>
              <a:noFill/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4097" name="Group 411"/>
              <p:cNvGrpSpPr>
                <a:grpSpLocks noChangeAspect="1"/>
              </p:cNvGrpSpPr>
              <p:nvPr/>
            </p:nvGrpSpPr>
            <p:grpSpPr bwMode="auto">
              <a:xfrm>
                <a:off x="3288" y="1296"/>
                <a:ext cx="216" cy="216"/>
                <a:chOff x="2928" y="2448"/>
                <a:chExt cx="144" cy="144"/>
              </a:xfrm>
            </p:grpSpPr>
            <p:sp>
              <p:nvSpPr>
                <p:cNvPr id="53660" name="Rectangle 41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61" name="Rectangle 41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62" name="Rectangle 41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63" name="Rectangle 41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64" name="Rectangle 41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65" name="Rectangle 41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66" name="Rectangle 41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67" name="Rectangle 41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68" name="Rectangle 42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098" name="Group 421"/>
              <p:cNvGrpSpPr>
                <a:grpSpLocks noChangeAspect="1"/>
              </p:cNvGrpSpPr>
              <p:nvPr/>
            </p:nvGrpSpPr>
            <p:grpSpPr bwMode="auto">
              <a:xfrm>
                <a:off x="3504" y="1296"/>
                <a:ext cx="216" cy="216"/>
                <a:chOff x="2928" y="2448"/>
                <a:chExt cx="144" cy="144"/>
              </a:xfrm>
            </p:grpSpPr>
            <p:sp>
              <p:nvSpPr>
                <p:cNvPr id="53670" name="Rectangle 42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71" name="Rectangle 42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72" name="Rectangle 42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73" name="Rectangle 42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74" name="Rectangle 42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75" name="Rectangle 42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76" name="Rectangle 42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77" name="Rectangle 42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78" name="Rectangle 43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099" name="Group 431"/>
              <p:cNvGrpSpPr>
                <a:grpSpLocks noChangeAspect="1"/>
              </p:cNvGrpSpPr>
              <p:nvPr/>
            </p:nvGrpSpPr>
            <p:grpSpPr bwMode="auto">
              <a:xfrm>
                <a:off x="3720" y="1296"/>
                <a:ext cx="216" cy="216"/>
                <a:chOff x="2928" y="2448"/>
                <a:chExt cx="144" cy="144"/>
              </a:xfrm>
            </p:grpSpPr>
            <p:sp>
              <p:nvSpPr>
                <p:cNvPr id="53680" name="Rectangle 43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81" name="Rectangle 43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82" name="Rectangle 43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83" name="Rectangle 43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84" name="Rectangle 43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85" name="Rectangle 43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86" name="Rectangle 43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87" name="Rectangle 43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88" name="Rectangle 44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100" name="Group 441"/>
              <p:cNvGrpSpPr>
                <a:grpSpLocks noChangeAspect="1"/>
              </p:cNvGrpSpPr>
              <p:nvPr/>
            </p:nvGrpSpPr>
            <p:grpSpPr bwMode="auto">
              <a:xfrm>
                <a:off x="3936" y="1296"/>
                <a:ext cx="216" cy="216"/>
                <a:chOff x="2928" y="2448"/>
                <a:chExt cx="144" cy="144"/>
              </a:xfrm>
            </p:grpSpPr>
            <p:sp>
              <p:nvSpPr>
                <p:cNvPr id="53690" name="Rectangle 44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91" name="Rectangle 44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92" name="Rectangle 44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93" name="Rectangle 44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94" name="Rectangle 44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95" name="Rectangle 44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96" name="Rectangle 44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97" name="Rectangle 44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698" name="Rectangle 45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101" name="Group 451"/>
              <p:cNvGrpSpPr>
                <a:grpSpLocks noChangeAspect="1"/>
              </p:cNvGrpSpPr>
              <p:nvPr/>
            </p:nvGrpSpPr>
            <p:grpSpPr bwMode="auto">
              <a:xfrm>
                <a:off x="4152" y="1296"/>
                <a:ext cx="216" cy="216"/>
                <a:chOff x="2928" y="2448"/>
                <a:chExt cx="144" cy="144"/>
              </a:xfrm>
            </p:grpSpPr>
            <p:sp>
              <p:nvSpPr>
                <p:cNvPr id="53700" name="Rectangle 45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01" name="Rectangle 45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02" name="Rectangle 45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03" name="Rectangle 45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04" name="Rectangle 45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05" name="Rectangle 45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06" name="Rectangle 45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07" name="Rectangle 45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08" name="Rectangle 46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102" name="Group 461"/>
              <p:cNvGrpSpPr>
                <a:grpSpLocks noChangeAspect="1"/>
              </p:cNvGrpSpPr>
              <p:nvPr/>
            </p:nvGrpSpPr>
            <p:grpSpPr bwMode="auto">
              <a:xfrm>
                <a:off x="4152" y="1512"/>
                <a:ext cx="216" cy="216"/>
                <a:chOff x="2928" y="2448"/>
                <a:chExt cx="144" cy="144"/>
              </a:xfrm>
            </p:grpSpPr>
            <p:sp>
              <p:nvSpPr>
                <p:cNvPr id="53710" name="Rectangle 46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11" name="Rectangle 46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12" name="Rectangle 46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13" name="Rectangle 46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14" name="Rectangle 46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15" name="Rectangle 46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16" name="Rectangle 46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17" name="Rectangle 46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18" name="Rectangle 47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103" name="Group 471"/>
              <p:cNvGrpSpPr>
                <a:grpSpLocks noChangeAspect="1"/>
              </p:cNvGrpSpPr>
              <p:nvPr/>
            </p:nvGrpSpPr>
            <p:grpSpPr bwMode="auto">
              <a:xfrm>
                <a:off x="4152" y="1728"/>
                <a:ext cx="216" cy="216"/>
                <a:chOff x="2928" y="2448"/>
                <a:chExt cx="144" cy="144"/>
              </a:xfrm>
            </p:grpSpPr>
            <p:sp>
              <p:nvSpPr>
                <p:cNvPr id="53720" name="Rectangle 47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21" name="Rectangle 47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22" name="Rectangle 474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23" name="Rectangle 475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24" name="Rectangle 476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96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25" name="Rectangle 477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26" name="Rectangle 478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3024" y="2544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27" name="Rectangle 479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28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728" name="Rectangle 480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2976" y="2448"/>
                  <a:ext cx="48" cy="48"/>
                </a:xfrm>
                <a:prstGeom prst="rect">
                  <a:avLst/>
                </a:prstGeom>
                <a:noFill/>
                <a:ln w="3175">
                  <a:solidFill>
                    <a:srgbClr val="11B119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3729" name="Rectangle 481"/>
              <p:cNvSpPr>
                <a:spLocks noChangeAspect="1" noChangeArrowheads="1"/>
              </p:cNvSpPr>
              <p:nvPr/>
            </p:nvSpPr>
            <p:spPr bwMode="auto">
              <a:xfrm flipV="1">
                <a:off x="3792" y="1800"/>
                <a:ext cx="72" cy="72"/>
              </a:xfrm>
              <a:prstGeom prst="rect">
                <a:avLst/>
              </a:prstGeom>
              <a:solidFill>
                <a:srgbClr val="11B119"/>
              </a:solidFill>
              <a:ln w="3175">
                <a:solidFill>
                  <a:srgbClr val="11B11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4111" name="Text Box 863"/>
          <p:cNvSpPr txBox="1">
            <a:spLocks noChangeArrowheads="1"/>
          </p:cNvSpPr>
          <p:nvPr/>
        </p:nvSpPr>
        <p:spPr bwMode="auto">
          <a:xfrm>
            <a:off x="6477000" y="3290888"/>
            <a:ext cx="1504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800">
                <a:ea typeface="宋体" charset="-122"/>
              </a:rPr>
              <a:t>Input image</a:t>
            </a:r>
            <a:r>
              <a:rPr lang="en-US" altLang="zh-CN" sz="1600" b="0">
                <a:ea typeface="宋体" charset="-122"/>
              </a:rPr>
              <a:t> </a:t>
            </a:r>
          </a:p>
        </p:txBody>
      </p:sp>
      <p:sp>
        <p:nvSpPr>
          <p:cNvPr id="54112" name="AutoShape 864"/>
          <p:cNvSpPr>
            <a:spLocks noChangeArrowheads="1"/>
          </p:cNvSpPr>
          <p:nvPr/>
        </p:nvSpPr>
        <p:spPr bwMode="auto">
          <a:xfrm flipH="1">
            <a:off x="4038600" y="2209800"/>
            <a:ext cx="1571625" cy="3810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11B119"/>
          </a:solidFill>
          <a:ln w="9525">
            <a:solidFill>
              <a:srgbClr val="11B11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113" name="Text Box 865"/>
          <p:cNvSpPr txBox="1">
            <a:spLocks noChangeArrowheads="1"/>
          </p:cNvSpPr>
          <p:nvPr/>
        </p:nvSpPr>
        <p:spPr bwMode="auto">
          <a:xfrm>
            <a:off x="4129088" y="1704975"/>
            <a:ext cx="1662112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1600">
                <a:ea typeface="宋体" charset="-122"/>
              </a:rPr>
              <a:t>non-parametric</a:t>
            </a:r>
          </a:p>
          <a:p>
            <a:pPr algn="ctr"/>
            <a:r>
              <a:rPr lang="en-US" altLang="zh-CN" sz="1600">
                <a:ea typeface="宋体" charset="-122"/>
              </a:rPr>
              <a:t>sampling</a:t>
            </a:r>
          </a:p>
        </p:txBody>
      </p:sp>
      <p:grpSp>
        <p:nvGrpSpPr>
          <p:cNvPr id="54104" name="Group 229"/>
          <p:cNvGrpSpPr>
            <a:grpSpLocks/>
          </p:cNvGrpSpPr>
          <p:nvPr/>
        </p:nvGrpSpPr>
        <p:grpSpPr bwMode="auto">
          <a:xfrm>
            <a:off x="304800" y="1600200"/>
            <a:ext cx="8686800" cy="5038725"/>
            <a:chOff x="192" y="1002"/>
            <a:chExt cx="5472" cy="3174"/>
          </a:xfrm>
        </p:grpSpPr>
        <p:sp>
          <p:nvSpPr>
            <p:cNvPr id="53730" name="Rectangle 482"/>
            <p:cNvSpPr>
              <a:spLocks noChangeAspect="1" noChangeArrowheads="1"/>
            </p:cNvSpPr>
            <p:nvPr/>
          </p:nvSpPr>
          <p:spPr bwMode="auto">
            <a:xfrm flipV="1">
              <a:off x="960" y="1356"/>
              <a:ext cx="648" cy="648"/>
            </a:xfrm>
            <a:prstGeom prst="rect">
              <a:avLst/>
            </a:prstGeom>
            <a:solidFill>
              <a:srgbClr val="11B119"/>
            </a:solidFill>
            <a:ln w="12700">
              <a:solidFill>
                <a:srgbClr val="11B11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114" name="Rectangle 866"/>
            <p:cNvSpPr>
              <a:spLocks noChangeAspect="1" noChangeArrowheads="1"/>
            </p:cNvSpPr>
            <p:nvPr/>
          </p:nvSpPr>
          <p:spPr bwMode="auto">
            <a:xfrm flipV="1">
              <a:off x="4104" y="1614"/>
              <a:ext cx="252" cy="252"/>
            </a:xfrm>
            <a:prstGeom prst="rect">
              <a:avLst/>
            </a:prstGeom>
            <a:solidFill>
              <a:srgbClr val="11B119"/>
            </a:solidFill>
            <a:ln w="12700">
              <a:solidFill>
                <a:srgbClr val="11B11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115" name="Rectangle 867"/>
            <p:cNvSpPr>
              <a:spLocks noChangeAspect="1" noChangeArrowheads="1"/>
            </p:cNvSpPr>
            <p:nvPr/>
          </p:nvSpPr>
          <p:spPr bwMode="auto">
            <a:xfrm flipV="1">
              <a:off x="3813" y="1002"/>
              <a:ext cx="252" cy="252"/>
            </a:xfrm>
            <a:prstGeom prst="rect">
              <a:avLst/>
            </a:prstGeom>
            <a:solidFill>
              <a:srgbClr val="11B119"/>
            </a:solidFill>
            <a:ln w="12700">
              <a:solidFill>
                <a:srgbClr val="11B11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116" name="Rectangle 868"/>
            <p:cNvSpPr>
              <a:spLocks noChangeAspect="1" noChangeArrowheads="1"/>
            </p:cNvSpPr>
            <p:nvPr/>
          </p:nvSpPr>
          <p:spPr bwMode="auto">
            <a:xfrm flipV="1">
              <a:off x="4722" y="1212"/>
              <a:ext cx="252" cy="252"/>
            </a:xfrm>
            <a:prstGeom prst="rect">
              <a:avLst/>
            </a:prstGeom>
            <a:solidFill>
              <a:srgbClr val="11B119"/>
            </a:solidFill>
            <a:ln w="12700">
              <a:solidFill>
                <a:srgbClr val="11B11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117" name="Rectangle 869"/>
            <p:cNvSpPr>
              <a:spLocks noChangeAspect="1" noChangeArrowheads="1"/>
            </p:cNvSpPr>
            <p:nvPr/>
          </p:nvSpPr>
          <p:spPr bwMode="auto">
            <a:xfrm flipV="1">
              <a:off x="4986" y="1815"/>
              <a:ext cx="252" cy="252"/>
            </a:xfrm>
            <a:prstGeom prst="rect">
              <a:avLst/>
            </a:prstGeom>
            <a:solidFill>
              <a:srgbClr val="11B119"/>
            </a:solidFill>
            <a:ln w="12700">
              <a:solidFill>
                <a:srgbClr val="11B11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108" name="Rectangle 860"/>
            <p:cNvSpPr>
              <a:spLocks noChangeArrowheads="1"/>
            </p:cNvSpPr>
            <p:nvPr/>
          </p:nvSpPr>
          <p:spPr bwMode="auto">
            <a:xfrm>
              <a:off x="950" y="1699"/>
              <a:ext cx="245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700">
                  <a:effectLst>
                    <a:outerShdw blurRad="38100" dist="38100" dir="2700000" algn="tl">
                      <a:srgbClr val="1C1C1C"/>
                    </a:outerShdw>
                  </a:effectLst>
                </a:rPr>
                <a:t>B</a:t>
              </a:r>
              <a:endParaRPr lang="en-US" altLang="zh-CN" sz="2700">
                <a:effectLst>
                  <a:outerShdw blurRad="38100" dist="38100" dir="2700000" algn="tl">
                    <a:srgbClr val="1C1C1C"/>
                  </a:outerShdw>
                </a:effectLst>
                <a:ea typeface="宋体" charset="-122"/>
              </a:endParaRPr>
            </a:p>
          </p:txBody>
        </p:sp>
        <p:sp>
          <p:nvSpPr>
            <p:cNvPr id="54120" name="Rectangle 872"/>
            <p:cNvSpPr>
              <a:spLocks noChangeArrowheads="1"/>
            </p:cNvSpPr>
            <p:nvPr/>
          </p:nvSpPr>
          <p:spPr bwMode="auto">
            <a:xfrm>
              <a:off x="192" y="2832"/>
              <a:ext cx="5472" cy="1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marL="342900" indent="-342900">
                <a:spcBef>
                  <a:spcPts val="700"/>
                </a:spcBef>
                <a:buClr>
                  <a:schemeClr val="tx2"/>
                </a:buClr>
                <a:buSzPct val="120000"/>
              </a:pPr>
              <a:r>
                <a:rPr lang="en-GB" sz="2700" u="sng">
                  <a:effectLst>
                    <a:outerShdw blurRad="38100" dist="38100" dir="2700000" algn="tl">
                      <a:srgbClr val="1C1C1C"/>
                    </a:outerShdw>
                  </a:effectLst>
                </a:rPr>
                <a:t>Idea:</a:t>
              </a:r>
              <a:r>
                <a:rPr lang="en-GB" sz="2700">
                  <a:effectLst>
                    <a:outerShdw blurRad="38100" dist="38100" dir="2700000" algn="tl">
                      <a:srgbClr val="1C1C1C"/>
                    </a:outerShdw>
                  </a:effectLst>
                </a:rPr>
                <a:t> unit of synthesis = block</a:t>
              </a:r>
            </a:p>
            <a:p>
              <a:pPr marL="742950" lvl="1" indent="-285750">
                <a:lnSpc>
                  <a:spcPct val="110000"/>
                </a:lnSpc>
                <a:spcBef>
                  <a:spcPts val="700"/>
                </a:spcBef>
                <a:spcAft>
                  <a:spcPts val="600"/>
                </a:spcAft>
                <a:buClr>
                  <a:schemeClr val="tx2"/>
                </a:buClr>
                <a:buSzPct val="120000"/>
                <a:buFontTx/>
                <a:buChar char="•"/>
              </a:pPr>
              <a:r>
                <a:rPr lang="en-GB" sz="2200" b="0"/>
                <a:t>Exactly the same but now we want P(</a:t>
              </a:r>
              <a:r>
                <a:rPr lang="en-GB" sz="2200"/>
                <a:t>B</a:t>
              </a:r>
              <a:r>
                <a:rPr lang="en-GB" sz="2200" b="0"/>
                <a:t>|N(</a:t>
              </a:r>
              <a:r>
                <a:rPr lang="en-GB" sz="2200"/>
                <a:t>B</a:t>
              </a:r>
              <a:r>
                <a:rPr lang="en-GB" sz="2200" b="0"/>
                <a:t>))</a:t>
              </a:r>
            </a:p>
            <a:p>
              <a:pPr marL="742950" lvl="1" indent="-285750">
                <a:lnSpc>
                  <a:spcPct val="110000"/>
                </a:lnSpc>
                <a:spcBef>
                  <a:spcPts val="700"/>
                </a:spcBef>
                <a:spcAft>
                  <a:spcPts val="600"/>
                </a:spcAft>
                <a:buClr>
                  <a:schemeClr val="tx2"/>
                </a:buClr>
                <a:buSzPct val="120000"/>
                <a:buFontTx/>
                <a:buChar char="•"/>
              </a:pPr>
              <a:r>
                <a:rPr lang="en-GB" sz="2200" b="0"/>
                <a:t>Much faster: synthesize all pixels in a block at once</a:t>
              </a:r>
            </a:p>
            <a:p>
              <a:pPr marL="742950" lvl="1" indent="-285750">
                <a:lnSpc>
                  <a:spcPct val="110000"/>
                </a:lnSpc>
                <a:spcBef>
                  <a:spcPts val="700"/>
                </a:spcBef>
                <a:spcAft>
                  <a:spcPts val="600"/>
                </a:spcAft>
                <a:buClr>
                  <a:schemeClr val="tx2"/>
                </a:buClr>
                <a:buSzPct val="120000"/>
                <a:buFontTx/>
                <a:buChar char="•"/>
              </a:pPr>
              <a:r>
                <a:rPr lang="en-GB" sz="2200" b="0"/>
                <a:t>Not the same as multi-scale!</a:t>
              </a:r>
            </a:p>
          </p:txBody>
        </p:sp>
        <p:sp>
          <p:nvSpPr>
            <p:cNvPr id="61668" name="Text Box 228"/>
            <p:cNvSpPr txBox="1">
              <a:spLocks noChangeArrowheads="1"/>
            </p:cNvSpPr>
            <p:nvPr/>
          </p:nvSpPr>
          <p:spPr bwMode="auto">
            <a:xfrm>
              <a:off x="563" y="2241"/>
              <a:ext cx="148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1800">
                  <a:ea typeface="宋体" charset="-122"/>
                </a:rPr>
                <a:t>Synthesizing a block</a:t>
              </a:r>
              <a:endParaRPr lang="en-US" altLang="zh-CN" sz="1600" b="0">
                <a:ea typeface="宋体" charset="-122"/>
              </a:endParaRPr>
            </a:p>
          </p:txBody>
        </p:sp>
      </p:grpSp>
    </p:spTree>
  </p:cSld>
  <p:clrMapOvr>
    <a:masterClrMapping/>
  </p:clrMapOvr>
  <p:transition advTm="6744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 descr="H:\figs\soft\btile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274638"/>
            <a:ext cx="1096963" cy="1096962"/>
          </a:xfrm>
          <a:prstGeom prst="rect">
            <a:avLst/>
          </a:prstGeom>
          <a:noFill/>
        </p:spPr>
      </p:pic>
      <p:sp>
        <p:nvSpPr>
          <p:cNvPr id="72709" name="Text Box 5"/>
          <p:cNvSpPr txBox="1">
            <a:spLocks noChangeArrowheads="1"/>
          </p:cNvSpPr>
          <p:nvPr/>
        </p:nvSpPr>
        <p:spPr bwMode="auto">
          <a:xfrm>
            <a:off x="3581400" y="1295400"/>
            <a:ext cx="17700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ea typeface="宋体" charset="-122"/>
              </a:rPr>
              <a:t>Input texture</a:t>
            </a:r>
          </a:p>
        </p:txBody>
      </p:sp>
      <p:sp>
        <p:nvSpPr>
          <p:cNvPr id="72718" name="Text Box 14"/>
          <p:cNvSpPr txBox="1">
            <a:spLocks noChangeArrowheads="1"/>
          </p:cNvSpPr>
          <p:nvPr/>
        </p:nvSpPr>
        <p:spPr bwMode="auto">
          <a:xfrm>
            <a:off x="838200" y="2208213"/>
            <a:ext cx="544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B1</a:t>
            </a:r>
            <a:endParaRPr lang="en-US" altLang="zh-CN" b="0">
              <a:ea typeface="宋体" charset="-122"/>
            </a:endParaRPr>
          </a:p>
        </p:txBody>
      </p:sp>
      <p:sp>
        <p:nvSpPr>
          <p:cNvPr id="72719" name="Text Box 15"/>
          <p:cNvSpPr txBox="1">
            <a:spLocks noChangeArrowheads="1"/>
          </p:cNvSpPr>
          <p:nvPr/>
        </p:nvSpPr>
        <p:spPr bwMode="auto">
          <a:xfrm>
            <a:off x="1970088" y="2208213"/>
            <a:ext cx="5445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B2</a:t>
            </a:r>
            <a:endParaRPr lang="en-US" altLang="zh-CN" b="0">
              <a:ea typeface="宋体" charset="-122"/>
            </a:endParaRPr>
          </a:p>
        </p:txBody>
      </p:sp>
      <p:sp>
        <p:nvSpPr>
          <p:cNvPr id="72724" name="Text Box 20"/>
          <p:cNvSpPr txBox="1">
            <a:spLocks noChangeArrowheads="1"/>
          </p:cNvSpPr>
          <p:nvPr/>
        </p:nvSpPr>
        <p:spPr bwMode="auto">
          <a:xfrm>
            <a:off x="506413" y="3113088"/>
            <a:ext cx="253523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ea typeface="宋体" charset="-122"/>
              </a:rPr>
              <a:t>Random placement </a:t>
            </a:r>
          </a:p>
          <a:p>
            <a:pPr algn="ctr"/>
            <a:r>
              <a:rPr lang="en-US" altLang="zh-CN" sz="2000">
                <a:ea typeface="宋体" charset="-122"/>
              </a:rPr>
              <a:t>of blocks </a:t>
            </a:r>
          </a:p>
        </p:txBody>
      </p:sp>
      <p:sp>
        <p:nvSpPr>
          <p:cNvPr id="72728" name="Line 24"/>
          <p:cNvSpPr>
            <a:spLocks noChangeShapeType="1"/>
          </p:cNvSpPr>
          <p:nvPr/>
        </p:nvSpPr>
        <p:spPr bwMode="auto">
          <a:xfrm flipH="1">
            <a:off x="4800600" y="533400"/>
            <a:ext cx="533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29" name="Text Box 25"/>
          <p:cNvSpPr txBox="1">
            <a:spLocks noChangeArrowheads="1"/>
          </p:cNvSpPr>
          <p:nvPr/>
        </p:nvSpPr>
        <p:spPr bwMode="auto">
          <a:xfrm>
            <a:off x="5257800" y="304800"/>
            <a:ext cx="790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0">
                <a:ea typeface="宋体" charset="-122"/>
              </a:rPr>
              <a:t>block</a:t>
            </a:r>
          </a:p>
        </p:txBody>
      </p:sp>
      <p:pic>
        <p:nvPicPr>
          <p:cNvPr id="72731" name="Picture 27" descr="H:\figs\tile_rand_cut.t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7350" y="3968750"/>
            <a:ext cx="2660650" cy="2660650"/>
          </a:xfrm>
          <a:prstGeom prst="rect">
            <a:avLst/>
          </a:prstGeom>
          <a:noFill/>
        </p:spPr>
      </p:pic>
      <p:pic>
        <p:nvPicPr>
          <p:cNvPr id="72735" name="Picture 31" descr="H:\figs\tile_rand.t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3968750"/>
            <a:ext cx="2660650" cy="2660650"/>
          </a:xfrm>
          <a:prstGeom prst="rect">
            <a:avLst/>
          </a:prstGeom>
          <a:noFill/>
        </p:spPr>
      </p:pic>
      <p:sp>
        <p:nvSpPr>
          <p:cNvPr id="72736" name="Rectangle 32"/>
          <p:cNvSpPr>
            <a:spLocks noChangeArrowheads="1"/>
          </p:cNvSpPr>
          <p:nvPr/>
        </p:nvSpPr>
        <p:spPr bwMode="auto">
          <a:xfrm>
            <a:off x="4267200" y="533400"/>
            <a:ext cx="457200" cy="457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3168650" y="1828800"/>
            <a:ext cx="2903538" cy="4800600"/>
            <a:chOff x="1996" y="1152"/>
            <a:chExt cx="1829" cy="3024"/>
          </a:xfrm>
        </p:grpSpPr>
        <p:sp>
          <p:nvSpPr>
            <p:cNvPr id="72713" name="Line 9"/>
            <p:cNvSpPr>
              <a:spLocks noChangeShapeType="1"/>
            </p:cNvSpPr>
            <p:nvPr/>
          </p:nvSpPr>
          <p:spPr bwMode="auto">
            <a:xfrm flipV="1">
              <a:off x="2832" y="1152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720" name="Text Box 16"/>
            <p:cNvSpPr txBox="1">
              <a:spLocks noChangeArrowheads="1"/>
            </p:cNvSpPr>
            <p:nvPr/>
          </p:nvSpPr>
          <p:spPr bwMode="auto">
            <a:xfrm>
              <a:off x="2304" y="1391"/>
              <a:ext cx="34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ea typeface="宋体" charset="-122"/>
                </a:rPr>
                <a:t>B1</a:t>
              </a:r>
              <a:endParaRPr lang="en-US" altLang="zh-CN" b="0">
                <a:ea typeface="宋体" charset="-122"/>
              </a:endParaRPr>
            </a:p>
          </p:txBody>
        </p:sp>
        <p:sp>
          <p:nvSpPr>
            <p:cNvPr id="72722" name="Text Box 18"/>
            <p:cNvSpPr txBox="1">
              <a:spLocks noChangeArrowheads="1"/>
            </p:cNvSpPr>
            <p:nvPr/>
          </p:nvSpPr>
          <p:spPr bwMode="auto">
            <a:xfrm>
              <a:off x="3024" y="1392"/>
              <a:ext cx="34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ea typeface="宋体" charset="-122"/>
                </a:rPr>
                <a:t>B2</a:t>
              </a:r>
              <a:endParaRPr lang="en-US" altLang="zh-CN" b="0">
                <a:ea typeface="宋体" charset="-122"/>
              </a:endParaRPr>
            </a:p>
          </p:txBody>
        </p:sp>
        <p:sp>
          <p:nvSpPr>
            <p:cNvPr id="72725" name="Text Box 21"/>
            <p:cNvSpPr txBox="1">
              <a:spLocks noChangeArrowheads="1"/>
            </p:cNvSpPr>
            <p:nvPr/>
          </p:nvSpPr>
          <p:spPr bwMode="auto">
            <a:xfrm>
              <a:off x="1996" y="1960"/>
              <a:ext cx="1829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>
                  <a:ea typeface="宋体" charset="-122"/>
                </a:rPr>
                <a:t>Neighboring blocks</a:t>
              </a:r>
            </a:p>
            <a:p>
              <a:pPr algn="ctr"/>
              <a:r>
                <a:rPr lang="en-US" altLang="zh-CN" sz="2000">
                  <a:ea typeface="宋体" charset="-122"/>
                </a:rPr>
                <a:t>constrained by overlap</a:t>
              </a:r>
            </a:p>
          </p:txBody>
        </p:sp>
        <p:pic>
          <p:nvPicPr>
            <p:cNvPr id="72732" name="Picture 28" descr="H:\figs\tile_match_cut.tif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064" y="2500"/>
              <a:ext cx="1676" cy="1676"/>
            </a:xfrm>
            <a:prstGeom prst="rect">
              <a:avLst/>
            </a:prstGeom>
            <a:noFill/>
          </p:spPr>
        </p:pic>
        <p:sp>
          <p:nvSpPr>
            <p:cNvPr id="72737" name="Rectangle 33" descr="5%"/>
            <p:cNvSpPr>
              <a:spLocks noChangeAspect="1" noChangeArrowheads="1"/>
            </p:cNvSpPr>
            <p:nvPr/>
          </p:nvSpPr>
          <p:spPr bwMode="auto">
            <a:xfrm>
              <a:off x="2256" y="1152"/>
              <a:ext cx="720" cy="720"/>
            </a:xfrm>
            <a:prstGeom prst="rect">
              <a:avLst/>
            </a:prstGeom>
            <a:noFill/>
            <a:ln w="28575">
              <a:solidFill>
                <a:srgbClr val="504A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738" name="Rectangle 34"/>
            <p:cNvSpPr>
              <a:spLocks noChangeAspect="1" noChangeArrowheads="1"/>
            </p:cNvSpPr>
            <p:nvPr/>
          </p:nvSpPr>
          <p:spPr bwMode="auto">
            <a:xfrm>
              <a:off x="2688" y="1152"/>
              <a:ext cx="720" cy="7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2740" name="Rectangle 36"/>
          <p:cNvSpPr>
            <a:spLocks noChangeAspect="1" noChangeArrowheads="1"/>
          </p:cNvSpPr>
          <p:nvPr/>
        </p:nvSpPr>
        <p:spPr bwMode="auto">
          <a:xfrm>
            <a:off x="1676400" y="1828800"/>
            <a:ext cx="1143000" cy="11430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6172200" y="1828800"/>
            <a:ext cx="2660650" cy="4794250"/>
            <a:chOff x="3888" y="1152"/>
            <a:chExt cx="1676" cy="3020"/>
          </a:xfrm>
        </p:grpSpPr>
        <p:sp>
          <p:nvSpPr>
            <p:cNvPr id="72717" name="Freeform 13"/>
            <p:cNvSpPr>
              <a:spLocks/>
            </p:cNvSpPr>
            <p:nvPr/>
          </p:nvSpPr>
          <p:spPr bwMode="auto">
            <a:xfrm>
              <a:off x="4648" y="1152"/>
              <a:ext cx="104" cy="720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8" y="192"/>
                </a:cxn>
                <a:cxn ang="0">
                  <a:pos x="104" y="432"/>
                </a:cxn>
                <a:cxn ang="0">
                  <a:pos x="8" y="624"/>
                </a:cxn>
                <a:cxn ang="0">
                  <a:pos x="56" y="720"/>
                </a:cxn>
              </a:cxnLst>
              <a:rect l="0" t="0" r="r" b="b"/>
              <a:pathLst>
                <a:path w="104" h="720">
                  <a:moveTo>
                    <a:pt x="56" y="0"/>
                  </a:moveTo>
                  <a:cubicBezTo>
                    <a:pt x="28" y="60"/>
                    <a:pt x="0" y="120"/>
                    <a:pt x="8" y="192"/>
                  </a:cubicBezTo>
                  <a:cubicBezTo>
                    <a:pt x="16" y="264"/>
                    <a:pt x="104" y="360"/>
                    <a:pt x="104" y="432"/>
                  </a:cubicBezTo>
                  <a:cubicBezTo>
                    <a:pt x="104" y="504"/>
                    <a:pt x="16" y="576"/>
                    <a:pt x="8" y="624"/>
                  </a:cubicBezTo>
                  <a:cubicBezTo>
                    <a:pt x="0" y="672"/>
                    <a:pt x="48" y="704"/>
                    <a:pt x="56" y="72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721" name="Text Box 17"/>
            <p:cNvSpPr txBox="1">
              <a:spLocks noChangeArrowheads="1"/>
            </p:cNvSpPr>
            <p:nvPr/>
          </p:nvSpPr>
          <p:spPr bwMode="auto">
            <a:xfrm>
              <a:off x="4172" y="1391"/>
              <a:ext cx="34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ea typeface="宋体" charset="-122"/>
                </a:rPr>
                <a:t>B1</a:t>
              </a:r>
              <a:endParaRPr lang="en-US" altLang="zh-CN" b="0">
                <a:ea typeface="宋体" charset="-122"/>
              </a:endParaRPr>
            </a:p>
          </p:txBody>
        </p:sp>
        <p:sp>
          <p:nvSpPr>
            <p:cNvPr id="72723" name="Text Box 19"/>
            <p:cNvSpPr txBox="1">
              <a:spLocks noChangeArrowheads="1"/>
            </p:cNvSpPr>
            <p:nvPr/>
          </p:nvSpPr>
          <p:spPr bwMode="auto">
            <a:xfrm>
              <a:off x="4892" y="1391"/>
              <a:ext cx="34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ea typeface="宋体" charset="-122"/>
                </a:rPr>
                <a:t>B2</a:t>
              </a:r>
              <a:endParaRPr lang="en-US" altLang="zh-CN" b="0">
                <a:ea typeface="宋体" charset="-122"/>
              </a:endParaRPr>
            </a:p>
          </p:txBody>
        </p:sp>
        <p:sp>
          <p:nvSpPr>
            <p:cNvPr id="72726" name="Text Box 22"/>
            <p:cNvSpPr txBox="1">
              <a:spLocks noChangeArrowheads="1"/>
            </p:cNvSpPr>
            <p:nvPr/>
          </p:nvSpPr>
          <p:spPr bwMode="auto">
            <a:xfrm>
              <a:off x="4262" y="1946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zh-CN" altLang="zh-CN" b="0">
                <a:latin typeface="Times New Roman" charset="0"/>
              </a:endParaRPr>
            </a:p>
          </p:txBody>
        </p:sp>
        <p:sp>
          <p:nvSpPr>
            <p:cNvPr id="72727" name="Text Box 23"/>
            <p:cNvSpPr txBox="1">
              <a:spLocks noChangeArrowheads="1"/>
            </p:cNvSpPr>
            <p:nvPr/>
          </p:nvSpPr>
          <p:spPr bwMode="auto">
            <a:xfrm>
              <a:off x="4144" y="1960"/>
              <a:ext cx="1130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>
                  <a:ea typeface="宋体" charset="-122"/>
                </a:rPr>
                <a:t>Minimal error</a:t>
              </a:r>
            </a:p>
            <a:p>
              <a:pPr algn="ctr"/>
              <a:r>
                <a:rPr lang="en-US" altLang="zh-CN" sz="2000">
                  <a:ea typeface="宋体" charset="-122"/>
                </a:rPr>
                <a:t>boundary cut</a:t>
              </a:r>
            </a:p>
          </p:txBody>
        </p:sp>
        <p:pic>
          <p:nvPicPr>
            <p:cNvPr id="72730" name="Picture 26" descr="H:\figs\tile_DP_cut.tif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888" y="2496"/>
              <a:ext cx="1676" cy="1676"/>
            </a:xfrm>
            <a:prstGeom prst="rect">
              <a:avLst/>
            </a:prstGeom>
            <a:noFill/>
          </p:spPr>
        </p:pic>
        <p:sp>
          <p:nvSpPr>
            <p:cNvPr id="72741" name="Rectangle 37" descr="5%"/>
            <p:cNvSpPr>
              <a:spLocks noChangeAspect="1" noChangeArrowheads="1"/>
            </p:cNvSpPr>
            <p:nvPr/>
          </p:nvSpPr>
          <p:spPr bwMode="auto">
            <a:xfrm>
              <a:off x="4128" y="1152"/>
              <a:ext cx="720" cy="720"/>
            </a:xfrm>
            <a:prstGeom prst="rect">
              <a:avLst/>
            </a:prstGeom>
            <a:noFill/>
            <a:ln w="28575">
              <a:solidFill>
                <a:srgbClr val="504A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739" name="Rectangle 35"/>
            <p:cNvSpPr>
              <a:spLocks noChangeAspect="1" noChangeArrowheads="1"/>
            </p:cNvSpPr>
            <p:nvPr/>
          </p:nvSpPr>
          <p:spPr bwMode="auto">
            <a:xfrm>
              <a:off x="4560" y="1152"/>
              <a:ext cx="720" cy="7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2742" name="Rectangle 38" descr="5%"/>
          <p:cNvSpPr>
            <a:spLocks noChangeAspect="1" noChangeArrowheads="1"/>
          </p:cNvSpPr>
          <p:nvPr/>
        </p:nvSpPr>
        <p:spPr bwMode="auto">
          <a:xfrm>
            <a:off x="508000" y="1828800"/>
            <a:ext cx="1143000" cy="1143000"/>
          </a:xfrm>
          <a:prstGeom prst="rect">
            <a:avLst/>
          </a:prstGeom>
          <a:noFill/>
          <a:ln w="28575">
            <a:solidFill>
              <a:srgbClr val="504AC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2734" name="Picture 30" descr="H:\figs\tile_match.tif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82950" y="3962400"/>
            <a:ext cx="2660650" cy="2660650"/>
          </a:xfrm>
          <a:prstGeom prst="rect">
            <a:avLst/>
          </a:prstGeom>
          <a:noFill/>
        </p:spPr>
      </p:pic>
      <p:pic>
        <p:nvPicPr>
          <p:cNvPr id="72733" name="Picture 29" descr="H:\figs\tile_DP.ti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172200" y="3962400"/>
            <a:ext cx="2660650" cy="2660650"/>
          </a:xfrm>
          <a:prstGeom prst="rect">
            <a:avLst/>
          </a:prstGeom>
          <a:noFill/>
        </p:spPr>
      </p:pic>
    </p:spTree>
  </p:cSld>
  <p:clrMapOvr>
    <a:masterClrMapping/>
  </p:clrMapOvr>
  <p:transition advTm="12112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2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3"/>
          <p:cNvGrpSpPr>
            <a:grpSpLocks/>
          </p:cNvGrpSpPr>
          <p:nvPr/>
        </p:nvGrpSpPr>
        <p:grpSpPr bwMode="auto">
          <a:xfrm>
            <a:off x="5362575" y="4343400"/>
            <a:ext cx="3248025" cy="2286000"/>
            <a:chOff x="3378" y="2736"/>
            <a:chExt cx="2046" cy="1440"/>
          </a:xfrm>
        </p:grpSpPr>
        <p:pic>
          <p:nvPicPr>
            <p:cNvPr id="59414" name="Picture 22" descr="H:\figs\left2.tif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3378" y="2736"/>
              <a:ext cx="1056" cy="1056"/>
            </a:xfrm>
            <a:prstGeom prst="rect">
              <a:avLst/>
            </a:prstGeom>
            <a:noFill/>
          </p:spPr>
        </p:pic>
        <p:pic>
          <p:nvPicPr>
            <p:cNvPr id="59415" name="Picture 23" descr="H:\figs\right2.tif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368" y="2736"/>
              <a:ext cx="1056" cy="1056"/>
            </a:xfrm>
            <a:prstGeom prst="rect">
              <a:avLst/>
            </a:prstGeom>
            <a:noFill/>
          </p:spPr>
        </p:pic>
        <p:sp>
          <p:nvSpPr>
            <p:cNvPr id="59464" name="Text Box 72"/>
            <p:cNvSpPr txBox="1">
              <a:spLocks noChangeArrowheads="1"/>
            </p:cNvSpPr>
            <p:nvPr/>
          </p:nvSpPr>
          <p:spPr bwMode="auto">
            <a:xfrm>
              <a:off x="3381" y="3888"/>
              <a:ext cx="194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ea typeface="宋体" charset="-122"/>
                </a:rPr>
                <a:t>min. error boundary</a:t>
              </a:r>
            </a:p>
          </p:txBody>
        </p:sp>
      </p:grpSp>
      <p:pic>
        <p:nvPicPr>
          <p:cNvPr id="59412" name="Picture 20" descr="H:\figs\right.t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67000" y="1828800"/>
            <a:ext cx="1676400" cy="1676400"/>
          </a:xfrm>
          <a:prstGeom prst="rect">
            <a:avLst/>
          </a:prstGeom>
          <a:noFill/>
        </p:spPr>
      </p:pic>
      <p:pic>
        <p:nvPicPr>
          <p:cNvPr id="59411" name="Picture 19" descr="H:\figs\left.t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800" y="1828800"/>
            <a:ext cx="1676400" cy="1676400"/>
          </a:xfrm>
          <a:prstGeom prst="rect">
            <a:avLst/>
          </a:prstGeom>
          <a:noFill/>
        </p:spPr>
      </p:pic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Minimal error boundary</a:t>
            </a:r>
          </a:p>
        </p:txBody>
      </p:sp>
      <p:pic>
        <p:nvPicPr>
          <p:cNvPr id="59413" name="Picture 21" descr="H:\figs\result2.ti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59400" y="1828800"/>
            <a:ext cx="2946400" cy="1676400"/>
          </a:xfrm>
          <a:prstGeom prst="rect">
            <a:avLst/>
          </a:prstGeom>
          <a:noFill/>
        </p:spPr>
      </p:pic>
      <p:grpSp>
        <p:nvGrpSpPr>
          <p:cNvPr id="3" name="Group 75"/>
          <p:cNvGrpSpPr>
            <a:grpSpLocks/>
          </p:cNvGrpSpPr>
          <p:nvPr/>
        </p:nvGrpSpPr>
        <p:grpSpPr bwMode="auto">
          <a:xfrm>
            <a:off x="6781800" y="4343400"/>
            <a:ext cx="1828800" cy="1692275"/>
            <a:chOff x="4272" y="2736"/>
            <a:chExt cx="1152" cy="1066"/>
          </a:xfrm>
        </p:grpSpPr>
        <p:pic>
          <p:nvPicPr>
            <p:cNvPr id="59449" name="Picture 57" descr="H:\figs\right2.tif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272" y="2736"/>
              <a:ext cx="1056" cy="1056"/>
            </a:xfrm>
            <a:prstGeom prst="rect">
              <a:avLst/>
            </a:prstGeom>
            <a:noFill/>
          </p:spPr>
        </p:pic>
        <p:sp>
          <p:nvSpPr>
            <p:cNvPr id="59450" name="Rectangle 58"/>
            <p:cNvSpPr>
              <a:spLocks noChangeArrowheads="1"/>
            </p:cNvSpPr>
            <p:nvPr/>
          </p:nvSpPr>
          <p:spPr bwMode="auto">
            <a:xfrm>
              <a:off x="5328" y="2736"/>
              <a:ext cx="96" cy="106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74"/>
          <p:cNvGrpSpPr>
            <a:grpSpLocks/>
          </p:cNvGrpSpPr>
          <p:nvPr/>
        </p:nvGrpSpPr>
        <p:grpSpPr bwMode="auto">
          <a:xfrm>
            <a:off x="5362575" y="4343400"/>
            <a:ext cx="3268663" cy="1689100"/>
            <a:chOff x="3378" y="2736"/>
            <a:chExt cx="2059" cy="1064"/>
          </a:xfrm>
        </p:grpSpPr>
        <p:sp>
          <p:nvSpPr>
            <p:cNvPr id="59443" name="Rectangle 51"/>
            <p:cNvSpPr>
              <a:spLocks noChangeArrowheads="1"/>
            </p:cNvSpPr>
            <p:nvPr/>
          </p:nvSpPr>
          <p:spPr bwMode="auto">
            <a:xfrm>
              <a:off x="5184" y="2736"/>
              <a:ext cx="253" cy="106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59444" name="Picture 52" descr="H:\figs\result.tif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378" y="2736"/>
              <a:ext cx="1856" cy="1056"/>
            </a:xfrm>
            <a:prstGeom prst="rect">
              <a:avLst/>
            </a:prstGeom>
            <a:noFill/>
          </p:spPr>
        </p:pic>
      </p:grpSp>
      <p:sp>
        <p:nvSpPr>
          <p:cNvPr id="59460" name="Text Box 68"/>
          <p:cNvSpPr txBox="1">
            <a:spLocks noChangeArrowheads="1"/>
          </p:cNvSpPr>
          <p:nvPr/>
        </p:nvSpPr>
        <p:spPr bwMode="auto">
          <a:xfrm>
            <a:off x="1066800" y="1295400"/>
            <a:ext cx="2840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overlapping blocks</a:t>
            </a:r>
          </a:p>
        </p:txBody>
      </p:sp>
      <p:sp>
        <p:nvSpPr>
          <p:cNvPr id="59463" name="Text Box 71"/>
          <p:cNvSpPr txBox="1">
            <a:spLocks noChangeArrowheads="1"/>
          </p:cNvSpPr>
          <p:nvPr/>
        </p:nvSpPr>
        <p:spPr bwMode="auto">
          <a:xfrm>
            <a:off x="5389563" y="1295400"/>
            <a:ext cx="27003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vertical boundary</a:t>
            </a:r>
          </a:p>
        </p:txBody>
      </p:sp>
      <p:sp>
        <p:nvSpPr>
          <p:cNvPr id="59469" name="AutoShape 77"/>
          <p:cNvSpPr>
            <a:spLocks noChangeArrowheads="1"/>
          </p:cNvSpPr>
          <p:nvPr/>
        </p:nvSpPr>
        <p:spPr bwMode="auto">
          <a:xfrm>
            <a:off x="4495800" y="2438400"/>
            <a:ext cx="685800" cy="457200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tx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80"/>
          <p:cNvGrpSpPr>
            <a:grpSpLocks/>
          </p:cNvGrpSpPr>
          <p:nvPr/>
        </p:nvGrpSpPr>
        <p:grpSpPr bwMode="auto">
          <a:xfrm>
            <a:off x="914400" y="1819275"/>
            <a:ext cx="3429000" cy="4810125"/>
            <a:chOff x="576" y="1146"/>
            <a:chExt cx="2160" cy="3030"/>
          </a:xfrm>
        </p:grpSpPr>
        <p:pic>
          <p:nvPicPr>
            <p:cNvPr id="59416" name="Picture 24" descr="H:\figs\err.tif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2480" y="2736"/>
              <a:ext cx="256" cy="1056"/>
            </a:xfrm>
            <a:prstGeom prst="rect">
              <a:avLst/>
            </a:prstGeom>
            <a:noFill/>
          </p:spPr>
        </p:pic>
        <p:pic>
          <p:nvPicPr>
            <p:cNvPr id="59420" name="Picture 28" descr="H:\figs\left.tif"/>
            <p:cNvPicPr>
              <a:picLocks noChangeAspect="1" noChangeArrowheads="1"/>
            </p:cNvPicPr>
            <p:nvPr/>
          </p:nvPicPr>
          <p:blipFill>
            <a:blip r:embed="rId5" cstate="print"/>
            <a:srcRect l="75000"/>
            <a:stretch>
              <a:fillRect/>
            </a:stretch>
          </p:blipFill>
          <p:spPr bwMode="auto">
            <a:xfrm>
              <a:off x="720" y="2736"/>
              <a:ext cx="264" cy="1056"/>
            </a:xfrm>
            <a:prstGeom prst="rect">
              <a:avLst/>
            </a:prstGeom>
            <a:noFill/>
          </p:spPr>
        </p:pic>
        <p:pic>
          <p:nvPicPr>
            <p:cNvPr id="59421" name="Picture 29" descr="H:\figs\right.tif"/>
            <p:cNvPicPr>
              <a:picLocks noChangeAspect="1" noChangeArrowheads="1"/>
            </p:cNvPicPr>
            <p:nvPr/>
          </p:nvPicPr>
          <p:blipFill>
            <a:blip r:embed="rId4" cstate="print"/>
            <a:srcRect r="76137"/>
            <a:stretch>
              <a:fillRect/>
            </a:stretch>
          </p:blipFill>
          <p:spPr bwMode="auto">
            <a:xfrm>
              <a:off x="1440" y="2736"/>
              <a:ext cx="252" cy="1056"/>
            </a:xfrm>
            <a:prstGeom prst="rect">
              <a:avLst/>
            </a:prstGeom>
            <a:noFill/>
          </p:spPr>
        </p:pic>
        <p:sp>
          <p:nvSpPr>
            <p:cNvPr id="59430" name="Rectangle 38"/>
            <p:cNvSpPr>
              <a:spLocks noChangeArrowheads="1"/>
            </p:cNvSpPr>
            <p:nvPr/>
          </p:nvSpPr>
          <p:spPr bwMode="auto">
            <a:xfrm>
              <a:off x="1008" y="2611"/>
              <a:ext cx="418" cy="7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7200" b="0">
                  <a:effectLst>
                    <a:outerShdw blurRad="38100" dist="38100" dir="2700000" algn="tl">
                      <a:srgbClr val="1C1C1C"/>
                    </a:outerShdw>
                  </a:effectLst>
                  <a:ea typeface="宋体" charset="-122"/>
                </a:rPr>
                <a:t>_</a:t>
              </a:r>
            </a:p>
          </p:txBody>
        </p:sp>
        <p:sp>
          <p:nvSpPr>
            <p:cNvPr id="59432" name="Rectangle 40"/>
            <p:cNvSpPr>
              <a:spLocks noChangeArrowheads="1"/>
            </p:cNvSpPr>
            <p:nvPr/>
          </p:nvSpPr>
          <p:spPr bwMode="auto">
            <a:xfrm>
              <a:off x="1968" y="2880"/>
              <a:ext cx="425" cy="6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6600">
                  <a:effectLst>
                    <a:outerShdw blurRad="38100" dist="38100" dir="2700000" algn="tl">
                      <a:srgbClr val="1C1C1C"/>
                    </a:outerShdw>
                  </a:effectLst>
                  <a:ea typeface="宋体" charset="-122"/>
                </a:rPr>
                <a:t>=</a:t>
              </a:r>
            </a:p>
          </p:txBody>
        </p:sp>
        <p:sp>
          <p:nvSpPr>
            <p:cNvPr id="59436" name="Rectangle 44"/>
            <p:cNvSpPr>
              <a:spLocks noChangeArrowheads="1"/>
            </p:cNvSpPr>
            <p:nvPr/>
          </p:nvSpPr>
          <p:spPr bwMode="auto">
            <a:xfrm>
              <a:off x="1824" y="2400"/>
              <a:ext cx="292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4400" b="0">
                  <a:effectLst>
                    <a:outerShdw blurRad="38100" dist="38100" dir="2700000" algn="tl">
                      <a:srgbClr val="1C1C1C"/>
                    </a:outerShdw>
                  </a:effectLst>
                  <a:latin typeface="Times New Roman" charset="0"/>
                  <a:ea typeface="宋体" charset="-122"/>
                </a:rPr>
                <a:t>2</a:t>
              </a:r>
            </a:p>
          </p:txBody>
        </p:sp>
        <p:sp>
          <p:nvSpPr>
            <p:cNvPr id="59438" name="Line 46"/>
            <p:cNvSpPr>
              <a:spLocks noChangeShapeType="1"/>
            </p:cNvSpPr>
            <p:nvPr/>
          </p:nvSpPr>
          <p:spPr bwMode="auto">
            <a:xfrm flipH="1">
              <a:off x="1584" y="2304"/>
              <a:ext cx="192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41" name="AutoShape 49"/>
            <p:cNvSpPr>
              <a:spLocks noChangeArrowheads="1"/>
            </p:cNvSpPr>
            <p:nvPr/>
          </p:nvSpPr>
          <p:spPr bwMode="auto">
            <a:xfrm>
              <a:off x="576" y="2640"/>
              <a:ext cx="1248" cy="1248"/>
            </a:xfrm>
            <a:prstGeom prst="bracketPair">
              <a:avLst>
                <a:gd name="adj" fmla="val 713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42" name="Line 50"/>
            <p:cNvSpPr>
              <a:spLocks noChangeShapeType="1"/>
            </p:cNvSpPr>
            <p:nvPr/>
          </p:nvSpPr>
          <p:spPr bwMode="auto">
            <a:xfrm flipH="1">
              <a:off x="1056" y="2304"/>
              <a:ext cx="192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22" name="Rectangle 30"/>
            <p:cNvSpPr>
              <a:spLocks noChangeArrowheads="1"/>
            </p:cNvSpPr>
            <p:nvPr/>
          </p:nvSpPr>
          <p:spPr bwMode="auto">
            <a:xfrm>
              <a:off x="1680" y="1146"/>
              <a:ext cx="253" cy="106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54" name="Rectangle 62"/>
            <p:cNvSpPr>
              <a:spLocks noChangeArrowheads="1"/>
            </p:cNvSpPr>
            <p:nvPr/>
          </p:nvSpPr>
          <p:spPr bwMode="auto">
            <a:xfrm>
              <a:off x="1236" y="1146"/>
              <a:ext cx="253" cy="106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55" name="Text Box 63"/>
            <p:cNvSpPr txBox="1">
              <a:spLocks noChangeArrowheads="1"/>
            </p:cNvSpPr>
            <p:nvPr/>
          </p:nvSpPr>
          <p:spPr bwMode="auto">
            <a:xfrm>
              <a:off x="944" y="3888"/>
              <a:ext cx="13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ea typeface="宋体" charset="-122"/>
                </a:rPr>
                <a:t>overlap error</a:t>
              </a:r>
            </a:p>
          </p:txBody>
        </p:sp>
        <p:sp>
          <p:nvSpPr>
            <p:cNvPr id="59470" name="Rectangle 78"/>
            <p:cNvSpPr>
              <a:spLocks noChangeArrowheads="1"/>
            </p:cNvSpPr>
            <p:nvPr/>
          </p:nvSpPr>
          <p:spPr bwMode="auto">
            <a:xfrm>
              <a:off x="2483" y="2736"/>
              <a:ext cx="253" cy="1066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59417" name="Picture 25" descr="H:\figs\mask3.tif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81450" y="4343400"/>
            <a:ext cx="406400" cy="1676400"/>
          </a:xfrm>
          <a:prstGeom prst="rect">
            <a:avLst/>
          </a:prstGeom>
          <a:noFill/>
        </p:spPr>
      </p:pic>
    </p:spTree>
  </p:cSld>
  <p:clrMapOvr>
    <a:masterClrMapping/>
  </p:clrMapOvr>
  <p:transition advTm="7060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03" name="Rectangle 206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Algorithm</a:t>
            </a:r>
          </a:p>
        </p:txBody>
      </p:sp>
      <p:sp>
        <p:nvSpPr>
          <p:cNvPr id="63504" name="Rectangle 2064"/>
          <p:cNvSpPr>
            <a:spLocks noGrp="1" noChangeArrowheads="1"/>
          </p:cNvSpPr>
          <p:nvPr>
            <p:ph type="body" idx="1"/>
          </p:nvPr>
        </p:nvSpPr>
        <p:spPr>
          <a:xfrm>
            <a:off x="301625" y="1219200"/>
            <a:ext cx="8561388" cy="5181600"/>
          </a:xfrm>
        </p:spPr>
        <p:txBody>
          <a:bodyPr/>
          <a:lstStyle/>
          <a:p>
            <a:pPr lvl="1">
              <a:lnSpc>
                <a:spcPct val="100000"/>
              </a:lnSpc>
            </a:pPr>
            <a:r>
              <a:rPr lang="en-US" altLang="zh-CN">
                <a:ea typeface="宋体" charset="-122"/>
              </a:rPr>
              <a:t>Pick size of block and size of overlap</a:t>
            </a:r>
          </a:p>
          <a:p>
            <a:pPr lvl="1">
              <a:lnSpc>
                <a:spcPct val="100000"/>
              </a:lnSpc>
            </a:pPr>
            <a:r>
              <a:rPr lang="en-US" altLang="zh-CN">
                <a:ea typeface="宋体" charset="-122"/>
              </a:rPr>
              <a:t>Synthesize blocks in raster order</a:t>
            </a:r>
          </a:p>
          <a:p>
            <a:pPr>
              <a:lnSpc>
                <a:spcPct val="90000"/>
              </a:lnSpc>
            </a:pPr>
            <a:endParaRPr lang="en-US" altLang="zh-CN" sz="3200">
              <a:ea typeface="宋体" charset="-122"/>
            </a:endParaRPr>
          </a:p>
          <a:p>
            <a:pPr>
              <a:lnSpc>
                <a:spcPct val="90000"/>
              </a:lnSpc>
            </a:pPr>
            <a:endParaRPr lang="en-US" altLang="zh-CN" sz="3200">
              <a:ea typeface="宋体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>
                <a:ea typeface="宋体" charset="-122"/>
              </a:rPr>
              <a:t>Search input texture for block that satisfies overlap constraints (above and left)</a:t>
            </a:r>
          </a:p>
          <a:p>
            <a:pPr lvl="2">
              <a:lnSpc>
                <a:spcPct val="90000"/>
              </a:lnSpc>
            </a:pPr>
            <a:r>
              <a:rPr lang="en-US" altLang="zh-CN">
                <a:ea typeface="宋体" charset="-122"/>
              </a:rPr>
              <a:t>Easy to optimize using NN search [Liang et.al., ’01]</a:t>
            </a:r>
          </a:p>
          <a:p>
            <a:pPr lvl="1">
              <a:lnSpc>
                <a:spcPct val="100000"/>
              </a:lnSpc>
            </a:pPr>
            <a:r>
              <a:rPr lang="en-US" altLang="zh-CN">
                <a:ea typeface="宋体" charset="-122"/>
              </a:rPr>
              <a:t>Paste new block into resulting texture</a:t>
            </a:r>
          </a:p>
          <a:p>
            <a:pPr lvl="2">
              <a:lnSpc>
                <a:spcPct val="90000"/>
              </a:lnSpc>
            </a:pPr>
            <a:r>
              <a:rPr lang="en-US" altLang="zh-CN">
                <a:ea typeface="宋体" charset="-122"/>
              </a:rPr>
              <a:t>use dynamic programming to compute minimal error boundary cut</a:t>
            </a:r>
          </a:p>
        </p:txBody>
      </p:sp>
      <p:grpSp>
        <p:nvGrpSpPr>
          <p:cNvPr id="2" name="Group 2065"/>
          <p:cNvGrpSpPr>
            <a:grpSpLocks/>
          </p:cNvGrpSpPr>
          <p:nvPr/>
        </p:nvGrpSpPr>
        <p:grpSpPr bwMode="auto">
          <a:xfrm>
            <a:off x="2590800" y="2362200"/>
            <a:ext cx="2743200" cy="990600"/>
            <a:chOff x="1728" y="1632"/>
            <a:chExt cx="1488" cy="528"/>
          </a:xfrm>
        </p:grpSpPr>
        <p:sp>
          <p:nvSpPr>
            <p:cNvPr id="63493" name="Rectangle 2053"/>
            <p:cNvSpPr>
              <a:spLocks noChangeArrowheads="1"/>
            </p:cNvSpPr>
            <p:nvPr/>
          </p:nvSpPr>
          <p:spPr bwMode="auto">
            <a:xfrm>
              <a:off x="2208" y="163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494" name="Rectangle 2054" descr="25%"/>
            <p:cNvSpPr>
              <a:spLocks noChangeArrowheads="1"/>
            </p:cNvSpPr>
            <p:nvPr/>
          </p:nvSpPr>
          <p:spPr bwMode="auto">
            <a:xfrm>
              <a:off x="2448" y="1872"/>
              <a:ext cx="288" cy="288"/>
            </a:xfrm>
            <a:prstGeom prst="rect">
              <a:avLst/>
            </a:prstGeom>
            <a:pattFill prst="pct25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495" name="Rectangle 2055"/>
            <p:cNvSpPr>
              <a:spLocks noChangeArrowheads="1"/>
            </p:cNvSpPr>
            <p:nvPr/>
          </p:nvSpPr>
          <p:spPr bwMode="auto">
            <a:xfrm>
              <a:off x="2208" y="187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496" name="Rectangle 2056"/>
            <p:cNvSpPr>
              <a:spLocks noChangeArrowheads="1"/>
            </p:cNvSpPr>
            <p:nvPr/>
          </p:nvSpPr>
          <p:spPr bwMode="auto">
            <a:xfrm>
              <a:off x="2448" y="163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497" name="Rectangle 2057"/>
            <p:cNvSpPr>
              <a:spLocks noChangeArrowheads="1"/>
            </p:cNvSpPr>
            <p:nvPr/>
          </p:nvSpPr>
          <p:spPr bwMode="auto">
            <a:xfrm>
              <a:off x="1968" y="163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498" name="Rectangle 2058"/>
            <p:cNvSpPr>
              <a:spLocks noChangeArrowheads="1"/>
            </p:cNvSpPr>
            <p:nvPr/>
          </p:nvSpPr>
          <p:spPr bwMode="auto">
            <a:xfrm>
              <a:off x="1728" y="163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499" name="Rectangle 2059"/>
            <p:cNvSpPr>
              <a:spLocks noChangeArrowheads="1"/>
            </p:cNvSpPr>
            <p:nvPr/>
          </p:nvSpPr>
          <p:spPr bwMode="auto">
            <a:xfrm>
              <a:off x="1968" y="187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0" name="Rectangle 2060"/>
            <p:cNvSpPr>
              <a:spLocks noChangeArrowheads="1"/>
            </p:cNvSpPr>
            <p:nvPr/>
          </p:nvSpPr>
          <p:spPr bwMode="auto">
            <a:xfrm>
              <a:off x="1728" y="187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1" name="Rectangle 2061"/>
            <p:cNvSpPr>
              <a:spLocks noChangeArrowheads="1"/>
            </p:cNvSpPr>
            <p:nvPr/>
          </p:nvSpPr>
          <p:spPr bwMode="auto">
            <a:xfrm>
              <a:off x="2928" y="163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2" name="Rectangle 2062"/>
            <p:cNvSpPr>
              <a:spLocks noChangeArrowheads="1"/>
            </p:cNvSpPr>
            <p:nvPr/>
          </p:nvSpPr>
          <p:spPr bwMode="auto">
            <a:xfrm>
              <a:off x="2688" y="163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advTm="27952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40" name="Picture 4" descr="H:\results\synth\11_out_sc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84738" y="2827338"/>
            <a:ext cx="3725862" cy="3725862"/>
          </a:xfrm>
          <a:prstGeom prst="rect">
            <a:avLst/>
          </a:prstGeom>
          <a:noFill/>
        </p:spPr>
      </p:pic>
      <p:pic>
        <p:nvPicPr>
          <p:cNvPr id="91141" name="Picture 5" descr="H:\results\synth\11_sc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32475" y="609600"/>
            <a:ext cx="1863725" cy="1863725"/>
          </a:xfrm>
          <a:prstGeom prst="rect">
            <a:avLst/>
          </a:prstGeom>
          <a:noFill/>
        </p:spPr>
      </p:pic>
      <p:pic>
        <p:nvPicPr>
          <p:cNvPr id="91142" name="Picture 6" descr="H:\results\synth\23_out_sc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2827338"/>
            <a:ext cx="3725863" cy="3725862"/>
          </a:xfrm>
          <a:prstGeom prst="rect">
            <a:avLst/>
          </a:prstGeom>
          <a:noFill/>
        </p:spPr>
      </p:pic>
      <p:pic>
        <p:nvPicPr>
          <p:cNvPr id="91143" name="Picture 7" descr="H:\results\synth\23_sc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47800" y="609600"/>
            <a:ext cx="1863725" cy="1863725"/>
          </a:xfrm>
          <a:prstGeom prst="rect">
            <a:avLst/>
          </a:prstGeom>
          <a:noFill/>
        </p:spPr>
      </p:pic>
    </p:spTree>
  </p:cSld>
  <p:clrMapOvr>
    <a:masterClrMapping/>
  </p:clrMapOvr>
  <p:transition advTm="5968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4" name="Picture 6" descr="H:\results\synth\9_sc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609600"/>
            <a:ext cx="1863725" cy="1863725"/>
          </a:xfrm>
          <a:prstGeom prst="rect">
            <a:avLst/>
          </a:prstGeom>
          <a:noFill/>
        </p:spPr>
      </p:pic>
      <p:pic>
        <p:nvPicPr>
          <p:cNvPr id="94215" name="Picture 7" descr="H:\results\synth\9_out_sc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2827338"/>
            <a:ext cx="3725863" cy="3725862"/>
          </a:xfrm>
          <a:prstGeom prst="rect">
            <a:avLst/>
          </a:prstGeom>
          <a:noFill/>
        </p:spPr>
      </p:pic>
      <p:pic>
        <p:nvPicPr>
          <p:cNvPr id="94216" name="Picture 8" descr="H:\results\synth\radishes_sc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32475" y="574675"/>
            <a:ext cx="1863725" cy="1863725"/>
          </a:xfrm>
          <a:prstGeom prst="rect">
            <a:avLst/>
          </a:prstGeom>
          <a:noFill/>
        </p:spPr>
      </p:pic>
      <p:pic>
        <p:nvPicPr>
          <p:cNvPr id="94217" name="Picture 9" descr="H:\results\synth\radishes_out_sc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76800" y="2827338"/>
            <a:ext cx="3725863" cy="3725862"/>
          </a:xfrm>
          <a:prstGeom prst="rect">
            <a:avLst/>
          </a:prstGeom>
          <a:noFill/>
        </p:spPr>
      </p:pic>
    </p:spTree>
  </p:cSld>
  <p:clrMapOvr>
    <a:masterClrMapping/>
  </p:clrMapOvr>
  <p:transition advTm="13392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04" name="Object 8"/>
          <p:cNvGraphicFramePr>
            <a:graphicFrameLocks noChangeAspect="1"/>
          </p:cNvGraphicFramePr>
          <p:nvPr/>
        </p:nvGraphicFramePr>
        <p:xfrm>
          <a:off x="4648200" y="2817813"/>
          <a:ext cx="3811588" cy="381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0" name="PhotoSuite Image" r:id="rId3" imgW="3981600" imgH="3981600" progId="">
                  <p:embed/>
                </p:oleObj>
              </mc:Choice>
              <mc:Fallback>
                <p:oleObj name="PhotoSuite Image" r:id="rId3" imgW="3981600" imgH="39816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817813"/>
                        <a:ext cx="3811588" cy="381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5" name="Object 9"/>
          <p:cNvGraphicFramePr>
            <a:graphicFrameLocks noChangeAspect="1"/>
          </p:cNvGraphicFramePr>
          <p:nvPr/>
        </p:nvGraphicFramePr>
        <p:xfrm>
          <a:off x="5562600" y="609600"/>
          <a:ext cx="18288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1" name="PhotoSuite Image" r:id="rId5" imgW="1828800" imgH="1828800" progId="">
                  <p:embed/>
                </p:oleObj>
              </mc:Choice>
              <mc:Fallback>
                <p:oleObj name="PhotoSuite Image" r:id="rId5" imgW="1828800" imgH="18288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609600"/>
                        <a:ext cx="18288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7" name="Object 11"/>
          <p:cNvGraphicFramePr>
            <a:graphicFrameLocks noChangeAspect="1"/>
          </p:cNvGraphicFramePr>
          <p:nvPr/>
        </p:nvGraphicFramePr>
        <p:xfrm>
          <a:off x="1447800" y="609600"/>
          <a:ext cx="18288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" name="PhotoSuite Image" r:id="rId7" imgW="1828800" imgH="1828800" progId="">
                  <p:embed/>
                </p:oleObj>
              </mc:Choice>
              <mc:Fallback>
                <p:oleObj name="PhotoSuite Image" r:id="rId7" imgW="1828800" imgH="182880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609600"/>
                        <a:ext cx="18288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8" name="Object 12"/>
          <p:cNvGraphicFramePr>
            <a:graphicFrameLocks noChangeAspect="1"/>
          </p:cNvGraphicFramePr>
          <p:nvPr/>
        </p:nvGraphicFramePr>
        <p:xfrm>
          <a:off x="533400" y="2817813"/>
          <a:ext cx="3811588" cy="381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" name="PhotoSuite Image" r:id="rId9" imgW="3943440" imgH="3943440" progId="">
                  <p:embed/>
                </p:oleObj>
              </mc:Choice>
              <mc:Fallback>
                <p:oleObj name="PhotoSuite Image" r:id="rId9" imgW="3943440" imgH="394344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817813"/>
                        <a:ext cx="3811588" cy="381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Tm="6992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8" name="Picture 6" descr="H:\results\synth\cans_sc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609600"/>
            <a:ext cx="1863725" cy="1863725"/>
          </a:xfrm>
          <a:prstGeom prst="rect">
            <a:avLst/>
          </a:prstGeom>
          <a:noFill/>
        </p:spPr>
      </p:pic>
      <p:pic>
        <p:nvPicPr>
          <p:cNvPr id="95239" name="Picture 7" descr="H:\results\synth\cans_out_sc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2827338"/>
            <a:ext cx="3725863" cy="3725862"/>
          </a:xfrm>
          <a:prstGeom prst="rect">
            <a:avLst/>
          </a:prstGeom>
          <a:noFill/>
        </p:spPr>
      </p:pic>
      <p:pic>
        <p:nvPicPr>
          <p:cNvPr id="95241" name="Picture 9" descr="H:\results\synth\windows_sc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32475" y="609600"/>
            <a:ext cx="1863725" cy="1863725"/>
          </a:xfrm>
          <a:prstGeom prst="rect">
            <a:avLst/>
          </a:prstGeom>
          <a:noFill/>
        </p:spPr>
      </p:pic>
      <p:pic>
        <p:nvPicPr>
          <p:cNvPr id="95242" name="Picture 10" descr="H:\results\synth\windows_out_sc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76800" y="2827338"/>
            <a:ext cx="3725863" cy="3725862"/>
          </a:xfrm>
          <a:prstGeom prst="rect">
            <a:avLst/>
          </a:prstGeom>
          <a:noFill/>
        </p:spPr>
      </p:pic>
    </p:spTree>
  </p:cSld>
  <p:clrMapOvr>
    <a:masterClrMapping/>
  </p:clrMapOvr>
  <p:transition advTm="10608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Picture 2" descr="H:\results\synth\apples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4403725"/>
            <a:ext cx="2193925" cy="1463675"/>
          </a:xfrm>
          <a:prstGeom prst="rect">
            <a:avLst/>
          </a:prstGeom>
          <a:noFill/>
        </p:spPr>
      </p:pic>
      <p:pic>
        <p:nvPicPr>
          <p:cNvPr id="87043" name="Picture 3" descr="H:\results\synth\apples_ou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33800" y="3627438"/>
            <a:ext cx="4389438" cy="2925762"/>
          </a:xfrm>
          <a:prstGeom prst="rect">
            <a:avLst/>
          </a:prstGeom>
          <a:noFill/>
        </p:spPr>
      </p:pic>
      <p:graphicFrame>
        <p:nvGraphicFramePr>
          <p:cNvPr id="103424" name="Object 0"/>
          <p:cNvGraphicFramePr>
            <a:graphicFrameLocks noChangeAspect="1"/>
          </p:cNvGraphicFramePr>
          <p:nvPr/>
        </p:nvGraphicFramePr>
        <p:xfrm>
          <a:off x="4191000" y="419100"/>
          <a:ext cx="3314700" cy="29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2" name="PhotoSuite Image" r:id="rId5" imgW="3314880" imgH="2933640" progId="">
                  <p:embed/>
                </p:oleObj>
              </mc:Choice>
              <mc:Fallback>
                <p:oleObj name="PhotoSuite Image" r:id="rId5" imgW="3314880" imgH="2933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19100"/>
                        <a:ext cx="3314700" cy="293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25" name="Object 1"/>
          <p:cNvGraphicFramePr>
            <a:graphicFrameLocks noChangeAspect="1"/>
          </p:cNvGraphicFramePr>
          <p:nvPr/>
        </p:nvGraphicFramePr>
        <p:xfrm>
          <a:off x="1752600" y="1209675"/>
          <a:ext cx="161925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3" name="PhotoSuite Image" r:id="rId7" imgW="1619280" imgH="1457280" progId="">
                  <p:embed/>
                </p:oleObj>
              </mc:Choice>
              <mc:Fallback>
                <p:oleObj name="PhotoSuite Image" r:id="rId7" imgW="1619280" imgH="145728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209675"/>
                        <a:ext cx="1619250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Tm="13104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49" name="Object 17"/>
          <p:cNvGraphicFramePr>
            <a:graphicFrameLocks noChangeAspect="1"/>
          </p:cNvGraphicFramePr>
          <p:nvPr/>
        </p:nvGraphicFramePr>
        <p:xfrm>
          <a:off x="257175" y="5486400"/>
          <a:ext cx="1143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7" name="PhotoSuite Image" r:id="rId3" imgW="914400" imgH="914400" progId="">
                  <p:embed/>
                </p:oleObj>
              </mc:Choice>
              <mc:Fallback>
                <p:oleObj name="PhotoSuite Image" r:id="rId3" imgW="914400" imgH="9144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" y="5486400"/>
                        <a:ext cx="11430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53" name="Picture 21" descr="H:\results\synth\S29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03725" y="2041525"/>
            <a:ext cx="1463675" cy="1463675"/>
          </a:xfrm>
          <a:prstGeom prst="rect">
            <a:avLst/>
          </a:prstGeom>
          <a:noFill/>
        </p:spPr>
      </p:pic>
      <p:pic>
        <p:nvPicPr>
          <p:cNvPr id="18454" name="Picture 22" descr="H:\results\synth\S29_out.gi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989638" y="579438"/>
            <a:ext cx="2925762" cy="2925762"/>
          </a:xfrm>
          <a:prstGeom prst="rect">
            <a:avLst/>
          </a:prstGeom>
          <a:noFill/>
        </p:spPr>
      </p:pic>
      <p:pic>
        <p:nvPicPr>
          <p:cNvPr id="18455" name="Picture 23" descr="H:\results\synth\peanuts_out.gif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524000" y="4038600"/>
            <a:ext cx="2590800" cy="2590800"/>
          </a:xfrm>
          <a:prstGeom prst="rect">
            <a:avLst/>
          </a:prstGeom>
          <a:noFill/>
        </p:spPr>
      </p:pic>
      <p:pic>
        <p:nvPicPr>
          <p:cNvPr id="18456" name="Picture 24" descr="H:\results\synth\yellow-peppers_out.gi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89638" y="3703638"/>
            <a:ext cx="2925762" cy="2925762"/>
          </a:xfrm>
          <a:prstGeom prst="rect">
            <a:avLst/>
          </a:prstGeom>
          <a:noFill/>
        </p:spPr>
      </p:pic>
      <p:pic>
        <p:nvPicPr>
          <p:cNvPr id="18457" name="Picture 25" descr="H:\results\synth\yellow-peppers.gif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403725" y="5165725"/>
            <a:ext cx="1463675" cy="1463675"/>
          </a:xfrm>
          <a:prstGeom prst="rect">
            <a:avLst/>
          </a:prstGeom>
          <a:noFill/>
        </p:spPr>
      </p:pic>
      <p:graphicFrame>
        <p:nvGraphicFramePr>
          <p:cNvPr id="18458" name="Object 26"/>
          <p:cNvGraphicFramePr>
            <a:graphicFrameLocks noChangeAspect="1"/>
          </p:cNvGraphicFramePr>
          <p:nvPr/>
        </p:nvGraphicFramePr>
        <p:xfrm>
          <a:off x="1600200" y="1104900"/>
          <a:ext cx="2419350" cy="241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" name="PhotoSuite Image" r:id="rId10" imgW="2419200" imgH="2419200" progId="">
                  <p:embed/>
                </p:oleObj>
              </mc:Choice>
              <mc:Fallback>
                <p:oleObj name="PhotoSuite Image" r:id="rId10" imgW="2419200" imgH="24192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104900"/>
                        <a:ext cx="2419350" cy="241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9" name="Object 27"/>
          <p:cNvGraphicFramePr>
            <a:graphicFrameLocks noChangeAspect="1"/>
          </p:cNvGraphicFramePr>
          <p:nvPr/>
        </p:nvGraphicFramePr>
        <p:xfrm>
          <a:off x="266700" y="2286000"/>
          <a:ext cx="12192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9" name="PhotoSuite Image" r:id="rId12" imgW="1219320" imgH="1219320" progId="">
                  <p:embed/>
                </p:oleObj>
              </mc:Choice>
              <mc:Fallback>
                <p:oleObj name="PhotoSuite Image" r:id="rId12" imgW="1219320" imgH="121932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" y="2286000"/>
                        <a:ext cx="12192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Tm="5120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4876800" y="5334000"/>
          <a:ext cx="12192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4" name="PhotoSuite Image" r:id="rId3" imgW="1219320" imgH="1219320" progId="">
                  <p:embed/>
                </p:oleObj>
              </mc:Choice>
              <mc:Fallback>
                <p:oleObj name="PhotoSuite Image" r:id="rId3" imgW="1219320" imgH="121932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334000"/>
                        <a:ext cx="12192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7"/>
          <p:cNvGraphicFramePr>
            <a:graphicFrameLocks noChangeAspect="1"/>
          </p:cNvGraphicFramePr>
          <p:nvPr/>
        </p:nvGraphicFramePr>
        <p:xfrm>
          <a:off x="4876800" y="2057400"/>
          <a:ext cx="12192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5" name="PhotoSuite Image" r:id="rId5" imgW="1219320" imgH="1219320" progId="">
                  <p:embed/>
                </p:oleObj>
              </mc:Choice>
              <mc:Fallback>
                <p:oleObj name="PhotoSuite Image" r:id="rId5" imgW="1219320" imgH="121932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057400"/>
                        <a:ext cx="12192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9"/>
          <p:cNvGraphicFramePr>
            <a:graphicFrameLocks noChangeAspect="1"/>
          </p:cNvGraphicFramePr>
          <p:nvPr/>
        </p:nvGraphicFramePr>
        <p:xfrm>
          <a:off x="6324600" y="4000500"/>
          <a:ext cx="2552700" cy="255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6" name="PhotoSuite Image" r:id="rId7" imgW="2552760" imgH="2552760" progId="">
                  <p:embed/>
                </p:oleObj>
              </mc:Choice>
              <mc:Fallback>
                <p:oleObj name="PhotoSuite Image" r:id="rId7" imgW="2552760" imgH="255276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000500"/>
                        <a:ext cx="2552700" cy="255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10"/>
          <p:cNvGraphicFramePr>
            <a:graphicFrameLocks noChangeAspect="1"/>
          </p:cNvGraphicFramePr>
          <p:nvPr/>
        </p:nvGraphicFramePr>
        <p:xfrm>
          <a:off x="6324600" y="723900"/>
          <a:ext cx="2552700" cy="255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7" name="PhotoSuite Image" r:id="rId9" imgW="2552760" imgH="2552760" progId="">
                  <p:embed/>
                </p:oleObj>
              </mc:Choice>
              <mc:Fallback>
                <p:oleObj name="PhotoSuite Image" r:id="rId9" imgW="2552760" imgH="255276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723900"/>
                        <a:ext cx="2552700" cy="255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96" name="Picture 12" descr="H:\results\synth\14.jp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04800" y="5257800"/>
            <a:ext cx="1295400" cy="1295400"/>
          </a:xfrm>
          <a:prstGeom prst="rect">
            <a:avLst/>
          </a:prstGeom>
          <a:noFill/>
        </p:spPr>
      </p:pic>
      <p:pic>
        <p:nvPicPr>
          <p:cNvPr id="16397" name="Picture 13" descr="H:\results\synth\14_out.tif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828800" y="3937000"/>
            <a:ext cx="2616200" cy="2616200"/>
          </a:xfrm>
          <a:prstGeom prst="rect">
            <a:avLst/>
          </a:prstGeom>
          <a:noFill/>
        </p:spPr>
      </p:pic>
      <p:graphicFrame>
        <p:nvGraphicFramePr>
          <p:cNvPr id="16398" name="Object 14"/>
          <p:cNvGraphicFramePr>
            <a:graphicFrameLocks noChangeAspect="1"/>
          </p:cNvGraphicFramePr>
          <p:nvPr/>
        </p:nvGraphicFramePr>
        <p:xfrm>
          <a:off x="1905000" y="762000"/>
          <a:ext cx="2552700" cy="255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8" name="PhotoSuite Image" r:id="rId13" imgW="2552760" imgH="2552760" progId="">
                  <p:embed/>
                </p:oleObj>
              </mc:Choice>
              <mc:Fallback>
                <p:oleObj name="PhotoSuite Image" r:id="rId13" imgW="2552760" imgH="255276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762000"/>
                        <a:ext cx="2552700" cy="255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9" name="Object 15"/>
          <p:cNvGraphicFramePr>
            <a:graphicFrameLocks noChangeAspect="1"/>
          </p:cNvGraphicFramePr>
          <p:nvPr/>
        </p:nvGraphicFramePr>
        <p:xfrm>
          <a:off x="381000" y="2085975"/>
          <a:ext cx="12192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9" name="PhotoSuite Image" r:id="rId15" imgW="1219320" imgH="1219320" progId="">
                  <p:embed/>
                </p:oleObj>
              </mc:Choice>
              <mc:Fallback>
                <p:oleObj name="PhotoSuite Image" r:id="rId15" imgW="1219320" imgH="121932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085975"/>
                        <a:ext cx="12192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Tm="4048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87" name="Text Box 15"/>
          <p:cNvSpPr txBox="1">
            <a:spLocks noChangeArrowheads="1"/>
          </p:cNvSpPr>
          <p:nvPr/>
        </p:nvSpPr>
        <p:spPr bwMode="auto">
          <a:xfrm>
            <a:off x="457200" y="4724400"/>
            <a:ext cx="21478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>
                <a:ea typeface="宋体" charset="-122"/>
              </a:rPr>
              <a:t>input image</a:t>
            </a:r>
          </a:p>
        </p:txBody>
      </p:sp>
      <p:sp>
        <p:nvSpPr>
          <p:cNvPr id="79889" name="Text Box 17"/>
          <p:cNvSpPr txBox="1">
            <a:spLocks noChangeArrowheads="1"/>
          </p:cNvSpPr>
          <p:nvPr/>
        </p:nvSpPr>
        <p:spPr bwMode="auto">
          <a:xfrm>
            <a:off x="3352800" y="2971800"/>
            <a:ext cx="25987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ea typeface="宋体" charset="-122"/>
              </a:rPr>
              <a:t>Portilla &amp; Simoncelli</a:t>
            </a:r>
          </a:p>
        </p:txBody>
      </p:sp>
      <p:sp>
        <p:nvSpPr>
          <p:cNvPr id="79892" name="Text Box 20"/>
          <p:cNvSpPr txBox="1">
            <a:spLocks noChangeArrowheads="1"/>
          </p:cNvSpPr>
          <p:nvPr/>
        </p:nvSpPr>
        <p:spPr bwMode="auto">
          <a:xfrm>
            <a:off x="3902075" y="6461125"/>
            <a:ext cx="1660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ea typeface="宋体" charset="-122"/>
              </a:rPr>
              <a:t>Wei &amp; Levoy</a:t>
            </a:r>
          </a:p>
        </p:txBody>
      </p:sp>
      <p:sp>
        <p:nvSpPr>
          <p:cNvPr id="79893" name="Text Box 21"/>
          <p:cNvSpPr txBox="1">
            <a:spLocks noChangeArrowheads="1"/>
          </p:cNvSpPr>
          <p:nvPr/>
        </p:nvSpPr>
        <p:spPr bwMode="auto">
          <a:xfrm>
            <a:off x="6629400" y="6461125"/>
            <a:ext cx="1892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47F96D"/>
                </a:solidFill>
                <a:ea typeface="宋体" charset="-122"/>
              </a:rPr>
              <a:t>Image Quilting</a:t>
            </a:r>
          </a:p>
        </p:txBody>
      </p:sp>
      <p:pic>
        <p:nvPicPr>
          <p:cNvPr id="79899" name="Picture 27" descr="H:\results\compare\D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238" y="1798638"/>
            <a:ext cx="2925762" cy="2925762"/>
          </a:xfrm>
          <a:prstGeom prst="rect">
            <a:avLst/>
          </a:prstGeom>
          <a:noFill/>
        </p:spPr>
      </p:pic>
      <p:pic>
        <p:nvPicPr>
          <p:cNvPr id="79900" name="Picture 28" descr="H:\results\compare\D1_mo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8238" y="76200"/>
            <a:ext cx="2925762" cy="2925763"/>
          </a:xfrm>
          <a:prstGeom prst="rect">
            <a:avLst/>
          </a:prstGeom>
          <a:noFill/>
        </p:spPr>
      </p:pic>
      <p:pic>
        <p:nvPicPr>
          <p:cNvPr id="79901" name="Picture 29" descr="H:\results\compare\D1_s.s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70238" y="76200"/>
            <a:ext cx="2925762" cy="2925763"/>
          </a:xfrm>
          <a:prstGeom prst="rect">
            <a:avLst/>
          </a:prstGeom>
          <a:noFill/>
        </p:spPr>
      </p:pic>
      <p:pic>
        <p:nvPicPr>
          <p:cNvPr id="79902" name="Picture 30" descr="H:\results\compare\D1_Wei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170238" y="3505200"/>
            <a:ext cx="2925762" cy="2925763"/>
          </a:xfrm>
          <a:prstGeom prst="rect">
            <a:avLst/>
          </a:prstGeom>
          <a:noFill/>
        </p:spPr>
      </p:pic>
      <p:pic>
        <p:nvPicPr>
          <p:cNvPr id="79903" name="Picture 31" descr="H:\results\compare\D1_out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218238" y="3505200"/>
            <a:ext cx="2925762" cy="292576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</p:pic>
      <p:sp>
        <p:nvSpPr>
          <p:cNvPr id="79904" name="Text Box 32"/>
          <p:cNvSpPr txBox="1">
            <a:spLocks noChangeArrowheads="1"/>
          </p:cNvSpPr>
          <p:nvPr/>
        </p:nvSpPr>
        <p:spPr bwMode="auto">
          <a:xfrm>
            <a:off x="6505575" y="2971800"/>
            <a:ext cx="21050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ea typeface="宋体" charset="-122"/>
              </a:rPr>
              <a:t>Xu, Guo &amp; Shum</a:t>
            </a:r>
          </a:p>
        </p:txBody>
      </p:sp>
    </p:spTree>
  </p:cSld>
  <p:clrMapOvr>
    <a:masterClrMapping/>
  </p:clrMapOvr>
  <p:transition advTm="30368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Text Box 3"/>
          <p:cNvSpPr txBox="1">
            <a:spLocks noChangeArrowheads="1"/>
          </p:cNvSpPr>
          <p:nvPr/>
        </p:nvSpPr>
        <p:spPr bwMode="auto">
          <a:xfrm>
            <a:off x="3352800" y="2971800"/>
            <a:ext cx="25987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ea typeface="宋体" charset="-122"/>
              </a:rPr>
              <a:t>Portilla &amp; Simoncelli</a:t>
            </a:r>
          </a:p>
        </p:txBody>
      </p:sp>
      <p:sp>
        <p:nvSpPr>
          <p:cNvPr id="81925" name="Text Box 5"/>
          <p:cNvSpPr txBox="1">
            <a:spLocks noChangeArrowheads="1"/>
          </p:cNvSpPr>
          <p:nvPr/>
        </p:nvSpPr>
        <p:spPr bwMode="auto">
          <a:xfrm>
            <a:off x="3902075" y="6461125"/>
            <a:ext cx="1660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ea typeface="宋体" charset="-122"/>
              </a:rPr>
              <a:t>Wei &amp; Levoy</a:t>
            </a:r>
          </a:p>
        </p:txBody>
      </p:sp>
      <p:sp>
        <p:nvSpPr>
          <p:cNvPr id="81926" name="Text Box 6"/>
          <p:cNvSpPr txBox="1">
            <a:spLocks noChangeArrowheads="1"/>
          </p:cNvSpPr>
          <p:nvPr/>
        </p:nvSpPr>
        <p:spPr bwMode="auto">
          <a:xfrm>
            <a:off x="6629400" y="6461125"/>
            <a:ext cx="1892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47F96D"/>
                </a:solidFill>
                <a:ea typeface="宋体" charset="-122"/>
              </a:rPr>
              <a:t>Image Quilting</a:t>
            </a:r>
          </a:p>
        </p:txBody>
      </p:sp>
      <p:pic>
        <p:nvPicPr>
          <p:cNvPr id="81927" name="Picture 7" descr="H:\results\compare\brick3_mo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8238" y="76200"/>
            <a:ext cx="2925762" cy="2925763"/>
          </a:xfrm>
          <a:prstGeom prst="rect">
            <a:avLst/>
          </a:prstGeom>
          <a:noFill/>
        </p:spPr>
      </p:pic>
      <p:pic>
        <p:nvPicPr>
          <p:cNvPr id="81928" name="Picture 8" descr="H:\results\compare\brick3_s.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70238" y="76200"/>
            <a:ext cx="2925762" cy="2925763"/>
          </a:xfrm>
          <a:prstGeom prst="rect">
            <a:avLst/>
          </a:prstGeom>
          <a:noFill/>
        </p:spPr>
      </p:pic>
      <p:pic>
        <p:nvPicPr>
          <p:cNvPr id="81929" name="Picture 9" descr="H:\results\compare\brick3_s.o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2238" y="1798638"/>
            <a:ext cx="2925762" cy="2925762"/>
          </a:xfrm>
          <a:prstGeom prst="rect">
            <a:avLst/>
          </a:prstGeom>
          <a:noFill/>
        </p:spPr>
      </p:pic>
      <p:pic>
        <p:nvPicPr>
          <p:cNvPr id="81930" name="Picture 10" descr="H:\results\compare\brick3_s_Wei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170238" y="3505200"/>
            <a:ext cx="2925762" cy="2925763"/>
          </a:xfrm>
          <a:prstGeom prst="rect">
            <a:avLst/>
          </a:prstGeom>
          <a:noFill/>
        </p:spPr>
      </p:pic>
      <p:pic>
        <p:nvPicPr>
          <p:cNvPr id="81931" name="Picture 11" descr="H:\results\compare\brick3_s_out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218238" y="3505200"/>
            <a:ext cx="2925762" cy="2925763"/>
          </a:xfrm>
          <a:prstGeom prst="rect">
            <a:avLst/>
          </a:prstGeom>
          <a:noFill/>
        </p:spPr>
      </p:pic>
      <p:sp>
        <p:nvSpPr>
          <p:cNvPr id="81932" name="Text Box 12"/>
          <p:cNvSpPr txBox="1">
            <a:spLocks noChangeArrowheads="1"/>
          </p:cNvSpPr>
          <p:nvPr/>
        </p:nvSpPr>
        <p:spPr bwMode="auto">
          <a:xfrm>
            <a:off x="6505575" y="2971800"/>
            <a:ext cx="21050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ea typeface="宋体" charset="-122"/>
              </a:rPr>
              <a:t>Xu, Guo &amp; Shum</a:t>
            </a:r>
          </a:p>
        </p:txBody>
      </p:sp>
      <p:sp>
        <p:nvSpPr>
          <p:cNvPr id="81933" name="Text Box 13"/>
          <p:cNvSpPr txBox="1">
            <a:spLocks noChangeArrowheads="1"/>
          </p:cNvSpPr>
          <p:nvPr/>
        </p:nvSpPr>
        <p:spPr bwMode="auto">
          <a:xfrm>
            <a:off x="457200" y="4724400"/>
            <a:ext cx="21478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>
                <a:ea typeface="宋体" charset="-122"/>
              </a:rPr>
              <a:t>input image</a:t>
            </a:r>
          </a:p>
        </p:txBody>
      </p:sp>
    </p:spTree>
  </p:cSld>
  <p:clrMapOvr>
    <a:masterClrMapping/>
  </p:clrMapOvr>
  <p:transition advTm="5296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CEB7CE1-3773-FB48-9F84-91BDE9512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483"/>
            <a:ext cx="9144000" cy="664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0391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87A31BE-8B66-FD47-8519-242239714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246"/>
            <a:ext cx="9144000" cy="647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8741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F492C8E-C533-8842-9E4D-932B1EE17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2656"/>
            <a:ext cx="9144000" cy="542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0122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2"/>
          <p:cNvGraphicFramePr>
            <a:graphicFrameLocks noChangeAspect="1"/>
          </p:cNvGraphicFramePr>
          <p:nvPr/>
        </p:nvGraphicFramePr>
        <p:xfrm>
          <a:off x="304800" y="990600"/>
          <a:ext cx="2144713" cy="260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2" name="PhotoSuite Image" r:id="rId3" imgW="1143000" imgH="1390680" progId="">
                  <p:embed/>
                </p:oleObj>
              </mc:Choice>
              <mc:Fallback>
                <p:oleObj name="PhotoSuite Image" r:id="rId3" imgW="1143000" imgH="13906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990600"/>
                        <a:ext cx="2144713" cy="260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9" name="Object 3"/>
          <p:cNvGraphicFramePr>
            <a:graphicFrameLocks noChangeAspect="1"/>
          </p:cNvGraphicFramePr>
          <p:nvPr/>
        </p:nvGraphicFramePr>
        <p:xfrm>
          <a:off x="3562350" y="1219200"/>
          <a:ext cx="2076450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3" name="PhotoSuite Image" r:id="rId5" imgW="2076480" imgH="2095560" progId="">
                  <p:embed/>
                </p:oleObj>
              </mc:Choice>
              <mc:Fallback>
                <p:oleObj name="PhotoSuite Image" r:id="rId5" imgW="2076480" imgH="209556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0" y="1219200"/>
                        <a:ext cx="2076450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4"/>
          <p:cNvGraphicFramePr>
            <a:graphicFrameLocks noChangeAspect="1"/>
          </p:cNvGraphicFramePr>
          <p:nvPr/>
        </p:nvGraphicFramePr>
        <p:xfrm>
          <a:off x="6553200" y="914400"/>
          <a:ext cx="2286000" cy="278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4" name="PhotoSuite Image" r:id="rId7" imgW="2286000" imgH="2781360" progId="">
                  <p:embed/>
                </p:oleObj>
              </mc:Choice>
              <mc:Fallback>
                <p:oleObj name="PhotoSuite Image" r:id="rId7" imgW="2286000" imgH="278136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914400"/>
                        <a:ext cx="2286000" cy="278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2819400" y="1630363"/>
            <a:ext cx="704850" cy="1189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7200">
                <a:effectLst>
                  <a:outerShdw blurRad="38100" dist="38100" dir="2700000" algn="tl">
                    <a:srgbClr val="1C1C1C"/>
                  </a:outerShdw>
                </a:effectLst>
                <a:latin typeface="Times New Roman" charset="0"/>
                <a:ea typeface="宋体" charset="-122"/>
              </a:rPr>
              <a:t>+</a:t>
            </a:r>
            <a:endParaRPr lang="en-US" altLang="zh-CN" sz="6000">
              <a:effectLst>
                <a:outerShdw blurRad="38100" dist="38100" dir="2700000" algn="tl">
                  <a:srgbClr val="1C1C1C"/>
                </a:outerShdw>
              </a:effectLst>
              <a:latin typeface="Times New Roman" charset="0"/>
              <a:ea typeface="宋体" charset="-122"/>
            </a:endParaRPr>
          </a:p>
        </p:txBody>
      </p:sp>
      <p:sp>
        <p:nvSpPr>
          <p:cNvPr id="39942" name="Rectangle 6"/>
          <p:cNvSpPr>
            <a:spLocks noChangeArrowheads="1"/>
          </p:cNvSpPr>
          <p:nvPr/>
        </p:nvSpPr>
        <p:spPr bwMode="auto">
          <a:xfrm>
            <a:off x="5715000" y="1630363"/>
            <a:ext cx="704850" cy="1189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7200">
                <a:effectLst>
                  <a:outerShdw blurRad="38100" dist="38100" dir="2700000" algn="tl">
                    <a:srgbClr val="1C1C1C"/>
                  </a:outerShdw>
                </a:effectLst>
                <a:latin typeface="Times New Roman" charset="0"/>
                <a:ea typeface="宋体" charset="-122"/>
              </a:rPr>
              <a:t>=</a:t>
            </a:r>
          </a:p>
        </p:txBody>
      </p:sp>
      <p:graphicFrame>
        <p:nvGraphicFramePr>
          <p:cNvPr id="39943" name="Object 7"/>
          <p:cNvGraphicFramePr>
            <a:graphicFrameLocks noChangeAspect="1"/>
          </p:cNvGraphicFramePr>
          <p:nvPr/>
        </p:nvGraphicFramePr>
        <p:xfrm>
          <a:off x="304800" y="3943350"/>
          <a:ext cx="2144713" cy="260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5" name="PhotoSuite Image" r:id="rId9" imgW="1143000" imgH="1390680" progId="">
                  <p:embed/>
                </p:oleObj>
              </mc:Choice>
              <mc:Fallback>
                <p:oleObj name="PhotoSuite Image" r:id="rId9" imgW="1143000" imgH="139068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943350"/>
                        <a:ext cx="2144713" cy="260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6" name="Text Box 10"/>
          <p:cNvSpPr txBox="1">
            <a:spLocks noChangeArrowheads="1"/>
          </p:cNvSpPr>
          <p:nvPr/>
        </p:nvSpPr>
        <p:spPr bwMode="auto">
          <a:xfrm>
            <a:off x="2819400" y="4757738"/>
            <a:ext cx="704850" cy="1189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7200">
                <a:effectLst>
                  <a:outerShdw blurRad="38100" dist="38100" dir="2700000" algn="tl">
                    <a:srgbClr val="1C1C1C"/>
                  </a:outerShdw>
                </a:effectLst>
                <a:latin typeface="Times New Roman" charset="0"/>
                <a:ea typeface="宋体" charset="-122"/>
              </a:rPr>
              <a:t>+</a:t>
            </a:r>
            <a:endParaRPr lang="en-US" altLang="zh-CN" sz="6000">
              <a:effectLst>
                <a:outerShdw blurRad="38100" dist="38100" dir="2700000" algn="tl">
                  <a:srgbClr val="1C1C1C"/>
                </a:outerShdw>
              </a:effectLst>
              <a:latin typeface="Times New Roman" charset="0"/>
              <a:ea typeface="宋体" charset="-122"/>
            </a:endParaRPr>
          </a:p>
        </p:txBody>
      </p:sp>
      <p:sp>
        <p:nvSpPr>
          <p:cNvPr id="39947" name="Rectangle 11"/>
          <p:cNvSpPr>
            <a:spLocks noChangeArrowheads="1"/>
          </p:cNvSpPr>
          <p:nvPr/>
        </p:nvSpPr>
        <p:spPr bwMode="auto">
          <a:xfrm>
            <a:off x="5715000" y="4757738"/>
            <a:ext cx="704850" cy="1189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7200">
                <a:effectLst>
                  <a:outerShdw blurRad="38100" dist="38100" dir="2700000" algn="tl">
                    <a:srgbClr val="1C1C1C"/>
                  </a:outerShdw>
                </a:effectLst>
                <a:latin typeface="Times New Roman" charset="0"/>
                <a:ea typeface="宋体" charset="-122"/>
              </a:rPr>
              <a:t>=</a:t>
            </a:r>
          </a:p>
        </p:txBody>
      </p:sp>
      <p:graphicFrame>
        <p:nvGraphicFramePr>
          <p:cNvPr id="39951" name="Object 15"/>
          <p:cNvGraphicFramePr>
            <a:graphicFrameLocks noChangeAspect="1"/>
          </p:cNvGraphicFramePr>
          <p:nvPr/>
        </p:nvGraphicFramePr>
        <p:xfrm>
          <a:off x="6553200" y="3886200"/>
          <a:ext cx="2286000" cy="278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6" name="PhotoSuite Image" r:id="rId10" imgW="2286000" imgH="2781360" progId="">
                  <p:embed/>
                </p:oleObj>
              </mc:Choice>
              <mc:Fallback>
                <p:oleObj name="PhotoSuite Image" r:id="rId10" imgW="2286000" imgH="278136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3886200"/>
                        <a:ext cx="2286000" cy="278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2" name="Object 16"/>
          <p:cNvGraphicFramePr>
            <a:graphicFrameLocks noChangeAspect="1"/>
          </p:cNvGraphicFramePr>
          <p:nvPr/>
        </p:nvGraphicFramePr>
        <p:xfrm>
          <a:off x="3686175" y="4752975"/>
          <a:ext cx="1876425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7" name="PhotoSuite Image" r:id="rId12" imgW="1876320" imgH="1266840" progId="">
                  <p:embed/>
                </p:oleObj>
              </mc:Choice>
              <mc:Fallback>
                <p:oleObj name="PhotoSuite Image" r:id="rId12" imgW="1876320" imgH="126684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6175" y="4752975"/>
                        <a:ext cx="1876425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4" name="Text Box 18"/>
          <p:cNvSpPr txBox="1">
            <a:spLocks noChangeArrowheads="1"/>
          </p:cNvSpPr>
          <p:nvPr/>
        </p:nvSpPr>
        <p:spPr bwMode="auto">
          <a:xfrm>
            <a:off x="3886200" y="649288"/>
            <a:ext cx="1503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0">
                <a:ea typeface="宋体" charset="-122"/>
              </a:rPr>
              <a:t>parmesan</a:t>
            </a:r>
          </a:p>
        </p:txBody>
      </p:sp>
      <p:sp>
        <p:nvSpPr>
          <p:cNvPr id="39955" name="Text Box 19"/>
          <p:cNvSpPr txBox="1">
            <a:spLocks noChangeArrowheads="1"/>
          </p:cNvSpPr>
          <p:nvPr/>
        </p:nvSpPr>
        <p:spPr bwMode="auto">
          <a:xfrm>
            <a:off x="4313238" y="4189413"/>
            <a:ext cx="708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0">
                <a:ea typeface="宋体" charset="-122"/>
              </a:rPr>
              <a:t>rice</a:t>
            </a:r>
          </a:p>
        </p:txBody>
      </p:sp>
    </p:spTree>
  </p:cSld>
  <p:clrMapOvr>
    <a:masterClrMapping/>
  </p:clrMapOvr>
  <p:transition advTm="8544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7" name="Picture 3" descr="H:\results\transfer\temp2-1.tif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2540000"/>
            <a:ext cx="3136900" cy="2108200"/>
          </a:xfrm>
          <a:prstGeom prst="rect">
            <a:avLst/>
          </a:prstGeom>
          <a:noFill/>
        </p:spPr>
      </p:pic>
      <p:pic>
        <p:nvPicPr>
          <p:cNvPr id="98309" name="Picture 5" descr="H:\results\transfer\temp2-2.tif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95600" y="2540000"/>
            <a:ext cx="3136900" cy="2108200"/>
          </a:xfrm>
          <a:prstGeom prst="rect">
            <a:avLst/>
          </a:prstGeom>
          <a:noFill/>
        </p:spPr>
      </p:pic>
      <p:pic>
        <p:nvPicPr>
          <p:cNvPr id="98310" name="Picture 6" descr="H:\results\transfer\temp1-3.tif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91200" y="4597400"/>
            <a:ext cx="3136900" cy="2108200"/>
          </a:xfrm>
          <a:prstGeom prst="rect">
            <a:avLst/>
          </a:prstGeom>
          <a:noFill/>
        </p:spPr>
      </p:pic>
      <p:pic>
        <p:nvPicPr>
          <p:cNvPr id="98311" name="Picture 7" descr="H:\results\transfer\temp2-3.tif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78500" y="2540000"/>
            <a:ext cx="3136900" cy="2108200"/>
          </a:xfrm>
          <a:prstGeom prst="rect">
            <a:avLst/>
          </a:prstGeom>
          <a:noFill/>
        </p:spPr>
      </p:pic>
      <p:pic>
        <p:nvPicPr>
          <p:cNvPr id="98312" name="Picture 8" descr="H:\results\transfer\temp1-1.tif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4597400"/>
            <a:ext cx="3136900" cy="2108200"/>
          </a:xfrm>
          <a:prstGeom prst="rect">
            <a:avLst/>
          </a:prstGeom>
          <a:noFill/>
        </p:spPr>
      </p:pic>
      <p:pic>
        <p:nvPicPr>
          <p:cNvPr id="98313" name="Picture 9" descr="H:\results\transfer\temp1-2.tif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95600" y="4597400"/>
            <a:ext cx="3136900" cy="2108200"/>
          </a:xfrm>
          <a:prstGeom prst="rect">
            <a:avLst/>
          </a:prstGeom>
          <a:noFill/>
        </p:spPr>
      </p:pic>
      <p:sp>
        <p:nvSpPr>
          <p:cNvPr id="98324" name="Text Box 20"/>
          <p:cNvSpPr txBox="1">
            <a:spLocks noChangeArrowheads="1"/>
          </p:cNvSpPr>
          <p:nvPr/>
        </p:nvSpPr>
        <p:spPr bwMode="auto">
          <a:xfrm>
            <a:off x="3581400" y="917575"/>
            <a:ext cx="704850" cy="1189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7200">
                <a:effectLst>
                  <a:outerShdw blurRad="38100" dist="38100" dir="2700000" algn="tl">
                    <a:srgbClr val="1C1C1C"/>
                  </a:outerShdw>
                </a:effectLst>
                <a:latin typeface="Times New Roman" charset="0"/>
                <a:ea typeface="宋体" charset="-122"/>
              </a:rPr>
              <a:t>+</a:t>
            </a:r>
            <a:endParaRPr lang="en-US" altLang="zh-CN" sz="6000">
              <a:effectLst>
                <a:outerShdw blurRad="38100" dist="38100" dir="2700000" algn="tl">
                  <a:srgbClr val="1C1C1C"/>
                </a:outerShdw>
              </a:effectLst>
              <a:latin typeface="Times New Roman" charset="0"/>
              <a:ea typeface="宋体" charset="-122"/>
            </a:endParaRPr>
          </a:p>
        </p:txBody>
      </p:sp>
      <p:sp>
        <p:nvSpPr>
          <p:cNvPr id="98325" name="Rectangle 21"/>
          <p:cNvSpPr>
            <a:spLocks noChangeArrowheads="1"/>
          </p:cNvSpPr>
          <p:nvPr/>
        </p:nvSpPr>
        <p:spPr bwMode="auto">
          <a:xfrm>
            <a:off x="6934200" y="917575"/>
            <a:ext cx="704850" cy="1189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7200">
                <a:effectLst>
                  <a:outerShdw blurRad="38100" dist="38100" dir="2700000" algn="tl">
                    <a:srgbClr val="1C1C1C"/>
                  </a:outerShdw>
                </a:effectLst>
                <a:latin typeface="Times New Roman" charset="0"/>
                <a:ea typeface="宋体" charset="-122"/>
              </a:rPr>
              <a:t>=</a:t>
            </a:r>
          </a:p>
        </p:txBody>
      </p:sp>
      <p:pic>
        <p:nvPicPr>
          <p:cNvPr id="98326" name="Picture 22" descr="H:\results\transfer\newpotato.jpg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38200" y="590550"/>
            <a:ext cx="2822575" cy="1897063"/>
          </a:xfrm>
          <a:prstGeom prst="rect">
            <a:avLst/>
          </a:prstGeom>
          <a:noFill/>
        </p:spPr>
      </p:pic>
      <p:pic>
        <p:nvPicPr>
          <p:cNvPr id="98327" name="Picture 23" descr="H:\results\transfer\neworange.jpg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43400" y="457200"/>
            <a:ext cx="2560638" cy="2182813"/>
          </a:xfrm>
          <a:prstGeom prst="rect">
            <a:avLst/>
          </a:prstGeom>
          <a:noFill/>
        </p:spPr>
      </p:pic>
    </p:spTree>
  </p:cSld>
  <p:clrMapOvr>
    <a:masterClrMapping/>
  </p:clrMapOvr>
  <p:transition advTm="17104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0" name="Rectangle 10"/>
          <p:cNvSpPr>
            <a:spLocks noChangeArrowheads="1"/>
          </p:cNvSpPr>
          <p:nvPr/>
        </p:nvSpPr>
        <p:spPr bwMode="auto">
          <a:xfrm>
            <a:off x="5562600" y="1592263"/>
            <a:ext cx="704850" cy="1189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7200">
                <a:effectLst>
                  <a:outerShdw blurRad="38100" dist="38100" dir="2700000" algn="tl">
                    <a:srgbClr val="1C1C1C"/>
                  </a:outerShdw>
                </a:effectLst>
                <a:latin typeface="Times New Roman" charset="0"/>
                <a:ea typeface="宋体" charset="-122"/>
              </a:rPr>
              <a:t>=</a:t>
            </a:r>
          </a:p>
        </p:txBody>
      </p:sp>
      <p:sp>
        <p:nvSpPr>
          <p:cNvPr id="40971" name="Text Box 11"/>
          <p:cNvSpPr txBox="1">
            <a:spLocks noChangeArrowheads="1"/>
          </p:cNvSpPr>
          <p:nvPr/>
        </p:nvSpPr>
        <p:spPr bwMode="auto">
          <a:xfrm>
            <a:off x="2952750" y="1562100"/>
            <a:ext cx="704850" cy="1189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7200">
                <a:effectLst>
                  <a:outerShdw blurRad="38100" dist="38100" dir="2700000" algn="tl">
                    <a:srgbClr val="1C1C1C"/>
                  </a:outerShdw>
                </a:effectLst>
                <a:latin typeface="Times New Roman" charset="0"/>
                <a:ea typeface="宋体" charset="-122"/>
              </a:rPr>
              <a:t>+</a:t>
            </a:r>
            <a:endParaRPr lang="en-US" altLang="zh-CN" sz="6000">
              <a:effectLst>
                <a:outerShdw blurRad="38100" dist="38100" dir="2700000" algn="tl">
                  <a:srgbClr val="1C1C1C"/>
                </a:outerShdw>
              </a:effectLst>
              <a:latin typeface="Times New Roman" charset="0"/>
              <a:ea typeface="宋体" charset="-122"/>
            </a:endParaRPr>
          </a:p>
        </p:txBody>
      </p:sp>
      <p:pic>
        <p:nvPicPr>
          <p:cNvPr id="40975" name="Picture 15" descr="http://www.cs.berkeley.edu/~efros/quilt/images/orange-pear.gif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96000" y="1333500"/>
            <a:ext cx="2982913" cy="1943100"/>
          </a:xfrm>
          <a:prstGeom prst="rect">
            <a:avLst/>
          </a:prstGeom>
          <a:noFill/>
        </p:spPr>
      </p:pic>
      <p:pic>
        <p:nvPicPr>
          <p:cNvPr id="40977" name="Picture 17" descr="http://www.cs.berkeley.edu/~efros/quilt/images/pear.gif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088" y="1333500"/>
            <a:ext cx="2982912" cy="1943100"/>
          </a:xfrm>
          <a:prstGeom prst="rect">
            <a:avLst/>
          </a:prstGeom>
          <a:noFill/>
        </p:spPr>
      </p:pic>
      <p:pic>
        <p:nvPicPr>
          <p:cNvPr id="40980" name="Picture 20" descr="H:\results\transfer\oPaolina3.tif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54600" y="3695700"/>
            <a:ext cx="3251200" cy="3048000"/>
          </a:xfrm>
          <a:prstGeom prst="rect">
            <a:avLst/>
          </a:prstGeom>
          <a:noFill/>
        </p:spPr>
      </p:pic>
      <p:pic>
        <p:nvPicPr>
          <p:cNvPr id="40981" name="Picture 21" descr="H:\results\transfer\Paolina_black.jpg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38200" y="3676650"/>
            <a:ext cx="3251200" cy="3048000"/>
          </a:xfrm>
          <a:prstGeom prst="rect">
            <a:avLst/>
          </a:prstGeom>
          <a:noFill/>
        </p:spPr>
      </p:pic>
      <p:pic>
        <p:nvPicPr>
          <p:cNvPr id="40982" name="Picture 22" descr="H:\results\transfer\neworange.jpg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82963" y="1169988"/>
            <a:ext cx="2560637" cy="2182812"/>
          </a:xfrm>
          <a:prstGeom prst="rect">
            <a:avLst/>
          </a:prstGeom>
          <a:noFill/>
        </p:spPr>
      </p:pic>
    </p:spTree>
  </p:cSld>
  <p:clrMapOvr>
    <a:masterClrMapping/>
  </p:clrMapOvr>
  <p:transition advTm="8944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2AD0C52-E2CC-8C40-A406-72F4C89CC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6" y="188640"/>
            <a:ext cx="8892480" cy="620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5565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Conclusion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1625" y="1219200"/>
            <a:ext cx="8842375" cy="3505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700">
                <a:ea typeface="宋体" charset="-122"/>
              </a:rPr>
              <a:t>Quilt together patches of input image </a:t>
            </a:r>
          </a:p>
          <a:p>
            <a:pPr lvl="1">
              <a:lnSpc>
                <a:spcPct val="90000"/>
              </a:lnSpc>
            </a:pPr>
            <a:r>
              <a:rPr lang="en-US" altLang="zh-CN" sz="2200">
                <a:ea typeface="宋体" charset="-122"/>
              </a:rPr>
              <a:t>randomly (texture synthesis) </a:t>
            </a:r>
          </a:p>
          <a:p>
            <a:pPr lvl="1">
              <a:lnSpc>
                <a:spcPct val="90000"/>
              </a:lnSpc>
            </a:pPr>
            <a:r>
              <a:rPr lang="en-US" altLang="zh-CN" sz="2200">
                <a:ea typeface="宋体" charset="-122"/>
              </a:rPr>
              <a:t>constrained (texture transfer)</a:t>
            </a:r>
          </a:p>
          <a:p>
            <a:pPr>
              <a:lnSpc>
                <a:spcPct val="90000"/>
              </a:lnSpc>
            </a:pPr>
            <a:r>
              <a:rPr lang="en-US" altLang="zh-CN" sz="2700">
                <a:ea typeface="宋体" charset="-122"/>
              </a:rPr>
              <a:t>Image Quilting </a:t>
            </a:r>
          </a:p>
          <a:p>
            <a:pPr lvl="1">
              <a:lnSpc>
                <a:spcPct val="100000"/>
              </a:lnSpc>
            </a:pPr>
            <a:r>
              <a:rPr lang="en-US" altLang="zh-CN" sz="2200">
                <a:ea typeface="宋体" charset="-122"/>
              </a:rPr>
              <a:t>No filters, no multi-scale, no one-pixel-at-a-time! </a:t>
            </a:r>
          </a:p>
          <a:p>
            <a:pPr lvl="1">
              <a:lnSpc>
                <a:spcPct val="100000"/>
              </a:lnSpc>
            </a:pPr>
            <a:r>
              <a:rPr lang="en-US" altLang="zh-CN" sz="2200">
                <a:ea typeface="宋体" charset="-122"/>
              </a:rPr>
              <a:t>fast and very simple</a:t>
            </a:r>
          </a:p>
          <a:p>
            <a:pPr lvl="1">
              <a:lnSpc>
                <a:spcPct val="100000"/>
              </a:lnSpc>
            </a:pPr>
            <a:r>
              <a:rPr lang="en-US" altLang="zh-CN" sz="2200">
                <a:ea typeface="宋体" charset="-122"/>
              </a:rPr>
              <a:t>Results are not bad</a:t>
            </a:r>
          </a:p>
        </p:txBody>
      </p:sp>
      <p:pic>
        <p:nvPicPr>
          <p:cNvPr id="73740" name="Picture 12" descr="H:\results\transfer\orange-banana.gif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90800" y="4648200"/>
            <a:ext cx="3943350" cy="2016125"/>
          </a:xfrm>
          <a:prstGeom prst="rect">
            <a:avLst/>
          </a:prstGeom>
          <a:noFill/>
        </p:spPr>
      </p:pic>
    </p:spTree>
  </p:cSld>
  <p:clrMapOvr>
    <a:masterClrMapping/>
  </p:clrMapOvr>
  <p:transition advTm="55040"/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965</Words>
  <Application>Microsoft Macintosh PowerPoint</Application>
  <PresentationFormat>全屏显示(4:3)</PresentationFormat>
  <Paragraphs>203</Paragraphs>
  <Slides>49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56" baseType="lpstr">
      <vt:lpstr>宋体</vt:lpstr>
      <vt:lpstr>Arial</vt:lpstr>
      <vt:lpstr>Calibri</vt:lpstr>
      <vt:lpstr>Times New Roman</vt:lpstr>
      <vt:lpstr>Office 主题</vt:lpstr>
      <vt:lpstr>Bitmap Image</vt:lpstr>
      <vt:lpstr>PhotoSuite Image</vt:lpstr>
      <vt:lpstr>Outline</vt:lpstr>
      <vt:lpstr>PowerPoint 演示文稿</vt:lpstr>
      <vt:lpstr>PowerPoint 演示文稿</vt:lpstr>
      <vt:lpstr>PowerPoint 演示文稿</vt:lpstr>
      <vt:lpstr>Motivation from Language</vt:lpstr>
      <vt:lpstr>Mark V. Shaney (Bell Labs)</vt:lpstr>
      <vt:lpstr>Synthesizing One Pixel</vt:lpstr>
      <vt:lpstr>Really Synthesizing One Pixel</vt:lpstr>
      <vt:lpstr>Growing Texture</vt:lpstr>
      <vt:lpstr>Some Details</vt:lpstr>
      <vt:lpstr>Randomness Parameter</vt:lpstr>
      <vt:lpstr>More Synthesis Results</vt:lpstr>
      <vt:lpstr>Brodatz Results</vt:lpstr>
      <vt:lpstr>More Brodatz Results</vt:lpstr>
      <vt:lpstr>More Results</vt:lpstr>
      <vt:lpstr>More Results</vt:lpstr>
      <vt:lpstr>Visual Comparison</vt:lpstr>
      <vt:lpstr>Constrained Synthesis</vt:lpstr>
      <vt:lpstr>PowerPoint 演示文稿</vt:lpstr>
      <vt:lpstr>Image Extrapolation</vt:lpstr>
      <vt:lpstr>Summary</vt:lpstr>
      <vt:lpstr>Outline</vt:lpstr>
      <vt:lpstr>PowerPoint 演示文稿</vt:lpstr>
      <vt:lpstr>Efros &amp; Leung ’99</vt:lpstr>
      <vt:lpstr>Efros &amp; Leung ’99</vt:lpstr>
      <vt:lpstr>Chaos Mosaic [Xu, Guo &amp; Shum, ‘00]</vt:lpstr>
      <vt:lpstr>Chaos Mosaic [Xu, Guo &amp; Shum, ‘00]</vt:lpstr>
      <vt:lpstr>Image Quilting</vt:lpstr>
      <vt:lpstr>Efros &amp; Leung ’99 extended</vt:lpstr>
      <vt:lpstr>PowerPoint 演示文稿</vt:lpstr>
      <vt:lpstr>Minimal error boundary</vt:lpstr>
      <vt:lpstr>Algorithm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Conclusion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flong</dc:creator>
  <cp:lastModifiedBy>Microsoft Office User</cp:lastModifiedBy>
  <cp:revision>79</cp:revision>
  <dcterms:created xsi:type="dcterms:W3CDTF">2011-11-13T01:56:14Z</dcterms:created>
  <dcterms:modified xsi:type="dcterms:W3CDTF">2024-10-25T02:08:59Z</dcterms:modified>
</cp:coreProperties>
</file>