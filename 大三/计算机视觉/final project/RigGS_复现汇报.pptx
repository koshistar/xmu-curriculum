
<file path=[Content_Types].xml><?xml version="1.0" encoding="utf-8"?>
<Types xmlns="http://schemas.openxmlformats.org/package/2006/content-types">
  <Default Extension="jpeg" ContentType="image/jpeg"/>
  <Default Extension="JPG" ContentType="image/.jpg"/>
  <Default Extension="gif" ContentType="image/gif"/>
  <Default Extension="png" ContentType="image/png"/>
  <Default Extension="mp4" ContentType="video/mp4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4" r:id="rId7"/>
    <p:sldId id="266" r:id="rId8"/>
    <p:sldId id="267" r:id="rId9"/>
    <p:sldId id="271" r:id="rId10"/>
    <p:sldId id="268" r:id="rId11"/>
    <p:sldId id="269" r:id="rId12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4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4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tags" Target="../tags/tag9.xml"/><Relationship Id="rId8" Type="http://schemas.openxmlformats.org/officeDocument/2006/relationships/tags" Target="../tags/tag8.xml"/><Relationship Id="rId7" Type="http://schemas.openxmlformats.org/officeDocument/2006/relationships/tags" Target="../tags/tag7.xml"/><Relationship Id="rId6" Type="http://schemas.openxmlformats.org/officeDocument/2006/relationships/tags" Target="../tags/tag6.xml"/><Relationship Id="rId5" Type="http://schemas.openxmlformats.org/officeDocument/2006/relationships/tags" Target="../tags/tag5.xml"/><Relationship Id="rId4" Type="http://schemas.openxmlformats.org/officeDocument/2006/relationships/tags" Target="../tags/tag4.xml"/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.xml"/><Relationship Id="rId11" Type="http://schemas.openxmlformats.org/officeDocument/2006/relationships/tags" Target="../tags/tag11.xml"/><Relationship Id="rId10" Type="http://schemas.openxmlformats.org/officeDocument/2006/relationships/tags" Target="../tags/tag10.xml"/><Relationship Id="rId1" Type="http://schemas.openxmlformats.org/officeDocument/2006/relationships/tags" Target="../tags/tag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21.xml"/><Relationship Id="rId8" Type="http://schemas.openxmlformats.org/officeDocument/2006/relationships/tags" Target="../tags/tag20.xml"/><Relationship Id="rId7" Type="http://schemas.openxmlformats.org/officeDocument/2006/relationships/tags" Target="../tags/tag19.xml"/><Relationship Id="rId6" Type="http://schemas.openxmlformats.org/officeDocument/2006/relationships/tags" Target="../tags/tag18.xml"/><Relationship Id="rId5" Type="http://schemas.openxmlformats.org/officeDocument/2006/relationships/tags" Target="../tags/tag17.xml"/><Relationship Id="rId4" Type="http://schemas.openxmlformats.org/officeDocument/2006/relationships/tags" Target="../tags/tag16.xml"/><Relationship Id="rId3" Type="http://schemas.openxmlformats.org/officeDocument/2006/relationships/tags" Target="../tags/tag15.xml"/><Relationship Id="rId29" Type="http://schemas.openxmlformats.org/officeDocument/2006/relationships/slideLayout" Target="../slideLayouts/slideLayout7.xml"/><Relationship Id="rId28" Type="http://schemas.openxmlformats.org/officeDocument/2006/relationships/tags" Target="../tags/tag40.xml"/><Relationship Id="rId27" Type="http://schemas.openxmlformats.org/officeDocument/2006/relationships/tags" Target="../tags/tag39.xml"/><Relationship Id="rId26" Type="http://schemas.openxmlformats.org/officeDocument/2006/relationships/tags" Target="../tags/tag38.xml"/><Relationship Id="rId25" Type="http://schemas.openxmlformats.org/officeDocument/2006/relationships/tags" Target="../tags/tag37.xml"/><Relationship Id="rId24" Type="http://schemas.openxmlformats.org/officeDocument/2006/relationships/tags" Target="../tags/tag36.xml"/><Relationship Id="rId23" Type="http://schemas.openxmlformats.org/officeDocument/2006/relationships/tags" Target="../tags/tag35.xml"/><Relationship Id="rId22" Type="http://schemas.openxmlformats.org/officeDocument/2006/relationships/tags" Target="../tags/tag34.xml"/><Relationship Id="rId21" Type="http://schemas.openxmlformats.org/officeDocument/2006/relationships/tags" Target="../tags/tag33.xml"/><Relationship Id="rId20" Type="http://schemas.openxmlformats.org/officeDocument/2006/relationships/tags" Target="../tags/tag32.xml"/><Relationship Id="rId2" Type="http://schemas.openxmlformats.org/officeDocument/2006/relationships/tags" Target="../tags/tag14.xml"/><Relationship Id="rId19" Type="http://schemas.openxmlformats.org/officeDocument/2006/relationships/tags" Target="../tags/tag31.xml"/><Relationship Id="rId18" Type="http://schemas.openxmlformats.org/officeDocument/2006/relationships/tags" Target="../tags/tag30.xml"/><Relationship Id="rId17" Type="http://schemas.openxmlformats.org/officeDocument/2006/relationships/tags" Target="../tags/tag29.xml"/><Relationship Id="rId16" Type="http://schemas.openxmlformats.org/officeDocument/2006/relationships/tags" Target="../tags/tag28.xml"/><Relationship Id="rId15" Type="http://schemas.openxmlformats.org/officeDocument/2006/relationships/tags" Target="../tags/tag27.xml"/><Relationship Id="rId14" Type="http://schemas.openxmlformats.org/officeDocument/2006/relationships/tags" Target="../tags/tag26.xml"/><Relationship Id="rId13" Type="http://schemas.openxmlformats.org/officeDocument/2006/relationships/tags" Target="../tags/tag25.xml"/><Relationship Id="rId12" Type="http://schemas.openxmlformats.org/officeDocument/2006/relationships/tags" Target="../tags/tag24.xml"/><Relationship Id="rId11" Type="http://schemas.openxmlformats.org/officeDocument/2006/relationships/tags" Target="../tags/tag23.xml"/><Relationship Id="rId10" Type="http://schemas.openxmlformats.org/officeDocument/2006/relationships/tags" Target="../tags/tag22.xml"/><Relationship Id="rId1" Type="http://schemas.openxmlformats.org/officeDocument/2006/relationships/tags" Target="../tags/tag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2.GIF"/><Relationship Id="rId1" Type="http://schemas.openxmlformats.org/officeDocument/2006/relationships/image" Target="../media/image1.GIF"/></Relationships>
</file>

<file path=ppt/slides/_rels/slide8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3.png"/><Relationship Id="rId2" Type="http://schemas.microsoft.com/office/2007/relationships/media" Target="../media/media1.mp4"/><Relationship Id="rId1" Type="http://schemas.openxmlformats.org/officeDocument/2006/relationships/video" Target="../media/media1.mp4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101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9055" y="6836283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FFFF"/>
                </a:solidFill>
              </a:rPr>
              <a:t>RigGS 项目复现汇报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00C8FF"/>
                </a:solidFill>
              </a:rPr>
              <a:t>RigGS: Rigging of 3D Gaussians for Modeling Articulated Objects</a:t>
            </a:r>
            <a:endParaRPr sz="2000" b="0">
              <a:solidFill>
                <a:srgbClr val="00C8F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105156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AAAACC"/>
                </a:solidFill>
              </a:rPr>
              <a:t>CVPR 2025  </a:t>
            </a:r>
            <a:endParaRPr sz="1600" b="0">
              <a:solidFill>
                <a:srgbClr val="AAAACC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200400" y="3566160"/>
            <a:ext cx="5788152" cy="36576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>
            <p:custDataLst>
              <p:tags r:id="rId1"/>
            </p:custDataLst>
          </p:nvPr>
        </p:nvSpPr>
        <p:spPr>
          <a:xfrm>
            <a:off x="2286000" y="3931920"/>
            <a:ext cx="7616952" cy="502920"/>
          </a:xfrm>
          <a:prstGeom prst="rect">
            <a:avLst/>
          </a:prstGeom>
          <a:solidFill>
            <a:srgbClr val="23233E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>
            <p:custDataLst>
              <p:tags r:id="rId2"/>
            </p:custDataLst>
          </p:nvPr>
        </p:nvSpPr>
        <p:spPr>
          <a:xfrm>
            <a:off x="2468880" y="400507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FF"/>
                </a:solidFill>
              </a:rPr>
              <a:t>复现环境</a:t>
            </a:r>
            <a:endParaRPr sz="1400" b="1">
              <a:solidFill>
                <a:srgbClr val="00C8FF"/>
              </a:solidFill>
            </a:endParaRPr>
          </a:p>
        </p:txBody>
      </p:sp>
      <p:sp>
        <p:nvSpPr>
          <p:cNvPr id="11" name="TextBox 10"/>
          <p:cNvSpPr txBox="1"/>
          <p:nvPr>
            <p:custDataLst>
              <p:tags r:id="rId3"/>
            </p:custDataLst>
          </p:nvPr>
        </p:nvSpPr>
        <p:spPr>
          <a:xfrm>
            <a:off x="4754880" y="400507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Windows 11 / RTX 5070 Ti / PyTorch 2.10+cu130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>
            <p:custDataLst>
              <p:tags r:id="rId4"/>
            </p:custDataLst>
          </p:nvPr>
        </p:nvSpPr>
        <p:spPr>
          <a:xfrm>
            <a:off x="2286000" y="4526280"/>
            <a:ext cx="7616952" cy="502920"/>
          </a:xfrm>
          <a:prstGeom prst="rect">
            <a:avLst/>
          </a:prstGeom>
          <a:solidFill>
            <a:srgbClr val="23233E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5"/>
            </p:custDataLst>
          </p:nvPr>
        </p:nvSpPr>
        <p:spPr>
          <a:xfrm>
            <a:off x="2468880" y="459943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FF"/>
                </a:solidFill>
              </a:rPr>
              <a:t>数据集</a:t>
            </a:r>
            <a:endParaRPr sz="1400" b="1">
              <a:solidFill>
                <a:srgbClr val="00C8FF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6"/>
            </p:custDataLst>
          </p:nvPr>
        </p:nvSpPr>
        <p:spPr>
          <a:xfrm>
            <a:off x="4754880" y="459943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D_NeRF (8 scenes) + ZJU-MoCap (7 subjects)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>
            <p:custDataLst>
              <p:tags r:id="rId7"/>
            </p:custDataLst>
          </p:nvPr>
        </p:nvSpPr>
        <p:spPr>
          <a:xfrm>
            <a:off x="2286000" y="5120640"/>
            <a:ext cx="7616952" cy="502920"/>
          </a:xfrm>
          <a:prstGeom prst="rect">
            <a:avLst/>
          </a:prstGeom>
          <a:solidFill>
            <a:srgbClr val="23233E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>
            <p:custDataLst>
              <p:tags r:id="rId8"/>
            </p:custDataLst>
          </p:nvPr>
        </p:nvSpPr>
        <p:spPr>
          <a:xfrm>
            <a:off x="2468880" y="519379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FF"/>
                </a:solidFill>
              </a:rPr>
              <a:t>主要工作</a:t>
            </a:r>
            <a:endParaRPr sz="1400" b="1">
              <a:solidFill>
                <a:srgbClr val="00C8FF"/>
              </a:solidFill>
            </a:endParaRPr>
          </a:p>
        </p:txBody>
      </p:sp>
      <p:sp>
        <p:nvSpPr>
          <p:cNvPr id="17" name="TextBox 16"/>
          <p:cNvSpPr txBox="1"/>
          <p:nvPr>
            <p:custDataLst>
              <p:tags r:id="rId9"/>
            </p:custDataLst>
          </p:nvPr>
        </p:nvSpPr>
        <p:spPr>
          <a:xfrm>
            <a:off x="4754880" y="5193792"/>
            <a:ext cx="50292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300" b="0">
                <a:solidFill>
                  <a:srgbClr val="FFFFFF"/>
                </a:solidFill>
              </a:rPr>
              <a:t>代码复现</a:t>
            </a:r>
            <a:r>
              <a:rPr sz="1300" b="0">
                <a:solidFill>
                  <a:srgbClr val="FFFFFF"/>
                </a:solidFill>
              </a:rPr>
              <a:t> </a:t>
            </a:r>
            <a:r>
              <a:rPr lang="en-US" sz="1300" b="0">
                <a:solidFill>
                  <a:srgbClr val="FFFFFF"/>
                </a:solidFill>
              </a:rPr>
              <a:t> </a:t>
            </a:r>
            <a:r>
              <a:rPr sz="1300" b="0">
                <a:solidFill>
                  <a:srgbClr val="FFFFFF"/>
                </a:solidFill>
              </a:rPr>
              <a:t>|  动画烘焙  |  Unity可视化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>
            <p:custDataLst>
              <p:tags r:id="rId10"/>
            </p:custDataLst>
          </p:nvPr>
        </p:nvSpPr>
        <p:spPr>
          <a:xfrm>
            <a:off x="2286000" y="5715000"/>
            <a:ext cx="7616952" cy="502920"/>
          </a:xfrm>
          <a:prstGeom prst="rect">
            <a:avLst/>
          </a:prstGeom>
          <a:solidFill>
            <a:srgbClr val="23233E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>
            <p:custDataLst>
              <p:tags r:id="rId11"/>
            </p:custDataLst>
          </p:nvPr>
        </p:nvSpPr>
        <p:spPr>
          <a:xfrm>
            <a:off x="2468880" y="5788152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C8FF"/>
                </a:solidFill>
              </a:rPr>
              <a:t>工具链</a:t>
            </a:r>
            <a:endParaRPr sz="1400" b="1">
              <a:solidFill>
                <a:srgbClr val="00C8FF"/>
              </a:solidFill>
            </a:endParaRPr>
          </a:p>
        </p:txBody>
      </p:sp>
      <p:sp>
        <p:nvSpPr>
          <p:cNvPr id="20" name="TextBox 19"/>
          <p:cNvSpPr txBox="1"/>
          <p:nvPr>
            <p:custDataLst>
              <p:tags r:id="rId12"/>
            </p:custDataLst>
          </p:nvPr>
        </p:nvSpPr>
        <p:spPr>
          <a:xfrm>
            <a:off x="4754880" y="5788152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Python + CUDA + Unity 2022.3 LTS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31520" y="6400800"/>
            <a:ext cx="105156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AAAACC"/>
                </a:solidFill>
              </a:rPr>
              <a:t>汇报人：</a:t>
            </a:r>
            <a:r>
              <a:rPr lang="zh-CN" sz="1300" b="0">
                <a:solidFill>
                  <a:srgbClr val="AAAACC"/>
                </a:solidFill>
              </a:rPr>
              <a:t>庄昀</a:t>
            </a:r>
            <a:r>
              <a:rPr lang="en-US" altLang="zh-CN" sz="1300" b="0">
                <a:solidFill>
                  <a:srgbClr val="AAAACC"/>
                </a:solidFill>
              </a:rPr>
              <a:t>  </a:t>
            </a:r>
            <a:r>
              <a:rPr lang="zh-CN" altLang="en-US" sz="1300" b="0">
                <a:solidFill>
                  <a:srgbClr val="AAAACC"/>
                </a:solidFill>
              </a:rPr>
              <a:t>马鑫</a:t>
            </a:r>
            <a:r>
              <a:rPr sz="1300" b="0">
                <a:solidFill>
                  <a:srgbClr val="AAAACC"/>
                </a:solidFill>
              </a:rPr>
              <a:t>    |    日期：2026-06-0</a:t>
            </a:r>
            <a:r>
              <a:rPr lang="en-US" sz="1300" b="0">
                <a:solidFill>
                  <a:srgbClr val="AAAACC"/>
                </a:solidFill>
              </a:rPr>
              <a:t>2</a:t>
            </a:r>
            <a:endParaRPr lang="en-US" sz="1300" b="0">
              <a:solidFill>
                <a:srgbClr val="AAAACC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FFFFFF"/>
                </a:solidFill>
              </a:rPr>
              <a:t>目  录</a:t>
            </a:r>
            <a:endParaRPr sz="36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303520" y="1188720"/>
            <a:ext cx="1581912" cy="4572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371600" y="1463040"/>
            <a:ext cx="9445752" cy="621792"/>
          </a:xfrm>
          <a:prstGeom prst="rect">
            <a:avLst/>
          </a:prstGeom>
          <a:solidFill>
            <a:srgbClr val="2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>
            <p:custDataLst>
              <p:tags r:id="rId1"/>
            </p:custDataLst>
          </p:nvPr>
        </p:nvSpPr>
        <p:spPr>
          <a:xfrm>
            <a:off x="1463040" y="1545336"/>
            <a:ext cx="457200" cy="45720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>
            <p:custDataLst>
              <p:tags r:id="rId2"/>
            </p:custDataLst>
          </p:nvPr>
        </p:nvSpPr>
        <p:spPr>
          <a:xfrm>
            <a:off x="1463040" y="156362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01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>
            <p:custDataLst>
              <p:tags r:id="rId3"/>
            </p:custDataLst>
          </p:nvPr>
        </p:nvSpPr>
        <p:spPr>
          <a:xfrm>
            <a:off x="2103120" y="1508760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论文背景与核心思想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>
            <p:custDataLst>
              <p:tags r:id="rId4"/>
            </p:custDataLst>
          </p:nvPr>
        </p:nvSpPr>
        <p:spPr>
          <a:xfrm>
            <a:off x="2103120" y="1810512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CC"/>
                </a:solidFill>
              </a:rPr>
              <a:t>RigGS 是什么？为什么要复现？</a:t>
            </a:r>
            <a:endParaRPr sz="1300" b="0">
              <a:solidFill>
                <a:srgbClr val="AAAACC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1371600" y="2176272"/>
            <a:ext cx="9445752" cy="62179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>
            <p:custDataLst>
              <p:tags r:id="rId5"/>
            </p:custDataLst>
          </p:nvPr>
        </p:nvSpPr>
        <p:spPr>
          <a:xfrm>
            <a:off x="1463040" y="2258568"/>
            <a:ext cx="457200" cy="45720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>
            <p:custDataLst>
              <p:tags r:id="rId6"/>
            </p:custDataLst>
          </p:nvPr>
        </p:nvSpPr>
        <p:spPr>
          <a:xfrm>
            <a:off x="1463040" y="227685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02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>
            <p:custDataLst>
              <p:tags r:id="rId7"/>
            </p:custDataLst>
          </p:nvPr>
        </p:nvSpPr>
        <p:spPr>
          <a:xfrm>
            <a:off x="2103120" y="222199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环境配置与依赖安装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>
            <p:custDataLst>
              <p:tags r:id="rId8"/>
            </p:custDataLst>
          </p:nvPr>
        </p:nvSpPr>
        <p:spPr>
          <a:xfrm>
            <a:off x="2103120" y="2523744"/>
            <a:ext cx="8686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CC"/>
                </a:solidFill>
              </a:rPr>
              <a:t>完整踩坑记录</a:t>
            </a:r>
            <a:endParaRPr sz="1300" b="0">
              <a:solidFill>
                <a:srgbClr val="AAAACC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371600" y="2848356"/>
            <a:ext cx="9445752" cy="62179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>
            <p:custDataLst>
              <p:tags r:id="rId9"/>
            </p:custDataLst>
          </p:nvPr>
        </p:nvSpPr>
        <p:spPr>
          <a:xfrm>
            <a:off x="1463040" y="2930652"/>
            <a:ext cx="457200" cy="45720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>
            <p:custDataLst>
              <p:tags r:id="rId10"/>
            </p:custDataLst>
          </p:nvPr>
        </p:nvSpPr>
        <p:spPr>
          <a:xfrm>
            <a:off x="1463040" y="2948940"/>
            <a:ext cx="457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</a:t>
            </a:r>
            <a:r>
              <a:rPr lang="en-US" sz="1600" b="1">
                <a:solidFill>
                  <a:srgbClr val="FFFFFF"/>
                </a:solidFill>
              </a:rPr>
              <a:t>3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>
            <p:custDataLst>
              <p:tags r:id="rId11"/>
            </p:custDataLst>
          </p:nvPr>
        </p:nvSpPr>
        <p:spPr>
          <a:xfrm>
            <a:off x="2103120" y="293027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训练与动画烘焙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25" name="TextBox 24"/>
          <p:cNvSpPr txBox="1"/>
          <p:nvPr>
            <p:custDataLst>
              <p:tags r:id="rId12"/>
            </p:custDataLst>
          </p:nvPr>
        </p:nvSpPr>
        <p:spPr>
          <a:xfrm>
            <a:off x="2103120" y="3195828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CC"/>
                </a:solidFill>
              </a:rPr>
              <a:t>Stage 2 训练流程 + 烘焙脚本修复</a:t>
            </a:r>
            <a:endParaRPr sz="1300" b="0">
              <a:solidFill>
                <a:srgbClr val="AAAACC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1371600" y="4315968"/>
            <a:ext cx="9445752" cy="621792"/>
          </a:xfrm>
          <a:prstGeom prst="rect">
            <a:avLst/>
          </a:prstGeom>
          <a:solidFill>
            <a:srgbClr val="2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>
            <p:custDataLst>
              <p:tags r:id="rId13"/>
            </p:custDataLst>
          </p:nvPr>
        </p:nvSpPr>
        <p:spPr>
          <a:xfrm>
            <a:off x="1463040" y="4398264"/>
            <a:ext cx="457200" cy="45720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>
            <p:custDataLst>
              <p:tags r:id="rId14"/>
            </p:custDataLst>
          </p:nvPr>
        </p:nvSpPr>
        <p:spPr>
          <a:xfrm>
            <a:off x="1463040" y="4416552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05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29" name="TextBox 28"/>
          <p:cNvSpPr txBox="1"/>
          <p:nvPr>
            <p:custDataLst>
              <p:tags r:id="rId15"/>
            </p:custDataLst>
          </p:nvPr>
        </p:nvSpPr>
        <p:spPr>
          <a:xfrm>
            <a:off x="2103120" y="4361688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Unity 点云可视化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0" name="TextBox 29"/>
          <p:cNvSpPr txBox="1"/>
          <p:nvPr>
            <p:custDataLst>
              <p:tags r:id="rId16"/>
            </p:custDataLst>
          </p:nvPr>
        </p:nvSpPr>
        <p:spPr>
          <a:xfrm>
            <a:off x="2103120" y="4663440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CC"/>
                </a:solidFill>
              </a:rPr>
              <a:t>PLY 加载 / GPU 渲染 / 骨骼交互</a:t>
            </a:r>
            <a:endParaRPr sz="1300" b="0">
              <a:solidFill>
                <a:srgbClr val="AAAACC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1371600" y="5029200"/>
            <a:ext cx="9445752" cy="62179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>
            <p:custDataLst>
              <p:tags r:id="rId17"/>
            </p:custDataLst>
          </p:nvPr>
        </p:nvSpPr>
        <p:spPr>
          <a:xfrm>
            <a:off x="1463040" y="5111496"/>
            <a:ext cx="457200" cy="45720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>
            <p:custDataLst>
              <p:tags r:id="rId18"/>
            </p:custDataLst>
          </p:nvPr>
        </p:nvSpPr>
        <p:spPr>
          <a:xfrm>
            <a:off x="1463040" y="5129784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06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4" name="TextBox 33"/>
          <p:cNvSpPr txBox="1"/>
          <p:nvPr>
            <p:custDataLst>
              <p:tags r:id="rId19"/>
            </p:custDataLst>
          </p:nvPr>
        </p:nvSpPr>
        <p:spPr>
          <a:xfrm>
            <a:off x="2103120" y="5074920"/>
            <a:ext cx="5029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复现结果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35" name="TextBox 34"/>
          <p:cNvSpPr txBox="1"/>
          <p:nvPr>
            <p:custDataLst>
              <p:tags r:id="rId20"/>
            </p:custDataLst>
          </p:nvPr>
        </p:nvSpPr>
        <p:spPr>
          <a:xfrm>
            <a:off x="2103120" y="5376672"/>
            <a:ext cx="8686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300" b="0">
                <a:solidFill>
                  <a:srgbClr val="AAAACC"/>
                </a:solidFill>
              </a:rPr>
              <a:t>结果显示</a:t>
            </a:r>
            <a:endParaRPr lang="zh-CN" sz="1300" b="0">
              <a:solidFill>
                <a:srgbClr val="AAAACC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1371600" y="5742431"/>
            <a:ext cx="9445752" cy="621792"/>
          </a:xfrm>
          <a:prstGeom prst="rect">
            <a:avLst/>
          </a:prstGeom>
          <a:solidFill>
            <a:srgbClr val="2323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>
            <p:custDataLst>
              <p:tags r:id="rId21"/>
            </p:custDataLst>
          </p:nvPr>
        </p:nvSpPr>
        <p:spPr>
          <a:xfrm>
            <a:off x="1463040" y="5824727"/>
            <a:ext cx="457200" cy="45720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>
            <p:custDataLst>
              <p:tags r:id="rId22"/>
            </p:custDataLst>
          </p:nvPr>
        </p:nvSpPr>
        <p:spPr>
          <a:xfrm>
            <a:off x="1463040" y="5843016"/>
            <a:ext cx="457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07</a:t>
            </a:r>
            <a:endParaRPr sz="1600" b="1">
              <a:solidFill>
                <a:srgbClr val="FFFFFF"/>
              </a:solidFill>
            </a:endParaRPr>
          </a:p>
        </p:txBody>
      </p:sp>
      <p:sp>
        <p:nvSpPr>
          <p:cNvPr id="39" name="TextBox 38"/>
          <p:cNvSpPr txBox="1"/>
          <p:nvPr>
            <p:custDataLst>
              <p:tags r:id="rId23"/>
            </p:custDataLst>
          </p:nvPr>
        </p:nvSpPr>
        <p:spPr>
          <a:xfrm>
            <a:off x="2103120" y="5788151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总结与展望</a:t>
            </a:r>
            <a:endParaRPr sz="1800" b="1">
              <a:solidFill>
                <a:srgbClr val="FFFFFF"/>
              </a:solidFill>
            </a:endParaRPr>
          </a:p>
        </p:txBody>
      </p:sp>
      <p:sp>
        <p:nvSpPr>
          <p:cNvPr id="40" name="TextBox 39"/>
          <p:cNvSpPr txBox="1"/>
          <p:nvPr>
            <p:custDataLst>
              <p:tags r:id="rId24"/>
            </p:custDataLst>
          </p:nvPr>
        </p:nvSpPr>
        <p:spPr>
          <a:xfrm>
            <a:off x="2103120" y="6089903"/>
            <a:ext cx="8686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AAAACC"/>
                </a:solidFill>
              </a:rPr>
              <a:t>心得体会 + 后续改进方向</a:t>
            </a:r>
            <a:endParaRPr sz="1300" b="0">
              <a:solidFill>
                <a:srgbClr val="AAAACC"/>
              </a:solidFill>
            </a:endParaRPr>
          </a:p>
        </p:txBody>
      </p:sp>
      <p:sp>
        <p:nvSpPr>
          <p:cNvPr id="41" name="Rectangle 20"/>
          <p:cNvSpPr/>
          <p:nvPr/>
        </p:nvSpPr>
        <p:spPr>
          <a:xfrm>
            <a:off x="1371600" y="3616071"/>
            <a:ext cx="9445752" cy="621792"/>
          </a:xfrm>
          <a:prstGeom prst="rect">
            <a:avLst/>
          </a:prstGeom>
          <a:solidFill>
            <a:srgbClr val="1E1E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21"/>
          <p:cNvSpPr/>
          <p:nvPr>
            <p:custDataLst>
              <p:tags r:id="rId25"/>
            </p:custDataLst>
          </p:nvPr>
        </p:nvSpPr>
        <p:spPr>
          <a:xfrm>
            <a:off x="1463040" y="3698367"/>
            <a:ext cx="457200" cy="45720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22"/>
          <p:cNvSpPr txBox="1"/>
          <p:nvPr>
            <p:custDataLst>
              <p:tags r:id="rId26"/>
            </p:custDataLst>
          </p:nvPr>
        </p:nvSpPr>
        <p:spPr>
          <a:xfrm>
            <a:off x="1463040" y="3716655"/>
            <a:ext cx="4572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</a:rPr>
              <a:t>0</a:t>
            </a:r>
            <a:r>
              <a:rPr lang="en-US" sz="1600" b="1">
                <a:solidFill>
                  <a:srgbClr val="FFFFFF"/>
                </a:solidFill>
              </a:rPr>
              <a:t>4</a:t>
            </a:r>
            <a:endParaRPr lang="en-US" sz="1600" b="1">
              <a:solidFill>
                <a:srgbClr val="FFFFFF"/>
              </a:solidFill>
            </a:endParaRPr>
          </a:p>
        </p:txBody>
      </p:sp>
      <p:sp>
        <p:nvSpPr>
          <p:cNvPr id="44" name="TextBox 23"/>
          <p:cNvSpPr txBox="1"/>
          <p:nvPr>
            <p:custDataLst>
              <p:tags r:id="rId27"/>
            </p:custDataLst>
          </p:nvPr>
        </p:nvSpPr>
        <p:spPr>
          <a:xfrm>
            <a:off x="2103120" y="3697986"/>
            <a:ext cx="5029200" cy="368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sz="1800" b="1">
                <a:solidFill>
                  <a:srgbClr val="FFFFFF"/>
                </a:solidFill>
              </a:rPr>
              <a:t>轻量化？</a:t>
            </a:r>
            <a:endParaRPr lang="zh-CN" sz="1800" b="1">
              <a:solidFill>
                <a:srgbClr val="FFFFFF"/>
              </a:solidFill>
            </a:endParaRPr>
          </a:p>
        </p:txBody>
      </p:sp>
      <p:sp>
        <p:nvSpPr>
          <p:cNvPr id="45" name="TextBox 24"/>
          <p:cNvSpPr txBox="1"/>
          <p:nvPr>
            <p:custDataLst>
              <p:tags r:id="rId28"/>
            </p:custDataLst>
          </p:nvPr>
        </p:nvSpPr>
        <p:spPr>
          <a:xfrm>
            <a:off x="2103120" y="3963543"/>
            <a:ext cx="8686800" cy="2914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300" b="0">
                <a:solidFill>
                  <a:srgbClr val="AAAACC"/>
                </a:solidFill>
              </a:rPr>
              <a:t>What can I do</a:t>
            </a:r>
            <a:r>
              <a:rPr lang="zh-CN" altLang="en-US" sz="1300" b="0">
                <a:solidFill>
                  <a:srgbClr val="AAAACC"/>
                </a:solidFill>
              </a:rPr>
              <a:t>？</a:t>
            </a:r>
            <a:endParaRPr lang="zh-CN" altLang="en-US" sz="1300" b="0">
              <a:solidFill>
                <a:srgbClr val="AAAACC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01  论文背景与核心思想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303520" cy="5669280"/>
          </a:xfrm>
          <a:prstGeom prst="rect">
            <a:avLst/>
          </a:prstGeom>
          <a:solidFill>
            <a:srgbClr val="23233E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0584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📄 论文信息</a:t>
            </a:r>
            <a:endParaRPr sz="1600" b="1">
              <a:solidFill>
                <a:srgbClr val="00C8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508760"/>
            <a:ext cx="4754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标题：RigGS: Rigging of 3D Gaussians for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      Modeling Articulated Objects in Videos</a:t>
            </a:r>
            <a:endParaRPr sz="1200">
              <a:solidFill>
                <a:srgbClr val="FFFFFF"/>
              </a:solidFill>
            </a:endParaRPr>
          </a:p>
          <a:p>
            <a:endParaRPr sz="1200"/>
          </a:p>
          <a:p>
            <a:r>
              <a:rPr sz="1200">
                <a:solidFill>
                  <a:srgbClr val="FFFFFF"/>
                </a:solidFill>
              </a:rPr>
              <a:t>作者：Yuxin Yao, Zhi Deng, Junhui Hou*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单位：香港城市大学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会议：CVPR 2025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代码：github.com/yaoyx689/RigGS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40080" y="39319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🎯 核心贡献</a:t>
            </a:r>
            <a:endParaRPr sz="1600" b="1">
              <a:solidFill>
                <a:srgbClr val="00C8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4434840"/>
            <a:ext cx="47548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将骨骼蒙皮（LBS）引入 3D Gaussian Splatting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每个 Gaussian 绑定骨骼节点，支持关节驱动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规范空间（canonical space）优化 + 骨骼变换渲染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支持从多视角视频重建可驱动的角色模型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17920" y="914400"/>
            <a:ext cx="5669280" cy="5669280"/>
          </a:xfrm>
          <a:prstGeom prst="rect">
            <a:avLst/>
          </a:prstGeom>
          <a:solidFill>
            <a:srgbClr val="2323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100584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⚙️ 技术流程</a:t>
            </a:r>
            <a:endParaRPr sz="1600" b="1">
              <a:solidFill>
                <a:srgbClr val="00C8FF"/>
              </a:solidFill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355080" y="1554480"/>
            <a:ext cx="502920" cy="50292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20574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输入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16002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多视角视频 + 骨骼先验
(COLMAP / SMPL)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21214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C5BFF"/>
                </a:solidFill>
              </a:rPr>
              <a:t>↓</a:t>
            </a:r>
            <a:endParaRPr sz="1800" b="0">
              <a:solidFill>
                <a:srgbClr val="6C5BFF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355080" y="2468880"/>
            <a:ext cx="50292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355080" y="29718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①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040880" y="25146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3D Gaussian 初始化
(从稀疏点云)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30358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C5BFF"/>
                </a:solidFill>
              </a:rPr>
              <a:t>↓</a:t>
            </a:r>
            <a:endParaRPr sz="1800" b="0">
              <a:solidFill>
                <a:srgbClr val="6C5BFF"/>
              </a:solidFill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6355080" y="3383280"/>
            <a:ext cx="502920" cy="50292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38862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②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040880" y="34290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骨骼关联（Bone Association）
每个 Gaussian 分配 Bone Index + Weight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492240" y="39502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C5BFF"/>
                </a:solidFill>
              </a:rPr>
              <a:t>↓</a:t>
            </a:r>
            <a:endParaRPr sz="1800" b="0">
              <a:solidFill>
                <a:srgbClr val="6C5BFF"/>
              </a:solidFill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6355080" y="4297680"/>
            <a:ext cx="502920" cy="5029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355080" y="48006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③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040880" y="43434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规范空间优化
LBS 形变 + 可微渲染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492240" y="4864608"/>
            <a:ext cx="731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6C5BFF"/>
                </a:solidFill>
              </a:rPr>
              <a:t>↓</a:t>
            </a:r>
            <a:endParaRPr sz="1800" b="0">
              <a:solidFill>
                <a:srgbClr val="6C5BFF"/>
              </a:solidFill>
            </a:endParaRPr>
          </a:p>
        </p:txBody>
      </p:sp>
      <p:sp>
        <p:nvSpPr>
          <p:cNvPr id="29" name="Rectangle 28"/>
          <p:cNvSpPr/>
          <p:nvPr/>
        </p:nvSpPr>
        <p:spPr>
          <a:xfrm>
            <a:off x="6355080" y="5212080"/>
            <a:ext cx="502920" cy="502920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55080" y="5715000"/>
            <a:ext cx="502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FFFFFF"/>
                </a:solidFill>
              </a:rPr>
              <a:t>输出</a:t>
            </a:r>
            <a:endParaRPr sz="1000" b="0">
              <a:solidFill>
                <a:srgbClr val="FFFFFF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040880" y="5257800"/>
            <a:ext cx="46634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可驱动关节模型
→ 新姿态渲染 / 动画烘焙</a:t>
            </a:r>
            <a:endParaRPr sz="12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02  环境配置与依赖安装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11274552" cy="1371600"/>
          </a:xfrm>
          <a:prstGeom prst="rect">
            <a:avLst/>
          </a:prstGeom>
          <a:solidFill>
            <a:srgbClr val="23233E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</a:rPr>
              <a:t>💻 硬件配置</a:t>
            </a:r>
            <a:endParaRPr sz="1500" b="1">
              <a:solidFill>
                <a:srgbClr val="00C8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371600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</a:rPr>
              <a:t>GPU：</a:t>
            </a:r>
            <a:endParaRPr sz="1200" b="1">
              <a:solidFill>
                <a:srgbClr val="00C8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103120" y="1371600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NVIDIA GeForce RTX 5070 Ti Laptop (Blackwell, 16GB GDDR7)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40080" y="1627632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</a:rPr>
              <a:t>CUDA：</a:t>
            </a:r>
            <a:endParaRPr sz="1200" b="1">
              <a:solidFill>
                <a:srgbClr val="00C8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2103120" y="1627632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13.0（系统安装）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8836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0C8FF"/>
                </a:solidFill>
              </a:rPr>
              <a:t>CPU：</a:t>
            </a:r>
            <a:endParaRPr sz="1200" b="1">
              <a:solidFill>
                <a:srgbClr val="00C8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103120" y="1883664"/>
            <a:ext cx="9144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</a:rPr>
              <a:t>Intel Core (Windows 11 x86-64)</a:t>
            </a:r>
            <a:endParaRPr sz="1200" b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5720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</a:rPr>
              <a:t>🛠️ 软件环境</a:t>
            </a:r>
            <a:endParaRPr sz="1500" b="1">
              <a:solidFill>
                <a:srgbClr val="00C8FF"/>
              </a:solidFill>
            </a:endParaRPr>
          </a:p>
        </p:txBody>
      </p:sp>
      <p:graphicFrame>
        <p:nvGraphicFramePr>
          <p:cNvPr id="15" name="Table 14"/>
          <p:cNvGraphicFramePr>
            <a:graphicFrameLocks noGrp="1"/>
          </p:cNvGraphicFramePr>
          <p:nvPr/>
        </p:nvGraphicFramePr>
        <p:xfrm>
          <a:off x="457200" y="2926080"/>
          <a:ext cx="11274552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637276"/>
                <a:gridCol w="5637276"/>
              </a:tblGrid>
              <a:tr h="347472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组件</a:t>
                      </a:r>
                    </a:p>
                  </a:txBody>
                  <a:tcPr>
                    <a:solidFill>
                      <a:srgbClr val="6C5B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版本 / 说明</a:t>
                      </a:r>
                    </a:p>
                  </a:txBody>
                  <a:tcPr>
                    <a:solidFill>
                      <a:srgbClr val="6C5B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3.10.20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PyTorch</a:t>
                      </a:r>
                    </a:p>
                  </a:txBody>
                  <a:tcPr>
                    <a:solidFill>
                      <a:srgbClr val="2323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2.10.0+cu130</a:t>
                      </a:r>
                    </a:p>
                  </a:txBody>
                  <a:tcPr>
                    <a:solidFill>
                      <a:srgbClr val="2323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CUDA Toolkit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13.0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numpy</a:t>
                      </a:r>
                    </a:p>
                  </a:txBody>
                  <a:tcPr>
                    <a:solidFill>
                      <a:srgbClr val="2323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2.2.6</a:t>
                      </a:r>
                    </a:p>
                  </a:txBody>
                  <a:tcPr>
                    <a:solidFill>
                      <a:srgbClr val="2323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diff-gaussian-rasterization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CUDA 13.0 编译版本</a:t>
                      </a:r>
                    </a:p>
                  </a:txBody>
                  <a:tcPr>
                    <a:solidFill>
                      <a:srgbClr val="1A1A2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simple-knn</a:t>
                      </a:r>
                    </a:p>
                  </a:txBody>
                  <a:tcPr>
                    <a:solidFill>
                      <a:srgbClr val="2323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已编译安装</a:t>
                      </a:r>
                    </a:p>
                  </a:txBody>
                  <a:tcPr>
                    <a:solidFill>
                      <a:srgbClr val="23233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Unity</a:t>
                      </a:r>
                    </a:p>
                  </a:txBody>
                  <a:tcPr>
                    <a:solidFill>
                      <a:srgbClr val="23233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</a:defRPr>
                      </a:pPr>
                      <a:r>
                        <a:t>2022.3</a:t>
                      </a:r>
                      <a:r>
                        <a:rPr lang="en-US"/>
                        <a:t>.14f1c1</a:t>
                      </a:r>
                      <a:endParaRPr lang="en-US"/>
                    </a:p>
                  </a:txBody>
                  <a:tcPr>
                    <a:solidFill>
                      <a:srgbClr val="23233E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04  训练与动画烘焙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</a:rPr>
              <a:t>🚀 Stage 2 训练命令</a:t>
            </a:r>
            <a:endParaRPr sz="1500" b="1">
              <a:solidFill>
                <a:srgbClr val="00C8FF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457200" y="1371600"/>
            <a:ext cx="5669280" cy="2286000"/>
          </a:xfrm>
          <a:prstGeom prst="rect">
            <a:avLst/>
          </a:prstGeom>
          <a:solidFill>
            <a:srgbClr val="051A0D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48640" y="1417320"/>
            <a:ext cx="5394960" cy="2148840"/>
          </a:xfrm>
          <a:prstGeom prst="rect">
            <a:avLst/>
          </a:prstGeom>
          <a:solidFill>
            <a:srgbClr val="0D0D1A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139696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 sz="1000" b="0">
              <a:solidFill>
                <a:srgbClr val="00E59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40080" y="1518539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python run_train_rig.py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40080" y="1737487"/>
            <a:ext cx="521208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--source_path </a:t>
            </a:r>
            <a:r>
              <a:rPr lang="en-US" sz="1000" b="0">
                <a:solidFill>
                  <a:srgbClr val="00E596"/>
                </a:solidFill>
              </a:rPr>
              <a:t>path_name</a:t>
            </a:r>
            <a:r>
              <a:rPr sz="1000" b="0">
                <a:solidFill>
                  <a:srgbClr val="00E596"/>
                </a:solidFill>
              </a:rPr>
              <a:t>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40080" y="2071370"/>
            <a:ext cx="521208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--model_path </a:t>
            </a:r>
            <a:r>
              <a:rPr lang="en-US" sz="1000" b="0">
                <a:solidFill>
                  <a:srgbClr val="00E596"/>
                </a:solidFill>
              </a:rPr>
              <a:t>path_name</a:t>
            </a:r>
            <a:r>
              <a:rPr sz="1000" b="0">
                <a:solidFill>
                  <a:srgbClr val="00E596"/>
                </a:solidFill>
              </a:rPr>
              <a:t>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0080" y="2405253"/>
            <a:ext cx="521208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--pretrain_model_path </a:t>
            </a:r>
            <a:r>
              <a:rPr lang="en-US" sz="1000" b="0">
                <a:solidFill>
                  <a:srgbClr val="00E596"/>
                </a:solidFill>
              </a:rPr>
              <a:t>path_name</a:t>
            </a:r>
            <a:r>
              <a:rPr sz="1000" b="0">
                <a:solidFill>
                  <a:srgbClr val="00E596"/>
                </a:solidFill>
              </a:rPr>
              <a:t>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0080" y="2706751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--deform_type node --node_num 512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" y="290855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--is_blender --eval --local_frame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31520" y="316433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--resolution 2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914400"/>
            <a:ext cx="5486400" cy="321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</a:rPr>
              <a:t>🎬 动画烘焙命令</a:t>
            </a:r>
            <a:endParaRPr sz="1500" b="1">
              <a:solidFill>
                <a:srgbClr val="00C8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6400800" y="1371600"/>
            <a:ext cx="5669280" cy="2286000"/>
          </a:xfrm>
          <a:prstGeom prst="rect">
            <a:avLst/>
          </a:prstGeom>
          <a:solidFill>
            <a:srgbClr val="051A0D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492240" y="1417320"/>
            <a:ext cx="5394960" cy="2148840"/>
          </a:xfrm>
          <a:prstGeom prst="rect">
            <a:avLst/>
          </a:prstGeom>
          <a:solidFill>
            <a:srgbClr val="0D0D1A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79" y="155448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python bake_animation.py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83679" y="1847088"/>
            <a:ext cx="521208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--source_path </a:t>
            </a:r>
            <a:r>
              <a:rPr lang="en-US" sz="1000" b="0">
                <a:solidFill>
                  <a:srgbClr val="00E596"/>
                </a:solidFill>
              </a:rPr>
              <a:t>path_name </a:t>
            </a:r>
            <a:r>
              <a:rPr sz="1000" b="0">
                <a:solidFill>
                  <a:srgbClr val="00E596"/>
                </a:solidFill>
              </a:rPr>
              <a:t>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6583679" y="2139696"/>
            <a:ext cx="5212080" cy="245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--model_path </a:t>
            </a:r>
            <a:r>
              <a:rPr lang="en-US" sz="1000" b="0">
                <a:solidFill>
                  <a:srgbClr val="00E596"/>
                </a:solidFill>
              </a:rPr>
              <a:t>path_name</a:t>
            </a:r>
            <a:r>
              <a:rPr sz="1000" b="0">
                <a:solidFill>
                  <a:srgbClr val="00E596"/>
                </a:solidFill>
              </a:rPr>
              <a:t>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583679" y="2432304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--deform_type node --node_num 512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583679" y="2724912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--is_blender --eval --local_frame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583679" y="3017520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--resolution 2 --skeleton_weight_knn -1 ^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79" y="3310128"/>
            <a:ext cx="5212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00E596"/>
                </a:solidFill>
              </a:rPr>
              <a:t>  --num_frames 50</a:t>
            </a:r>
            <a:endParaRPr sz="1000" b="0">
              <a:solidFill>
                <a:srgbClr val="00E596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548640" y="38049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</a:rPr>
              <a:t>📂 输出目录结构（baked_animation/）</a:t>
            </a:r>
            <a:endParaRPr sz="1500" b="1">
              <a:solidFill>
                <a:srgbClr val="00C8FF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40080" y="4262755"/>
            <a:ext cx="7132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>
                <a:solidFill>
                  <a:srgbClr val="FFFFFF"/>
                </a:solidFill>
              </a:rPr>
              <a:t>baked_animation/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├── ply_frames/              # 逐帧 PLY（模型+骨骼）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│   ├── frame_0000.ply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│   └── ...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├── render_0000.png ~ 0049.png   # 渲染帧 (800×800)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├── animation.json               # 骨骼动画数据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├── animation.mp4                # H.264 视频 (10fps)</a:t>
            </a:r>
            <a:endParaRPr sz="1200">
              <a:solidFill>
                <a:srgbClr val="FFFFFF"/>
              </a:solidFill>
            </a:endParaRPr>
          </a:p>
          <a:p>
            <a:r>
              <a:rPr sz="1200">
                <a:solidFill>
                  <a:srgbClr val="FFFFFF"/>
                </a:solidFill>
              </a:rPr>
              <a:t>└── animation.gif                # GIF 动画</a:t>
            </a:r>
            <a:endParaRPr sz="1200">
              <a:solidFill>
                <a:srgbClr val="FFFFFF"/>
              </a:solidFill>
            </a:endParaRPr>
          </a:p>
        </p:txBody>
      </p:sp>
      <p:sp>
        <p:nvSpPr>
          <p:cNvPr id="31" name="Rectangle 30"/>
          <p:cNvSpPr/>
          <p:nvPr/>
        </p:nvSpPr>
        <p:spPr>
          <a:xfrm>
            <a:off x="8046720" y="3840480"/>
            <a:ext cx="3840480" cy="2743200"/>
          </a:xfrm>
          <a:prstGeom prst="rect">
            <a:avLst/>
          </a:prstGeom>
          <a:solidFill>
            <a:srgbClr val="23233E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2960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00C8FF"/>
                </a:solidFill>
              </a:rPr>
              <a:t>📋 animation.json 格式</a:t>
            </a:r>
            <a:endParaRPr sz="1300" b="1">
              <a:solidFill>
                <a:srgbClr val="00C8FF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29600" y="4389120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FFFFFF"/>
                </a:solidFill>
              </a:rPr>
              <a:t>{</a:t>
            </a:r>
            <a:endParaRPr sz="1100">
              <a:solidFill>
                <a:srgbClr val="FFFFFF"/>
              </a:solidFill>
            </a:endParaRPr>
          </a:p>
          <a:p>
            <a:r>
              <a:rPr sz="1100">
                <a:solidFill>
                  <a:srgbClr val="FFFFFF"/>
                </a:solidFill>
              </a:rPr>
              <a:t>  "num_frames": 50,</a:t>
            </a:r>
            <a:endParaRPr sz="1100">
              <a:solidFill>
                <a:srgbClr val="FFFFFF"/>
              </a:solidFill>
            </a:endParaRPr>
          </a:p>
          <a:p>
            <a:r>
              <a:rPr sz="1100">
                <a:solidFill>
                  <a:srgbClr val="FFFFFF"/>
                </a:solidFill>
              </a:rPr>
              <a:t>  "parents": [0,0,1,2,...],</a:t>
            </a:r>
            <a:endParaRPr sz="1100">
              <a:solidFill>
                <a:srgbClr val="FFFFFF"/>
              </a:solidFill>
            </a:endParaRPr>
          </a:p>
          <a:p>
            <a:r>
              <a:rPr sz="1100">
                <a:solidFill>
                  <a:srgbClr val="FFFFFF"/>
                </a:solidFill>
              </a:rPr>
              <a:t>  "frames": [{</a:t>
            </a:r>
            <a:endParaRPr sz="1100">
              <a:solidFill>
                <a:srgbClr val="FFFFFF"/>
              </a:solidFill>
            </a:endParaRPr>
          </a:p>
          <a:p>
            <a:r>
              <a:rPr sz="1100">
                <a:solidFill>
                  <a:srgbClr val="FFFFFF"/>
                </a:solidFill>
              </a:rPr>
              <a:t>    "frame": 0,</a:t>
            </a:r>
            <a:endParaRPr sz="1100">
              <a:solidFill>
                <a:srgbClr val="FFFFFF"/>
              </a:solidFill>
            </a:endParaRPr>
          </a:p>
          <a:p>
            <a:r>
              <a:rPr sz="1100">
                <a:solidFill>
                  <a:srgbClr val="FFFFFF"/>
                </a:solidFill>
              </a:rPr>
              <a:t>    "joints": [[x,y,z],...]</a:t>
            </a:r>
            <a:endParaRPr sz="1100">
              <a:solidFill>
                <a:srgbClr val="FFFFFF"/>
              </a:solidFill>
            </a:endParaRPr>
          </a:p>
          <a:p>
            <a:r>
              <a:rPr sz="1100">
                <a:solidFill>
                  <a:srgbClr val="FFFFFF"/>
                </a:solidFill>
              </a:rPr>
              <a:t>  }, ...]</a:t>
            </a:r>
            <a:endParaRPr sz="1100">
              <a:solidFill>
                <a:srgbClr val="FFFFFF"/>
              </a:solidFill>
            </a:endParaRPr>
          </a:p>
          <a:p>
            <a:r>
              <a:rPr sz="1100">
                <a:solidFill>
                  <a:srgbClr val="FFFFFF"/>
                </a:solidFill>
              </a:rPr>
              <a:t>}</a:t>
            </a:r>
            <a:endParaRPr sz="11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4914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</a:rPr>
              <a:t>05  Unity 点云可视化</a:t>
            </a:r>
            <a:endParaRPr sz="26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303520" cy="5669280"/>
          </a:xfrm>
          <a:prstGeom prst="rect">
            <a:avLst/>
          </a:prstGeom>
          <a:solidFill>
            <a:srgbClr val="23233E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C8FF"/>
                </a:solidFill>
              </a:rPr>
              <a:t>⚡ GPU 渲染管线</a:t>
            </a:r>
            <a:endParaRPr sz="1500" b="1">
              <a:solidFill>
                <a:srgbClr val="00C8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822960" y="146304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FF"/>
                </a:solidFill>
              </a:rPr>
              <a:t>PLY File</a:t>
            </a:r>
            <a:endParaRPr sz="1300" b="0">
              <a:solidFill>
                <a:srgbClr val="00C8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22960" y="190195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  ↓  PlyLoader.Load()</a:t>
            </a:r>
            <a:endParaRPr sz="1300" b="0">
              <a:solidFill>
                <a:srgbClr val="00E596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22960" y="234086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FF"/>
                </a:solidFill>
              </a:rPr>
              <a:t>Point[] (position + color)</a:t>
            </a:r>
            <a:endParaRPr sz="1300" b="0">
              <a:solidFill>
                <a:srgbClr val="00C8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60" y="277977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0E596"/>
                </a:solidFill>
              </a:rPr>
              <a:t>  ↓  分批 Matrix4x4[]</a:t>
            </a:r>
            <a:endParaRPr sz="1100" b="0">
              <a:solidFill>
                <a:srgbClr val="00E596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60" y="321868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FF"/>
                </a:solidFill>
              </a:rPr>
              <a:t>  （每批最多 1023 个实例）</a:t>
            </a:r>
            <a:endParaRPr sz="1300" b="0">
              <a:solidFill>
                <a:srgbClr val="00C8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60" y="3657600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  ↓  Graphics.DrawMeshInstanced()</a:t>
            </a:r>
            <a:endParaRPr sz="1300" b="0">
              <a:solidFill>
                <a:srgbClr val="00E596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22960" y="4096512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FF"/>
                </a:solidFill>
              </a:rPr>
              <a:t>  ↓  PointCloudShader</a:t>
            </a:r>
            <a:endParaRPr sz="1300" b="0">
              <a:solidFill>
                <a:srgbClr val="00C8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22960" y="4535424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  （圆形 alpha 裁剪）</a:t>
            </a:r>
            <a:endParaRPr sz="1300" b="0">
              <a:solidFill>
                <a:srgbClr val="00E596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60" y="4974336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C8FF"/>
                </a:solidFill>
              </a:rPr>
              <a:t>  ↓</a:t>
            </a:r>
            <a:endParaRPr sz="1300" b="0">
              <a:solidFill>
                <a:srgbClr val="00C8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22960" y="5413248"/>
            <a:ext cx="47548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00E596"/>
                </a:solidFill>
              </a:rPr>
              <a:t>Screen（实时渲染）</a:t>
            </a:r>
            <a:endParaRPr sz="1300" b="0">
              <a:solidFill>
                <a:srgbClr val="00E596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06  复现结果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图片 13" descr="animation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67180" y="1496695"/>
            <a:ext cx="3810000" cy="38100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1567180" y="5478780"/>
            <a:ext cx="3810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</a:rPr>
              <a:t>自训练数据烘焙</a:t>
            </a:r>
            <a:endParaRPr lang="zh-CN" altLang="en-US" sz="2000">
              <a:solidFill>
                <a:schemeClr val="bg1"/>
              </a:solidFill>
            </a:endParaRPr>
          </a:p>
        </p:txBody>
      </p:sp>
      <p:pic>
        <p:nvPicPr>
          <p:cNvPr id="34" name="图片 33" descr="animation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43065" y="1451610"/>
            <a:ext cx="3810000" cy="3810000"/>
          </a:xfrm>
          <a:prstGeom prst="rect">
            <a:avLst/>
          </a:prstGeom>
        </p:spPr>
      </p:pic>
      <p:sp>
        <p:nvSpPr>
          <p:cNvPr id="35" name="文本框 34"/>
          <p:cNvSpPr txBox="1"/>
          <p:nvPr/>
        </p:nvSpPr>
        <p:spPr>
          <a:xfrm>
            <a:off x="6743065" y="5478780"/>
            <a:ext cx="381000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>
                <a:solidFill>
                  <a:schemeClr val="bg1"/>
                </a:solidFill>
              </a:rPr>
              <a:t>预训练数据烘焙</a:t>
            </a:r>
            <a:endParaRPr lang="zh-CN" altLang="en-US" sz="200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2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06  复现结果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00E5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xPin_2026-06-02_00-25-35">
            <a:hlinkClick r:id="" action="ppaction://media"/>
          </p:cNvPr>
          <p:cNvPicPr/>
          <p:nvPr>
            <a:videoFile r:link="rId1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3"/>
          <a:stretch>
            <a:fillRect/>
          </a:stretch>
        </p:blipFill>
        <p:spPr>
          <a:xfrm>
            <a:off x="641985" y="790575"/>
            <a:ext cx="10469245" cy="5979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 fullScrn="0">
              <p:cMediaNode>
                <p:cTn id="2" fill="hold" display="1">
                  <p:stCondLst>
                    <p:cond delay="indefinite"/>
                  </p:stCondLst>
                </p:cTn>
                <p:tgtEl>
                  <p:spTgt spid="16"/>
                </p:tgtEl>
              </p:cMediaNode>
            </p:video>
            <p:seq concurrent="1" nextAc="seek">
              <p:cTn id="3" restart="whenNotActive" fill="hold" evtFilter="cancelBubble" nodeType="interactiveSeq">
                <p:stCondLst>
                  <p:cond evt="onClick" delay="0">
                    <p:tgtEl>
                      <p:spTgt spid="16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4" fill="hold">
                      <p:stCondLst>
                        <p:cond delay="0"/>
                      </p:stCondLst>
                      <p:childTnLst>
                        <p:par>
                          <p:cTn id="5" fill="hold">
                            <p:stCondLst>
                              <p:cond delay="0"/>
                            </p:stCondLst>
                            <p:childTnLst>
                              <p:par>
                                <p:cTn id="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 additive="base">
                                        <p:cTn id="7" dur="1" fill="hold"/>
                                        <p:tgtEl>
                                          <p:spTgt spid="1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16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828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</a:rPr>
              <a:t>07  总结与展望</a:t>
            </a:r>
            <a:endParaRPr sz="2800" b="1">
              <a:solidFill>
                <a:srgbClr val="FFFFF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457200" y="777240"/>
            <a:ext cx="11274552" cy="36576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914400"/>
            <a:ext cx="5303520" cy="5669280"/>
          </a:xfrm>
          <a:prstGeom prst="rect">
            <a:avLst/>
          </a:prstGeom>
          <a:solidFill>
            <a:srgbClr val="23233E"/>
          </a:solidFill>
          <a:ln w="12700">
            <a:solidFill>
              <a:srgbClr val="6C5B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960120"/>
            <a:ext cx="4937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📝 项目总结</a:t>
            </a:r>
            <a:endParaRPr sz="1600" b="1">
              <a:solidFill>
                <a:srgbClr val="00C8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4754880" cy="3784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✅ 在 Windows + RTX 5070 Ti (Blackwell)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 环境下完整复现 RigGS 全流程</a:t>
            </a:r>
            <a:endParaRPr sz="1600">
              <a:solidFill>
                <a:srgbClr val="FFFFFF"/>
              </a:solidFill>
            </a:endParaRPr>
          </a:p>
          <a:p>
            <a:endParaRPr sz="1600"/>
          </a:p>
          <a:p>
            <a:r>
              <a:rPr sz="1600">
                <a:solidFill>
                  <a:srgbClr val="FFFFFF"/>
                </a:solidFill>
              </a:rPr>
              <a:t>✅ 修复 4 个关键 Bug，使烘焙动画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 输出正确（灰度→彩色）</a:t>
            </a:r>
            <a:endParaRPr sz="1600">
              <a:solidFill>
                <a:srgbClr val="FFFFFF"/>
              </a:solidFill>
            </a:endParaRPr>
          </a:p>
          <a:p>
            <a:endParaRPr sz="1600"/>
          </a:p>
          <a:p>
            <a:r>
              <a:rPr sz="1600">
                <a:solidFill>
                  <a:srgbClr val="FFFFFF"/>
                </a:solidFill>
              </a:rPr>
              <a:t>✅ 适配 CUDA 13.0 + PyTorch 2.10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 解决 Blackwell 架构兼容性问题</a:t>
            </a:r>
            <a:endParaRPr sz="1600">
              <a:solidFill>
                <a:srgbClr val="FFFFFF"/>
              </a:solidFill>
            </a:endParaRPr>
          </a:p>
          <a:p>
            <a:endParaRPr sz="1600"/>
          </a:p>
          <a:p>
            <a:r>
              <a:rPr sz="1600">
                <a:solidFill>
                  <a:srgbClr val="FFFFFF"/>
                </a:solidFill>
              </a:rPr>
              <a:t>✅ 实现 Unity 点云可视化前端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 支持 GPU  instancing 渲染 +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 骨骼拖拽交互</a:t>
            </a:r>
            <a:endParaRPr sz="1600">
              <a:solidFill>
                <a:srgbClr val="FFFFFF"/>
              </a:solidFill>
            </a:endParaRPr>
          </a:p>
          <a:p>
            <a:endParaRPr sz="1600"/>
          </a:p>
          <a:p>
            <a:r>
              <a:rPr sz="1600">
                <a:solidFill>
                  <a:srgbClr val="FFFFFF"/>
                </a:solidFill>
              </a:rPr>
              <a:t>✅ 验证 8 个 D_NeRF 场景 + 7 个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 ZJU-MoCap subject</a:t>
            </a:r>
            <a:endParaRPr sz="16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217920" y="914400"/>
            <a:ext cx="5669280" cy="5669280"/>
          </a:xfrm>
          <a:prstGeom prst="rect">
            <a:avLst/>
          </a:prstGeom>
          <a:solidFill>
            <a:srgbClr val="23233E"/>
          </a:solidFill>
          <a:ln w="12700">
            <a:solidFill>
              <a:srgbClr val="00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960120"/>
            <a:ext cx="5303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C8FF"/>
                </a:solidFill>
              </a:rPr>
              <a:t>🚀 后续改进方向</a:t>
            </a:r>
            <a:endParaRPr sz="1600" b="1">
              <a:solidFill>
                <a:srgbClr val="00C8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400800" y="1463040"/>
            <a:ext cx="5303520" cy="3538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>
                <a:solidFill>
                  <a:srgbClr val="FFFFFF"/>
                </a:solidFill>
              </a:rPr>
              <a:t>① 尝试更高效的骨骼表示</a:t>
            </a:r>
            <a:endParaRPr sz="1600">
              <a:solidFill>
                <a:srgbClr val="FFFFFF"/>
              </a:solidFill>
            </a:endParaRPr>
          </a:p>
          <a:p>
            <a:endParaRPr sz="1600"/>
          </a:p>
          <a:p>
            <a:r>
              <a:rPr sz="1600">
                <a:solidFill>
                  <a:srgbClr val="FFFFFF"/>
                </a:solidFill>
              </a:rPr>
              <a:t>② 将 Unity 可视化扩展为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WebGL 版本，支持浏览器查看</a:t>
            </a:r>
            <a:endParaRPr sz="1600">
              <a:solidFill>
                <a:srgbClr val="FFFFFF"/>
              </a:solidFill>
            </a:endParaRPr>
          </a:p>
          <a:p>
            <a:endParaRPr sz="1600"/>
          </a:p>
          <a:p>
            <a:r>
              <a:rPr sz="1600">
                <a:solidFill>
                  <a:srgbClr val="FFFFFF"/>
                </a:solidFill>
              </a:rPr>
              <a:t>③ 接入 VR（XR Interaction Toolkit）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实现沉浸式骨骼编辑体验</a:t>
            </a:r>
            <a:endParaRPr sz="1600">
              <a:solidFill>
                <a:srgbClr val="FFFFFF"/>
              </a:solidFill>
            </a:endParaRPr>
          </a:p>
          <a:p>
            <a:endParaRPr sz="1600"/>
          </a:p>
          <a:p>
            <a:r>
              <a:rPr sz="1600">
                <a:solidFill>
                  <a:srgbClr val="FFFFFF"/>
                </a:solidFill>
              </a:rPr>
              <a:t>④ 优化训练速度，尝试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4DGS / K-Planes 等高效动态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场景表示方法作为对比</a:t>
            </a:r>
            <a:endParaRPr sz="1600">
              <a:solidFill>
                <a:srgbClr val="FFFFFF"/>
              </a:solidFill>
            </a:endParaRPr>
          </a:p>
          <a:p>
            <a:endParaRPr sz="1600"/>
          </a:p>
          <a:p>
            <a:r>
              <a:rPr sz="1600">
                <a:solidFill>
                  <a:srgbClr val="FFFFFF"/>
                </a:solidFill>
              </a:rPr>
              <a:t>⑤ 将 RigGS 应用于更多类型的</a:t>
            </a:r>
            <a:endParaRPr sz="1600">
              <a:solidFill>
                <a:srgbClr val="FFFFFF"/>
              </a:solidFill>
            </a:endParaRPr>
          </a:p>
          <a:p>
            <a:r>
              <a:rPr sz="1600">
                <a:solidFill>
                  <a:srgbClr val="FFFFFF"/>
                </a:solidFill>
              </a:rPr>
              <a:t>  关节物体</a:t>
            </a:r>
            <a:endParaRPr sz="16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6C5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84848"/>
            <a:ext cx="12188952" cy="73152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0" y="914400"/>
            <a:ext cx="2130552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0">
                <a:solidFill>
                  <a:srgbClr val="6C5BFF"/>
                </a:solidFill>
              </a:rPr>
              <a:t>🙏</a:t>
            </a:r>
            <a:endParaRPr sz="7200" b="0">
              <a:solidFill>
                <a:srgbClr val="6C5BFF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FFFFFF"/>
                </a:solidFill>
              </a:rPr>
              <a:t>致  谢</a:t>
            </a:r>
            <a:endParaRPr sz="4000" b="1">
              <a:solidFill>
                <a:srgbClr val="FFFFFF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14800" y="3108960"/>
            <a:ext cx="3959352" cy="45720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34747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00C8FF"/>
                </a:solidFill>
              </a:rPr>
              <a:t>感谢 Yuxin Yao、Zhi Deng、Junhui Hou 等作者开源 RigGS 代码与预训练模型</a:t>
            </a:r>
            <a:endParaRPr sz="1600" b="0">
              <a:solidFill>
                <a:srgbClr val="00C8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14400" y="388620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200" b="0">
              <a:solidFill>
                <a:srgbClr val="AAAACC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14400" y="470916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200" b="0">
              <a:solidFill>
                <a:srgbClr val="AAAACC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14400" y="5532120"/>
            <a:ext cx="100584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sz="1200" b="0">
              <a:solidFill>
                <a:srgbClr val="AAAACC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36930" y="576072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00E596"/>
                </a:solidFill>
              </a:rPr>
              <a:t>请老师同学批评指正！</a:t>
            </a:r>
            <a:endParaRPr sz="2000" b="1">
              <a:solidFill>
                <a:srgbClr val="00E596"/>
              </a:solidFill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2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3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4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5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6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7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8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9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10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11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12.xml><?xml version="1.0" encoding="utf-8"?>
<p:tagLst xmlns:p="http://schemas.openxmlformats.org/presentationml/2006/main">
  <p:tag name="KSO_WM_DIAGRAM_VIRTUALLY_FRAME" val="{&quot;height&quot;:180,&quot;left&quot;:180,&quot;top&quot;:309.6,&quot;width&quot;:599.76}"/>
</p:tagLst>
</file>

<file path=ppt/tags/tag13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14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15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16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17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18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19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0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1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2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3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4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5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6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7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8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29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0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1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2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3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4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5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6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7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8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39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ags/tag40.xml><?xml version="1.0" encoding="utf-8"?>
<p:tagLst xmlns:p="http://schemas.openxmlformats.org/presentationml/2006/main">
  <p:tag name="KSO_WM_DIAGRAM_VIRTUALLY_FRAME" val="{&quot;height&quot;:380.87992125984255,&quot;left&quot;:115.2,&quot;top&quot;:118.8,&quot;width&quot;:734.4}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2798</Words>
  <Application>WPS 演示</Application>
  <PresentationFormat>On-screen Show (4:3)</PresentationFormat>
  <Paragraphs>300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Calibri</vt:lpstr>
      <vt:lpstr>微软雅黑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WPS_1601472217</cp:lastModifiedBy>
  <cp:revision>7</cp:revision>
  <dcterms:created xsi:type="dcterms:W3CDTF">2013-01-27T09:14:00Z</dcterms:created>
  <dcterms:modified xsi:type="dcterms:W3CDTF">2026-06-01T16:51:35Z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7B60C6B9627140FE8281D311EEC2A32C_12</vt:lpwstr>
  </property>
</Properties>
</file>