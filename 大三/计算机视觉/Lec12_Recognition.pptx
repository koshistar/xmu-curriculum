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sldIdLst>
    <p:sldId id="307" r:id="rId2"/>
    <p:sldId id="398" r:id="rId3"/>
    <p:sldId id="400" r:id="rId4"/>
    <p:sldId id="401" r:id="rId5"/>
    <p:sldId id="402" r:id="rId6"/>
    <p:sldId id="308" r:id="rId7"/>
    <p:sldId id="432" r:id="rId8"/>
    <p:sldId id="352" r:id="rId9"/>
    <p:sldId id="354" r:id="rId10"/>
    <p:sldId id="355" r:id="rId11"/>
    <p:sldId id="353" r:id="rId12"/>
    <p:sldId id="310" r:id="rId13"/>
    <p:sldId id="319" r:id="rId14"/>
    <p:sldId id="318" r:id="rId15"/>
    <p:sldId id="317" r:id="rId16"/>
    <p:sldId id="316" r:id="rId17"/>
    <p:sldId id="311" r:id="rId18"/>
    <p:sldId id="313" r:id="rId19"/>
    <p:sldId id="437" r:id="rId20"/>
    <p:sldId id="314" r:id="rId21"/>
    <p:sldId id="438" r:id="rId22"/>
    <p:sldId id="439" r:id="rId23"/>
    <p:sldId id="315" r:id="rId24"/>
    <p:sldId id="320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31" r:id="rId33"/>
    <p:sldId id="338" r:id="rId34"/>
    <p:sldId id="442" r:id="rId35"/>
    <p:sldId id="443" r:id="rId36"/>
    <p:sldId id="339" r:id="rId37"/>
    <p:sldId id="340" r:id="rId38"/>
    <p:sldId id="337" r:id="rId39"/>
    <p:sldId id="436" r:id="rId40"/>
    <p:sldId id="332" r:id="rId41"/>
    <p:sldId id="334" r:id="rId42"/>
    <p:sldId id="433" r:id="rId43"/>
    <p:sldId id="434" r:id="rId44"/>
    <p:sldId id="435" r:id="rId45"/>
    <p:sldId id="277" r:id="rId46"/>
    <p:sldId id="416" r:id="rId47"/>
    <p:sldId id="360" r:id="rId48"/>
    <p:sldId id="377" r:id="rId49"/>
    <p:sldId id="378" r:id="rId50"/>
    <p:sldId id="428" r:id="rId51"/>
    <p:sldId id="431" r:id="rId52"/>
    <p:sldId id="425" r:id="rId53"/>
    <p:sldId id="422" r:id="rId54"/>
    <p:sldId id="380" r:id="rId55"/>
    <p:sldId id="374" r:id="rId56"/>
    <p:sldId id="375" r:id="rId57"/>
    <p:sldId id="423" r:id="rId58"/>
    <p:sldId id="424" r:id="rId59"/>
    <p:sldId id="376" r:id="rId60"/>
    <p:sldId id="369" r:id="rId61"/>
    <p:sldId id="370" r:id="rId62"/>
    <p:sldId id="371" r:id="rId63"/>
    <p:sldId id="372" r:id="rId64"/>
    <p:sldId id="365" r:id="rId65"/>
    <p:sldId id="366" r:id="rId66"/>
    <p:sldId id="367" r:id="rId67"/>
    <p:sldId id="368" r:id="rId68"/>
    <p:sldId id="361" r:id="rId69"/>
    <p:sldId id="362" r:id="rId70"/>
    <p:sldId id="363" r:id="rId71"/>
    <p:sldId id="364" r:id="rId72"/>
    <p:sldId id="381" r:id="rId73"/>
    <p:sldId id="412" r:id="rId74"/>
    <p:sldId id="417" r:id="rId75"/>
    <p:sldId id="444" r:id="rId76"/>
    <p:sldId id="445" r:id="rId77"/>
    <p:sldId id="446" r:id="rId78"/>
    <p:sldId id="379" r:id="rId79"/>
    <p:sldId id="447" r:id="rId80"/>
    <p:sldId id="385" r:id="rId8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015"/>
    <p:restoredTop sz="91066" autoAdjust="0"/>
  </p:normalViewPr>
  <p:slideViewPr>
    <p:cSldViewPr>
      <p:cViewPr varScale="1">
        <p:scale>
          <a:sx n="109" d="100"/>
          <a:sy n="109" d="100"/>
        </p:scale>
        <p:origin x="10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B36AB-9A87-48B6-BED0-7376322E1ED9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E9DB4-2916-428B-BCB7-CE2188C70B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46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D43A95-FEC9-4DA1-B128-8EF16BBEFEED}" type="slidenum">
              <a:rPr lang="en-US" smtClean="0">
                <a:solidFill>
                  <a:srgbClr val="000000"/>
                </a:solidFill>
              </a:rPr>
              <a:pPr/>
              <a:t>45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3B36A2-D391-4BB6-B1CB-0A6BDE1DFADD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6000" dirty="0"/>
              <a:t>Recognition</a:t>
            </a:r>
            <a:endParaRPr lang="zh-CN" alt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155AC-742D-0C4A-AEF2-DEB4D2F5D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6335713"/>
            <a:ext cx="655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dirty="0"/>
              <a:t>Slide courtesy: </a:t>
            </a:r>
            <a:r>
              <a:rPr lang="en-US" altLang="zh-CN" dirty="0" err="1"/>
              <a:t>S.Savarese</a:t>
            </a:r>
            <a:r>
              <a:rPr lang="en-US" altLang="zh-CN" dirty="0"/>
              <a:t>, </a:t>
            </a:r>
            <a:r>
              <a:rPr lang="en-US" altLang="zh-CN" dirty="0" err="1"/>
              <a:t>S.Lazebnik</a:t>
            </a:r>
            <a:r>
              <a:rPr lang="en-US" altLang="zh-CN" dirty="0"/>
              <a:t>, </a:t>
            </a:r>
            <a:r>
              <a:rPr lang="en-US" altLang="zh-CN" dirty="0" err="1"/>
              <a:t>D.Hoiem</a:t>
            </a:r>
            <a:r>
              <a:rPr lang="en-US" altLang="zh-CN" dirty="0"/>
              <a:t>, Fei-Fei Li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33815"/>
            <a:ext cx="8352928" cy="5435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Applications of  visual recognition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24" y="44624"/>
            <a:ext cx="8748464" cy="67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24" y="44624"/>
            <a:ext cx="8748464" cy="67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48464" cy="67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" y="1728564"/>
            <a:ext cx="882015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824136"/>
          </a:xfrm>
        </p:spPr>
        <p:txBody>
          <a:bodyPr/>
          <a:lstStyle/>
          <a:p>
            <a:pPr eaLnBrk="1" hangingPunct="1"/>
            <a:r>
              <a:rPr lang="en-US" altLang="zh-CN" sz="4000" dirty="0"/>
              <a:t>Visual Recognition Challenges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44624"/>
            <a:ext cx="8996186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03" y="116632"/>
            <a:ext cx="8900093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03" y="72008"/>
            <a:ext cx="8900093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03" y="72008"/>
            <a:ext cx="8900093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802" y="116632"/>
            <a:ext cx="853067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810" y="116632"/>
            <a:ext cx="853067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554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563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3677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810" y="116632"/>
            <a:ext cx="853067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3277"/>
            <a:ext cx="8676456" cy="671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72008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7850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6639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44624"/>
            <a:ext cx="8964488" cy="671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6001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515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03" y="72008"/>
            <a:ext cx="8900093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44624"/>
            <a:ext cx="8996186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91B5DE6-BA18-2E41-B974-C75007B8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13" y="0"/>
            <a:ext cx="8897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67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DF956A-4852-6E4B-BB7D-6228CCCF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7" y="0"/>
            <a:ext cx="8908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85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7B308DA-FCC0-C744-8987-A6F2DA8CB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04" y="0"/>
            <a:ext cx="88937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71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Spatial pyramids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dirty="0"/>
              <a:t>Scene classification results</a:t>
            </a:r>
          </a:p>
        </p:txBody>
      </p:sp>
      <p:pic>
        <p:nvPicPr>
          <p:cNvPr id="18435" name="Picture 3" descr="scene_categories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65300"/>
            <a:ext cx="9144000" cy="212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4" descr="scene_categories_results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089400"/>
            <a:ext cx="6934200" cy="22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33097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machine 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6000" dirty="0">
                <a:solidFill>
                  <a:srgbClr val="0000FF"/>
                </a:solidFill>
              </a:rPr>
              <a:t>y = f(</a:t>
            </a:r>
            <a:r>
              <a:rPr lang="en-US" sz="6000" b="1" dirty="0">
                <a:solidFill>
                  <a:srgbClr val="0000FF"/>
                </a:solidFill>
              </a:rPr>
              <a:t>x</a:t>
            </a:r>
            <a:r>
              <a:rPr lang="en-US" sz="6000" dirty="0">
                <a:solidFill>
                  <a:srgbClr val="0000FF"/>
                </a:solidFill>
              </a:rPr>
              <a:t>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r>
              <a:rPr lang="en-US" sz="2400" b="1" dirty="0"/>
              <a:t>Training: </a:t>
            </a:r>
            <a:r>
              <a:rPr lang="en-US" sz="2400" dirty="0"/>
              <a:t>given a </a:t>
            </a:r>
            <a:r>
              <a:rPr lang="en-US" sz="2400" i="1" dirty="0"/>
              <a:t>training set </a:t>
            </a:r>
            <a:r>
              <a:rPr lang="en-US" sz="2400" dirty="0"/>
              <a:t>of labeled examples</a:t>
            </a:r>
            <a:r>
              <a:rPr lang="en-US" sz="2400" i="1" dirty="0"/>
              <a:t> </a:t>
            </a:r>
            <a:br>
              <a:rPr lang="en-US" sz="2400" i="1" dirty="0"/>
            </a:br>
            <a:r>
              <a:rPr lang="en-US" sz="2400" dirty="0">
                <a:solidFill>
                  <a:srgbClr val="0000FF"/>
                </a:solidFill>
              </a:rPr>
              <a:t>{(</a:t>
            </a:r>
            <a:r>
              <a:rPr lang="en-US" sz="2400" b="1" dirty="0">
                <a:solidFill>
                  <a:srgbClr val="0000FF"/>
                </a:solidFill>
              </a:rPr>
              <a:t>x</a:t>
            </a:r>
            <a:r>
              <a:rPr lang="en-US" sz="2400" baseline="-25000" dirty="0">
                <a:solidFill>
                  <a:srgbClr val="0000FF"/>
                </a:solidFill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,y</a:t>
            </a:r>
            <a:r>
              <a:rPr lang="en-US" sz="2400" baseline="-25000" dirty="0">
                <a:solidFill>
                  <a:srgbClr val="0000FF"/>
                </a:solidFill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), …, (</a:t>
            </a:r>
            <a:r>
              <a:rPr lang="en-US" sz="2400" b="1" dirty="0" err="1">
                <a:solidFill>
                  <a:srgbClr val="0000FF"/>
                </a:solidFill>
              </a:rPr>
              <a:t>x</a:t>
            </a:r>
            <a:r>
              <a:rPr lang="en-US" sz="2400" baseline="-25000" dirty="0" err="1">
                <a:solidFill>
                  <a:srgbClr val="0000FF"/>
                </a:solidFill>
              </a:rPr>
              <a:t>N</a:t>
            </a:r>
            <a:r>
              <a:rPr lang="en-US" sz="2400" dirty="0" err="1">
                <a:solidFill>
                  <a:srgbClr val="0000FF"/>
                </a:solidFill>
              </a:rPr>
              <a:t>,y</a:t>
            </a:r>
            <a:r>
              <a:rPr lang="en-US" sz="2400" baseline="-25000" dirty="0" err="1">
                <a:solidFill>
                  <a:srgbClr val="0000FF"/>
                </a:solidFill>
              </a:rPr>
              <a:t>N</a:t>
            </a:r>
            <a:r>
              <a:rPr lang="en-US" sz="2400" dirty="0">
                <a:solidFill>
                  <a:srgbClr val="0000FF"/>
                </a:solidFill>
              </a:rPr>
              <a:t>)}</a:t>
            </a:r>
            <a:r>
              <a:rPr lang="en-US" sz="2400" dirty="0"/>
              <a:t>, estimate the prediction function </a:t>
            </a:r>
            <a:r>
              <a:rPr lang="en-US" sz="2400" dirty="0">
                <a:solidFill>
                  <a:srgbClr val="0000FF"/>
                </a:solidFill>
              </a:rPr>
              <a:t>f </a:t>
            </a:r>
            <a:r>
              <a:rPr lang="en-US" sz="2400" dirty="0"/>
              <a:t>by minimizing the prediction error on the training set</a:t>
            </a:r>
          </a:p>
          <a:p>
            <a:r>
              <a:rPr lang="en-US" sz="2400" b="1" dirty="0"/>
              <a:t>Testing:</a:t>
            </a:r>
            <a:r>
              <a:rPr lang="en-US" sz="2400" dirty="0"/>
              <a:t> apply </a:t>
            </a:r>
            <a:r>
              <a:rPr lang="en-US" sz="2400" dirty="0">
                <a:solidFill>
                  <a:srgbClr val="0000FF"/>
                </a:solidFill>
              </a:rPr>
              <a:t>f</a:t>
            </a:r>
            <a:r>
              <a:rPr lang="en-US" sz="2400" dirty="0"/>
              <a:t> to a never before seen </a:t>
            </a:r>
            <a:r>
              <a:rPr lang="en-US" sz="2400" i="1" dirty="0"/>
              <a:t>test example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x</a:t>
            </a:r>
            <a:r>
              <a:rPr lang="en-US" sz="2400" dirty="0"/>
              <a:t> and output the predicted value </a:t>
            </a:r>
            <a:r>
              <a:rPr lang="en-US" sz="2400" dirty="0">
                <a:solidFill>
                  <a:srgbClr val="0000FF"/>
                </a:solidFill>
              </a:rPr>
              <a:t>y = f(</a:t>
            </a:r>
            <a:r>
              <a:rPr lang="en-US" sz="2400" b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3239294" y="2933700"/>
            <a:ext cx="685006" cy="79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4381500" y="2933700"/>
            <a:ext cx="6858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5334000" y="2590800"/>
            <a:ext cx="9144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12733" y="327660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333" y="3276600"/>
            <a:ext cx="189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prediction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8733" y="3276600"/>
            <a:ext cx="1511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Image feature</a:t>
            </a:r>
          </a:p>
        </p:txBody>
      </p:sp>
    </p:spTree>
    <p:extLst>
      <p:ext uri="{BB962C8B-B14F-4D97-AF65-F5344CB8AC3E}">
        <p14:creationId xmlns:p14="http://schemas.microsoft.com/office/powerpoint/2010/main" val="128374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r="2588" b="11076"/>
          <a:stretch>
            <a:fillRect/>
          </a:stretch>
        </p:blipFill>
        <p:spPr bwMode="auto">
          <a:xfrm>
            <a:off x="72008" y="620688"/>
            <a:ext cx="8964488" cy="460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r="9885" b="11076"/>
          <a:stretch>
            <a:fillRect/>
          </a:stretch>
        </p:blipFill>
        <p:spPr bwMode="auto">
          <a:xfrm>
            <a:off x="107504" y="260648"/>
            <a:ext cx="8676456" cy="481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819" b="12374"/>
          <a:stretch>
            <a:fillRect/>
          </a:stretch>
        </p:blipFill>
        <p:spPr bwMode="auto">
          <a:xfrm>
            <a:off x="107504" y="116632"/>
            <a:ext cx="8964488" cy="449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797152"/>
            <a:ext cx="8280920" cy="1681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b="8227"/>
          <a:stretch>
            <a:fillRect/>
          </a:stretch>
        </p:blipFill>
        <p:spPr bwMode="auto">
          <a:xfrm>
            <a:off x="136403" y="188640"/>
            <a:ext cx="8900093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72008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827584" y="730250"/>
            <a:ext cx="756084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dirty="0"/>
              <a:t>It is a function that is a linear combination of the components of x</a:t>
            </a:r>
          </a:p>
          <a:p>
            <a:r>
              <a:rPr lang="en-US" altLang="zh-CN" i="1" dirty="0"/>
              <a:t>		      </a:t>
            </a:r>
            <a:r>
              <a:rPr lang="en-US" altLang="zh-CN" sz="2400" b="1" dirty="0"/>
              <a:t>y(x) = </a:t>
            </a:r>
            <a:r>
              <a:rPr lang="en-US" altLang="zh-CN" sz="2400" b="1" dirty="0" err="1"/>
              <a:t>w</a:t>
            </a:r>
            <a:r>
              <a:rPr lang="en-US" altLang="zh-CN" sz="2400" b="1" baseline="30000" dirty="0" err="1"/>
              <a:t>T</a:t>
            </a:r>
            <a:r>
              <a:rPr lang="en-US" altLang="zh-CN" sz="2400" b="1" dirty="0" err="1"/>
              <a:t>x</a:t>
            </a:r>
            <a:r>
              <a:rPr lang="en-US" altLang="zh-CN" sz="2400" b="1" dirty="0"/>
              <a:t> + </a:t>
            </a:r>
            <a:r>
              <a:rPr lang="en-US" altLang="zh-CN" sz="2400" i="1" dirty="0"/>
              <a:t>b</a:t>
            </a:r>
            <a:endParaRPr lang="en-US" altLang="zh-CN" sz="2400" i="1" baseline="-25000" dirty="0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838200" y="1887215"/>
            <a:ext cx="62193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/>
              <a:t>where </a:t>
            </a:r>
            <a:r>
              <a:rPr lang="en-US" altLang="zh-CN" sz="2400" b="1" dirty="0"/>
              <a:t>w </a:t>
            </a:r>
            <a:r>
              <a:rPr lang="en-US" altLang="zh-CN" sz="2400" dirty="0"/>
              <a:t>is called a </a:t>
            </a:r>
            <a:r>
              <a:rPr lang="en-US" altLang="zh-CN" sz="2400" i="1" dirty="0"/>
              <a:t>weight vector</a:t>
            </a:r>
            <a:r>
              <a:rPr lang="en-US" altLang="zh-CN" sz="2400" dirty="0"/>
              <a:t>,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is a </a:t>
            </a:r>
            <a:r>
              <a:rPr lang="en-US" altLang="zh-CN" sz="2400" i="1" dirty="0"/>
              <a:t>bias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1549152" y="2564904"/>
            <a:ext cx="2590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b="1" dirty="0"/>
              <a:t>x </a:t>
            </a:r>
            <a:r>
              <a:rPr lang="en-US" altLang="zh-CN" sz="2000" dirty="0"/>
              <a:t>∈ 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if </a:t>
            </a:r>
            <a:r>
              <a:rPr lang="en-US" altLang="zh-CN" sz="2000" i="1" dirty="0"/>
              <a:t>y</a:t>
            </a:r>
            <a:r>
              <a:rPr lang="en-US" altLang="zh-CN" sz="2000" dirty="0"/>
              <a:t>(</a:t>
            </a:r>
            <a:r>
              <a:rPr lang="en-US" altLang="zh-CN" sz="2000" b="1" dirty="0"/>
              <a:t>x</a:t>
            </a:r>
            <a:r>
              <a:rPr lang="en-US" altLang="zh-CN" sz="2000" dirty="0"/>
              <a:t>) &gt;= 0</a:t>
            </a:r>
          </a:p>
          <a:p>
            <a:r>
              <a:rPr lang="en-US" altLang="zh-CN" sz="2000" dirty="0"/>
              <a:t> </a:t>
            </a:r>
          </a:p>
          <a:p>
            <a:r>
              <a:rPr lang="en-US" altLang="zh-CN" sz="2000" b="1" dirty="0"/>
              <a:t>x </a:t>
            </a:r>
            <a:r>
              <a:rPr lang="en-US" altLang="zh-CN" sz="2000" dirty="0"/>
              <a:t>∈ 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otherwise</a:t>
            </a:r>
          </a:p>
        </p:txBody>
      </p:sp>
      <p:sp>
        <p:nvSpPr>
          <p:cNvPr id="6158" name="AutoShape 14"/>
          <p:cNvSpPr>
            <a:spLocks/>
          </p:cNvSpPr>
          <p:nvPr/>
        </p:nvSpPr>
        <p:spPr bwMode="auto">
          <a:xfrm>
            <a:off x="1371600" y="2768600"/>
            <a:ext cx="76200" cy="6096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838200" y="116632"/>
            <a:ext cx="49610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b="1" dirty="0"/>
              <a:t>Linear </a:t>
            </a:r>
            <a:r>
              <a:rPr lang="en-US" altLang="zh-CN" sz="3200" b="1" dirty="0" err="1"/>
              <a:t>discriminant</a:t>
            </a:r>
            <a:r>
              <a:rPr lang="en-US" altLang="zh-CN" sz="3200" b="1" dirty="0"/>
              <a:t> function</a:t>
            </a:r>
          </a:p>
        </p:txBody>
      </p:sp>
      <p:pic>
        <p:nvPicPr>
          <p:cNvPr id="6162" name="Picture 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859088"/>
            <a:ext cx="4191000" cy="369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611560" y="3918535"/>
            <a:ext cx="439248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/>
              <a:t>The equation y(x) = 0 defines the decision surface that separates points assigned to the category </a:t>
            </a:r>
            <a:r>
              <a:rPr lang="en-US" altLang="zh-CN" sz="2000" i="1" dirty="0">
                <a:sym typeface="Symbol" pitchFamily="18" charset="2"/>
              </a:rPr>
              <a:t>C</a:t>
            </a:r>
            <a:r>
              <a:rPr lang="en-US" altLang="zh-CN" sz="2000" baseline="-25000" dirty="0">
                <a:sym typeface="Symbol" pitchFamily="18" charset="2"/>
              </a:rPr>
              <a:t>1</a:t>
            </a:r>
            <a:r>
              <a:rPr lang="en-US" altLang="zh-CN" sz="2000" dirty="0">
                <a:sym typeface="Symbol" pitchFamily="18" charset="2"/>
              </a:rPr>
              <a:t> from points assigned to the category </a:t>
            </a:r>
            <a:r>
              <a:rPr lang="en-US" altLang="zh-CN" sz="2000" i="1" dirty="0">
                <a:sym typeface="Symbol" pitchFamily="18" charset="2"/>
              </a:rPr>
              <a:t>C</a:t>
            </a:r>
            <a:r>
              <a:rPr lang="en-US" altLang="zh-CN" sz="2000" i="1" baseline="-25000" dirty="0">
                <a:sym typeface="Symbol" pitchFamily="18" charset="2"/>
              </a:rPr>
              <a:t>2</a:t>
            </a:r>
            <a:br>
              <a:rPr lang="en-US" altLang="zh-CN" sz="2000" i="1" dirty="0">
                <a:sym typeface="Symbol" pitchFamily="18" charset="2"/>
              </a:rPr>
            </a:br>
            <a:endParaRPr lang="en-US" altLang="zh-CN" sz="2000" i="1" dirty="0">
              <a:sym typeface="Symbol" pitchFamily="18" charset="2"/>
            </a:endParaRPr>
          </a:p>
          <a:p>
            <a:r>
              <a:rPr lang="en-US" altLang="zh-CN" sz="2000" dirty="0">
                <a:sym typeface="Symbol" pitchFamily="18" charset="2"/>
              </a:rPr>
              <a:t>When y(x) is linear, the decision surface is a </a:t>
            </a:r>
            <a:r>
              <a:rPr lang="en-US" altLang="zh-CN" sz="2000" dirty="0" err="1">
                <a:sym typeface="Symbol" pitchFamily="18" charset="2"/>
              </a:rPr>
              <a:t>hyperplane</a:t>
            </a:r>
            <a:endParaRPr lang="en-US" altLang="zh-CN" sz="20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780928"/>
            <a:ext cx="4724400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762000" y="790218"/>
            <a:ext cx="7848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/>
              <a:t>Consider two points </a:t>
            </a:r>
            <a:r>
              <a:rPr lang="en-US" altLang="zh-CN" sz="2000" b="1" dirty="0" err="1"/>
              <a:t>x</a:t>
            </a:r>
            <a:r>
              <a:rPr lang="en-US" altLang="zh-CN" sz="2000" baseline="-25000" dirty="0" err="1"/>
              <a:t>A</a:t>
            </a:r>
            <a:r>
              <a:rPr lang="en-US" altLang="zh-CN" sz="2000" dirty="0"/>
              <a:t> and </a:t>
            </a:r>
            <a:r>
              <a:rPr lang="en-US" altLang="zh-CN" sz="2000" b="1" dirty="0" err="1"/>
              <a:t>x</a:t>
            </a:r>
            <a:r>
              <a:rPr lang="en-US" altLang="zh-CN" sz="2000" baseline="-25000" dirty="0" err="1"/>
              <a:t>B</a:t>
            </a:r>
            <a:r>
              <a:rPr lang="en-US" altLang="zh-CN" sz="2000" dirty="0"/>
              <a:t> both of which lie on the decision surface.</a:t>
            </a:r>
          </a:p>
          <a:p>
            <a:endParaRPr lang="en-US" altLang="zh-CN" sz="2000" dirty="0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691680" y="1268760"/>
            <a:ext cx="20842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 dirty="0"/>
              <a:t>y</a:t>
            </a:r>
            <a:r>
              <a:rPr lang="en-US" altLang="zh-CN" sz="2400" dirty="0"/>
              <a:t>(</a:t>
            </a:r>
            <a:r>
              <a:rPr lang="en-US" altLang="zh-CN" sz="2400" b="1" dirty="0" err="1"/>
              <a:t>x</a:t>
            </a:r>
            <a:r>
              <a:rPr lang="en-US" altLang="zh-CN" sz="2400" baseline="-25000" dirty="0" err="1"/>
              <a:t>A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y</a:t>
            </a:r>
            <a:r>
              <a:rPr lang="en-US" altLang="zh-CN" sz="2400" dirty="0"/>
              <a:t>(</a:t>
            </a:r>
            <a:r>
              <a:rPr lang="en-US" altLang="zh-CN" sz="2400" b="1" dirty="0" err="1"/>
              <a:t>x</a:t>
            </a:r>
            <a:r>
              <a:rPr lang="en-US" altLang="zh-CN" sz="2400" baseline="-25000" dirty="0" err="1"/>
              <a:t>B</a:t>
            </a:r>
            <a:r>
              <a:rPr lang="en-US" altLang="zh-CN" sz="2400" dirty="0"/>
              <a:t>) = 0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4641850" y="1268760"/>
            <a:ext cx="181331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 err="1"/>
              <a:t>w</a:t>
            </a:r>
            <a:r>
              <a:rPr lang="en-US" altLang="zh-CN" sz="2400" baseline="30000" dirty="0" err="1"/>
              <a:t>T</a:t>
            </a:r>
            <a:r>
              <a:rPr lang="en-US" altLang="zh-CN" sz="2400" dirty="0"/>
              <a:t>(</a:t>
            </a:r>
            <a:r>
              <a:rPr lang="en-US" altLang="zh-CN" sz="2400" b="1" dirty="0" err="1"/>
              <a:t>x</a:t>
            </a:r>
            <a:r>
              <a:rPr lang="en-US" altLang="zh-CN" sz="2400" baseline="-25000" dirty="0" err="1"/>
              <a:t>A</a:t>
            </a:r>
            <a:r>
              <a:rPr lang="en-US" altLang="zh-CN" sz="2400" i="1" dirty="0" err="1"/>
              <a:t>−</a:t>
            </a:r>
            <a:r>
              <a:rPr lang="en-US" altLang="zh-CN" sz="2400" b="1" dirty="0" err="1"/>
              <a:t>x</a:t>
            </a:r>
            <a:r>
              <a:rPr lang="en-US" altLang="zh-CN" sz="2400" baseline="-25000" dirty="0" err="1"/>
              <a:t>B</a:t>
            </a:r>
            <a:r>
              <a:rPr lang="en-US" altLang="zh-CN" sz="2400" dirty="0"/>
              <a:t>) = 0</a:t>
            </a: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762000" y="1857018"/>
            <a:ext cx="784244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/>
              <a:t>hence the vector </a:t>
            </a:r>
            <a:r>
              <a:rPr lang="en-US" altLang="zh-CN" sz="2000" b="1" dirty="0"/>
              <a:t>w </a:t>
            </a:r>
            <a:r>
              <a:rPr lang="en-US" altLang="zh-CN" sz="2000" dirty="0"/>
              <a:t>is orthogonal to every vector lying within the decision surface, and so </a:t>
            </a:r>
            <a:r>
              <a:rPr lang="en-US" altLang="zh-CN" sz="2000" b="1" dirty="0"/>
              <a:t>w </a:t>
            </a:r>
            <a:r>
              <a:rPr lang="en-US" altLang="zh-CN" sz="2000" dirty="0"/>
              <a:t>determines the orientation of the decision surface</a:t>
            </a:r>
          </a:p>
        </p:txBody>
      </p:sp>
      <p:sp>
        <p:nvSpPr>
          <p:cNvPr id="7179" name="AutoShape 11"/>
          <p:cNvSpPr>
            <a:spLocks noChangeArrowheads="1"/>
          </p:cNvSpPr>
          <p:nvPr/>
        </p:nvSpPr>
        <p:spPr bwMode="auto">
          <a:xfrm>
            <a:off x="3894584" y="1340768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304800" y="2852936"/>
            <a:ext cx="3886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/>
              <a:t>Consider an arbitrary point </a:t>
            </a:r>
            <a:r>
              <a:rPr lang="en-US" altLang="zh-CN" sz="2000" b="1" dirty="0"/>
              <a:t>x </a:t>
            </a:r>
            <a:r>
              <a:rPr lang="en-US" altLang="zh-CN" sz="2000" dirty="0"/>
              <a:t>and let </a:t>
            </a:r>
            <a:r>
              <a:rPr lang="en-US" altLang="zh-CN" sz="2000" b="1" dirty="0"/>
              <a:t>x</a:t>
            </a:r>
            <a:r>
              <a:rPr lang="en-US" altLang="zh-CN" sz="2000" baseline="-25000" dirty="0"/>
              <a:t>⊥</a:t>
            </a:r>
            <a:r>
              <a:rPr lang="en-US" altLang="zh-CN" sz="2000" i="1" dirty="0"/>
              <a:t> </a:t>
            </a:r>
            <a:r>
              <a:rPr lang="en-US" altLang="zh-CN" sz="2000" dirty="0"/>
              <a:t>be its orthogonal projection onto the decision surface</a:t>
            </a:r>
          </a:p>
        </p:txBody>
      </p:sp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886200"/>
            <a:ext cx="2438400" cy="73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82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4653136"/>
            <a:ext cx="15240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83" name="AutoShape 15"/>
          <p:cNvSpPr>
            <a:spLocks noChangeArrowheads="1"/>
          </p:cNvSpPr>
          <p:nvPr/>
        </p:nvSpPr>
        <p:spPr bwMode="auto">
          <a:xfrm>
            <a:off x="457200" y="4957936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432048" y="5589240"/>
            <a:ext cx="4572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/>
              <a:t>So,</a:t>
            </a:r>
            <a:r>
              <a:rPr lang="en-US" altLang="zh-CN" sz="2000" i="1" dirty="0"/>
              <a:t> y</a:t>
            </a:r>
            <a:r>
              <a:rPr lang="en-US" altLang="zh-CN" sz="2000" dirty="0"/>
              <a:t>(</a:t>
            </a:r>
            <a:r>
              <a:rPr lang="en-US" altLang="zh-CN" sz="2000" b="1" dirty="0"/>
              <a:t>x</a:t>
            </a:r>
            <a:r>
              <a:rPr lang="en-US" altLang="zh-CN" sz="2000" dirty="0"/>
              <a:t>) gives a signed measure of the perpendicular distance </a:t>
            </a:r>
            <a:r>
              <a:rPr lang="en-US" altLang="zh-CN" sz="2000" i="1" dirty="0"/>
              <a:t>r </a:t>
            </a:r>
            <a:r>
              <a:rPr lang="en-US" altLang="zh-CN" sz="2000" dirty="0"/>
              <a:t>of the point </a:t>
            </a:r>
            <a:r>
              <a:rPr lang="en-US" altLang="zh-CN" sz="2000" b="1" dirty="0"/>
              <a:t>x </a:t>
            </a:r>
            <a:r>
              <a:rPr lang="en-US" altLang="zh-CN" sz="2000" dirty="0"/>
              <a:t>from the decision surface.</a:t>
            </a: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990600" y="4805536"/>
            <a:ext cx="2209800" cy="590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dirty="0"/>
              <a:t>Multiplying both sides by </a:t>
            </a:r>
            <a:r>
              <a:rPr lang="en-US" altLang="zh-CN" sz="1600" b="1" dirty="0" err="1"/>
              <a:t>w</a:t>
            </a:r>
            <a:r>
              <a:rPr lang="en-US" altLang="zh-CN" sz="1600" baseline="30000" dirty="0" err="1"/>
              <a:t>T</a:t>
            </a:r>
            <a:r>
              <a:rPr lang="en-US" altLang="zh-CN" sz="1600" baseline="30000" dirty="0"/>
              <a:t> </a:t>
            </a:r>
            <a:r>
              <a:rPr lang="en-US" altLang="zh-CN" sz="1600" dirty="0"/>
              <a:t>and adding </a:t>
            </a:r>
            <a:r>
              <a:rPr lang="en-US" altLang="zh-CN" sz="1600" i="1" dirty="0"/>
              <a:t>b</a:t>
            </a:r>
            <a:endParaRPr lang="en-US" altLang="zh-CN" sz="1600" i="1" baseline="-25000" dirty="0"/>
          </a:p>
        </p:txBody>
      </p:sp>
      <p:sp>
        <p:nvSpPr>
          <p:cNvPr id="7187" name="AutoShape 19"/>
          <p:cNvSpPr>
            <a:spLocks noChangeArrowheads="1"/>
          </p:cNvSpPr>
          <p:nvPr/>
        </p:nvSpPr>
        <p:spPr bwMode="auto">
          <a:xfrm>
            <a:off x="3352800" y="4957936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762000" y="152400"/>
            <a:ext cx="49610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b="1" dirty="0"/>
              <a:t>Linear </a:t>
            </a:r>
            <a:r>
              <a:rPr lang="en-US" altLang="zh-CN" sz="3200" b="1" dirty="0" err="1"/>
              <a:t>discriminant</a:t>
            </a:r>
            <a:r>
              <a:rPr lang="en-US" altLang="zh-CN" sz="3200" b="1" dirty="0"/>
              <a:t> function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48464" cy="67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3277"/>
            <a:ext cx="8676456" cy="671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01" y="116632"/>
            <a:ext cx="8623779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24" y="44624"/>
            <a:ext cx="8748464" cy="67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4624"/>
            <a:ext cx="8784976" cy="67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24" y="44624"/>
            <a:ext cx="8748464" cy="67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4624"/>
            <a:ext cx="8676457" cy="671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 l="8151" t="6067" r="7674" b="15116"/>
          <a:stretch>
            <a:fillRect/>
          </a:stretch>
        </p:blipFill>
        <p:spPr bwMode="auto">
          <a:xfrm>
            <a:off x="467543" y="332656"/>
            <a:ext cx="8352929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03" y="116632"/>
            <a:ext cx="8900093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599" y="44624"/>
            <a:ext cx="8716889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784976" cy="584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12807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70606" cy="5654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7273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205730"/>
            <a:ext cx="8672887" cy="5311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4497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63562"/>
            <a:ext cx="8881385" cy="5929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55025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712968" cy="5802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83302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398"/>
            <a:ext cx="8784976" cy="6081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076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317</Words>
  <Application>Microsoft Macintosh PowerPoint</Application>
  <PresentationFormat>全屏显示(4:3)</PresentationFormat>
  <Paragraphs>35</Paragraphs>
  <Slides>80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5" baseType="lpstr">
      <vt:lpstr>宋体</vt:lpstr>
      <vt:lpstr>Arial</vt:lpstr>
      <vt:lpstr>Calibri</vt:lpstr>
      <vt:lpstr>Symbol</vt:lpstr>
      <vt:lpstr>Office 主题</vt:lpstr>
      <vt:lpstr>Recognition</vt:lpstr>
      <vt:lpstr>Applications of  visual recognition</vt:lpstr>
      <vt:lpstr>PowerPoint 演示文稿</vt:lpstr>
      <vt:lpstr>PowerPoint 演示文稿</vt:lpstr>
      <vt:lpstr>PowerPoint 演示文稿</vt:lpstr>
      <vt:lpstr>PowerPoint 演示文稿</vt:lpstr>
      <vt:lpstr>Visual Recognition Challenges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Spatial pyramids</vt:lpstr>
      <vt:lpstr>The machine learning framework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Recognition</dc:title>
  <dc:creator>flong</dc:creator>
  <cp:lastModifiedBy>Microsoft Office User</cp:lastModifiedBy>
  <cp:revision>45</cp:revision>
  <dcterms:created xsi:type="dcterms:W3CDTF">2019-04-12T06:09:02Z</dcterms:created>
  <dcterms:modified xsi:type="dcterms:W3CDTF">2025-05-23T07:33:44Z</dcterms:modified>
</cp:coreProperties>
</file>