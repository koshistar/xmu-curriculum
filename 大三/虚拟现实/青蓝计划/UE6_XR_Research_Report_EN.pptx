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80" r:id="rId5"/>
    <p:sldId id="258" r:id="rId6"/>
    <p:sldId id="259" r:id="rId7"/>
    <p:sldId id="278" r:id="rId8"/>
    <p:sldId id="260" r:id="rId9"/>
    <p:sldId id="261" r:id="rId10"/>
    <p:sldId id="262" r:id="rId11"/>
    <p:sldId id="279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2" r:id="rId21"/>
    <p:sldId id="273" r:id="rId22"/>
    <p:sldId id="274" r:id="rId23"/>
    <p:sldId id="277" r:id="rId2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63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7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Unreal Engine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0" i="0">
                <a:solidFill>
                  <a:srgbClr val="94A3B8"/>
                </a:solidFill>
                <a:latin typeface="Georgia" panose="02040502050405020303"/>
              </a:rPr>
              <a:t>Redefining the Future of </a:t>
            </a:r>
            <a:endParaRPr sz="2800" b="0" i="0">
              <a:solidFill>
                <a:srgbClr val="94A3B8"/>
              </a:solidFill>
              <a:latin typeface="Georgia" panose="02040502050405020303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3B82F6"/>
                </a:solidFill>
                <a:latin typeface="Georgia" panose="02040502050405020303"/>
              </a:rPr>
              <a:t>XR Development</a:t>
            </a:r>
            <a:endParaRPr sz="2800" b="1" i="0">
              <a:solidFill>
                <a:srgbClr val="3B82F6"/>
              </a:solidFill>
              <a:latin typeface="Georgia" panose="02040502050405020303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64748B"/>
                </a:solidFill>
                <a:latin typeface="Calibri" panose="020F0502020204030204"/>
              </a:rPr>
              <a:t>VR · AR · MR — The Next Frontier in Immersive Technology</a:t>
            </a:r>
            <a:endParaRPr sz="1800" b="0" i="1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54864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rPr lang="en-US"/>
              <a:t>Xin Ma</a:t>
            </a:r>
            <a:r>
              <a:t>  |  </a:t>
            </a:r>
            <a:r>
              <a:rPr lang="zh-CN"/>
              <a:t>青蓝计划</a:t>
            </a:r>
            <a:endParaRPr lang="zh-CN"/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54864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4748B"/>
                </a:solidFill>
                <a:latin typeface="Calibri" panose="020F0502020204030204"/>
              </a:defRPr>
            </a:pPr>
            <a:r>
              <a:t>Based on official announcements, industry analysis &amp; cross-engine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1/22</a:t>
            </a:r>
          </a:p>
        </p:txBody>
      </p:sp>
      <p:pic>
        <p:nvPicPr>
          <p:cNvPr id="8" name="图片 7" descr="ue6 logo"/>
          <p:cNvPicPr>
            <a:picLocks noChangeAspect="1"/>
          </p:cNvPicPr>
          <p:nvPr/>
        </p:nvPicPr>
        <p:blipFill>
          <a:blip r:embed="rId1"/>
          <a:srcRect l="38958" t="27111" r="34375" b="29030"/>
          <a:stretch>
            <a:fillRect/>
          </a:stretch>
        </p:blipFill>
        <p:spPr>
          <a:xfrm>
            <a:off x="7356475" y="2843530"/>
            <a:ext cx="3150870" cy="29171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AGENDA</a:t>
            </a:r>
          </a:p>
        </p:txBody>
      </p:sp>
      <p:sp>
        <p:nvSpPr>
          <p:cNvPr id="4" name="Oval 3"/>
          <p:cNvSpPr/>
          <p:nvPr>
            <p:custDataLst>
              <p:tags r:id="rId1"/>
            </p:custDataLst>
          </p:nvPr>
        </p:nvSpPr>
        <p:spPr>
          <a:xfrm>
            <a:off x="914400" y="13716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1F5F9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1645920" y="132588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Why UE6 Now?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1645920" y="173736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The announcement</a:t>
            </a:r>
            <a:r>
              <a:rPr lang="en-US"/>
              <a:t> &amp; </a:t>
            </a:r>
            <a:r>
              <a:t>timeline</a:t>
            </a:r>
          </a:p>
        </p:txBody>
      </p:sp>
      <p:sp>
        <p:nvSpPr>
          <p:cNvPr id="7" name="Oval 6"/>
          <p:cNvSpPr/>
          <p:nvPr>
            <p:custDataLst>
              <p:tags r:id="rId4"/>
            </p:custDataLst>
          </p:nvPr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1F5F9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1645920" y="233172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Core Technical Breakthroughs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1645920" y="274320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Multithreading · Verse · Scene Graph · Fortnite Ecosystem</a:t>
            </a:r>
          </a:p>
        </p:txBody>
      </p:sp>
      <p:sp>
        <p:nvSpPr>
          <p:cNvPr id="10" name="Oval 9"/>
          <p:cNvSpPr/>
          <p:nvPr>
            <p:custDataLst>
              <p:tags r:id="rId7"/>
            </p:custDataLst>
          </p:nvPr>
        </p:nvSpPr>
        <p:spPr>
          <a:xfrm>
            <a:off x="914400" y="338328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1F5F9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1645920" y="333756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XR Revolution: VR / AR / MR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1645920" y="374904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New possibilities for immersive development</a:t>
            </a:r>
          </a:p>
        </p:txBody>
      </p:sp>
      <p:sp>
        <p:nvSpPr>
          <p:cNvPr id="13" name="Oval 12"/>
          <p:cNvSpPr/>
          <p:nvPr>
            <p:custDataLst>
              <p:tags r:id="rId10"/>
            </p:custDataLst>
          </p:nvPr>
        </p:nvSpPr>
        <p:spPr>
          <a:xfrm>
            <a:off x="914400" y="43891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1F5F9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>
            <p:custDataLst>
              <p:tags r:id="rId11"/>
            </p:custDataLst>
          </p:nvPr>
        </p:nvSpPr>
        <p:spPr>
          <a:xfrm>
            <a:off x="1645920" y="434340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Engine Landscape Comparison</a:t>
            </a:r>
          </a:p>
        </p:txBody>
      </p:sp>
      <p:sp>
        <p:nvSpPr>
          <p:cNvPr id="15" name="TextBox 14"/>
          <p:cNvSpPr txBox="1"/>
          <p:nvPr>
            <p:custDataLst>
              <p:tags r:id="rId12"/>
            </p:custDataLst>
          </p:nvPr>
        </p:nvSpPr>
        <p:spPr>
          <a:xfrm>
            <a:off x="1645920" y="475488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UE6 vs Unity vs Godot</a:t>
            </a:r>
          </a:p>
        </p:txBody>
      </p:sp>
      <p:sp>
        <p:nvSpPr>
          <p:cNvPr id="16" name="Oval 15"/>
          <p:cNvSpPr/>
          <p:nvPr>
            <p:custDataLst>
              <p:tags r:id="rId13"/>
            </p:custDataLst>
          </p:nvPr>
        </p:nvSpPr>
        <p:spPr>
          <a:xfrm>
            <a:off x="914400" y="53949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1F5F9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>
            <p:custDataLst>
              <p:tags r:id="rId14"/>
            </p:custDataLst>
          </p:nvPr>
        </p:nvSpPr>
        <p:spPr>
          <a:xfrm>
            <a:off x="1645920" y="534924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Industry Impact &amp; Outlook</a:t>
            </a:r>
          </a:p>
        </p:txBody>
      </p:sp>
      <p:sp>
        <p:nvSpPr>
          <p:cNvPr id="18" name="TextBox 17"/>
          <p:cNvSpPr txBox="1"/>
          <p:nvPr>
            <p:custDataLst>
              <p:tags r:id="rId15"/>
            </p:custDataLst>
          </p:nvPr>
        </p:nvSpPr>
        <p:spPr>
          <a:xfrm>
            <a:off x="1645920" y="5760720"/>
            <a:ext cx="8229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lang="en-US"/>
              <a:t>Personal </a:t>
            </a:r>
            <a: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731520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sz="4400">
                <a:sym typeface="+mn-ea"/>
              </a:rPr>
              <a:t>Why UE6 Now?</a:t>
            </a:r>
            <a:endParaRPr sz="4400">
              <a:sym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4283075"/>
            <a:ext cx="73152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>
                <a:sym typeface="+mn-ea"/>
              </a:rPr>
              <a:t>The announcement, timeline &amp; strategic context</a:t>
            </a:r>
            <a:endParaRPr sz="160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01 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Why UE6 Matters Right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11887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9875520" cy="10058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0" i="1">
                <a:solidFill>
                  <a:srgbClr val="F1F5F9"/>
                </a:solidFill>
                <a:latin typeface="Georgia" panose="02040502050405020303"/>
              </a:rPr>
              <a:t>“Single-threaded execution was once a choice for simplicity. Now it has become an obstacle.”</a:t>
            </a:r>
            <a:endParaRPr sz="200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b="0" i="0">
                <a:solidFill>
                  <a:srgbClr val="64748B"/>
                </a:solidFill>
                <a:latin typeface="Calibri" panose="020F0502020204030204"/>
              </a:rPr>
              <a:t>— Tim Sweeney, CEO, Epic Games  |  Unreal Fest Tokyo, Nov 2025</a:t>
            </a:r>
            <a:endParaRPr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731520" y="3938905"/>
            <a:ext cx="338328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Rectangle 8"/>
          <p:cNvSpPr/>
          <p:nvPr>
            <p:custDataLst>
              <p:tags r:id="rId2"/>
            </p:custDataLst>
          </p:nvPr>
        </p:nvSpPr>
        <p:spPr>
          <a:xfrm>
            <a:off x="731520" y="3938905"/>
            <a:ext cx="3383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914400" y="4121785"/>
            <a:ext cx="301752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RLCS 2026 Paris</a:t>
            </a:r>
            <a:endParaRPr sz="1800"/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914400" y="4670425"/>
            <a:ext cx="301752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Epic unveiled UE6 through</a:t>
            </a:r>
            <a:br>
              <a:rPr sz="1600"/>
            </a:br>
            <a:r>
              <a:rPr sz="1600"/>
              <a:t>a Rocket League teaser trailer</a:t>
            </a:r>
            <a:br>
              <a:rPr sz="1600"/>
            </a:br>
            <a:r>
              <a:rPr sz="1600"/>
              <a:t>at the championship event</a:t>
            </a:r>
            <a:endParaRPr sz="1600"/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389120" y="3938905"/>
            <a:ext cx="338328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4389120" y="3938905"/>
            <a:ext cx="3383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572000" y="4121785"/>
            <a:ext cx="301752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First UE6 Game</a:t>
            </a:r>
            <a:endParaRPr sz="1800"/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4572000" y="4670425"/>
            <a:ext cx="301752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Rocket League becomes the</a:t>
            </a:r>
            <a:br>
              <a:rPr sz="1600"/>
            </a:br>
            <a:r>
              <a:rPr sz="1600"/>
              <a:t>first confirmed title migrating</a:t>
            </a:r>
            <a:br>
              <a:rPr sz="1600"/>
            </a:br>
            <a:r>
              <a:rPr sz="1600"/>
              <a:t>to Unreal Engine 6</a:t>
            </a:r>
            <a:endParaRPr sz="1600"/>
          </a:p>
        </p:txBody>
      </p:sp>
      <p:sp>
        <p:nvSpPr>
          <p:cNvPr id="16" name="Rounded Rectangle 15"/>
          <p:cNvSpPr/>
          <p:nvPr>
            <p:custDataLst>
              <p:tags r:id="rId9"/>
            </p:custDataLst>
          </p:nvPr>
        </p:nvSpPr>
        <p:spPr>
          <a:xfrm>
            <a:off x="8046720" y="3938905"/>
            <a:ext cx="338328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>
            <p:custDataLst>
              <p:tags r:id="rId10"/>
            </p:custDataLst>
          </p:nvPr>
        </p:nvSpPr>
        <p:spPr>
          <a:xfrm>
            <a:off x="8046720" y="3938905"/>
            <a:ext cx="33832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8229600" y="4121785"/>
            <a:ext cx="301752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2.5-Year Transition</a:t>
            </a:r>
            <a:endParaRPr sz="1800"/>
          </a:p>
        </p:txBody>
      </p:sp>
      <p:sp>
        <p:nvSpPr>
          <p:cNvPr id="19" name="TextBox 18"/>
          <p:cNvSpPr txBox="1"/>
          <p:nvPr>
            <p:custDataLst>
              <p:tags r:id="rId12"/>
            </p:custDataLst>
          </p:nvPr>
        </p:nvSpPr>
        <p:spPr>
          <a:xfrm>
            <a:off x="8229600" y="4670425"/>
            <a:ext cx="301752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Tim Sweeney announced the</a:t>
            </a:r>
            <a:br>
              <a:rPr sz="1600"/>
            </a:br>
            <a:r>
              <a:rPr sz="1600"/>
              <a:t>transition to UE6 will take</a:t>
            </a:r>
            <a:br>
              <a:rPr sz="1600"/>
            </a:br>
            <a:r>
              <a:rPr sz="1600"/>
              <a:t>approximately 2.5 years</a:t>
            </a:r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10789920" y="7139305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3/22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02 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UE6: From Announcement to Reality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383280"/>
            <a:ext cx="10515600" cy="274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Oval 5"/>
          <p:cNvSpPr/>
          <p:nvPr/>
        </p:nvSpPr>
        <p:spPr>
          <a:xfrm>
            <a:off x="1371600" y="329184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2020</a:t>
            </a:r>
            <a:endParaRPr sz="1800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UE5 First Revealed</a:t>
            </a:r>
            <a:endParaRPr sz="1800"/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Nanite &amp; Lumen</a:t>
            </a:r>
            <a:br>
              <a:rPr sz="1600"/>
            </a:br>
            <a:r>
              <a:rPr sz="1600"/>
              <a:t>technologies unveiled</a:t>
            </a:r>
            <a:endParaRPr sz="1600"/>
          </a:p>
        </p:txBody>
      </p:sp>
      <p:sp>
        <p:nvSpPr>
          <p:cNvPr id="10" name="Oval 9"/>
          <p:cNvSpPr/>
          <p:nvPr/>
        </p:nvSpPr>
        <p:spPr>
          <a:xfrm>
            <a:off x="3200400" y="329184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1" name="TextBox 10"/>
          <p:cNvSpPr txBox="1"/>
          <p:nvPr/>
        </p:nvSpPr>
        <p:spPr>
          <a:xfrm>
            <a:off x="25603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2022</a:t>
            </a:r>
            <a:endParaRPr sz="1800"/>
          </a:p>
        </p:txBody>
      </p:sp>
      <p:sp>
        <p:nvSpPr>
          <p:cNvPr id="12" name="TextBox 11"/>
          <p:cNvSpPr txBox="1"/>
          <p:nvPr/>
        </p:nvSpPr>
        <p:spPr>
          <a:xfrm>
            <a:off x="2560320" y="292608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UE5 Full Launch</a:t>
            </a:r>
            <a:endParaRPr sz="1800"/>
          </a:p>
        </p:txBody>
      </p:sp>
      <p:sp>
        <p:nvSpPr>
          <p:cNvPr id="13" name="TextBox 12"/>
          <p:cNvSpPr txBox="1"/>
          <p:nvPr/>
        </p:nvSpPr>
        <p:spPr>
          <a:xfrm>
            <a:off x="25603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General availability</a:t>
            </a:r>
            <a:br>
              <a:rPr sz="1600"/>
            </a:br>
            <a:r>
              <a:rPr sz="1600"/>
              <a:t>for all developers</a:t>
            </a:r>
            <a:endParaRPr sz="1600"/>
          </a:p>
        </p:txBody>
      </p:sp>
      <p:sp>
        <p:nvSpPr>
          <p:cNvPr id="14" name="Oval 13"/>
          <p:cNvSpPr/>
          <p:nvPr/>
        </p:nvSpPr>
        <p:spPr>
          <a:xfrm>
            <a:off x="5029200" y="3291840"/>
            <a:ext cx="201168" cy="20116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06B6D4"/>
                </a:solidFill>
                <a:latin typeface="Arial" panose="020B0604020202020204"/>
              </a:defRPr>
            </a:pPr>
            <a:r>
              <a:rPr sz="1800"/>
              <a:t>Nov</a:t>
            </a:r>
            <a:br>
              <a:rPr sz="1800"/>
            </a:br>
            <a:r>
              <a:rPr sz="1800"/>
              <a:t>2025</a:t>
            </a:r>
            <a:endParaRPr sz="1800"/>
          </a:p>
        </p:txBody>
      </p:sp>
      <p:sp>
        <p:nvSpPr>
          <p:cNvPr id="16" name="TextBox 15"/>
          <p:cNvSpPr txBox="1"/>
          <p:nvPr/>
        </p:nvSpPr>
        <p:spPr>
          <a:xfrm>
            <a:off x="4389120" y="292608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UE6 Roadmap</a:t>
            </a:r>
            <a:endParaRPr sz="1800"/>
          </a:p>
        </p:txBody>
      </p:sp>
      <p:sp>
        <p:nvSpPr>
          <p:cNvPr id="17" name="TextBox 16"/>
          <p:cNvSpPr txBox="1"/>
          <p:nvPr/>
        </p:nvSpPr>
        <p:spPr>
          <a:xfrm>
            <a:off x="43891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Tokyo Unreal Fest:</a:t>
            </a:r>
            <a:br>
              <a:rPr sz="1600"/>
            </a:br>
            <a:r>
              <a:rPr sz="1600"/>
              <a:t>Verse + Scene Graph</a:t>
            </a:r>
            <a:endParaRPr sz="1600"/>
          </a:p>
        </p:txBody>
      </p:sp>
      <p:sp>
        <p:nvSpPr>
          <p:cNvPr id="18" name="Oval 17"/>
          <p:cNvSpPr/>
          <p:nvPr/>
        </p:nvSpPr>
        <p:spPr>
          <a:xfrm>
            <a:off x="6858000" y="329184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62179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10B981"/>
                </a:solidFill>
                <a:latin typeface="Arial" panose="020B0604020202020204"/>
              </a:defRPr>
            </a:pPr>
            <a:r>
              <a:rPr sz="1800"/>
              <a:t>May</a:t>
            </a:r>
            <a:br>
              <a:rPr sz="1800"/>
            </a:br>
            <a:r>
              <a:rPr sz="1800"/>
              <a:t>2026</a:t>
            </a:r>
            <a:endParaRPr sz="1800"/>
          </a:p>
        </p:txBody>
      </p:sp>
      <p:sp>
        <p:nvSpPr>
          <p:cNvPr id="20" name="TextBox 19"/>
          <p:cNvSpPr txBox="1"/>
          <p:nvPr/>
        </p:nvSpPr>
        <p:spPr>
          <a:xfrm>
            <a:off x="6217920" y="2770505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UE6 Graphics</a:t>
            </a:r>
            <a:br>
              <a:rPr sz="1800"/>
            </a:br>
            <a:r>
              <a:rPr sz="1800"/>
              <a:t>Revealed</a:t>
            </a:r>
            <a:endParaRPr sz="1800"/>
          </a:p>
        </p:txBody>
      </p:sp>
      <p:sp>
        <p:nvSpPr>
          <p:cNvPr id="21" name="TextBox 20"/>
          <p:cNvSpPr txBox="1"/>
          <p:nvPr/>
        </p:nvSpPr>
        <p:spPr>
          <a:xfrm>
            <a:off x="62179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Rocket League teaser</a:t>
            </a:r>
            <a:br>
              <a:rPr sz="1600"/>
            </a:br>
            <a:r>
              <a:rPr sz="1600"/>
              <a:t>at RLCS Paris Major</a:t>
            </a:r>
            <a:endParaRPr sz="1600"/>
          </a:p>
        </p:txBody>
      </p:sp>
      <p:sp>
        <p:nvSpPr>
          <p:cNvPr id="22" name="Oval 21"/>
          <p:cNvSpPr/>
          <p:nvPr/>
        </p:nvSpPr>
        <p:spPr>
          <a:xfrm>
            <a:off x="8686800" y="329184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TextBox 22"/>
          <p:cNvSpPr txBox="1"/>
          <p:nvPr/>
        </p:nvSpPr>
        <p:spPr>
          <a:xfrm>
            <a:off x="80467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59E0B"/>
                </a:solidFill>
                <a:latin typeface="Arial" panose="020B0604020202020204"/>
              </a:defRPr>
            </a:pPr>
            <a:r>
              <a:rPr sz="1800"/>
              <a:t>2027-</a:t>
            </a:r>
            <a:br>
              <a:rPr sz="1800"/>
            </a:br>
            <a:r>
              <a:rPr sz="1800"/>
              <a:t>2028</a:t>
            </a:r>
            <a:endParaRPr sz="1800"/>
          </a:p>
        </p:txBody>
      </p:sp>
      <p:sp>
        <p:nvSpPr>
          <p:cNvPr id="24" name="TextBox 23"/>
          <p:cNvSpPr txBox="1"/>
          <p:nvPr/>
        </p:nvSpPr>
        <p:spPr>
          <a:xfrm>
            <a:off x="8046720" y="2926080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UE6 Preview</a:t>
            </a:r>
            <a:endParaRPr sz="1800"/>
          </a:p>
        </p:txBody>
      </p:sp>
      <p:sp>
        <p:nvSpPr>
          <p:cNvPr id="25" name="TextBox 24"/>
          <p:cNvSpPr txBox="1"/>
          <p:nvPr/>
        </p:nvSpPr>
        <p:spPr>
          <a:xfrm>
            <a:off x="80467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Expected preview/build</a:t>
            </a:r>
            <a:br>
              <a:rPr sz="1600"/>
            </a:br>
            <a:r>
              <a:rPr sz="1600"/>
              <a:t>available for developers</a:t>
            </a:r>
            <a:endParaRPr sz="1600"/>
          </a:p>
        </p:txBody>
      </p:sp>
      <p:sp>
        <p:nvSpPr>
          <p:cNvPr id="26" name="Oval 25"/>
          <p:cNvSpPr/>
          <p:nvPr/>
        </p:nvSpPr>
        <p:spPr>
          <a:xfrm>
            <a:off x="10515600" y="329184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9875520" y="2286000"/>
            <a:ext cx="164592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8B5CF6"/>
                </a:solidFill>
                <a:latin typeface="Arial" panose="020B0604020202020204"/>
              </a:defRPr>
            </a:pPr>
            <a:r>
              <a:rPr sz="1800"/>
              <a:t>2028-</a:t>
            </a:r>
            <a:br>
              <a:rPr sz="1800"/>
            </a:br>
            <a:r>
              <a:rPr sz="1800"/>
              <a:t>2029</a:t>
            </a:r>
            <a:endParaRPr sz="1800"/>
          </a:p>
        </p:txBody>
      </p:sp>
      <p:sp>
        <p:nvSpPr>
          <p:cNvPr id="28" name="TextBox 27"/>
          <p:cNvSpPr txBox="1"/>
          <p:nvPr/>
        </p:nvSpPr>
        <p:spPr>
          <a:xfrm>
            <a:off x="9875520" y="2770505"/>
            <a:ext cx="16459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F1F5F9"/>
                </a:solidFill>
                <a:latin typeface="Calibri" panose="020F0502020204030204"/>
              </a:defRPr>
            </a:pPr>
            <a:r>
              <a:rPr sz="1800"/>
              <a:t>UE6 Commercial</a:t>
            </a:r>
            <a:endParaRPr sz="1800"/>
          </a:p>
        </p:txBody>
      </p:sp>
      <p:sp>
        <p:nvSpPr>
          <p:cNvPr id="29" name="TextBox 28"/>
          <p:cNvSpPr txBox="1"/>
          <p:nvPr/>
        </p:nvSpPr>
        <p:spPr>
          <a:xfrm>
            <a:off x="9875520" y="3657600"/>
            <a:ext cx="16459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First UE6 titles</a:t>
            </a:r>
            <a:br>
              <a:rPr sz="1600"/>
            </a:br>
            <a:r>
              <a:rPr sz="1600"/>
              <a:t>on the market</a:t>
            </a:r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rPr sz="2000"/>
              <a:t>Key Insight: UE4 → UE5 took ~8 years. UE5 → UE6 takes only ~6 years.</a:t>
            </a:r>
            <a:br>
              <a:rPr sz="2000"/>
            </a:br>
            <a:r>
              <a:rPr sz="2000"/>
              <a:t>This accelerated cycle reflects Epic's aggressive push toward a unified 3D internet infrastructure.</a:t>
            </a:r>
            <a:endParaRPr sz="2000"/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4/22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02  TIMELINE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4/22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731520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Core Technical Breakthroughs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83075"/>
            <a:ext cx="73152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Multithreading · Verse · Scene Graph · Fortnite Ecosystem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01 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Full Multithreading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UE6's most transformative change: a complete redesign of its internal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5603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2120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F4444"/>
                </a:solidFill>
                <a:latin typeface="Arial" panose="020B0604020202020204"/>
              </a:defRPr>
            </a:pPr>
            <a:r>
              <a:t>✖  UE5: The Achilles' Heel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75488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Single-threaded simulation model</a:t>
            </a:r>
            <a:br/>
            <a:r>
              <a:t>•  Game logic (AI, physics, animation) on one thread</a:t>
            </a:r>
            <a:br/>
            <a:r>
              <a:t>•  12-24 core CPUs severely underutilized</a:t>
            </a:r>
            <a:br/>
            <a:r>
              <a:t>•  Causes stuttering, frame drops in many titles</a:t>
            </a:r>
            <a:br/>
            <a:r>
              <a:t>•  'ARC Raiders' abandoned Nanite due to CPU limits</a:t>
            </a:r>
            <a:br/>
            <a:r>
              <a:t>•  Community criticism: 'UE5 optimization is poor'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25603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0B981"/>
                </a:solidFill>
                <a:latin typeface="Arial" panose="020B0604020202020204"/>
              </a:defRPr>
            </a:pPr>
            <a:r>
              <a:t>✔  UE6: Parallel Computing Revolution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75488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AI, physics, simulation, animation — all parallel</a:t>
            </a:r>
            <a:br/>
            <a:r>
              <a:t>•  Multi-threaded texture streaming</a:t>
            </a:r>
            <a:br/>
            <a:r>
              <a:t>•  Multi-threaded dynamic lighting</a:t>
            </a:r>
            <a:br/>
            <a:r>
              <a:t>•  GPU + CPU co-scheduling optimization</a:t>
            </a:r>
            <a:br/>
            <a:r>
              <a:t>•  Fully utilizes 12-24 core modern processors</a:t>
            </a:r>
            <a:br/>
            <a:r>
              <a:t>•  Unlocks previously unattainable performance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212080" cy="1371600"/>
          </a:xfrm>
          <a:prstGeom prst="round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EF4444"/>
                </a:solidFill>
                <a:latin typeface="Arial" panose="020B0604020202020204"/>
              </a:defRPr>
            </a:pPr>
            <a:r>
              <a:t>UE5 Single-Thread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2920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AI + Physics + Anim + Sim  → 1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4924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Cores 1-15: Idle / Underutilized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120640"/>
            <a:ext cx="54864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B82F6"/>
                </a:solidFill>
                <a:latin typeface="Calibri" panose="020F0502020204030204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63440"/>
            <a:ext cx="5212080" cy="1371600"/>
          </a:xfrm>
          <a:prstGeom prst="roundRect">
            <a:avLst/>
          </a:prstGeom>
          <a:solidFill>
            <a:srgbClr val="1A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0916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10B981"/>
                </a:solidFill>
                <a:latin typeface="Arial" panose="020B0604020202020204"/>
              </a:defRPr>
            </a:pPr>
            <a:r>
              <a:t>UE6 Multi-Thread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02920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Core 0: Game Logic  |  Core 1: AI  |  Core 2: Physics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349240"/>
            <a:ext cx="475488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Core 3: Animation  |  Core 4: Scene  |  Core 5-N: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6/22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02 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Verse Language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31520" y="1645920"/>
            <a:ext cx="5212080" cy="2743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731520" y="1645920"/>
            <a:ext cx="52120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8B5CF6"/>
                </a:solidFill>
                <a:latin typeface="Georgia" panose="02040502050405020303"/>
              </a:defRPr>
            </a:pPr>
            <a:r>
              <a:t>Verse Programming Language</a:t>
            </a: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005840" y="2286000"/>
            <a:ext cx="4754880" cy="19202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Epic's own language, currently used in UEFN</a:t>
            </a:r>
            <a:br/>
            <a:r>
              <a:t>•  Easier to learn than C++, comparable performance</a:t>
            </a:r>
            <a:br/>
            <a:r>
              <a:t>•  Built-in memory safety &amp; parallel primitives</a:t>
            </a:r>
            <a:br/>
            <a:r>
              <a:t>•  Designed for 100+ person AAA team collaboration</a:t>
            </a:r>
            <a:br/>
            <a:r>
              <a:t>•  Seamless C++ interoperability</a:t>
            </a:r>
            <a:br/>
            <a:r>
              <a:t>•  Lowers XR content creation barrier significantly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515600" cy="1645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754880"/>
            <a:ext cx="45720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Language Comparison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005840" y="5120640"/>
          <a:ext cx="10058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1828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</a:p>
                  </a:txBody>
                  <a:tcPr marL="25400" marR="25400" marT="12700" marB="127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t>C++ (UE5)</a:t>
                      </a:r>
                    </a:p>
                  </a:txBody>
                  <a:tcPr marL="25400" marR="25400" marT="12700" marB="127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t>Verse (UE6)</a:t>
                      </a:r>
                    </a:p>
                  </a:txBody>
                  <a:tcPr marL="25400" marR="25400" marT="12700" marB="127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t>C# (Unity)</a:t>
                      </a:r>
                    </a:p>
                  </a:txBody>
                  <a:tcPr marL="25400" marR="25400" marT="12700" marB="12700">
                    <a:solidFill>
                      <a:srgbClr val="1A253D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Learning Curve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Very Steep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8B5CF6"/>
                          </a:solidFill>
                          <a:latin typeface="Calibri" panose="020F0502020204030204"/>
                        </a:defRPr>
                      </a:pPr>
                      <a:r>
                        <a:t>Moderate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Moderate</a:t>
                      </a:r>
                    </a:p>
                  </a:txBody>
                  <a:tcPr marL="25400" marR="25400" marT="12700" marB="12700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Memory Mgmt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Manual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8B5CF6"/>
                          </a:solidFill>
                          <a:latin typeface="Calibri" panose="020F0502020204030204"/>
                        </a:defRPr>
                      </a:pPr>
                      <a:r>
                        <a:t>Auto GC + Safety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Auto GC</a:t>
                      </a:r>
                    </a:p>
                  </a:txBody>
                  <a:tcPr marL="25400" marR="25400" marT="12700" marB="12700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Concurrency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Manual threads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8B5CF6"/>
                          </a:solidFill>
                          <a:latin typeface="Calibri" panose="020F0502020204030204"/>
                        </a:defRPr>
                      </a:pPr>
                      <a:r>
                        <a:t>Built-in primitives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async/await</a:t>
                      </a:r>
                    </a:p>
                  </a:txBody>
                  <a:tcPr marL="25400" marR="25400" marT="12700" marB="12700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Collaboration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Complex deps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8B5CF6"/>
                          </a:solidFill>
                          <a:latin typeface="Calibri" panose="020F0502020204030204"/>
                        </a:defRPr>
                      </a:pPr>
                      <a:r>
                        <a:t>Designed for scale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Mature toolchain</a:t>
                      </a:r>
                    </a:p>
                  </a:txBody>
                  <a:tcPr marL="25400" marR="25400" marT="12700" marB="12700"/>
                </a:tc>
              </a:tr>
              <a:tr h="18288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Performance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Highest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8B5CF6"/>
                          </a:solidFill>
                          <a:latin typeface="Calibri" panose="020F0502020204030204"/>
                        </a:defRPr>
                      </a:pPr>
                      <a:r>
                        <a:t>High (~C++)</a:t>
                      </a:r>
                    </a:p>
                  </a:txBody>
                  <a:tcPr marL="25400" marR="25400" marT="12700" marB="127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t>Medium-High</a:t>
                      </a:r>
                    </a:p>
                  </a:txBody>
                  <a:tcPr marL="25400" marR="25400" marT="12700" marB="12700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7/22</a:t>
            </a:r>
          </a:p>
        </p:txBody>
      </p:sp>
      <p:pic>
        <p:nvPicPr>
          <p:cNvPr id="17" name="图片 16" descr="Ver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581785"/>
            <a:ext cx="5852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</a:t>
            </a:r>
            <a:r>
              <a:rPr lang="en-US"/>
              <a:t>3</a:t>
            </a:r>
            <a:r>
              <a:t> 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Scene Graph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743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6B6D4"/>
                </a:solidFill>
                <a:latin typeface="Georgia" panose="02040502050405020303"/>
              </a:defRPr>
            </a:pPr>
            <a:r>
              <a:t>Scene Graph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19202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Next-gen content realization platform</a:t>
            </a:r>
            <a:br/>
            <a:r>
              <a:t>•  Optimized for MMO / open-world scale projects</a:t>
            </a:r>
            <a:br/>
            <a:r>
              <a:t>•  Multi-developer shared code &amp; resource co-work</a:t>
            </a:r>
            <a:br/>
            <a:r>
              <a:t>•  Dynamic scene loading/unloading for XR</a:t>
            </a:r>
            <a:br/>
            <a:r>
              <a:t>•  Smooth scaling as project size grows</a:t>
            </a:r>
            <a:br/>
            <a:r>
              <a:t>•  Foundation for metaverse-scale virtual spaces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515600" cy="1645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7/22</a:t>
            </a:r>
          </a:p>
        </p:txBody>
      </p:sp>
      <p:pic>
        <p:nvPicPr>
          <p:cNvPr id="17" name="图片 16" descr="SceneGrap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75" y="2794635"/>
            <a:ext cx="6247765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04  BREAKTHROUGH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Fortnite Ecosystem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UE6 merges two fragmented pipelines into a single, modular foundation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286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52120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EF4444"/>
                </a:solidFill>
                <a:latin typeface="Arial" panose="020B0604020202020204"/>
              </a:defRPr>
            </a:pPr>
            <a:r>
              <a:t>Current State: Fragmented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75488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Studio branch: traditional game dev</a:t>
            </a:r>
            <a:br/>
            <a:r>
              <a:t>•  Fortnite branch: 7-platform custom version</a:t>
            </a:r>
            <a:br/>
            <a:r>
              <a:t>•  Incompatible tools &amp; workflows</a:t>
            </a:r>
            <a:br/>
            <a:r>
              <a:t>•  Duplicated effort for cross-platform support</a:t>
            </a:r>
            <a:br/>
            <a:r>
              <a:t>•  Technology fragmentation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12080" cy="2286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828800"/>
            <a:ext cx="5212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6596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0B981"/>
                </a:solidFill>
                <a:latin typeface="Arial" panose="020B0604020202020204"/>
              </a:defRPr>
            </a:pPr>
            <a:r>
              <a:t>UE6: Unified &amp; Modular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4754880" cy="1371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•  Single, modular codebase</a:t>
            </a:r>
            <a:br/>
            <a:r>
              <a:t>•  Unified network layer</a:t>
            </a:r>
            <a:br/>
            <a:r>
              <a:t>•  Unified scripting system (Verse)</a:t>
            </a:r>
            <a:br/>
            <a:r>
              <a:t>•  Unified file management protocol</a:t>
            </a:r>
            <a:br/>
            <a:r>
              <a:t>•  Portable across all target platforms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51560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80560"/>
            <a:ext cx="91440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6B6D4"/>
                </a:solidFill>
                <a:latin typeface="Arial" panose="020B0604020202020204"/>
              </a:defRPr>
            </a:pPr>
            <a:r>
              <a:t>Fortnite Ecosystem by the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2286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112B+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60"/>
            <a:ext cx="2286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Hours played</a:t>
            </a:r>
            <a:br/>
            <a:r>
              <a:t>in UEFN games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37760"/>
            <a:ext cx="2286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260K+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394960"/>
            <a:ext cx="2286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Game versions</a:t>
            </a:r>
            <a:br/>
            <a:r>
              <a:t>created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937760"/>
            <a:ext cx="2286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$722M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394960"/>
            <a:ext cx="2286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Creator payout</a:t>
            </a:r>
            <a:br/>
            <a:r>
              <a:t>(~5.129B CNY)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4937760"/>
            <a:ext cx="2286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5394960"/>
            <a:ext cx="2286000" cy="7315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Platforms</a:t>
            </a:r>
            <a:br/>
            <a:r>
              <a:t>supported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8/22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731520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XR Revolution: VR / AR / MR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62120"/>
            <a:ext cx="73152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New possibilities for immersive development with UE6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XR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How UE6 Solves XR's Hardest Problems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76809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XR Challenge</a:t>
                      </a:r>
                      <a:endParaRPr sz="1800"/>
                    </a:p>
                  </a:txBody>
                  <a:tcPr marL="38100" marR="381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UE6 Solution</a:t>
                      </a:r>
                      <a:endParaRPr sz="1800"/>
                    </a:p>
                  </a:txBody>
                  <a:tcPr marL="38100" marR="38100" marT="25400" marB="2540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Impact</a:t>
                      </a:r>
                      <a:endParaRPr sz="1800"/>
                    </a:p>
                  </a:txBody>
                  <a:tcPr marL="38100" marR="38100" marT="25400" marB="25400">
                    <a:solidFill>
                      <a:srgbClr val="3B82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90Hz+ frame rate requirement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Multi-threaded rendering pipeline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Stable high FPS without drops</a:t>
                      </a:r>
                      <a:endParaRPr sz="1800"/>
                    </a:p>
                  </a:txBody>
                  <a:tcPr marL="38100" marR="38100" marT="25400" marB="25400"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&lt;20ms motion-to-photon latency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Parallel computation reduces frame time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Smoother, more comfortable experience</a:t>
                      </a:r>
                      <a:endParaRPr sz="1800"/>
                    </a:p>
                  </a:txBody>
                  <a:tcPr marL="38100" marR="38100" marT="25400" marB="25400"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Complex scenes (high poly + dynamic light)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Multi-threaded Nanite/Lumen + GPU/CPU co-scheduling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Cinematic VR in real-time</a:t>
                      </a:r>
                      <a:endParaRPr sz="1800"/>
                    </a:p>
                  </a:txBody>
                  <a:tcPr marL="38100" marR="38100" marT="25400" marB="25400"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Massive virtual worlds (metaverse-scale)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Scene Graph efficient management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Seamless loading of enormous spaces</a:t>
                      </a:r>
                      <a:endParaRPr sz="1800"/>
                    </a:p>
                  </a:txBody>
                  <a:tcPr marL="38100" marR="38100" marT="25400" marB="25400"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Multiplayer XR interaction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Unified network layer + scalable architecture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Thousands of concurrent users</a:t>
                      </a:r>
                      <a:endParaRPr sz="1800"/>
                    </a:p>
                  </a:txBody>
                  <a:tcPr marL="38100" marR="38100" marT="25400" marB="25400"/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EF4444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Cross-device deployment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10B981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Unified modular foundation (Quest, Vision Pro, PSVR2)</a:t>
                      </a:r>
                      <a:endParaRPr sz="1800"/>
                    </a:p>
                  </a:txBody>
                  <a:tcPr marL="38100" marR="38100" marT="25400" marB="25400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1800"/>
                        <a:t>Write once, deploy everywhere</a:t>
                      </a:r>
                      <a:endParaRPr sz="1800"/>
                    </a:p>
                  </a:txBody>
                  <a:tcPr marL="38100" marR="38100" marT="25400" marB="254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412480" y="1463040"/>
            <a:ext cx="3657600" cy="36576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2000"/>
              <a:t>WHY THIS MATTERS</a:t>
            </a:r>
            <a:br>
              <a:rPr sz="2000"/>
            </a:br>
            <a:br>
              <a:rPr sz="2000"/>
            </a:br>
            <a:r>
              <a:rPr sz="2000"/>
              <a:t>XR development has been trapped</a:t>
            </a:r>
            <a:br>
              <a:rPr sz="2000"/>
            </a:br>
            <a:r>
              <a:rPr sz="2000"/>
              <a:t>in a fundamental paradox:</a:t>
            </a:r>
            <a:br>
              <a:rPr sz="2000"/>
            </a:br>
            <a:br>
              <a:rPr sz="2000"/>
            </a:br>
            <a:r>
              <a:rPr sz="2000"/>
              <a:t>Higher visual quality requires</a:t>
            </a:r>
            <a:br>
              <a:rPr sz="2000"/>
            </a:br>
            <a:r>
              <a:rPr sz="2000"/>
              <a:t>more compute, but XR devices</a:t>
            </a:r>
            <a:br>
              <a:rPr sz="2000"/>
            </a:br>
            <a:r>
              <a:rPr sz="2000"/>
              <a:t>(especially standalone headsets)</a:t>
            </a:r>
            <a:br>
              <a:rPr sz="2000"/>
            </a:br>
            <a:r>
              <a:rPr sz="2000"/>
              <a:t>are severely compute-limited.</a:t>
            </a:r>
            <a:br>
              <a:rPr sz="2000"/>
            </a:br>
            <a:br>
              <a:rPr sz="2000"/>
            </a:br>
            <a:r>
              <a:rPr sz="2000"/>
              <a:t>UE6's multithreading breaks this</a:t>
            </a:r>
            <a:br>
              <a:rPr sz="2000"/>
            </a:br>
            <a:r>
              <a:rPr sz="2000"/>
              <a:t>trade-off, potentially delivering</a:t>
            </a:r>
            <a:br>
              <a:rPr sz="2000"/>
            </a:br>
            <a:r>
              <a:rPr sz="2000"/>
              <a:t>50-150% more usable performance</a:t>
            </a:r>
            <a:br>
              <a:rPr sz="2000"/>
            </a:br>
            <a:r>
              <a:rPr sz="2000"/>
              <a:t>on the same hardware.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10/22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XR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sz="3200"/>
              <a:t>High-Fidelity VR &amp; Mixed Reality</a:t>
            </a:r>
            <a:endParaRPr sz="3200"/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731520" y="1645920"/>
            <a:ext cx="52120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1800"/>
              <a:t>◆  Cinematic VR Graphics</a:t>
            </a:r>
            <a:endParaRPr sz="1800"/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005840" y="2240280"/>
            <a:ext cx="4754880" cy="1463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Nanite + Lumen became VR-capable in UE5.3 (2024)</a:t>
            </a:r>
            <a:br>
              <a:rPr sz="1400"/>
            </a:br>
            <a:r>
              <a:rPr sz="1400"/>
              <a:t>•  But single-thread bottleneck made them impractical</a:t>
            </a:r>
            <a:br>
              <a:rPr sz="1400"/>
            </a:br>
            <a:r>
              <a:rPr sz="1400"/>
              <a:t>•  UE6: Multi-threaded Nanite in VR becomes practical</a:t>
            </a:r>
            <a:br>
              <a:rPr sz="1400"/>
            </a:br>
            <a:r>
              <a:rPr sz="1400"/>
              <a:t>•  Real-time ray tracing enters mainstream VR</a:t>
            </a:r>
            <a:br>
              <a:rPr sz="1400"/>
            </a:br>
            <a:r>
              <a:rPr sz="1400"/>
              <a:t>•  'Rocket League' UE6 trailer shows high-end RT</a:t>
            </a:r>
            <a:br>
              <a:rPr sz="1400"/>
            </a:br>
            <a:r>
              <a:rPr sz="1400"/>
              <a:t>•  More realistic reflections, shadows, global lighting</a:t>
            </a:r>
            <a:endParaRPr sz="1400"/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6217920" y="1645920"/>
            <a:ext cx="52120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6B6D4"/>
                </a:solidFill>
                <a:latin typeface="Arial" panose="020B0604020202020204"/>
              </a:defRPr>
            </a:pPr>
            <a:r>
              <a:rPr sz="1800"/>
              <a:t>◆  Mixed Reality Enhancement</a:t>
            </a:r>
            <a:endParaRPr sz="1800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492240" y="2240280"/>
            <a:ext cx="4754880" cy="1463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More precise spatial mapping &amp; occlusion</a:t>
            </a:r>
            <a:br>
              <a:rPr sz="1400"/>
            </a:br>
            <a:r>
              <a:rPr sz="1400"/>
              <a:t>•  Multi-threaded: scene understanding + physics + rendering</a:t>
            </a:r>
            <a:br>
              <a:rPr sz="1400"/>
            </a:br>
            <a:r>
              <a:rPr sz="1400"/>
              <a:t>•  Critical for Apple Vision Pro &amp; Meta Quest</a:t>
            </a:r>
            <a:br>
              <a:rPr sz="1400"/>
            </a:br>
            <a:r>
              <a:rPr sz="1400"/>
              <a:t>•  Lower power consumption through efficient CPU use</a:t>
            </a:r>
            <a:br>
              <a:rPr sz="1400"/>
            </a:br>
            <a:r>
              <a:rPr sz="1400"/>
              <a:t>•  Direct impact on wireless headset battery life</a:t>
            </a:r>
            <a:br>
              <a:rPr sz="1400"/>
            </a:br>
            <a:r>
              <a:rPr sz="1400"/>
              <a:t>•  Enables always-on AR experiences</a:t>
            </a:r>
            <a:endParaRPr sz="1400"/>
          </a:p>
        </p:txBody>
      </p:sp>
      <p:sp>
        <p:nvSpPr>
          <p:cNvPr id="13" name="Rounded Rectangle 12"/>
          <p:cNvSpPr/>
          <p:nvPr>
            <p:custDataLst>
              <p:tags r:id="rId9"/>
            </p:custDataLst>
          </p:nvPr>
        </p:nvSpPr>
        <p:spPr>
          <a:xfrm>
            <a:off x="731520" y="4206240"/>
            <a:ext cx="521208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>
            <p:custDataLst>
              <p:tags r:id="rId10"/>
            </p:custDataLst>
          </p:nvPr>
        </p:nvSpPr>
        <p:spPr>
          <a:xfrm>
            <a:off x="731520" y="4206240"/>
            <a:ext cx="52120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1005840" y="434340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8B5CF6"/>
                </a:solidFill>
                <a:latin typeface="Arial" panose="020B0604020202020204"/>
              </a:defRPr>
            </a:pPr>
            <a:r>
              <a:rPr sz="1800"/>
              <a:t>◆  Advanced Rendering Techniques</a:t>
            </a:r>
            <a:endParaRPr sz="1800"/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1005840" y="4800600"/>
            <a:ext cx="475488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FFR: Fixed Foveated Rendering</a:t>
            </a:r>
            <a:br>
              <a:rPr sz="1400"/>
            </a:br>
            <a:r>
              <a:rPr sz="1400"/>
              <a:t>•  ETFR: Eye-Tracked Foveated Rendering</a:t>
            </a:r>
            <a:br>
              <a:rPr sz="1400"/>
            </a:br>
            <a:r>
              <a:rPr sz="1400"/>
              <a:t>•  GPU load reduced by 30-50%</a:t>
            </a:r>
            <a:br>
              <a:rPr sz="1400"/>
            </a:br>
            <a:r>
              <a:rPr sz="1400"/>
              <a:t>•  Multi-threaded scheduling enhances all techniques</a:t>
            </a:r>
            <a:endParaRPr sz="1400"/>
          </a:p>
        </p:txBody>
      </p:sp>
      <p:sp>
        <p:nvSpPr>
          <p:cNvPr id="17" name="Rounded Rectangle 16"/>
          <p:cNvSpPr/>
          <p:nvPr>
            <p:custDataLst>
              <p:tags r:id="rId13"/>
            </p:custDataLst>
          </p:nvPr>
        </p:nvSpPr>
        <p:spPr>
          <a:xfrm>
            <a:off x="6217920" y="4206240"/>
            <a:ext cx="5212080" cy="18288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Rectangle 17"/>
          <p:cNvSpPr/>
          <p:nvPr>
            <p:custDataLst>
              <p:tags r:id="rId14"/>
            </p:custDataLst>
          </p:nvPr>
        </p:nvSpPr>
        <p:spPr>
          <a:xfrm>
            <a:off x="6217920" y="4206240"/>
            <a:ext cx="5212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6492240" y="434340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10B981"/>
                </a:solidFill>
                <a:latin typeface="Arial" panose="020B0604020202020204"/>
              </a:defRPr>
            </a:pPr>
            <a:r>
              <a:rPr sz="1800"/>
              <a:t>◆  Device Ecosystem Support</a:t>
            </a:r>
            <a:endParaRPr sz="1800"/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6492240" y="4800600"/>
            <a:ext cx="4754880" cy="10972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Meta Quest 2/3/Pro — Meta XR Plugin</a:t>
            </a:r>
            <a:br>
              <a:rPr sz="1400"/>
            </a:br>
            <a:r>
              <a:rPr sz="1400"/>
              <a:t>•  Apple Vision Pro — visionOS C++ support</a:t>
            </a:r>
            <a:br>
              <a:rPr sz="1400"/>
            </a:br>
            <a:r>
              <a:rPr sz="1400"/>
              <a:t>•  PSVR2 — Official Sony SDK</a:t>
            </a:r>
            <a:br>
              <a:rPr sz="1400"/>
            </a:br>
            <a:r>
              <a:rPr sz="1400"/>
              <a:t>•  PC VR (Valve Index, HP Reverb) — OpenXR/SteamVR</a:t>
            </a:r>
            <a:br>
              <a:rPr sz="1400"/>
            </a:br>
            <a:r>
              <a:rPr sz="1400"/>
              <a:t>•  HoloLens 2 — Microsoft OpenXR</a:t>
            </a:r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rPr sz="900"/>
              <a:t>11/22</a:t>
            </a:r>
            <a:endParaRPr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XR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Metaverse-Scale Worlds &amp; AI-Native XR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743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rPr sz="2000"/>
              <a:t>☆  Metaverse-Scale Virtual Worlds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19202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Scene Graph + multi-thread simulation</a:t>
            </a:r>
            <a:br>
              <a:rPr sz="1400"/>
            </a:br>
            <a:r>
              <a:rPr sz="1400"/>
              <a:t>   → MMO-class VR worlds become feasible</a:t>
            </a:r>
            <a:br>
              <a:rPr sz="1400"/>
            </a:br>
            <a:r>
              <a:rPr sz="1400"/>
              <a:t>•  Thousands of concurrent users, real-time interaction</a:t>
            </a:r>
            <a:br>
              <a:rPr sz="1400"/>
            </a:br>
            <a:r>
              <a:rPr sz="1400"/>
              <a:t>•  Cross-platform asset interop (Quest / Vision Pro / PC)</a:t>
            </a:r>
            <a:br>
              <a:rPr sz="1400"/>
            </a:br>
            <a:r>
              <a:rPr sz="1400"/>
              <a:t>•  Unified architecture = same assets run everywhere</a:t>
            </a:r>
            <a:br>
              <a:rPr sz="1400"/>
            </a:br>
            <a:r>
              <a:rPr sz="1400"/>
              <a:t>•  A key step toward Open Metaverse</a:t>
            </a:r>
            <a:br>
              <a:rPr sz="1400"/>
            </a:br>
            <a:r>
              <a:rPr sz="1400"/>
              <a:t>•  USD and glTF industry-standard support via Khronos</a:t>
            </a:r>
            <a:endParaRPr sz="1400"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274320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2120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8B5CF6"/>
                </a:solidFill>
                <a:latin typeface="Georgia" panose="02040502050405020303"/>
              </a:defRPr>
            </a:pPr>
            <a:r>
              <a:rPr sz="2000"/>
              <a:t>☰  AI-Native XR Interactions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754880" cy="19202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•  Multi-threaded AI: each NPC on its own core</a:t>
            </a:r>
            <a:br>
              <a:rPr sz="1400"/>
            </a:br>
            <a:r>
              <a:rPr sz="1400"/>
              <a:t>•  Real-time behavior decisions in VR</a:t>
            </a:r>
            <a:br>
              <a:rPr sz="1400"/>
            </a:br>
            <a:r>
              <a:rPr sz="1400"/>
              <a:t>•  Natural language NPC conversations</a:t>
            </a:r>
            <a:br>
              <a:rPr sz="1400"/>
            </a:br>
            <a:r>
              <a:rPr sz="1400"/>
              <a:t>•  Emotional AI response &amp; environment awareness</a:t>
            </a:r>
            <a:br>
              <a:rPr sz="1400"/>
            </a:br>
            <a:r>
              <a:rPr sz="1400"/>
              <a:t>•  Intelligent procedural generation</a:t>
            </a:r>
            <a:br>
              <a:rPr sz="1400"/>
            </a:br>
            <a:r>
              <a:rPr sz="1400"/>
              <a:t>•  Adaptive difficulty based on player behavior</a:t>
            </a:r>
            <a:endParaRPr sz="1400"/>
          </a:p>
        </p:txBody>
      </p:sp>
      <p:sp>
        <p:nvSpPr>
          <p:cNvPr id="13" name="Rounded Rectangle 12"/>
          <p:cNvSpPr/>
          <p:nvPr/>
        </p:nvSpPr>
        <p:spPr>
          <a:xfrm>
            <a:off x="731520" y="4663440"/>
            <a:ext cx="10515600" cy="16459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10515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/>
          <p:cNvSpPr txBox="1"/>
          <p:nvPr/>
        </p:nvSpPr>
        <p:spPr>
          <a:xfrm>
            <a:off x="1005840" y="4754880"/>
            <a:ext cx="987552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6B6D4"/>
                </a:solidFill>
                <a:latin typeface="Arial" panose="020B0604020202020204"/>
              </a:defRPr>
            </a:pPr>
            <a:r>
              <a:rPr sz="1800"/>
              <a:t>Epic's Ultimate Vision</a:t>
            </a:r>
            <a:endParaRPr sz="1800"/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987552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“UE6 as the universal browser for the metaverse.”</a:t>
            </a:r>
            <a:br>
              <a:rPr sz="1600"/>
            </a:br>
            <a:r>
              <a:rPr sz="1600"/>
              <a:t>Future scenario: A player drives Studio A's car, uses Team B's weapon,</a:t>
            </a:r>
            <a:br>
              <a:rPr sz="1600"/>
            </a:br>
            <a:r>
              <a:rPr sz="1600"/>
              <a:t>and interacts with Company C's AI-NPCs — all in one shared city, in real time.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rPr sz="900"/>
              <a:t>12/22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UE5 → UE6: XR Capability Leap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EF4444"/>
                </a:solidFill>
                <a:latin typeface="Georgia" panose="02040502050405020303"/>
              </a:defRPr>
            </a:pPr>
            <a:r>
              <a:rPr sz="2000"/>
              <a:t>UE5 XR Capabilities (Current)</a:t>
            </a:r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4754880" cy="34747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✔  Nanite/Lumen basic VR support (5.3+)</a:t>
            </a:r>
            <a:br>
              <a:rPr sz="1400"/>
            </a:br>
            <a:r>
              <a:rPr sz="1400"/>
              <a:t>✔  Foveated rendering (FFR + ETFR)</a:t>
            </a:r>
            <a:br>
              <a:rPr sz="1400"/>
            </a:br>
            <a:r>
              <a:rPr sz="1400"/>
              <a:t>✔  Meta Quest dedicated optimization</a:t>
            </a:r>
            <a:br>
              <a:rPr sz="1400"/>
            </a:br>
            <a:r>
              <a:rPr sz="1400"/>
              <a:t>✔  Apple Vision Pro support (C++ only)</a:t>
            </a:r>
            <a:br>
              <a:rPr sz="1400"/>
            </a:br>
            <a:r>
              <a:rPr sz="1400"/>
              <a:t>✔  PSVR2 official support</a:t>
            </a:r>
            <a:br>
              <a:rPr sz="1400"/>
            </a:br>
            <a:r>
              <a:rPr sz="1400"/>
              <a:t>✔  OpenXR founding member</a:t>
            </a:r>
            <a:br>
              <a:rPr sz="1400"/>
            </a:br>
            <a:br>
              <a:rPr sz="1400"/>
            </a:br>
            <a:r>
              <a:rPr sz="1400"/>
              <a:t>✖  Single-thread game logic bottleneck</a:t>
            </a:r>
            <a:br>
              <a:rPr sz="1400"/>
            </a:br>
            <a:r>
              <a:rPr sz="1400"/>
              <a:t>✖  Limited large-scale scene handling</a:t>
            </a:r>
            <a:br>
              <a:rPr sz="1400"/>
            </a:br>
            <a:r>
              <a:rPr sz="1400"/>
              <a:t>✖  Fragmented development pipelines</a:t>
            </a:r>
            <a:br>
              <a:rPr sz="1400"/>
            </a:br>
            <a:r>
              <a:rPr sz="1400"/>
              <a:t>✖  C++/Blueprint only</a:t>
            </a:r>
            <a:br>
              <a:rPr sz="1400"/>
            </a:br>
            <a:r>
              <a:rPr sz="1400"/>
              <a:t>✖  Manual performance tuning required</a:t>
            </a:r>
            <a:br>
              <a:rPr sz="1400"/>
            </a:br>
            <a:r>
              <a:rPr sz="1400"/>
              <a:t>✖  'Optimization is poor' community criticism</a:t>
            </a:r>
            <a:endParaRPr sz="1400"/>
          </a:p>
        </p:txBody>
      </p:sp>
      <p:sp>
        <p:nvSpPr>
          <p:cNvPr id="9" name="TextBox 8"/>
          <p:cNvSpPr txBox="1"/>
          <p:nvPr/>
        </p:nvSpPr>
        <p:spPr>
          <a:xfrm>
            <a:off x="5669280" y="3200400"/>
            <a:ext cx="54864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3B82F6"/>
                </a:solidFill>
                <a:latin typeface="Calibri" panose="020F0502020204030204"/>
              </a:defRPr>
            </a:pPr>
            <a:r>
              <a:rPr sz="4400"/>
              <a:t>→</a:t>
            </a:r>
            <a:endParaRPr sz="4400"/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52120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492240" y="1783080"/>
            <a:ext cx="47548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0B981"/>
                </a:solidFill>
                <a:latin typeface="Georgia" panose="02040502050405020303"/>
              </a:defRPr>
            </a:pPr>
            <a:r>
              <a:rPr sz="2000"/>
              <a:t>UE6 XR Capabilities (Expected)</a:t>
            </a:r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4754880" cy="34747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400"/>
              <a:t>★  Multi-thread accelerated high-quality rendering</a:t>
            </a:r>
            <a:br>
              <a:rPr sz="1400"/>
            </a:br>
            <a:r>
              <a:rPr sz="1400"/>
              <a:t>★  Nanite/Lumen truly practical in VR</a:t>
            </a:r>
            <a:br>
              <a:rPr sz="1400"/>
            </a:br>
            <a:r>
              <a:rPr sz="1400"/>
              <a:t>★  AI + Physics + Animation all parallel</a:t>
            </a:r>
            <a:br>
              <a:rPr sz="1400"/>
            </a:br>
            <a:r>
              <a:rPr sz="1400"/>
              <a:t>★  Scene Graph: metaverse-scale spaces</a:t>
            </a:r>
            <a:br>
              <a:rPr sz="1400"/>
            </a:br>
            <a:r>
              <a:rPr sz="1400"/>
              <a:t>★  Unified cross-platform XR deployment</a:t>
            </a:r>
            <a:br>
              <a:rPr sz="1400"/>
            </a:br>
            <a:r>
              <a:rPr sz="1400"/>
              <a:t>★  Verse: rapid XR prototyping</a:t>
            </a:r>
            <a:br>
              <a:rPr sz="1400"/>
            </a:br>
            <a:br>
              <a:rPr sz="1400"/>
            </a:br>
            <a:r>
              <a:rPr sz="1400"/>
              <a:t>★  Stable VR frame rates (multi-thread)</a:t>
            </a:r>
            <a:br>
              <a:rPr sz="1400"/>
            </a:br>
            <a:r>
              <a:rPr sz="1400"/>
              <a:t>★  Smart multi-core scheduling</a:t>
            </a:r>
            <a:br>
              <a:rPr sz="1400"/>
            </a:br>
            <a:r>
              <a:rPr sz="1400"/>
              <a:t>★  Lower XR optimization barrier</a:t>
            </a:r>
            <a:br>
              <a:rPr sz="1400"/>
            </a:br>
            <a:r>
              <a:rPr sz="1400"/>
              <a:t>★  Open Metaverse foundations</a:t>
            </a:r>
            <a:br>
              <a:rPr sz="1400"/>
            </a:br>
            <a:r>
              <a:rPr sz="1400"/>
              <a:t>★  Reduced power/thermal for standalone</a:t>
            </a:r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13/22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731520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Engine Landscape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200525"/>
            <a:ext cx="73152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UE6 vs Unity vs Godot vs WebXR — the complete picture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400" baseline="-25000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XR Engine Comparison Matrix (2026)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63040"/>
          <a:ext cx="11497310" cy="4853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070"/>
                <a:gridCol w="3095625"/>
                <a:gridCol w="3537585"/>
                <a:gridCol w="2653030"/>
              </a:tblGrid>
              <a:tr h="404495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Dimension</a:t>
                      </a:r>
                      <a:endParaRPr sz="2400" baseline="-25000"/>
                    </a:p>
                  </a:txBody>
                  <a:tcPr marL="25400" marR="25400" marT="25400" marB="254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Unity 6</a:t>
                      </a:r>
                      <a:endParaRPr sz="2400" baseline="-25000"/>
                    </a:p>
                  </a:txBody>
                  <a:tcPr marL="25400" marR="25400" marT="25400" marB="254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UE5 → UE6</a:t>
                      </a:r>
                      <a:endParaRPr sz="2400" baseline="-25000"/>
                    </a:p>
                  </a:txBody>
                  <a:tcPr marL="25400" marR="25400" marT="25400" marB="25400">
                    <a:solidFill>
                      <a:srgbClr val="1A25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1F5F9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Godot 4.x</a:t>
                      </a:r>
                      <a:endParaRPr sz="2400" baseline="-25000"/>
                    </a:p>
                  </a:txBody>
                  <a:tcPr marL="25400" marR="25400" marT="25400" marB="25400">
                    <a:solidFill>
                      <a:srgbClr val="1A253D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Render Pipeline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URP/HDRP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B82F6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Lumen+Nanite (Cinematic)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Standard 3D (Light)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VR/XR Maturity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★★★★★ Best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 Rapid Growth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 Basic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Language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C#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C++/BP/Verse (UE6)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GDScript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Learning Curve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Medium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3B82F6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Steep (UE6 improves)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Gentle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Visual Ceiling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Close to AAA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Industry Best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Medium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Mobile VR Opt.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★★★★★ Mature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 Quest Optimized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 Limited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OpenXR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Official + Preferred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Founding Member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Community Plugin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Meta Quest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★★★★★ Best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★★★★ Official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★★ Basic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Vision Pro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PolySpatial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C++ Project Support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Not Supported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Best Use Case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Mobile VR / Indie XR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AAA VR / High-End MR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Education / Experiments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  <a:tr h="404495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Pricing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Seat-based Subscription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Free + 5% royalty &gt;$1M</a:t>
                      </a:r>
                      <a:endParaRPr sz="2400" baseline="-25000"/>
                    </a:p>
                  </a:txBody>
                  <a:tcPr marL="25400" marR="25400" marT="25400" marB="25400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94A3B8"/>
                          </a:solidFill>
                          <a:latin typeface="Calibri" panose="020F0502020204030204"/>
                        </a:defRPr>
                      </a:pPr>
                      <a:r>
                        <a:rPr sz="2400" baseline="-25000"/>
                        <a:t>Free (MIT)</a:t>
                      </a:r>
                      <a:endParaRPr sz="2400" baseline="-25000"/>
                    </a:p>
                  </a:txBody>
                  <a:tcPr marL="25400" marR="25400" marT="25400" marB="254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1097280"/>
            <a:ext cx="109728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1">
                <a:solidFill>
                  <a:srgbClr val="64748B"/>
                </a:solidFill>
                <a:latin typeface="Calibri" panose="020F0502020204030204"/>
              </a:defRPr>
            </a:pPr>
            <a:r>
              <a:rPr sz="2000" baseline="-25000"/>
              <a:t>Sources: Nilo Blog 2026, CSDN, Util.cn, RocketBrush, StraySpark Studio, Epic Dev Community</a:t>
            </a:r>
            <a:endParaRPr sz="2000" baseline="-25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73152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828800" cy="1828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6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834640"/>
            <a:ext cx="7315200" cy="9144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Industry Impact &amp;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169410"/>
            <a:ext cx="7315200" cy="5486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t>Personal analysis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1198225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Why UE6 Is a Watershed Moment for XR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31520" y="1463040"/>
            <a:ext cx="1051560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6" name="Rectangle 5"/>
          <p:cNvSpPr/>
          <p:nvPr>
            <p:custDataLst>
              <p:tags r:id="rId2"/>
            </p:custDataLst>
          </p:nvPr>
        </p:nvSpPr>
        <p:spPr>
          <a:xfrm>
            <a:off x="731520" y="1463040"/>
            <a:ext cx="54864" cy="1463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97280" y="1554480"/>
            <a:ext cx="16459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sz="2000" baseline="-25000"/>
              <a:t>ARGUMENT 1</a:t>
            </a:r>
            <a:endParaRPr sz="2000" baseline="-25000"/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097280" y="1783080"/>
            <a:ext cx="9875520" cy="320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sz="3200" baseline="-25000"/>
              <a:t>Multithreading solves the fundamental XR performance paradox</a:t>
            </a:r>
            <a:endParaRPr sz="3200" baseline="-25000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1097280" y="2148840"/>
            <a:ext cx="9875520" cy="685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2000" baseline="-25000"/>
              <a:t>XR has always faced a painful trade-off: you want cinematic visuals, but standalone headsets have limited compute. UE5 proved it could deliver stunning graphics (Nanite/Lumen), but single-thread bottlenecks made them impractical in VR. UE6's multi-threading promises 50-150% more usable performance on the SAME hardware. This means Quest 3-level standalone devices could potentially deliver PC VR-grade visuals.</a:t>
            </a:r>
            <a:endParaRPr sz="2000" baseline="-25000"/>
          </a:p>
        </p:txBody>
      </p:sp>
      <p:sp>
        <p:nvSpPr>
          <p:cNvPr id="10" name="Rounded Rectangle 9"/>
          <p:cNvSpPr/>
          <p:nvPr>
            <p:custDataLst>
              <p:tags r:id="rId6"/>
            </p:custDataLst>
          </p:nvPr>
        </p:nvSpPr>
        <p:spPr>
          <a:xfrm>
            <a:off x="731520" y="3154680"/>
            <a:ext cx="1051560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11" name="Rectangle 10"/>
          <p:cNvSpPr/>
          <p:nvPr>
            <p:custDataLst>
              <p:tags r:id="rId7"/>
            </p:custDataLst>
          </p:nvPr>
        </p:nvSpPr>
        <p:spPr>
          <a:xfrm>
            <a:off x="731520" y="3154680"/>
            <a:ext cx="54864" cy="14630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1097280" y="3246120"/>
            <a:ext cx="16459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06B6D4"/>
                </a:solidFill>
                <a:latin typeface="Arial" panose="020B0604020202020204"/>
              </a:defRPr>
            </a:pPr>
            <a:r>
              <a:rPr sz="2000" baseline="-25000"/>
              <a:t>ARGUMENT 2</a:t>
            </a:r>
            <a:endParaRPr sz="2000" baseline="-25000"/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1097280" y="3474720"/>
            <a:ext cx="9875520" cy="320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sz="3200" baseline="-25000"/>
              <a:t>Scene Graph provides the first viable 'metaverse' technical foundation</a:t>
            </a:r>
            <a:endParaRPr sz="3200" baseline="-25000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1097280" y="3840480"/>
            <a:ext cx="9875520" cy="685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2000" baseline="-25000"/>
              <a:t>The industry has talked about 'the metaverse' for years, but lacked an engine that could support truly massive shared virtual spaces. Scene Graph, combined with unified multi-thread simulation and networking, may be the first engine-level solution for 'thousands of users interacting in one high-fidelity virtual world simultaneously.'</a:t>
            </a:r>
            <a:endParaRPr sz="2000" baseline="-25000"/>
          </a:p>
        </p:txBody>
      </p:sp>
      <p:sp>
        <p:nvSpPr>
          <p:cNvPr id="15" name="Rounded Rectangle 14"/>
          <p:cNvSpPr/>
          <p:nvPr>
            <p:custDataLst>
              <p:tags r:id="rId11"/>
            </p:custDataLst>
          </p:nvPr>
        </p:nvSpPr>
        <p:spPr>
          <a:xfrm>
            <a:off x="731520" y="4846320"/>
            <a:ext cx="10515600" cy="146304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16" name="Rectangle 15"/>
          <p:cNvSpPr/>
          <p:nvPr>
            <p:custDataLst>
              <p:tags r:id="rId12"/>
            </p:custDataLst>
          </p:nvPr>
        </p:nvSpPr>
        <p:spPr>
          <a:xfrm>
            <a:off x="731520" y="4846320"/>
            <a:ext cx="54864" cy="14630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baseline="-25000"/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1097280" y="4937760"/>
            <a:ext cx="1645920" cy="27432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8B5CF6"/>
                </a:solidFill>
                <a:latin typeface="Arial" panose="020B0604020202020204"/>
              </a:defRPr>
            </a:pPr>
            <a:r>
              <a:rPr sz="2000" baseline="-25000"/>
              <a:t>ARGUMENT 3</a:t>
            </a:r>
            <a:endParaRPr sz="2000" baseline="-25000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1097280" y="5166360"/>
            <a:ext cx="9875520" cy="32004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sz="3200" baseline="-25000"/>
              <a:t>Verse language democratizes XR content creation</a:t>
            </a:r>
            <a:endParaRPr sz="3200" baseline="-25000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1097280" y="5532120"/>
            <a:ext cx="9875520" cy="685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2000" baseline="-25000"/>
              <a:t>The biggest XR bottleneck isn't hardware — it's content creation cost. If Verse is truly 'much easier than C++' and 'designed for large-scale collaboration,' it could dramatically lower the barrier to XR app development, attracting a new wave of creators into the ecosystem.</a:t>
            </a:r>
            <a:endParaRPr sz="2000" baseline="-25000"/>
          </a:p>
        </p:txBody>
      </p:sp>
      <p:sp>
        <p:nvSpPr>
          <p:cNvPr id="20" name="TextBox 1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rPr sz="1600" baseline="-25000"/>
              <a:t>18/22</a:t>
            </a:r>
            <a:endParaRPr sz="1600" baseline="-25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rPr lang="en-US"/>
              <a:t>OTHERS</a:t>
            </a:r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rPr lang="en-US"/>
              <a:t>About Cocos</a:t>
            </a:r>
            <a:endParaRPr lang="en-US"/>
          </a:p>
        </p:txBody>
      </p:sp>
      <p:pic>
        <p:nvPicPr>
          <p:cNvPr id="27" name="图片 26" descr="tmp4BE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7865" y="2800985"/>
            <a:ext cx="4514850" cy="3000375"/>
          </a:xfrm>
          <a:prstGeom prst="rect">
            <a:avLst/>
          </a:prstGeom>
        </p:spPr>
      </p:pic>
      <p:pic>
        <p:nvPicPr>
          <p:cNvPr id="28" name="图片 27" descr="tmp54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65" y="4593590"/>
            <a:ext cx="3629025" cy="923925"/>
          </a:xfrm>
          <a:prstGeom prst="rect">
            <a:avLst/>
          </a:prstGeom>
        </p:spPr>
      </p:pic>
      <p:pic>
        <p:nvPicPr>
          <p:cNvPr id="30" name="图片 29" descr="tmpF65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77440"/>
            <a:ext cx="5798185" cy="2103120"/>
          </a:xfrm>
          <a:prstGeom prst="rect">
            <a:avLst/>
          </a:prstGeom>
        </p:spPr>
      </p:pic>
      <p:sp>
        <p:nvSpPr>
          <p:cNvPr id="34" name="TextBox 8"/>
          <p:cNvSpPr txBox="1"/>
          <p:nvPr>
            <p:custDataLst>
              <p:tags r:id="rId4"/>
            </p:custDataLst>
          </p:nvPr>
        </p:nvSpPr>
        <p:spPr>
          <a:xfrm>
            <a:off x="6971665" y="1059180"/>
            <a:ext cx="3898265" cy="6858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lang="en-US" altLang="zh-CN" sz="2800" baseline="-25000"/>
              <a:t>On November 12, 2025, the domestic game engine Cocos was wholly acquired by Sudden Technology (SUD) for 510 million RMB, and Cocos's business and team will be deeply integrated into SUD.</a:t>
            </a:r>
            <a:endParaRPr lang="en-US" altLang="zh-CN" sz="2800" baseline="-25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4572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B82F6"/>
                </a:solidFill>
                <a:latin typeface="Arial" panose="020B0604020202020204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64008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F1F5F9"/>
                </a:solidFill>
                <a:latin typeface="Georgia" panose="02040502050405020303"/>
              </a:defRPr>
            </a:pPr>
            <a:r>
              <a:t>Sources &amp; 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•  Epic Games Official — unrealengine.com</a:t>
            </a:r>
            <a:br>
              <a:rPr sz="1600"/>
            </a:br>
            <a:r>
              <a:rPr sz="1600"/>
              <a:t>•  Notebookcheck — UE6 Graphics Revealed (May 24, 2026)</a:t>
            </a:r>
            <a:br>
              <a:rPr sz="1600"/>
            </a:br>
            <a:r>
              <a:rPr sz="1600"/>
              <a:t>•  TechOlam — UE6 Multithreading Overhaul (May 24, 2026)</a:t>
            </a:r>
            <a:br>
              <a:rPr sz="1600"/>
            </a:br>
            <a:r>
              <a:rPr sz="1600"/>
              <a:t>•  MundoGamer — UE6 Architecture &amp; Unified Focus</a:t>
            </a:r>
            <a:br>
              <a:rPr sz="1600"/>
            </a:br>
            <a:r>
              <a:rPr sz="1600"/>
              <a:t>•  GizNewsDaily — UE6 Rocket League Reveal</a:t>
            </a:r>
            <a:br>
              <a:rPr sz="1600"/>
            </a:br>
            <a:r>
              <a:rPr sz="1600"/>
              <a:t>•  IT Home — Epic UE6 Roadmap (Nov 15, 2025)</a:t>
            </a:r>
            <a:br>
              <a:rPr sz="1600"/>
            </a:br>
            <a:r>
              <a:rPr sz="1600"/>
              <a:t>•  ZOL — Verse &amp; Scene Graph at Tokyo Unreal Fest</a:t>
            </a:r>
            <a:br>
              <a:rPr sz="1600"/>
            </a:br>
            <a:r>
              <a:rPr sz="1600"/>
              <a:t>•  Sohu Tech — UE6 Official Launch (May 25, 2026)</a:t>
            </a:r>
            <a:br>
              <a:rPr sz="1600"/>
            </a:br>
            <a:r>
              <a:rPr sz="1600"/>
              <a:t>•  36Kr — UE6 First Reveal, 6-Year Iteration Cycle</a:t>
            </a:r>
            <a:br>
              <a:rPr sz="1600"/>
            </a:br>
            <a:r>
              <a:rPr sz="1600"/>
              <a:t>•  Tencent News — UE6 New Generation Engine</a:t>
            </a:r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r>
              <a:rPr sz="1600"/>
              <a:t>•  Nilo Blog — 3D Engine Comparison 2026 (Apr 2026)</a:t>
            </a:r>
            <a:br>
              <a:rPr sz="1600"/>
            </a:br>
            <a:r>
              <a:rPr sz="1600"/>
              <a:t>•  CSDN — XR Development: Unity vs Unreal (Nov 2025)</a:t>
            </a:r>
            <a:br>
              <a:rPr sz="1600"/>
            </a:br>
            <a:r>
              <a:rPr sz="1600"/>
              <a:t>•  Util.cn — Unity vs Unreal vs Godot Analysis (Jan 2026)</a:t>
            </a:r>
            <a:br>
              <a:rPr sz="1600"/>
            </a:br>
            <a:r>
              <a:rPr sz="1600"/>
              <a:t>•  RocketBrush — Unity vs Unreal 2026 Comparison</a:t>
            </a:r>
            <a:br>
              <a:rPr sz="1600"/>
            </a:br>
            <a:r>
              <a:rPr sz="1600"/>
              <a:t>•  Hyper3D — Best Game Engines 2026</a:t>
            </a:r>
            <a:br>
              <a:rPr sz="1600"/>
            </a:br>
            <a:r>
              <a:rPr sz="1600"/>
              <a:t>•  Game-Developers.org — Unity 6.3 vs UE5.7 (Jan 2026)</a:t>
            </a:r>
            <a:br>
              <a:rPr sz="1600"/>
            </a:br>
            <a:r>
              <a:rPr sz="1600"/>
              <a:t>•  StraySpark Studio — VR Dev Meta Quest UE5 2026</a:t>
            </a:r>
            <a:br>
              <a:rPr sz="1600"/>
            </a:br>
            <a:r>
              <a:rPr sz="1600"/>
              <a:t>•  Epic Dev Community — Vision Pro Quick Start (Apr 2024)</a:t>
            </a:r>
            <a:br>
              <a:rPr sz="1600"/>
            </a:br>
            <a:r>
              <a:rPr sz="1600"/>
              <a:t>•  Epic Dev Community — FFR &amp; ETFR Optimization (Dec 2024)</a:t>
            </a:r>
            <a:br>
              <a:rPr sz="1600"/>
            </a:br>
            <a:r>
              <a:rPr sz="1600"/>
              <a:t>•  Meta Developers — Meta XR Plugin Documentation</a:t>
            </a:r>
            <a:endParaRPr sz="1600"/>
          </a:p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94A3B8"/>
                </a:solidFill>
                <a:latin typeface="Calibri" panose="020F0502020204030204"/>
              </a:defRPr>
            </a:pPr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914400" y="5027295"/>
            <a:ext cx="1051560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3B82F6"/>
                </a:solidFill>
                <a:latin typeface="Georgia" panose="02040502050405020303"/>
              </a:defRPr>
            </a:pPr>
            <a:r>
              <a:rPr sz="3600"/>
              <a:t>THANK YOU</a:t>
            </a:r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 lIns="45720" tIns="45720" rIns="45720" bIns="45720"/>
          <a:lstStyle/>
          <a:p>
            <a:pPr algn="r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4748B"/>
                </a:solidFill>
                <a:latin typeface="Calibri" panose="020F0502020204030204"/>
              </a:defRPr>
            </a:pPr>
            <a:r>
              <a:t>22/22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2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3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4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5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6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7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8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9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0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1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2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3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4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5.xml><?xml version="1.0" encoding="utf-8"?>
<p:tagLst xmlns:p="http://schemas.openxmlformats.org/presentationml/2006/main">
  <p:tag name="KSO_WM_DIAGRAM_VIRTUALLY_FRAME" val="{&quot;height&quot;:378,&quot;left&quot;:72,&quot;top&quot;:104.4,&quot;width&quot;:705.6}"/>
</p:tagLst>
</file>

<file path=ppt/tags/tag16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17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18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19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0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1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2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3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4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5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6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7.xml><?xml version="1.0" encoding="utf-8"?>
<p:tagLst xmlns:p="http://schemas.openxmlformats.org/presentationml/2006/main">
  <p:tag name="KSO_WM_DIAGRAM_VIRTUALLY_FRAME" val="{&quot;height&quot;:202.15,&quot;left&quot;:57.6,&quot;top&quot;:252,&quot;width&quot;:842.4}"/>
</p:tagLst>
</file>

<file path=ppt/tags/tag28.xml><?xml version="1.0" encoding="utf-8"?>
<p:tagLst xmlns:p="http://schemas.openxmlformats.org/presentationml/2006/main">
  <p:tag name="KSO_WM_DIAGRAM_VIRTUALLY_FRAME" val="{&quot;height&quot;:216,&quot;left&quot;:57.6,&quot;top&quot;:129.6,&quot;width&quot;:842.4}"/>
</p:tagLst>
</file>

<file path=ppt/tags/tag29.xml><?xml version="1.0" encoding="utf-8"?>
<p:tagLst xmlns:p="http://schemas.openxmlformats.org/presentationml/2006/main">
  <p:tag name="KSO_WM_DIAGRAM_VIRTUALLY_FRAME" val="{&quot;height&quot;:216,&quot;left&quot;:57.6,&quot;top&quot;:129.6,&quot;width&quot;:842.4}"/>
</p:tagLst>
</file>

<file path=ppt/tags/tag30.xml><?xml version="1.0" encoding="utf-8"?>
<p:tagLst xmlns:p="http://schemas.openxmlformats.org/presentationml/2006/main">
  <p:tag name="KSO_WM_DIAGRAM_VIRTUALLY_FRAME" val="{&quot;height&quot;:216,&quot;left&quot;:57.6,&quot;top&quot;:129.6,&quot;width&quot;:842.4}"/>
</p:tagLst>
</file>

<file path=ppt/tags/tag31.xml><?xml version="1.0" encoding="utf-8"?>
<p:tagLst xmlns:p="http://schemas.openxmlformats.org/presentationml/2006/main">
  <p:tag name="KSO_WM_DIAGRAM_VIRTUALLY_FRAME" val="{&quot;height&quot;:216,&quot;left&quot;:57.6,&quot;top&quot;:129.6,&quot;width&quot;:842.4}"/>
</p:tagLst>
</file>

<file path=ppt/tags/tag32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3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4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5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6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7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8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39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0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1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2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3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4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5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6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7.xml><?xml version="1.0" encoding="utf-8"?>
<p:tagLst xmlns:p="http://schemas.openxmlformats.org/presentationml/2006/main">
  <p:tag name="KSO_WM_DIAGRAM_VIRTUALLY_FRAME" val="{&quot;height&quot;:345.6,&quot;left&quot;:57.6,&quot;top&quot;:129.6,&quot;width&quot;:842.4}"/>
</p:tagLst>
</file>

<file path=ppt/tags/tag48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49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0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1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2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3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4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5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6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7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8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59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60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61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62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ags/tag63.xml><?xml version="1.0" encoding="utf-8"?>
<p:tagLst xmlns:p="http://schemas.openxmlformats.org/presentationml/2006/main">
  <p:tag name="KSO_WM_DIAGRAM_VIRTUALLY_FRAME" val="{&quot;height&quot;:381.6,&quot;left&quot;:57.6,&quot;top&quot;:115.2,&quot;width&quot;:8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11841</Words>
  <Application>WPS 演示</Application>
  <PresentationFormat>On-screen Show (4:3)</PresentationFormat>
  <Paragraphs>529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Arial</vt:lpstr>
      <vt:lpstr>宋体</vt:lpstr>
      <vt:lpstr>Wingdings</vt:lpstr>
      <vt:lpstr>Arial</vt:lpstr>
      <vt:lpstr>Georgia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WPS_1601472217</cp:lastModifiedBy>
  <cp:revision>5</cp:revision>
  <dcterms:created xsi:type="dcterms:W3CDTF">2013-01-27T09:14:00Z</dcterms:created>
  <dcterms:modified xsi:type="dcterms:W3CDTF">2026-07-26T07:57:59Z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3FC64F5FD04548CB8FE5E785F485F4EF_12</vt:lpwstr>
  </property>
</Properties>
</file>