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5" r:id="rId5"/>
    <p:sldId id="266" r:id="rId6"/>
    <p:sldId id="267" r:id="rId7"/>
    <p:sldId id="271" r:id="rId8"/>
    <p:sldId id="26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71" y="7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80A916-1EBE-4B45-B492-AA2C51F033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FB1D2E-4C4D-47BA-BA49-50E93E8C703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42D84-9789-466F-8D7D-6F732D8C62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197A-76AF-43DB-A4EA-5850E24C3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42D84-9789-466F-8D7D-6F732D8C62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197A-76AF-43DB-A4EA-5850E24C3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42D84-9789-466F-8D7D-6F732D8C62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197A-76AF-43DB-A4EA-5850E24C3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42D84-9789-466F-8D7D-6F732D8C62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197A-76AF-43DB-A4EA-5850E24C3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42D84-9789-466F-8D7D-6F732D8C62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197A-76AF-43DB-A4EA-5850E24C3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42D84-9789-466F-8D7D-6F732D8C62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197A-76AF-43DB-A4EA-5850E24C3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42D84-9789-466F-8D7D-6F732D8C62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197A-76AF-43DB-A4EA-5850E24C3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42D84-9789-466F-8D7D-6F732D8C62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197A-76AF-43DB-A4EA-5850E24C3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42D84-9789-466F-8D7D-6F732D8C62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197A-76AF-43DB-A4EA-5850E24C3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42D84-9789-466F-8D7D-6F732D8C62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197A-76AF-43DB-A4EA-5850E24C3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42D84-9789-466F-8D7D-6F732D8C62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9197A-76AF-43DB-A4EA-5850E24C38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42D84-9789-466F-8D7D-6F732D8C628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9197A-76AF-43DB-A4EA-5850E24C38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768351" y="1350434"/>
            <a:ext cx="8272410" cy="896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以碧蓝幻想</a:t>
            </a:r>
            <a:r>
              <a:rPr lang="en-US" altLang="zh-CN" sz="2400" dirty="0"/>
              <a:t>vs</a:t>
            </a:r>
            <a:r>
              <a:rPr lang="zh-CN" altLang="en-US" sz="2400" dirty="0"/>
              <a:t>为例，角色身上的金属铠甲需要更锐利更明显的金属高光和阴影，单用卡通渲染不能保证表现</a:t>
            </a:r>
            <a:endParaRPr lang="zh-CN" altLang="en-US" sz="2400" dirty="0"/>
          </a:p>
        </p:txBody>
      </p:sp>
      <p:sp>
        <p:nvSpPr>
          <p:cNvPr id="7173" name="Text 3"/>
          <p:cNvSpPr>
            <a:spLocks noChangeArrowheads="1"/>
          </p:cNvSpPr>
          <p:nvPr/>
        </p:nvSpPr>
        <p:spPr bwMode="auto">
          <a:xfrm>
            <a:off x="8943293" y="2246932"/>
            <a:ext cx="2476500" cy="3422649"/>
          </a:xfrm>
          <a:prstGeom prst="roundRect">
            <a:avLst>
              <a:gd name="adj" fmla="val 15755"/>
            </a:avLst>
          </a:prstGeom>
          <a:solidFill>
            <a:srgbClr val="A5C9F8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en-US" alt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Npr+pbr</a:t>
            </a:r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渲染</a:t>
            </a:r>
            <a:endParaRPr lang="en-US" altLang="zh-CN" sz="4800" dirty="0"/>
          </a:p>
        </p:txBody>
      </p:sp>
      <p:sp>
        <p:nvSpPr>
          <p:cNvPr id="7183" name="Text 11"/>
          <p:cNvSpPr>
            <a:spLocks noChangeArrowheads="1"/>
          </p:cNvSpPr>
          <p:nvPr/>
        </p:nvSpPr>
        <p:spPr bwMode="auto">
          <a:xfrm>
            <a:off x="9146493" y="2551471"/>
            <a:ext cx="2124759" cy="2610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rgbClr val="6585CC"/>
                </a:solidFill>
                <a:latin typeface="FZLanTingHeiS-DB-GB" pitchFamily="2" charset="-122"/>
                <a:ea typeface="FZLanTingHeiS-DB-GB" pitchFamily="2" charset="-122"/>
              </a:rPr>
              <a:t>卡渲结合基于物理渲染，制作统一材质球</a:t>
            </a:r>
            <a:endParaRPr lang="en-US" altLang="zh-CN" sz="24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91" y="2246932"/>
            <a:ext cx="6829117" cy="410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768351" y="1350434"/>
            <a:ext cx="8272410" cy="896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图中白色部分更适合基于物理渲染，表现真实材质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塑料衣服、金属、塑料扣子</a:t>
            </a:r>
            <a:endParaRPr lang="zh-CN" altLang="en-US" sz="2400" dirty="0"/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en-US" alt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Npr+pbr</a:t>
            </a:r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渲染</a:t>
            </a:r>
            <a:endParaRPr lang="en-US" altLang="zh-CN" sz="48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952" y="2246932"/>
            <a:ext cx="79248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768351" y="1350434"/>
            <a:ext cx="8272410" cy="896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 err="1"/>
              <a:t>Pbr</a:t>
            </a:r>
            <a:r>
              <a:rPr lang="zh-CN" altLang="en-US" sz="2400" dirty="0"/>
              <a:t>材质表现更好，但</a:t>
            </a:r>
            <a:r>
              <a:rPr lang="en-US" altLang="zh-CN" sz="2400" dirty="0" err="1"/>
              <a:t>npr</a:t>
            </a:r>
            <a:r>
              <a:rPr lang="zh-CN" altLang="en-US" sz="2400" dirty="0"/>
              <a:t>卡通材质作为渲染基底</a:t>
            </a:r>
            <a:endParaRPr lang="zh-CN" altLang="en-US" sz="2400" dirty="0"/>
          </a:p>
        </p:txBody>
      </p:sp>
      <p:sp>
        <p:nvSpPr>
          <p:cNvPr id="7173" name="Text 3"/>
          <p:cNvSpPr>
            <a:spLocks noChangeArrowheads="1"/>
          </p:cNvSpPr>
          <p:nvPr/>
        </p:nvSpPr>
        <p:spPr bwMode="auto">
          <a:xfrm>
            <a:off x="8943293" y="2246932"/>
            <a:ext cx="2476500" cy="3422649"/>
          </a:xfrm>
          <a:prstGeom prst="roundRect">
            <a:avLst>
              <a:gd name="adj" fmla="val 15755"/>
            </a:avLst>
          </a:prstGeom>
          <a:solidFill>
            <a:srgbClr val="A5C9F8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en-US" alt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Npr+pbr</a:t>
            </a:r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渲染</a:t>
            </a:r>
            <a:endParaRPr lang="en-US" altLang="zh-CN" sz="4800" dirty="0"/>
          </a:p>
        </p:txBody>
      </p:sp>
      <p:sp>
        <p:nvSpPr>
          <p:cNvPr id="7183" name="Text 11"/>
          <p:cNvSpPr>
            <a:spLocks noChangeArrowheads="1"/>
          </p:cNvSpPr>
          <p:nvPr/>
        </p:nvSpPr>
        <p:spPr bwMode="auto">
          <a:xfrm>
            <a:off x="9146493" y="2551471"/>
            <a:ext cx="2124759" cy="2610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rgbClr val="6585CC"/>
                </a:solidFill>
                <a:latin typeface="FZLanTingHeiS-DB-GB" pitchFamily="2" charset="-122"/>
                <a:ea typeface="FZLanTingHeiS-DB-GB" pitchFamily="2" charset="-122"/>
              </a:rPr>
              <a:t>需要结合二者，方便统一控制</a:t>
            </a:r>
            <a:endParaRPr lang="en-US" altLang="zh-CN" sz="24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1" y="2378165"/>
            <a:ext cx="792480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768351" y="1350434"/>
            <a:ext cx="8272410" cy="896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少女前线</a:t>
            </a:r>
            <a:r>
              <a:rPr lang="en-US" altLang="zh-CN" sz="2400" dirty="0"/>
              <a:t>2</a:t>
            </a:r>
            <a:r>
              <a:rPr lang="zh-CN" altLang="en-US" sz="2400" dirty="0"/>
              <a:t>追放，材质在卡渲基础上叠加</a:t>
            </a:r>
            <a:r>
              <a:rPr lang="en-US" altLang="zh-CN" sz="2400" dirty="0" err="1"/>
              <a:t>pbr</a:t>
            </a:r>
            <a:r>
              <a:rPr lang="zh-CN" altLang="en-US" sz="2400" dirty="0"/>
              <a:t>，画面质感更优</a:t>
            </a:r>
            <a:endParaRPr lang="zh-CN" altLang="en-US" sz="2400" dirty="0"/>
          </a:p>
        </p:txBody>
      </p:sp>
      <p:sp>
        <p:nvSpPr>
          <p:cNvPr id="7173" name="Text 3"/>
          <p:cNvSpPr>
            <a:spLocks noChangeArrowheads="1"/>
          </p:cNvSpPr>
          <p:nvPr/>
        </p:nvSpPr>
        <p:spPr bwMode="auto">
          <a:xfrm>
            <a:off x="8214852" y="2246932"/>
            <a:ext cx="3204941" cy="3422649"/>
          </a:xfrm>
          <a:prstGeom prst="roundRect">
            <a:avLst>
              <a:gd name="adj" fmla="val 15755"/>
            </a:avLst>
          </a:prstGeom>
          <a:solidFill>
            <a:srgbClr val="A5C9F8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en-US" alt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Npr+pbr</a:t>
            </a:r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渲染</a:t>
            </a:r>
            <a:endParaRPr lang="en-US" altLang="zh-CN" sz="4800" dirty="0"/>
          </a:p>
        </p:txBody>
      </p:sp>
      <p:sp>
        <p:nvSpPr>
          <p:cNvPr id="7183" name="Text 11"/>
          <p:cNvSpPr>
            <a:spLocks noChangeArrowheads="1"/>
          </p:cNvSpPr>
          <p:nvPr/>
        </p:nvSpPr>
        <p:spPr bwMode="auto">
          <a:xfrm>
            <a:off x="8347587" y="2551471"/>
            <a:ext cx="2923666" cy="2610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rgbClr val="6585CC"/>
                </a:solidFill>
                <a:ea typeface="FZLanTingHeiS-DB-GB" pitchFamily="2" charset="-122"/>
              </a:rPr>
              <a:t>需要区分：布料</a:t>
            </a:r>
            <a:r>
              <a:rPr lang="en-US" altLang="zh-CN" sz="2400" dirty="0">
                <a:solidFill>
                  <a:srgbClr val="6585CC"/>
                </a:solidFill>
                <a:ea typeface="FZLanTingHeiS-DB-GB" pitchFamily="2" charset="-122"/>
              </a:rPr>
              <a:t>/</a:t>
            </a:r>
            <a:r>
              <a:rPr lang="zh-CN" altLang="en-US" sz="2400" dirty="0">
                <a:solidFill>
                  <a:srgbClr val="6585CC"/>
                </a:solidFill>
                <a:ea typeface="FZLanTingHeiS-DB-GB" pitchFamily="2" charset="-122"/>
              </a:rPr>
              <a:t>皮肤、头发、面部、眼球、绒毛等材质。</a:t>
            </a:r>
            <a:endParaRPr lang="en-US" altLang="zh-CN" sz="2400" dirty="0">
              <a:solidFill>
                <a:srgbClr val="6585CC"/>
              </a:solidFill>
              <a:ea typeface="FZLanTingHeiS-DB-GB" pitchFamily="2" charset="-122"/>
            </a:endParaRPr>
          </a:p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rgbClr val="6585CC"/>
                </a:solidFill>
                <a:ea typeface="FZLanTingHeiS-DB-GB" pitchFamily="2" charset="-122"/>
              </a:rPr>
              <a:t>实际仿造时考虑适当简化。</a:t>
            </a:r>
            <a:endParaRPr lang="en-US" altLang="zh-CN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1" y="1996209"/>
            <a:ext cx="5183239" cy="4428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768351" y="1350434"/>
            <a:ext cx="8272410" cy="896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少女前线</a:t>
            </a:r>
            <a:r>
              <a:rPr lang="en-US" altLang="zh-CN" sz="2400" dirty="0"/>
              <a:t>2</a:t>
            </a:r>
            <a:r>
              <a:rPr lang="zh-CN" altLang="en-US" sz="2400" dirty="0"/>
              <a:t>追放，材质在卡渲基础上叠加</a:t>
            </a:r>
            <a:r>
              <a:rPr lang="en-US" altLang="zh-CN" sz="2400" dirty="0" err="1"/>
              <a:t>pbr</a:t>
            </a:r>
            <a:r>
              <a:rPr lang="zh-CN" altLang="en-US" sz="2400" dirty="0"/>
              <a:t>，画面质感更优</a:t>
            </a:r>
            <a:endParaRPr lang="zh-CN" altLang="en-US" sz="2400" dirty="0"/>
          </a:p>
        </p:txBody>
      </p:sp>
      <p:sp>
        <p:nvSpPr>
          <p:cNvPr id="7173" name="Text 3"/>
          <p:cNvSpPr>
            <a:spLocks noChangeArrowheads="1"/>
          </p:cNvSpPr>
          <p:nvPr/>
        </p:nvSpPr>
        <p:spPr bwMode="auto">
          <a:xfrm>
            <a:off x="8214852" y="2246932"/>
            <a:ext cx="3204941" cy="3422649"/>
          </a:xfrm>
          <a:prstGeom prst="roundRect">
            <a:avLst>
              <a:gd name="adj" fmla="val 15755"/>
            </a:avLst>
          </a:prstGeom>
          <a:solidFill>
            <a:srgbClr val="A5C9F8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en-US" altLang="zh-CN" sz="2400">
              <a:ea typeface="宋体" panose="02010600030101010101" pitchFamily="2" charset="-122"/>
            </a:endParaRPr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en-US" alt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Npr+pbr</a:t>
            </a:r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渲染</a:t>
            </a:r>
            <a:endParaRPr lang="en-US" altLang="zh-CN" sz="4800" dirty="0"/>
          </a:p>
        </p:txBody>
      </p:sp>
      <p:sp>
        <p:nvSpPr>
          <p:cNvPr id="7183" name="Text 11"/>
          <p:cNvSpPr>
            <a:spLocks noChangeArrowheads="1"/>
          </p:cNvSpPr>
          <p:nvPr/>
        </p:nvSpPr>
        <p:spPr bwMode="auto">
          <a:xfrm>
            <a:off x="8347587" y="2551471"/>
            <a:ext cx="2923666" cy="2610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2600"/>
              </a:lnSpc>
            </a:pPr>
            <a:r>
              <a:rPr lang="zh-CN" altLang="en-US" sz="2400" dirty="0">
                <a:solidFill>
                  <a:srgbClr val="6585CC"/>
                </a:solidFill>
                <a:ea typeface="FZLanTingHeiS-DB-GB" pitchFamily="2" charset="-122"/>
              </a:rPr>
              <a:t>希望以此为基础制作统一的场景物体材质，构建不突兀的，自然的画面表现</a:t>
            </a:r>
            <a:endParaRPr lang="en-US" altLang="zh-CN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1" y="1996209"/>
            <a:ext cx="5183239" cy="4428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768351" y="1350433"/>
            <a:ext cx="6546849" cy="3398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角色在打棒球的过程中，需要经常性的上下身执行不同动作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如上半身在握球棒，下半身在跑步，</a:t>
            </a:r>
            <a:endParaRPr lang="en-US" altLang="zh-CN" sz="2400" dirty="0"/>
          </a:p>
          <a:p>
            <a:pPr eaLnBrk="1" hangingPunct="1"/>
            <a:r>
              <a:rPr lang="zh-CN" altLang="en-US" sz="2400" dirty="0"/>
              <a:t>考虑如此，使用</a:t>
            </a:r>
            <a:r>
              <a:rPr lang="en-US" altLang="zh-CN" sz="2400" dirty="0"/>
              <a:t>unity</a:t>
            </a:r>
            <a:r>
              <a:rPr lang="zh-CN" altLang="en-US" sz="2400" dirty="0"/>
              <a:t>的动画分层混合</a:t>
            </a:r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r>
              <a:rPr lang="zh-CN" altLang="en-US" sz="2400" dirty="0"/>
              <a:t>上下两个半身分别执行两个动画</a:t>
            </a:r>
            <a:endParaRPr lang="zh-CN" altLang="en-US" sz="2400" dirty="0"/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zh-CN" altLang="en-US" sz="4800" dirty="0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上下身动作混合</a:t>
            </a:r>
            <a:endParaRPr lang="en-US" altLang="zh-CN" sz="4800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435" y="1859933"/>
            <a:ext cx="4362450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>
            <a:spLocks noChangeArrowheads="1"/>
          </p:cNvSpPr>
          <p:nvPr/>
        </p:nvSpPr>
        <p:spPr bwMode="auto">
          <a:xfrm>
            <a:off x="845821" y="4000288"/>
            <a:ext cx="6546849" cy="3398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角色动画预期以网络下载为主，尽量选择免费的，无版权风险的动画文件</a:t>
            </a:r>
            <a:endParaRPr lang="zh-CN" alt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WPS 演示</Application>
  <PresentationFormat>宽屏</PresentationFormat>
  <Paragraphs>40</Paragraphs>
  <Slides>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等线</vt:lpstr>
      <vt:lpstr>FZRuiZhengHeiS-EB-GB</vt:lpstr>
      <vt:lpstr>FZLanTingHeiS-DB-GB</vt:lpstr>
      <vt:lpstr>微软雅黑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 shi'lin</dc:creator>
  <cp:lastModifiedBy>WPS_1601472217</cp:lastModifiedBy>
  <cp:revision>2</cp:revision>
  <dcterms:created xsi:type="dcterms:W3CDTF">2026-03-16T00:21:00Z</dcterms:created>
  <dcterms:modified xsi:type="dcterms:W3CDTF">2026-03-17T15:43:56Z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A059FFAAB23343AEAD764A446C6A8AEA_12</vt:lpwstr>
  </property>
</Properties>
</file>