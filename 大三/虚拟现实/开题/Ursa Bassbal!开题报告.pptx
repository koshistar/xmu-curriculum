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1.svg" ContentType="image/svg+xml"/>
  <Override PartName="/ppt/media/image23.svg" ContentType="image/svg+xml"/>
  <Override PartName="/ppt/media/image25.svg" ContentType="image/svg+xml"/>
  <Override PartName="/ppt/media/image3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8" r:id="rId3"/>
    <p:sldId id="258" r:id="rId4"/>
    <p:sldId id="260" r:id="rId6"/>
    <p:sldId id="280" r:id="rId7"/>
    <p:sldId id="259" r:id="rId8"/>
    <p:sldId id="256" r:id="rId9"/>
    <p:sldId id="273" r:id="rId10"/>
    <p:sldId id="261" r:id="rId11"/>
    <p:sldId id="265" r:id="rId12"/>
    <p:sldId id="266" r:id="rId13"/>
    <p:sldId id="267" r:id="rId14"/>
    <p:sldId id="271" r:id="rId15"/>
    <p:sldId id="268" r:id="rId16"/>
    <p:sldId id="257" r:id="rId17"/>
    <p:sldId id="274" r:id="rId18"/>
    <p:sldId id="275" r:id="rId19"/>
    <p:sldId id="276" r:id="rId20"/>
    <p:sldId id="277" r:id="rId21"/>
    <p:sldId id="279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413" y="62"/>
      </p:cViewPr>
      <p:guideLst>
        <p:guide orient="horz" pos="2160"/>
        <p:guide pos="38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19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fld id="{FF56DA85-58F4-447C-9E87-A55F806B45DC}" type="slidenum">
              <a:rPr lang="en-US" altLang="zh-CN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19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fld id="{FF56DA85-58F4-447C-9E87-A55F806B45DC}" type="slidenum">
              <a:rPr lang="en-US" altLang="zh-CN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19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fld id="{FF56DA85-58F4-447C-9E87-A55F806B45DC}" type="slidenum">
              <a:rPr lang="en-US" altLang="zh-CN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19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fld id="{FF56DA85-58F4-447C-9E87-A55F806B45DC}" type="slidenum">
              <a:rPr lang="en-US" altLang="zh-CN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6EED5-D6CA-4D6E-9778-6BAA214F21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19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fld id="{FF56DA85-58F4-447C-9E87-A55F806B45DC}" type="slidenum">
              <a:rPr lang="en-US" altLang="zh-CN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19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fld id="{FF56DA85-58F4-447C-9E87-A55F806B45DC}" type="slidenum">
              <a:rPr lang="en-US" altLang="zh-CN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19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fld id="{FF56DA85-58F4-447C-9E87-A55F806B45DC}" type="slidenum">
              <a:rPr lang="en-US" altLang="zh-CN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19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fld id="{FF56DA85-58F4-447C-9E87-A55F806B45DC}" type="slidenum">
              <a:rPr lang="en-US" altLang="zh-CN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19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fld id="{FF56DA85-58F4-447C-9E87-A55F806B45DC}" type="slidenum">
              <a:rPr lang="en-US" altLang="zh-CN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19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fld id="{FF56DA85-58F4-447C-9E87-A55F806B45DC}" type="slidenum">
              <a:rPr lang="en-US" altLang="zh-CN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19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fld id="{FF56DA85-58F4-447C-9E87-A55F806B45DC}" type="slidenum">
              <a:rPr lang="en-US" altLang="zh-CN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6EED5-D6CA-4D6E-9778-6BAA214F21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webp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.jpe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.jpe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9.jpe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jpeg"/><Relationship Id="rId8" Type="http://schemas.openxmlformats.org/officeDocument/2006/relationships/image" Target="../media/image25.svg"/><Relationship Id="rId7" Type="http://schemas.openxmlformats.org/officeDocument/2006/relationships/image" Target="../media/image24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1" Type="http://schemas.openxmlformats.org/officeDocument/2006/relationships/notesSlide" Target="../notesSlides/notesSlide12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1.xml"/><Relationship Id="rId19" Type="http://schemas.openxmlformats.org/officeDocument/2006/relationships/image" Target="../media/image32.png"/><Relationship Id="rId18" Type="http://schemas.openxmlformats.org/officeDocument/2006/relationships/image" Target="../media/image31.png"/><Relationship Id="rId17" Type="http://schemas.openxmlformats.org/officeDocument/2006/relationships/image" Target="../media/image30.png"/><Relationship Id="rId16" Type="http://schemas.microsoft.com/office/2007/relationships/media" Target="../media/audio1.wav"/><Relationship Id="rId15" Type="http://schemas.openxmlformats.org/officeDocument/2006/relationships/audio" Target="../media/audio1.wav"/><Relationship Id="rId14" Type="http://schemas.openxmlformats.org/officeDocument/2006/relationships/image" Target="../media/image29.jpeg"/><Relationship Id="rId13" Type="http://schemas.openxmlformats.org/officeDocument/2006/relationships/tags" Target="../tags/tag3.xml"/><Relationship Id="rId12" Type="http://schemas.openxmlformats.org/officeDocument/2006/relationships/image" Target="../media/image28.png"/><Relationship Id="rId11" Type="http://schemas.openxmlformats.org/officeDocument/2006/relationships/image" Target="../media/image27.jpeg"/><Relationship Id="rId10" Type="http://schemas.openxmlformats.org/officeDocument/2006/relationships/tags" Target="../tags/tag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067" y="1096455"/>
            <a:ext cx="8319865" cy="46650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4"/>
          <p:cNvSpPr>
            <a:spLocks noChangeArrowheads="1"/>
          </p:cNvSpPr>
          <p:nvPr/>
        </p:nvSpPr>
        <p:spPr bwMode="auto">
          <a:xfrm>
            <a:off x="768351" y="546101"/>
            <a:ext cx="5689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5285"/>
              </a:lnSpc>
            </a:pPr>
            <a:r>
              <a:rPr lang="zh-CN" sz="4800" dirty="0" err="1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游戏流程</a:t>
            </a:r>
            <a:endParaRPr lang="zh-CN" sz="4800" dirty="0"/>
          </a:p>
        </p:txBody>
      </p:sp>
      <p:sp>
        <p:nvSpPr>
          <p:cNvPr id="3" name="Shape 0"/>
          <p:cNvSpPr>
            <a:spLocks noChangeArrowheads="1"/>
          </p:cNvSpPr>
          <p:nvPr/>
        </p:nvSpPr>
        <p:spPr bwMode="auto">
          <a:xfrm>
            <a:off x="897890" y="1457325"/>
            <a:ext cx="856996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/>
              <a:t>1. </a:t>
            </a:r>
            <a:r>
              <a:rPr lang="zh-CN" altLang="en-US" sz="2400" dirty="0"/>
              <a:t>引导型</a:t>
            </a:r>
            <a:r>
              <a:rPr lang="en-US" altLang="zh-CN" sz="2400" dirty="0"/>
              <a:t> </a:t>
            </a:r>
            <a:r>
              <a:rPr lang="zh-CN" altLang="en-US" sz="2400" dirty="0"/>
              <a:t>跟随剧情完成教学</a:t>
            </a:r>
            <a:endParaRPr lang="zh-CN" altLang="en-US" sz="2400" dirty="0"/>
          </a:p>
        </p:txBody>
      </p:sp>
      <p:sp>
        <p:nvSpPr>
          <p:cNvPr id="14" name="Shape 0"/>
          <p:cNvSpPr>
            <a:spLocks noChangeArrowheads="1"/>
          </p:cNvSpPr>
          <p:nvPr/>
        </p:nvSpPr>
        <p:spPr bwMode="auto">
          <a:xfrm>
            <a:off x="897890" y="2498725"/>
            <a:ext cx="1064387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/>
              <a:t>2. </a:t>
            </a:r>
            <a:r>
              <a:rPr lang="zh-CN" altLang="en-US" sz="2400" dirty="0"/>
              <a:t>游玩型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eaLnBrk="1" hangingPunct="1"/>
            <a:r>
              <a:rPr lang="en-US" altLang="zh-CN" sz="2400" dirty="0"/>
              <a:t>  1. </a:t>
            </a:r>
            <a:r>
              <a:rPr lang="zh-CN" altLang="en-US" sz="2400" dirty="0"/>
              <a:t>单人模式下选择角色</a:t>
            </a:r>
            <a:r>
              <a:rPr lang="en-US" altLang="zh-CN" sz="2400" dirty="0"/>
              <a:t>-&gt;</a:t>
            </a:r>
            <a:r>
              <a:rPr lang="zh-CN" altLang="en-US" sz="2400" dirty="0"/>
              <a:t>选择位置（攻方与守方）</a:t>
            </a:r>
            <a:r>
              <a:rPr lang="en-US" altLang="zh-CN" sz="2400" dirty="0"/>
              <a:t>-&gt;</a:t>
            </a:r>
            <a:r>
              <a:rPr lang="zh-CN" altLang="en-US" sz="2400" dirty="0"/>
              <a:t>进入游戏，其余皆为</a:t>
            </a:r>
            <a:r>
              <a:rPr lang="en-US" altLang="zh-CN" sz="2400" dirty="0"/>
              <a:t>NPC</a:t>
            </a:r>
            <a:endParaRPr lang="en-US" altLang="zh-CN" sz="2400" dirty="0"/>
          </a:p>
          <a:p>
            <a:pPr eaLnBrk="1" hangingPunct="1"/>
            <a:r>
              <a:rPr lang="en-US" altLang="zh-CN" sz="2400" dirty="0"/>
              <a:t>  2. </a:t>
            </a:r>
            <a:r>
              <a:rPr lang="zh-CN" altLang="en-US" sz="2400" dirty="0"/>
              <a:t>多人模式下</a:t>
            </a:r>
            <a:r>
              <a:rPr lang="en-US" altLang="zh-CN" sz="2400" dirty="0"/>
              <a:t> </a:t>
            </a:r>
            <a:r>
              <a:rPr lang="zh-CN" altLang="en-US" sz="2400" dirty="0"/>
              <a:t>开房间</a:t>
            </a:r>
            <a:r>
              <a:rPr lang="en-US" altLang="zh-CN" sz="2400" dirty="0"/>
              <a:t>-&gt;</a:t>
            </a:r>
            <a:r>
              <a:rPr lang="zh-CN" altLang="en-US" sz="2400" dirty="0"/>
              <a:t>选择位置（每一方</a:t>
            </a:r>
            <a:r>
              <a:rPr lang="en-US" altLang="zh-CN" sz="2400" dirty="0"/>
              <a:t>9</a:t>
            </a:r>
            <a:r>
              <a:rPr lang="zh-CN" altLang="en-US" sz="2400" dirty="0"/>
              <a:t>人，不能重复选角，以及观赛者）</a:t>
            </a:r>
            <a:endParaRPr lang="zh-CN" altLang="en-US" sz="2400" dirty="0"/>
          </a:p>
          <a:p>
            <a:pPr eaLnBrk="1" hangingPunct="1"/>
            <a:r>
              <a:rPr lang="en-US" altLang="zh-CN" sz="2400" dirty="0"/>
              <a:t>-&gt;</a:t>
            </a:r>
            <a:r>
              <a:rPr lang="zh-CN" altLang="en-US" sz="2400" dirty="0"/>
              <a:t>全员就绪，进入游戏，成员不够的用</a:t>
            </a:r>
            <a:r>
              <a:rPr lang="en-US" altLang="zh-CN" sz="2400" dirty="0"/>
              <a:t>NPC</a:t>
            </a:r>
            <a:r>
              <a:rPr lang="zh-CN" altLang="en-US" sz="2400" dirty="0"/>
              <a:t>代替</a:t>
            </a:r>
            <a:endParaRPr lang="zh-CN" altLang="en-US" sz="2400" dirty="0"/>
          </a:p>
        </p:txBody>
      </p:sp>
      <p:sp>
        <p:nvSpPr>
          <p:cNvPr id="17" name="Shape 0"/>
          <p:cNvSpPr>
            <a:spLocks noChangeArrowheads="1"/>
          </p:cNvSpPr>
          <p:nvPr/>
        </p:nvSpPr>
        <p:spPr bwMode="auto">
          <a:xfrm>
            <a:off x="897890" y="4327525"/>
            <a:ext cx="1064387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/>
              <a:t>3. </a:t>
            </a:r>
            <a:r>
              <a:rPr lang="zh-CN" altLang="en-US" sz="2400" dirty="0"/>
              <a:t>训练模式</a:t>
            </a:r>
            <a:r>
              <a:rPr lang="en-US" altLang="zh-CN" sz="2400" dirty="0"/>
              <a:t> </a:t>
            </a:r>
            <a:r>
              <a:rPr lang="zh-CN" altLang="en-US" sz="2400" dirty="0"/>
              <a:t>单独场景用于训练挥棒，跑垒，投球等操作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4"/>
          <p:cNvSpPr>
            <a:spLocks noChangeArrowheads="1"/>
          </p:cNvSpPr>
          <p:nvPr/>
        </p:nvSpPr>
        <p:spPr bwMode="auto">
          <a:xfrm>
            <a:off x="768351" y="546101"/>
            <a:ext cx="5689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5285"/>
              </a:lnSpc>
            </a:pPr>
            <a:r>
              <a:rPr lang="zh-CN" sz="4800" dirty="0" err="1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角色设计</a:t>
            </a:r>
            <a:endParaRPr lang="zh-CN" sz="4800" dirty="0"/>
          </a:p>
        </p:txBody>
      </p:sp>
      <p:sp>
        <p:nvSpPr>
          <p:cNvPr id="3" name="Shape 0"/>
          <p:cNvSpPr>
            <a:spLocks noChangeArrowheads="1"/>
          </p:cNvSpPr>
          <p:nvPr/>
        </p:nvSpPr>
        <p:spPr bwMode="auto">
          <a:xfrm>
            <a:off x="768350" y="1403985"/>
            <a:ext cx="3449955" cy="5024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4400" b="1" dirty="0"/>
              <a:t>Ursa</a:t>
            </a:r>
            <a:endParaRPr lang="zh-CN" altLang="en-US" sz="4400" b="1" dirty="0"/>
          </a:p>
          <a:p>
            <a:pPr eaLnBrk="1" hangingPunct="1"/>
            <a:endParaRPr lang="zh-CN" altLang="en-US" sz="2400" dirty="0"/>
          </a:p>
          <a:p>
            <a:pPr eaLnBrk="1" hangingPunct="1"/>
            <a:r>
              <a:rPr lang="zh-CN" altLang="en-US" sz="2400" dirty="0"/>
              <a:t>拉丁语中的</a:t>
            </a:r>
            <a:r>
              <a:rPr lang="en-US" altLang="zh-CN" sz="2400" dirty="0"/>
              <a:t>“Ursa”</a:t>
            </a:r>
            <a:r>
              <a:rPr lang="zh-CN" altLang="en-US" sz="2400" dirty="0"/>
              <a:t>意为</a:t>
            </a:r>
            <a:r>
              <a:rPr lang="en-US" altLang="zh-CN" sz="2400" dirty="0"/>
              <a:t>“</a:t>
            </a:r>
            <a:r>
              <a:rPr lang="zh-CN" altLang="en-US" sz="2400" dirty="0"/>
              <a:t>母熊</a:t>
            </a:r>
            <a:r>
              <a:rPr lang="en-US" altLang="zh-CN" sz="2400" dirty="0"/>
              <a:t>”</a:t>
            </a:r>
            <a:r>
              <a:rPr lang="zh-CN" altLang="en-US" sz="2400" dirty="0"/>
              <a:t>，在天文学中通常指代</a:t>
            </a:r>
            <a:r>
              <a:rPr lang="en-US" altLang="zh-CN" sz="2400" dirty="0"/>
              <a:t>“</a:t>
            </a:r>
            <a:r>
              <a:rPr lang="zh-CN" altLang="en-US" sz="2400" dirty="0"/>
              <a:t>大熊座</a:t>
            </a:r>
            <a:r>
              <a:rPr lang="en-US" altLang="zh-CN" sz="2400" dirty="0"/>
              <a:t>”</a:t>
            </a:r>
            <a:r>
              <a:rPr lang="zh-CN" altLang="en-US" sz="2400" dirty="0"/>
              <a:t>或</a:t>
            </a:r>
            <a:r>
              <a:rPr lang="en-US" altLang="zh-CN" sz="2400" dirty="0"/>
              <a:t>“</a:t>
            </a:r>
            <a:r>
              <a:rPr lang="zh-CN" altLang="en-US" sz="2400" dirty="0"/>
              <a:t>小熊座</a:t>
            </a:r>
            <a:r>
              <a:rPr lang="en-US" altLang="zh-CN" sz="2400" dirty="0"/>
              <a:t>”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5625465" y="487680"/>
            <a:ext cx="3625850" cy="2417445"/>
          </a:xfrm>
          <a:prstGeom prst="rect">
            <a:avLst/>
          </a:prstGeom>
        </p:spPr>
      </p:pic>
      <p:sp>
        <p:nvSpPr>
          <p:cNvPr id="7" name="Shape 0"/>
          <p:cNvSpPr>
            <a:spLocks noChangeArrowheads="1"/>
          </p:cNvSpPr>
          <p:nvPr/>
        </p:nvSpPr>
        <p:spPr bwMode="auto">
          <a:xfrm>
            <a:off x="5625465" y="2905125"/>
            <a:ext cx="368871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sz="2400" dirty="0"/>
              <a:t>Ursa Major </a:t>
            </a:r>
            <a:r>
              <a:rPr lang="zh-CN" altLang="en-US" sz="2400" dirty="0"/>
              <a:t>（大熊座）</a:t>
            </a:r>
            <a:endParaRPr lang="zh-CN" altLang="en-US" sz="2400" dirty="0"/>
          </a:p>
        </p:txBody>
      </p:sp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 rot="16200000">
            <a:off x="5625465" y="3488055"/>
            <a:ext cx="2762250" cy="2870835"/>
          </a:xfrm>
          <a:prstGeom prst="rect">
            <a:avLst/>
          </a:prstGeom>
        </p:spPr>
      </p:pic>
      <p:sp>
        <p:nvSpPr>
          <p:cNvPr id="9" name="Shape 0"/>
          <p:cNvSpPr>
            <a:spLocks noChangeArrowheads="1"/>
          </p:cNvSpPr>
          <p:nvPr/>
        </p:nvSpPr>
        <p:spPr bwMode="auto">
          <a:xfrm>
            <a:off x="8444865" y="5608955"/>
            <a:ext cx="368871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sz="2400" dirty="0"/>
              <a:t>Ursa Minor </a:t>
            </a:r>
            <a:r>
              <a:rPr lang="zh-CN" altLang="en-US" sz="2400" dirty="0"/>
              <a:t>（小熊座）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4"/>
          <p:cNvSpPr>
            <a:spLocks noChangeArrowheads="1"/>
          </p:cNvSpPr>
          <p:nvPr/>
        </p:nvSpPr>
        <p:spPr bwMode="auto">
          <a:xfrm>
            <a:off x="768351" y="546101"/>
            <a:ext cx="5689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5285"/>
              </a:lnSpc>
            </a:pPr>
            <a:r>
              <a:rPr lang="zh-CN" sz="4800" dirty="0" err="1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角色设计</a:t>
            </a:r>
            <a:endParaRPr lang="zh-CN" sz="4800" dirty="0"/>
          </a:p>
        </p:txBody>
      </p:sp>
      <p:sp>
        <p:nvSpPr>
          <p:cNvPr id="3" name="Shape 0"/>
          <p:cNvSpPr>
            <a:spLocks noChangeArrowheads="1"/>
          </p:cNvSpPr>
          <p:nvPr/>
        </p:nvSpPr>
        <p:spPr bwMode="auto">
          <a:xfrm>
            <a:off x="768350" y="1403985"/>
            <a:ext cx="4934585" cy="5024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紫（</a:t>
            </a:r>
            <a:r>
              <a:rPr lang="ja-JP" altLang="en-US" sz="2400" dirty="0"/>
              <a:t>むらさき</a:t>
            </a:r>
            <a:r>
              <a:rPr lang="zh-CN" altLang="en-US" sz="2400" dirty="0"/>
              <a:t>）：主角役，吐槽役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车甫（</a:t>
            </a:r>
            <a:r>
              <a:rPr lang="ja-JP" altLang="en-US" sz="2400" dirty="0"/>
              <a:t>くるまふ</a:t>
            </a:r>
            <a:r>
              <a:rPr lang="zh-CN" altLang="en-US" sz="2400" dirty="0"/>
              <a:t>）：引导役，傻子</a:t>
            </a:r>
            <a:r>
              <a:rPr lang="en-US" altLang="zh-CN" sz="2400" dirty="0"/>
              <a:t> 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秀树（</a:t>
            </a:r>
            <a:r>
              <a:rPr lang="ja-JP" altLang="en-US" sz="2400" dirty="0"/>
              <a:t>しゅうき</a:t>
            </a:r>
            <a:r>
              <a:rPr lang="zh-CN" altLang="en-US" sz="2400" dirty="0"/>
              <a:t>）：大哥役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玉（</a:t>
            </a:r>
            <a:r>
              <a:rPr lang="ja-JP" altLang="en-US" sz="2400" dirty="0"/>
              <a:t>たま</a:t>
            </a:r>
            <a:r>
              <a:rPr lang="zh-CN" altLang="en-US" sz="2400" dirty="0"/>
              <a:t>）：团宠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真珠（</a:t>
            </a:r>
            <a:r>
              <a:rPr lang="ja-JP" altLang="en-US" sz="2400" dirty="0"/>
              <a:t>しんじゅ</a:t>
            </a:r>
            <a:r>
              <a:rPr lang="zh-CN" altLang="en-US" sz="2400" dirty="0"/>
              <a:t>）：毒舌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秤（</a:t>
            </a:r>
            <a:r>
              <a:rPr lang="ja-JP" altLang="en-US" sz="2400" dirty="0"/>
              <a:t>はかり</a:t>
            </a:r>
            <a:r>
              <a:rPr lang="zh-CN" altLang="en-US" sz="2400" dirty="0"/>
              <a:t>）：三无役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准（</a:t>
            </a:r>
            <a:r>
              <a:rPr lang="ja-JP" altLang="en-US" sz="2400" dirty="0"/>
              <a:t>じゅん</a:t>
            </a:r>
            <a:r>
              <a:rPr lang="zh-CN" altLang="en-US" sz="2400" dirty="0"/>
              <a:t>）：自恋役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向阳（</a:t>
            </a:r>
            <a:r>
              <a:rPr lang="ja-JP" altLang="en-US" sz="2400" dirty="0"/>
              <a:t>ひまわり</a:t>
            </a:r>
            <a:r>
              <a:rPr lang="zh-CN" altLang="en-US" sz="2400" dirty="0"/>
              <a:t>）：阳角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瑶光（</a:t>
            </a:r>
            <a:r>
              <a:rPr lang="ja-JP" altLang="en-US" sz="2400" dirty="0"/>
              <a:t>ゆかり</a:t>
            </a:r>
            <a:r>
              <a:rPr lang="zh-CN" altLang="en-US" sz="2400" dirty="0"/>
              <a:t>）：社恐</a:t>
            </a:r>
            <a:endParaRPr lang="zh-CN" altLang="en-US" sz="2400" dirty="0"/>
          </a:p>
        </p:txBody>
      </p:sp>
      <p:sp>
        <p:nvSpPr>
          <p:cNvPr id="2" name="Shape 0"/>
          <p:cNvSpPr>
            <a:spLocks noChangeArrowheads="1"/>
          </p:cNvSpPr>
          <p:nvPr/>
        </p:nvSpPr>
        <p:spPr bwMode="auto">
          <a:xfrm>
            <a:off x="7582535" y="1403985"/>
            <a:ext cx="368871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sz="2400" dirty="0"/>
              <a:t>9</a:t>
            </a:r>
            <a:r>
              <a:rPr lang="zh-CN" altLang="en-US" sz="2400" dirty="0"/>
              <a:t>人棒球队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投手：</a:t>
            </a:r>
            <a:r>
              <a:rPr lang="en-US" altLang="zh-CN" sz="2400" dirty="0"/>
              <a:t> </a:t>
            </a:r>
            <a:r>
              <a:rPr lang="zh-CN" altLang="en-US" sz="2400" dirty="0"/>
              <a:t>车甫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捕手：秀树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一垒：秤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二垒：玉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三垒：真珠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游击手：准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左外野：向阳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中外野：紫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右外野：瑶光</a:t>
            </a:r>
            <a:endParaRPr lang="zh-CN" altLang="en-US" sz="2400" dirty="0"/>
          </a:p>
          <a:p>
            <a:pPr eaLnBrk="1" hangingPunct="1"/>
            <a:endParaRPr lang="zh-CN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4"/>
          <p:cNvSpPr>
            <a:spLocks noChangeArrowheads="1"/>
          </p:cNvSpPr>
          <p:nvPr/>
        </p:nvSpPr>
        <p:spPr bwMode="auto">
          <a:xfrm>
            <a:off x="768351" y="546101"/>
            <a:ext cx="5689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5285"/>
              </a:lnSpc>
            </a:pPr>
            <a:r>
              <a:rPr lang="zh-CN" sz="4800" dirty="0" err="1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故事板设计</a:t>
            </a:r>
            <a:endParaRPr lang="zh-CN" sz="4800" dirty="0"/>
          </a:p>
        </p:txBody>
      </p:sp>
      <p:sp>
        <p:nvSpPr>
          <p:cNvPr id="3" name="Shape 0"/>
          <p:cNvSpPr>
            <a:spLocks noChangeArrowheads="1"/>
          </p:cNvSpPr>
          <p:nvPr/>
        </p:nvSpPr>
        <p:spPr bwMode="auto">
          <a:xfrm>
            <a:off x="768350" y="2171700"/>
            <a:ext cx="317309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采用紫</a:t>
            </a:r>
            <a:r>
              <a:rPr lang="zh-CN" altLang="en-US" sz="2400" b="1" dirty="0"/>
              <a:t>第一人称</a:t>
            </a:r>
            <a:r>
              <a:rPr lang="zh-CN" altLang="en-US" sz="2400" dirty="0"/>
              <a:t>叙事</a:t>
            </a:r>
            <a:endParaRPr lang="zh-CN" altLang="en-US" sz="2400" dirty="0"/>
          </a:p>
          <a:p>
            <a:pPr eaLnBrk="1" hangingPunct="1"/>
            <a:endParaRPr lang="zh-CN" altLang="en-US" sz="2400" dirty="0"/>
          </a:p>
          <a:p>
            <a:pPr eaLnBrk="1" hangingPunct="1"/>
            <a:r>
              <a:rPr lang="zh-CN" altLang="en-US" sz="2400" dirty="0"/>
              <a:t>游戏进度由</a:t>
            </a:r>
            <a:r>
              <a:rPr lang="zh-CN" altLang="en-US" sz="2400" b="1" dirty="0"/>
              <a:t>配音</a:t>
            </a:r>
            <a:r>
              <a:rPr lang="zh-CN" altLang="en-US" sz="2400" dirty="0"/>
              <a:t>自动播放进度来推进</a:t>
            </a:r>
            <a:endParaRPr lang="zh-CN" altLang="en-US" sz="2400" dirty="0"/>
          </a:p>
        </p:txBody>
      </p:sp>
      <p:pic>
        <p:nvPicPr>
          <p:cNvPr id="11" name="图片 10" descr="tmp1D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805" y="0"/>
            <a:ext cx="6301105" cy="6858000"/>
          </a:xfrm>
          <a:prstGeom prst="rect">
            <a:avLst/>
          </a:prstGeom>
        </p:spPr>
      </p:pic>
      <p:sp>
        <p:nvSpPr>
          <p:cNvPr id="2" name="Shape 0"/>
          <p:cNvSpPr>
            <a:spLocks noChangeArrowheads="1"/>
          </p:cNvSpPr>
          <p:nvPr/>
        </p:nvSpPr>
        <p:spPr bwMode="auto">
          <a:xfrm>
            <a:off x="768350" y="4402455"/>
            <a:ext cx="368871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投接球</a:t>
            </a:r>
            <a:r>
              <a:rPr lang="en-US" altLang="zh-CN" sz="2400" dirty="0"/>
              <a:t>-&gt;</a:t>
            </a:r>
            <a:r>
              <a:rPr lang="zh-CN" altLang="en-US" sz="2400" dirty="0"/>
              <a:t>挥棒</a:t>
            </a:r>
            <a:r>
              <a:rPr lang="en-US" altLang="zh-CN" sz="2400" dirty="0"/>
              <a:t>-&gt;</a:t>
            </a:r>
            <a:r>
              <a:rPr lang="zh-CN" altLang="en-US" sz="2400" dirty="0"/>
              <a:t>跑垒</a:t>
            </a:r>
            <a:r>
              <a:rPr lang="en-US" altLang="zh-CN" sz="2400" dirty="0"/>
              <a:t>-&gt;</a:t>
            </a:r>
            <a:r>
              <a:rPr lang="zh-CN" altLang="en-US" sz="2400" dirty="0"/>
              <a:t>竞技</a:t>
            </a: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850" y="-43815"/>
            <a:ext cx="540893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00445" y="391886"/>
            <a:ext cx="3985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按照国际标准搭建的</a:t>
            </a:r>
            <a:r>
              <a:rPr lang="en-US" altLang="zh-CN" dirty="0"/>
              <a:t>1:1</a:t>
            </a:r>
            <a:r>
              <a:rPr lang="zh-CN" altLang="en-US" dirty="0"/>
              <a:t>棒球场</a:t>
            </a:r>
            <a:endParaRPr lang="en-US" altLang="zh-CN" dirty="0"/>
          </a:p>
          <a:p>
            <a:r>
              <a:rPr lang="zh-CN" altLang="en-US" dirty="0"/>
              <a:t>参考文件：</a:t>
            </a:r>
            <a:r>
              <a:rPr lang="en-US" altLang="zh-CN" dirty="0"/>
              <a:t>WBSC2025-2026</a:t>
            </a:r>
            <a:r>
              <a:rPr lang="zh-CN" altLang="en-US" dirty="0"/>
              <a:t>年棒球官方规则</a:t>
            </a:r>
            <a:r>
              <a:rPr lang="en-US" altLang="zh-CN" dirty="0"/>
              <a:t>P198-p210.Diagram D1-D4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13" y="1528355"/>
            <a:ext cx="5578487" cy="370331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606" y="3553764"/>
            <a:ext cx="4898342" cy="312572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6545" y="447184"/>
            <a:ext cx="3494315" cy="298181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17513" y="5715281"/>
            <a:ext cx="3553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外围建筑及材质调整</a:t>
            </a:r>
            <a:r>
              <a:rPr lang="en-US" altLang="zh-CN" sz="1400" dirty="0" err="1"/>
              <a:t>ing</a:t>
            </a:r>
            <a:r>
              <a:rPr lang="en-US" altLang="zh-CN" sz="1400" dirty="0"/>
              <a:t>……</a:t>
            </a:r>
            <a:endParaRPr lang="en-US" altLang="zh-CN" sz="1400" dirty="0"/>
          </a:p>
          <a:p>
            <a:r>
              <a:rPr lang="zh-CN" altLang="en-US" sz="1400" dirty="0"/>
              <a:t>仅作效果参考</a:t>
            </a:r>
            <a:endParaRPr lang="zh-CN" altLang="en-US" sz="1400" dirty="0"/>
          </a:p>
        </p:txBody>
      </p:sp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34669" y="153749"/>
            <a:ext cx="320444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UI设计</a:t>
            </a:r>
            <a:endParaRPr lang="zh-CN" altLang="en-US" sz="28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3393" y="676969"/>
            <a:ext cx="8002778" cy="225992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2781" y="1536700"/>
            <a:ext cx="2222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游戏主要流程</a:t>
            </a:r>
            <a:endParaRPr lang="en-US" altLang="zh-CN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涉及界面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67" y="3723142"/>
            <a:ext cx="4490973" cy="252165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686" y="3222376"/>
            <a:ext cx="5032229" cy="3578474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075" y="3429000"/>
            <a:ext cx="4443159" cy="31595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881" y="3530279"/>
            <a:ext cx="4158308" cy="2957019"/>
          </a:xfrm>
          <a:prstGeom prst="rect">
            <a:avLst/>
          </a:prstGeom>
        </p:spPr>
      </p:pic>
      <p:cxnSp>
        <p:nvCxnSpPr>
          <p:cNvPr id="26" name="直接箭头连接符 25"/>
          <p:cNvCxnSpPr/>
          <p:nvPr/>
        </p:nvCxnSpPr>
        <p:spPr>
          <a:xfrm flipH="1">
            <a:off x="2220686" y="1536700"/>
            <a:ext cx="2141764" cy="1993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H="1">
            <a:off x="4819650" y="2838450"/>
            <a:ext cx="1187450" cy="768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>
            <a:off x="7004050" y="2838450"/>
            <a:ext cx="889000" cy="768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8286750" y="1587500"/>
            <a:ext cx="1885950" cy="1942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93067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/>
          <p:cNvSpPr>
            <a:spLocks noChangeArrowheads="1"/>
          </p:cNvSpPr>
          <p:nvPr/>
        </p:nvSpPr>
        <p:spPr bwMode="auto">
          <a:xfrm>
            <a:off x="768351" y="1350434"/>
            <a:ext cx="8272410" cy="896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以碧蓝幻想</a:t>
            </a:r>
            <a:r>
              <a:rPr lang="en-US" altLang="zh-CN" sz="2400" dirty="0"/>
              <a:t>vs</a:t>
            </a:r>
            <a:r>
              <a:rPr lang="zh-CN" altLang="en-US" sz="2400" dirty="0"/>
              <a:t>为例，角色身上的金属铠甲需要更锐利更明显的金属高光和阴影，单用卡通渲染不能保证表现</a:t>
            </a:r>
            <a:endParaRPr lang="zh-CN" altLang="en-US" sz="2400" dirty="0"/>
          </a:p>
        </p:txBody>
      </p:sp>
      <p:sp>
        <p:nvSpPr>
          <p:cNvPr id="7173" name="Text 3"/>
          <p:cNvSpPr>
            <a:spLocks noChangeArrowheads="1"/>
          </p:cNvSpPr>
          <p:nvPr/>
        </p:nvSpPr>
        <p:spPr bwMode="auto">
          <a:xfrm>
            <a:off x="8943293" y="2246932"/>
            <a:ext cx="2476500" cy="3422649"/>
          </a:xfrm>
          <a:prstGeom prst="roundRect">
            <a:avLst>
              <a:gd name="adj" fmla="val 15755"/>
            </a:avLst>
          </a:prstGeom>
          <a:solidFill>
            <a:srgbClr val="A5C9F8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</p:txBody>
      </p:sp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4"/>
          <p:cNvSpPr>
            <a:spLocks noChangeArrowheads="1"/>
          </p:cNvSpPr>
          <p:nvPr/>
        </p:nvSpPr>
        <p:spPr bwMode="auto">
          <a:xfrm>
            <a:off x="768351" y="546101"/>
            <a:ext cx="5689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5285"/>
              </a:lnSpc>
            </a:pPr>
            <a:r>
              <a:rPr lang="en-US" altLang="zh-CN" sz="4800" dirty="0" err="1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Npr+pbr</a:t>
            </a:r>
            <a:r>
              <a:rPr lang="zh-CN" altLang="en-US" sz="4800" dirty="0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渲染</a:t>
            </a:r>
            <a:endParaRPr lang="en-US" altLang="zh-CN" sz="4800" dirty="0"/>
          </a:p>
        </p:txBody>
      </p:sp>
      <p:sp>
        <p:nvSpPr>
          <p:cNvPr id="7183" name="Text 11"/>
          <p:cNvSpPr>
            <a:spLocks noChangeArrowheads="1"/>
          </p:cNvSpPr>
          <p:nvPr/>
        </p:nvSpPr>
        <p:spPr bwMode="auto">
          <a:xfrm>
            <a:off x="9146493" y="2551471"/>
            <a:ext cx="2124759" cy="2610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2600"/>
              </a:lnSpc>
            </a:pPr>
            <a:r>
              <a:rPr lang="zh-CN" altLang="en-US" sz="2400" dirty="0">
                <a:solidFill>
                  <a:srgbClr val="6585CC"/>
                </a:solidFill>
                <a:latin typeface="FZLanTingHeiS-DB-GB" pitchFamily="2" charset="-122"/>
                <a:ea typeface="FZLanTingHeiS-DB-GB" pitchFamily="2" charset="-122"/>
              </a:rPr>
              <a:t>卡渲结合基于物理渲染，制作统一材质球</a:t>
            </a:r>
            <a:endParaRPr lang="en-US" altLang="zh-CN" sz="24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91" y="2246932"/>
            <a:ext cx="6829117" cy="410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/>
          <p:cNvSpPr>
            <a:spLocks noChangeArrowheads="1"/>
          </p:cNvSpPr>
          <p:nvPr/>
        </p:nvSpPr>
        <p:spPr bwMode="auto">
          <a:xfrm>
            <a:off x="768351" y="1350434"/>
            <a:ext cx="8272410" cy="896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图中白色部分更适合基于物理渲染，表现真实材质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塑料衣服、金属、塑料扣子</a:t>
            </a:r>
            <a:endParaRPr lang="zh-CN" altLang="en-US" sz="2400" dirty="0"/>
          </a:p>
        </p:txBody>
      </p:sp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4"/>
          <p:cNvSpPr>
            <a:spLocks noChangeArrowheads="1"/>
          </p:cNvSpPr>
          <p:nvPr/>
        </p:nvSpPr>
        <p:spPr bwMode="auto">
          <a:xfrm>
            <a:off x="768351" y="546101"/>
            <a:ext cx="5689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5285"/>
              </a:lnSpc>
            </a:pPr>
            <a:r>
              <a:rPr lang="en-US" altLang="zh-CN" sz="4800" dirty="0" err="1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Npr+pbr</a:t>
            </a:r>
            <a:r>
              <a:rPr lang="zh-CN" altLang="en-US" sz="4800" dirty="0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渲染</a:t>
            </a:r>
            <a:endParaRPr lang="en-US" altLang="zh-CN" sz="4800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952" y="2246932"/>
            <a:ext cx="79248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/>
          <p:cNvSpPr>
            <a:spLocks noChangeArrowheads="1"/>
          </p:cNvSpPr>
          <p:nvPr/>
        </p:nvSpPr>
        <p:spPr bwMode="auto">
          <a:xfrm>
            <a:off x="768351" y="1350434"/>
            <a:ext cx="8272410" cy="896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/>
              <a:t>Pbr</a:t>
            </a:r>
            <a:r>
              <a:rPr lang="zh-CN" altLang="en-US" sz="2400" dirty="0"/>
              <a:t>材质表现更好，但</a:t>
            </a:r>
            <a:r>
              <a:rPr lang="en-US" altLang="zh-CN" sz="2400" dirty="0" err="1"/>
              <a:t>npr</a:t>
            </a:r>
            <a:r>
              <a:rPr lang="zh-CN" altLang="en-US" sz="2400" dirty="0"/>
              <a:t>卡通材质作为渲染基底</a:t>
            </a:r>
            <a:endParaRPr lang="zh-CN" altLang="en-US" sz="2400" dirty="0"/>
          </a:p>
        </p:txBody>
      </p:sp>
      <p:sp>
        <p:nvSpPr>
          <p:cNvPr id="7173" name="Text 3"/>
          <p:cNvSpPr>
            <a:spLocks noChangeArrowheads="1"/>
          </p:cNvSpPr>
          <p:nvPr/>
        </p:nvSpPr>
        <p:spPr bwMode="auto">
          <a:xfrm>
            <a:off x="8943293" y="2246932"/>
            <a:ext cx="2476500" cy="3422649"/>
          </a:xfrm>
          <a:prstGeom prst="roundRect">
            <a:avLst>
              <a:gd name="adj" fmla="val 15755"/>
            </a:avLst>
          </a:prstGeom>
          <a:solidFill>
            <a:srgbClr val="A5C9F8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</p:txBody>
      </p:sp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4"/>
          <p:cNvSpPr>
            <a:spLocks noChangeArrowheads="1"/>
          </p:cNvSpPr>
          <p:nvPr/>
        </p:nvSpPr>
        <p:spPr bwMode="auto">
          <a:xfrm>
            <a:off x="768351" y="546101"/>
            <a:ext cx="5689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5285"/>
              </a:lnSpc>
            </a:pPr>
            <a:r>
              <a:rPr lang="en-US" altLang="zh-CN" sz="4800" dirty="0" err="1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Npr+pbr</a:t>
            </a:r>
            <a:r>
              <a:rPr lang="zh-CN" altLang="en-US" sz="4800" dirty="0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渲染</a:t>
            </a:r>
            <a:endParaRPr lang="en-US" altLang="zh-CN" sz="4800" dirty="0"/>
          </a:p>
        </p:txBody>
      </p:sp>
      <p:sp>
        <p:nvSpPr>
          <p:cNvPr id="7183" name="Text 11"/>
          <p:cNvSpPr>
            <a:spLocks noChangeArrowheads="1"/>
          </p:cNvSpPr>
          <p:nvPr/>
        </p:nvSpPr>
        <p:spPr bwMode="auto">
          <a:xfrm>
            <a:off x="9146493" y="2551471"/>
            <a:ext cx="2124759" cy="2610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2600"/>
              </a:lnSpc>
            </a:pPr>
            <a:r>
              <a:rPr lang="zh-CN" altLang="en-US" sz="2400" dirty="0">
                <a:solidFill>
                  <a:srgbClr val="6585CC"/>
                </a:solidFill>
                <a:latin typeface="FZLanTingHeiS-DB-GB" pitchFamily="2" charset="-122"/>
                <a:ea typeface="FZLanTingHeiS-DB-GB" pitchFamily="2" charset="-122"/>
              </a:rPr>
              <a:t>需要结合二者，方便统一控制</a:t>
            </a:r>
            <a:endParaRPr lang="en-US" altLang="zh-CN" sz="24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1" y="2378165"/>
            <a:ext cx="7924800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/>
          <p:cNvSpPr>
            <a:spLocks noChangeArrowheads="1"/>
          </p:cNvSpPr>
          <p:nvPr/>
        </p:nvSpPr>
        <p:spPr bwMode="auto">
          <a:xfrm>
            <a:off x="768351" y="1350434"/>
            <a:ext cx="8272410" cy="896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少女前线</a:t>
            </a:r>
            <a:r>
              <a:rPr lang="en-US" altLang="zh-CN" sz="2400" dirty="0"/>
              <a:t>2</a:t>
            </a:r>
            <a:r>
              <a:rPr lang="zh-CN" altLang="en-US" sz="2400" dirty="0"/>
              <a:t>追放，材质在卡渲基础上叠加</a:t>
            </a:r>
            <a:r>
              <a:rPr lang="en-US" altLang="zh-CN" sz="2400" dirty="0" err="1"/>
              <a:t>pbr</a:t>
            </a:r>
            <a:r>
              <a:rPr lang="zh-CN" altLang="en-US" sz="2400" dirty="0"/>
              <a:t>，画面质感更优</a:t>
            </a:r>
            <a:endParaRPr lang="zh-CN" altLang="en-US" sz="2400" dirty="0"/>
          </a:p>
        </p:txBody>
      </p:sp>
      <p:sp>
        <p:nvSpPr>
          <p:cNvPr id="7173" name="Text 3"/>
          <p:cNvSpPr>
            <a:spLocks noChangeArrowheads="1"/>
          </p:cNvSpPr>
          <p:nvPr/>
        </p:nvSpPr>
        <p:spPr bwMode="auto">
          <a:xfrm>
            <a:off x="8214852" y="2246932"/>
            <a:ext cx="3204941" cy="3422649"/>
          </a:xfrm>
          <a:prstGeom prst="roundRect">
            <a:avLst>
              <a:gd name="adj" fmla="val 15755"/>
            </a:avLst>
          </a:prstGeom>
          <a:solidFill>
            <a:srgbClr val="A5C9F8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</p:txBody>
      </p:sp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4"/>
          <p:cNvSpPr>
            <a:spLocks noChangeArrowheads="1"/>
          </p:cNvSpPr>
          <p:nvPr/>
        </p:nvSpPr>
        <p:spPr bwMode="auto">
          <a:xfrm>
            <a:off x="768351" y="546101"/>
            <a:ext cx="5689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5285"/>
              </a:lnSpc>
            </a:pPr>
            <a:r>
              <a:rPr lang="en-US" altLang="zh-CN" sz="4800" dirty="0" err="1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Npr+pbr</a:t>
            </a:r>
            <a:r>
              <a:rPr lang="zh-CN" altLang="en-US" sz="4800" dirty="0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渲染</a:t>
            </a:r>
            <a:endParaRPr lang="en-US" altLang="zh-CN" sz="4800" dirty="0"/>
          </a:p>
        </p:txBody>
      </p:sp>
      <p:sp>
        <p:nvSpPr>
          <p:cNvPr id="7183" name="Text 11"/>
          <p:cNvSpPr>
            <a:spLocks noChangeArrowheads="1"/>
          </p:cNvSpPr>
          <p:nvPr/>
        </p:nvSpPr>
        <p:spPr bwMode="auto">
          <a:xfrm>
            <a:off x="8347587" y="2551471"/>
            <a:ext cx="2923666" cy="2610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2600"/>
              </a:lnSpc>
            </a:pPr>
            <a:r>
              <a:rPr lang="zh-CN" altLang="en-US" sz="2400" dirty="0">
                <a:solidFill>
                  <a:srgbClr val="6585CC"/>
                </a:solidFill>
                <a:ea typeface="FZLanTingHeiS-DB-GB" pitchFamily="2" charset="-122"/>
              </a:rPr>
              <a:t>需要区分：布料</a:t>
            </a:r>
            <a:r>
              <a:rPr lang="en-US" altLang="zh-CN" sz="2400" dirty="0">
                <a:solidFill>
                  <a:srgbClr val="6585CC"/>
                </a:solidFill>
                <a:ea typeface="FZLanTingHeiS-DB-GB" pitchFamily="2" charset="-122"/>
              </a:rPr>
              <a:t>/</a:t>
            </a:r>
            <a:r>
              <a:rPr lang="zh-CN" altLang="en-US" sz="2400" dirty="0">
                <a:solidFill>
                  <a:srgbClr val="6585CC"/>
                </a:solidFill>
                <a:ea typeface="FZLanTingHeiS-DB-GB" pitchFamily="2" charset="-122"/>
              </a:rPr>
              <a:t>皮肤、头发、面部、眼球、绒毛等材质。</a:t>
            </a:r>
            <a:endParaRPr lang="en-US" altLang="zh-CN" sz="2400" dirty="0">
              <a:solidFill>
                <a:srgbClr val="6585CC"/>
              </a:solidFill>
              <a:ea typeface="FZLanTingHeiS-DB-GB" pitchFamily="2" charset="-122"/>
            </a:endParaRPr>
          </a:p>
          <a:p>
            <a:pPr>
              <a:lnSpc>
                <a:spcPts val="2600"/>
              </a:lnSpc>
            </a:pPr>
            <a:r>
              <a:rPr lang="zh-CN" altLang="en-US" sz="2400" dirty="0">
                <a:solidFill>
                  <a:srgbClr val="6585CC"/>
                </a:solidFill>
                <a:ea typeface="FZLanTingHeiS-DB-GB" pitchFamily="2" charset="-122"/>
              </a:rPr>
              <a:t>实际仿造时考虑适当简化。</a:t>
            </a:r>
            <a:endParaRPr lang="en-US" altLang="zh-CN" sz="2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1" y="1996209"/>
            <a:ext cx="5183239" cy="4428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/>
          <p:cNvSpPr>
            <a:spLocks noChangeArrowheads="1"/>
          </p:cNvSpPr>
          <p:nvPr/>
        </p:nvSpPr>
        <p:spPr bwMode="auto">
          <a:xfrm>
            <a:off x="768351" y="1350434"/>
            <a:ext cx="8272410" cy="896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少女前线</a:t>
            </a:r>
            <a:r>
              <a:rPr lang="en-US" altLang="zh-CN" sz="2400" dirty="0"/>
              <a:t>2</a:t>
            </a:r>
            <a:r>
              <a:rPr lang="zh-CN" altLang="en-US" sz="2400" dirty="0"/>
              <a:t>追放，材质在卡渲基础上叠加</a:t>
            </a:r>
            <a:r>
              <a:rPr lang="en-US" altLang="zh-CN" sz="2400" dirty="0" err="1"/>
              <a:t>pbr</a:t>
            </a:r>
            <a:r>
              <a:rPr lang="zh-CN" altLang="en-US" sz="2400" dirty="0"/>
              <a:t>，画面质感更优</a:t>
            </a:r>
            <a:endParaRPr lang="zh-CN" altLang="en-US" sz="2400" dirty="0"/>
          </a:p>
        </p:txBody>
      </p:sp>
      <p:sp>
        <p:nvSpPr>
          <p:cNvPr id="7173" name="Text 3"/>
          <p:cNvSpPr>
            <a:spLocks noChangeArrowheads="1"/>
          </p:cNvSpPr>
          <p:nvPr/>
        </p:nvSpPr>
        <p:spPr bwMode="auto">
          <a:xfrm>
            <a:off x="8214852" y="2246932"/>
            <a:ext cx="3204941" cy="3422649"/>
          </a:xfrm>
          <a:prstGeom prst="roundRect">
            <a:avLst>
              <a:gd name="adj" fmla="val 15755"/>
            </a:avLst>
          </a:prstGeom>
          <a:solidFill>
            <a:srgbClr val="A5C9F8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</p:txBody>
      </p:sp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4"/>
          <p:cNvSpPr>
            <a:spLocks noChangeArrowheads="1"/>
          </p:cNvSpPr>
          <p:nvPr/>
        </p:nvSpPr>
        <p:spPr bwMode="auto">
          <a:xfrm>
            <a:off x="768351" y="546101"/>
            <a:ext cx="5689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5285"/>
              </a:lnSpc>
            </a:pPr>
            <a:r>
              <a:rPr lang="en-US" altLang="zh-CN" sz="4800" dirty="0" err="1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Npr+pbr</a:t>
            </a:r>
            <a:r>
              <a:rPr lang="zh-CN" altLang="en-US" sz="4800" dirty="0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渲染</a:t>
            </a:r>
            <a:endParaRPr lang="en-US" altLang="zh-CN" sz="4800" dirty="0"/>
          </a:p>
        </p:txBody>
      </p:sp>
      <p:sp>
        <p:nvSpPr>
          <p:cNvPr id="7183" name="Text 11"/>
          <p:cNvSpPr>
            <a:spLocks noChangeArrowheads="1"/>
          </p:cNvSpPr>
          <p:nvPr/>
        </p:nvSpPr>
        <p:spPr bwMode="auto">
          <a:xfrm>
            <a:off x="8347587" y="2551471"/>
            <a:ext cx="2923666" cy="2610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2600"/>
              </a:lnSpc>
            </a:pPr>
            <a:r>
              <a:rPr lang="zh-CN" altLang="en-US" sz="2400" dirty="0">
                <a:solidFill>
                  <a:srgbClr val="6585CC"/>
                </a:solidFill>
                <a:ea typeface="FZLanTingHeiS-DB-GB" pitchFamily="2" charset="-122"/>
              </a:rPr>
              <a:t>希望以此为基础制作统一的场景物体材质，构建不突兀的，自然的画面表现</a:t>
            </a:r>
            <a:endParaRPr lang="en-US" altLang="zh-CN" sz="2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1" y="1996209"/>
            <a:ext cx="5183239" cy="4428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/>
          <p:cNvSpPr>
            <a:spLocks noChangeArrowheads="1"/>
          </p:cNvSpPr>
          <p:nvPr/>
        </p:nvSpPr>
        <p:spPr bwMode="auto">
          <a:xfrm>
            <a:off x="768351" y="1350433"/>
            <a:ext cx="6546849" cy="3398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角色在打棒球的过程中，需要经常性的上下身执行不同动作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如上半身在握球棒，下半身在跑步，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考虑如此，使用</a:t>
            </a:r>
            <a:r>
              <a:rPr lang="en-US" altLang="zh-CN" sz="2400" dirty="0"/>
              <a:t>unity</a:t>
            </a:r>
            <a:r>
              <a:rPr lang="zh-CN" altLang="en-US" sz="2400" dirty="0"/>
              <a:t>的</a:t>
            </a:r>
            <a:r>
              <a:rPr lang="zh-CN" altLang="en-US" sz="2400" b="1" dirty="0"/>
              <a:t>动画分层混合</a:t>
            </a:r>
            <a:endParaRPr lang="en-US" altLang="zh-CN" sz="2400" b="1" dirty="0"/>
          </a:p>
          <a:p>
            <a:pPr eaLnBrk="1" hangingPunct="1"/>
            <a:endParaRPr lang="en-US" altLang="zh-CN" sz="2400" dirty="0"/>
          </a:p>
          <a:p>
            <a:pPr eaLnBrk="1" hangingPunct="1"/>
            <a:r>
              <a:rPr lang="zh-CN" altLang="en-US" sz="2400" dirty="0"/>
              <a:t>上下两个半身分别执行两个动画</a:t>
            </a:r>
            <a:endParaRPr lang="zh-CN" altLang="en-US" sz="2400" dirty="0"/>
          </a:p>
        </p:txBody>
      </p:sp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4"/>
          <p:cNvSpPr>
            <a:spLocks noChangeArrowheads="1"/>
          </p:cNvSpPr>
          <p:nvPr/>
        </p:nvSpPr>
        <p:spPr bwMode="auto">
          <a:xfrm>
            <a:off x="768351" y="546101"/>
            <a:ext cx="5689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5285"/>
              </a:lnSpc>
            </a:pPr>
            <a:r>
              <a:rPr lang="zh-CN" altLang="en-US" sz="4800" dirty="0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上下身动作混合</a:t>
            </a:r>
            <a:endParaRPr lang="en-US" altLang="zh-CN" sz="4800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435" y="1859933"/>
            <a:ext cx="4362450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>
            <a:spLocks noChangeArrowheads="1"/>
          </p:cNvSpPr>
          <p:nvPr/>
        </p:nvSpPr>
        <p:spPr bwMode="auto">
          <a:xfrm>
            <a:off x="768351" y="3925358"/>
            <a:ext cx="6546849" cy="3398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角色动画预期以网络下载为主，尽量选择免费的，无版权风险的动画文件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/>
          <p:cNvSpPr>
            <a:spLocks noChangeArrowheads="1"/>
          </p:cNvSpPr>
          <p:nvPr/>
        </p:nvSpPr>
        <p:spPr bwMode="auto">
          <a:xfrm>
            <a:off x="410845" y="2123440"/>
            <a:ext cx="191325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sz="2400" dirty="0"/>
              <a:t>由</a:t>
            </a:r>
            <a:r>
              <a:rPr lang="en-US" altLang="zh-CN" sz="2400" dirty="0"/>
              <a:t>RVC</a:t>
            </a:r>
            <a:r>
              <a:rPr lang="zh-CN" altLang="en-US" sz="2400" dirty="0"/>
              <a:t>和</a:t>
            </a:r>
            <a:r>
              <a:rPr lang="en-US" altLang="zh-CN" sz="2400" dirty="0"/>
              <a:t>GPT-Sovit</a:t>
            </a:r>
            <a:r>
              <a:rPr lang="zh-CN" altLang="en-US" sz="2400" dirty="0"/>
              <a:t>进行配音</a:t>
            </a:r>
            <a:endParaRPr lang="zh-CN" altLang="en-US" sz="2400" dirty="0"/>
          </a:p>
        </p:txBody>
      </p:sp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4"/>
          <p:cNvSpPr>
            <a:spLocks noChangeArrowheads="1"/>
          </p:cNvSpPr>
          <p:nvPr/>
        </p:nvSpPr>
        <p:spPr bwMode="auto">
          <a:xfrm>
            <a:off x="768351" y="546101"/>
            <a:ext cx="5689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5285"/>
              </a:lnSpc>
            </a:pPr>
            <a:r>
              <a:rPr lang="zh-CN" sz="4800" dirty="0" err="1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音乐音效工作流总览</a:t>
            </a:r>
            <a:endParaRPr lang="zh-CN" sz="4800" dirty="0"/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825" y="1417320"/>
            <a:ext cx="508000" cy="508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2825" y="3707130"/>
            <a:ext cx="502285" cy="502285"/>
          </a:xfrm>
          <a:prstGeom prst="rect">
            <a:avLst/>
          </a:prstGeom>
        </p:spPr>
      </p:pic>
      <p:sp>
        <p:nvSpPr>
          <p:cNvPr id="2" name="Shape 0"/>
          <p:cNvSpPr>
            <a:spLocks noChangeArrowheads="1"/>
          </p:cNvSpPr>
          <p:nvPr/>
        </p:nvSpPr>
        <p:spPr bwMode="auto">
          <a:xfrm>
            <a:off x="410845" y="4209415"/>
            <a:ext cx="191325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sz="2400" dirty="0"/>
              <a:t>AI</a:t>
            </a:r>
            <a:r>
              <a:rPr lang="zh-CN" altLang="en-US" sz="2400" dirty="0"/>
              <a:t>音乐生成</a:t>
            </a:r>
            <a:endParaRPr lang="zh-CN" altLang="en-US" sz="24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825" y="4857115"/>
            <a:ext cx="412750" cy="412750"/>
          </a:xfrm>
          <a:prstGeom prst="rect">
            <a:avLst/>
          </a:prstGeom>
        </p:spPr>
      </p:pic>
      <p:sp>
        <p:nvSpPr>
          <p:cNvPr id="3" name="Shape 0"/>
          <p:cNvSpPr>
            <a:spLocks noChangeArrowheads="1"/>
          </p:cNvSpPr>
          <p:nvPr/>
        </p:nvSpPr>
        <p:spPr bwMode="auto">
          <a:xfrm>
            <a:off x="410845" y="5497830"/>
            <a:ext cx="191325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sz="2400" dirty="0"/>
              <a:t>免费音乐音效库</a:t>
            </a:r>
            <a:endParaRPr lang="zh-CN" sz="24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9"/>
          <a:srcRect l="87" r="87"/>
          <a:stretch>
            <a:fillRect/>
          </a:stretch>
        </p:blipFill>
        <p:spPr>
          <a:xfrm>
            <a:off x="5541645" y="1897380"/>
            <a:ext cx="2286000" cy="1384300"/>
          </a:xfrm>
          <a:prstGeom prst="roundRect">
            <a:avLst>
              <a:gd name="adj" fmla="val 9174"/>
            </a:avLst>
          </a:prstGeom>
          <a:noFill/>
          <a:ln w="12700" cap="flat" cmpd="sng">
            <a:solidFill>
              <a:srgbClr val="4A90E2">
                <a:alpha val="50000"/>
              </a:srgbClr>
            </a:solidFill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419" r="419"/>
          <a:stretch>
            <a:fillRect/>
          </a:stretch>
        </p:blipFill>
        <p:spPr>
          <a:xfrm>
            <a:off x="5922645" y="3975735"/>
            <a:ext cx="1661795" cy="89344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Shape 0"/>
          <p:cNvSpPr>
            <a:spLocks noChangeArrowheads="1"/>
          </p:cNvSpPr>
          <p:nvPr/>
        </p:nvSpPr>
        <p:spPr bwMode="auto">
          <a:xfrm>
            <a:off x="5476240" y="5380355"/>
            <a:ext cx="235077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sz="2400" dirty="0"/>
              <a:t>传统音乐宿主软件进行改编、调音等</a:t>
            </a:r>
            <a:endParaRPr lang="zh-CN" sz="2400" dirty="0"/>
          </a:p>
        </p:txBody>
      </p:sp>
      <p:pic>
        <p:nvPicPr>
          <p:cNvPr id="7" name="图片 6" descr="tmp59C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16060" y="1417320"/>
            <a:ext cx="2343150" cy="2009775"/>
          </a:xfrm>
          <a:prstGeom prst="rect">
            <a:avLst/>
          </a:prstGeom>
        </p:spPr>
      </p:pic>
      <p:sp>
        <p:nvSpPr>
          <p:cNvPr id="8" name="Shape 0"/>
          <p:cNvSpPr>
            <a:spLocks noChangeArrowheads="1"/>
          </p:cNvSpPr>
          <p:nvPr/>
        </p:nvSpPr>
        <p:spPr bwMode="auto">
          <a:xfrm>
            <a:off x="9116060" y="3702685"/>
            <a:ext cx="235077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/>
              <a:t>Wwise</a:t>
            </a:r>
            <a:r>
              <a:rPr lang="zh-CN" altLang="en-US" sz="2400" dirty="0"/>
              <a:t>中间件进行声音集成</a:t>
            </a:r>
            <a:endParaRPr lang="zh-CN" altLang="en-US" sz="2400" dirty="0"/>
          </a:p>
        </p:txBody>
      </p:sp>
      <p:pic>
        <p:nvPicPr>
          <p:cNvPr id="26" name="Picture 26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t="342" b="342"/>
          <a:stretch>
            <a:fillRect/>
          </a:stretch>
        </p:blipFill>
        <p:spPr>
          <a:xfrm>
            <a:off x="8696960" y="4905375"/>
            <a:ext cx="2762250" cy="100139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0" name="yakyu_ruka">
            <a:hlinkClick r:id="" action="ppaction://media"/>
          </p:cNvPr>
          <p:cNvPicPr/>
          <p:nvPr>
            <a:audioFile r:link="rId15"/>
            <p:extLst>
              <p:ext uri="{DAA4B4D4-6D71-4841-9C94-3DE7FCFB9230}">
                <p14:media xmlns:p14="http://schemas.microsoft.com/office/powerpoint/2010/main" r:embed="rId16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1911350" y="1581785"/>
            <a:ext cx="412750" cy="412750"/>
          </a:xfrm>
          <a:prstGeom prst="rect">
            <a:avLst/>
          </a:prstGeom>
        </p:spPr>
      </p:pic>
      <p:pic>
        <p:nvPicPr>
          <p:cNvPr id="11" name="图片 10" descr="logo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63775" y="2162810"/>
            <a:ext cx="2958465" cy="1485900"/>
          </a:xfrm>
          <a:prstGeom prst="rect">
            <a:avLst/>
          </a:prstGeom>
        </p:spPr>
      </p:pic>
      <p:sp>
        <p:nvSpPr>
          <p:cNvPr id="12" name="Shape 0"/>
          <p:cNvSpPr>
            <a:spLocks noChangeArrowheads="1"/>
          </p:cNvSpPr>
          <p:nvPr/>
        </p:nvSpPr>
        <p:spPr bwMode="auto">
          <a:xfrm>
            <a:off x="2315210" y="3654425"/>
            <a:ext cx="28067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开源项目</a:t>
            </a:r>
            <a:r>
              <a:rPr lang="en-US" altLang="zh-CN" sz="2400" dirty="0"/>
              <a:t>MSST</a:t>
            </a:r>
            <a:r>
              <a:rPr lang="zh-CN" altLang="en-US" sz="2400" dirty="0"/>
              <a:t>分离人身、和声、混响</a:t>
            </a:r>
            <a:endParaRPr lang="zh-CN" altLang="en-US" sz="2400" dirty="0"/>
          </a:p>
        </p:txBody>
      </p:sp>
      <p:pic>
        <p:nvPicPr>
          <p:cNvPr id="14" name="图片 13" descr="app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48610" y="4478655"/>
            <a:ext cx="1599565" cy="1410970"/>
          </a:xfrm>
          <a:prstGeom prst="rect">
            <a:avLst/>
          </a:prstGeom>
        </p:spPr>
      </p:pic>
      <p:sp>
        <p:nvSpPr>
          <p:cNvPr id="17" name="Shape 0"/>
          <p:cNvSpPr>
            <a:spLocks noChangeArrowheads="1"/>
          </p:cNvSpPr>
          <p:nvPr/>
        </p:nvSpPr>
        <p:spPr bwMode="auto">
          <a:xfrm>
            <a:off x="2183130" y="5852160"/>
            <a:ext cx="28067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开源项目</a:t>
            </a:r>
            <a:r>
              <a:rPr lang="en-US" altLang="zh-CN" sz="2400" dirty="0"/>
              <a:t>roformer</a:t>
            </a:r>
            <a:r>
              <a:rPr lang="zh-CN" altLang="en-US" sz="2400" dirty="0"/>
              <a:t>分离音轨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90000">
                <p:cTn id="45" fill="hold" display="1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7170" grpId="0"/>
      <p:bldP spid="7170" grpId="1"/>
      <p:bldP spid="2" grpId="0"/>
      <p:bldP spid="2" grpId="1"/>
      <p:bldP spid="3" grpId="0"/>
      <p:bldP spid="3" grpId="1"/>
      <p:bldP spid="4" grpId="0"/>
      <p:bldP spid="4" grpId="1"/>
      <p:bldP spid="8" grpId="0"/>
      <p:bldP spid="8" grpId="1"/>
      <p:bldP spid="12" grpId="0"/>
      <p:bldP spid="12" grpId="1"/>
      <p:bldP spid="17" grpId="0"/>
      <p:bldP spid="1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34669" y="221694"/>
            <a:ext cx="320444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游戏机制</a:t>
            </a:r>
            <a:endParaRPr lang="zh-CN" altLang="en-US" sz="28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1882553" y="1577901"/>
            <a:ext cx="3806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投球系统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手柄识别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882552" y="2067367"/>
            <a:ext cx="3211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击球系统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真实碰撞箱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882553" y="2689541"/>
            <a:ext cx="3806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跑垒系统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方向指向跑垒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882552" y="3311715"/>
            <a:ext cx="4047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防守接球系统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手套模型吸附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882552" y="3981039"/>
            <a:ext cx="3522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机器人系统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——AI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自动控制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886097" y="4650363"/>
            <a:ext cx="3377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剧情教学系统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动作影像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7022" y="279400"/>
            <a:ext cx="4047460" cy="6299199"/>
          </a:xfrm>
          <a:prstGeom prst="rect">
            <a:avLst/>
          </a:prstGeom>
        </p:spPr>
      </p:pic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93067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34669" y="153749"/>
            <a:ext cx="320444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游戏机制</a:t>
            </a:r>
            <a:endParaRPr lang="zh-CN" altLang="en-US" sz="28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333153" y="1127051"/>
            <a:ext cx="3806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投球系统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手柄识别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897524" y="1127051"/>
            <a:ext cx="3211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击球系统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真实碰撞箱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333153" y="3772679"/>
            <a:ext cx="3806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跑垒系统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方向指向跑垒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333153" y="1623299"/>
            <a:ext cx="3948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通过检测玩家的手柄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IMU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，手柄的按键，手腕的角度，来决定球的球种和球路。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975498" y="1694121"/>
            <a:ext cx="40049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通过检测玩家手柄的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IMU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，从而得到玩家在游戏当中挥出虚拟棒球棒的力度和角度，从而能够进行棒球棒和棒球的实时碰撞，从而还原击球的种类，如未击中和界外等情况。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33153" y="4357538"/>
            <a:ext cx="45507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通过检测玩家手柄的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IMU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VR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头显的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IMU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，从而得到玩家在游戏当中的具体位置，此时玩家正确击球，游戏将会自动在玩家面前脚底处显示应该跑向的垒的位置，从而实现方向指向跑垒。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93067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34669" y="153749"/>
            <a:ext cx="320444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游戏机制</a:t>
            </a:r>
            <a:endParaRPr lang="zh-CN" altLang="en-US" sz="28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234669" y="1287126"/>
            <a:ext cx="4047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防守接球系统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手套模型吸附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6329915" y="1287125"/>
            <a:ext cx="3522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机器人系统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——AI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自动控制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301255" y="3872448"/>
            <a:ext cx="3377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剧情教学系统</a:t>
            </a:r>
            <a:r>
              <a:rPr lang="en-US" altLang="zh-CN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</a:t>
            </a:r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动作影像</a:t>
            </a:r>
            <a:endParaRPr lang="zh-CN" altLang="en-US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34669" y="1933456"/>
            <a:ext cx="4632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当球接近手套一定范围内，将会进行一定的模型补偿以及添加微量的吸附性。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329915" y="1841123"/>
            <a:ext cx="46925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当玩家游玩过程中出现队友或对手的场景，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AI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将会有一定的自动能力，例如玩家选择单人模式并且在攻方，需要一定的机器人来充当玩家的队友和对手，在玩家正确击球之后，机器人对手能够根据棒球的物理运动规律判断球的落点，从而达成防守方的职责。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01255" y="4518779"/>
            <a:ext cx="57628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当玩家正常游玩剧情的时候，如果玩家需要实现剧情指引，完成挥棒球棒、接棒球或跑垒动作时，将会间断性浮现正确的挥棒动作等帮助玩家正常游玩。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485" y="853240"/>
            <a:ext cx="10201030" cy="5151519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34669" y="153749"/>
            <a:ext cx="320444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交互动作</a:t>
            </a:r>
            <a:endParaRPr lang="zh-CN" altLang="en-US" sz="2800" b="1" dirty="0"/>
          </a:p>
        </p:txBody>
      </p:sp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234669" y="153749"/>
            <a:ext cx="320444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分工</a:t>
            </a:r>
            <a:endParaRPr lang="zh-CN" altLang="en-US" sz="2800" b="1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468630" y="999490"/>
          <a:ext cx="11323320" cy="5381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0830"/>
                <a:gridCol w="2830830"/>
                <a:gridCol w="2830830"/>
                <a:gridCol w="2830830"/>
              </a:tblGrid>
              <a:tr h="70104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总体分工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上周工作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下周工作</a:t>
                      </a:r>
                      <a:endParaRPr lang="zh-CN" altLang="en-US" sz="2800"/>
                    </a:p>
                  </a:txBody>
                  <a:tcPr/>
                </a:tc>
              </a:tr>
              <a:tr h="117665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sz="1800" dirty="0">
                          <a:sym typeface="+mn-ea"/>
                        </a:rPr>
                        <a:t>马鑫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sz="1800" dirty="0">
                          <a:sym typeface="+mn-ea"/>
                        </a:rPr>
                        <a:t>音乐音效、剧本、演出、</a:t>
                      </a:r>
                      <a:r>
                        <a:rPr lang="en-US" altLang="zh-CN" sz="1800" dirty="0">
                          <a:sym typeface="+mn-ea"/>
                        </a:rPr>
                        <a:t>UI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环境搭建，工作流搭建，初版故事板与剧本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完善人物设计，确定好使用的模型</a:t>
                      </a:r>
                      <a:endParaRPr lang="zh-CN" altLang="en-US"/>
                    </a:p>
                  </a:txBody>
                  <a:tcPr/>
                </a:tc>
              </a:tr>
              <a:tr h="7010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于士林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渲染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确定渲染风格，调研角色动画的实现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调研角色渲染效果和理论框架，着手实践编写着色器代码，构建美术流程</a:t>
                      </a:r>
                      <a:endParaRPr lang="zh-CN" altLang="en-US"/>
                    </a:p>
                  </a:txBody>
                  <a:tcPr/>
                </a:tc>
              </a:tr>
              <a:tr h="70040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白翔宇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建模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场景建模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场景建模</a:t>
                      </a:r>
                      <a:endParaRPr lang="zh-CN" altLang="en-US"/>
                    </a:p>
                  </a:txBody>
                  <a:tcPr/>
                </a:tc>
              </a:tr>
              <a:tr h="7010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冯旭</a:t>
                      </a:r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游戏机制与交互的实现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设计部分界面流程</a:t>
                      </a:r>
                      <a:r>
                        <a:rPr lang="en-US" altLang="zh-CN"/>
                        <a:t>ui</a:t>
                      </a:r>
                      <a:r>
                        <a:rPr lang="zh-CN" altLang="en-US"/>
                        <a:t>，书写游戏机制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调研并玩家模型实现防守方接球的游戏机制</a:t>
                      </a:r>
                      <a:endParaRPr lang="zh-CN" altLang="en-US"/>
                    </a:p>
                  </a:txBody>
                  <a:tcPr/>
                </a:tc>
              </a:tr>
              <a:tr h="70040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高鑫</a:t>
                      </a:r>
                      <a:endParaRPr lang="zh-CN" altLang="en-US"/>
                    </a:p>
                  </a:txBody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设计部分界面流程</a:t>
                      </a:r>
                      <a:r>
                        <a:rPr lang="en-US" altLang="zh-CN"/>
                        <a:t>ui</a:t>
                      </a:r>
                      <a:r>
                        <a:rPr lang="zh-CN" altLang="en-US"/>
                        <a:t>，写交互动作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实现进攻方击球游戏机制</a:t>
                      </a:r>
                      <a:endParaRPr lang="zh-CN" altLang="en-US"/>
                    </a:p>
                  </a:txBody>
                  <a:tcPr/>
                </a:tc>
              </a:tr>
              <a:tr h="7010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张华都</a:t>
                      </a:r>
                      <a:endParaRPr lang="zh-CN" altLang="en-US"/>
                    </a:p>
                  </a:txBody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部分游戏机制与交互动作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实现投球游戏机制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0,&quot;left&quot;:66,&quot;top&quot;:140,&quot;width&quot;:880}"/>
</p:tagLst>
</file>

<file path=ppt/tags/tag2.xml><?xml version="1.0" encoding="utf-8"?>
<p:tagLst xmlns:p="http://schemas.openxmlformats.org/presentationml/2006/main">
  <p:tag name="KSO_WM_DIAGRAM_VIRTUALLY_FRAME" val="{&quot;height&quot;:220,&quot;left&quot;:66,&quot;top&quot;:140,&quot;width&quot;:880}"/>
</p:tagLst>
</file>

<file path=ppt/tags/tag3.xml><?xml version="1.0" encoding="utf-8"?>
<p:tagLst xmlns:p="http://schemas.openxmlformats.org/presentationml/2006/main">
  <p:tag name="KSO_WM_DIAGRAM_VIRTUALLY_FRAME" val="{&quot;height&quot;:220,&quot;left&quot;:66,&quot;top&quot;:140,&quot;width&quot;:880}"/>
</p:tagLst>
</file>

<file path=ppt/tags/tag4.xml><?xml version="1.0" encoding="utf-8"?>
<p:tagLst xmlns:p="http://schemas.openxmlformats.org/presentationml/2006/main">
  <p:tag name="TABLE_ENDDRAG_ORIGIN_RECT" val="891*423"/>
  <p:tag name="TABLE_ENDDRAG_RECT" val="33*77*891*423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1886</Words>
  <Application>WPS 演示</Application>
  <PresentationFormat>宽屏</PresentationFormat>
  <Paragraphs>238</Paragraphs>
  <Slides>19</Slides>
  <Notes>13</Notes>
  <HiddenSlides>0</HiddenSlides>
  <MMClips>1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宋体</vt:lpstr>
      <vt:lpstr>Wingdings</vt:lpstr>
      <vt:lpstr>Calibri</vt:lpstr>
      <vt:lpstr>等线</vt:lpstr>
      <vt:lpstr>FZRuiZhengHeiS-EB-GB</vt:lpstr>
      <vt:lpstr>FZLanTingHeiS-DB-GB</vt:lpstr>
      <vt:lpstr>华文宋体</vt:lpstr>
      <vt:lpstr>华文楷体</vt:lpstr>
      <vt:lpstr>微软雅黑</vt:lpstr>
      <vt:lpstr>Arial Unicode MS</vt:lpstr>
      <vt:lpstr>PingFang SC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koshitann</dc:creator>
  <cp:lastModifiedBy>WPS_1601472217</cp:lastModifiedBy>
  <cp:revision>18</cp:revision>
  <dcterms:created xsi:type="dcterms:W3CDTF">2023-08-09T12:44:00Z</dcterms:created>
  <dcterms:modified xsi:type="dcterms:W3CDTF">2026-03-18T11:00:48Z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53828273007E4F7A8420C5117E3C5D04_12</vt:lpwstr>
  </property>
</Properties>
</file>