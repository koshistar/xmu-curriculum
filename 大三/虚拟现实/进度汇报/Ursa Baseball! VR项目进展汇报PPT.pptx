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notesSlides/notesSlide1.xml" Type="http://schemas.openxmlformats.org/officeDocument/2006/relationships/notesSlide"/><Relationship Id="rId18" Target="notesSlides/notesSlide2.xml" Type="http://schemas.openxmlformats.org/officeDocument/2006/relationships/notesSlide"/><Relationship Id="rId19" Target="notesSlides/notesSlide3.xml" Type="http://schemas.openxmlformats.org/officeDocument/2006/relationships/notesSlide"/><Relationship Id="rId2" Target="viewProps.xml" Type="http://schemas.openxmlformats.org/officeDocument/2006/relationships/viewProps"/><Relationship Id="rId20" Target="notesSlides/notesSlide4.xml" Type="http://schemas.openxmlformats.org/officeDocument/2006/relationships/notesSlide"/><Relationship Id="rId21" Target="notesSlides/notesSlide5.xml" Type="http://schemas.openxmlformats.org/officeDocument/2006/relationships/notesSlide"/><Relationship Id="rId22" Target="notesSlides/notesSlide6.xml" Type="http://schemas.openxmlformats.org/officeDocument/2006/relationships/notesSlide"/><Relationship Id="rId23" Target="notesSlides/notesSlide7.xml" Type="http://schemas.openxmlformats.org/officeDocument/2006/relationships/notesSlide"/><Relationship Id="rId24" Target="notesSlides/notesSlide8.xml" Type="http://schemas.openxmlformats.org/officeDocument/2006/relationships/notesSlide"/><Relationship Id="rId3" Target="presProps.xml" Type="http://schemas.openxmlformats.org/officeDocument/2006/relationships/presProps"/><Relationship Id="rId4" Target="slideMasters/slideMaster1.xml" Type="http://schemas.openxmlformats.org/officeDocument/2006/relationships/slideMaster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大家好，欢迎参加本次Ursa Baseball! VR项目的进展汇报。今天，我将向大家展示我们项目的最新动态和未来规划。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本次汇报将分为四个部分：首先是项目概述，介绍我们做什么；其次是当前进展，展示我们已经完成的工作；然后是挑战与解决方案，分享我们遇到的困难和应对策略；最后是未来规划，展望项目的下一步发展。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首先，让我们了解一下Ursa Baseball!项目。我们看到，VR技术为体育教育带来了新的可能。我们的目标就是打造一款校园VR棒球游戏，让学生们能在虚拟世界里安全地享受棒球的乐趣，实现寓教于乐。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在核心功能开发方面，我们取得了显著进展。单人练习模式已基本成型，多人对战模式也已实现局域网联机，同时，丰富的角色定制系统也即将完成。这些功能将为玩家提供多样化的游戏体验。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除了功能，我们也非常注重视觉效果和用户体验。大家可以看到，我们的游戏场景非常精美，物理引擎也力求真实，同时我们简化了操作，让更多学生能够轻松上手。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在开发过程中，我们也遇到了一些挑战，比如VR设备的兼容性和网络延迟问题。针对这些问题，我们采取了相应的技术方案，确保了项目的顺利推进。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展望未来，我们制定了清晰的规划。短期内，我们将完成Beta版并进行测试；中期，我们计划将游戏推广到更多校园；长期来看，我们希望不断丰富游戏内容，并探索可持续的商业模式。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我的汇报到此结束，感谢各位的聆听！期待与大家共同见证Ursa Baseball!的成长。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11.svg" Type="http://schemas.openxmlformats.org/officeDocument/2006/relationships/image"/><Relationship Id="rId11" Target="../notesSlides/notesSlide2.xml" Type="http://schemas.openxmlformats.org/officeDocument/2006/relationships/notesSlide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png" Type="http://schemas.openxmlformats.org/officeDocument/2006/relationships/image"/><Relationship Id="rId8" Target="../media/image9.sv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jpeg" Type="http://schemas.openxmlformats.org/officeDocument/2006/relationships/image"/><Relationship Id="rId9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9.jpeg" Type="http://schemas.openxmlformats.org/officeDocument/2006/relationships/image"/><Relationship Id="rId3" Target="../media/image20.jpeg" Type="http://schemas.openxmlformats.org/officeDocument/2006/relationships/image"/><Relationship Id="rId4" Target="../media/image21.jpeg" Type="http://schemas.openxmlformats.org/officeDocument/2006/relationships/image"/><Relationship Id="rId5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5.xml" Type="http://schemas.openxmlformats.org/officeDocument/2006/relationships/notesSlide"/><Relationship Id="rId2" Target="../media/image22.jpeg" Type="http://schemas.openxmlformats.org/officeDocument/2006/relationships/image"/><Relationship Id="rId3" Target="../media/image23.jpeg" Type="http://schemas.openxmlformats.org/officeDocument/2006/relationships/image"/><Relationship Id="rId4" Target="../media/image24.png" Type="http://schemas.openxmlformats.org/officeDocument/2006/relationships/image"/><Relationship Id="rId5" Target="../media/image25.svg" Type="http://schemas.openxmlformats.org/officeDocument/2006/relationships/image"/><Relationship Id="rId6" Target="../media/image26.png" Type="http://schemas.openxmlformats.org/officeDocument/2006/relationships/image"/><Relationship Id="rId7" Target="../media/image27.svg" Type="http://schemas.openxmlformats.org/officeDocument/2006/relationships/image"/><Relationship Id="rId8" Target="../media/image28.png" Type="http://schemas.openxmlformats.org/officeDocument/2006/relationships/image"/><Relationship Id="rId9" Target="../media/image29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6.xml" Type="http://schemas.openxmlformats.org/officeDocument/2006/relationships/notesSlid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Relationship Id="rId6" Target="../media/image34.png" Type="http://schemas.openxmlformats.org/officeDocument/2006/relationships/image"/><Relationship Id="rId7" Target="../media/image35.svg" Type="http://schemas.openxmlformats.org/officeDocument/2006/relationships/image"/><Relationship Id="rId8" Target="../media/image36.png" Type="http://schemas.openxmlformats.org/officeDocument/2006/relationships/image"/><Relationship Id="rId9" Target="../media/image3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38.jpeg" Type="http://schemas.openxmlformats.org/officeDocument/2006/relationships/image"/><Relationship Id="rId3" Target="../media/image39.png" Type="http://schemas.openxmlformats.org/officeDocument/2006/relationships/image"/><Relationship Id="rId4" Target="../media/image40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notesSlides/notesSlide8.xml" Type="http://schemas.openxmlformats.org/officeDocument/2006/relationships/notesSlide"/><Relationship Id="rId5" Target="../media/image4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63" b="63"/>
          <a:stretch>
            <a:fillRect/>
          </a:stretch>
        </p:blipFill>
        <p:spPr>
          <a:xfrm rot="0" flipH="false" flipV="false">
            <a:off x="4191000" y="1524000"/>
            <a:ext cx="3810000" cy="21336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003366">
                <a:alpha val="20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5715000" y="3937000"/>
            <a:ext cx="762000" cy="508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3556000" y="4191000"/>
            <a:ext cx="508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2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项目进展汇报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0" y="6705600"/>
            <a:ext cx="12192000" cy="152400"/>
          </a:xfrm>
          <a:prstGeom prst="roundRect">
            <a:avLst>
              <a:gd name="adj" fmla="val 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665480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336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目录 / CONTENTS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2032000"/>
            <a:ext cx="2476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A1E4">
                <a:alpha val="3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3366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952500" y="2222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739900" y="2667000"/>
            <a:ext cx="508000" cy="5080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889000" y="3302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89000" y="3683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Project Overview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3492500" y="2032000"/>
            <a:ext cx="2476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A1E4">
                <a:alpha val="3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3366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683000" y="2222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470400" y="2667000"/>
            <a:ext cx="508000" cy="508000"/>
          </a:xfrm>
          <a:prstGeom prst="rect">
            <a:avLst/>
          </a:prstGeom>
        </p:spPr>
      </p:pic>
      <p:sp>
        <p:nvSpPr>
          <p:cNvPr name="AutoShape 13" id="13"/>
          <p:cNvSpPr/>
          <p:nvPr/>
        </p:nvSpPr>
        <p:spPr>
          <a:xfrm rot="0" flipH="false" flipV="false">
            <a:off x="3619500" y="3302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当前进展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19500" y="3683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 Progress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2032000"/>
            <a:ext cx="2476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A1E4">
                <a:alpha val="3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3366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2222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7200900" y="2667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350000" y="3302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挑战与解决方案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3683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Challenges &amp; Solutions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953500" y="2032000"/>
            <a:ext cx="24765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00A1E4">
                <a:alpha val="30000"/>
              </a:srgbClr>
            </a:solidFill>
            <a:prstDash val="solid"/>
            <a:round/>
          </a:ln>
          <a:effectLst>
            <a:outerShdw dir="5400000" dist="50800" blurRad="127000" algn="tl" rotWithShape="false">
              <a:srgbClr val="003366">
                <a:alpha val="10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9144000" y="2222500"/>
            <a:ext cx="76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400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0" flipH="false" flipV="false">
            <a:off x="9931400" y="2667000"/>
            <a:ext cx="508000" cy="508000"/>
          </a:xfrm>
          <a:prstGeom prst="rect">
            <a:avLst/>
          </a:prstGeom>
        </p:spPr>
      </p:pic>
      <p:sp>
        <p:nvSpPr>
          <p:cNvPr name="AutoShape 23" id="23"/>
          <p:cNvSpPr/>
          <p:nvPr/>
        </p:nvSpPr>
        <p:spPr>
          <a:xfrm rot="0" flipH="false" flipV="false">
            <a:off x="9080500" y="3302000"/>
            <a:ext cx="2222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9080500" y="3683000"/>
            <a:ext cx="2222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Future Plan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762000" y="4826000"/>
            <a:ext cx="10668000" cy="50800"/>
          </a:xfrm>
          <a:prstGeom prst="roundRect">
            <a:avLst>
              <a:gd name="adj" fmla="val 0"/>
            </a:avLst>
          </a:prstGeom>
          <a:solidFill>
            <a:srgbClr val="00A1E4">
              <a:alpha val="2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080000"/>
            <a:ext cx="1066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003366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青春正当时 · 携手共前行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508000"/>
            <a:ext cx="20066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项目概述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143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524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00A1E4">
              <a:alpha val="8000"/>
            </a:srgbClr>
          </a:solidFill>
          <a:ln cmpd="sng" cap="flat">
            <a:solidFill>
              <a:srgbClr val="008FC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18415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714500" y="16510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项目背景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714500" y="20066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随着VR技术发展，其在体育教育领域潜力巨大。我们利用VR技术，为学生提供安全、有趣、沉浸式的棒球运动体验。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3048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00A1E4">
              <a:alpha val="8000"/>
            </a:srgbClr>
          </a:solidFill>
          <a:ln cmpd="sng" cap="flat">
            <a:solidFill>
              <a:srgbClr val="008FC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1016000" y="33655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714500" y="31750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项目目标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1714500" y="35306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打造面向校园的VR棒球游戏，让学生在虚拟环境中学习规则、进行技能训练，并体验团队竞技的乐趣。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572000"/>
            <a:ext cx="5588000" cy="1270000"/>
          </a:xfrm>
          <a:prstGeom prst="roundRect">
            <a:avLst>
              <a:gd name="adj" fmla="val 10000"/>
            </a:avLst>
          </a:prstGeom>
          <a:solidFill>
            <a:srgbClr val="00A1E4">
              <a:alpha val="8000"/>
            </a:srgbClr>
          </a:solidFill>
          <a:ln cmpd="sng" cap="flat">
            <a:solidFill>
              <a:srgbClr val="008FC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8895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714500" y="4699000"/>
            <a:ext cx="4445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714500" y="5054600"/>
            <a:ext cx="4445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40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通过寓教于乐激发兴趣，提升运动技能，同时培养团队协作精神和体育竞技精神。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858000" y="1651000"/>
            <a:ext cx="3302000" cy="4064000"/>
          </a:xfrm>
          <a:prstGeom prst="roundRect">
            <a:avLst>
              <a:gd name="adj" fmla="val 7692"/>
            </a:avLst>
          </a:prstGeom>
          <a:solidFill>
            <a:srgbClr val="00336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8"/>
          <a:srcRect l="0" r="0" t="1015" b="1015"/>
          <a:stretch>
            <a:fillRect/>
          </a:stretch>
        </p:blipFill>
        <p:spPr>
          <a:xfrm rot="0" flipH="false" flipV="false">
            <a:off x="6731000" y="1524000"/>
            <a:ext cx="3302000" cy="4064000"/>
          </a:xfrm>
          <a:prstGeom prst="roundRect">
            <a:avLst>
              <a:gd name="adj" fmla="val 7692"/>
            </a:avLst>
          </a:prstGeom>
          <a:noFill/>
          <a:ln w="25400" cmpd="sng" cap="flat">
            <a:noFill/>
            <a:prstDash val="solid"/>
            <a:round/>
          </a:ln>
          <a:effectLst>
            <a:outerShdw dir="5400000" dist="101600" blurRad="190500" algn="tl" rotWithShape="false">
              <a:srgbClr val="000000">
                <a:alpha val="15000"/>
              </a:srgbClr>
            </a:outerShdw>
          </a:effectLst>
        </p:spPr>
      </p:pic>
      <p:sp>
        <p:nvSpPr>
          <p:cNvPr name="AutoShape 18" id="18"/>
          <p:cNvSpPr/>
          <p:nvPr/>
        </p:nvSpPr>
        <p:spPr>
          <a:xfrm rot="0" flipH="false" flipV="false">
            <a:off x="6731000" y="5715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VR技术赋能校园棒球运动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7620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当前进展：核心功能开发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00A1E4">
              <a:alpha val="5000"/>
            </a:srgbClr>
          </a:solidFill>
          <a:ln w="12700" cmpd="sng" cap="flat">
            <a:solidFill>
              <a:srgbClr val="00A1E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2032000" y="2032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889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虚拟投打练习模式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889000" y="3365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已完成基础的投球和击球物理引擎开发，玩家可以进行单人练习。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318000"/>
            <a:ext cx="279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1016000" y="4318000"/>
            <a:ext cx="2235200" cy="152400"/>
          </a:xfrm>
          <a:prstGeom prst="roundRect">
            <a:avLst>
              <a:gd name="adj" fmla="val 5000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4572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80%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00A1E4">
              <a:alpha val="5000"/>
            </a:srgbClr>
          </a:solidFill>
          <a:ln w="12700" cmpd="sng" cap="flat">
            <a:solidFill>
              <a:srgbClr val="00A1E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5715000" y="2032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2" id="12"/>
          <p:cNvSpPr/>
          <p:nvPr/>
        </p:nvSpPr>
        <p:spPr>
          <a:xfrm rot="0" flipH="false" flipV="false">
            <a:off x="4572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多人在线对战模式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572000" y="3365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实现了局域网内的多人联机功能，支持2v2对战，延迟控制良好。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699000" y="4318000"/>
            <a:ext cx="279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4699000" y="4318000"/>
            <a:ext cx="1955800" cy="152400"/>
          </a:xfrm>
          <a:prstGeom prst="roundRect">
            <a:avLst>
              <a:gd name="adj" fmla="val 5000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4699000" y="4572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70%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00A1E4">
              <a:alpha val="5000"/>
            </a:srgbClr>
          </a:solidFill>
          <a:ln w="12700" cmpd="sng" cap="flat">
            <a:solidFill>
              <a:srgbClr val="00A1E4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4"/>
          <a:srcRect l="0" r="0" t="0" b="0"/>
          <a:stretch>
            <a:fillRect/>
          </a:stretch>
        </p:blipFill>
        <p:spPr>
          <a:xfrm rot="0" flipH="false" flipV="false">
            <a:off x="9398000" y="2032000"/>
            <a:ext cx="762000" cy="762000"/>
          </a:xfrm>
          <a:prstGeom prst="ellipse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19" id="19"/>
          <p:cNvSpPr/>
          <p:nvPr/>
        </p:nvSpPr>
        <p:spPr>
          <a:xfrm rot="0" flipH="false" flipV="false">
            <a:off x="8255000" y="2921000"/>
            <a:ext cx="304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个性化角色定制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255000" y="33655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just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提供了多种角色外观、装备和动作的自定义选项，满足个性化需求。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382000" y="4318000"/>
            <a:ext cx="2794000" cy="152400"/>
          </a:xfrm>
          <a:prstGeom prst="roundRect">
            <a:avLst>
              <a:gd name="adj" fmla="val 50000"/>
            </a:avLst>
          </a:prstGeom>
          <a:solidFill>
            <a:srgbClr val="E5E7E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8382000" y="4318000"/>
            <a:ext cx="2514600" cy="152400"/>
          </a:xfrm>
          <a:prstGeom prst="roundRect">
            <a:avLst>
              <a:gd name="adj" fmla="val 5000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8382000" y="4572000"/>
            <a:ext cx="2794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90%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0" y="6604000"/>
            <a:ext cx="4064000" cy="254000"/>
          </a:xfrm>
          <a:prstGeom prst="roundRect">
            <a:avLst>
              <a:gd name="adj" fmla="val 0"/>
            </a:avLst>
          </a:prstGeom>
          <a:solidFill>
            <a:srgbClr val="FFD70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1016000"/>
            <a:ext cx="60452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当前进展：视觉与体验优化</a:t>
            </a:r>
            <a:endParaRPr lang="en-US" sz="1100"/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889000" y="1714500"/>
            <a:ext cx="5080000" cy="2857500"/>
          </a:xfrm>
          <a:prstGeom prst="roundRect">
            <a:avLst>
              <a:gd name="adj" fmla="val 444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5400000" dist="63500" blurRad="127000" algn="tl" rotWithShape="false">
              <a:srgbClr val="003366">
                <a:alpha val="15000"/>
              </a:srgbClr>
            </a:outerShdw>
          </a:effectLst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6223000" y="1714500"/>
            <a:ext cx="5080000" cy="2857500"/>
          </a:xfrm>
          <a:prstGeom prst="roundRect">
            <a:avLst>
              <a:gd name="adj" fmla="val 4444"/>
            </a:avLst>
          </a:prstGeom>
          <a:noFill/>
          <a:ln w="25400" cmpd="sng" cap="flat">
            <a:noFill/>
            <a:prstDash val="solid"/>
            <a:round/>
          </a:ln>
          <a:effectLst>
            <a:outerShdw dir="5400000" dist="63500" blurRad="127000" algn="tl" rotWithShape="false">
              <a:srgbClr val="003366">
                <a:alpha val="15000"/>
              </a:srgbClr>
            </a:outerShdw>
          </a:effectLst>
        </p:spPr>
      </p:pic>
      <p:sp>
        <p:nvSpPr>
          <p:cNvPr name="AutoShape 5" id="5"/>
          <p:cNvSpPr/>
          <p:nvPr/>
        </p:nvSpPr>
        <p:spPr>
          <a:xfrm rot="0" flipH="false" flipV="false">
            <a:off x="762000" y="4826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00A1E4">
              <a:alpha val="8000"/>
            </a:srgbClr>
          </a:solidFill>
          <a:ln cmpd="sng" cap="flat">
            <a:solidFill>
              <a:srgbClr val="008FC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952500" y="5016500"/>
            <a:ext cx="406400" cy="406400"/>
          </a:xfrm>
          <a:prstGeom prst="rect">
            <a:avLst/>
          </a:prstGeom>
        </p:spPr>
      </p:pic>
      <p:sp>
        <p:nvSpPr>
          <p:cNvPr name="AutoShape 7" id="7"/>
          <p:cNvSpPr/>
          <p:nvPr/>
        </p:nvSpPr>
        <p:spPr>
          <a:xfrm rot="0" flipH="false" flipV="false">
            <a:off x="1460500" y="4953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写实的物理引擎</a:t>
            </a:r>
            <a:endParaRPr lang="en-US" sz="1100"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952500" y="5397500"/>
            <a:ext cx="299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优化了球的飞行轨迹和打击反馈，使其更贴近真实棒球运动，增强沉浸感。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4394200" y="4826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00A1E4">
              <a:alpha val="8000"/>
            </a:srgbClr>
          </a:solidFill>
          <a:ln cmpd="sng" cap="flat">
            <a:solidFill>
              <a:srgbClr val="008FC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4584700" y="5016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5092700" y="4953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细腻的校园场景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584700" y="5397500"/>
            <a:ext cx="299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精心打造了多个不同风格的校园棒球场场景，画面精美，还原青春校园风貌。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8026400" y="4826000"/>
            <a:ext cx="3378200" cy="1397000"/>
          </a:xfrm>
          <a:prstGeom prst="roundRect">
            <a:avLst>
              <a:gd name="adj" fmla="val 9090"/>
            </a:avLst>
          </a:prstGeom>
          <a:solidFill>
            <a:srgbClr val="00A1E4">
              <a:alpha val="8000"/>
            </a:srgbClr>
          </a:solidFill>
          <a:ln cmpd="sng" cap="flat">
            <a:solidFill>
              <a:srgbClr val="008FC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8216900" y="5016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8724900" y="4953000"/>
            <a:ext cx="254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流畅的操作体验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16900" y="5397500"/>
            <a:ext cx="29972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简化了VR操作流程，降低了上手难度，确保玩家能轻松享受挥棒击球的乐趣。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762000" y="635000"/>
            <a:ext cx="40259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挑战与解决方案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778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5F9FF">
              <a:alpha val="100000"/>
            </a:srgbClr>
          </a:solidFill>
          <a:ln w="12700" cmpd="sng" cap="flat">
            <a:solidFill>
              <a:srgbClr val="00A1E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032000"/>
            <a:ext cx="508000" cy="508000"/>
          </a:xfrm>
          <a:prstGeom prst="rect">
            <a:avLst/>
          </a:prstGeom>
        </p:spPr>
      </p:pic>
      <p:sp>
        <p:nvSpPr>
          <p:cNvPr name="AutoShape 6" id="6"/>
          <p:cNvSpPr/>
          <p:nvPr/>
        </p:nvSpPr>
        <p:spPr>
          <a:xfrm rot="0" flipH="false" flipV="false">
            <a:off x="1651000" y="1968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挑战一：VR设备兼容性问题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651000" y="2413000"/>
            <a:ext cx="355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不同品牌和型号的VR头显硬件参数差异大，导致应用在部分设备上运行卡顿或无法启动。</a:t>
            </a:r>
            <a:endParaRPr lang="en-US" sz="1100"/>
          </a:p>
        </p:txBody>
      </p:sp>
      <p:cxnSp>
        <p:nvCxnSpPr>
          <p:cNvPr name="Connector 8" id="8"/>
          <p:cNvCxnSpPr/>
          <p:nvPr/>
        </p:nvCxnSpPr>
        <p:spPr>
          <a:xfrm rot="5368748" flipH="false" flipV="false">
            <a:off x="4762500" y="2724179"/>
            <a:ext cx="139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336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9" id="9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5715000" y="2032000"/>
            <a:ext cx="508000" cy="508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6350000" y="1968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解决方案：多端适配与优化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350000" y="24130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针对Quest 2、Pico Neo 3等主流头显进行底层代码优化，确保应用在不同硬件配置上均能流畅稳定运行。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3937000"/>
            <a:ext cx="10668000" cy="1905000"/>
          </a:xfrm>
          <a:prstGeom prst="roundRect">
            <a:avLst>
              <a:gd name="adj" fmla="val 6666"/>
            </a:avLst>
          </a:prstGeom>
          <a:solidFill>
            <a:srgbClr val="F5F9FF">
              <a:alpha val="100000"/>
            </a:srgbClr>
          </a:solidFill>
          <a:ln w="12700" cmpd="sng" cap="flat">
            <a:solidFill>
              <a:srgbClr val="00A1E4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1016000" y="4191000"/>
            <a:ext cx="508000" cy="508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651000" y="4127500"/>
            <a:ext cx="355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3366"/>
                </a:solidFill>
                <a:latin typeface="Noto Sans SC"/>
                <a:ea typeface="Noto Sans SC"/>
                <a:cs typeface="Noto Sans SC"/>
                <a:sym typeface="Noto Sans SC"/>
              </a:rPr>
              <a:t>挑战二：网络延迟影响体验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51000" y="4572000"/>
            <a:ext cx="3556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多人对战场景下，网络延迟导致操作响应滞后，严重影响玩家的沉浸感和竞技公平性。</a:t>
            </a:r>
            <a:endParaRPr lang="en-US" sz="1100"/>
          </a:p>
        </p:txBody>
      </p:sp>
      <p:cxnSp>
        <p:nvCxnSpPr>
          <p:cNvPr name="Connector 16" id="16"/>
          <p:cNvCxnSpPr/>
          <p:nvPr/>
        </p:nvCxnSpPr>
        <p:spPr>
          <a:xfrm rot="5368748" flipH="false" flipV="false">
            <a:off x="4762500" y="4883179"/>
            <a:ext cx="1397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003366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5715000" y="4191000"/>
            <a:ext cx="508000" cy="5080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350000" y="4127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解决方案：云服务与数据压缩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350000" y="4572000"/>
            <a:ext cx="368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采用高性能云服务器进行数据中转，并引入高效数据压缩技术，显著降低延迟，保障多人联机的实时性。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D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762000" y="1016000"/>
            <a:ext cx="20066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未来规划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762000" y="1714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A1E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0" flipH="false" flipV="false">
            <a:off x="1016000" y="25400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51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短期目标 (1-3个月)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04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完成Beta版本开发，并邀请部分学校进行内部测试，收集反馈并进行优化。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445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A1E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0" flipH="false" flipV="false">
            <a:off x="4699000" y="25400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207000" y="251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中期目标 (3-6个月)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99000" y="304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启动校园试点推广计划，与10所学校合作，将Ursa Baseball!引入体育课程。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0" y="2286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8000"/>
            </a:srgbClr>
          </a:solidFill>
          <a:ln w="12700" cmpd="sng" cap="flat">
            <a:solidFill>
              <a:srgbClr val="00A1E4">
                <a:alpha val="5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0" flipH="false" flipV="false">
            <a:off x="8382000" y="2540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890000" y="251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长期目标 (6个月以上)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382000" y="3048000"/>
            <a:ext cx="2794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t" rtlCol="false" anchorCtr="false" vert="horz" wrap="square" lIns="0" rIns="0" tIns="0" bIns="0"/>
          <a:lstStyle/>
          <a:p>
            <a:pPr algn="l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E6E6E6"/>
                </a:solidFill>
                <a:latin typeface="Noto Sans SC"/>
                <a:ea typeface="Noto Sans SC"/>
                <a:cs typeface="Noto Sans SC"/>
                <a:sym typeface="Noto Sans SC"/>
              </a:rPr>
              <a:t>开发更多游戏模式，如教练模式、联赛模式，并探索商业化运营的可能性。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rcRect l="0" r="0" t="0" b="0"/>
          <a:stretch>
            <a:fillRect/>
          </a:stretch>
        </p:blipFill>
        <p:spPr>
          <a:xfrm rot="0" flipH="false" flipV="false">
            <a:off x="0" y="0"/>
            <a:ext cx="12192000" cy="68580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3" id="3"/>
          <p:cNvSpPr/>
          <p:nvPr/>
        </p:nvSpPr>
        <p:spPr>
          <a:xfrm rot="0" flipH="false" flipV="false"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rcRect l="0" r="0" t="0" b="0"/>
          <a:stretch>
            <a:fillRect/>
          </a:stretch>
        </p:blipFill>
        <p:spPr>
          <a:xfrm rot="0" flipH="false" flipV="false">
            <a:off x="4318000" y="1270000"/>
            <a:ext cx="3556000" cy="1993900"/>
          </a:xfrm>
          <a:prstGeom prst="rect">
            <a:avLst/>
          </a:prstGeom>
          <a:noFill/>
          <a:ln w="25400" cmpd="sng" cap="flat">
            <a:noFill/>
            <a:prstDash val="solid"/>
            <a:round/>
          </a:ln>
        </p:spPr>
      </p:pic>
      <p:sp>
        <p:nvSpPr>
          <p:cNvPr name="AutoShape 5" id="5"/>
          <p:cNvSpPr/>
          <p:nvPr/>
        </p:nvSpPr>
        <p:spPr>
          <a:xfrm rot="0" flipH="false" flipV="false">
            <a:off x="1016000" y="3556000"/>
            <a:ext cx="1016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true" i="false" strike="noStrike" u="none" sz="3200">
                <a:solidFill>
                  <a:srgbClr val="00A1E4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 / Thank You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715000" y="4318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A1E4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1016000" y="4572000"/>
            <a:ext cx="10160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none" lIns="0" rIns="0" tIns="0" bIns="0"/>
          <a:lstStyle/>
          <a:p>
            <a:pPr algn="ctr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646A73"/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期待与大家共同见证 Ursa Baseball! 的成长</a:t>
            </a:r>
            <a:endParaRPr lang="en-US" sz="1100"/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