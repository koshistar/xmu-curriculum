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4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0480" y="0"/>
            <a:ext cx="4541520" cy="6858000"/>
          </a:xfrm>
          <a:prstGeom prst="rect">
            <a:avLst/>
          </a:prstGeom>
        </p:spPr>
      </p:pic>
      <p:pic>
        <p:nvPicPr>
          <p:cNvPr id="4" name="图片 3" descr="t016a3b2183cd67fb4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090" y="3124200"/>
            <a:ext cx="3403600" cy="37338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17245" y="1165225"/>
            <a:ext cx="6833235" cy="4605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《大鼻子情圣》，亦译作《西哈诺》，是法国剧作家</a:t>
            </a:r>
            <a:r>
              <a:rPr lang="zh-CN" altLang="en-US" b="1"/>
              <a:t>埃德蒙</a:t>
            </a:r>
            <a:r>
              <a:rPr lang="en-US" altLang="zh-CN" b="1"/>
              <a:t>·</a:t>
            </a:r>
            <a:r>
              <a:rPr lang="zh-CN" altLang="en-US" b="1"/>
              <a:t>罗斯丹</a:t>
            </a:r>
            <a:r>
              <a:rPr lang="zh-CN" altLang="en-US"/>
              <a:t>于</a:t>
            </a:r>
            <a:r>
              <a:rPr lang="en-US" altLang="zh-CN"/>
              <a:t>1897</a:t>
            </a:r>
            <a:r>
              <a:rPr lang="zh-CN" altLang="en-US"/>
              <a:t>年创作的五幕英雄喜剧。</a:t>
            </a:r>
            <a:r>
              <a:rPr lang="en-US" altLang="zh-CN"/>
              <a:t>19</a:t>
            </a:r>
            <a:r>
              <a:rPr lang="zh-CN" altLang="en-US"/>
              <a:t>世纪末的法国文学舞台，正经历着一场深刻的美学嬗变，曾经风靡一时的浪漫主义戏剧在雨果之后逐渐式微，取而代之的是两种新兴的戏剧潮流：一是左拉倡导的</a:t>
            </a:r>
            <a:r>
              <a:rPr lang="zh-CN" altLang="en-US" b="1"/>
              <a:t>自然主义戏剧</a:t>
            </a:r>
            <a:r>
              <a:rPr lang="zh-CN" altLang="en-US"/>
              <a:t>，强调以科学态度再现社会现实，关注环境对个体的决定性影响；二是梅特林克代表的</a:t>
            </a:r>
            <a:r>
              <a:rPr lang="zh-CN" altLang="en-US" b="1"/>
              <a:t>象征主义戏剧</a:t>
            </a:r>
            <a:r>
              <a:rPr lang="zh-CN" altLang="en-US"/>
              <a:t>，追求神秘、内省与形而上学的精神体验。但《大鼻子情圣》在</a:t>
            </a:r>
            <a:r>
              <a:rPr lang="en-US" altLang="zh-CN"/>
              <a:t>1897</a:t>
            </a:r>
            <a:r>
              <a:rPr lang="zh-CN" altLang="en-US"/>
              <a:t>年首演后立即引起轰动，如一声春雷震响法国戏剧舞台，被誉为</a:t>
            </a:r>
            <a:r>
              <a:rPr lang="zh-CN" altLang="en-US" b="1"/>
              <a:t>浪漫主义</a:t>
            </a:r>
            <a:r>
              <a:rPr lang="zh-CN" altLang="en-US"/>
              <a:t>的最后佳作，并八次被搬上银幕，包括法国电影史上的无声电影杰作和</a:t>
            </a:r>
            <a:r>
              <a:rPr lang="en-US" altLang="zh-CN"/>
              <a:t>1990</a:t>
            </a:r>
            <a:r>
              <a:rPr lang="zh-CN" altLang="en-US"/>
              <a:t>年法国电影凯撒奖获奖版本，并多次被改编为舞台剧。</a:t>
            </a:r>
            <a:endParaRPr lang="zh-CN" altLang="en-US"/>
          </a:p>
          <a:p>
            <a:r>
              <a:rPr lang="zh-CN" altLang="en-US"/>
              <a:t>《大鼻子情圣》的主角西哈诺的原型在历史上确有其人，他是</a:t>
            </a:r>
            <a:r>
              <a:rPr lang="en-US" altLang="zh-CN"/>
              <a:t>17</a:t>
            </a:r>
            <a:r>
              <a:rPr lang="zh-CN" altLang="en-US"/>
              <a:t>世纪法国的作家、哲学家、军人西哈诺</a:t>
            </a:r>
            <a:r>
              <a:rPr lang="en-US" altLang="zh-CN"/>
              <a:t>·</a:t>
            </a:r>
            <a:r>
              <a:rPr lang="zh-CN" altLang="en-US"/>
              <a:t>德</a:t>
            </a:r>
            <a:r>
              <a:rPr lang="en-US" altLang="zh-CN"/>
              <a:t>·</a:t>
            </a:r>
            <a:r>
              <a:rPr lang="zh-CN" altLang="en-US"/>
              <a:t>贝杰拉克。但罗斯丹并未拘泥于史实，而是借助历史框架表达了对时代精神危机的回应。在物质主义日益横行的</a:t>
            </a:r>
            <a:r>
              <a:rPr lang="en-US" altLang="zh-CN"/>
              <a:t>19</a:t>
            </a:r>
            <a:r>
              <a:rPr lang="zh-CN" altLang="en-US"/>
              <a:t>世纪末，罗斯丹通过西哈诺这一形象，重申了精神价值、荣誉观念和自我牺牲精神的永恒意义，与当时流行的物质至上的社会思潮形成鲜明对比。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12495" y="396875"/>
            <a:ext cx="40640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/>
              <a:t>创作背景</a:t>
            </a:r>
            <a:endParaRPr lang="zh-CN" altLang="en-US" sz="4400"/>
          </a:p>
        </p:txBody>
      </p:sp>
      <p:sp>
        <p:nvSpPr>
          <p:cNvPr id="8" name="文本框 7"/>
          <p:cNvSpPr txBox="1"/>
          <p:nvPr/>
        </p:nvSpPr>
        <p:spPr>
          <a:xfrm>
            <a:off x="817245" y="5851525"/>
            <a:ext cx="67017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“</a:t>
            </a:r>
            <a:r>
              <a:rPr lang="zh-CN" altLang="en-US" sz="2000"/>
              <a:t>我写《西哈诺》当然是处于爱好，出于兴趣，但确实也有反时代潮流而动的念头。那些潮流使我厌烦，令我反感。</a:t>
            </a:r>
            <a:r>
              <a:rPr lang="en-US" altLang="zh-CN" sz="2000"/>
              <a:t>”</a:t>
            </a:r>
            <a:endParaRPr lang="en-US" altLang="zh-CN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2726055" cy="1325880"/>
          </a:xfrm>
        </p:spPr>
        <p:txBody>
          <a:bodyPr/>
          <a:p>
            <a:r>
              <a:rPr lang="zh-CN" altLang="en-US"/>
              <a:t>剧情梗概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70965"/>
            <a:ext cx="6490970" cy="508254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400"/>
              <a:t>《大鼻子情圣》采用古典五幕结构，讲述了发生在法国</a:t>
            </a:r>
            <a:r>
              <a:rPr lang="en-US" altLang="zh-CN" sz="2400"/>
              <a:t>17</a:t>
            </a:r>
            <a:r>
              <a:rPr lang="zh-CN" altLang="en-US" sz="2400"/>
              <a:t>世纪四五十年代的一个凄婉感人的爱情故事。大鼻子情圣西哈诺既是一位锐不可当的无敌剑客，又是一位不拘一格的天才诗人，连斗剑时都能配合动作吟出漂亮的诗句。不过，恃才傲物的他却也有软弱的一面</a:t>
            </a:r>
            <a:r>
              <a:rPr lang="en-US" altLang="zh-CN" sz="2400"/>
              <a:t>——</a:t>
            </a:r>
            <a:r>
              <a:rPr lang="zh-CN" altLang="en-US" sz="2400"/>
              <a:t>那就是占了整张脸孔四分之三的大鼻子，令他自惭形秽而不敢向暗恋已久的表妹罗克珊示爱。同时爱上罗克珊的克里斯蒂安年轻英俊却胸无点墨。罗克珊才貌双全，希望自己的心上人克里斯蒂安是一位英俊、智慧、勇敢的骑士。为了不让表妹失望，西哈诺甘愿帮助助对手克里斯蒂安代写情书，赢得美人心，促成表妹的姻缘，自己则始终隐身幕后，直到临终才向表妹吐露真情。</a:t>
            </a:r>
            <a:endParaRPr lang="zh-CN" altLang="en-US" sz="2400"/>
          </a:p>
        </p:txBody>
      </p:sp>
      <p:pic>
        <p:nvPicPr>
          <p:cNvPr id="4" name="图片 3" descr="U3875P843DT201510081026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460" y="446405"/>
            <a:ext cx="3824605" cy="2151380"/>
          </a:xfrm>
          <a:prstGeom prst="rect">
            <a:avLst/>
          </a:prstGeom>
        </p:spPr>
      </p:pic>
      <p:pic>
        <p:nvPicPr>
          <p:cNvPr id="7" name="图片 6" descr="tmp8BB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135" y="2984500"/>
            <a:ext cx="5015230" cy="25825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主题思想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09650" y="1386840"/>
            <a:ext cx="6866255" cy="2042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西哈诺的自卑源于自我认同的分裂，他拥有卓越的才华，却因为外貌的缺陷而变得无法接纳自己。剧中的最大驱动力是西哈诺对自己大鼻子的自我意识，导致他用语言代替容貌，用灵魂与思想去追求爱情。他通过为克里斯蒂安代写信，实际上是在创造一个理想的自我形象，这种行为既是对真实自我的逃避，也是一种曲折的自我表达。直到剧终，罗克珊识别出真相时，西哈诺才得以实现外在形象与内在自我的统一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855720" y="3204845"/>
            <a:ext cx="78752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剧中呈现了两种对立的爱情观，即克里斯蒂安代表的肉体之爱和西哈诺代表的灵魂之爱，克里斯蒂安渴望的爱是占有，不在乎什么过程，西哈诺期盼的爱是奉献，只要爱人幸福，自己可以永远默默付出。罗克珊处于两种爱的拉扯中，从最初被克里斯蒂安的外表吸引，到逐渐沉迷于西哈诺通过信表达的灵魂之爱。当罗克珊说出</a:t>
            </a:r>
            <a:r>
              <a:rPr lang="en-US" altLang="zh-CN"/>
              <a:t>“</a:t>
            </a:r>
            <a:r>
              <a:rPr lang="zh-CN" altLang="en-US"/>
              <a:t>我爱的是同一个人，在他身上有两个人！</a:t>
            </a:r>
            <a:r>
              <a:rPr lang="en-US" altLang="zh-CN"/>
              <a:t>”</a:t>
            </a:r>
            <a:r>
              <a:rPr lang="zh-CN" altLang="en-US"/>
              <a:t>时，她点名了爱情的本质可能超越肉体身份的限制。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23950" y="5092700"/>
            <a:ext cx="7384415" cy="1173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在</a:t>
            </a:r>
            <a:r>
              <a:rPr lang="en-US" altLang="zh-CN"/>
              <a:t>19</a:t>
            </a:r>
            <a:r>
              <a:rPr lang="zh-CN" altLang="en-US"/>
              <a:t>世纪末沉闷、悲观、缺乏理想的法国，罗斯丹提出：生活不能没有理想、没有目标，也许这个理想你永远也无法实现，但是在努力去实现它的过程中，我们就使生活变得美好与高贵。罗斯丹的理想就是西哈诺所代表的英雄气质：自由独立、维护正义、保护弱者、不畏强权、正直忠实</a:t>
            </a:r>
            <a:r>
              <a:rPr lang="en-US" altLang="zh-CN"/>
              <a:t>……</a:t>
            </a:r>
            <a:r>
              <a:rPr lang="zh-CN" altLang="en-US"/>
              <a:t>藐视一切丑恶的东西：胆小懦弱、阿谀奉承、恃强凌弱、虚假伪善</a:t>
            </a:r>
            <a:r>
              <a:rPr lang="en-US" altLang="zh-CN"/>
              <a:t>……</a:t>
            </a:r>
            <a:endParaRPr lang="en-US" altLang="zh-CN"/>
          </a:p>
        </p:txBody>
      </p:sp>
      <p:pic>
        <p:nvPicPr>
          <p:cNvPr id="7" name="图片 6" descr="132853.551946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5905" y="1029335"/>
            <a:ext cx="3870325" cy="2175510"/>
          </a:xfrm>
          <a:prstGeom prst="rect">
            <a:avLst/>
          </a:prstGeom>
        </p:spPr>
      </p:pic>
      <p:pic>
        <p:nvPicPr>
          <p:cNvPr id="9" name="图片 8" descr="133041.144985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3589655"/>
            <a:ext cx="2527300" cy="1420495"/>
          </a:xfrm>
          <a:prstGeom prst="rect">
            <a:avLst/>
          </a:prstGeom>
        </p:spPr>
      </p:pic>
      <p:pic>
        <p:nvPicPr>
          <p:cNvPr id="8" name="图片 7" descr="133029.587923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3378200"/>
            <a:ext cx="2527935" cy="1420495"/>
          </a:xfrm>
          <a:prstGeom prst="rect">
            <a:avLst/>
          </a:prstGeom>
        </p:spPr>
      </p:pic>
      <p:pic>
        <p:nvPicPr>
          <p:cNvPr id="10" name="图片 9" descr="tmp43B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6190" y="4837430"/>
            <a:ext cx="2673985" cy="20205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艺术成就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62100"/>
            <a:ext cx="6203315" cy="4806950"/>
          </a:xfrm>
        </p:spPr>
        <p:txBody>
          <a:bodyPr>
            <a:noAutofit/>
          </a:bodyPr>
          <a:p>
            <a:r>
              <a:rPr lang="zh-CN" altLang="en-US" sz="1600"/>
              <a:t>剧本采用诗剧这一古典主义戏剧形式，不论独白还是对话大多使用亚历山大体，这种诗体结构严谨，每行</a:t>
            </a:r>
            <a:r>
              <a:rPr lang="en-US" altLang="zh-CN" sz="1600"/>
              <a:t>12</a:t>
            </a:r>
            <a:r>
              <a:rPr lang="zh-CN" altLang="en-US" sz="1600"/>
              <a:t>音节，每两行一韵，读起来朗朗上口，保持了高雅的诗意风格。这种语言选择本身就是对浪漫主义传统的回归和致敬，剧中西哈诺的独白和对话充满了机智、幽默和诗意，比如第一章中用多种方式形容自己的鼻子，以及在第三章即兴创作的爱情诗篇，都成为了法国戏剧史上的经典片段。</a:t>
            </a:r>
            <a:endParaRPr lang="zh-CN" altLang="en-US" sz="1600"/>
          </a:p>
          <a:p>
            <a:r>
              <a:rPr lang="zh-CN" altLang="en-US" sz="1600"/>
              <a:t>该剧被罗斯丹定义为英雄戏剧，但其中蕴含的悲剧情感同样强烈。剧作结构上机油轻松机智的场景，比如市场和宴会，也有壮阔的战争与殉情式的终幕。既有西哈诺在剧场中闹剧中的登场、对自己鼻子自嘲的喜剧色彩，也有他无私又自我牺牲的爱情带来的悲剧感。这种悲喜剧元素的交织使作品更加贴近人生的复杂本质，也体现了罗斯丹对戏剧形式的创新把握。</a:t>
            </a:r>
            <a:endParaRPr lang="zh-CN" altLang="en-US" sz="1600"/>
          </a:p>
          <a:p>
            <a:r>
              <a:rPr lang="zh-CN" altLang="en-US" sz="1600"/>
              <a:t>剧中月亮这一意象贯穿全剧，从西哈诺将肥胖的演员蒙弗勒里比作满月并要求他表演月食，到阳台场景中月光下的爱情告白，再到西哈诺假装自己是从月球上掉下来以拖延德</a:t>
            </a:r>
            <a:r>
              <a:rPr lang="en-US" altLang="zh-CN" sz="1600"/>
              <a:t>·</a:t>
            </a:r>
            <a:r>
              <a:rPr lang="zh-CN" altLang="en-US" sz="1600"/>
              <a:t>吉什公爵。在浪漫主义传统中，月亮常与诗意、梦想和神秘联系在一起，同时也象征着变化与永恒。通过月亮意象，既呼应历史上西哈诺作为科幻小说的先驱，对天文学具有浓厚的兴趣，也增添了剧作的浪漫氛围。</a:t>
            </a:r>
            <a:endParaRPr lang="zh-CN" altLang="en-US" sz="1600"/>
          </a:p>
        </p:txBody>
      </p:sp>
      <p:pic>
        <p:nvPicPr>
          <p:cNvPr id="6" name="图片 5" descr="tmpCE1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2445" y="0"/>
            <a:ext cx="4491355" cy="6858000"/>
          </a:xfrm>
          <a:prstGeom prst="rect">
            <a:avLst/>
          </a:prstGeom>
        </p:spPr>
      </p:pic>
      <p:pic>
        <p:nvPicPr>
          <p:cNvPr id="4" name="图片 3" descr="tmp383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585" y="37465"/>
            <a:ext cx="4209415" cy="3705225"/>
          </a:xfrm>
          <a:prstGeom prst="rect">
            <a:avLst/>
          </a:prstGeom>
        </p:spPr>
      </p:pic>
      <p:pic>
        <p:nvPicPr>
          <p:cNvPr id="5" name="图片 4" descr="tmp5C6F"/>
          <p:cNvPicPr>
            <a:picLocks noChangeAspect="1"/>
          </p:cNvPicPr>
          <p:nvPr/>
        </p:nvPicPr>
        <p:blipFill>
          <a:blip r:embed="rId3"/>
          <a:srcRect t="14000" r="6370"/>
          <a:stretch>
            <a:fillRect/>
          </a:stretch>
        </p:blipFill>
        <p:spPr>
          <a:xfrm>
            <a:off x="7982585" y="3742690"/>
            <a:ext cx="4272280" cy="1209675"/>
          </a:xfrm>
          <a:prstGeom prst="rect">
            <a:avLst/>
          </a:prstGeom>
        </p:spPr>
      </p:pic>
      <p:pic>
        <p:nvPicPr>
          <p:cNvPr id="7" name="图片 6" descr="tmp5C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445" y="1754505"/>
            <a:ext cx="3773170" cy="51034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1842</Words>
  <Application>WPS 演示</Application>
  <PresentationFormat>宽屏</PresentationFormat>
  <Paragraphs>25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WPS_1601472217</cp:lastModifiedBy>
  <cp:revision>5</cp:revision>
  <dcterms:created xsi:type="dcterms:W3CDTF">2023-08-09T12:44:00Z</dcterms:created>
  <dcterms:modified xsi:type="dcterms:W3CDTF">2025-10-28T11:47:00Z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F2309FAD470244D38F07E73FD7962407_12</vt:lpwstr>
  </property>
</Properties>
</file>