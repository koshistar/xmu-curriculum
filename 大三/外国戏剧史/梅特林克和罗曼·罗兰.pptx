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82A82-89D0-4C08-B7E0-88E1E00837C6}" type="datetimeFigureOut">
              <a:rPr lang="zh-CN" altLang="en-US" smtClean="0"/>
              <a:t>2025/9/30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8A3AE3-EA39-4ED9-B37A-FB98379653C7}" type="slidenum">
              <a:rPr lang="zh-CN" altLang="en-US" smtClean="0"/>
              <a:t>‹#›</a:t>
            </a:fld>
            <a:endParaRPr lang="zh-CN" altLang="en-US"/>
          </a:p>
        </p:txBody>
      </p:sp>
    </p:spTree>
    <p:extLst>
      <p:ext uri="{BB962C8B-B14F-4D97-AF65-F5344CB8AC3E}">
        <p14:creationId xmlns:p14="http://schemas.microsoft.com/office/powerpoint/2010/main" val="20891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A3AE3-EA39-4ED9-B37A-FB98379653C7}" type="slidenum">
              <a:rPr lang="zh-CN" altLang="en-US" smtClean="0"/>
              <a:t>2</a:t>
            </a:fld>
            <a:endParaRPr lang="zh-CN" altLang="en-US"/>
          </a:p>
        </p:txBody>
      </p:sp>
    </p:spTree>
    <p:extLst>
      <p:ext uri="{BB962C8B-B14F-4D97-AF65-F5344CB8AC3E}">
        <p14:creationId xmlns:p14="http://schemas.microsoft.com/office/powerpoint/2010/main" val="1101947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65F905-96A2-5EA0-04B0-496148A71B3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578AE69-DFCA-828B-4E2C-C06367A23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C48169-7088-1A52-4D77-5D2731C0C78B}"/>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B5AC01B4-E991-A8F0-F25E-ABC5C4F12B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98ACBE9-0FFC-BB66-EB5A-F4D5184C17D3}"/>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3926427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70CDE-1C68-47E8-AC98-4CE9DB34FC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B36854-2E37-15B5-12FE-4486C10C06D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AA3C96-C3C8-6FA6-2C38-758A5ED0C3CA}"/>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9718457C-7BDB-CA03-295A-FC4B554633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688B15-7CD3-BB87-3572-E0F60A2BD7AB}"/>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1009364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3C54A5-4E19-394D-107E-DBECBD3DA82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96CB65-9CFC-4D9C-82EB-086572804D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C1190A-EBF7-3B62-1CBD-12D49AA9C611}"/>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A672E12A-EF8F-8614-FF18-7AA1596F12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821278-5D7D-F57F-A333-431B639F04AF}"/>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413233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BEFDCF-FD6B-49A4-3C29-4D8CB7ACD8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B6E07E-D284-FCE7-D03B-22B0096321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C3D7E14-9FCD-318D-DFF2-1C6DE0D724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09FFF27-3AC1-9862-3AB6-0B1AB7E086AD}"/>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6AF05354-27E3-EE48-B509-317E2F9514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23EAA8-95F1-9AF0-1A27-283B680974CC}"/>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2415582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7AE13-6E23-48E6-4C0D-35A62B63E94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6EF4BC8-4A67-78D4-BEC8-CC831F586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A43EFA8-8960-6886-E69A-7EAA158F31D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B24F949-3900-ADA1-ACED-4DB469ED28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2788593-2D51-258B-BC97-E71E64A85FD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E06AA1B-2BAA-DB81-EADE-CD8B1862F14D}"/>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8" name="页脚占位符 7">
            <a:extLst>
              <a:ext uri="{FF2B5EF4-FFF2-40B4-BE49-F238E27FC236}">
                <a16:creationId xmlns:a16="http://schemas.microsoft.com/office/drawing/2014/main" id="{49F49989-AAA1-842F-0623-F3FBB5C1297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3FF6C79-A035-058D-E6DA-3E4CF6812DF2}"/>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336109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8E5900-77C0-F384-7FCB-AB9715B83D5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BA9D6A0-75FB-D858-B89A-1426FFA5107B}"/>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4" name="页脚占位符 3">
            <a:extLst>
              <a:ext uri="{FF2B5EF4-FFF2-40B4-BE49-F238E27FC236}">
                <a16:creationId xmlns:a16="http://schemas.microsoft.com/office/drawing/2014/main" id="{61F6EAE7-1EBC-2651-1696-53B4C5204CF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4195CF2-20EB-CF50-3C1C-B9BC323C6DF7}"/>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3765179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4E05012-B26F-293D-9C80-A31E084A881F}"/>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3" name="页脚占位符 2">
            <a:extLst>
              <a:ext uri="{FF2B5EF4-FFF2-40B4-BE49-F238E27FC236}">
                <a16:creationId xmlns:a16="http://schemas.microsoft.com/office/drawing/2014/main" id="{F56B3ED3-ED1F-098B-A4D3-2A8CDB94D75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6099EBA-3C1B-ABB7-6976-AC5BF4C0C31C}"/>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254992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C9714D-F21F-118A-914C-7A2225DF75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97ACD76-97F9-974E-AA66-B417ECD37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6B8ACC5-7C18-94E5-87DE-8228797D25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1B4641-67F5-EA3D-42A9-AFCAF8378A75}"/>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B8BC055B-1BB7-D149-3A61-E0E85ED992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D4A62A-5F90-4358-2C11-D58A664F33F4}"/>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57520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9C9B64-DEF0-EA92-E4DA-DBC2EEAE43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76FF13B-B2AD-AEE6-E3E4-451A08BE76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C4CFE0F-CFFC-DB3B-A02C-DF3B683A22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84ABF1-1EA9-5AD0-D64A-011E23CB8027}"/>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D528936D-88AA-1D51-6A95-81CCBB1A5E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08B732-451F-B757-48B2-7A17FD43878E}"/>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3646331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5258F9-4367-AEF0-DE86-1FAA6451FAD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D996866-F8BF-1023-25A1-386504C9426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ECF80A-BC90-7953-8D2F-DDE82E487EFC}"/>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A9998486-E2CD-D52D-C531-FB6BEDF7EE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D82BC4-3030-5AF7-63BD-CDE7A2C447A4}"/>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1983841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D2D316D-E3C4-2A8D-98F9-329EFF78031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9FAD424-E9F5-448C-B505-788898FB5A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157505-0428-F1E9-3D86-5F0AE40B5EC5}"/>
              </a:ext>
            </a:extLst>
          </p:cNvPr>
          <p:cNvSpPr>
            <a:spLocks noGrp="1"/>
          </p:cNvSpPr>
          <p:nvPr>
            <p:ph type="dt" sz="half" idx="10"/>
          </p:nvPr>
        </p:nvSpPr>
        <p:spPr/>
        <p:txBody>
          <a:body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4ED0643C-3505-22FD-4B0A-2FDE34D40B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3CCBD4-336E-D68C-A67E-270EA89A712D}"/>
              </a:ext>
            </a:extLst>
          </p:cNvPr>
          <p:cNvSpPr>
            <a:spLocks noGrp="1"/>
          </p:cNvSpPr>
          <p:nvPr>
            <p:ph type="sldNum" sz="quarter" idx="12"/>
          </p:nvPr>
        </p:nvSpPr>
        <p:spPr/>
        <p:txBody>
          <a:body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17400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ADE85C7-6C42-DBC0-5622-D69C817DB8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8DB9868-841C-7A2C-F7F0-D317CD5833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E0E6944-03C2-58A7-AE02-53E37F768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6B254-5163-4EC3-B551-459A3EA5BF58}"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128887F8-E47A-6B0A-B1A3-AAE76AECC9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8D70BB3-F755-A20A-17FB-41B4A57D9E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264D94-425D-449E-ABE9-DEB54EC26C16}" type="slidenum">
              <a:rPr lang="zh-CN" altLang="en-US" smtClean="0"/>
              <a:t>‹#›</a:t>
            </a:fld>
            <a:endParaRPr lang="zh-CN" altLang="en-US"/>
          </a:p>
        </p:txBody>
      </p:sp>
    </p:spTree>
    <p:extLst>
      <p:ext uri="{BB962C8B-B14F-4D97-AF65-F5344CB8AC3E}">
        <p14:creationId xmlns:p14="http://schemas.microsoft.com/office/powerpoint/2010/main" val="3341436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7F4369-8BF7-3E14-827D-844F8C22E84D}"/>
              </a:ext>
            </a:extLst>
          </p:cNvPr>
          <p:cNvSpPr txBox="1"/>
          <p:nvPr/>
        </p:nvSpPr>
        <p:spPr>
          <a:xfrm>
            <a:off x="0" y="0"/>
            <a:ext cx="11034792" cy="6740307"/>
          </a:xfrm>
          <a:prstGeom prst="rect">
            <a:avLst/>
          </a:prstGeom>
          <a:noFill/>
        </p:spPr>
        <p:txBody>
          <a:bodyPr wrap="square" rtlCol="0">
            <a:spAutoFit/>
          </a:bodyPr>
          <a:lstStyle/>
          <a:p>
            <a:r>
              <a:rPr lang="zh-CN" altLang="en-US" dirty="0"/>
              <a:t>梅特林克</a:t>
            </a:r>
          </a:p>
          <a:p>
            <a:endParaRPr lang="zh-CN" altLang="en-US" dirty="0"/>
          </a:p>
          <a:p>
            <a:r>
              <a:rPr lang="zh-CN" altLang="en-US" dirty="0"/>
              <a:t>个人简介</a:t>
            </a:r>
          </a:p>
          <a:p>
            <a:endParaRPr lang="zh-CN" altLang="en-US" dirty="0"/>
          </a:p>
          <a:p>
            <a:r>
              <a:rPr lang="zh-CN" altLang="en-US" dirty="0"/>
              <a:t>莫里斯</a:t>
            </a:r>
            <a:r>
              <a:rPr lang="en-US" altLang="zh-CN" dirty="0"/>
              <a:t>·</a:t>
            </a:r>
            <a:r>
              <a:rPr lang="zh-CN" altLang="en-US" dirty="0"/>
              <a:t>梅特林克（</a:t>
            </a:r>
            <a:r>
              <a:rPr lang="en-US" altLang="zh-CN" dirty="0"/>
              <a:t>Maurice Maeterlinck, 1862</a:t>
            </a:r>
            <a:r>
              <a:rPr lang="zh-CN" altLang="en-US" dirty="0"/>
              <a:t>年</a:t>
            </a:r>
            <a:r>
              <a:rPr lang="en-US" altLang="zh-CN" dirty="0"/>
              <a:t>8</a:t>
            </a:r>
            <a:r>
              <a:rPr lang="zh-CN" altLang="en-US" dirty="0"/>
              <a:t>月</a:t>
            </a:r>
            <a:r>
              <a:rPr lang="en-US" altLang="zh-CN" dirty="0"/>
              <a:t>29</a:t>
            </a:r>
            <a:r>
              <a:rPr lang="zh-CN" altLang="en-US" dirty="0"/>
              <a:t>日</a:t>
            </a:r>
            <a:r>
              <a:rPr lang="en-US" altLang="zh-CN" dirty="0"/>
              <a:t>-1949</a:t>
            </a:r>
            <a:r>
              <a:rPr lang="zh-CN" altLang="en-US" dirty="0"/>
              <a:t>年</a:t>
            </a:r>
            <a:r>
              <a:rPr lang="en-US" altLang="zh-CN" dirty="0"/>
              <a:t>5</a:t>
            </a:r>
            <a:r>
              <a:rPr lang="zh-CN" altLang="en-US" dirty="0"/>
              <a:t>月</a:t>
            </a:r>
            <a:r>
              <a:rPr lang="en-US" altLang="zh-CN" dirty="0"/>
              <a:t>5</a:t>
            </a:r>
            <a:r>
              <a:rPr lang="zh-CN" altLang="en-US" dirty="0"/>
              <a:t>日），比利时剧作家、诗人、散文家。</a:t>
            </a:r>
          </a:p>
          <a:p>
            <a:r>
              <a:rPr lang="zh-CN" altLang="en-US" dirty="0"/>
              <a:t>梅特林克于</a:t>
            </a:r>
            <a:r>
              <a:rPr lang="en-US" altLang="zh-CN" dirty="0"/>
              <a:t>1911</a:t>
            </a:r>
            <a:r>
              <a:rPr lang="zh-CN" altLang="en-US" dirty="0"/>
              <a:t>年获得了诺贝尔文学家。他是象征主义戏剧在创作实践和理论上的最高代表。</a:t>
            </a:r>
          </a:p>
          <a:p>
            <a:endParaRPr lang="zh-CN" altLang="en-US" dirty="0"/>
          </a:p>
          <a:p>
            <a:r>
              <a:rPr lang="zh-CN" altLang="en-US" dirty="0"/>
              <a:t>生平与创作</a:t>
            </a:r>
          </a:p>
          <a:p>
            <a:endParaRPr lang="zh-CN" altLang="en-US" dirty="0"/>
          </a:p>
          <a:p>
            <a:r>
              <a:rPr lang="zh-CN" altLang="en-US" dirty="0"/>
              <a:t>梅特林克出生于比利时根特市的一个富裕法语家庭。</a:t>
            </a:r>
          </a:p>
          <a:p>
            <a:r>
              <a:rPr lang="en-US" altLang="zh-CN" dirty="0"/>
              <a:t>1886</a:t>
            </a:r>
            <a:r>
              <a:rPr lang="zh-CN" altLang="en-US" dirty="0"/>
              <a:t>年，梅特林克在大学完成法律课程后迁居巴黎。在巴黎，梅特林克参加了许多象征主义文学活动，自此踏上了诗歌创作的道路。</a:t>
            </a:r>
          </a:p>
          <a:p>
            <a:r>
              <a:rPr lang="en-US" altLang="zh-CN" dirty="0"/>
              <a:t>1889</a:t>
            </a:r>
            <a:r>
              <a:rPr lang="zh-CN" altLang="en-US" dirty="0"/>
              <a:t>年，梅特林克开始专门从事写作。梅特林克一生写过</a:t>
            </a:r>
            <a:r>
              <a:rPr lang="en-US" altLang="zh-CN" dirty="0"/>
              <a:t>20</a:t>
            </a:r>
            <a:r>
              <a:rPr lang="zh-CN" altLang="en-US" dirty="0"/>
              <a:t>多个剧本，在</a:t>
            </a:r>
            <a:r>
              <a:rPr lang="en-US" altLang="zh-CN" dirty="0"/>
              <a:t>20</a:t>
            </a:r>
            <a:r>
              <a:rPr lang="zh-CN" altLang="en-US" dirty="0"/>
              <a:t>世纪初已成为象征主义戏剧的代表作家。</a:t>
            </a:r>
          </a:p>
          <a:p>
            <a:r>
              <a:rPr lang="zh-CN" altLang="en-US" dirty="0"/>
              <a:t>他通过象征手法透视人类的精神世界，在作品中融合诗意与哲学思考。</a:t>
            </a:r>
          </a:p>
          <a:p>
            <a:endParaRPr lang="zh-CN" altLang="en-US" dirty="0"/>
          </a:p>
          <a:p>
            <a:r>
              <a:rPr lang="zh-CN" altLang="en-US" dirty="0"/>
              <a:t>作品</a:t>
            </a:r>
          </a:p>
          <a:p>
            <a:endParaRPr lang="zh-CN" altLang="en-US" dirty="0"/>
          </a:p>
          <a:p>
            <a:r>
              <a:rPr lang="zh-CN" altLang="en-US" dirty="0"/>
              <a:t>散文集：</a:t>
            </a:r>
            <a:r>
              <a:rPr lang="en-US" altLang="zh-CN" dirty="0"/>
              <a:t>《</a:t>
            </a:r>
            <a:r>
              <a:rPr lang="zh-CN" altLang="en-US" dirty="0"/>
              <a:t>卑微者的财宝</a:t>
            </a:r>
            <a:r>
              <a:rPr lang="en-US" altLang="zh-CN" dirty="0"/>
              <a:t>》</a:t>
            </a:r>
            <a:r>
              <a:rPr lang="zh-CN" altLang="en-US" dirty="0"/>
              <a:t>、</a:t>
            </a:r>
            <a:r>
              <a:rPr lang="en-US" altLang="zh-CN" dirty="0"/>
              <a:t>《</a:t>
            </a:r>
            <a:r>
              <a:rPr lang="zh-CN" altLang="en-US" dirty="0"/>
              <a:t>蜜蜂的生活</a:t>
            </a:r>
            <a:r>
              <a:rPr lang="en-US" altLang="zh-CN" dirty="0"/>
              <a:t>》</a:t>
            </a:r>
            <a:r>
              <a:rPr lang="zh-CN" altLang="en-US" dirty="0"/>
              <a:t>、</a:t>
            </a:r>
            <a:r>
              <a:rPr lang="en-US" altLang="zh-CN" dirty="0"/>
              <a:t>《</a:t>
            </a:r>
            <a:r>
              <a:rPr lang="zh-CN" altLang="en-US" dirty="0"/>
              <a:t>双重的花园</a:t>
            </a:r>
            <a:r>
              <a:rPr lang="en-US" altLang="zh-CN" dirty="0"/>
              <a:t>》</a:t>
            </a:r>
            <a:r>
              <a:rPr lang="zh-CN" altLang="en-US" dirty="0"/>
              <a:t>、</a:t>
            </a:r>
            <a:r>
              <a:rPr lang="en-US" altLang="zh-CN" dirty="0"/>
              <a:t>《</a:t>
            </a:r>
            <a:r>
              <a:rPr lang="zh-CN" altLang="en-US" dirty="0"/>
              <a:t>花的智慧</a:t>
            </a:r>
            <a:r>
              <a:rPr lang="en-US" altLang="zh-CN" dirty="0"/>
              <a:t>》</a:t>
            </a:r>
            <a:r>
              <a:rPr lang="zh-CN" altLang="en-US" dirty="0"/>
              <a:t>、</a:t>
            </a:r>
            <a:r>
              <a:rPr lang="en-US" altLang="zh-CN" dirty="0"/>
              <a:t>《</a:t>
            </a:r>
            <a:r>
              <a:rPr lang="zh-CN" altLang="en-US" dirty="0"/>
              <a:t>大秘密</a:t>
            </a:r>
            <a:r>
              <a:rPr lang="en-US" altLang="zh-CN" dirty="0"/>
              <a:t>》</a:t>
            </a:r>
            <a:r>
              <a:rPr lang="zh-CN" altLang="en-US" dirty="0"/>
              <a:t>、</a:t>
            </a:r>
            <a:r>
              <a:rPr lang="en-US" altLang="zh-CN" dirty="0"/>
              <a:t>《</a:t>
            </a:r>
            <a:r>
              <a:rPr lang="zh-CN" altLang="en-US" dirty="0"/>
              <a:t>白蚁的生活</a:t>
            </a:r>
            <a:r>
              <a:rPr lang="en-US" altLang="zh-CN" dirty="0"/>
              <a:t>》</a:t>
            </a:r>
            <a:r>
              <a:rPr lang="zh-CN" altLang="en-US" dirty="0"/>
              <a:t>、</a:t>
            </a:r>
            <a:r>
              <a:rPr lang="en-US" altLang="zh-CN" dirty="0"/>
              <a:t>《</a:t>
            </a:r>
            <a:r>
              <a:rPr lang="zh-CN" altLang="en-US" dirty="0"/>
              <a:t>蚂蚁的生活</a:t>
            </a:r>
            <a:r>
              <a:rPr lang="en-US" altLang="zh-CN" dirty="0"/>
              <a:t>》</a:t>
            </a:r>
          </a:p>
          <a:p>
            <a:r>
              <a:rPr lang="zh-CN" altLang="en-US" dirty="0"/>
              <a:t>剧作：</a:t>
            </a:r>
            <a:r>
              <a:rPr lang="en-US" altLang="zh-CN" dirty="0"/>
              <a:t>《</a:t>
            </a:r>
            <a:r>
              <a:rPr lang="zh-CN" altLang="en-US" dirty="0"/>
              <a:t>玛莱娜公主</a:t>
            </a:r>
            <a:r>
              <a:rPr lang="en-US" altLang="zh-CN" dirty="0"/>
              <a:t>》</a:t>
            </a:r>
            <a:r>
              <a:rPr lang="zh-CN" altLang="en-US" dirty="0"/>
              <a:t>、</a:t>
            </a:r>
            <a:r>
              <a:rPr lang="en-US" altLang="zh-CN" dirty="0"/>
              <a:t>《</a:t>
            </a:r>
            <a:r>
              <a:rPr lang="zh-CN" altLang="en-US" dirty="0"/>
              <a:t>不速之客</a:t>
            </a:r>
            <a:r>
              <a:rPr lang="en-US" altLang="zh-CN" dirty="0"/>
              <a:t>》</a:t>
            </a:r>
            <a:r>
              <a:rPr lang="zh-CN" altLang="en-US" dirty="0"/>
              <a:t>、</a:t>
            </a:r>
            <a:r>
              <a:rPr lang="en-US" altLang="zh-CN" dirty="0"/>
              <a:t>《</a:t>
            </a:r>
            <a:r>
              <a:rPr lang="zh-CN" altLang="en-US" dirty="0"/>
              <a:t>盲人</a:t>
            </a:r>
            <a:r>
              <a:rPr lang="en-US" altLang="zh-CN" dirty="0"/>
              <a:t>》</a:t>
            </a:r>
            <a:r>
              <a:rPr lang="zh-CN" altLang="en-US" dirty="0"/>
              <a:t>、</a:t>
            </a:r>
            <a:r>
              <a:rPr lang="en-US" altLang="zh-CN" dirty="0"/>
              <a:t>《</a:t>
            </a:r>
            <a:r>
              <a:rPr lang="zh-CN" altLang="en-US" dirty="0"/>
              <a:t>七公主</a:t>
            </a:r>
            <a:r>
              <a:rPr lang="en-US" altLang="zh-CN" dirty="0"/>
              <a:t>》</a:t>
            </a:r>
            <a:r>
              <a:rPr lang="zh-CN" altLang="en-US" dirty="0"/>
              <a:t>、</a:t>
            </a:r>
            <a:r>
              <a:rPr lang="en-US" altLang="zh-CN" dirty="0"/>
              <a:t>《</a:t>
            </a:r>
            <a:r>
              <a:rPr lang="zh-CN" altLang="en-US" dirty="0"/>
              <a:t>佩列阿斯和梅丽桑德</a:t>
            </a:r>
            <a:r>
              <a:rPr lang="en-US" altLang="zh-CN" dirty="0"/>
              <a:t>》</a:t>
            </a:r>
            <a:r>
              <a:rPr lang="zh-CN" altLang="en-US" dirty="0"/>
              <a:t>、</a:t>
            </a:r>
            <a:r>
              <a:rPr lang="en-US" altLang="zh-CN" dirty="0"/>
              <a:t>《</a:t>
            </a:r>
            <a:r>
              <a:rPr lang="zh-CN" altLang="en-US" dirty="0"/>
              <a:t>阿拉丁和帕洛密德</a:t>
            </a:r>
            <a:r>
              <a:rPr lang="en-US" altLang="zh-CN" dirty="0"/>
              <a:t>》</a:t>
            </a:r>
            <a:r>
              <a:rPr lang="zh-CN" altLang="en-US" dirty="0"/>
              <a:t>、</a:t>
            </a:r>
            <a:r>
              <a:rPr lang="en-US" altLang="zh-CN" dirty="0"/>
              <a:t>《</a:t>
            </a:r>
            <a:r>
              <a:rPr lang="zh-CN" altLang="en-US" dirty="0"/>
              <a:t>丹达吉勒之死</a:t>
            </a:r>
            <a:r>
              <a:rPr lang="en-US" altLang="zh-CN" dirty="0"/>
              <a:t>》</a:t>
            </a:r>
            <a:r>
              <a:rPr lang="zh-CN" altLang="en-US" dirty="0"/>
              <a:t>、</a:t>
            </a:r>
            <a:r>
              <a:rPr lang="en-US" altLang="zh-CN" dirty="0"/>
              <a:t>《</a:t>
            </a:r>
            <a:r>
              <a:rPr lang="zh-CN" altLang="en-US" dirty="0"/>
              <a:t>室内</a:t>
            </a:r>
            <a:r>
              <a:rPr lang="en-US" altLang="zh-CN" dirty="0"/>
              <a:t>》</a:t>
            </a:r>
            <a:r>
              <a:rPr lang="zh-CN" altLang="en-US" dirty="0"/>
              <a:t>、</a:t>
            </a:r>
            <a:r>
              <a:rPr lang="en-US" altLang="zh-CN" dirty="0"/>
              <a:t>《</a:t>
            </a:r>
            <a:r>
              <a:rPr lang="zh-CN" altLang="en-US" dirty="0"/>
              <a:t>阿里亚娜与蓝胡子</a:t>
            </a:r>
            <a:r>
              <a:rPr lang="en-US" altLang="zh-CN" dirty="0"/>
              <a:t>》</a:t>
            </a:r>
            <a:r>
              <a:rPr lang="zh-CN" altLang="en-US" dirty="0"/>
              <a:t>、</a:t>
            </a:r>
            <a:r>
              <a:rPr lang="en-US" altLang="zh-CN" dirty="0"/>
              <a:t>《</a:t>
            </a:r>
            <a:r>
              <a:rPr lang="zh-CN" altLang="en-US" dirty="0"/>
              <a:t>乔赛尔</a:t>
            </a:r>
            <a:r>
              <a:rPr lang="en-US" altLang="zh-CN" dirty="0"/>
              <a:t>》</a:t>
            </a:r>
            <a:r>
              <a:rPr lang="zh-CN" altLang="en-US" dirty="0"/>
              <a:t>、</a:t>
            </a:r>
            <a:r>
              <a:rPr lang="en-US" altLang="zh-CN" dirty="0"/>
              <a:t>《</a:t>
            </a:r>
            <a:r>
              <a:rPr lang="zh-CN" altLang="en-US" dirty="0"/>
              <a:t>青鸟</a:t>
            </a:r>
            <a:r>
              <a:rPr lang="en-US" altLang="zh-CN" dirty="0"/>
              <a:t>》</a:t>
            </a:r>
            <a:r>
              <a:rPr lang="zh-CN" altLang="en-US" dirty="0"/>
              <a:t>、</a:t>
            </a:r>
            <a:r>
              <a:rPr lang="en-US" altLang="zh-CN" dirty="0"/>
              <a:t>《</a:t>
            </a:r>
            <a:r>
              <a:rPr lang="zh-CN" altLang="en-US" dirty="0"/>
              <a:t>玛丽</a:t>
            </a:r>
            <a:r>
              <a:rPr lang="en-US" altLang="zh-CN" dirty="0"/>
              <a:t>·</a:t>
            </a:r>
            <a:r>
              <a:rPr lang="zh-CN" altLang="en-US" dirty="0"/>
              <a:t>玛格林娜</a:t>
            </a:r>
            <a:r>
              <a:rPr lang="en-US" altLang="zh-CN" dirty="0"/>
              <a:t>》</a:t>
            </a:r>
            <a:r>
              <a:rPr lang="zh-CN" altLang="en-US" dirty="0"/>
              <a:t>、</a:t>
            </a:r>
            <a:r>
              <a:rPr lang="en-US" altLang="zh-CN" dirty="0"/>
              <a:t>《</a:t>
            </a:r>
            <a:r>
              <a:rPr lang="zh-CN" altLang="en-US" dirty="0"/>
              <a:t>圣安东的显灵</a:t>
            </a:r>
            <a:r>
              <a:rPr lang="en-US" altLang="zh-CN" dirty="0"/>
              <a:t>》</a:t>
            </a:r>
            <a:r>
              <a:rPr lang="zh-CN" altLang="en-US" dirty="0"/>
              <a:t>、</a:t>
            </a:r>
            <a:r>
              <a:rPr lang="en-US" altLang="zh-CN" dirty="0"/>
              <a:t>《</a:t>
            </a:r>
            <a:r>
              <a:rPr lang="zh-CN" altLang="en-US" dirty="0"/>
              <a:t>斯蒂尔蒙德市长</a:t>
            </a:r>
            <a:r>
              <a:rPr lang="en-US" altLang="zh-CN" dirty="0"/>
              <a:t>》</a:t>
            </a:r>
            <a:r>
              <a:rPr lang="zh-CN" altLang="en-US" dirty="0"/>
              <a:t>、</a:t>
            </a:r>
            <a:r>
              <a:rPr lang="en-US" altLang="zh-CN" dirty="0"/>
              <a:t>《</a:t>
            </a:r>
            <a:r>
              <a:rPr lang="zh-CN" altLang="en-US" dirty="0"/>
              <a:t>冉</a:t>
            </a:r>
            <a:r>
              <a:rPr lang="en-US" altLang="zh-CN" dirty="0"/>
              <a:t>·</a:t>
            </a:r>
            <a:r>
              <a:rPr lang="zh-CN" altLang="en-US" dirty="0"/>
              <a:t>达克</a:t>
            </a:r>
            <a:r>
              <a:rPr lang="en-US" altLang="zh-CN" dirty="0"/>
              <a:t>》</a:t>
            </a:r>
          </a:p>
          <a:p>
            <a:endParaRPr lang="en-US" altLang="zh-CN" dirty="0"/>
          </a:p>
        </p:txBody>
      </p:sp>
      <p:pic>
        <p:nvPicPr>
          <p:cNvPr id="6" name="图片 5">
            <a:extLst>
              <a:ext uri="{FF2B5EF4-FFF2-40B4-BE49-F238E27FC236}">
                <a16:creationId xmlns:a16="http://schemas.microsoft.com/office/drawing/2014/main" id="{A4C3AAEC-CF00-A236-7E2C-C92362E67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1233" y="219235"/>
            <a:ext cx="1333500" cy="1885950"/>
          </a:xfrm>
          <a:prstGeom prst="rect">
            <a:avLst/>
          </a:prstGeom>
        </p:spPr>
      </p:pic>
    </p:spTree>
    <p:extLst>
      <p:ext uri="{BB962C8B-B14F-4D97-AF65-F5344CB8AC3E}">
        <p14:creationId xmlns:p14="http://schemas.microsoft.com/office/powerpoint/2010/main" val="2588475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10D6C2F-0D2F-A237-E1DF-AD53063D5B9B}"/>
              </a:ext>
            </a:extLst>
          </p:cNvPr>
          <p:cNvSpPr txBox="1"/>
          <p:nvPr/>
        </p:nvSpPr>
        <p:spPr>
          <a:xfrm>
            <a:off x="0" y="273704"/>
            <a:ext cx="4395267" cy="6186309"/>
          </a:xfrm>
          <a:prstGeom prst="rect">
            <a:avLst/>
          </a:prstGeom>
          <a:noFill/>
        </p:spPr>
        <p:txBody>
          <a:bodyPr wrap="square" rtlCol="0">
            <a:spAutoFit/>
          </a:bodyPr>
          <a:lstStyle/>
          <a:p>
            <a:r>
              <a:rPr lang="zh-CN" altLang="en-US" dirty="0"/>
              <a:t>主要流派及其核心主张：象征主义戏剧</a:t>
            </a:r>
          </a:p>
          <a:p>
            <a:endParaRPr lang="zh-CN" altLang="en-US" dirty="0"/>
          </a:p>
          <a:p>
            <a:r>
              <a:rPr lang="zh-CN" altLang="en-US" dirty="0"/>
              <a:t>象征主义戏剧是西方现代主义戏剧流派之一。其艺术思潮最早产生与</a:t>
            </a:r>
            <a:r>
              <a:rPr lang="en-US" altLang="zh-CN" dirty="0"/>
              <a:t>19</a:t>
            </a:r>
            <a:r>
              <a:rPr lang="zh-CN" altLang="en-US" dirty="0"/>
              <a:t>世纪中叶法国的诗歌界。</a:t>
            </a:r>
          </a:p>
          <a:p>
            <a:r>
              <a:rPr lang="zh-CN" altLang="en-US" dirty="0"/>
              <a:t>象征主义戏剧反对模仿现实的自然主义戏剧与现实主义戏剧。</a:t>
            </a:r>
          </a:p>
          <a:p>
            <a:r>
              <a:rPr lang="zh-CN" altLang="en-US" dirty="0"/>
              <a:t>该流派主张通过象征、暗示、和隐喻表现宇宙万物与人类精神的对应关系，剧作常常融入神秘主义色彩与非理性元素。</a:t>
            </a:r>
          </a:p>
          <a:p>
            <a:r>
              <a:rPr lang="zh-CN" altLang="en-US" dirty="0"/>
              <a:t>象征主义的基本特征是：否定真实、客观地描写现实、强调表现直觉和幻想，注重主观性与内向型，追求所谓内心的</a:t>
            </a:r>
            <a:r>
              <a:rPr lang="en-US" altLang="zh-CN" dirty="0"/>
              <a:t>"</a:t>
            </a:r>
            <a:r>
              <a:rPr lang="zh-CN" altLang="en-US" dirty="0"/>
              <a:t>最高的真实</a:t>
            </a:r>
            <a:r>
              <a:rPr lang="en-US" altLang="zh-CN" dirty="0"/>
              <a:t>"</a:t>
            </a:r>
            <a:r>
              <a:rPr lang="zh-CN" altLang="en-US" dirty="0"/>
              <a:t>。</a:t>
            </a:r>
          </a:p>
          <a:p>
            <a:r>
              <a:rPr lang="zh-CN" altLang="en-US" dirty="0"/>
              <a:t>象征主义的产生在哲学上受到尼采、柏格森的</a:t>
            </a:r>
            <a:r>
              <a:rPr lang="en-US" altLang="zh-CN" dirty="0"/>
              <a:t>"</a:t>
            </a:r>
            <a:r>
              <a:rPr lang="zh-CN" altLang="en-US" dirty="0"/>
              <a:t>生命哲学</a:t>
            </a:r>
            <a:r>
              <a:rPr lang="en-US" altLang="zh-CN" dirty="0"/>
              <a:t>"</a:t>
            </a:r>
            <a:r>
              <a:rPr lang="zh-CN" altLang="en-US" dirty="0"/>
              <a:t>的影响，认为存在于现象界之外的物自体是不能被人的理性认识能力达到的，只好借助艺术家的直觉创造出来的象征，把它暗示出来。</a:t>
            </a:r>
          </a:p>
          <a:p>
            <a:r>
              <a:rPr lang="zh-CN" altLang="en-US" dirty="0"/>
              <a:t>该派剧作家常常对资本主义社会的各种病态现象深感厌恶、绝望，转而构建一个</a:t>
            </a:r>
            <a:r>
              <a:rPr lang="en-US" altLang="zh-CN" dirty="0"/>
              <a:t>"</a:t>
            </a:r>
            <a:r>
              <a:rPr lang="zh-CN" altLang="en-US" dirty="0"/>
              <a:t>彼岸世界</a:t>
            </a:r>
            <a:r>
              <a:rPr lang="en-US" altLang="zh-CN" dirty="0"/>
              <a:t>"</a:t>
            </a:r>
            <a:r>
              <a:rPr lang="zh-CN" altLang="en-US" dirty="0"/>
              <a:t>。</a:t>
            </a:r>
          </a:p>
        </p:txBody>
      </p:sp>
      <p:sp>
        <p:nvSpPr>
          <p:cNvPr id="3" name="文本框 2">
            <a:extLst>
              <a:ext uri="{FF2B5EF4-FFF2-40B4-BE49-F238E27FC236}">
                <a16:creationId xmlns:a16="http://schemas.microsoft.com/office/drawing/2014/main" id="{F73BFF0C-7DE1-CCE9-C2FC-02BD619496D3}"/>
              </a:ext>
            </a:extLst>
          </p:cNvPr>
          <p:cNvSpPr txBox="1"/>
          <p:nvPr/>
        </p:nvSpPr>
        <p:spPr>
          <a:xfrm>
            <a:off x="4264927" y="197346"/>
            <a:ext cx="6692213" cy="6463308"/>
          </a:xfrm>
          <a:prstGeom prst="rect">
            <a:avLst/>
          </a:prstGeom>
          <a:noFill/>
        </p:spPr>
        <p:txBody>
          <a:bodyPr wrap="square" rtlCol="0">
            <a:spAutoFit/>
          </a:bodyPr>
          <a:lstStyle/>
          <a:p>
            <a:r>
              <a:rPr lang="en-US" altLang="zh-CN" dirty="0"/>
              <a:t>《</a:t>
            </a:r>
            <a:r>
              <a:rPr lang="zh-CN" altLang="en-US" dirty="0"/>
              <a:t>青鸟</a:t>
            </a:r>
            <a:r>
              <a:rPr lang="en-US" altLang="zh-CN" dirty="0"/>
              <a:t>》</a:t>
            </a:r>
            <a:r>
              <a:rPr lang="zh-CN" altLang="en-US" dirty="0"/>
              <a:t>与影响</a:t>
            </a:r>
          </a:p>
          <a:p>
            <a:endParaRPr lang="zh-CN" altLang="en-US" dirty="0"/>
          </a:p>
          <a:p>
            <a:r>
              <a:rPr lang="zh-CN" altLang="en-US" dirty="0"/>
              <a:t>在梅特林克的象征主义戏剧代表作</a:t>
            </a:r>
            <a:r>
              <a:rPr lang="en-US" altLang="zh-CN" dirty="0"/>
              <a:t>《</a:t>
            </a:r>
            <a:r>
              <a:rPr lang="zh-CN" altLang="en-US" dirty="0"/>
              <a:t>青鸟</a:t>
            </a:r>
            <a:r>
              <a:rPr lang="en-US" altLang="zh-CN" dirty="0"/>
              <a:t>》</a:t>
            </a:r>
            <a:r>
              <a:rPr lang="zh-CN" altLang="en-US" dirty="0"/>
              <a:t>中，他巧妙地集合了象征主义戏剧的核心特征，建构出一个充满隐喻的舞台世界。</a:t>
            </a:r>
          </a:p>
          <a:p>
            <a:endParaRPr lang="zh-CN" altLang="en-US" dirty="0"/>
          </a:p>
          <a:p>
            <a:r>
              <a:rPr lang="zh-CN" altLang="en-US" dirty="0"/>
              <a:t>戏剧讲述了樵夫的孩子蒂蒂尔和米蒂尔在圣诞节前夜受仙女之托为邻家生病的女孩寻找青鸟的故事。</a:t>
            </a:r>
          </a:p>
          <a:p>
            <a:endParaRPr lang="zh-CN" altLang="en-US" dirty="0"/>
          </a:p>
          <a:p>
            <a:r>
              <a:rPr lang="en-US" altLang="zh-CN" dirty="0"/>
              <a:t>《</a:t>
            </a:r>
            <a:r>
              <a:rPr lang="zh-CN" altLang="en-US" dirty="0"/>
              <a:t>青鸟</a:t>
            </a:r>
            <a:r>
              <a:rPr lang="en-US" altLang="zh-CN" dirty="0"/>
              <a:t>》</a:t>
            </a:r>
            <a:r>
              <a:rPr lang="zh-CN" altLang="en-US" dirty="0"/>
              <a:t>通过建构庞大的象征体系，将舞台转化为探寻生命奥秘的诗意空间，集中体现了象征主义戏剧的核心追求。</a:t>
            </a:r>
          </a:p>
          <a:p>
            <a:endParaRPr lang="zh-CN" altLang="en-US" dirty="0"/>
          </a:p>
          <a:p>
            <a:r>
              <a:rPr lang="zh-CN" altLang="en-US" dirty="0"/>
              <a:t>剧名</a:t>
            </a:r>
            <a:r>
              <a:rPr lang="en-US" altLang="zh-CN" dirty="0"/>
              <a:t>《</a:t>
            </a:r>
            <a:r>
              <a:rPr lang="zh-CN" altLang="en-US" dirty="0"/>
              <a:t>青鸟</a:t>
            </a:r>
            <a:r>
              <a:rPr lang="en-US" altLang="zh-CN" dirty="0"/>
              <a:t>》</a:t>
            </a:r>
            <a:r>
              <a:rPr lang="zh-CN" altLang="en-US" dirty="0"/>
              <a:t>象征着幸福，故事中主角在寻找青鸟的过程就是人类对幸福真谛的探索过程。剧作向我们传递出幸福不在远方，而在我们的日常生活中。</a:t>
            </a:r>
          </a:p>
          <a:p>
            <a:endParaRPr lang="zh-CN" altLang="en-US" dirty="0"/>
          </a:p>
          <a:p>
            <a:r>
              <a:rPr lang="zh-CN" altLang="en-US" dirty="0"/>
              <a:t>舞台上出现的元素都是某种抽象观念的象征。例如，在剧作中，</a:t>
            </a:r>
            <a:r>
              <a:rPr lang="en-US" altLang="zh-CN" dirty="0"/>
              <a:t>"</a:t>
            </a:r>
            <a:r>
              <a:rPr lang="zh-CN" altLang="en-US" dirty="0"/>
              <a:t>光</a:t>
            </a:r>
            <a:r>
              <a:rPr lang="en-US" altLang="zh-CN" dirty="0"/>
              <a:t>"</a:t>
            </a:r>
            <a:r>
              <a:rPr lang="zh-CN" altLang="en-US" dirty="0"/>
              <a:t>代表着智慧、理性以及指引。狗与猫分别象征着忠诚于狡诈。</a:t>
            </a:r>
          </a:p>
          <a:p>
            <a:endParaRPr lang="zh-CN" altLang="en-US" dirty="0"/>
          </a:p>
          <a:p>
            <a:r>
              <a:rPr lang="zh-CN" altLang="en-US" dirty="0"/>
              <a:t>影响：梅特林克的象征主义戏剧对后人产生了巨大影响。有些重要作品被欧洲艺术家改编成歌剧或舞剧广为流传。同时，梅特林克的戏剧也极大影响了后来的表现主义、超现实主义与荒诞派戏剧。</a:t>
            </a:r>
          </a:p>
          <a:p>
            <a:endParaRPr lang="zh-CN" altLang="en-US" dirty="0"/>
          </a:p>
        </p:txBody>
      </p:sp>
      <p:pic>
        <p:nvPicPr>
          <p:cNvPr id="5" name="图片 4">
            <a:extLst>
              <a:ext uri="{FF2B5EF4-FFF2-40B4-BE49-F238E27FC236}">
                <a16:creationId xmlns:a16="http://schemas.microsoft.com/office/drawing/2014/main" id="{02CE760E-4ED0-0B84-BD9A-4AF285DCD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2147" y="0"/>
            <a:ext cx="1439853" cy="1701092"/>
          </a:xfrm>
          <a:prstGeom prst="rect">
            <a:avLst/>
          </a:prstGeom>
        </p:spPr>
      </p:pic>
    </p:spTree>
    <p:extLst>
      <p:ext uri="{BB962C8B-B14F-4D97-AF65-F5344CB8AC3E}">
        <p14:creationId xmlns:p14="http://schemas.microsoft.com/office/powerpoint/2010/main" val="134768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022FC18-59CF-89F1-184E-EB7A318A0C70}"/>
              </a:ext>
            </a:extLst>
          </p:cNvPr>
          <p:cNvSpPr txBox="1"/>
          <p:nvPr/>
        </p:nvSpPr>
        <p:spPr>
          <a:xfrm>
            <a:off x="247974" y="117693"/>
            <a:ext cx="11174278" cy="6740307"/>
          </a:xfrm>
          <a:prstGeom prst="rect">
            <a:avLst/>
          </a:prstGeom>
          <a:noFill/>
        </p:spPr>
        <p:txBody>
          <a:bodyPr wrap="square" rtlCol="0">
            <a:spAutoFit/>
          </a:bodyPr>
          <a:lstStyle/>
          <a:p>
            <a:r>
              <a:rPr lang="zh-CN" altLang="en-US" dirty="0"/>
              <a:t>罗曼</a:t>
            </a:r>
            <a:r>
              <a:rPr lang="en-US" altLang="zh-CN" dirty="0"/>
              <a:t>·</a:t>
            </a:r>
            <a:r>
              <a:rPr lang="zh-CN" altLang="en-US" dirty="0"/>
              <a:t>罗兰</a:t>
            </a:r>
          </a:p>
          <a:p>
            <a:endParaRPr lang="zh-CN" altLang="en-US" dirty="0"/>
          </a:p>
          <a:p>
            <a:r>
              <a:rPr lang="zh-CN" altLang="en-US" dirty="0"/>
              <a:t>个人简介</a:t>
            </a:r>
          </a:p>
          <a:p>
            <a:endParaRPr lang="zh-CN" altLang="en-US" dirty="0"/>
          </a:p>
          <a:p>
            <a:r>
              <a:rPr lang="zh-CN" altLang="en-US" dirty="0"/>
              <a:t>罗曼</a:t>
            </a:r>
            <a:r>
              <a:rPr lang="en-US" altLang="zh-CN" dirty="0"/>
              <a:t>·</a:t>
            </a:r>
            <a:r>
              <a:rPr lang="zh-CN" altLang="en-US" dirty="0"/>
              <a:t>罗兰（</a:t>
            </a:r>
            <a:r>
              <a:rPr lang="en-US" altLang="zh-CN" dirty="0"/>
              <a:t>Romain Rolland</a:t>
            </a:r>
            <a:r>
              <a:rPr lang="zh-CN" altLang="en-US" dirty="0"/>
              <a:t>，</a:t>
            </a:r>
            <a:r>
              <a:rPr lang="en-US" altLang="zh-CN" dirty="0"/>
              <a:t>1866</a:t>
            </a:r>
            <a:r>
              <a:rPr lang="zh-CN" altLang="en-US" dirty="0"/>
              <a:t>年</a:t>
            </a:r>
            <a:r>
              <a:rPr lang="en-US" altLang="zh-CN" dirty="0"/>
              <a:t>1</a:t>
            </a:r>
            <a:r>
              <a:rPr lang="zh-CN" altLang="en-US" dirty="0"/>
              <a:t>月</a:t>
            </a:r>
            <a:r>
              <a:rPr lang="en-US" altLang="zh-CN" dirty="0"/>
              <a:t>29</a:t>
            </a:r>
            <a:r>
              <a:rPr lang="zh-CN" altLang="en-US" dirty="0"/>
              <a:t>日</a:t>
            </a:r>
            <a:r>
              <a:rPr lang="en-US" altLang="zh-CN" dirty="0"/>
              <a:t>---1944</a:t>
            </a:r>
            <a:r>
              <a:rPr lang="zh-CN" altLang="en-US" dirty="0"/>
              <a:t>年</a:t>
            </a:r>
            <a:r>
              <a:rPr lang="en-US" altLang="zh-CN" dirty="0"/>
              <a:t>12</a:t>
            </a:r>
            <a:r>
              <a:rPr lang="zh-CN" altLang="en-US" dirty="0"/>
              <a:t>月</a:t>
            </a:r>
            <a:r>
              <a:rPr lang="en-US" altLang="zh-CN" dirty="0"/>
              <a:t>30</a:t>
            </a:r>
            <a:r>
              <a:rPr lang="zh-CN" altLang="en-US" dirty="0"/>
              <a:t>日），法国剧作家、思</a:t>
            </a:r>
            <a:endParaRPr lang="en-US" altLang="zh-CN" dirty="0"/>
          </a:p>
          <a:p>
            <a:r>
              <a:rPr lang="zh-CN" altLang="en-US" dirty="0"/>
              <a:t>想家、文学家、音乐评论家、社会活动家。罗曼</a:t>
            </a:r>
            <a:r>
              <a:rPr lang="en-US" altLang="zh-CN" dirty="0"/>
              <a:t>·</a:t>
            </a:r>
            <a:r>
              <a:rPr lang="zh-CN" altLang="en-US" dirty="0"/>
              <a:t>罗兰于</a:t>
            </a:r>
            <a:r>
              <a:rPr lang="en-US" altLang="zh-CN" dirty="0"/>
              <a:t>1915</a:t>
            </a:r>
            <a:r>
              <a:rPr lang="zh-CN" altLang="en-US" dirty="0"/>
              <a:t>年获得了诺贝尔文学奖。他</a:t>
            </a:r>
            <a:endParaRPr lang="en-US" altLang="zh-CN" dirty="0"/>
          </a:p>
          <a:p>
            <a:r>
              <a:rPr lang="zh-CN" altLang="en-US" dirty="0"/>
              <a:t>是</a:t>
            </a:r>
            <a:r>
              <a:rPr lang="en-US" altLang="zh-CN" dirty="0"/>
              <a:t>20</a:t>
            </a:r>
            <a:r>
              <a:rPr lang="zh-CN" altLang="en-US" dirty="0"/>
              <a:t>世纪初欧洲</a:t>
            </a:r>
            <a:r>
              <a:rPr lang="en-US" altLang="zh-CN" dirty="0"/>
              <a:t>"</a:t>
            </a:r>
            <a:r>
              <a:rPr lang="zh-CN" altLang="en-US" dirty="0"/>
              <a:t>民众戏剧</a:t>
            </a:r>
            <a:r>
              <a:rPr lang="en-US" altLang="zh-CN" dirty="0"/>
              <a:t>"</a:t>
            </a:r>
            <a:r>
              <a:rPr lang="zh-CN" altLang="en-US" dirty="0"/>
              <a:t>运动的重要倡导者和实践者，也是一位深刻关注人类精神与</a:t>
            </a:r>
            <a:endParaRPr lang="en-US" altLang="zh-CN" dirty="0"/>
          </a:p>
          <a:p>
            <a:r>
              <a:rPr lang="zh-CN" altLang="en-US" dirty="0"/>
              <a:t>社会命运的作家。</a:t>
            </a:r>
          </a:p>
          <a:p>
            <a:endParaRPr lang="zh-CN" altLang="en-US" dirty="0"/>
          </a:p>
          <a:p>
            <a:r>
              <a:rPr lang="zh-CN" altLang="en-US" dirty="0"/>
              <a:t>生平与思想</a:t>
            </a:r>
          </a:p>
          <a:p>
            <a:r>
              <a:rPr lang="zh-CN" altLang="en-US" dirty="0"/>
              <a:t>罗兰出生于法国克拉姆西的一个中产阶级家庭。早年就读于巴黎高等师范学院，主修历史，后前往罗马进修艺术史。回国后在巴黎大学讲授艺术史，并从事文学创作。</a:t>
            </a:r>
          </a:p>
          <a:p>
            <a:r>
              <a:rPr lang="zh-CN" altLang="en-US" dirty="0"/>
              <a:t>罗兰一生致力于通过文学与戏剧唤醒民众的精神意识，倡导艺术应为大众服务。他的作品充满理想主义与人道主义精神，在两次世界大战期间，他坚持反战立场，成为欧洲知识分子的良心。</a:t>
            </a:r>
          </a:p>
          <a:p>
            <a:endParaRPr lang="zh-CN" altLang="en-US" dirty="0"/>
          </a:p>
          <a:p>
            <a:r>
              <a:rPr lang="zh-CN" altLang="en-US" dirty="0"/>
              <a:t>作品</a:t>
            </a:r>
          </a:p>
          <a:p>
            <a:endParaRPr lang="zh-CN" altLang="en-US" dirty="0"/>
          </a:p>
          <a:p>
            <a:r>
              <a:rPr lang="zh-CN" altLang="en-US" dirty="0"/>
              <a:t>戏剧：</a:t>
            </a:r>
            <a:r>
              <a:rPr lang="en-US" altLang="zh-CN" dirty="0"/>
              <a:t>《</a:t>
            </a:r>
            <a:r>
              <a:rPr lang="zh-CN" altLang="en-US" dirty="0"/>
              <a:t>革命戏剧集</a:t>
            </a:r>
            <a:r>
              <a:rPr lang="en-US" altLang="zh-CN" dirty="0"/>
              <a:t>》</a:t>
            </a:r>
            <a:r>
              <a:rPr lang="zh-CN" altLang="en-US" dirty="0"/>
              <a:t>（包括</a:t>
            </a:r>
            <a:r>
              <a:rPr lang="en-US" altLang="zh-CN" dirty="0"/>
              <a:t>《</a:t>
            </a:r>
            <a:r>
              <a:rPr lang="zh-CN" altLang="en-US" dirty="0"/>
              <a:t>群狼</a:t>
            </a:r>
            <a:r>
              <a:rPr lang="en-US" altLang="zh-CN" dirty="0"/>
              <a:t>》</a:t>
            </a:r>
            <a:r>
              <a:rPr lang="zh-CN" altLang="en-US" dirty="0"/>
              <a:t>、</a:t>
            </a:r>
            <a:r>
              <a:rPr lang="en-US" altLang="zh-CN" dirty="0"/>
              <a:t>《</a:t>
            </a:r>
            <a:r>
              <a:rPr lang="zh-CN" altLang="en-US" dirty="0"/>
              <a:t>丹东</a:t>
            </a:r>
            <a:r>
              <a:rPr lang="en-US" altLang="zh-CN" dirty="0"/>
              <a:t>》</a:t>
            </a:r>
            <a:r>
              <a:rPr lang="zh-CN" altLang="en-US" dirty="0"/>
              <a:t>、</a:t>
            </a:r>
            <a:r>
              <a:rPr lang="en-US" altLang="zh-CN" dirty="0"/>
              <a:t>《</a:t>
            </a:r>
            <a:r>
              <a:rPr lang="zh-CN" altLang="en-US" dirty="0"/>
              <a:t>七月十四日</a:t>
            </a:r>
            <a:r>
              <a:rPr lang="en-US" altLang="zh-CN" dirty="0"/>
              <a:t>》</a:t>
            </a:r>
            <a:r>
              <a:rPr lang="zh-CN" altLang="en-US" dirty="0"/>
              <a:t>等）、</a:t>
            </a:r>
            <a:r>
              <a:rPr lang="en-US" altLang="zh-CN" dirty="0"/>
              <a:t>《</a:t>
            </a:r>
            <a:r>
              <a:rPr lang="zh-CN" altLang="en-US" dirty="0"/>
              <a:t>圣路易</a:t>
            </a:r>
            <a:r>
              <a:rPr lang="en-US" altLang="zh-CN" dirty="0"/>
              <a:t>》</a:t>
            </a:r>
            <a:r>
              <a:rPr lang="zh-CN" altLang="en-US" dirty="0"/>
              <a:t>、</a:t>
            </a:r>
            <a:r>
              <a:rPr lang="en-US" altLang="zh-CN" dirty="0"/>
              <a:t>《</a:t>
            </a:r>
            <a:r>
              <a:rPr lang="zh-CN" altLang="en-US" dirty="0"/>
              <a:t>阿耶尔</a:t>
            </a:r>
            <a:r>
              <a:rPr lang="en-US" altLang="zh-CN" dirty="0"/>
              <a:t>》</a:t>
            </a:r>
            <a:r>
              <a:rPr lang="zh-CN" altLang="en-US" dirty="0"/>
              <a:t>、</a:t>
            </a:r>
            <a:r>
              <a:rPr lang="en-US" altLang="zh-CN" dirty="0"/>
              <a:t>《</a:t>
            </a:r>
            <a:r>
              <a:rPr lang="zh-CN" altLang="en-US" dirty="0"/>
              <a:t>理性的胜利</a:t>
            </a:r>
            <a:r>
              <a:rPr lang="en-US" altLang="zh-CN" dirty="0"/>
              <a:t>》</a:t>
            </a:r>
            <a:r>
              <a:rPr lang="zh-CN" altLang="en-US" dirty="0"/>
              <a:t>等</a:t>
            </a:r>
          </a:p>
          <a:p>
            <a:endParaRPr lang="zh-CN" altLang="en-US" dirty="0"/>
          </a:p>
          <a:p>
            <a:r>
              <a:rPr lang="zh-CN" altLang="en-US" dirty="0"/>
              <a:t>小说：</a:t>
            </a:r>
            <a:r>
              <a:rPr lang="en-US" altLang="zh-CN" dirty="0"/>
              <a:t>《</a:t>
            </a:r>
            <a:r>
              <a:rPr lang="zh-CN" altLang="en-US" dirty="0"/>
              <a:t>约翰</a:t>
            </a:r>
            <a:r>
              <a:rPr lang="en-US" altLang="zh-CN" dirty="0"/>
              <a:t>·</a:t>
            </a:r>
            <a:r>
              <a:rPr lang="zh-CN" altLang="en-US" dirty="0"/>
              <a:t>克利斯朵夫</a:t>
            </a:r>
            <a:r>
              <a:rPr lang="en-US" altLang="zh-CN" dirty="0"/>
              <a:t>》</a:t>
            </a:r>
            <a:r>
              <a:rPr lang="zh-CN" altLang="en-US" dirty="0"/>
              <a:t>、</a:t>
            </a:r>
            <a:r>
              <a:rPr lang="en-US" altLang="zh-CN" dirty="0"/>
              <a:t>《</a:t>
            </a:r>
            <a:r>
              <a:rPr lang="zh-CN" altLang="en-US" dirty="0"/>
              <a:t>哥拉</a:t>
            </a:r>
            <a:r>
              <a:rPr lang="en-US" altLang="zh-CN" dirty="0"/>
              <a:t>·</a:t>
            </a:r>
            <a:r>
              <a:rPr lang="zh-CN" altLang="en-US" dirty="0"/>
              <a:t>布勒尼翁</a:t>
            </a:r>
            <a:r>
              <a:rPr lang="en-US" altLang="zh-CN" dirty="0"/>
              <a:t>》</a:t>
            </a:r>
            <a:r>
              <a:rPr lang="zh-CN" altLang="en-US" dirty="0"/>
              <a:t>、</a:t>
            </a:r>
            <a:r>
              <a:rPr lang="en-US" altLang="zh-CN" dirty="0"/>
              <a:t>《</a:t>
            </a:r>
            <a:r>
              <a:rPr lang="zh-CN" altLang="en-US" dirty="0"/>
              <a:t>母与子</a:t>
            </a:r>
            <a:r>
              <a:rPr lang="en-US" altLang="zh-CN" dirty="0"/>
              <a:t>》</a:t>
            </a:r>
            <a:r>
              <a:rPr lang="zh-CN" altLang="en-US" dirty="0"/>
              <a:t>（又名</a:t>
            </a:r>
            <a:r>
              <a:rPr lang="en-US" altLang="zh-CN" dirty="0"/>
              <a:t>《</a:t>
            </a:r>
            <a:r>
              <a:rPr lang="zh-CN" altLang="en-US" dirty="0"/>
              <a:t>欣悦的灵魂</a:t>
            </a:r>
            <a:r>
              <a:rPr lang="en-US" altLang="zh-CN" dirty="0"/>
              <a:t>》</a:t>
            </a:r>
            <a:r>
              <a:rPr lang="zh-CN" altLang="en-US" dirty="0"/>
              <a:t>）等</a:t>
            </a:r>
          </a:p>
          <a:p>
            <a:endParaRPr lang="zh-CN" altLang="en-US" dirty="0"/>
          </a:p>
          <a:p>
            <a:r>
              <a:rPr lang="zh-CN" altLang="en-US" dirty="0"/>
              <a:t>传记：</a:t>
            </a:r>
            <a:r>
              <a:rPr lang="en-US" altLang="zh-CN" dirty="0"/>
              <a:t>《</a:t>
            </a:r>
            <a:r>
              <a:rPr lang="zh-CN" altLang="en-US" dirty="0"/>
              <a:t>贝多芬传</a:t>
            </a:r>
            <a:r>
              <a:rPr lang="en-US" altLang="zh-CN" dirty="0"/>
              <a:t>》</a:t>
            </a:r>
            <a:r>
              <a:rPr lang="zh-CN" altLang="en-US" dirty="0"/>
              <a:t>、</a:t>
            </a:r>
            <a:r>
              <a:rPr lang="en-US" altLang="zh-CN" dirty="0"/>
              <a:t>《</a:t>
            </a:r>
            <a:r>
              <a:rPr lang="zh-CN" altLang="en-US" dirty="0"/>
              <a:t>米开朗基罗传</a:t>
            </a:r>
            <a:r>
              <a:rPr lang="en-US" altLang="zh-CN" dirty="0"/>
              <a:t>》</a:t>
            </a:r>
            <a:r>
              <a:rPr lang="zh-CN" altLang="en-US" dirty="0"/>
              <a:t>、</a:t>
            </a:r>
            <a:r>
              <a:rPr lang="en-US" altLang="zh-CN" dirty="0"/>
              <a:t>《</a:t>
            </a:r>
            <a:r>
              <a:rPr lang="zh-CN" altLang="en-US" dirty="0"/>
              <a:t>托尔斯泰传</a:t>
            </a:r>
            <a:r>
              <a:rPr lang="en-US" altLang="zh-CN" dirty="0"/>
              <a:t>》</a:t>
            </a:r>
            <a:r>
              <a:rPr lang="zh-CN" altLang="en-US" dirty="0"/>
              <a:t>等</a:t>
            </a:r>
          </a:p>
          <a:p>
            <a:endParaRPr lang="zh-CN" altLang="en-US" dirty="0"/>
          </a:p>
        </p:txBody>
      </p:sp>
      <p:pic>
        <p:nvPicPr>
          <p:cNvPr id="4" name="图片 3">
            <a:extLst>
              <a:ext uri="{FF2B5EF4-FFF2-40B4-BE49-F238E27FC236}">
                <a16:creationId xmlns:a16="http://schemas.microsoft.com/office/drawing/2014/main" id="{617F80D9-0D55-A104-9E33-78D6AFABF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2600" y="-1"/>
            <a:ext cx="2164307" cy="2806263"/>
          </a:xfrm>
          <a:prstGeom prst="rect">
            <a:avLst/>
          </a:prstGeom>
        </p:spPr>
      </p:pic>
    </p:spTree>
    <p:extLst>
      <p:ext uri="{BB962C8B-B14F-4D97-AF65-F5344CB8AC3E}">
        <p14:creationId xmlns:p14="http://schemas.microsoft.com/office/powerpoint/2010/main" val="339052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115B99A-4715-C7B1-11DD-0B8C6076B371}"/>
              </a:ext>
            </a:extLst>
          </p:cNvPr>
          <p:cNvSpPr txBox="1"/>
          <p:nvPr/>
        </p:nvSpPr>
        <p:spPr>
          <a:xfrm>
            <a:off x="216977" y="418454"/>
            <a:ext cx="8217575" cy="5919284"/>
          </a:xfrm>
          <a:prstGeom prst="rect">
            <a:avLst/>
          </a:prstGeom>
          <a:noFill/>
        </p:spPr>
        <p:txBody>
          <a:bodyPr wrap="square" rtlCol="0">
            <a:spAutoFit/>
          </a:bodyPr>
          <a:lstStyle/>
          <a:p>
            <a:r>
              <a:rPr lang="zh-CN" altLang="en-US"/>
              <a:t>罗曼</a:t>
            </a:r>
            <a:r>
              <a:rPr lang="en-US" altLang="zh-CN"/>
              <a:t>·</a:t>
            </a:r>
            <a:r>
              <a:rPr lang="zh-CN" altLang="en-US"/>
              <a:t>罗兰的人道主义思想</a:t>
            </a:r>
          </a:p>
          <a:p>
            <a:endParaRPr lang="zh-CN" altLang="en-US"/>
          </a:p>
          <a:p>
            <a:r>
              <a:rPr lang="zh-CN" altLang="en-US"/>
              <a:t>罗曼</a:t>
            </a:r>
            <a:r>
              <a:rPr lang="en-US" altLang="zh-CN"/>
              <a:t>·</a:t>
            </a:r>
            <a:r>
              <a:rPr lang="zh-CN" altLang="en-US"/>
              <a:t>罗兰人道主义的思想基础首先是十八世纪启蒙运动的乌托邦思潮，尤其是泛神论者卢梭富于诗意的民主理想。</a:t>
            </a:r>
          </a:p>
          <a:p>
            <a:endParaRPr lang="zh-CN" altLang="en-US"/>
          </a:p>
          <a:p>
            <a:r>
              <a:rPr lang="zh-CN" altLang="en-US"/>
              <a:t>在法国大革命与启蒙运动独特的历史时期与社会条件下，罗曼</a:t>
            </a:r>
            <a:r>
              <a:rPr lang="en-US" altLang="zh-CN"/>
              <a:t>·</a:t>
            </a:r>
            <a:r>
              <a:rPr lang="zh-CN" altLang="en-US"/>
              <a:t>罗兰的人道主义思想有着鲜明的内容与特点。</a:t>
            </a:r>
          </a:p>
          <a:p>
            <a:endParaRPr lang="zh-CN" altLang="en-US"/>
          </a:p>
          <a:p>
            <a:r>
              <a:rPr lang="zh-CN" altLang="en-US"/>
              <a:t>罗曼</a:t>
            </a:r>
            <a:r>
              <a:rPr lang="en-US" altLang="zh-CN"/>
              <a:t>·</a:t>
            </a:r>
            <a:r>
              <a:rPr lang="zh-CN" altLang="en-US"/>
              <a:t>罗兰的人道主义思想主要以宗教意识、真理的追求和博爱精神为核心。同时，罗曼</a:t>
            </a:r>
            <a:r>
              <a:rPr lang="en-US" altLang="zh-CN"/>
              <a:t>·</a:t>
            </a:r>
            <a:r>
              <a:rPr lang="zh-CN" altLang="en-US"/>
              <a:t>罗兰也十分强调个人、自由与个人意识。</a:t>
            </a:r>
          </a:p>
          <a:p>
            <a:endParaRPr lang="zh-CN" altLang="en-US"/>
          </a:p>
          <a:p>
            <a:r>
              <a:rPr lang="zh-CN" altLang="en-US"/>
              <a:t>在歌颂革命的英雄主义剧作</a:t>
            </a:r>
            <a:r>
              <a:rPr lang="en-US" altLang="zh-CN"/>
              <a:t>《</a:t>
            </a:r>
            <a:r>
              <a:rPr lang="zh-CN" altLang="en-US"/>
              <a:t>七月十四日</a:t>
            </a:r>
            <a:r>
              <a:rPr lang="en-US" altLang="zh-CN"/>
              <a:t>》</a:t>
            </a:r>
            <a:r>
              <a:rPr lang="zh-CN" altLang="en-US"/>
              <a:t>中，罗曼</a:t>
            </a:r>
            <a:r>
              <a:rPr lang="en-US" altLang="zh-CN"/>
              <a:t>·</a:t>
            </a:r>
            <a:r>
              <a:rPr lang="zh-CN" altLang="en-US"/>
              <a:t>罗兰反映了人民群众的英勇斗争和乐观主义精神，揭示了人民群众的力量。</a:t>
            </a:r>
          </a:p>
          <a:p>
            <a:endParaRPr lang="zh-CN" altLang="en-US"/>
          </a:p>
          <a:p>
            <a:r>
              <a:rPr lang="zh-CN" altLang="en-US"/>
              <a:t>剧作聚焦于人民，罗兰富有激情地刻画出人民在戏剧舞台上追求自由、平等以及博爱的场景。这些都体现出罗曼</a:t>
            </a:r>
            <a:r>
              <a:rPr lang="en-US" altLang="zh-CN"/>
              <a:t>·</a:t>
            </a:r>
            <a:r>
              <a:rPr lang="zh-CN" altLang="en-US"/>
              <a:t>罗兰的人道主义思想。</a:t>
            </a:r>
          </a:p>
          <a:p>
            <a:endParaRPr lang="zh-CN" altLang="en-US"/>
          </a:p>
          <a:p>
            <a:r>
              <a:rPr lang="zh-CN" altLang="en-US"/>
              <a:t>除了剧本创作以外，罗曼</a:t>
            </a:r>
            <a:r>
              <a:rPr lang="en-US" altLang="zh-CN"/>
              <a:t>·</a:t>
            </a:r>
            <a:r>
              <a:rPr lang="zh-CN" altLang="en-US"/>
              <a:t>罗兰还在</a:t>
            </a:r>
            <a:r>
              <a:rPr lang="en-US" altLang="zh-CN"/>
              <a:t>《</a:t>
            </a:r>
            <a:r>
              <a:rPr lang="zh-CN" altLang="en-US"/>
              <a:t>人民戏剧</a:t>
            </a:r>
            <a:r>
              <a:rPr lang="en-US" altLang="zh-CN"/>
              <a:t>》</a:t>
            </a:r>
            <a:r>
              <a:rPr lang="zh-CN" altLang="en-US"/>
              <a:t>（</a:t>
            </a:r>
            <a:r>
              <a:rPr lang="en-US" altLang="zh-CN"/>
              <a:t>《</a:t>
            </a:r>
            <a:r>
              <a:rPr lang="zh-CN" altLang="en-US"/>
              <a:t>民众戏剧</a:t>
            </a:r>
            <a:r>
              <a:rPr lang="en-US" altLang="zh-CN"/>
              <a:t>》</a:t>
            </a:r>
            <a:r>
              <a:rPr lang="zh-CN" altLang="en-US"/>
              <a:t>）一书探讨了法国的人民戏剧。他指出人民的戏剧可以是多种多样的，提倡创作属于人民的戏剧。</a:t>
            </a:r>
          </a:p>
          <a:p>
            <a:endParaRPr lang="zh-CN" altLang="en-US" dirty="0"/>
          </a:p>
        </p:txBody>
      </p:sp>
      <p:pic>
        <p:nvPicPr>
          <p:cNvPr id="4" name="图片 3">
            <a:extLst>
              <a:ext uri="{FF2B5EF4-FFF2-40B4-BE49-F238E27FC236}">
                <a16:creationId xmlns:a16="http://schemas.microsoft.com/office/drawing/2014/main" id="{3BB1815D-ABDE-149C-060A-A5DBF1E82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4552" y="4054482"/>
            <a:ext cx="3866064" cy="2385064"/>
          </a:xfrm>
          <a:prstGeom prst="rect">
            <a:avLst/>
          </a:prstGeom>
        </p:spPr>
      </p:pic>
      <p:pic>
        <p:nvPicPr>
          <p:cNvPr id="6" name="图片 5">
            <a:extLst>
              <a:ext uri="{FF2B5EF4-FFF2-40B4-BE49-F238E27FC236}">
                <a16:creationId xmlns:a16="http://schemas.microsoft.com/office/drawing/2014/main" id="{8B7010A4-0F2D-D77E-BD1D-35E978EF8C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5005" y="418454"/>
            <a:ext cx="2952093" cy="3373821"/>
          </a:xfrm>
          <a:prstGeom prst="rect">
            <a:avLst/>
          </a:prstGeom>
        </p:spPr>
      </p:pic>
    </p:spTree>
    <p:extLst>
      <p:ext uri="{BB962C8B-B14F-4D97-AF65-F5344CB8AC3E}">
        <p14:creationId xmlns:p14="http://schemas.microsoft.com/office/powerpoint/2010/main" val="358652168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1169</Words>
  <Application>Microsoft Office PowerPoint</Application>
  <PresentationFormat>宽屏</PresentationFormat>
  <Paragraphs>73</Paragraphs>
  <Slides>4</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等线 Light</vt:lpstr>
      <vt:lpstr>Arial</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警官 小马</dc:creator>
  <cp:lastModifiedBy>警官 小马</cp:lastModifiedBy>
  <cp:revision>1</cp:revision>
  <dcterms:created xsi:type="dcterms:W3CDTF">2025-09-30T02:41:01Z</dcterms:created>
  <dcterms:modified xsi:type="dcterms:W3CDTF">2025-09-30T02:51:44Z</dcterms:modified>
</cp:coreProperties>
</file>