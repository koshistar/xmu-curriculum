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2"/>
    <p:sldMasterId id="2147483654" r:id="rId3"/>
  </p:sldMasterIdLst>
  <p:notesMasterIdLst>
    <p:notesMasterId r:id="rId30"/>
  </p:notesMasterIdLst>
  <p:sldIdLst>
    <p:sldId id="275" r:id="rId4"/>
    <p:sldId id="276" r:id="rId5"/>
    <p:sldId id="277" r:id="rId6"/>
    <p:sldId id="256" r:id="rId7"/>
    <p:sldId id="257" r:id="rId8"/>
    <p:sldId id="278" r:id="rId9"/>
    <p:sldId id="283" r:id="rId10"/>
    <p:sldId id="258" r:id="rId11"/>
    <p:sldId id="266" r:id="rId12"/>
    <p:sldId id="260" r:id="rId13"/>
    <p:sldId id="267" r:id="rId14"/>
    <p:sldId id="268" r:id="rId15"/>
    <p:sldId id="269" r:id="rId16"/>
    <p:sldId id="270" r:id="rId17"/>
    <p:sldId id="279" r:id="rId18"/>
    <p:sldId id="284" r:id="rId19"/>
    <p:sldId id="263" r:id="rId20"/>
    <p:sldId id="271" r:id="rId21"/>
    <p:sldId id="259" r:id="rId22"/>
    <p:sldId id="272" r:id="rId23"/>
    <p:sldId id="273" r:id="rId24"/>
    <p:sldId id="274" r:id="rId25"/>
    <p:sldId id="280" r:id="rId26"/>
    <p:sldId id="281" r:id="rId27"/>
    <p:sldId id="286" r:id="rId28"/>
    <p:sldId id="282"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72" y="6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我们调研发现，现有工具呈现出明显的两极分化：一端是面向网文的工业化</a:t>
            </a:r>
            <a:r>
              <a:rPr lang="en-US" altLang="zh-CN" dirty="0"/>
              <a:t>"</a:t>
            </a:r>
            <a:r>
              <a:rPr lang="zh-CN" altLang="en-US" dirty="0"/>
              <a:t>一键生成</a:t>
            </a:r>
            <a:r>
              <a:rPr lang="en-US" altLang="zh-CN" dirty="0"/>
              <a:t>"</a:t>
            </a:r>
            <a:r>
              <a:rPr lang="zh-CN" altLang="en-US" dirty="0"/>
              <a:t>式平台，缺乏文学深度；另一端是学术界提出的多模态协同创作原型，例如</a:t>
            </a:r>
            <a:r>
              <a:rPr lang="en-US" altLang="zh-CN" dirty="0"/>
              <a:t> Co-Creating Visual Stories</a:t>
            </a:r>
            <a:r>
              <a:rPr lang="zh-CN" altLang="en-US" dirty="0"/>
              <a:t>、</a:t>
            </a:r>
            <a:r>
              <a:rPr lang="en-US" altLang="zh-CN" dirty="0"/>
              <a:t>StoryNodes</a:t>
            </a:r>
            <a:r>
              <a:rPr lang="zh-CN" altLang="en-US" dirty="0"/>
              <a:t>、</a:t>
            </a:r>
            <a:r>
              <a:rPr lang="en-US" altLang="zh-CN" dirty="0"/>
              <a:t>MM-StoryAgent </a:t>
            </a:r>
            <a:r>
              <a:rPr lang="zh-CN" altLang="en-US" dirty="0"/>
              <a:t>等，它们更关注人机协作机制本身，但还停留在研究阶段，没有形成可用的产品。</a:t>
            </a:r>
            <a:r>
              <a:rPr lang="en-US" altLang="zh-CN" dirty="0"/>
              <a:t> </a:t>
            </a:r>
          </a:p>
          <a:p>
            <a:r>
              <a:rPr lang="zh-CN" altLang="zh-CN" dirty="0"/>
              <a:t>也就是说，</a:t>
            </a:r>
            <a:r>
              <a:rPr lang="en-US" altLang="zh-CN" dirty="0"/>
              <a:t>"</a:t>
            </a:r>
            <a:r>
              <a:rPr lang="zh-CN" altLang="en-US" dirty="0"/>
              <a:t>有文学深度的创作</a:t>
            </a:r>
            <a:r>
              <a:rPr lang="en-US" altLang="zh-CN" dirty="0"/>
              <a:t> </a:t>
            </a:r>
            <a:r>
              <a:rPr lang="zh-CN" altLang="en-US" dirty="0"/>
              <a:t>×</a:t>
            </a:r>
            <a:r>
              <a:rPr lang="en-US" altLang="zh-CN" dirty="0"/>
              <a:t>  </a:t>
            </a:r>
            <a:r>
              <a:rPr lang="zh-CN" altLang="en-US" dirty="0"/>
              <a:t>人类主导、</a:t>
            </a:r>
            <a:r>
              <a:rPr lang="en-US" altLang="zh-CN" dirty="0"/>
              <a:t>AI</a:t>
            </a:r>
            <a:r>
              <a:rPr lang="zh-CN" altLang="en-US" dirty="0"/>
              <a:t>辅助</a:t>
            </a:r>
            <a:r>
              <a:rPr lang="en-US" altLang="zh-CN" dirty="0"/>
              <a:t>"</a:t>
            </a:r>
            <a:r>
              <a:rPr lang="zh-CN" altLang="en-US" dirty="0"/>
              <a:t>这样一个细分场景，目前几乎是空白的。右边这张定位图也展示了这一点：横轴是产品化程度，纵轴是对严肃文学创作的支持程度，可以看到工业化工具和学术原型分别占据两个角落，而我们希望切入的，正是右上角这个尚未被填补的目标区域。</a:t>
            </a:r>
            <a:r>
              <a:rPr lang="en-US" altLang="zh-CN" dirty="0"/>
              <a:t> </a:t>
            </a:r>
          </a:p>
          <a:p>
            <a:r>
              <a:rPr lang="zh-CN" altLang="zh-CN" dirty="0"/>
              <a:t>除此之外，跨模态本身也存在挑战：文本、图像、音乐、语音生成依赖完全不同的模型架构和接口，彼此之间缺乏共享的故事上下文。比如图像生成中常见的角色</a:t>
            </a:r>
            <a:r>
              <a:rPr lang="en-US" altLang="zh-CN" dirty="0"/>
              <a:t>"</a:t>
            </a:r>
            <a:r>
              <a:rPr lang="zh-CN" altLang="en-US" dirty="0"/>
              <a:t>走形</a:t>
            </a:r>
            <a:r>
              <a:rPr lang="en-US" altLang="zh-CN" dirty="0"/>
              <a:t>"</a:t>
            </a:r>
            <a:r>
              <a:rPr lang="zh-CN" altLang="en-US" dirty="0"/>
              <a:t>问题。因此我们选择将文本生成内容作为图像生成部分和音频生成部分的输入，以此保持多模态内容生成的一致性。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接下来是</a:t>
            </a:r>
            <a:r>
              <a:rPr lang="en-US" altLang="zh-CN" dirty="0"/>
              <a:t>AI</a:t>
            </a:r>
            <a:r>
              <a:rPr lang="zh-CN" altLang="en-US" dirty="0"/>
              <a:t>核心层的第二个子模块</a:t>
            </a:r>
            <a:r>
              <a:rPr lang="en-US" altLang="zh-CN" dirty="0"/>
              <a:t>——</a:t>
            </a:r>
            <a:r>
              <a:rPr lang="zh-CN" altLang="en-US" dirty="0"/>
              <a:t>上下文与记忆管理。</a:t>
            </a:r>
            <a:r>
              <a:rPr lang="en-US" altLang="zh-CN" dirty="0"/>
              <a:t> </a:t>
            </a:r>
          </a:p>
          <a:p>
            <a:r>
              <a:rPr lang="zh-CN" altLang="zh-CN" dirty="0"/>
              <a:t>我们整个创作流程是一个</a:t>
            </a:r>
            <a:r>
              <a:rPr lang="en-US" altLang="zh-CN" dirty="0"/>
              <a:t>"</a:t>
            </a:r>
            <a:r>
              <a:rPr lang="zh-CN" altLang="en-US" dirty="0"/>
              <a:t>有状态</a:t>
            </a:r>
            <a:r>
              <a:rPr lang="en-US" altLang="zh-CN" dirty="0"/>
              <a:t>"</a:t>
            </a:r>
            <a:r>
              <a:rPr lang="zh-CN" altLang="en-US" dirty="0"/>
              <a:t>的流水线，遵循</a:t>
            </a:r>
            <a:r>
              <a:rPr lang="en-US" altLang="zh-CN" dirty="0"/>
              <a:t>"</a:t>
            </a:r>
            <a:r>
              <a:rPr lang="zh-CN" altLang="en-US" dirty="0"/>
              <a:t>上游输出即下游输入</a:t>
            </a:r>
            <a:r>
              <a:rPr lang="en-US" altLang="zh-CN" dirty="0"/>
              <a:t>"</a:t>
            </a:r>
            <a:r>
              <a:rPr lang="zh-CN" altLang="en-US" dirty="0"/>
              <a:t>的原则。具体到逐章生成这一步，我们并不是把所有历史文本简单拼接起来扔给模型，而是按字段做</a:t>
            </a:r>
            <a:r>
              <a:rPr lang="en-US" altLang="zh-CN" dirty="0"/>
              <a:t>"</a:t>
            </a:r>
            <a:r>
              <a:rPr lang="zh-CN" altLang="en-US" dirty="0"/>
              <a:t>按需裁剪、结构化拼装</a:t>
            </a:r>
            <a:r>
              <a:rPr lang="en-US" altLang="zh-CN" dirty="0"/>
              <a:t>"</a:t>
            </a:r>
            <a:r>
              <a:rPr lang="zh-CN" altLang="en-US" dirty="0"/>
              <a:t>。如右图所示，每次生成一章时，会组装五类结构化字段：故事的整体设定</a:t>
            </a:r>
            <a:r>
              <a:rPr lang="en-US" altLang="zh-CN" dirty="0"/>
              <a:t> STORY_JSON</a:t>
            </a:r>
            <a:r>
              <a:rPr lang="zh-CN" altLang="en-US" dirty="0"/>
              <a:t>（包括题材、简介、世界观、风格）、完整大纲</a:t>
            </a:r>
            <a:r>
              <a:rPr lang="en-US" altLang="zh-CN" dirty="0"/>
              <a:t> OUTLINE_JSON</a:t>
            </a:r>
            <a:r>
              <a:rPr lang="zh-CN" altLang="en-US" dirty="0"/>
              <a:t>（代表</a:t>
            </a:r>
            <a:r>
              <a:rPr lang="en-US" altLang="zh-CN" dirty="0"/>
              <a:t>"</a:t>
            </a:r>
            <a:r>
              <a:rPr lang="zh-CN" altLang="en-US" dirty="0"/>
              <a:t>未来</a:t>
            </a:r>
            <a:r>
              <a:rPr lang="en-US" altLang="zh-CN" dirty="0"/>
              <a:t>"</a:t>
            </a:r>
            <a:r>
              <a:rPr lang="zh-CN" altLang="en-US" dirty="0"/>
              <a:t>）、此前各章的摘要</a:t>
            </a:r>
            <a:r>
              <a:rPr lang="en-US" altLang="zh-CN" dirty="0"/>
              <a:t> CONTINUITY_SUMMARIES</a:t>
            </a:r>
            <a:r>
              <a:rPr lang="zh-CN" altLang="en-US" dirty="0"/>
              <a:t>（代表</a:t>
            </a:r>
            <a:r>
              <a:rPr lang="en-US" altLang="zh-CN" dirty="0"/>
              <a:t>"</a:t>
            </a:r>
            <a:r>
              <a:rPr lang="zh-CN" altLang="en-US" dirty="0"/>
              <a:t>过去</a:t>
            </a:r>
            <a:r>
              <a:rPr lang="en-US" altLang="zh-CN" dirty="0"/>
              <a:t>"</a:t>
            </a:r>
            <a:r>
              <a:rPr lang="zh-CN" altLang="en-US" dirty="0"/>
              <a:t>）、当前章节的具体写作要求</a:t>
            </a:r>
            <a:r>
              <a:rPr lang="en-US" altLang="zh-CN" dirty="0"/>
              <a:t> CHAPTER_SPEC</a:t>
            </a:r>
            <a:r>
              <a:rPr lang="zh-CN" altLang="en-US" dirty="0"/>
              <a:t>，以及风格指导</a:t>
            </a:r>
            <a:r>
              <a:rPr lang="en-US" altLang="zh-CN" dirty="0"/>
              <a:t> STORY_STYLE_GUIDANCE</a:t>
            </a:r>
            <a:r>
              <a:rPr lang="zh-CN" altLang="en-US" dirty="0"/>
              <a:t>。</a:t>
            </a:r>
            <a:r>
              <a:rPr lang="en-US" altLang="zh-CN" dirty="0"/>
              <a:t> </a:t>
            </a:r>
          </a:p>
          <a:p>
            <a:r>
              <a:rPr lang="zh-CN" altLang="zh-CN" dirty="0"/>
              <a:t>记忆管理方面，我们采用的是</a:t>
            </a:r>
            <a:r>
              <a:rPr lang="en-US" altLang="zh-CN" dirty="0"/>
              <a:t>"</a:t>
            </a:r>
            <a:r>
              <a:rPr lang="zh-CN" altLang="en-US" dirty="0"/>
              <a:t>摘要驱动</a:t>
            </a:r>
            <a:r>
              <a:rPr lang="en-US" altLang="zh-CN" dirty="0"/>
              <a:t>"</a:t>
            </a:r>
            <a:r>
              <a:rPr lang="zh-CN" altLang="en-US" dirty="0"/>
              <a:t>的轻量级机制：每生成完一章，模型会同时返回这一章的摘要，追加到</a:t>
            </a:r>
            <a:r>
              <a:rPr lang="en-US" altLang="zh-CN" dirty="0"/>
              <a:t> CONTINUITY_SUMMARIES </a:t>
            </a:r>
            <a:r>
              <a:rPr lang="zh-CN" altLang="en-US" dirty="0"/>
              <a:t>中，作为下一章生成的输入之一。这是一种递归压缩的过程</a:t>
            </a:r>
            <a:r>
              <a:rPr lang="en-US" altLang="zh-CN" dirty="0"/>
              <a:t>——</a:t>
            </a:r>
            <a:r>
              <a:rPr lang="zh-CN" altLang="en-US" dirty="0"/>
              <a:t>摘要的增长速度远远小于正文的增长速度，因此随着章节数增加，记忆部分的体量也不会失控地膨胀。结合大纲所代表的</a:t>
            </a:r>
            <a:r>
              <a:rPr lang="en-US" altLang="zh-CN" dirty="0"/>
              <a:t>"</a:t>
            </a:r>
            <a:r>
              <a:rPr lang="zh-CN" altLang="en-US" dirty="0"/>
              <a:t>未来</a:t>
            </a:r>
            <a:r>
              <a:rPr lang="en-US" altLang="zh-CN" dirty="0"/>
              <a:t>"</a:t>
            </a:r>
            <a:r>
              <a:rPr lang="zh-CN" altLang="en-US" dirty="0"/>
              <a:t>视角和摘要所代表的</a:t>
            </a:r>
            <a:r>
              <a:rPr lang="en-US" altLang="zh-CN" dirty="0"/>
              <a:t>"</a:t>
            </a:r>
            <a:r>
              <a:rPr lang="zh-CN" altLang="en-US" dirty="0"/>
              <a:t>过去</a:t>
            </a:r>
            <a:r>
              <a:rPr lang="en-US" altLang="zh-CN" dirty="0"/>
              <a:t>"</a:t>
            </a:r>
            <a:r>
              <a:rPr lang="zh-CN" altLang="en-US" dirty="0"/>
              <a:t>视角，模型在生成每一章时，相当于同时拥有了过去、现在、未来三个时间维度的信息，而且整个机制完全通过提示词字段实现，不依赖向量数据库或外部检索系统，非常轻量。</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600" b="0" i="0" u="none" strike="noStrike"/>
            </a:lvl1pPr>
          </a:lstStyle>
          <a:p>
            <a:pPr indent="0" algn="l">
              <a:lnSpc>
                <a:spcPct val="108000"/>
              </a:lnSpc>
            </a:pPr>
            <a:r>
              <a:rPr lang="en-US" sz="1600" b="0" i="0" u="none" strike="noStrike">
                <a:solidFill>
                  <a:srgbClr val="000000"/>
                </a:solidFill>
              </a:rPr>
              <a:t>小说生图模块并非孤立工具，而是整个多模态创作流程的关键环节。它的设计目标是能够视觉化小说，给用户多样的体验。它与文生小说模块紧密相连，共享小说的基础设定、角色信息和章节内容，遵循“解析-重写-生成”原则，确保生成的图片符合小说的整体风格。整体的流程是，先导入小说的核心信息，进行文本提取。将结构化的文本重组成适合图像生成的提示词，调用后端的模型生成图像，再将生成结果反馈给用户。实现高效、可控的人机协同创作工作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600" b="0" i="0" u="none" strike="noStrike"/>
            </a:lvl1pPr>
          </a:lstStyle>
          <a:p>
            <a:pPr indent="0" algn="l">
              <a:lnSpc>
                <a:spcPct val="100000"/>
              </a:lnSpc>
            </a:pPr>
            <a:r>
              <a:rPr lang="en-US" sz="1600" b="0" i="0" u="none" strike="noStrike">
                <a:solidFill>
                  <a:srgbClr val="000000"/>
                </a:solidFill>
              </a:rPr>
              <a:t>主要的功能有两个，生成角色三视图和章节配图。角色三视图页面会共享前面生成小说时的角色设定，并且可以补充设定。通过输入角色的结构化信息，系统能自动生成正面、侧面和背面的图片，这对于保证角色在后续所有插图中的一致性至关重要。第二个工作流是“章节配图生成”，它专注于将文本情节转化为生动的场景插图。系统会智能分析章节内容，提炼出关键事件、场景、人物、动作等视觉元素，自动生成提示词去生成章节配图。这两个工作流共同构成了我们小说生图模块的核心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MusicGen </a:t>
            </a:r>
            <a:r>
              <a:rPr lang="zh-CN" altLang="en-US" dirty="0"/>
              <a:t>和</a:t>
            </a:r>
            <a:r>
              <a:rPr lang="en-US" altLang="zh-CN" dirty="0"/>
              <a:t> AudioGen</a:t>
            </a:r>
            <a:r>
              <a:rPr lang="zh-CN" altLang="en-US" dirty="0"/>
              <a:t>均是由</a:t>
            </a:r>
            <a:r>
              <a:rPr lang="en-US" altLang="zh-CN" dirty="0"/>
              <a:t>Meta AI</a:t>
            </a:r>
            <a:r>
              <a:rPr lang="zh-CN" altLang="en-US" dirty="0"/>
              <a:t>于</a:t>
            </a:r>
            <a:r>
              <a:rPr lang="en-US" altLang="zh-CN" dirty="0"/>
              <a:t>23</a:t>
            </a:r>
            <a:r>
              <a:rPr lang="zh-CN" altLang="en-US" dirty="0"/>
              <a:t>年提出的音频生成模型，是早期⽂⽣⾳领域的⼯业级落地标杆⼯作。二者采用</a:t>
            </a:r>
            <a:r>
              <a:rPr lang="en-US" altLang="zh-CN" dirty="0"/>
              <a:t>EnCodex</a:t>
            </a:r>
            <a:r>
              <a:rPr lang="zh-CN" altLang="en-US" dirty="0"/>
              <a:t>编解码器，可将原始音频</a:t>
            </a:r>
            <a:r>
              <a:rPr lang="en-US" altLang="zh-CN" dirty="0"/>
              <a:t>50</a:t>
            </a:r>
            <a:r>
              <a:rPr lang="zh-CN" altLang="en-US" dirty="0"/>
              <a:t>倍压缩，对硬件友好。</a:t>
            </a:r>
            <a:r>
              <a:rPr lang="en-US" altLang="zh-CN" dirty="0"/>
              <a:t>Stable Audio 3 </a:t>
            </a:r>
            <a:r>
              <a:rPr lang="zh-CN" altLang="en-US" dirty="0"/>
              <a:t>是</a:t>
            </a:r>
            <a:r>
              <a:rPr lang="en-US" altLang="zh-CN" dirty="0"/>
              <a:t>26</a:t>
            </a:r>
            <a:r>
              <a:rPr lang="zh-CN" altLang="en-US" dirty="0"/>
              <a:t>年</a:t>
            </a:r>
            <a:r>
              <a:rPr lang="en-US" altLang="zh-CN" dirty="0"/>
              <a:t>5</a:t>
            </a:r>
            <a:r>
              <a:rPr lang="zh-CN" altLang="en-US" dirty="0"/>
              <a:t>月份由</a:t>
            </a:r>
            <a:r>
              <a:rPr lang="en-US" altLang="zh-CN" dirty="0"/>
              <a:t>Stability AI</a:t>
            </a:r>
            <a:r>
              <a:rPr lang="zh-CN" altLang="en-US" dirty="0"/>
              <a:t>发布的最新一代音频生成模型，包含</a:t>
            </a:r>
            <a:r>
              <a:rPr lang="en-US" altLang="zh-CN" dirty="0"/>
              <a:t>small</a:t>
            </a:r>
            <a:r>
              <a:rPr lang="zh-CN" altLang="en-US" dirty="0"/>
              <a:t>（</a:t>
            </a:r>
            <a:r>
              <a:rPr lang="en-US" altLang="zh-CN" dirty="0"/>
              <a:t>459M</a:t>
            </a:r>
            <a:r>
              <a:rPr lang="zh-CN" altLang="en-US" dirty="0"/>
              <a:t>）、</a:t>
            </a:r>
            <a:r>
              <a:rPr lang="en-US" altLang="zh-CN" dirty="0"/>
              <a:t>medium</a:t>
            </a:r>
            <a:r>
              <a:rPr lang="zh-CN" altLang="en-US" dirty="0"/>
              <a:t>（</a:t>
            </a:r>
            <a:r>
              <a:rPr lang="en-US" altLang="zh-CN" dirty="0"/>
              <a:t>1.4B</a:t>
            </a:r>
            <a:r>
              <a:rPr lang="zh-CN" altLang="en-US" dirty="0"/>
              <a:t>）、</a:t>
            </a:r>
            <a:r>
              <a:rPr lang="en-US" altLang="zh-CN" dirty="0"/>
              <a:t>large</a:t>
            </a:r>
            <a:r>
              <a:rPr lang="zh-CN" altLang="en-US" dirty="0"/>
              <a:t>（</a:t>
            </a:r>
            <a:r>
              <a:rPr lang="en-US" altLang="zh-CN" dirty="0"/>
              <a:t>2.7B</a:t>
            </a:r>
            <a:r>
              <a:rPr lang="zh-CN" altLang="en-US" dirty="0"/>
              <a:t>）三个版本，分为音乐（</a:t>
            </a:r>
            <a:r>
              <a:rPr lang="en-US" altLang="zh-CN" dirty="0"/>
              <a:t>music</a:t>
            </a:r>
            <a:r>
              <a:rPr lang="zh-CN" altLang="en-US" dirty="0"/>
              <a:t>）和音效（</a:t>
            </a:r>
            <a:r>
              <a:rPr lang="en-US" altLang="zh-CN" dirty="0"/>
              <a:t>sfx</a:t>
            </a:r>
            <a:r>
              <a:rPr lang="zh-CN" altLang="en-US" dirty="0"/>
              <a:t>）两种专用变体。右图是音频生成的数据流，用户通过输入小说文本内容，先通过大模型对小说文本内容进行分析，分别生成音乐生成提示词与音效生成提示词，发送给相应变体模型进行生成，下载模型至本地并调用本地算力进行推理后，即可输出</a:t>
            </a:r>
            <a:r>
              <a:rPr lang="en-US" altLang="zh-CN" dirty="0"/>
              <a:t>wav</a:t>
            </a:r>
            <a:r>
              <a:rPr lang="zh-CN" altLang="en-US" dirty="0"/>
              <a:t>音频文件。</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TTS</a:t>
            </a:r>
            <a:r>
              <a:rPr lang="zh-CN" altLang="en-US" dirty="0"/>
              <a:t>配音板块选择了</a:t>
            </a:r>
            <a:r>
              <a:rPr lang="en-US" altLang="zh-CN" dirty="0"/>
              <a:t>bilibili</a:t>
            </a:r>
            <a:r>
              <a:rPr lang="zh-CN" altLang="en-US" dirty="0"/>
              <a:t>人工智能平台部提出的自回归零样本文本到语音模型</a:t>
            </a:r>
            <a:r>
              <a:rPr lang="en-US" altLang="zh-CN" dirty="0"/>
              <a:t>IndexTTS2</a:t>
            </a:r>
            <a:r>
              <a:rPr lang="zh-CN" altLang="en-US" dirty="0"/>
              <a:t>，其能够实现精确的时长与情感控制。配音的核心亮点是智能情感匹配，将大模型作为</a:t>
            </a:r>
            <a:r>
              <a:rPr lang="en-US" altLang="zh-CN" dirty="0"/>
              <a:t> “</a:t>
            </a:r>
            <a:r>
              <a:rPr lang="zh-CN" altLang="en-US" dirty="0"/>
              <a:t>配音导演</a:t>
            </a:r>
            <a:r>
              <a:rPr lang="en-US" altLang="zh-CN" dirty="0"/>
              <a:t>”</a:t>
            </a:r>
            <a:r>
              <a:rPr lang="zh-CN" altLang="en-US" dirty="0"/>
              <a:t>，专门解析角色对话内容，自动识别情绪，并转化为</a:t>
            </a:r>
            <a:r>
              <a:rPr lang="en-US" altLang="zh-CN" dirty="0"/>
              <a:t> IndexTTS2 </a:t>
            </a:r>
            <a:r>
              <a:rPr lang="zh-CN" altLang="en-US" dirty="0"/>
              <a:t>定义的</a:t>
            </a:r>
            <a:r>
              <a:rPr lang="en-US" altLang="zh-CN" dirty="0"/>
              <a:t>8 </a:t>
            </a:r>
            <a:r>
              <a:rPr lang="zh-CN" altLang="en-US" dirty="0"/>
              <a:t>维情感向量，分别是：开心、愤怒、悲伤、恐惧、厌恶、低落、惊讶、中立，覆盖小说角色绝大多数情绪表现。完整的章节配音流程分为</a:t>
            </a:r>
            <a:r>
              <a:rPr lang="en-US" altLang="zh-CN" dirty="0"/>
              <a:t> 6 </a:t>
            </a:r>
            <a:r>
              <a:rPr lang="zh-CN" altLang="en-US" dirty="0"/>
              <a:t>步：文本解析</a:t>
            </a:r>
            <a:r>
              <a:rPr lang="en-US" altLang="zh-CN" dirty="0"/>
              <a:t>→</a:t>
            </a:r>
            <a:r>
              <a:rPr lang="zh-CN" altLang="en-US" dirty="0"/>
              <a:t>角色匹配</a:t>
            </a:r>
            <a:r>
              <a:rPr lang="en-US" altLang="zh-CN" dirty="0"/>
              <a:t>→</a:t>
            </a:r>
            <a:r>
              <a:rPr lang="zh-CN" altLang="en-US" dirty="0"/>
              <a:t>音色库匹配</a:t>
            </a:r>
            <a:r>
              <a:rPr lang="en-US" altLang="zh-CN" dirty="0"/>
              <a:t>→</a:t>
            </a:r>
            <a:r>
              <a:rPr lang="zh-CN" altLang="en-US" dirty="0"/>
              <a:t>情感分析</a:t>
            </a:r>
            <a:r>
              <a:rPr lang="en-US" altLang="zh-CN" dirty="0"/>
              <a:t>→Base64 </a:t>
            </a:r>
            <a:r>
              <a:rPr lang="zh-CN" altLang="en-US" dirty="0"/>
              <a:t>编码</a:t>
            </a:r>
            <a:r>
              <a:rPr lang="en-US" altLang="zh-CN" dirty="0"/>
              <a:t>→</a:t>
            </a:r>
            <a:r>
              <a:rPr lang="zh-CN" altLang="en-US" dirty="0"/>
              <a:t>云端合成</a:t>
            </a:r>
            <a:r>
              <a:rPr lang="en-US" altLang="zh-CN" dirty="0"/>
              <a:t>→</a:t>
            </a:r>
            <a:r>
              <a:rPr lang="zh-CN" altLang="en-US" dirty="0"/>
              <a:t>本地存储。同时为每个角色搭建了本地音色库，包含</a:t>
            </a:r>
            <a:r>
              <a:rPr lang="en-US" altLang="zh-CN" dirty="0"/>
              <a:t> 7 </a:t>
            </a:r>
            <a:r>
              <a:rPr lang="zh-CN" altLang="en-US" dirty="0"/>
              <a:t>类基础情绪的参考音频，保障配音音色统一。左图是</a:t>
            </a:r>
            <a:r>
              <a:rPr lang="en-US" altLang="zh-CN" dirty="0"/>
              <a:t>TTS</a:t>
            </a:r>
            <a:r>
              <a:rPr lang="zh-CN" altLang="en-US" dirty="0"/>
              <a:t>配音的数据流，通过正则表达式匹配文本，区分角色名称与对应台词，然后通过角色映射表，让角色名与角色</a:t>
            </a:r>
            <a:r>
              <a:rPr lang="en-US" altLang="zh-CN" dirty="0"/>
              <a:t>id</a:t>
            </a:r>
            <a:r>
              <a:rPr lang="zh-CN" altLang="en-US" dirty="0"/>
              <a:t>进行匹配，再交由大模型进行情感分析，通过从本地角色库中调用参考音频，将文本、参考音频发送给云端完成配音，再输出返回给本地。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最后一页评估，关注结构化输出的自纠错效果以及系统整体性能。</a:t>
            </a:r>
            <a:r>
              <a:rPr lang="en-US" altLang="zh-CN" dirty="0"/>
              <a:t> </a:t>
            </a:r>
          </a:p>
          <a:p>
            <a:r>
              <a:rPr lang="zh-CN" altLang="zh-CN" dirty="0"/>
              <a:t>这套</a:t>
            </a:r>
            <a:r>
              <a:rPr lang="en-US" altLang="zh-CN" dirty="0"/>
              <a:t>JSON</a:t>
            </a:r>
            <a:r>
              <a:rPr lang="zh-CN" altLang="en-US" dirty="0"/>
              <a:t>自纠错机制分三级：①</a:t>
            </a:r>
            <a:r>
              <a:rPr lang="en-US" altLang="zh-CN" dirty="0"/>
              <a:t> </a:t>
            </a:r>
            <a:r>
              <a:rPr lang="zh-CN" altLang="en-US" dirty="0"/>
              <a:t>先检查模型输出是否非空且结构完整闭合，否则视为截断，触发截断重生成；②</a:t>
            </a:r>
            <a:r>
              <a:rPr lang="en-US" altLang="zh-CN" dirty="0"/>
              <a:t> </a:t>
            </a:r>
            <a:r>
              <a:rPr lang="zh-CN" altLang="en-US" dirty="0"/>
              <a:t>通过则直接</a:t>
            </a:r>
            <a:r>
              <a:rPr lang="en-US" altLang="zh-CN" dirty="0"/>
              <a:t> json.loads </a:t>
            </a:r>
            <a:r>
              <a:rPr lang="zh-CN" altLang="en-US" dirty="0"/>
              <a:t>解析，失败先做本地规则修复（全角转半角、去尾逗号、补全括号引号）再次解析；③</a:t>
            </a:r>
            <a:r>
              <a:rPr lang="en-US" altLang="zh-CN" dirty="0"/>
              <a:t> </a:t>
            </a:r>
            <a:r>
              <a:rPr lang="zh-CN" altLang="en-US" dirty="0"/>
              <a:t>仍失败则将原始输出连同</a:t>
            </a:r>
            <a:r>
              <a:rPr lang="en-US" altLang="zh-CN" dirty="0"/>
              <a:t>"</a:t>
            </a:r>
            <a:r>
              <a:rPr lang="zh-CN" altLang="en-US" dirty="0"/>
              <a:t>仅修复</a:t>
            </a:r>
            <a:r>
              <a:rPr lang="en-US" altLang="zh-CN" dirty="0"/>
              <a:t>JSON</a:t>
            </a:r>
            <a:r>
              <a:rPr lang="zh-CN" altLang="en-US" dirty="0"/>
              <a:t>格式</a:t>
            </a:r>
            <a:r>
              <a:rPr lang="en-US" altLang="zh-CN" dirty="0"/>
              <a:t>"</a:t>
            </a:r>
            <a:r>
              <a:rPr lang="zh-CN" altLang="en-US" dirty="0"/>
              <a:t>的要求回传模型，与截断重生成路径汇合后统一降温（</a:t>
            </a:r>
            <a:r>
              <a:rPr lang="en-US" altLang="zh-CN" dirty="0"/>
              <a:t>≤0.2</a:t>
            </a:r>
            <a:r>
              <a:rPr lang="zh-CN" altLang="en-US" dirty="0"/>
              <a:t>）重试。最终解析成功即返回结构化结果，否则抛出异常并附原始输出片段供排查。</a:t>
            </a:r>
            <a:endParaRPr lang="en-US" altLang="zh-CN" dirty="0"/>
          </a:p>
          <a:p>
            <a:r>
              <a:rPr lang="zh-CN" altLang="zh-CN" dirty="0"/>
              <a:t>我们构造了</a:t>
            </a:r>
            <a:r>
              <a:rPr lang="en-US" altLang="zh-CN" dirty="0"/>
              <a:t>40</a:t>
            </a:r>
            <a:r>
              <a:rPr lang="zh-CN" altLang="en-US" dirty="0"/>
              <a:t>个人为注入错误的样本，其中</a:t>
            </a:r>
            <a:r>
              <a:rPr lang="en-US" altLang="zh-CN" dirty="0"/>
              <a:t>10</a:t>
            </a:r>
            <a:r>
              <a:rPr lang="zh-CN" altLang="en-US" dirty="0"/>
              <a:t>个本身就是合法</a:t>
            </a:r>
            <a:r>
              <a:rPr lang="en-US" altLang="zh-CN" dirty="0"/>
              <a:t>JSON</a:t>
            </a:r>
            <a:r>
              <a:rPr lang="zh-CN" altLang="en-US" dirty="0"/>
              <a:t>，</a:t>
            </a:r>
            <a:r>
              <a:rPr lang="en-US" altLang="zh-CN" dirty="0"/>
              <a:t>20</a:t>
            </a:r>
            <a:r>
              <a:rPr lang="zh-CN" altLang="en-US" dirty="0"/>
              <a:t>个属于可以通过本地规则修复的轻微格式错误，剩下</a:t>
            </a:r>
            <a:r>
              <a:rPr lang="en-US" altLang="zh-CN" dirty="0"/>
              <a:t>10</a:t>
            </a:r>
            <a:r>
              <a:rPr lang="zh-CN" altLang="en-US" dirty="0"/>
              <a:t>个需要模型重新生成。如图所示：如果只用最基础的</a:t>
            </a:r>
            <a:r>
              <a:rPr lang="en-US" altLang="zh-CN" dirty="0"/>
              <a:t> json.loads </a:t>
            </a:r>
            <a:r>
              <a:rPr lang="zh-CN" altLang="en-US" dirty="0"/>
              <a:t>直接解析，成功率是</a:t>
            </a:r>
            <a:r>
              <a:rPr lang="en-US" altLang="zh-CN" dirty="0"/>
              <a:t>25%</a:t>
            </a:r>
            <a:r>
              <a:rPr lang="zh-CN" altLang="en-US" dirty="0"/>
              <a:t>（也就是那</a:t>
            </a:r>
            <a:r>
              <a:rPr lang="en-US" altLang="zh-CN" dirty="0"/>
              <a:t>10</a:t>
            </a:r>
            <a:r>
              <a:rPr lang="zh-CN" altLang="en-US" dirty="0"/>
              <a:t>个本身合法的样本）；加上本地规则修复之后，累计成功率提升到</a:t>
            </a:r>
            <a:r>
              <a:rPr lang="en-US" altLang="zh-CN" dirty="0"/>
              <a:t>75%</a:t>
            </a:r>
            <a:r>
              <a:rPr lang="zh-CN" altLang="en-US" dirty="0"/>
              <a:t>；再加上降低</a:t>
            </a:r>
            <a:r>
              <a:rPr lang="en-US" altLang="zh-CN" dirty="0"/>
              <a:t> temperature </a:t>
            </a:r>
            <a:r>
              <a:rPr lang="zh-CN" altLang="en-US" dirty="0"/>
              <a:t>后的模型重试，最终累计达到</a:t>
            </a:r>
            <a:r>
              <a:rPr lang="en-US" altLang="zh-CN" dirty="0"/>
              <a:t>100%——</a:t>
            </a:r>
            <a:r>
              <a:rPr lang="zh-CN" altLang="en-US" dirty="0"/>
              <a:t>也就是这</a:t>
            </a:r>
            <a:r>
              <a:rPr lang="en-US" altLang="zh-CN" dirty="0"/>
              <a:t>40</a:t>
            </a:r>
            <a:r>
              <a:rPr lang="zh-CN" altLang="en-US" dirty="0"/>
              <a:t>个样本全部都能被解析为合法的</a:t>
            </a:r>
            <a:r>
              <a:rPr lang="en-US" altLang="zh-CN" dirty="0"/>
              <a:t>JSON</a:t>
            </a:r>
            <a:r>
              <a:rPr lang="zh-CN" altLang="en-US" dirty="0"/>
              <a:t>。</a:t>
            </a:r>
            <a:r>
              <a:rPr lang="en-US" altLang="zh-CN" dirty="0"/>
              <a:t> </a:t>
            </a:r>
          </a:p>
          <a:p>
            <a:r>
              <a:rPr lang="zh-CN" altLang="zh-CN" dirty="0"/>
              <a:t>性能方面，我们给出了两个实际生成案例：《营造法式》目标约</a:t>
            </a:r>
            <a:r>
              <a:rPr lang="en-US" altLang="zh-CN" dirty="0"/>
              <a:t>4.4</a:t>
            </a:r>
            <a:r>
              <a:rPr lang="zh-CN" altLang="en-US" dirty="0"/>
              <a:t>万字，</a:t>
            </a:r>
            <a:r>
              <a:rPr lang="en-US" altLang="zh-CN" dirty="0"/>
              <a:t>56</a:t>
            </a:r>
            <a:r>
              <a:rPr lang="zh-CN" altLang="en-US" dirty="0"/>
              <a:t>条人物关系补全耗时</a:t>
            </a:r>
            <a:r>
              <a:rPr lang="en-US" altLang="zh-CN" dirty="0"/>
              <a:t>1</a:t>
            </a:r>
            <a:r>
              <a:rPr lang="zh-CN" altLang="en-US" dirty="0"/>
              <a:t>分</a:t>
            </a:r>
            <a:r>
              <a:rPr lang="en-US" altLang="zh-CN" dirty="0"/>
              <a:t>01</a:t>
            </a:r>
            <a:r>
              <a:rPr lang="zh-CN" altLang="en-US" dirty="0"/>
              <a:t>秒，命名加大纲生成耗时</a:t>
            </a:r>
            <a:r>
              <a:rPr lang="en-US" altLang="zh-CN" dirty="0"/>
              <a:t>1</a:t>
            </a:r>
            <a:r>
              <a:rPr lang="zh-CN" altLang="en-US" dirty="0"/>
              <a:t>分</a:t>
            </a:r>
            <a:r>
              <a:rPr lang="en-US" altLang="zh-CN" dirty="0"/>
              <a:t>53</a:t>
            </a:r>
            <a:r>
              <a:rPr lang="zh-CN" altLang="en-US" dirty="0"/>
              <a:t>秒，全文生成耗时</a:t>
            </a:r>
            <a:r>
              <a:rPr lang="en-US" altLang="zh-CN" dirty="0"/>
              <a:t>9</a:t>
            </a:r>
            <a:r>
              <a:rPr lang="zh-CN" altLang="en-US" dirty="0"/>
              <a:t>分</a:t>
            </a:r>
            <a:r>
              <a:rPr lang="en-US" altLang="zh-CN" dirty="0"/>
              <a:t>22</a:t>
            </a:r>
            <a:r>
              <a:rPr lang="zh-CN" altLang="en-US" dirty="0"/>
              <a:t>秒。</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最后一页评估，关注结构化输出的自纠错效果以及系统整体性能。</a:t>
            </a:r>
            <a:r>
              <a:rPr lang="en-US" altLang="zh-CN" dirty="0"/>
              <a:t> </a:t>
            </a:r>
          </a:p>
          <a:p>
            <a:r>
              <a:rPr lang="zh-CN" altLang="zh-CN" dirty="0"/>
              <a:t>这套</a:t>
            </a:r>
            <a:r>
              <a:rPr lang="en-US" altLang="zh-CN" dirty="0"/>
              <a:t>JSON</a:t>
            </a:r>
            <a:r>
              <a:rPr lang="zh-CN" altLang="en-US" dirty="0"/>
              <a:t>自纠错机制分三级：①</a:t>
            </a:r>
            <a:r>
              <a:rPr lang="en-US" altLang="zh-CN" dirty="0"/>
              <a:t> </a:t>
            </a:r>
            <a:r>
              <a:rPr lang="zh-CN" altLang="en-US" dirty="0"/>
              <a:t>先检查模型输出是否非空且结构完整闭合，否则视为截断，触发截断重生成；②</a:t>
            </a:r>
            <a:r>
              <a:rPr lang="en-US" altLang="zh-CN" dirty="0"/>
              <a:t> </a:t>
            </a:r>
            <a:r>
              <a:rPr lang="zh-CN" altLang="en-US" dirty="0"/>
              <a:t>通过则直接</a:t>
            </a:r>
            <a:r>
              <a:rPr lang="en-US" altLang="zh-CN" dirty="0"/>
              <a:t> json.loads </a:t>
            </a:r>
            <a:r>
              <a:rPr lang="zh-CN" altLang="en-US" dirty="0"/>
              <a:t>解析，失败先做本地规则修复（全角转半角、去尾逗号、补全括号引号）再次解析；③</a:t>
            </a:r>
            <a:r>
              <a:rPr lang="en-US" altLang="zh-CN" dirty="0"/>
              <a:t> </a:t>
            </a:r>
            <a:r>
              <a:rPr lang="zh-CN" altLang="en-US" dirty="0"/>
              <a:t>仍失败则将原始输出连同</a:t>
            </a:r>
            <a:r>
              <a:rPr lang="en-US" altLang="zh-CN" dirty="0"/>
              <a:t>"</a:t>
            </a:r>
            <a:r>
              <a:rPr lang="zh-CN" altLang="en-US" dirty="0"/>
              <a:t>仅修复</a:t>
            </a:r>
            <a:r>
              <a:rPr lang="en-US" altLang="zh-CN" dirty="0"/>
              <a:t>JSON</a:t>
            </a:r>
            <a:r>
              <a:rPr lang="zh-CN" altLang="en-US" dirty="0"/>
              <a:t>格式</a:t>
            </a:r>
            <a:r>
              <a:rPr lang="en-US" altLang="zh-CN" dirty="0"/>
              <a:t>"</a:t>
            </a:r>
            <a:r>
              <a:rPr lang="zh-CN" altLang="en-US" dirty="0"/>
              <a:t>的要求回传模型，与截断重生成路径汇合后统一降温（</a:t>
            </a:r>
            <a:r>
              <a:rPr lang="en-US" altLang="zh-CN" dirty="0"/>
              <a:t>≤0.2</a:t>
            </a:r>
            <a:r>
              <a:rPr lang="zh-CN" altLang="en-US" dirty="0"/>
              <a:t>）重试。最终解析成功即返回结构化结果，否则抛出异常并附原始输出片段供排查。</a:t>
            </a:r>
            <a:endParaRPr lang="en-US" altLang="zh-CN" dirty="0"/>
          </a:p>
          <a:p>
            <a:r>
              <a:rPr lang="zh-CN" altLang="zh-CN" dirty="0"/>
              <a:t>我们构造了</a:t>
            </a:r>
            <a:r>
              <a:rPr lang="en-US" altLang="zh-CN" dirty="0"/>
              <a:t>40</a:t>
            </a:r>
            <a:r>
              <a:rPr lang="zh-CN" altLang="en-US" dirty="0"/>
              <a:t>个人为注入错误的样本，其中</a:t>
            </a:r>
            <a:r>
              <a:rPr lang="en-US" altLang="zh-CN" dirty="0"/>
              <a:t>10</a:t>
            </a:r>
            <a:r>
              <a:rPr lang="zh-CN" altLang="en-US" dirty="0"/>
              <a:t>个本身就是合法</a:t>
            </a:r>
            <a:r>
              <a:rPr lang="en-US" altLang="zh-CN" dirty="0"/>
              <a:t>JSON</a:t>
            </a:r>
            <a:r>
              <a:rPr lang="zh-CN" altLang="en-US" dirty="0"/>
              <a:t>，</a:t>
            </a:r>
            <a:r>
              <a:rPr lang="en-US" altLang="zh-CN" dirty="0"/>
              <a:t>20</a:t>
            </a:r>
            <a:r>
              <a:rPr lang="zh-CN" altLang="en-US" dirty="0"/>
              <a:t>个属于可以通过本地规则修复的轻微格式错误，剩下</a:t>
            </a:r>
            <a:r>
              <a:rPr lang="en-US" altLang="zh-CN" dirty="0"/>
              <a:t>10</a:t>
            </a:r>
            <a:r>
              <a:rPr lang="zh-CN" altLang="en-US" dirty="0"/>
              <a:t>个需要模型重新生成。如图所示：如果只用最基础的</a:t>
            </a:r>
            <a:r>
              <a:rPr lang="en-US" altLang="zh-CN" dirty="0"/>
              <a:t> json.loads </a:t>
            </a:r>
            <a:r>
              <a:rPr lang="zh-CN" altLang="en-US" dirty="0"/>
              <a:t>直接解析，成功率是</a:t>
            </a:r>
            <a:r>
              <a:rPr lang="en-US" altLang="zh-CN" dirty="0"/>
              <a:t>25%</a:t>
            </a:r>
            <a:r>
              <a:rPr lang="zh-CN" altLang="en-US" dirty="0"/>
              <a:t>（也就是那</a:t>
            </a:r>
            <a:r>
              <a:rPr lang="en-US" altLang="zh-CN" dirty="0"/>
              <a:t>10</a:t>
            </a:r>
            <a:r>
              <a:rPr lang="zh-CN" altLang="en-US" dirty="0"/>
              <a:t>个本身合法的样本）；加上本地规则修复之后，累计成功率提升到</a:t>
            </a:r>
            <a:r>
              <a:rPr lang="en-US" altLang="zh-CN" dirty="0"/>
              <a:t>75%</a:t>
            </a:r>
            <a:r>
              <a:rPr lang="zh-CN" altLang="en-US" dirty="0"/>
              <a:t>；再加上降低</a:t>
            </a:r>
            <a:r>
              <a:rPr lang="en-US" altLang="zh-CN" dirty="0"/>
              <a:t> temperature </a:t>
            </a:r>
            <a:r>
              <a:rPr lang="zh-CN" altLang="en-US" dirty="0"/>
              <a:t>后的模型重试，最终累计达到</a:t>
            </a:r>
            <a:r>
              <a:rPr lang="en-US" altLang="zh-CN" dirty="0"/>
              <a:t>100%——</a:t>
            </a:r>
            <a:r>
              <a:rPr lang="zh-CN" altLang="en-US" dirty="0"/>
              <a:t>也就是这</a:t>
            </a:r>
            <a:r>
              <a:rPr lang="en-US" altLang="zh-CN" dirty="0"/>
              <a:t>40</a:t>
            </a:r>
            <a:r>
              <a:rPr lang="zh-CN" altLang="en-US" dirty="0"/>
              <a:t>个样本全部都能被解析为合法的</a:t>
            </a:r>
            <a:r>
              <a:rPr lang="en-US" altLang="zh-CN" dirty="0"/>
              <a:t>JSON</a:t>
            </a:r>
            <a:r>
              <a:rPr lang="zh-CN" altLang="en-US" dirty="0"/>
              <a:t>。</a:t>
            </a:r>
            <a:r>
              <a:rPr lang="en-US" altLang="zh-CN" dirty="0"/>
              <a:t> </a:t>
            </a:r>
          </a:p>
          <a:p>
            <a:r>
              <a:rPr lang="zh-CN" altLang="zh-CN" dirty="0"/>
              <a:t>性能方面，我们给出了两个实际生成案例：《营造法式》目标约</a:t>
            </a:r>
            <a:r>
              <a:rPr lang="en-US" altLang="zh-CN" dirty="0"/>
              <a:t>4.4</a:t>
            </a:r>
            <a:r>
              <a:rPr lang="zh-CN" altLang="en-US" dirty="0"/>
              <a:t>万字，</a:t>
            </a:r>
            <a:r>
              <a:rPr lang="en-US" altLang="zh-CN" dirty="0"/>
              <a:t>56</a:t>
            </a:r>
            <a:r>
              <a:rPr lang="zh-CN" altLang="en-US" dirty="0"/>
              <a:t>条人物关系补全耗时</a:t>
            </a:r>
            <a:r>
              <a:rPr lang="en-US" altLang="zh-CN" dirty="0"/>
              <a:t>1</a:t>
            </a:r>
            <a:r>
              <a:rPr lang="zh-CN" altLang="en-US" dirty="0"/>
              <a:t>分</a:t>
            </a:r>
            <a:r>
              <a:rPr lang="en-US" altLang="zh-CN" dirty="0"/>
              <a:t>01</a:t>
            </a:r>
            <a:r>
              <a:rPr lang="zh-CN" altLang="en-US" dirty="0"/>
              <a:t>秒，命名加大纲生成耗时</a:t>
            </a:r>
            <a:r>
              <a:rPr lang="en-US" altLang="zh-CN" dirty="0"/>
              <a:t>1</a:t>
            </a:r>
            <a:r>
              <a:rPr lang="zh-CN" altLang="en-US" dirty="0"/>
              <a:t>分</a:t>
            </a:r>
            <a:r>
              <a:rPr lang="en-US" altLang="zh-CN" dirty="0"/>
              <a:t>53</a:t>
            </a:r>
            <a:r>
              <a:rPr lang="zh-CN" altLang="en-US" dirty="0"/>
              <a:t>秒，全文生成耗时</a:t>
            </a:r>
            <a:r>
              <a:rPr lang="en-US" altLang="zh-CN" dirty="0"/>
              <a:t>9</a:t>
            </a:r>
            <a:r>
              <a:rPr lang="zh-CN" altLang="en-US" dirty="0"/>
              <a:t>分</a:t>
            </a:r>
            <a:r>
              <a:rPr lang="en-US" altLang="zh-CN" dirty="0"/>
              <a:t>22</a:t>
            </a:r>
            <a:r>
              <a:rPr lang="zh-CN" altLang="en-US" dirty="0"/>
              <a:t>秒。</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600" b="0" i="0" u="none" strike="noStrike"/>
            </a:lvl1pPr>
          </a:lstStyle>
          <a:p>
            <a:pPr indent="0" algn="l">
              <a:lnSpc>
                <a:spcPct val="100000"/>
              </a:lnSpc>
            </a:pPr>
            <a:r>
              <a:rPr lang="en-US" sz="16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接下来是评估部分。对于图片生成模块，我们的评估重点放在了工程实现的完整性和工作流的可用性上。我们主要从功能完整性、一致性与可控性、系统集成度这几个核心维度进行考察，确保全流程通畅、角色形象稳定且模块协同顺畅。为此，我们执行了端到端的流程与功能测试、后端API稳定性测试，并规划了主观效用验证方案。右侧的截图展示了我们的资源导出界面，这正是我们对工程完整性与资源管理承诺的直观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600" b="0" i="0" u="none" strike="noStrike"/>
            </a:lvl1pPr>
          </a:lstStyle>
          <a:p>
            <a:pPr indent="0" algn="l">
              <a:lnSpc>
                <a:spcPct val="100000"/>
              </a:lnSpc>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测试结果显示，我们的“小说生图”模块在工程层面是成功的。流程与功能测试验证了端到端的工作流是通畅且有效的。接口测试也证明了后端服务的稳定性和可靠性。虽然主观的人工美学评价尚未实施，但这并不影响我们当前的结论：我们成功构建了一个功能完整、集成良好的多模态创作工具。它能够在工程层面保证角色的一致性和场景的连贯性，为用户提供了从文本到视觉的无缝创作体验。这标志着我们的图片生成模块达到了预期的设计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展示大模型的分析效果，输入小说文本内容，将自动识别小说格式，提取小说类型摘要，以及情节变化，从而匹配音乐风格，生成相应的音乐参考提示词与音效参考提示词，并输出给音乐音效生产的页面中。这一步主要是用于用户了解小说内容并协助写提示词。</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轻量化的</a:t>
            </a:r>
            <a:r>
              <a:rPr lang="en-US" altLang="zh-CN" dirty="0"/>
              <a:t>MusicGen</a:t>
            </a:r>
            <a:r>
              <a:rPr lang="zh-CN" altLang="en-US" dirty="0"/>
              <a:t>模型，能够很好地完成生成任务。在预期设想里，用户能够自行切换不同的模型来匹配自己的本机配置来达到不同的效果。但是在实际落地的时候，</a:t>
            </a:r>
            <a:r>
              <a:rPr lang="en-US" altLang="zh-CN" dirty="0"/>
              <a:t>AudioGen </a:t>
            </a:r>
            <a:r>
              <a:rPr lang="zh-CN" altLang="en-US" dirty="0"/>
              <a:t>依赖 </a:t>
            </a:r>
            <a:r>
              <a:rPr lang="en-US" altLang="zh-CN" dirty="0"/>
              <a:t>AudioCraft </a:t>
            </a:r>
            <a:r>
              <a:rPr lang="zh-CN" altLang="en-US" dirty="0"/>
              <a:t>库，</a:t>
            </a:r>
            <a:r>
              <a:rPr lang="en-US" altLang="zh-CN" dirty="0"/>
              <a:t>Windows </a:t>
            </a:r>
            <a:r>
              <a:rPr lang="zh-CN" altLang="en-US" dirty="0"/>
              <a:t>系统兼容性差，无法正常部署使用；而 </a:t>
            </a:r>
            <a:r>
              <a:rPr lang="en-US" altLang="zh-CN" dirty="0"/>
              <a:t>Stable Audio 3 </a:t>
            </a:r>
            <a:r>
              <a:rPr lang="zh-CN" altLang="en-US" dirty="0"/>
              <a:t>托管在 </a:t>
            </a:r>
            <a:r>
              <a:rPr lang="en-US" altLang="zh-CN" dirty="0"/>
              <a:t>HuggingFace </a:t>
            </a:r>
            <a:r>
              <a:rPr lang="zh-CN" altLang="en-US" dirty="0"/>
              <a:t>平台，采用访问权限管控，实际使用会受到网络、权限的制约。</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TTS</a:t>
            </a:r>
            <a:r>
              <a:rPr lang="zh-CN" altLang="en-US" dirty="0"/>
              <a:t>配音主要分为两个使用场景，单句配音与长文本配音，在调用</a:t>
            </a:r>
            <a:r>
              <a:rPr lang="en-US" altLang="zh-CN" dirty="0"/>
              <a:t>TTS</a:t>
            </a:r>
            <a:r>
              <a:rPr lang="zh-CN" altLang="en-US" dirty="0"/>
              <a:t>之前，需要用户将自己的角色加入进角色库中，进行拟写其人物设定提示词并提供参考音频即可创建角色。在配置上，同时实现本地配置与云端配置，云端即调用云端服务器的</a:t>
            </a:r>
            <a:r>
              <a:rPr lang="en-US" altLang="zh-CN" dirty="0"/>
              <a:t>API</a:t>
            </a:r>
            <a:r>
              <a:rPr lang="zh-CN" altLang="en-US" dirty="0"/>
              <a:t>，本地则会检测</a:t>
            </a:r>
            <a:r>
              <a:rPr lang="en-US" altLang="zh-CN" dirty="0"/>
              <a:t>IndexTTS2</a:t>
            </a:r>
            <a:r>
              <a:rPr lang="zh-CN" altLang="en-US" dirty="0"/>
              <a:t>本地部署后的默认端口</a:t>
            </a:r>
            <a:r>
              <a:rPr lang="en-US" altLang="zh-CN" dirty="0"/>
              <a:t>9800</a:t>
            </a:r>
            <a:r>
              <a:rPr lang="zh-CN" altLang="en-US" dirty="0"/>
              <a:t>，并将文本与音频发送给该端口，在实际落地上，受限于硬件，仅测试云端调用的功能。</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65212"/>
            <a:ext cx="3886200" cy="735013"/>
          </a:xfrm>
        </p:spPr>
        <p:txBody>
          <a:bodyPr/>
          <a:lstStyle/>
          <a:p>
            <a:r>
              <a:rPr lang="en-US"/>
              <a:t>Click to edit Master title style</a:t>
            </a:r>
          </a:p>
        </p:txBody>
      </p:sp>
      <p:sp>
        <p:nvSpPr>
          <p:cNvPr id="3" name="Subtitle 2"/>
          <p:cNvSpPr>
            <a:spLocks noGrp="1"/>
          </p:cNvSpPr>
          <p:nvPr>
            <p:ph type="subTitle" idx="1"/>
          </p:nvPr>
        </p:nvSpPr>
        <p:spPr>
          <a:xfrm>
            <a:off x="685800" y="1943100"/>
            <a:ext cx="3200400" cy="8763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203450"/>
            <a:ext cx="3886200" cy="681038"/>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361157" y="1453357"/>
            <a:ext cx="3886200" cy="750094"/>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3241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28600" y="767556"/>
            <a:ext cx="2020094"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p:cNvSpPr>
            <a:spLocks noGrp="1"/>
          </p:cNvSpPr>
          <p:nvPr>
            <p:ph sz="half" idx="2"/>
          </p:nvPr>
        </p:nvSpPr>
        <p:spPr>
          <a:xfrm>
            <a:off x="228600" y="1087438"/>
            <a:ext cx="2020094"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322513" y="767556"/>
            <a:ext cx="2020888"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p:cNvSpPr>
            <a:spLocks noGrp="1"/>
          </p:cNvSpPr>
          <p:nvPr>
            <p:ph sz="quarter" idx="4"/>
          </p:nvPr>
        </p:nvSpPr>
        <p:spPr>
          <a:xfrm>
            <a:off x="2322513" y="1087438"/>
            <a:ext cx="2020888"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36525"/>
            <a:ext cx="1504157" cy="581025"/>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1787525" y="136525"/>
            <a:ext cx="2555875" cy="2926557"/>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8600" y="717550"/>
            <a:ext cx="1504157" cy="2345532"/>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2400300"/>
            <a:ext cx="2743200" cy="283369"/>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896144" y="306388"/>
            <a:ext cx="2743200" cy="20574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2683669"/>
            <a:ext cx="2743200" cy="402431"/>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37319"/>
            <a:ext cx="1028700" cy="2925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37319"/>
            <a:ext cx="3009900" cy="292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37319"/>
            <a:ext cx="4114800" cy="571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8600" y="800100"/>
            <a:ext cx="4114800" cy="22629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8600" y="3178175"/>
            <a:ext cx="1066800" cy="182563"/>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t>6/14/2026</a:t>
            </a:fld>
            <a:endParaRPr lang="en-US"/>
          </a:p>
        </p:txBody>
      </p:sp>
      <p:sp>
        <p:nvSpPr>
          <p:cNvPr id="5" name="Footer Placeholder 4"/>
          <p:cNvSpPr>
            <a:spLocks noGrp="1"/>
          </p:cNvSpPr>
          <p:nvPr>
            <p:ph type="ftr" sz="quarter" idx="3"/>
          </p:nvPr>
        </p:nvSpPr>
        <p:spPr>
          <a:xfrm>
            <a:off x="1562100" y="3178175"/>
            <a:ext cx="1447800" cy="182563"/>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276600" y="3178175"/>
            <a:ext cx="1066800" cy="182563"/>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6.png"/><Relationship Id="rId2" Type="http://schemas.openxmlformats.org/officeDocument/2006/relationships/tags" Target="../tags/tag2.xml"/><Relationship Id="rId16" Type="http://schemas.openxmlformats.org/officeDocument/2006/relationships/image" Target="../media/image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4.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algn="ctr" defTabSz="457200">
                <a:lnSpc>
                  <a:spcPts val="1330"/>
                </a:lnSpc>
                <a:spcBef>
                  <a:spcPct val="0"/>
                </a:spcBef>
              </a:pPr>
              <a:endParaRPr sz="900">
                <a:solidFill>
                  <a:prstClr val="black"/>
                </a:solidFill>
                <a:latin typeface="Calibri" panose="020F0502020204030204"/>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algn="ctr" defTabSz="457200">
                <a:lnSpc>
                  <a:spcPts val="1330"/>
                </a:lnSpc>
              </a:pPr>
              <a:endParaRPr sz="900">
                <a:solidFill>
                  <a:prstClr val="black"/>
                </a:solidFill>
                <a:latin typeface="Calibri" panose="020F0502020204030204"/>
              </a:endParaRPr>
            </a:p>
          </p:txBody>
        </p:sp>
      </p:grpSp>
      <p:grpSp>
        <p:nvGrpSpPr>
          <p:cNvPr id="8" name="Group 8"/>
          <p:cNvGrpSpPr/>
          <p:nvPr/>
        </p:nvGrpSpPr>
        <p:grpSpPr>
          <a:xfrm>
            <a:off x="4439493" y="-1449752"/>
            <a:ext cx="8197360" cy="8480668"/>
            <a:chOff x="0" y="0"/>
            <a:chExt cx="21859626" cy="22615114"/>
          </a:xfrm>
        </p:grpSpPr>
        <p:grpSp>
          <p:nvGrpSpPr>
            <p:cNvPr id="9" name="Group 9"/>
            <p:cNvGrpSpPr/>
            <p:nvPr/>
          </p:nvGrpSpPr>
          <p:grpSpPr>
            <a:xfrm rot="-10800000">
              <a:off x="2284675"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algn="ctr" defTabSz="457200">
                  <a:lnSpc>
                    <a:spcPts val="1330"/>
                  </a:lnSpc>
                </a:pPr>
                <a:endParaRPr sz="900">
                  <a:solidFill>
                    <a:prstClr val="black"/>
                  </a:solidFill>
                  <a:latin typeface="Calibri" panose="020F0502020204030204"/>
                </a:endParaRPr>
              </a:p>
            </p:txBody>
          </p:sp>
        </p:grpSp>
        <p:grpSp>
          <p:nvGrpSpPr>
            <p:cNvPr id="12" name="Group 12"/>
            <p:cNvGrpSpPr/>
            <p:nvPr/>
          </p:nvGrpSpPr>
          <p:grpSpPr>
            <a:xfrm>
              <a:off x="7561549"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algn="ctr" defTabSz="457200">
                  <a:lnSpc>
                    <a:spcPts val="1330"/>
                  </a:lnSpc>
                  <a:spcBef>
                    <a:spcPct val="0"/>
                  </a:spcBef>
                </a:pPr>
                <a:endParaRPr sz="900">
                  <a:solidFill>
                    <a:prstClr val="black"/>
                  </a:solidFill>
                  <a:latin typeface="Calibri" panose="020F0502020204030204"/>
                </a:endParaRPr>
              </a:p>
            </p:txBody>
          </p:sp>
        </p:grpSp>
        <p:grpSp>
          <p:nvGrpSpPr>
            <p:cNvPr id="15" name="Group 15"/>
            <p:cNvGrpSpPr/>
            <p:nvPr/>
          </p:nvGrpSpPr>
          <p:grpSpPr>
            <a:xfrm>
              <a:off x="3128267" y="13581351"/>
              <a:ext cx="9353396" cy="4676698"/>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algn="ctr" defTabSz="457200">
                  <a:lnSpc>
                    <a:spcPts val="1330"/>
                  </a:lnSpc>
                </a:pPr>
                <a:endParaRPr sz="900">
                  <a:solidFill>
                    <a:prstClr val="black"/>
                  </a:solidFill>
                  <a:latin typeface="Calibri" panose="020F0502020204030204"/>
                </a:endParaRPr>
              </a:p>
            </p:txBody>
          </p:sp>
        </p:grpSp>
        <p:grpSp>
          <p:nvGrpSpPr>
            <p:cNvPr id="18" name="Group 18"/>
            <p:cNvGrpSpPr/>
            <p:nvPr/>
          </p:nvGrpSpPr>
          <p:grpSpPr>
            <a:xfrm rot="2700000">
              <a:off x="294649" y="15034411"/>
              <a:ext cx="9714738" cy="4857369"/>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algn="ctr" defTabSz="457200">
                  <a:lnSpc>
                    <a:spcPts val="1330"/>
                  </a:lnSpc>
                </a:pPr>
                <a:endParaRPr sz="900">
                  <a:solidFill>
                    <a:prstClr val="black"/>
                  </a:solidFill>
                  <a:latin typeface="Calibri" panose="020F0502020204030204"/>
                </a:endParaRPr>
              </a:p>
            </p:txBody>
          </p:sp>
        </p:grpSp>
        <p:grpSp>
          <p:nvGrpSpPr>
            <p:cNvPr id="21" name="Group 21"/>
            <p:cNvGrpSpPr/>
            <p:nvPr/>
          </p:nvGrpSpPr>
          <p:grpSpPr>
            <a:xfrm>
              <a:off x="4908055" y="15919700"/>
              <a:ext cx="12531397" cy="6265699"/>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algn="ctr" defTabSz="457200">
                  <a:lnSpc>
                    <a:spcPts val="1330"/>
                  </a:lnSpc>
                </a:pPr>
                <a:endParaRPr sz="900">
                  <a:solidFill>
                    <a:prstClr val="black"/>
                  </a:solidFill>
                  <a:latin typeface="Calibri" panose="020F0502020204030204"/>
                </a:endParaRPr>
              </a:p>
            </p:txBody>
          </p:sp>
        </p:grpSp>
        <p:grpSp>
          <p:nvGrpSpPr>
            <p:cNvPr id="24" name="Group 24"/>
            <p:cNvGrpSpPr/>
            <p:nvPr/>
          </p:nvGrpSpPr>
          <p:grpSpPr>
            <a:xfrm>
              <a:off x="9328229"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algn="ctr" defTabSz="457200">
                  <a:lnSpc>
                    <a:spcPts val="1330"/>
                  </a:lnSpc>
                </a:pPr>
                <a:endParaRPr sz="900">
                  <a:solidFill>
                    <a:prstClr val="black"/>
                  </a:solidFill>
                  <a:latin typeface="Calibri" panose="020F0502020204030204"/>
                </a:endParaRPr>
              </a:p>
            </p:txBody>
          </p:sp>
        </p:grpSp>
      </p:grpSp>
      <p:sp>
        <p:nvSpPr>
          <p:cNvPr id="27" name="Freeform 27"/>
          <p:cNvSpPr/>
          <p:nvPr/>
        </p:nvSpPr>
        <p:spPr>
          <a:xfrm>
            <a:off x="858312" y="4254275"/>
            <a:ext cx="191368" cy="203854"/>
          </a:xfrm>
          <a:custGeom>
            <a:avLst/>
            <a:gdLst/>
            <a:ahLst/>
            <a:cxnLst/>
            <a:rect l="l" t="t" r="r" b="b"/>
            <a:pathLst>
              <a:path w="382735" h="407707">
                <a:moveTo>
                  <a:pt x="0" y="0"/>
                </a:moveTo>
                <a:lnTo>
                  <a:pt x="382735" y="0"/>
                </a:lnTo>
                <a:lnTo>
                  <a:pt x="382735" y="407707"/>
                </a:lnTo>
                <a:lnTo>
                  <a:pt x="0" y="40770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28" name="Group 28"/>
          <p:cNvGrpSpPr/>
          <p:nvPr/>
        </p:nvGrpSpPr>
        <p:grpSpPr>
          <a:xfrm>
            <a:off x="709708" y="3833971"/>
            <a:ext cx="3549872" cy="333180"/>
            <a:chOff x="0" y="0"/>
            <a:chExt cx="1570590" cy="175502"/>
          </a:xfrm>
        </p:grpSpPr>
        <p:sp>
          <p:nvSpPr>
            <p:cNvPr id="29" name="Freeform 29"/>
            <p:cNvSpPr/>
            <p:nvPr/>
          </p:nvSpPr>
          <p:spPr>
            <a:xfrm>
              <a:off x="0" y="0"/>
              <a:ext cx="1570590" cy="175502"/>
            </a:xfrm>
            <a:custGeom>
              <a:avLst/>
              <a:gdLst/>
              <a:ahLst/>
              <a:cxnLst/>
              <a:rect l="l" t="t" r="r" b="b"/>
              <a:pathLst>
                <a:path w="1570590" h="175502">
                  <a:moveTo>
                    <a:pt x="87751" y="0"/>
                  </a:moveTo>
                  <a:lnTo>
                    <a:pt x="1482839" y="0"/>
                  </a:lnTo>
                  <a:cubicBezTo>
                    <a:pt x="1506112" y="0"/>
                    <a:pt x="1528432" y="9245"/>
                    <a:pt x="1544889" y="25702"/>
                  </a:cubicBezTo>
                  <a:cubicBezTo>
                    <a:pt x="1561345" y="42158"/>
                    <a:pt x="1570590" y="64478"/>
                    <a:pt x="1570590" y="87751"/>
                  </a:cubicBezTo>
                  <a:lnTo>
                    <a:pt x="1570590" y="87751"/>
                  </a:lnTo>
                  <a:cubicBezTo>
                    <a:pt x="1570590" y="136215"/>
                    <a:pt x="1531303" y="175502"/>
                    <a:pt x="1482839" y="175502"/>
                  </a:cubicBezTo>
                  <a:lnTo>
                    <a:pt x="87751" y="175502"/>
                  </a:lnTo>
                  <a:cubicBezTo>
                    <a:pt x="39288" y="175502"/>
                    <a:pt x="0" y="136215"/>
                    <a:pt x="0" y="87751"/>
                  </a:cubicBezTo>
                  <a:lnTo>
                    <a:pt x="0" y="87751"/>
                  </a:lnTo>
                  <a:cubicBezTo>
                    <a:pt x="0" y="39288"/>
                    <a:pt x="39288" y="0"/>
                    <a:pt x="87751" y="0"/>
                  </a:cubicBezTo>
                  <a:close/>
                </a:path>
              </a:pathLst>
            </a:custGeom>
            <a:solidFill>
              <a:srgbClr val="072467"/>
            </a:solidFill>
            <a:ln cap="rnd">
              <a:noFill/>
              <a:prstDash val="solid"/>
              <a:round/>
            </a:ln>
          </p:spPr>
        </p:sp>
        <p:sp>
          <p:nvSpPr>
            <p:cNvPr id="30" name="TextBox 30"/>
            <p:cNvSpPr txBox="1"/>
            <p:nvPr/>
          </p:nvSpPr>
          <p:spPr>
            <a:xfrm>
              <a:off x="0" y="-38100"/>
              <a:ext cx="1570590" cy="213602"/>
            </a:xfrm>
            <a:prstGeom prst="rect">
              <a:avLst/>
            </a:prstGeom>
          </p:spPr>
          <p:txBody>
            <a:bodyPr lIns="25400" tIns="25400" rIns="25400" bIns="25400" rtlCol="0" anchor="ctr"/>
            <a:lstStyle/>
            <a:p>
              <a:pPr algn="ctr" defTabSz="457200">
                <a:lnSpc>
                  <a:spcPts val="1330"/>
                </a:lnSpc>
                <a:spcBef>
                  <a:spcPct val="0"/>
                </a:spcBef>
              </a:pPr>
              <a:endParaRPr sz="900">
                <a:solidFill>
                  <a:prstClr val="black"/>
                </a:solidFill>
                <a:latin typeface="Calibri" panose="020F0502020204030204"/>
              </a:endParaRPr>
            </a:p>
          </p:txBody>
        </p:sp>
      </p:grpSp>
      <p:sp>
        <p:nvSpPr>
          <p:cNvPr id="31" name="Freeform 31"/>
          <p:cNvSpPr/>
          <p:nvPr/>
        </p:nvSpPr>
        <p:spPr>
          <a:xfrm>
            <a:off x="895997" y="3890346"/>
            <a:ext cx="191368" cy="203854"/>
          </a:xfrm>
          <a:custGeom>
            <a:avLst/>
            <a:gdLst/>
            <a:ahLst/>
            <a:cxnLst/>
            <a:rect l="l" t="t" r="r" b="b"/>
            <a:pathLst>
              <a:path w="382735" h="407707">
                <a:moveTo>
                  <a:pt x="0" y="0"/>
                </a:moveTo>
                <a:lnTo>
                  <a:pt x="382734" y="0"/>
                </a:lnTo>
                <a:lnTo>
                  <a:pt x="382734" y="407707"/>
                </a:lnTo>
                <a:lnTo>
                  <a:pt x="0" y="40770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32" name="Freeform 32"/>
          <p:cNvSpPr/>
          <p:nvPr/>
        </p:nvSpPr>
        <p:spPr>
          <a:xfrm>
            <a:off x="3438228" y="1437978"/>
            <a:ext cx="2267546" cy="2267546"/>
          </a:xfrm>
          <a:custGeom>
            <a:avLst/>
            <a:gdLst/>
            <a:ahLst/>
            <a:cxnLst/>
            <a:rect l="l" t="t" r="r" b="b"/>
            <a:pathLst>
              <a:path w="4535091" h="4535091">
                <a:moveTo>
                  <a:pt x="0" y="0"/>
                </a:moveTo>
                <a:lnTo>
                  <a:pt x="4535090" y="0"/>
                </a:lnTo>
                <a:lnTo>
                  <a:pt x="4535090" y="4535090"/>
                </a:lnTo>
                <a:lnTo>
                  <a:pt x="0" y="4535090"/>
                </a:lnTo>
                <a:lnTo>
                  <a:pt x="0" y="0"/>
                </a:lnTo>
                <a:close/>
              </a:path>
            </a:pathLst>
          </a:custGeom>
          <a:blipFill>
            <a:blip r:embed="rId5"/>
            <a:stretch>
              <a:fillRect/>
            </a:stretch>
          </a:blipFill>
        </p:spPr>
      </p:sp>
      <p:sp>
        <p:nvSpPr>
          <p:cNvPr id="33" name="Freeform 33"/>
          <p:cNvSpPr/>
          <p:nvPr/>
        </p:nvSpPr>
        <p:spPr>
          <a:xfrm>
            <a:off x="8171336" y="147514"/>
            <a:ext cx="733673" cy="733673"/>
          </a:xfrm>
          <a:custGeom>
            <a:avLst/>
            <a:gdLst/>
            <a:ahLst/>
            <a:cxnLst/>
            <a:rect l="l" t="t" r="r" b="b"/>
            <a:pathLst>
              <a:path w="1467345" h="1467345">
                <a:moveTo>
                  <a:pt x="0" y="0"/>
                </a:moveTo>
                <a:lnTo>
                  <a:pt x="1467345" y="0"/>
                </a:lnTo>
                <a:lnTo>
                  <a:pt x="1467345" y="1467346"/>
                </a:lnTo>
                <a:lnTo>
                  <a:pt x="0" y="1467346"/>
                </a:lnTo>
                <a:lnTo>
                  <a:pt x="0" y="0"/>
                </a:lnTo>
                <a:close/>
              </a:path>
            </a:pathLst>
          </a:custGeom>
          <a:blipFill>
            <a:blip r:embed="rId5"/>
            <a:stretch>
              <a:fillRect/>
            </a:stretch>
          </a:blipFill>
        </p:spPr>
      </p:sp>
      <p:sp>
        <p:nvSpPr>
          <p:cNvPr id="34" name="TextBox 34"/>
          <p:cNvSpPr txBox="1"/>
          <p:nvPr/>
        </p:nvSpPr>
        <p:spPr>
          <a:xfrm>
            <a:off x="695836" y="1769665"/>
            <a:ext cx="6918379" cy="1498167"/>
          </a:xfrm>
          <a:prstGeom prst="rect">
            <a:avLst/>
          </a:prstGeom>
        </p:spPr>
        <p:txBody>
          <a:bodyPr wrap="square" lIns="0" tIns="0" rIns="0" bIns="0" rtlCol="0" anchor="t">
            <a:spAutoFit/>
          </a:bodyPr>
          <a:lstStyle/>
          <a:p>
            <a:pPr defTabSz="457200">
              <a:lnSpc>
                <a:spcPts val="3960"/>
              </a:lnSpc>
            </a:pPr>
            <a:r>
              <a:rPr lang="en-US" sz="3000" b="1" dirty="0">
                <a:solidFill>
                  <a:srgbClr val="1E1E1E"/>
                </a:solidFill>
                <a:latin typeface="Arial" panose="020B0604020202020204" pitchFamily="34" charset="0"/>
                <a:ea typeface="思源黑体 1 Heavy"/>
                <a:cs typeface="Arial" panose="020B0604020202020204" pitchFamily="34" charset="0"/>
                <a:sym typeface="思源黑体 1 Heavy"/>
              </a:rPr>
              <a:t>Multimodal Human-AI Collaborative Novel Creation Research</a:t>
            </a:r>
          </a:p>
          <a:p>
            <a:pPr defTabSz="457200">
              <a:lnSpc>
                <a:spcPts val="3960"/>
              </a:lnSpc>
            </a:pPr>
            <a:endParaRPr lang="en-US" sz="3000" b="1" dirty="0">
              <a:solidFill>
                <a:srgbClr val="1E1E1E"/>
              </a:solidFill>
              <a:latin typeface="Arial" panose="020B0604020202020204" pitchFamily="34" charset="0"/>
              <a:ea typeface="思源黑体 1 Heavy"/>
              <a:cs typeface="Arial" panose="020B0604020202020204" pitchFamily="34" charset="0"/>
              <a:sym typeface="思源黑体 1 Heavy"/>
            </a:endParaRPr>
          </a:p>
        </p:txBody>
      </p:sp>
      <p:sp>
        <p:nvSpPr>
          <p:cNvPr id="35" name="TextBox 35"/>
          <p:cNvSpPr txBox="1"/>
          <p:nvPr/>
        </p:nvSpPr>
        <p:spPr>
          <a:xfrm>
            <a:off x="695836" y="1267066"/>
            <a:ext cx="5047185" cy="438005"/>
          </a:xfrm>
          <a:prstGeom prst="rect">
            <a:avLst/>
          </a:prstGeom>
        </p:spPr>
        <p:txBody>
          <a:bodyPr lIns="0" tIns="0" rIns="0" bIns="0" rtlCol="0" anchor="t">
            <a:spAutoFit/>
          </a:bodyPr>
          <a:lstStyle/>
          <a:p>
            <a:pPr defTabSz="457200">
              <a:lnSpc>
                <a:spcPts val="3750"/>
              </a:lnSpc>
            </a:pPr>
            <a:r>
              <a:rPr lang="en-US" sz="2485" b="1" dirty="0">
                <a:solidFill>
                  <a:srgbClr val="072467"/>
                </a:solidFill>
                <a:latin typeface="Arial" panose="020B0604020202020204" pitchFamily="34" charset="0"/>
                <a:ea typeface="Akzidenz-Grotesk Medium"/>
                <a:cs typeface="Arial" panose="020B0604020202020204" pitchFamily="34" charset="0"/>
                <a:sym typeface="Akzidenz-Grotesk Medium"/>
              </a:rPr>
              <a:t>FINAL REPORT</a:t>
            </a:r>
          </a:p>
        </p:txBody>
      </p:sp>
      <p:sp>
        <p:nvSpPr>
          <p:cNvPr id="36" name="TextBox 36"/>
          <p:cNvSpPr txBox="1"/>
          <p:nvPr/>
        </p:nvSpPr>
        <p:spPr>
          <a:xfrm>
            <a:off x="695836" y="2935989"/>
            <a:ext cx="4760172" cy="584199"/>
          </a:xfrm>
          <a:prstGeom prst="rect">
            <a:avLst/>
          </a:prstGeom>
        </p:spPr>
        <p:txBody>
          <a:bodyPr lIns="0" tIns="0" rIns="0" bIns="0" rtlCol="0" anchor="t">
            <a:spAutoFit/>
          </a:bodyPr>
          <a:lstStyle/>
          <a:p>
            <a:pPr algn="just" defTabSz="457200">
              <a:lnSpc>
                <a:spcPts val="2435"/>
              </a:lnSpc>
            </a:pPr>
            <a:r>
              <a:rPr lang="en-US" sz="1560" spc="56" dirty="0">
                <a:solidFill>
                  <a:srgbClr val="1E1E1E"/>
                </a:solidFill>
                <a:latin typeface="Arial" panose="020B0604020202020204" pitchFamily="34" charset="0"/>
                <a:ea typeface="思源黑体 2"/>
                <a:cs typeface="Arial" panose="020B0604020202020204" pitchFamily="34" charset="0"/>
                <a:sym typeface="思源黑体 2"/>
              </a:rPr>
              <a:t>Group </a:t>
            </a:r>
            <a:r>
              <a:rPr lang="en-US" sz="1560" spc="56" dirty="0" err="1">
                <a:solidFill>
                  <a:srgbClr val="1E1E1E"/>
                </a:solidFill>
                <a:latin typeface="Arial" panose="020B0604020202020204" pitchFamily="34" charset="0"/>
                <a:ea typeface="思源黑体 2"/>
                <a:cs typeface="Arial" panose="020B0604020202020204" pitchFamily="34" charset="0"/>
                <a:sym typeface="思源黑体 2"/>
              </a:rPr>
              <a:t>Members：Ma</a:t>
            </a:r>
            <a:r>
              <a:rPr lang="en-US" sz="1560" spc="56" dirty="0">
                <a:solidFill>
                  <a:srgbClr val="1E1E1E"/>
                </a:solidFill>
                <a:latin typeface="Arial" panose="020B0604020202020204" pitchFamily="34" charset="0"/>
                <a:ea typeface="思源黑体 2"/>
                <a:cs typeface="Arial" panose="020B0604020202020204" pitchFamily="34" charset="0"/>
                <a:sym typeface="思源黑体 2"/>
              </a:rPr>
              <a:t> Xin, Wang </a:t>
            </a:r>
            <a:r>
              <a:rPr lang="en-US" sz="1560" spc="56" dirty="0" err="1">
                <a:solidFill>
                  <a:srgbClr val="1E1E1E"/>
                </a:solidFill>
                <a:latin typeface="Arial" panose="020B0604020202020204" pitchFamily="34" charset="0"/>
                <a:ea typeface="思源黑体 2"/>
                <a:cs typeface="Arial" panose="020B0604020202020204" pitchFamily="34" charset="0"/>
                <a:sym typeface="思源黑体 2"/>
              </a:rPr>
              <a:t>Yiru</a:t>
            </a:r>
            <a:r>
              <a:rPr lang="en-US" sz="1560" spc="56" dirty="0">
                <a:solidFill>
                  <a:srgbClr val="1E1E1E"/>
                </a:solidFill>
                <a:latin typeface="Arial" panose="020B0604020202020204" pitchFamily="34" charset="0"/>
                <a:ea typeface="思源黑体 2"/>
                <a:cs typeface="Arial" panose="020B0604020202020204" pitchFamily="34" charset="0"/>
                <a:sym typeface="思源黑体 2"/>
              </a:rPr>
              <a:t>, Hong </a:t>
            </a:r>
            <a:r>
              <a:rPr lang="en-US" sz="1560" spc="56" dirty="0" err="1">
                <a:solidFill>
                  <a:srgbClr val="1E1E1E"/>
                </a:solidFill>
                <a:latin typeface="Arial" panose="020B0604020202020204" pitchFamily="34" charset="0"/>
                <a:ea typeface="思源黑体 2"/>
                <a:cs typeface="Arial" panose="020B0604020202020204" pitchFamily="34" charset="0"/>
                <a:sym typeface="思源黑体 2"/>
              </a:rPr>
              <a:t>Liya</a:t>
            </a:r>
            <a:endParaRPr lang="en-US" sz="1560" spc="56" dirty="0">
              <a:solidFill>
                <a:srgbClr val="1E1E1E"/>
              </a:solidFill>
              <a:latin typeface="Arial" panose="020B0604020202020204" pitchFamily="34" charset="0"/>
              <a:ea typeface="思源黑体 2"/>
              <a:cs typeface="Arial" panose="020B0604020202020204" pitchFamily="34" charset="0"/>
              <a:sym typeface="思源黑体 2"/>
            </a:endParaRPr>
          </a:p>
          <a:p>
            <a:pPr algn="just" defTabSz="457200">
              <a:lnSpc>
                <a:spcPts val="2435"/>
              </a:lnSpc>
            </a:pPr>
            <a:r>
              <a:rPr lang="en-US" sz="1560" spc="56" dirty="0">
                <a:solidFill>
                  <a:srgbClr val="1E1E1E"/>
                </a:solidFill>
                <a:latin typeface="Arial" panose="020B0604020202020204" pitchFamily="34" charset="0"/>
                <a:ea typeface="思源黑体 2"/>
                <a:cs typeface="Arial" panose="020B0604020202020204" pitchFamily="34" charset="0"/>
                <a:sym typeface="思源黑体 2"/>
              </a:rPr>
              <a:t>Date: June 14, 2026</a:t>
            </a:r>
          </a:p>
        </p:txBody>
      </p:sp>
      <p:sp>
        <p:nvSpPr>
          <p:cNvPr id="37" name="TextBox 37"/>
          <p:cNvSpPr txBox="1"/>
          <p:nvPr/>
        </p:nvSpPr>
        <p:spPr>
          <a:xfrm>
            <a:off x="1147465" y="3908203"/>
            <a:ext cx="3112115" cy="179536"/>
          </a:xfrm>
          <a:prstGeom prst="rect">
            <a:avLst/>
          </a:prstGeom>
        </p:spPr>
        <p:txBody>
          <a:bodyPr wrap="square" lIns="0" tIns="0" rIns="0" bIns="0" rtlCol="0" anchor="t">
            <a:spAutoFit/>
          </a:bodyPr>
          <a:lstStyle/>
          <a:p>
            <a:pPr defTabSz="457200">
              <a:lnSpc>
                <a:spcPts val="1360"/>
              </a:lnSpc>
              <a:spcBef>
                <a:spcPct val="0"/>
              </a:spcBef>
            </a:pPr>
            <a:r>
              <a:rPr lang="en-US" sz="1400" b="1" dirty="0" err="1">
                <a:solidFill>
                  <a:srgbClr val="FFFFFF"/>
                </a:solidFill>
                <a:latin typeface="Arial" panose="020B0604020202020204" pitchFamily="34" charset="0"/>
                <a:ea typeface="思源黑体 3 Medium"/>
                <a:cs typeface="Arial" panose="020B0604020202020204" pitchFamily="34" charset="0"/>
                <a:sym typeface="思源黑体 3 Medium"/>
              </a:rPr>
              <a:t>Presenters：Wang</a:t>
            </a:r>
            <a:r>
              <a:rPr lang="en-US" sz="1400" b="1" dirty="0">
                <a:solidFill>
                  <a:srgbClr val="FFFFFF"/>
                </a:solidFill>
                <a:latin typeface="Arial" panose="020B0604020202020204" pitchFamily="34" charset="0"/>
                <a:ea typeface="思源黑体 3 Medium"/>
                <a:cs typeface="Arial" panose="020B0604020202020204" pitchFamily="34" charset="0"/>
                <a:sym typeface="思源黑体 3 Medium"/>
              </a:rPr>
              <a:t> </a:t>
            </a:r>
            <a:r>
              <a:rPr lang="en-US" sz="1400" b="1" dirty="0" err="1">
                <a:solidFill>
                  <a:srgbClr val="FFFFFF"/>
                </a:solidFill>
                <a:latin typeface="Arial" panose="020B0604020202020204" pitchFamily="34" charset="0"/>
                <a:ea typeface="思源黑体 3 Medium"/>
                <a:cs typeface="Arial" panose="020B0604020202020204" pitchFamily="34" charset="0"/>
                <a:sym typeface="思源黑体 3 Medium"/>
              </a:rPr>
              <a:t>Yiru</a:t>
            </a:r>
            <a:r>
              <a:rPr lang="en-US" sz="1400" b="1" dirty="0">
                <a:solidFill>
                  <a:srgbClr val="FFFFFF"/>
                </a:solidFill>
                <a:latin typeface="Arial" panose="020B0604020202020204" pitchFamily="34" charset="0"/>
                <a:ea typeface="思源黑体 3 Medium"/>
                <a:cs typeface="Arial" panose="020B0604020202020204" pitchFamily="34" charset="0"/>
                <a:sym typeface="思源黑体 3 Medium"/>
              </a:rPr>
              <a:t>, Hong </a:t>
            </a:r>
            <a:r>
              <a:rPr lang="en-US" sz="1400" b="1" dirty="0" err="1">
                <a:solidFill>
                  <a:srgbClr val="FFFFFF"/>
                </a:solidFill>
                <a:latin typeface="Arial" panose="020B0604020202020204" pitchFamily="34" charset="0"/>
                <a:ea typeface="思源黑体 3 Medium"/>
                <a:cs typeface="Arial" panose="020B0604020202020204" pitchFamily="34" charset="0"/>
                <a:sym typeface="思源黑体 3 Medium"/>
              </a:rPr>
              <a:t>Liya</a:t>
            </a:r>
            <a:endParaRPr lang="en-US" sz="1400" b="1" dirty="0">
              <a:solidFill>
                <a:srgbClr val="FFFFFF"/>
              </a:solidFill>
              <a:latin typeface="Arial" panose="020B0604020202020204" pitchFamily="34" charset="0"/>
              <a:ea typeface="思源黑体 3 Medium"/>
              <a:cs typeface="Arial" panose="020B0604020202020204" pitchFamily="34" charset="0"/>
              <a:sym typeface="思源黑体 3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40691" y="-1091841"/>
            <a:ext cx="13631755" cy="8122757"/>
            <a:chOff x="0" y="0"/>
            <a:chExt cx="36351347" cy="21660684"/>
          </a:xfrm>
        </p:grpSpPr>
        <p:grpSp>
          <p:nvGrpSpPr>
            <p:cNvPr id="3" name="Group 3"/>
            <p:cNvGrpSpPr/>
            <p:nvPr/>
          </p:nvGrpSpPr>
          <p:grpSpPr>
            <a:xfrm rot="-10800000">
              <a:off x="21447263" y="0"/>
              <a:ext cx="9060373" cy="4530187"/>
              <a:chOff x="0" y="0"/>
              <a:chExt cx="812800" cy="406400"/>
            </a:xfrm>
          </p:grpSpPr>
          <p:sp>
            <p:nvSpPr>
              <p:cNvPr id="4" name="Freeform 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5" name="TextBox 5"/>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6" name="Group 6"/>
            <p:cNvGrpSpPr/>
            <p:nvPr/>
          </p:nvGrpSpPr>
          <p:grpSpPr>
            <a:xfrm>
              <a:off x="25262516" y="2748447"/>
              <a:ext cx="9060373" cy="4530187"/>
              <a:chOff x="0" y="0"/>
              <a:chExt cx="812800" cy="406400"/>
            </a:xfrm>
          </p:grpSpPr>
          <p:sp>
            <p:nvSpPr>
              <p:cNvPr id="7" name="Freeform 7"/>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8" name="TextBox 8"/>
              <p:cNvSpPr txBox="1"/>
              <p:nvPr/>
            </p:nvSpPr>
            <p:spPr>
              <a:xfrm>
                <a:off x="0" y="-28575"/>
                <a:ext cx="698500" cy="434975"/>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9" name="Group 9"/>
            <p:cNvGrpSpPr/>
            <p:nvPr/>
          </p:nvGrpSpPr>
          <p:grpSpPr>
            <a:xfrm>
              <a:off x="3128267" y="12626921"/>
              <a:ext cx="9353396" cy="4676698"/>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2" name="Group 12"/>
            <p:cNvGrpSpPr/>
            <p:nvPr/>
          </p:nvGrpSpPr>
          <p:grpSpPr>
            <a:xfrm rot="2700000">
              <a:off x="294649" y="14079981"/>
              <a:ext cx="9714738" cy="485736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5" name="Group 15"/>
            <p:cNvGrpSpPr/>
            <p:nvPr/>
          </p:nvGrpSpPr>
          <p:grpSpPr>
            <a:xfrm>
              <a:off x="4908055" y="14965270"/>
              <a:ext cx="12531397" cy="6265699"/>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8" name="Group 18"/>
            <p:cNvGrpSpPr/>
            <p:nvPr/>
          </p:nvGrpSpPr>
          <p:grpSpPr>
            <a:xfrm>
              <a:off x="26539850" y="4854745"/>
              <a:ext cx="9060373" cy="4530187"/>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21" name="Group 21"/>
            <p:cNvGrpSpPr/>
            <p:nvPr/>
          </p:nvGrpSpPr>
          <p:grpSpPr>
            <a:xfrm rot="-10800000">
              <a:off x="23819950" y="14170770"/>
              <a:ext cx="12531397" cy="6265699"/>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sp>
        <p:nvSpPr>
          <p:cNvPr id="24" name="TextBox 24"/>
          <p:cNvSpPr txBox="1"/>
          <p:nvPr/>
        </p:nvSpPr>
        <p:spPr>
          <a:xfrm>
            <a:off x="5058745" y="783507"/>
            <a:ext cx="2656387" cy="333425"/>
          </a:xfrm>
          <a:prstGeom prst="rect">
            <a:avLst/>
          </a:prstGeom>
        </p:spPr>
        <p:txBody>
          <a:bodyPr lIns="0" tIns="0" rIns="0" bIns="0" rtlCol="0" anchor="t">
            <a:spAutoFit/>
          </a:bodyPr>
          <a:lstStyle/>
          <a:p>
            <a:pPr>
              <a:lnSpc>
                <a:spcPts val="2640"/>
              </a:lnSpc>
            </a:pPr>
            <a:r>
              <a:rPr lang="en-US" sz="2200" b="1" dirty="0">
                <a:solidFill>
                  <a:srgbClr val="1E1E1E"/>
                </a:solidFill>
                <a:latin typeface="Arial" panose="020B0604020202020204" pitchFamily="34" charset="0"/>
                <a:ea typeface="思源黑体 3 Bold"/>
                <a:cs typeface="Arial" panose="020B0604020202020204" pitchFamily="34" charset="0"/>
                <a:sym typeface="思源黑体 3 Bold"/>
              </a:rPr>
              <a:t>Background</a:t>
            </a:r>
          </a:p>
        </p:txBody>
      </p:sp>
      <p:sp>
        <p:nvSpPr>
          <p:cNvPr id="25" name="TextBox 25"/>
          <p:cNvSpPr txBox="1"/>
          <p:nvPr/>
        </p:nvSpPr>
        <p:spPr>
          <a:xfrm>
            <a:off x="4140206" y="634636"/>
            <a:ext cx="831816" cy="577081"/>
          </a:xfrm>
          <a:prstGeom prst="rect">
            <a:avLst/>
          </a:prstGeom>
        </p:spPr>
        <p:txBody>
          <a:bodyPr lIns="0" tIns="0" rIns="0" bIns="0" rtlCol="0" anchor="t">
            <a:spAutoFit/>
          </a:bodyPr>
          <a:lstStyle/>
          <a:p>
            <a:pPr algn="ctr">
              <a:lnSpc>
                <a:spcPts val="4545"/>
              </a:lnSpc>
            </a:pPr>
            <a:r>
              <a:rPr lang="en-US" sz="3785" b="1" dirty="0">
                <a:solidFill>
                  <a:srgbClr val="4666AF"/>
                </a:solidFill>
                <a:latin typeface="Arial" panose="020B0604020202020204" pitchFamily="34" charset="0"/>
                <a:ea typeface="Akzidenz-Grotesk Bold"/>
                <a:cs typeface="Arial" panose="020B0604020202020204" pitchFamily="34" charset="0"/>
                <a:sym typeface="Akzidenz-Grotesk Bold"/>
              </a:rPr>
              <a:t>01</a:t>
            </a:r>
          </a:p>
        </p:txBody>
      </p:sp>
      <p:sp>
        <p:nvSpPr>
          <p:cNvPr id="26" name="TextBox 26"/>
          <p:cNvSpPr txBox="1"/>
          <p:nvPr/>
        </p:nvSpPr>
        <p:spPr>
          <a:xfrm>
            <a:off x="5058745" y="1621707"/>
            <a:ext cx="3022847" cy="333425"/>
          </a:xfrm>
          <a:prstGeom prst="rect">
            <a:avLst/>
          </a:prstGeom>
        </p:spPr>
        <p:txBody>
          <a:bodyPr lIns="0" tIns="0" rIns="0" bIns="0" rtlCol="0" anchor="t">
            <a:spAutoFit/>
          </a:bodyPr>
          <a:lstStyle/>
          <a:p>
            <a:pPr>
              <a:lnSpc>
                <a:spcPts val="2640"/>
              </a:lnSpc>
            </a:pPr>
            <a:r>
              <a:rPr lang="en-US" sz="2200" b="1" dirty="0">
                <a:solidFill>
                  <a:srgbClr val="1E1E1E"/>
                </a:solidFill>
                <a:latin typeface="Arial" panose="020B0604020202020204" pitchFamily="34" charset="0"/>
                <a:ea typeface="思源黑体 3 Bold"/>
                <a:cs typeface="Arial" panose="020B0604020202020204" pitchFamily="34" charset="0"/>
                <a:sym typeface="思源黑体 3 Bold"/>
              </a:rPr>
              <a:t>Architecture design</a:t>
            </a:r>
          </a:p>
        </p:txBody>
      </p:sp>
      <p:sp>
        <p:nvSpPr>
          <p:cNvPr id="27" name="TextBox 27"/>
          <p:cNvSpPr txBox="1"/>
          <p:nvPr/>
        </p:nvSpPr>
        <p:spPr>
          <a:xfrm>
            <a:off x="5058745" y="2466965"/>
            <a:ext cx="2656387" cy="333425"/>
          </a:xfrm>
          <a:prstGeom prst="rect">
            <a:avLst/>
          </a:prstGeom>
        </p:spPr>
        <p:txBody>
          <a:bodyPr lIns="0" tIns="0" rIns="0" bIns="0" rtlCol="0" anchor="t">
            <a:spAutoFit/>
          </a:bodyPr>
          <a:lstStyle/>
          <a:p>
            <a:pPr>
              <a:lnSpc>
                <a:spcPts val="2640"/>
              </a:lnSpc>
            </a:pPr>
            <a:r>
              <a:rPr lang="en-US" sz="2200" b="1" dirty="0">
                <a:solidFill>
                  <a:srgbClr val="1E1E1E"/>
                </a:solidFill>
                <a:latin typeface="Arial" panose="020B0604020202020204" pitchFamily="34" charset="0"/>
                <a:ea typeface="思源黑体 3 Bold"/>
                <a:cs typeface="Arial" panose="020B0604020202020204" pitchFamily="34" charset="0"/>
                <a:sym typeface="思源黑体 3 Bold"/>
              </a:rPr>
              <a:t>Evaluation</a:t>
            </a:r>
          </a:p>
        </p:txBody>
      </p:sp>
      <p:sp>
        <p:nvSpPr>
          <p:cNvPr id="28" name="TextBox 28"/>
          <p:cNvSpPr txBox="1"/>
          <p:nvPr/>
        </p:nvSpPr>
        <p:spPr>
          <a:xfrm>
            <a:off x="5058745" y="3305165"/>
            <a:ext cx="2656387" cy="333425"/>
          </a:xfrm>
          <a:prstGeom prst="rect">
            <a:avLst/>
          </a:prstGeom>
        </p:spPr>
        <p:txBody>
          <a:bodyPr lIns="0" tIns="0" rIns="0" bIns="0" rtlCol="0" anchor="t">
            <a:spAutoFit/>
          </a:bodyPr>
          <a:lstStyle/>
          <a:p>
            <a:pPr>
              <a:lnSpc>
                <a:spcPts val="2640"/>
              </a:lnSpc>
            </a:pPr>
            <a:r>
              <a:rPr lang="en-US" altLang="zh-CN" sz="2200" b="1" dirty="0">
                <a:solidFill>
                  <a:srgbClr val="1E1E1E"/>
                </a:solidFill>
                <a:latin typeface="Arial" panose="020B0604020202020204" pitchFamily="34" charset="0"/>
                <a:ea typeface="思源黑体 3 Bold"/>
                <a:cs typeface="Arial" panose="020B0604020202020204" pitchFamily="34" charset="0"/>
                <a:sym typeface="思源黑体 3 Bold"/>
              </a:rPr>
              <a:t>Demo video</a:t>
            </a:r>
          </a:p>
        </p:txBody>
      </p:sp>
      <p:sp>
        <p:nvSpPr>
          <p:cNvPr id="29" name="TextBox 29"/>
          <p:cNvSpPr txBox="1"/>
          <p:nvPr/>
        </p:nvSpPr>
        <p:spPr>
          <a:xfrm>
            <a:off x="4140206" y="1477598"/>
            <a:ext cx="831816" cy="577081"/>
          </a:xfrm>
          <a:prstGeom prst="rect">
            <a:avLst/>
          </a:prstGeom>
        </p:spPr>
        <p:txBody>
          <a:bodyPr lIns="0" tIns="0" rIns="0" bIns="0" rtlCol="0" anchor="t">
            <a:spAutoFit/>
          </a:bodyPr>
          <a:lstStyle/>
          <a:p>
            <a:pPr algn="ctr">
              <a:lnSpc>
                <a:spcPts val="4545"/>
              </a:lnSpc>
            </a:pPr>
            <a:r>
              <a:rPr lang="en-US" sz="3785" b="1" dirty="0">
                <a:solidFill>
                  <a:srgbClr val="072467"/>
                </a:solidFill>
                <a:latin typeface="Arial" panose="020B0604020202020204" pitchFamily="34" charset="0"/>
                <a:ea typeface="Akzidenz-Grotesk Bold"/>
                <a:cs typeface="Arial" panose="020B0604020202020204" pitchFamily="34" charset="0"/>
                <a:sym typeface="Akzidenz-Grotesk Bold"/>
              </a:rPr>
              <a:t>02</a:t>
            </a:r>
          </a:p>
        </p:txBody>
      </p:sp>
      <p:sp>
        <p:nvSpPr>
          <p:cNvPr id="30" name="TextBox 30"/>
          <p:cNvSpPr txBox="1"/>
          <p:nvPr/>
        </p:nvSpPr>
        <p:spPr>
          <a:xfrm>
            <a:off x="4140206" y="2320561"/>
            <a:ext cx="831816" cy="577081"/>
          </a:xfrm>
          <a:prstGeom prst="rect">
            <a:avLst/>
          </a:prstGeom>
        </p:spPr>
        <p:txBody>
          <a:bodyPr lIns="0" tIns="0" rIns="0" bIns="0" rtlCol="0" anchor="t">
            <a:spAutoFit/>
          </a:bodyPr>
          <a:lstStyle/>
          <a:p>
            <a:pPr algn="ctr">
              <a:lnSpc>
                <a:spcPts val="4545"/>
              </a:lnSpc>
            </a:pPr>
            <a:r>
              <a:rPr lang="en-US" sz="3785" b="1" dirty="0">
                <a:solidFill>
                  <a:srgbClr val="4666AF"/>
                </a:solidFill>
                <a:latin typeface="Arial" panose="020B0604020202020204" pitchFamily="34" charset="0"/>
                <a:cs typeface="Arial" panose="020B0604020202020204" pitchFamily="34" charset="0"/>
                <a:sym typeface="Akzidenz-Grotesk Bold"/>
              </a:rPr>
              <a:t>03</a:t>
            </a:r>
          </a:p>
        </p:txBody>
      </p:sp>
      <p:sp>
        <p:nvSpPr>
          <p:cNvPr id="31" name="TextBox 31"/>
          <p:cNvSpPr txBox="1"/>
          <p:nvPr/>
        </p:nvSpPr>
        <p:spPr>
          <a:xfrm>
            <a:off x="4140206" y="3163523"/>
            <a:ext cx="831816" cy="577081"/>
          </a:xfrm>
          <a:prstGeom prst="rect">
            <a:avLst/>
          </a:prstGeom>
        </p:spPr>
        <p:txBody>
          <a:bodyPr lIns="0" tIns="0" rIns="0" bIns="0" rtlCol="0" anchor="t">
            <a:spAutoFit/>
          </a:bodyPr>
          <a:lstStyle/>
          <a:p>
            <a:pPr algn="ctr">
              <a:lnSpc>
                <a:spcPts val="4545"/>
              </a:lnSpc>
            </a:pPr>
            <a:r>
              <a:rPr lang="en-US" sz="3785" b="1" dirty="0">
                <a:solidFill>
                  <a:srgbClr val="072467"/>
                </a:solidFill>
                <a:latin typeface="Arial" panose="020B0604020202020204" pitchFamily="34" charset="0"/>
                <a:cs typeface="Arial" panose="020B0604020202020204" pitchFamily="34" charset="0"/>
                <a:sym typeface="Akzidenz-Grotesk Bold"/>
              </a:rPr>
              <a:t>04</a:t>
            </a:r>
          </a:p>
        </p:txBody>
      </p:sp>
      <p:sp>
        <p:nvSpPr>
          <p:cNvPr id="32" name="TextBox 32"/>
          <p:cNvSpPr txBox="1"/>
          <p:nvPr/>
        </p:nvSpPr>
        <p:spPr>
          <a:xfrm>
            <a:off x="647275" y="2122927"/>
            <a:ext cx="3492932" cy="661976"/>
          </a:xfrm>
          <a:prstGeom prst="rect">
            <a:avLst/>
          </a:prstGeom>
        </p:spPr>
        <p:txBody>
          <a:bodyPr lIns="0" tIns="0" rIns="0" bIns="0" rtlCol="0" anchor="t">
            <a:spAutoFit/>
          </a:bodyPr>
          <a:lstStyle/>
          <a:p>
            <a:pPr algn="ctr">
              <a:lnSpc>
                <a:spcPts val="5465"/>
              </a:lnSpc>
            </a:pPr>
            <a:r>
              <a:rPr lang="en-US" sz="4555" b="1" spc="91" dirty="0">
                <a:solidFill>
                  <a:srgbClr val="1E1E1E"/>
                </a:solidFill>
                <a:latin typeface="Arial" panose="020B0604020202020204" pitchFamily="34" charset="0"/>
                <a:ea typeface="Akzidenz-Grotesk Bold"/>
                <a:cs typeface="Arial" panose="020B0604020202020204" pitchFamily="34" charset="0"/>
                <a:sym typeface="Akzidenz-Grotesk Bold"/>
              </a:rPr>
              <a:t>CONTENTS</a:t>
            </a:r>
          </a:p>
        </p:txBody>
      </p:sp>
      <p:sp>
        <p:nvSpPr>
          <p:cNvPr id="33" name="TextBox 27"/>
          <p:cNvSpPr txBox="1"/>
          <p:nvPr/>
        </p:nvSpPr>
        <p:spPr>
          <a:xfrm>
            <a:off x="5074631" y="4078187"/>
            <a:ext cx="2656387" cy="333425"/>
          </a:xfrm>
          <a:prstGeom prst="rect">
            <a:avLst/>
          </a:prstGeom>
        </p:spPr>
        <p:txBody>
          <a:bodyPr lIns="0" tIns="0" rIns="0" bIns="0" rtlCol="0" anchor="t">
            <a:spAutoFit/>
          </a:bodyPr>
          <a:lstStyle/>
          <a:p>
            <a:pPr>
              <a:lnSpc>
                <a:spcPts val="2640"/>
              </a:lnSpc>
            </a:pPr>
            <a:r>
              <a:rPr lang="en-US" sz="2200" b="1" dirty="0">
                <a:solidFill>
                  <a:srgbClr val="1E1E1E"/>
                </a:solidFill>
                <a:latin typeface="Arial" panose="020B0604020202020204" pitchFamily="34" charset="0"/>
                <a:ea typeface="思源黑体 3 Bold"/>
                <a:cs typeface="Arial" panose="020B0604020202020204" pitchFamily="34" charset="0"/>
                <a:sym typeface="思源黑体 3 Bold"/>
              </a:rPr>
              <a:t>Conclusion</a:t>
            </a:r>
          </a:p>
        </p:txBody>
      </p:sp>
      <p:sp>
        <p:nvSpPr>
          <p:cNvPr id="34" name="TextBox 30"/>
          <p:cNvSpPr txBox="1"/>
          <p:nvPr/>
        </p:nvSpPr>
        <p:spPr>
          <a:xfrm>
            <a:off x="4156092" y="3931783"/>
            <a:ext cx="831816" cy="577081"/>
          </a:xfrm>
          <a:prstGeom prst="rect">
            <a:avLst/>
          </a:prstGeom>
        </p:spPr>
        <p:txBody>
          <a:bodyPr lIns="0" tIns="0" rIns="0" bIns="0" rtlCol="0" anchor="t">
            <a:spAutoFit/>
          </a:bodyPr>
          <a:lstStyle/>
          <a:p>
            <a:pPr algn="ctr">
              <a:lnSpc>
                <a:spcPts val="4545"/>
              </a:lnSpc>
            </a:pPr>
            <a:r>
              <a:rPr lang="en-US" sz="3785" b="1" dirty="0">
                <a:solidFill>
                  <a:srgbClr val="4666AF"/>
                </a:solidFill>
                <a:latin typeface="Arial" panose="020B0604020202020204" pitchFamily="34" charset="0"/>
                <a:cs typeface="Arial" panose="020B0604020202020204" pitchFamily="34" charset="0"/>
                <a:sym typeface="Akzidenz-Grotesk Bold"/>
              </a:rPr>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sp>
        <p:nvSpPr>
          <p:cNvPr id="27" name="TextBox 27"/>
          <p:cNvSpPr txBox="1"/>
          <p:nvPr/>
        </p:nvSpPr>
        <p:spPr>
          <a:xfrm>
            <a:off x="1198255" y="2175398"/>
            <a:ext cx="5585024" cy="709618"/>
          </a:xfrm>
          <a:prstGeom prst="rect">
            <a:avLst/>
          </a:prstGeom>
        </p:spPr>
        <p:txBody>
          <a:bodyPr lIns="0" tIns="0" rIns="0" bIns="0" rtlCol="0" anchor="t">
            <a:spAutoFit/>
          </a:bodyPr>
          <a:lstStyle/>
          <a:p>
            <a:pPr>
              <a:lnSpc>
                <a:spcPts val="5990"/>
              </a:lnSpc>
            </a:pPr>
            <a:r>
              <a:rPr lang="en-US" sz="4540" b="1" dirty="0">
                <a:solidFill>
                  <a:srgbClr val="1E1E1E"/>
                </a:solidFill>
                <a:latin typeface="Arial" panose="020B0604020202020204" pitchFamily="34" charset="0"/>
                <a:ea typeface="思源黑体 3 Bold"/>
                <a:cs typeface="Arial" panose="020B0604020202020204" pitchFamily="34" charset="0"/>
                <a:sym typeface="思源黑体 3 Bold"/>
              </a:rPr>
              <a:t>Background</a:t>
            </a:r>
          </a:p>
        </p:txBody>
      </p:sp>
      <p:grpSp>
        <p:nvGrpSpPr>
          <p:cNvPr id="28" name="Group 28"/>
          <p:cNvGrpSpPr/>
          <p:nvPr/>
        </p:nvGrpSpPr>
        <p:grpSpPr>
          <a:xfrm>
            <a:off x="1198255" y="1279054"/>
            <a:ext cx="867769" cy="86776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2467"/>
            </a:solidFill>
          </p:spPr>
        </p:sp>
        <p:sp>
          <p:nvSpPr>
            <p:cNvPr id="30" name="TextBox 30"/>
            <p:cNvSpPr txBox="1"/>
            <p:nvPr/>
          </p:nvSpPr>
          <p:spPr>
            <a:xfrm>
              <a:off x="76200" y="76200"/>
              <a:ext cx="660400" cy="660400"/>
            </a:xfrm>
            <a:prstGeom prst="rect">
              <a:avLst/>
            </a:prstGeom>
          </p:spPr>
          <p:txBody>
            <a:bodyPr lIns="25400" tIns="25400" rIns="25400" bIns="25400" rtlCol="0" anchor="ctr"/>
            <a:lstStyle/>
            <a:p>
              <a:pPr>
                <a:lnSpc>
                  <a:spcPts val="1495"/>
                </a:lnSpc>
              </a:pPr>
              <a:endParaRPr sz="900"/>
            </a:p>
          </p:txBody>
        </p:sp>
      </p:grpSp>
      <p:sp>
        <p:nvSpPr>
          <p:cNvPr id="31" name="TextBox 31"/>
          <p:cNvSpPr txBox="1"/>
          <p:nvPr/>
        </p:nvSpPr>
        <p:spPr>
          <a:xfrm>
            <a:off x="1226949" y="1336232"/>
            <a:ext cx="810381" cy="641201"/>
          </a:xfrm>
          <a:prstGeom prst="rect">
            <a:avLst/>
          </a:prstGeom>
        </p:spPr>
        <p:txBody>
          <a:bodyPr lIns="0" tIns="0" rIns="0" bIns="0" rtlCol="0" anchor="t">
            <a:spAutoFit/>
          </a:bodyPr>
          <a:lstStyle/>
          <a:p>
            <a:pPr algn="ctr">
              <a:lnSpc>
                <a:spcPts val="5030"/>
              </a:lnSpc>
            </a:pPr>
            <a:r>
              <a:rPr lang="en-US" sz="4190" b="1" dirty="0">
                <a:solidFill>
                  <a:srgbClr val="FFFFFF"/>
                </a:solidFill>
                <a:latin typeface="Akzidenz-Grotesk Bold"/>
                <a:ea typeface="Akzidenz-Grotesk Bold"/>
                <a:cs typeface="Akzidenz-Grotesk Bold"/>
                <a:sym typeface="Akzidenz-Grotesk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01 BACKGROUND AND SIGNIFICANCE</a:t>
            </a:r>
            <a:endParaRPr lang="en-US" sz="1200" dirty="0"/>
          </a:p>
        </p:txBody>
      </p:sp>
      <p:sp>
        <p:nvSpPr>
          <p:cNvPr id="8" name="Text 6"/>
          <p:cNvSpPr/>
          <p:nvPr/>
        </p:nvSpPr>
        <p:spPr>
          <a:xfrm>
            <a:off x="457200" y="666809"/>
            <a:ext cx="8229600" cy="713232"/>
          </a:xfrm>
          <a:prstGeom prst="rect">
            <a:avLst/>
          </a:prstGeom>
          <a:noFill/>
        </p:spPr>
        <p:txBody>
          <a:bodyPr wrap="square" lIns="0" tIns="0" rIns="0" bIns="0" rtlCol="0" anchor="t"/>
          <a:lstStyle/>
          <a:p>
            <a:pPr marL="0" indent="0">
              <a:buNone/>
            </a:pPr>
            <a:r>
              <a:rPr lang="en-US" sz="2000" b="1" dirty="0">
                <a:solidFill>
                  <a:srgbClr val="242424"/>
                </a:solidFill>
                <a:latin typeface="Arial" panose="020B0604020202020204" pitchFamily="34" charset="0"/>
                <a:ea typeface="Arial" panose="020B0604020202020204" pitchFamily="34" charset="-122"/>
                <a:cs typeface="Arial" panose="020B0604020202020204" pitchFamily="34" charset="-120"/>
              </a:rPr>
              <a:t>A Polarized, Unfilled Gap in Multimodal Fiction Creation Tools</a:t>
            </a:r>
            <a:endParaRPr lang="en-US" sz="2000" dirty="0"/>
          </a:p>
        </p:txBody>
      </p:sp>
      <p:sp>
        <p:nvSpPr>
          <p:cNvPr id="9" name="Text 7"/>
          <p:cNvSpPr/>
          <p:nvPr/>
        </p:nvSpPr>
        <p:spPr>
          <a:xfrm>
            <a:off x="457200" y="1298448"/>
            <a:ext cx="4892040" cy="274320"/>
          </a:xfrm>
          <a:prstGeom prst="rect">
            <a:avLst/>
          </a:prstGeom>
          <a:noFill/>
        </p:spPr>
        <p:txBody>
          <a:bodyPr wrap="square" lIns="0" tIns="0" rIns="0" bIns="0" rtlCol="0" anchor="ctr"/>
          <a:lstStyle/>
          <a:p>
            <a:pPr marL="0" indent="0">
              <a:buNone/>
            </a:pPr>
            <a:r>
              <a:rPr lang="en-US" sz="1350" b="1" dirty="0">
                <a:solidFill>
                  <a:srgbClr val="1F2A5E"/>
                </a:solidFill>
              </a:rPr>
              <a:t>Survey of “Text – Image – Audio” creation tools</a:t>
            </a:r>
            <a:endParaRPr lang="en-US" sz="1350" dirty="0"/>
          </a:p>
        </p:txBody>
      </p:sp>
      <p:sp>
        <p:nvSpPr>
          <p:cNvPr id="10" name="Text 8"/>
          <p:cNvSpPr/>
          <p:nvPr/>
        </p:nvSpPr>
        <p:spPr>
          <a:xfrm>
            <a:off x="457200" y="1591056"/>
            <a:ext cx="4892040" cy="1417320"/>
          </a:xfrm>
          <a:prstGeom prst="rect">
            <a:avLst/>
          </a:prstGeom>
          <a:noFill/>
        </p:spPr>
        <p:txBody>
          <a:bodyPr wrap="square" lIns="0" tIns="0" rIns="0" bIns="0" rtlCol="0" anchor="t"/>
          <a:lstStyle/>
          <a:p>
            <a:pPr marL="342900" indent="-342900">
              <a:spcAft>
                <a:spcPts val="700"/>
              </a:spcAft>
              <a:buSzPct val="100000"/>
              <a:buChar char="●"/>
            </a:pPr>
            <a:r>
              <a:rPr lang="en-US" sz="1200" dirty="0">
                <a:solidFill>
                  <a:srgbClr val="242424"/>
                </a:solidFill>
                <a:latin typeface="Arial" panose="020B0604020202020204" pitchFamily="34" charset="0"/>
                <a:ea typeface="Arial" panose="020B0604020202020204" pitchFamily="34" charset="-122"/>
                <a:cs typeface="Arial" panose="020B0604020202020204" pitchFamily="34" charset="-120"/>
              </a:rPr>
              <a:t>Fiction generated by “one-click” AI-tools are lack of literary depth</a:t>
            </a:r>
            <a:endParaRPr lang="en-US" sz="1200" dirty="0"/>
          </a:p>
          <a:p>
            <a:pPr marL="342900" indent="-342900">
              <a:spcAft>
                <a:spcPts val="700"/>
              </a:spcAft>
              <a:buSzPct val="100000"/>
              <a:buChar char="●"/>
            </a:pPr>
            <a:r>
              <a:rPr lang="en-US" sz="1200" dirty="0">
                <a:solidFill>
                  <a:srgbClr val="242424"/>
                </a:solidFill>
                <a:latin typeface="Arial" panose="020B0604020202020204" pitchFamily="34" charset="0"/>
                <a:ea typeface="Arial" panose="020B0604020202020204" pitchFamily="34" charset="-122"/>
                <a:cs typeface="Arial" panose="020B0604020202020204" pitchFamily="34" charset="-120"/>
              </a:rPr>
              <a:t>Academic multimodal creation AI platform like Co-Creating Visual Stories and StoryNodes just remains in research-stage and not productized</a:t>
            </a:r>
            <a:endParaRPr lang="en-US" sz="1200" dirty="0"/>
          </a:p>
          <a:p>
            <a:pPr marL="342900" indent="-342900">
              <a:spcAft>
                <a:spcPts val="700"/>
              </a:spcAft>
              <a:buSzPct val="100000"/>
              <a:buChar char="●"/>
            </a:pPr>
            <a:r>
              <a:rPr lang="en-US" sz="1200" b="1" dirty="0">
                <a:solidFill>
                  <a:srgbClr val="1F2A5E"/>
                </a:solidFill>
                <a:latin typeface="Arial" panose="020B0604020202020204" pitchFamily="34" charset="0"/>
                <a:ea typeface="Arial" panose="020B0604020202020204" pitchFamily="34" charset="-122"/>
                <a:cs typeface="Arial" panose="020B0604020202020204" pitchFamily="34" charset="-120"/>
              </a:rPr>
              <a:t>Neither covers: serious-literature × multimodal × human-led, AI-assisted creation</a:t>
            </a:r>
            <a:endParaRPr lang="en-US" sz="1200" dirty="0"/>
          </a:p>
        </p:txBody>
      </p:sp>
      <p:sp>
        <p:nvSpPr>
          <p:cNvPr id="11" name="Text 9"/>
          <p:cNvSpPr/>
          <p:nvPr/>
        </p:nvSpPr>
        <p:spPr>
          <a:xfrm>
            <a:off x="457200" y="3237230"/>
            <a:ext cx="4892040" cy="274320"/>
          </a:xfrm>
          <a:prstGeom prst="rect">
            <a:avLst/>
          </a:prstGeom>
          <a:noFill/>
        </p:spPr>
        <p:txBody>
          <a:bodyPr wrap="square" lIns="0" tIns="0" rIns="0" bIns="0" rtlCol="0" anchor="ctr"/>
          <a:lstStyle/>
          <a:p>
            <a:pPr marL="0" indent="0">
              <a:buNone/>
            </a:pPr>
            <a:r>
              <a:rPr lang="en-US" sz="1350" b="1" dirty="0">
                <a:solidFill>
                  <a:srgbClr val="1F2A5E"/>
                </a:solidFill>
              </a:rPr>
              <a:t>The cross-modal challenge</a:t>
            </a:r>
            <a:endParaRPr lang="en-US" sz="1350" dirty="0"/>
          </a:p>
        </p:txBody>
      </p:sp>
      <p:sp>
        <p:nvSpPr>
          <p:cNvPr id="12" name="Text 10"/>
          <p:cNvSpPr/>
          <p:nvPr/>
        </p:nvSpPr>
        <p:spPr>
          <a:xfrm>
            <a:off x="457200" y="3643503"/>
            <a:ext cx="4892040" cy="1371600"/>
          </a:xfrm>
          <a:prstGeom prst="rect">
            <a:avLst/>
          </a:prstGeom>
          <a:noFill/>
        </p:spPr>
        <p:txBody>
          <a:bodyPr wrap="square" lIns="0" tIns="0" rIns="0" bIns="0" rtlCol="0" anchor="t"/>
          <a:lstStyle/>
          <a:p>
            <a:pPr marL="342900" indent="-342900">
              <a:spcAft>
                <a:spcPts val="600"/>
              </a:spcAft>
              <a:buSzPct val="100000"/>
              <a:buChar char="●"/>
            </a:pPr>
            <a:r>
              <a:rPr lang="en-US" sz="1150" dirty="0">
                <a:solidFill>
                  <a:srgbClr val="242424"/>
                </a:solidFill>
                <a:latin typeface="Arial" panose="020B0604020202020204" pitchFamily="34" charset="0"/>
                <a:ea typeface="Arial" panose="020B0604020202020204" pitchFamily="34" charset="-122"/>
                <a:cs typeface="Arial" panose="020B0604020202020204" pitchFamily="34" charset="-120"/>
              </a:rPr>
              <a:t>Text, image and music rely on different interfaces and they do not share story context</a:t>
            </a:r>
            <a:endParaRPr lang="en-US" sz="1150" dirty="0"/>
          </a:p>
          <a:p>
            <a:pPr indent="0">
              <a:spcAft>
                <a:spcPts val="600"/>
              </a:spcAft>
              <a:buSzPct val="100000"/>
              <a:buNone/>
            </a:pPr>
            <a:endParaRPr lang="en-US" sz="1150" dirty="0"/>
          </a:p>
        </p:txBody>
      </p:sp>
      <p:sp>
        <p:nvSpPr>
          <p:cNvPr id="13" name="Shape 11"/>
          <p:cNvSpPr/>
          <p:nvPr/>
        </p:nvSpPr>
        <p:spPr>
          <a:xfrm>
            <a:off x="5669280" y="1417320"/>
            <a:ext cx="3108960" cy="2697480"/>
          </a:xfrm>
          <a:prstGeom prst="rect">
            <a:avLst/>
          </a:prstGeom>
          <a:solidFill>
            <a:srgbClr val="F4F6FB"/>
          </a:solidFill>
          <a:ln w="12700">
            <a:solidFill>
              <a:srgbClr val="C9D2EE"/>
            </a:solidFill>
            <a:prstDash val="solid"/>
          </a:ln>
        </p:spPr>
      </p:sp>
      <p:sp>
        <p:nvSpPr>
          <p:cNvPr id="14" name="Shape 12"/>
          <p:cNvSpPr/>
          <p:nvPr/>
        </p:nvSpPr>
        <p:spPr>
          <a:xfrm>
            <a:off x="5669280" y="2766060"/>
            <a:ext cx="3108960" cy="0"/>
          </a:xfrm>
          <a:prstGeom prst="line">
            <a:avLst/>
          </a:prstGeom>
          <a:noFill/>
          <a:ln w="12700">
            <a:solidFill>
              <a:srgbClr val="C9D2EE"/>
            </a:solidFill>
            <a:prstDash val="dash"/>
          </a:ln>
        </p:spPr>
      </p:sp>
      <p:sp>
        <p:nvSpPr>
          <p:cNvPr id="15" name="Shape 13"/>
          <p:cNvSpPr/>
          <p:nvPr/>
        </p:nvSpPr>
        <p:spPr>
          <a:xfrm>
            <a:off x="7223760" y="1417320"/>
            <a:ext cx="0" cy="2697480"/>
          </a:xfrm>
          <a:prstGeom prst="line">
            <a:avLst/>
          </a:prstGeom>
          <a:noFill/>
          <a:ln w="12700">
            <a:solidFill>
              <a:srgbClr val="C9D2EE"/>
            </a:solidFill>
            <a:prstDash val="dash"/>
          </a:ln>
        </p:spPr>
      </p:sp>
      <p:sp>
        <p:nvSpPr>
          <p:cNvPr id="16" name="Shape 14"/>
          <p:cNvSpPr/>
          <p:nvPr/>
        </p:nvSpPr>
        <p:spPr>
          <a:xfrm rot="10800000">
            <a:off x="5669280" y="1417320"/>
            <a:ext cx="0" cy="2697480"/>
          </a:xfrm>
          <a:prstGeom prst="line">
            <a:avLst/>
          </a:prstGeom>
          <a:noFill/>
          <a:ln w="19050">
            <a:solidFill>
              <a:srgbClr val="5E72B0"/>
            </a:solidFill>
            <a:prstDash val="solid"/>
            <a:tailEnd type="triangle"/>
          </a:ln>
        </p:spPr>
      </p:sp>
      <p:sp>
        <p:nvSpPr>
          <p:cNvPr id="17" name="Shape 15"/>
          <p:cNvSpPr/>
          <p:nvPr/>
        </p:nvSpPr>
        <p:spPr>
          <a:xfrm>
            <a:off x="5669280" y="4114800"/>
            <a:ext cx="3108960" cy="0"/>
          </a:xfrm>
          <a:prstGeom prst="line">
            <a:avLst/>
          </a:prstGeom>
          <a:noFill/>
          <a:ln w="19050">
            <a:solidFill>
              <a:srgbClr val="5E72B0"/>
            </a:solidFill>
            <a:prstDash val="solid"/>
            <a:tailEnd type="triangle"/>
          </a:ln>
        </p:spPr>
      </p:sp>
      <p:sp>
        <p:nvSpPr>
          <p:cNvPr id="18" name="Shape 16"/>
          <p:cNvSpPr/>
          <p:nvPr/>
        </p:nvSpPr>
        <p:spPr>
          <a:xfrm>
            <a:off x="8030261" y="3511296"/>
            <a:ext cx="128016" cy="128016"/>
          </a:xfrm>
          <a:prstGeom prst="ellipse">
            <a:avLst/>
          </a:prstGeom>
          <a:solidFill>
            <a:srgbClr val="5E72B0"/>
          </a:solidFill>
        </p:spPr>
      </p:sp>
      <p:sp>
        <p:nvSpPr>
          <p:cNvPr id="19" name="Text 17"/>
          <p:cNvSpPr/>
          <p:nvPr/>
        </p:nvSpPr>
        <p:spPr>
          <a:xfrm>
            <a:off x="6982384" y="3643833"/>
            <a:ext cx="2114093" cy="411480"/>
          </a:xfrm>
          <a:prstGeom prst="rect">
            <a:avLst/>
          </a:prstGeom>
          <a:noFill/>
        </p:spPr>
        <p:txBody>
          <a:bodyPr wrap="square" lIns="0" tIns="0" rIns="0" bIns="0" rtlCol="0" anchor="ctr"/>
          <a:lstStyle/>
          <a:p>
            <a:pPr marL="0" indent="0" algn="ctr">
              <a:buNone/>
            </a:pPr>
            <a:r>
              <a:rPr lang="en-US" sz="900" dirty="0">
                <a:solidFill>
                  <a:srgbClr val="5E72B0"/>
                </a:solidFill>
              </a:rPr>
              <a:t>Industrial multimodal</a:t>
            </a:r>
            <a:endParaRPr lang="en-US" sz="900" dirty="0"/>
          </a:p>
          <a:p>
            <a:pPr marL="0" indent="0" algn="ctr">
              <a:buNone/>
            </a:pPr>
            <a:r>
              <a:rPr lang="en-US" sz="900" dirty="0">
                <a:solidFill>
                  <a:srgbClr val="5E72B0"/>
                </a:solidFill>
              </a:rPr>
              <a:t>web-fiction / audiobook tools</a:t>
            </a:r>
            <a:endParaRPr lang="en-US" sz="900" dirty="0"/>
          </a:p>
        </p:txBody>
      </p:sp>
      <p:sp>
        <p:nvSpPr>
          <p:cNvPr id="20" name="Shape 18"/>
          <p:cNvSpPr/>
          <p:nvPr/>
        </p:nvSpPr>
        <p:spPr>
          <a:xfrm>
            <a:off x="6227064" y="2054657"/>
            <a:ext cx="128016" cy="128016"/>
          </a:xfrm>
          <a:prstGeom prst="ellipse">
            <a:avLst/>
          </a:prstGeom>
          <a:solidFill>
            <a:srgbClr val="C98A2E"/>
          </a:solidFill>
        </p:spPr>
      </p:sp>
      <p:sp>
        <p:nvSpPr>
          <p:cNvPr id="21" name="Text 19"/>
          <p:cNvSpPr/>
          <p:nvPr/>
        </p:nvSpPr>
        <p:spPr>
          <a:xfrm>
            <a:off x="5700370" y="2226564"/>
            <a:ext cx="1181405" cy="502920"/>
          </a:xfrm>
          <a:prstGeom prst="rect">
            <a:avLst/>
          </a:prstGeom>
          <a:noFill/>
        </p:spPr>
        <p:txBody>
          <a:bodyPr wrap="square" lIns="0" tIns="0" rIns="0" bIns="0" rtlCol="0" anchor="ctr"/>
          <a:lstStyle/>
          <a:p>
            <a:pPr marL="0" indent="0" algn="ctr">
              <a:buNone/>
            </a:pPr>
            <a:r>
              <a:rPr lang="en-US" sz="900" dirty="0">
                <a:solidFill>
                  <a:srgbClr val="C98A2E"/>
                </a:solidFill>
              </a:rPr>
              <a:t>Academic</a:t>
            </a:r>
            <a:endParaRPr lang="en-US" sz="900" dirty="0"/>
          </a:p>
          <a:p>
            <a:pPr marL="0" indent="0" algn="ctr">
              <a:buNone/>
            </a:pPr>
            <a:r>
              <a:rPr lang="en-US" sz="900" dirty="0">
                <a:solidFill>
                  <a:srgbClr val="C98A2E"/>
                </a:solidFill>
              </a:rPr>
              <a:t>multimodal</a:t>
            </a:r>
            <a:endParaRPr lang="en-US" sz="900" dirty="0"/>
          </a:p>
          <a:p>
            <a:pPr marL="0" indent="0" algn="ctr">
              <a:buNone/>
            </a:pPr>
            <a:r>
              <a:rPr lang="en-US" sz="900" dirty="0">
                <a:solidFill>
                  <a:srgbClr val="C98A2E"/>
                </a:solidFill>
              </a:rPr>
              <a:t>prototypes</a:t>
            </a:r>
            <a:endParaRPr lang="en-US" sz="900" dirty="0"/>
          </a:p>
        </p:txBody>
      </p:sp>
      <p:sp>
        <p:nvSpPr>
          <p:cNvPr id="22" name="Shape 20"/>
          <p:cNvSpPr/>
          <p:nvPr/>
        </p:nvSpPr>
        <p:spPr>
          <a:xfrm>
            <a:off x="7771130" y="1737360"/>
            <a:ext cx="151130" cy="151130"/>
          </a:xfrm>
          <a:prstGeom prst="ellipse">
            <a:avLst/>
          </a:prstGeom>
          <a:solidFill>
            <a:srgbClr val="1F2A5E"/>
          </a:solidFill>
          <a:ln w="19050">
            <a:solidFill>
              <a:srgbClr val="FFFFFF"/>
            </a:solidFill>
            <a:prstDash val="solid"/>
          </a:ln>
        </p:spPr>
      </p:sp>
      <p:sp>
        <p:nvSpPr>
          <p:cNvPr id="23" name="Text 21"/>
          <p:cNvSpPr/>
          <p:nvPr/>
        </p:nvSpPr>
        <p:spPr>
          <a:xfrm>
            <a:off x="7023100" y="1977390"/>
            <a:ext cx="1709420" cy="594360"/>
          </a:xfrm>
          <a:prstGeom prst="rect">
            <a:avLst/>
          </a:prstGeom>
          <a:noFill/>
        </p:spPr>
        <p:txBody>
          <a:bodyPr wrap="square" lIns="0" tIns="0" rIns="0" bIns="0" rtlCol="0" anchor="ctr"/>
          <a:lstStyle/>
          <a:p>
            <a:pPr marL="0" indent="0" algn="ctr">
              <a:buNone/>
            </a:pPr>
            <a:r>
              <a:rPr lang="en-US" sz="950" b="1" dirty="0">
                <a:solidFill>
                  <a:srgbClr val="1F2A5E"/>
                </a:solidFill>
              </a:rPr>
              <a:t>Target gap: </a:t>
            </a:r>
          </a:p>
          <a:p>
            <a:pPr marL="0" indent="0" algn="ctr">
              <a:buNone/>
            </a:pPr>
            <a:r>
              <a:rPr lang="en-US" sz="950" b="1" dirty="0">
                <a:solidFill>
                  <a:srgbClr val="1F2A5E"/>
                </a:solidFill>
              </a:rPr>
              <a:t>serious literature ×</a:t>
            </a:r>
            <a:endParaRPr lang="en-US" sz="950" dirty="0"/>
          </a:p>
          <a:p>
            <a:pPr marL="0" indent="0" algn="ctr">
              <a:buNone/>
            </a:pPr>
            <a:r>
              <a:rPr lang="en-US" sz="950" b="1" dirty="0">
                <a:solidFill>
                  <a:srgbClr val="1F2A5E"/>
                </a:solidFill>
              </a:rPr>
              <a:t>human-led × multimodal</a:t>
            </a:r>
            <a:endParaRPr lang="en-US" sz="950" dirty="0"/>
          </a:p>
          <a:p>
            <a:pPr marL="0" indent="0" algn="ctr">
              <a:buNone/>
            </a:pPr>
            <a:r>
              <a:rPr lang="en-US" sz="950" b="1" dirty="0">
                <a:solidFill>
                  <a:srgbClr val="1F2A5E"/>
                </a:solidFill>
              </a:rPr>
              <a:t>(Super Story)</a:t>
            </a:r>
            <a:endParaRPr lang="en-US" sz="950" dirty="0"/>
          </a:p>
        </p:txBody>
      </p:sp>
      <p:sp>
        <p:nvSpPr>
          <p:cNvPr id="24" name="Text 22"/>
          <p:cNvSpPr/>
          <p:nvPr/>
        </p:nvSpPr>
        <p:spPr>
          <a:xfrm>
            <a:off x="5669280" y="1188720"/>
            <a:ext cx="2011680" cy="201168"/>
          </a:xfrm>
          <a:prstGeom prst="rect">
            <a:avLst/>
          </a:prstGeom>
          <a:noFill/>
        </p:spPr>
        <p:txBody>
          <a:bodyPr wrap="square" lIns="0" tIns="0" rIns="0" bIns="0" rtlCol="0" anchor="ctr"/>
          <a:lstStyle/>
          <a:p>
            <a:pPr marL="0" indent="0" algn="l">
              <a:buNone/>
            </a:pPr>
            <a:r>
              <a:rPr lang="en-US" sz="900" i="1" dirty="0">
                <a:solidFill>
                  <a:srgbClr val="6B7280"/>
                </a:solidFill>
              </a:rPr>
              <a:t>Serious-literature focus</a:t>
            </a:r>
            <a:endParaRPr lang="en-US" sz="900" dirty="0"/>
          </a:p>
        </p:txBody>
      </p:sp>
      <p:sp>
        <p:nvSpPr>
          <p:cNvPr id="25" name="Text 23"/>
          <p:cNvSpPr/>
          <p:nvPr/>
        </p:nvSpPr>
        <p:spPr>
          <a:xfrm>
            <a:off x="5669280" y="4142232"/>
            <a:ext cx="3108960" cy="201168"/>
          </a:xfrm>
          <a:prstGeom prst="rect">
            <a:avLst/>
          </a:prstGeom>
          <a:noFill/>
        </p:spPr>
        <p:txBody>
          <a:bodyPr wrap="square" lIns="0" tIns="0" rIns="0" bIns="0" rtlCol="0" anchor="ctr"/>
          <a:lstStyle/>
          <a:p>
            <a:pPr marL="0" indent="0" algn="r">
              <a:buNone/>
            </a:pPr>
            <a:r>
              <a:rPr lang="en-US" sz="900" i="1" dirty="0">
                <a:solidFill>
                  <a:srgbClr val="6B7280"/>
                </a:solidFill>
              </a:rPr>
              <a:t>Productization </a:t>
            </a:r>
            <a:endParaRPr lang="en-US" sz="900" dirty="0"/>
          </a:p>
        </p:txBody>
      </p:sp>
      <p:sp>
        <p:nvSpPr>
          <p:cNvPr id="26" name="Text 24"/>
          <p:cNvSpPr/>
          <p:nvPr/>
        </p:nvSpPr>
        <p:spPr>
          <a:xfrm>
            <a:off x="5669280" y="4389120"/>
            <a:ext cx="3108960" cy="228600"/>
          </a:xfrm>
          <a:prstGeom prst="rect">
            <a:avLst/>
          </a:prstGeom>
          <a:noFill/>
        </p:spPr>
        <p:txBody>
          <a:bodyPr wrap="square" lIns="0" tIns="0" rIns="0" bIns="0" rtlCol="0" anchor="ctr"/>
          <a:lstStyle/>
          <a:p>
            <a:pPr marL="0" indent="0" algn="ctr">
              <a:buNone/>
            </a:pPr>
            <a:r>
              <a:rPr lang="en-US" sz="900" i="1" dirty="0">
                <a:solidFill>
                  <a:srgbClr val="6B7280"/>
                </a:solidFill>
              </a:rPr>
              <a:t>Figure: positioning of existing tools vs. the unaddressed creative niche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01 BACKGROUND · SIGNIFICANCE</a:t>
            </a:r>
            <a:endParaRPr lang="en-US" sz="1200" dirty="0"/>
          </a:p>
        </p:txBody>
      </p:sp>
      <p:sp>
        <p:nvSpPr>
          <p:cNvPr id="8" name="Text 6"/>
          <p:cNvSpPr/>
          <p:nvPr/>
        </p:nvSpPr>
        <p:spPr>
          <a:xfrm>
            <a:off x="457200" y="621792"/>
            <a:ext cx="8229600" cy="438912"/>
          </a:xfrm>
          <a:prstGeom prst="rect">
            <a:avLst/>
          </a:prstGeom>
          <a:noFill/>
        </p:spPr>
        <p:txBody>
          <a:bodyPr wrap="square" lIns="0" tIns="0" rIns="0" bIns="0" rtlCol="0" anchor="t"/>
          <a:lstStyle/>
          <a:p>
            <a:pPr marL="0" indent="0">
              <a:buNone/>
            </a:pPr>
            <a:r>
              <a:rPr lang="en-US" sz="2000" b="1" dirty="0">
                <a:solidFill>
                  <a:srgbClr val="242424"/>
                </a:solidFill>
                <a:latin typeface="Arial" panose="020B0604020202020204" pitchFamily="34" charset="0"/>
                <a:ea typeface="Arial" panose="020B0604020202020204" pitchFamily="34" charset="-122"/>
                <a:cs typeface="Arial" panose="020B0604020202020204" pitchFamily="34" charset="-120"/>
              </a:rPr>
              <a:t>Why Long-Form Story Generation Still Falls Short</a:t>
            </a:r>
            <a:endParaRPr lang="en-US" sz="2000" dirty="0"/>
          </a:p>
        </p:txBody>
      </p:sp>
      <p:sp>
        <p:nvSpPr>
          <p:cNvPr id="9" name="Shape 7"/>
          <p:cNvSpPr/>
          <p:nvPr/>
        </p:nvSpPr>
        <p:spPr>
          <a:xfrm>
            <a:off x="457200" y="1261872"/>
            <a:ext cx="8229600" cy="914400"/>
          </a:xfrm>
          <a:prstGeom prst="rect">
            <a:avLst/>
          </a:prstGeom>
          <a:solidFill>
            <a:srgbClr val="E4E9F8"/>
          </a:solidFill>
        </p:spPr>
      </p:sp>
      <p:sp>
        <p:nvSpPr>
          <p:cNvPr id="10" name="Text 8"/>
          <p:cNvSpPr/>
          <p:nvPr/>
        </p:nvSpPr>
        <p:spPr>
          <a:xfrm>
            <a:off x="640080" y="1325880"/>
            <a:ext cx="7863840" cy="256032"/>
          </a:xfrm>
          <a:prstGeom prst="rect">
            <a:avLst/>
          </a:prstGeom>
          <a:noFill/>
        </p:spPr>
        <p:txBody>
          <a:bodyPr wrap="square" lIns="0" tIns="0" rIns="0" bIns="0" rtlCol="0" anchor="ctr"/>
          <a:lstStyle/>
          <a:p>
            <a:pPr marL="0" indent="0">
              <a:buNone/>
            </a:pPr>
            <a:r>
              <a:rPr lang="en-US" altLang="zh-CN" sz="1350" b="1" dirty="0">
                <a:solidFill>
                  <a:srgbClr val="1F2A5E"/>
                </a:solidFill>
              </a:rPr>
              <a:t>Current shortcomings of AI-generated novel products both domestically and internationally:</a:t>
            </a:r>
          </a:p>
        </p:txBody>
      </p:sp>
      <p:sp>
        <p:nvSpPr>
          <p:cNvPr id="11" name="Text 9"/>
          <p:cNvSpPr/>
          <p:nvPr/>
        </p:nvSpPr>
        <p:spPr>
          <a:xfrm>
            <a:off x="640080" y="1700784"/>
            <a:ext cx="7863840" cy="365760"/>
          </a:xfrm>
          <a:prstGeom prst="rect">
            <a:avLst/>
          </a:prstGeom>
          <a:noFill/>
        </p:spPr>
        <p:txBody>
          <a:bodyPr wrap="square" lIns="0" tIns="0" rIns="0" bIns="0" rtlCol="0" anchor="t"/>
          <a:lstStyle/>
          <a:p>
            <a:pPr marL="0" indent="0">
              <a:buNone/>
            </a:pPr>
            <a:r>
              <a:rPr lang="en-US" altLang="zh-CN" sz="1100" dirty="0"/>
              <a:t>They have poor controllability and the generated context are highly template-based, which makes it difficult for users to have the AI write based on their own ideas.</a:t>
            </a:r>
          </a:p>
        </p:txBody>
      </p:sp>
      <p:sp>
        <p:nvSpPr>
          <p:cNvPr id="13" name="Shape 11"/>
          <p:cNvSpPr/>
          <p:nvPr>
            <p:custDataLst>
              <p:tags r:id="rId1"/>
            </p:custDataLst>
          </p:nvPr>
        </p:nvSpPr>
        <p:spPr>
          <a:xfrm>
            <a:off x="457200" y="2240280"/>
            <a:ext cx="2679192" cy="1691640"/>
          </a:xfrm>
          <a:prstGeom prst="rect">
            <a:avLst/>
          </a:prstGeom>
          <a:solidFill>
            <a:srgbClr val="F4F6FB"/>
          </a:solidFill>
          <a:effectLst>
            <a:outerShdw blurRad="50800" dist="19050" dir="5400000" algn="bl" rotWithShape="0">
              <a:srgbClr val="000000">
                <a:alpha val="12000"/>
              </a:srgbClr>
            </a:outerShdw>
          </a:effectLst>
        </p:spPr>
      </p:sp>
      <p:sp>
        <p:nvSpPr>
          <p:cNvPr id="14" name="Text 12"/>
          <p:cNvSpPr/>
          <p:nvPr>
            <p:custDataLst>
              <p:tags r:id="rId2"/>
            </p:custDataLst>
          </p:nvPr>
        </p:nvSpPr>
        <p:spPr>
          <a:xfrm>
            <a:off x="594360" y="2350008"/>
            <a:ext cx="2404872" cy="274320"/>
          </a:xfrm>
          <a:prstGeom prst="rect">
            <a:avLst/>
          </a:prstGeom>
          <a:noFill/>
        </p:spPr>
        <p:txBody>
          <a:bodyPr wrap="square" lIns="0" tIns="0" rIns="0" bIns="0" rtlCol="0" anchor="ctr"/>
          <a:lstStyle/>
          <a:p>
            <a:pPr marL="0" indent="0">
              <a:buNone/>
            </a:pPr>
            <a:r>
              <a:rPr lang="en-US" sz="1250" b="1" dirty="0">
                <a:solidFill>
                  <a:srgbClr val="1F2A5E"/>
                </a:solidFill>
              </a:rPr>
              <a:t>General-purpose LLMs</a:t>
            </a:r>
            <a:endParaRPr lang="en-US" sz="1250" dirty="0"/>
          </a:p>
        </p:txBody>
      </p:sp>
      <p:sp>
        <p:nvSpPr>
          <p:cNvPr id="15" name="Text 13"/>
          <p:cNvSpPr/>
          <p:nvPr>
            <p:custDataLst>
              <p:tags r:id="rId3"/>
            </p:custDataLst>
          </p:nvPr>
        </p:nvSpPr>
        <p:spPr>
          <a:xfrm>
            <a:off x="594360" y="2624328"/>
            <a:ext cx="2404872" cy="228600"/>
          </a:xfrm>
          <a:prstGeom prst="rect">
            <a:avLst/>
          </a:prstGeom>
          <a:noFill/>
        </p:spPr>
        <p:txBody>
          <a:bodyPr wrap="square" lIns="0" tIns="0" rIns="0" bIns="0" rtlCol="0" anchor="ctr"/>
          <a:lstStyle/>
          <a:p>
            <a:pPr marL="0" indent="0">
              <a:buNone/>
            </a:pPr>
            <a:r>
              <a:rPr lang="en-US" sz="1000" i="1" dirty="0">
                <a:solidFill>
                  <a:srgbClr val="6B7280"/>
                </a:solidFill>
              </a:rPr>
              <a:t>ChatGPT / DeepSeek (chat)</a:t>
            </a:r>
            <a:endParaRPr lang="en-US" sz="1000" dirty="0"/>
          </a:p>
        </p:txBody>
      </p:sp>
      <p:sp>
        <p:nvSpPr>
          <p:cNvPr id="16" name="Text 14"/>
          <p:cNvSpPr/>
          <p:nvPr>
            <p:custDataLst>
              <p:tags r:id="rId4"/>
            </p:custDataLst>
          </p:nvPr>
        </p:nvSpPr>
        <p:spPr>
          <a:xfrm>
            <a:off x="594360" y="2926080"/>
            <a:ext cx="2404872" cy="914400"/>
          </a:xfrm>
          <a:prstGeom prst="rect">
            <a:avLst/>
          </a:prstGeom>
          <a:noFill/>
        </p:spPr>
        <p:txBody>
          <a:bodyPr wrap="square" lIns="0" tIns="0" rIns="0" bIns="0" rtlCol="0" anchor="t"/>
          <a:lstStyle/>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No structured creative workflow</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Generation length uncontrollable</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Weak customization &amp; version mgmt.</a:t>
            </a:r>
            <a:endParaRPr lang="en-US" sz="1100" dirty="0"/>
          </a:p>
        </p:txBody>
      </p:sp>
      <p:sp>
        <p:nvSpPr>
          <p:cNvPr id="17" name="Shape 15"/>
          <p:cNvSpPr/>
          <p:nvPr>
            <p:custDataLst>
              <p:tags r:id="rId5"/>
            </p:custDataLst>
          </p:nvPr>
        </p:nvSpPr>
        <p:spPr>
          <a:xfrm>
            <a:off x="3232404" y="2240280"/>
            <a:ext cx="2679192" cy="1691640"/>
          </a:xfrm>
          <a:prstGeom prst="rect">
            <a:avLst/>
          </a:prstGeom>
          <a:solidFill>
            <a:srgbClr val="F4F6FB"/>
          </a:solidFill>
          <a:effectLst>
            <a:outerShdw blurRad="50800" dist="19050" dir="5400000" algn="bl" rotWithShape="0">
              <a:srgbClr val="000000">
                <a:alpha val="12000"/>
              </a:srgbClr>
            </a:outerShdw>
          </a:effectLst>
        </p:spPr>
      </p:sp>
      <p:sp>
        <p:nvSpPr>
          <p:cNvPr id="18" name="Text 16"/>
          <p:cNvSpPr/>
          <p:nvPr>
            <p:custDataLst>
              <p:tags r:id="rId6"/>
            </p:custDataLst>
          </p:nvPr>
        </p:nvSpPr>
        <p:spPr>
          <a:xfrm>
            <a:off x="3369564" y="2350008"/>
            <a:ext cx="2404872" cy="274320"/>
          </a:xfrm>
          <a:prstGeom prst="rect">
            <a:avLst/>
          </a:prstGeom>
          <a:noFill/>
        </p:spPr>
        <p:txBody>
          <a:bodyPr wrap="square" lIns="0" tIns="0" rIns="0" bIns="0" rtlCol="0" anchor="ctr"/>
          <a:lstStyle/>
          <a:p>
            <a:pPr marL="0" indent="0">
              <a:buNone/>
            </a:pPr>
            <a:r>
              <a:rPr lang="en-US" sz="1250" b="1" dirty="0">
                <a:solidFill>
                  <a:srgbClr val="1F2A5E"/>
                </a:solidFill>
              </a:rPr>
              <a:t>One-click web-fiction tools</a:t>
            </a:r>
            <a:endParaRPr lang="en-US" sz="1250" dirty="0"/>
          </a:p>
        </p:txBody>
      </p:sp>
      <p:sp>
        <p:nvSpPr>
          <p:cNvPr id="19" name="Text 17"/>
          <p:cNvSpPr/>
          <p:nvPr>
            <p:custDataLst>
              <p:tags r:id="rId7"/>
            </p:custDataLst>
          </p:nvPr>
        </p:nvSpPr>
        <p:spPr>
          <a:xfrm>
            <a:off x="3369564" y="2624328"/>
            <a:ext cx="2404872" cy="228600"/>
          </a:xfrm>
          <a:prstGeom prst="rect">
            <a:avLst/>
          </a:prstGeom>
          <a:noFill/>
        </p:spPr>
        <p:txBody>
          <a:bodyPr wrap="square" lIns="0" tIns="0" rIns="0" bIns="0" rtlCol="0" anchor="ctr"/>
          <a:lstStyle/>
          <a:p>
            <a:pPr marL="0" indent="0">
              <a:buNone/>
            </a:pPr>
            <a:r>
              <a:rPr lang="en-US" sz="1000" i="1" dirty="0">
                <a:solidFill>
                  <a:srgbClr val="6B7280"/>
                </a:solidFill>
              </a:rPr>
              <a:t>彩云小梦 / 量子探险</a:t>
            </a:r>
            <a:endParaRPr lang="en-US" sz="1000" dirty="0"/>
          </a:p>
        </p:txBody>
      </p:sp>
      <p:sp>
        <p:nvSpPr>
          <p:cNvPr id="20" name="Text 18"/>
          <p:cNvSpPr/>
          <p:nvPr>
            <p:custDataLst>
              <p:tags r:id="rId8"/>
            </p:custDataLst>
          </p:nvPr>
        </p:nvSpPr>
        <p:spPr>
          <a:xfrm>
            <a:off x="3253105" y="2926080"/>
            <a:ext cx="2658745" cy="914400"/>
          </a:xfrm>
          <a:prstGeom prst="rect">
            <a:avLst/>
          </a:prstGeom>
          <a:noFill/>
        </p:spPr>
        <p:txBody>
          <a:bodyPr wrap="square" lIns="0" tIns="0" rIns="0" bIns="0" rtlCol="0" anchor="t"/>
          <a:lstStyle/>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Highly black-box, results uncontrollable</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“Web-fiction” style, highly templated</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Plain prose, limited literary craft</a:t>
            </a:r>
            <a:endParaRPr lang="en-US" sz="1100" dirty="0"/>
          </a:p>
        </p:txBody>
      </p:sp>
      <p:sp>
        <p:nvSpPr>
          <p:cNvPr id="21" name="Shape 19"/>
          <p:cNvSpPr/>
          <p:nvPr>
            <p:custDataLst>
              <p:tags r:id="rId9"/>
            </p:custDataLst>
          </p:nvPr>
        </p:nvSpPr>
        <p:spPr>
          <a:xfrm>
            <a:off x="6007608" y="2240280"/>
            <a:ext cx="2679192" cy="1691640"/>
          </a:xfrm>
          <a:prstGeom prst="rect">
            <a:avLst/>
          </a:prstGeom>
          <a:solidFill>
            <a:srgbClr val="F4F6FB"/>
          </a:solidFill>
          <a:effectLst>
            <a:outerShdw blurRad="50800" dist="19050" dir="5400000" algn="bl" rotWithShape="0">
              <a:srgbClr val="000000">
                <a:alpha val="12000"/>
              </a:srgbClr>
            </a:outerShdw>
          </a:effectLst>
        </p:spPr>
      </p:sp>
      <p:sp>
        <p:nvSpPr>
          <p:cNvPr id="22" name="Text 20"/>
          <p:cNvSpPr/>
          <p:nvPr>
            <p:custDataLst>
              <p:tags r:id="rId10"/>
            </p:custDataLst>
          </p:nvPr>
        </p:nvSpPr>
        <p:spPr>
          <a:xfrm>
            <a:off x="6144768" y="2350008"/>
            <a:ext cx="2404872" cy="274320"/>
          </a:xfrm>
          <a:prstGeom prst="rect">
            <a:avLst/>
          </a:prstGeom>
          <a:noFill/>
        </p:spPr>
        <p:txBody>
          <a:bodyPr wrap="square" lIns="0" tIns="0" rIns="0" bIns="0" rtlCol="0" anchor="ctr"/>
          <a:lstStyle/>
          <a:p>
            <a:pPr marL="0" indent="0">
              <a:buNone/>
            </a:pPr>
            <a:r>
              <a:rPr lang="en-US" sz="1250" b="1" dirty="0">
                <a:solidFill>
                  <a:srgbClr val="1F2A5E"/>
                </a:solidFill>
              </a:rPr>
              <a:t>Overseas writing tools</a:t>
            </a:r>
            <a:endParaRPr lang="en-US" sz="1250" dirty="0"/>
          </a:p>
        </p:txBody>
      </p:sp>
      <p:sp>
        <p:nvSpPr>
          <p:cNvPr id="23" name="Text 21"/>
          <p:cNvSpPr/>
          <p:nvPr>
            <p:custDataLst>
              <p:tags r:id="rId11"/>
            </p:custDataLst>
          </p:nvPr>
        </p:nvSpPr>
        <p:spPr>
          <a:xfrm>
            <a:off x="6144768" y="2624328"/>
            <a:ext cx="2404872" cy="228600"/>
          </a:xfrm>
          <a:prstGeom prst="rect">
            <a:avLst/>
          </a:prstGeom>
          <a:noFill/>
        </p:spPr>
        <p:txBody>
          <a:bodyPr wrap="square" lIns="0" tIns="0" rIns="0" bIns="0" rtlCol="0" anchor="ctr"/>
          <a:lstStyle/>
          <a:p>
            <a:pPr marL="0" indent="0">
              <a:buNone/>
            </a:pPr>
            <a:r>
              <a:rPr lang="en-US" sz="1000" i="1" dirty="0">
                <a:solidFill>
                  <a:srgbClr val="6B7280"/>
                </a:solidFill>
              </a:rPr>
              <a:t>Sudowrite / NovelAI</a:t>
            </a:r>
            <a:endParaRPr lang="en-US" sz="1000" dirty="0"/>
          </a:p>
        </p:txBody>
      </p:sp>
      <p:sp>
        <p:nvSpPr>
          <p:cNvPr id="24" name="Text 22"/>
          <p:cNvSpPr/>
          <p:nvPr>
            <p:custDataLst>
              <p:tags r:id="rId12"/>
            </p:custDataLst>
          </p:nvPr>
        </p:nvSpPr>
        <p:spPr>
          <a:xfrm>
            <a:off x="6144768" y="2926080"/>
            <a:ext cx="2404872" cy="914400"/>
          </a:xfrm>
          <a:prstGeom prst="rect">
            <a:avLst/>
          </a:prstGeom>
          <a:noFill/>
        </p:spPr>
        <p:txBody>
          <a:bodyPr wrap="square" lIns="0" tIns="0" rIns="0" bIns="0" rtlCol="0" anchor="t"/>
          <a:lstStyle/>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Plot and character-setting drift</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No visual / structural editing aids</a:t>
            </a:r>
            <a:endParaRPr lang="en-US" sz="1100" dirty="0"/>
          </a:p>
        </p:txBody>
      </p:sp>
      <p:sp>
        <p:nvSpPr>
          <p:cNvPr id="25" name="Shape 23"/>
          <p:cNvSpPr/>
          <p:nvPr/>
        </p:nvSpPr>
        <p:spPr>
          <a:xfrm>
            <a:off x="457200" y="4041648"/>
            <a:ext cx="8229600" cy="621792"/>
          </a:xfrm>
          <a:prstGeom prst="rect">
            <a:avLst/>
          </a:prstGeom>
          <a:solidFill>
            <a:srgbClr val="1F2A5E"/>
          </a:solidFill>
        </p:spPr>
      </p:sp>
      <p:sp>
        <p:nvSpPr>
          <p:cNvPr id="26" name="Text 24"/>
          <p:cNvSpPr/>
          <p:nvPr/>
        </p:nvSpPr>
        <p:spPr>
          <a:xfrm>
            <a:off x="640080" y="4233926"/>
            <a:ext cx="7863840" cy="237744"/>
          </a:xfrm>
          <a:prstGeom prst="rect">
            <a:avLst/>
          </a:prstGeom>
          <a:noFill/>
        </p:spPr>
        <p:txBody>
          <a:bodyPr wrap="square" lIns="0" tIns="0" rIns="0" bIns="0" rtlCol="0" anchor="t"/>
          <a:lstStyle/>
          <a:p>
            <a:pPr marL="0" indent="0">
              <a:buNone/>
            </a:pPr>
            <a:r>
              <a:rPr lang="en-US" sz="1050" b="1" dirty="0">
                <a:solidFill>
                  <a:srgbClr val="FFFFFF"/>
                </a:solidFill>
                <a:latin typeface="Arial" panose="020B0604020202020204" pitchFamily="34" charset="0"/>
                <a:ea typeface="Arial" panose="020B0604020202020204" pitchFamily="34" charset="-122"/>
                <a:cs typeface="Arial" panose="020B0604020202020204" pitchFamily="34" charset="-120"/>
              </a:rPr>
              <a:t>Plan-and-Write / </a:t>
            </a:r>
            <a:r>
              <a:rPr lang="en-US" altLang="zh-CN" sz="1050" b="1" dirty="0">
                <a:solidFill>
                  <a:srgbClr val="FFFFFF"/>
                </a:solidFill>
                <a:latin typeface="Arial" panose="020B0604020202020204" pitchFamily="34" charset="0"/>
                <a:ea typeface="Arial" panose="020B0604020202020204" pitchFamily="34" charset="-122"/>
                <a:cs typeface="Arial" panose="020B0604020202020204" pitchFamily="34" charset="-120"/>
              </a:rPr>
              <a:t>Hierarchical Neural Story Generation</a:t>
            </a:r>
            <a:r>
              <a:rPr lang="en-US" sz="1050"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050" dirty="0">
                <a:solidFill>
                  <a:srgbClr val="E4E9F8"/>
                </a:solidFill>
                <a:latin typeface="Arial" panose="020B0604020202020204" pitchFamily="34" charset="0"/>
                <a:ea typeface="Arial" panose="020B0604020202020204" pitchFamily="34" charset="-122"/>
                <a:cs typeface="Arial" panose="020B0604020202020204" pitchFamily="34" charset="-120"/>
              </a:rPr>
              <a:t>“plan storyline first, then write” — but via fine-tuned models</a:t>
            </a:r>
            <a:endParaRPr lang="en-US" sz="1050" dirty="0"/>
          </a:p>
        </p:txBody>
      </p:sp>
      <p:pic>
        <p:nvPicPr>
          <p:cNvPr id="28" name="图片 27" descr="icon4"/>
          <p:cNvPicPr>
            <a:picLocks noChangeAspect="1"/>
          </p:cNvPicPr>
          <p:nvPr/>
        </p:nvPicPr>
        <p:blipFill>
          <a:blip r:embed="rId15"/>
          <a:stretch>
            <a:fillRect/>
          </a:stretch>
        </p:blipFill>
        <p:spPr>
          <a:xfrm>
            <a:off x="7758430" y="2289175"/>
            <a:ext cx="608965" cy="435610"/>
          </a:xfrm>
          <a:prstGeom prst="rect">
            <a:avLst/>
          </a:prstGeom>
        </p:spPr>
      </p:pic>
      <p:pic>
        <p:nvPicPr>
          <p:cNvPr id="29" name="图片 28" descr="icon1"/>
          <p:cNvPicPr>
            <a:picLocks noChangeAspect="1"/>
          </p:cNvPicPr>
          <p:nvPr/>
        </p:nvPicPr>
        <p:blipFill>
          <a:blip r:embed="rId16"/>
          <a:stretch>
            <a:fillRect/>
          </a:stretch>
        </p:blipFill>
        <p:spPr>
          <a:xfrm>
            <a:off x="2096770" y="2289175"/>
            <a:ext cx="688340" cy="492125"/>
          </a:xfrm>
          <a:prstGeom prst="rect">
            <a:avLst/>
          </a:prstGeom>
        </p:spPr>
      </p:pic>
      <p:pic>
        <p:nvPicPr>
          <p:cNvPr id="30" name="图片 29" descr="icon2"/>
          <p:cNvPicPr>
            <a:picLocks noChangeAspect="1"/>
          </p:cNvPicPr>
          <p:nvPr/>
        </p:nvPicPr>
        <p:blipFill>
          <a:blip r:embed="rId17"/>
          <a:stretch>
            <a:fillRect/>
          </a:stretch>
        </p:blipFill>
        <p:spPr>
          <a:xfrm>
            <a:off x="5059045" y="2234565"/>
            <a:ext cx="852805" cy="6089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27" name="TextBox 27"/>
          <p:cNvSpPr txBox="1"/>
          <p:nvPr/>
        </p:nvSpPr>
        <p:spPr>
          <a:xfrm>
            <a:off x="1198254" y="2480725"/>
            <a:ext cx="6186393" cy="390171"/>
          </a:xfrm>
          <a:prstGeom prst="rect">
            <a:avLst/>
          </a:prstGeom>
        </p:spPr>
        <p:txBody>
          <a:bodyPr wrap="square" lIns="0" tIns="0" rIns="0" bIns="0" rtlCol="0" anchor="t">
            <a:spAutoFit/>
          </a:bodyPr>
          <a:lstStyle/>
          <a:p>
            <a:pPr>
              <a:lnSpc>
                <a:spcPts val="2640"/>
              </a:lnSpc>
            </a:pPr>
            <a:r>
              <a:rPr lang="en-US" altLang="zh-CN" sz="4800" b="1" dirty="0">
                <a:solidFill>
                  <a:srgbClr val="1E1E1E"/>
                </a:solidFill>
                <a:latin typeface="Arial" panose="020B0604020202020204" pitchFamily="34" charset="0"/>
                <a:ea typeface="思源黑体 3 Bold"/>
                <a:cs typeface="Arial" panose="020B0604020202020204" pitchFamily="34" charset="0"/>
                <a:sym typeface="思源黑体 3 Bold"/>
              </a:rPr>
              <a:t>Architecture design</a:t>
            </a:r>
          </a:p>
        </p:txBody>
      </p:sp>
      <p:grpSp>
        <p:nvGrpSpPr>
          <p:cNvPr id="28" name="Group 28"/>
          <p:cNvGrpSpPr/>
          <p:nvPr/>
        </p:nvGrpSpPr>
        <p:grpSpPr>
          <a:xfrm>
            <a:off x="1198255" y="1279054"/>
            <a:ext cx="867769" cy="86776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2467"/>
            </a:solidFill>
          </p:spPr>
        </p:sp>
        <p:sp>
          <p:nvSpPr>
            <p:cNvPr id="30" name="TextBox 30"/>
            <p:cNvSpPr txBox="1"/>
            <p:nvPr/>
          </p:nvSpPr>
          <p:spPr>
            <a:xfrm>
              <a:off x="76200" y="76200"/>
              <a:ext cx="660400" cy="660400"/>
            </a:xfrm>
            <a:prstGeom prst="rect">
              <a:avLst/>
            </a:prstGeom>
          </p:spPr>
          <p:txBody>
            <a:bodyPr lIns="25400" tIns="25400" rIns="25400" bIns="25400" rtlCol="0" anchor="ctr"/>
            <a:lstStyle/>
            <a:p>
              <a:pPr marL="0" marR="0" lvl="0" indent="0" algn="l" defTabSz="914400" rtl="0" eaLnBrk="1" fontAlgn="auto" latinLnBrk="0" hangingPunct="1">
                <a:lnSpc>
                  <a:spcPts val="1495"/>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1" name="TextBox 31"/>
          <p:cNvSpPr txBox="1"/>
          <p:nvPr/>
        </p:nvSpPr>
        <p:spPr>
          <a:xfrm>
            <a:off x="1226949" y="1336232"/>
            <a:ext cx="810381" cy="641201"/>
          </a:xfrm>
          <a:prstGeom prst="rect">
            <a:avLst/>
          </a:prstGeom>
        </p:spPr>
        <p:txBody>
          <a:bodyPr lIns="0" tIns="0" rIns="0" bIns="0" rtlCol="0" anchor="t">
            <a:spAutoFit/>
          </a:bodyPr>
          <a:lstStyle/>
          <a:p>
            <a:pPr marL="0" marR="0" lvl="0" indent="0" algn="ctr" defTabSz="914400" rtl="0" eaLnBrk="1" fontAlgn="auto" latinLnBrk="0" hangingPunct="1">
              <a:lnSpc>
                <a:spcPts val="5030"/>
              </a:lnSpc>
              <a:spcBef>
                <a:spcPts val="0"/>
              </a:spcBef>
              <a:spcAft>
                <a:spcPts val="0"/>
              </a:spcAft>
              <a:buClrTx/>
              <a:buSzTx/>
              <a:buFontTx/>
              <a:buNone/>
              <a:defRPr/>
            </a:pPr>
            <a:r>
              <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rPr>
              <a:t>02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02 SYSTEM ARCHITECTURE</a:t>
            </a:r>
            <a:endParaRPr lang="en-US" sz="1200" dirty="0"/>
          </a:p>
        </p:txBody>
      </p:sp>
      <p:pic>
        <p:nvPicPr>
          <p:cNvPr id="34" name="图片 33"/>
          <p:cNvPicPr>
            <a:picLocks noChangeAspect="1"/>
          </p:cNvPicPr>
          <p:nvPr/>
        </p:nvPicPr>
        <p:blipFill>
          <a:blip r:embed="rId2"/>
          <a:stretch>
            <a:fillRect/>
          </a:stretch>
        </p:blipFill>
        <p:spPr>
          <a:xfrm>
            <a:off x="1649730" y="814705"/>
            <a:ext cx="5578475" cy="41954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02 SYSTEM ARCHITECTURE · NOVEL GENERATION</a:t>
            </a:r>
            <a:endParaRPr lang="en-US" sz="1200" dirty="0"/>
          </a:p>
        </p:txBody>
      </p:sp>
      <p:sp>
        <p:nvSpPr>
          <p:cNvPr id="8" name="Text 6"/>
          <p:cNvSpPr/>
          <p:nvPr/>
        </p:nvSpPr>
        <p:spPr>
          <a:xfrm>
            <a:off x="457200" y="566928"/>
            <a:ext cx="8229600" cy="713232"/>
          </a:xfrm>
          <a:prstGeom prst="rect">
            <a:avLst/>
          </a:prstGeom>
          <a:noFill/>
        </p:spPr>
        <p:txBody>
          <a:bodyPr wrap="square" lIns="0" tIns="0" rIns="0" bIns="0" rtlCol="0" anchor="t"/>
          <a:lstStyle/>
          <a:p>
            <a:pPr marL="0" indent="0">
              <a:buNone/>
            </a:pPr>
            <a:r>
              <a:rPr lang="en-US" sz="2000" b="1" dirty="0">
                <a:solidFill>
                  <a:srgbClr val="242424"/>
                </a:solidFill>
                <a:latin typeface="Arial" panose="020B0604020202020204" pitchFamily="34" charset="0"/>
                <a:ea typeface="Arial" panose="020B0604020202020204" pitchFamily="34" charset="-122"/>
                <a:cs typeface="Arial" panose="020B0604020202020204" pitchFamily="34" charset="-120"/>
              </a:rPr>
              <a:t>A Prompt-Driven Planning–Generation Architecture</a:t>
            </a:r>
            <a:endParaRPr lang="en-US" sz="2000" dirty="0"/>
          </a:p>
        </p:txBody>
      </p:sp>
      <p:sp>
        <p:nvSpPr>
          <p:cNvPr id="9" name="Text 7"/>
          <p:cNvSpPr/>
          <p:nvPr/>
        </p:nvSpPr>
        <p:spPr>
          <a:xfrm>
            <a:off x="457200" y="1298448"/>
            <a:ext cx="4206240" cy="219456"/>
          </a:xfrm>
          <a:prstGeom prst="rect">
            <a:avLst/>
          </a:prstGeom>
          <a:noFill/>
        </p:spPr>
        <p:txBody>
          <a:bodyPr wrap="square" lIns="0" tIns="0" rIns="0" bIns="0" rtlCol="0" anchor="ctr"/>
          <a:lstStyle/>
          <a:p>
            <a:pPr marL="0" indent="0">
              <a:buNone/>
            </a:pPr>
            <a:r>
              <a:rPr lang="en-US" sz="1300" b="1" dirty="0">
                <a:solidFill>
                  <a:srgbClr val="1F2A5E"/>
                </a:solidFill>
              </a:rPr>
              <a:t>The problem with one-shot generation</a:t>
            </a:r>
            <a:endParaRPr lang="en-US" sz="1300" dirty="0"/>
          </a:p>
        </p:txBody>
      </p:sp>
      <p:sp>
        <p:nvSpPr>
          <p:cNvPr id="10" name="Text 8"/>
          <p:cNvSpPr/>
          <p:nvPr/>
        </p:nvSpPr>
        <p:spPr>
          <a:xfrm>
            <a:off x="457200" y="1536192"/>
            <a:ext cx="4206240" cy="777240"/>
          </a:xfrm>
          <a:prstGeom prst="rect">
            <a:avLst/>
          </a:prstGeom>
          <a:noFill/>
        </p:spPr>
        <p:txBody>
          <a:bodyPr wrap="square" lIns="0" tIns="0" rIns="0" bIns="0" rtlCol="0" anchor="t"/>
          <a:lstStyle/>
          <a:p>
            <a:pPr marL="342900" indent="-342900">
              <a:spcAft>
                <a:spcPts val="600"/>
              </a:spcAft>
              <a:buSzPct val="100000"/>
              <a:buChar char="●"/>
            </a:pPr>
            <a:r>
              <a:rPr lang="en-US" sz="1150" dirty="0">
                <a:solidFill>
                  <a:srgbClr val="242424"/>
                </a:solidFill>
                <a:latin typeface="Arial" panose="020B0604020202020204" pitchFamily="34" charset="0"/>
                <a:ea typeface="Arial" panose="020B0604020202020204" pitchFamily="34" charset="-122"/>
                <a:cs typeface="Arial" panose="020B0604020202020204" pitchFamily="34" charset="-120"/>
              </a:rPr>
              <a:t>General LLMs generate narrative in a single dialogue turn</a:t>
            </a:r>
            <a:endParaRPr lang="en-US" sz="1150" dirty="0"/>
          </a:p>
          <a:p>
            <a:pPr marL="342900" indent="-342900">
              <a:spcAft>
                <a:spcPts val="600"/>
              </a:spcAft>
              <a:buSzPct val="100000"/>
              <a:buChar char="●"/>
            </a:pPr>
            <a:r>
              <a:rPr lang="en-US" sz="1150" dirty="0">
                <a:solidFill>
                  <a:srgbClr val="242424"/>
                </a:solidFill>
                <a:latin typeface="Arial" panose="020B0604020202020204" pitchFamily="34" charset="0"/>
                <a:ea typeface="Arial" panose="020B0604020202020204" pitchFamily="34" charset="-122"/>
                <a:cs typeface="Arial" panose="020B0604020202020204" pitchFamily="34" charset="-120"/>
              </a:rPr>
              <a:t>Global constraints — logical consistency, character-arc continuity, foreshadowing payoff — can't be held reliably across one pass</a:t>
            </a:r>
            <a:endParaRPr lang="en-US" sz="1150" dirty="0"/>
          </a:p>
        </p:txBody>
      </p:sp>
      <p:sp>
        <p:nvSpPr>
          <p:cNvPr id="11" name="Text 9"/>
          <p:cNvSpPr/>
          <p:nvPr/>
        </p:nvSpPr>
        <p:spPr>
          <a:xfrm>
            <a:off x="457200" y="2377440"/>
            <a:ext cx="4206240" cy="219456"/>
          </a:xfrm>
          <a:prstGeom prst="rect">
            <a:avLst/>
          </a:prstGeom>
          <a:noFill/>
        </p:spPr>
        <p:txBody>
          <a:bodyPr wrap="square" lIns="0" tIns="0" rIns="0" bIns="0" rtlCol="0" anchor="ctr"/>
          <a:lstStyle/>
          <a:p>
            <a:pPr marL="0" indent="0">
              <a:buNone/>
            </a:pPr>
            <a:r>
              <a:rPr lang="en-US" sz="1300" b="1" dirty="0">
                <a:solidFill>
                  <a:srgbClr val="1F2A5E"/>
                </a:solidFill>
              </a:rPr>
              <a:t>Prompt-driven planning: training-time → inference-time</a:t>
            </a:r>
            <a:endParaRPr lang="en-US" sz="1300" dirty="0"/>
          </a:p>
        </p:txBody>
      </p:sp>
      <p:sp>
        <p:nvSpPr>
          <p:cNvPr id="12" name="Text 10"/>
          <p:cNvSpPr/>
          <p:nvPr/>
        </p:nvSpPr>
        <p:spPr>
          <a:xfrm>
            <a:off x="457200" y="2615184"/>
            <a:ext cx="4206240" cy="1188720"/>
          </a:xfrm>
          <a:prstGeom prst="rect">
            <a:avLst/>
          </a:prstGeom>
          <a:noFill/>
        </p:spPr>
        <p:txBody>
          <a:bodyPr wrap="square" lIns="0" tIns="0" rIns="0" bIns="0" rtlCol="0" anchor="t"/>
          <a:lstStyle/>
          <a:p>
            <a:pPr marL="342900" indent="-342900">
              <a:spcAft>
                <a:spcPts val="6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Plan-and-Write: “plan, then write” via trained extraction + generation models</a:t>
            </a:r>
          </a:p>
          <a:p>
            <a:pPr marL="342900" indent="-342900">
              <a:spcAft>
                <a:spcPts val="6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This project: zero fine-tuning — prompts dynamically build Planning + Generation Layers at inference time via DeepSeek's in-context learning, so “plan → write” becomes prompt-driven</a:t>
            </a:r>
            <a:endParaRPr lang="en-US" sz="1100" dirty="0"/>
          </a:p>
        </p:txBody>
      </p:sp>
      <p:sp>
        <p:nvSpPr>
          <p:cNvPr id="28" name="Text 26"/>
          <p:cNvSpPr/>
          <p:nvPr/>
        </p:nvSpPr>
        <p:spPr>
          <a:xfrm>
            <a:off x="457200" y="3822192"/>
            <a:ext cx="8229600" cy="219456"/>
          </a:xfrm>
          <a:prstGeom prst="rect">
            <a:avLst/>
          </a:prstGeom>
          <a:noFill/>
        </p:spPr>
        <p:txBody>
          <a:bodyPr wrap="square" lIns="0" tIns="0" rIns="0" bIns="0" rtlCol="0" anchor="ctr"/>
          <a:lstStyle/>
          <a:p>
            <a:pPr marL="0" indent="0">
              <a:buNone/>
            </a:pPr>
            <a:r>
              <a:rPr lang="en-US" sz="1200" b="1" dirty="0">
                <a:solidFill>
                  <a:srgbClr val="1F2A5E"/>
                </a:solidFill>
              </a:rPr>
              <a:t>Five-stage creative pipeline</a:t>
            </a:r>
            <a:endParaRPr lang="en-US" sz="1200" dirty="0"/>
          </a:p>
        </p:txBody>
      </p:sp>
      <p:sp>
        <p:nvSpPr>
          <p:cNvPr id="29" name="Shape 27"/>
          <p:cNvSpPr/>
          <p:nvPr/>
        </p:nvSpPr>
        <p:spPr>
          <a:xfrm>
            <a:off x="457200" y="4078224"/>
            <a:ext cx="1481328" cy="566928"/>
          </a:xfrm>
          <a:prstGeom prst="rect">
            <a:avLst/>
          </a:prstGeom>
          <a:solidFill>
            <a:srgbClr val="E4E9F8"/>
          </a:solidFill>
        </p:spPr>
      </p:sp>
      <p:sp>
        <p:nvSpPr>
          <p:cNvPr id="30" name="Text 28"/>
          <p:cNvSpPr/>
          <p:nvPr/>
        </p:nvSpPr>
        <p:spPr>
          <a:xfrm>
            <a:off x="457200" y="4078224"/>
            <a:ext cx="1481328" cy="566928"/>
          </a:xfrm>
          <a:prstGeom prst="rect">
            <a:avLst/>
          </a:prstGeom>
          <a:noFill/>
        </p:spPr>
        <p:txBody>
          <a:bodyPr wrap="square" lIns="0" tIns="0" rIns="0" bIns="0" rtlCol="0" anchor="ctr"/>
          <a:lstStyle/>
          <a:p>
            <a:pPr marL="0" indent="0" algn="ctr">
              <a:buNone/>
            </a:pPr>
            <a:r>
              <a:rPr lang="en-US" sz="1000" b="1" dirty="0">
                <a:solidFill>
                  <a:srgbClr val="1F2A5E"/>
                </a:solidFill>
              </a:rPr>
              <a:t>World &amp;</a:t>
            </a:r>
            <a:endParaRPr lang="en-US" sz="1000" dirty="0"/>
          </a:p>
          <a:p>
            <a:pPr marL="0" indent="0" algn="ctr">
              <a:buNone/>
            </a:pPr>
            <a:r>
              <a:rPr lang="en-US" sz="1000" b="1" dirty="0">
                <a:solidFill>
                  <a:srgbClr val="1F2A5E"/>
                </a:solidFill>
              </a:rPr>
              <a:t>Setting</a:t>
            </a:r>
            <a:endParaRPr lang="en-US" sz="1000" dirty="0"/>
          </a:p>
        </p:txBody>
      </p:sp>
      <p:sp>
        <p:nvSpPr>
          <p:cNvPr id="31" name="Shape 29"/>
          <p:cNvSpPr/>
          <p:nvPr/>
        </p:nvSpPr>
        <p:spPr>
          <a:xfrm>
            <a:off x="1938528" y="4361688"/>
            <a:ext cx="224028" cy="0"/>
          </a:xfrm>
          <a:prstGeom prst="line">
            <a:avLst/>
          </a:prstGeom>
          <a:noFill/>
          <a:ln w="19050">
            <a:solidFill>
              <a:srgbClr val="5E72B0"/>
            </a:solidFill>
            <a:prstDash val="solid"/>
            <a:tailEnd type="triangle"/>
          </a:ln>
        </p:spPr>
      </p:sp>
      <p:sp>
        <p:nvSpPr>
          <p:cNvPr id="32" name="Shape 30"/>
          <p:cNvSpPr/>
          <p:nvPr/>
        </p:nvSpPr>
        <p:spPr>
          <a:xfrm>
            <a:off x="2162556" y="4078224"/>
            <a:ext cx="1481328" cy="566928"/>
          </a:xfrm>
          <a:prstGeom prst="rect">
            <a:avLst/>
          </a:prstGeom>
          <a:solidFill>
            <a:srgbClr val="E4E9F8"/>
          </a:solidFill>
        </p:spPr>
      </p:sp>
      <p:sp>
        <p:nvSpPr>
          <p:cNvPr id="33" name="Text 31"/>
          <p:cNvSpPr/>
          <p:nvPr/>
        </p:nvSpPr>
        <p:spPr>
          <a:xfrm>
            <a:off x="2162556" y="4078224"/>
            <a:ext cx="1481328" cy="566928"/>
          </a:xfrm>
          <a:prstGeom prst="rect">
            <a:avLst/>
          </a:prstGeom>
          <a:noFill/>
        </p:spPr>
        <p:txBody>
          <a:bodyPr wrap="square" lIns="0" tIns="0" rIns="0" bIns="0" rtlCol="0" anchor="ctr"/>
          <a:lstStyle/>
          <a:p>
            <a:pPr marL="0" indent="0" algn="ctr">
              <a:buNone/>
            </a:pPr>
            <a:r>
              <a:rPr lang="en-US" sz="1000" b="1" dirty="0">
                <a:solidFill>
                  <a:srgbClr val="1F2A5E"/>
                </a:solidFill>
              </a:rPr>
              <a:t>Character Cards</a:t>
            </a:r>
            <a:endParaRPr lang="en-US" sz="1000" dirty="0"/>
          </a:p>
          <a:p>
            <a:pPr marL="0" indent="0" algn="ctr">
              <a:buNone/>
            </a:pPr>
            <a:r>
              <a:rPr lang="en-US" sz="1000" b="1" dirty="0">
                <a:solidFill>
                  <a:srgbClr val="1F2A5E"/>
                </a:solidFill>
              </a:rPr>
              <a:t>&amp; Relations</a:t>
            </a:r>
            <a:endParaRPr lang="en-US" sz="1000" dirty="0"/>
          </a:p>
        </p:txBody>
      </p:sp>
      <p:sp>
        <p:nvSpPr>
          <p:cNvPr id="34" name="Shape 32"/>
          <p:cNvSpPr/>
          <p:nvPr/>
        </p:nvSpPr>
        <p:spPr>
          <a:xfrm>
            <a:off x="3643884" y="4361688"/>
            <a:ext cx="224028" cy="0"/>
          </a:xfrm>
          <a:prstGeom prst="line">
            <a:avLst/>
          </a:prstGeom>
          <a:noFill/>
          <a:ln w="19050">
            <a:solidFill>
              <a:srgbClr val="5E72B0"/>
            </a:solidFill>
            <a:prstDash val="solid"/>
            <a:tailEnd type="triangle"/>
          </a:ln>
        </p:spPr>
      </p:sp>
      <p:sp>
        <p:nvSpPr>
          <p:cNvPr id="35" name="Shape 33"/>
          <p:cNvSpPr/>
          <p:nvPr/>
        </p:nvSpPr>
        <p:spPr>
          <a:xfrm>
            <a:off x="3867912" y="4078224"/>
            <a:ext cx="1481328" cy="566928"/>
          </a:xfrm>
          <a:prstGeom prst="rect">
            <a:avLst/>
          </a:prstGeom>
          <a:solidFill>
            <a:srgbClr val="1F2A5E"/>
          </a:solidFill>
        </p:spPr>
      </p:sp>
      <p:sp>
        <p:nvSpPr>
          <p:cNvPr id="36" name="Text 34"/>
          <p:cNvSpPr/>
          <p:nvPr/>
        </p:nvSpPr>
        <p:spPr>
          <a:xfrm>
            <a:off x="3867912" y="4078224"/>
            <a:ext cx="1481328" cy="566928"/>
          </a:xfrm>
          <a:prstGeom prst="rect">
            <a:avLst/>
          </a:prstGeom>
          <a:noFill/>
        </p:spPr>
        <p:txBody>
          <a:bodyPr wrap="square" lIns="0" tIns="0" rIns="0" bIns="0" rtlCol="0" anchor="ctr"/>
          <a:lstStyle/>
          <a:p>
            <a:pPr marL="0" indent="0" algn="ctr">
              <a:buNone/>
            </a:pPr>
            <a:r>
              <a:rPr lang="en-US" sz="1000" b="1" dirty="0">
                <a:solidFill>
                  <a:srgbClr val="FFFFFF"/>
                </a:solidFill>
              </a:rPr>
              <a:t>Outline Planning</a:t>
            </a:r>
            <a:endParaRPr lang="en-US" sz="1000" dirty="0"/>
          </a:p>
          <a:p>
            <a:pPr marL="0" indent="0" algn="ctr">
              <a:buNone/>
            </a:pPr>
            <a:r>
              <a:rPr lang="en-US" sz="1000" b="1" dirty="0">
                <a:solidFill>
                  <a:srgbClr val="FFFFFF"/>
                </a:solidFill>
              </a:rPr>
              <a:t>(4-act + briefs)</a:t>
            </a:r>
            <a:endParaRPr lang="en-US" sz="1000" dirty="0"/>
          </a:p>
        </p:txBody>
      </p:sp>
      <p:sp>
        <p:nvSpPr>
          <p:cNvPr id="37" name="Shape 35"/>
          <p:cNvSpPr/>
          <p:nvPr/>
        </p:nvSpPr>
        <p:spPr>
          <a:xfrm>
            <a:off x="5349240" y="4361688"/>
            <a:ext cx="224028" cy="0"/>
          </a:xfrm>
          <a:prstGeom prst="line">
            <a:avLst/>
          </a:prstGeom>
          <a:noFill/>
          <a:ln w="19050">
            <a:solidFill>
              <a:srgbClr val="5E72B0"/>
            </a:solidFill>
            <a:prstDash val="solid"/>
            <a:tailEnd type="triangle"/>
          </a:ln>
        </p:spPr>
      </p:sp>
      <p:sp>
        <p:nvSpPr>
          <p:cNvPr id="38" name="Shape 36"/>
          <p:cNvSpPr/>
          <p:nvPr/>
        </p:nvSpPr>
        <p:spPr>
          <a:xfrm>
            <a:off x="5573268" y="4078224"/>
            <a:ext cx="1481328" cy="566928"/>
          </a:xfrm>
          <a:prstGeom prst="rect">
            <a:avLst/>
          </a:prstGeom>
          <a:solidFill>
            <a:srgbClr val="E4E9F8"/>
          </a:solidFill>
        </p:spPr>
      </p:sp>
      <p:sp>
        <p:nvSpPr>
          <p:cNvPr id="39" name="Text 37"/>
          <p:cNvSpPr/>
          <p:nvPr/>
        </p:nvSpPr>
        <p:spPr>
          <a:xfrm>
            <a:off x="5573268" y="4078224"/>
            <a:ext cx="1481328" cy="566928"/>
          </a:xfrm>
          <a:prstGeom prst="rect">
            <a:avLst/>
          </a:prstGeom>
          <a:noFill/>
        </p:spPr>
        <p:txBody>
          <a:bodyPr wrap="square" lIns="0" tIns="0" rIns="0" bIns="0" rtlCol="0" anchor="ctr"/>
          <a:lstStyle/>
          <a:p>
            <a:pPr marL="0" indent="0" algn="ctr">
              <a:buNone/>
            </a:pPr>
            <a:r>
              <a:rPr lang="en-US" sz="1000" b="1" dirty="0">
                <a:solidFill>
                  <a:srgbClr val="1F2A5E"/>
                </a:solidFill>
              </a:rPr>
              <a:t>Chapter-by-Chapter</a:t>
            </a:r>
            <a:endParaRPr lang="en-US" sz="1000" dirty="0"/>
          </a:p>
          <a:p>
            <a:pPr marL="0" indent="0" algn="ctr">
              <a:buNone/>
            </a:pPr>
            <a:r>
              <a:rPr lang="en-US" sz="1000" b="1" dirty="0">
                <a:solidFill>
                  <a:srgbClr val="1F2A5E"/>
                </a:solidFill>
              </a:rPr>
              <a:t>Generation</a:t>
            </a:r>
            <a:endParaRPr lang="en-US" sz="1000" dirty="0"/>
          </a:p>
        </p:txBody>
      </p:sp>
      <p:sp>
        <p:nvSpPr>
          <p:cNvPr id="40" name="Shape 38"/>
          <p:cNvSpPr/>
          <p:nvPr/>
        </p:nvSpPr>
        <p:spPr>
          <a:xfrm>
            <a:off x="7054596" y="4361688"/>
            <a:ext cx="224028" cy="0"/>
          </a:xfrm>
          <a:prstGeom prst="line">
            <a:avLst/>
          </a:prstGeom>
          <a:noFill/>
          <a:ln w="19050">
            <a:solidFill>
              <a:srgbClr val="5E72B0"/>
            </a:solidFill>
            <a:prstDash val="solid"/>
            <a:tailEnd type="triangle"/>
          </a:ln>
        </p:spPr>
      </p:sp>
      <p:sp>
        <p:nvSpPr>
          <p:cNvPr id="41" name="Shape 39"/>
          <p:cNvSpPr/>
          <p:nvPr/>
        </p:nvSpPr>
        <p:spPr>
          <a:xfrm>
            <a:off x="7278624" y="4078224"/>
            <a:ext cx="1481328" cy="566928"/>
          </a:xfrm>
          <a:prstGeom prst="rect">
            <a:avLst/>
          </a:prstGeom>
          <a:solidFill>
            <a:srgbClr val="E4E9F8"/>
          </a:solidFill>
        </p:spPr>
      </p:sp>
      <p:sp>
        <p:nvSpPr>
          <p:cNvPr id="42" name="Text 40"/>
          <p:cNvSpPr/>
          <p:nvPr/>
        </p:nvSpPr>
        <p:spPr>
          <a:xfrm>
            <a:off x="7278624" y="4078224"/>
            <a:ext cx="1481328" cy="566928"/>
          </a:xfrm>
          <a:prstGeom prst="rect">
            <a:avLst/>
          </a:prstGeom>
          <a:noFill/>
        </p:spPr>
        <p:txBody>
          <a:bodyPr wrap="square" lIns="0" tIns="0" rIns="0" bIns="0" rtlCol="0" anchor="ctr"/>
          <a:lstStyle/>
          <a:p>
            <a:pPr marL="0" indent="0" algn="ctr">
              <a:buNone/>
            </a:pPr>
            <a:r>
              <a:rPr lang="en-US" sz="1000" b="1" dirty="0">
                <a:solidFill>
                  <a:srgbClr val="1F2A5E"/>
                </a:solidFill>
              </a:rPr>
              <a:t>Local</a:t>
            </a:r>
            <a:endParaRPr lang="en-US" sz="1000" dirty="0"/>
          </a:p>
          <a:p>
            <a:pPr marL="0" indent="0" algn="ctr">
              <a:buNone/>
            </a:pPr>
            <a:r>
              <a:rPr lang="en-US" sz="1000" b="1" dirty="0">
                <a:solidFill>
                  <a:srgbClr val="1F2A5E"/>
                </a:solidFill>
              </a:rPr>
              <a:t>Rewrite</a:t>
            </a:r>
            <a:endParaRPr lang="en-US" sz="1000" dirty="0"/>
          </a:p>
        </p:txBody>
      </p:sp>
      <p:pic>
        <p:nvPicPr>
          <p:cNvPr id="43" name="图片 42"/>
          <p:cNvPicPr>
            <a:picLocks noChangeAspect="1"/>
          </p:cNvPicPr>
          <p:nvPr/>
        </p:nvPicPr>
        <p:blipFill>
          <a:blip r:embed="rId3"/>
          <a:stretch>
            <a:fillRect/>
          </a:stretch>
        </p:blipFill>
        <p:spPr>
          <a:xfrm>
            <a:off x="4984750" y="873125"/>
            <a:ext cx="3775075" cy="31451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r>
              <a:rPr lang="en-US" sz="1200" b="1" kern="0" spc="200" dirty="0">
                <a:solidFill>
                  <a:srgbClr val="415A9C"/>
                </a:solidFill>
                <a:latin typeface="Arial" panose="020B0604020202020204" pitchFamily="34" charset="0"/>
                <a:cs typeface="Arial" panose="020B0604020202020204" pitchFamily="34" charset="-120"/>
              </a:rPr>
              <a:t>02 SYSTEM ARCHITECTURE · NOVEL GENERATION</a:t>
            </a:r>
          </a:p>
        </p:txBody>
      </p:sp>
      <p:sp>
        <p:nvSpPr>
          <p:cNvPr id="8" name="Text 6"/>
          <p:cNvSpPr/>
          <p:nvPr/>
        </p:nvSpPr>
        <p:spPr>
          <a:xfrm>
            <a:off x="456565" y="694944"/>
            <a:ext cx="8229600" cy="713232"/>
          </a:xfrm>
          <a:prstGeom prst="rect">
            <a:avLst/>
          </a:prstGeom>
          <a:noFill/>
        </p:spPr>
        <p:txBody>
          <a:bodyPr wrap="square" lIns="0" tIns="0" rIns="0" bIns="0" rtlCol="0" anchor="t"/>
          <a:lstStyle/>
          <a:p>
            <a:pPr marL="0" indent="0">
              <a:buNone/>
            </a:pPr>
            <a:r>
              <a:rPr lang="en-US" sz="2000" b="1" dirty="0">
                <a:solidFill>
                  <a:srgbClr val="242424"/>
                </a:solidFill>
                <a:latin typeface="Arial" panose="020B0604020202020204" pitchFamily="34" charset="0"/>
                <a:ea typeface="Arial" panose="020B0604020202020204" pitchFamily="34" charset="-122"/>
                <a:cs typeface="Arial" panose="020B0604020202020204" pitchFamily="34" charset="-120"/>
              </a:rPr>
              <a:t>Dual-Layer Prompts: Literary Theory as Generation Constraints</a:t>
            </a:r>
            <a:endParaRPr lang="en-US" sz="2000" dirty="0"/>
          </a:p>
        </p:txBody>
      </p:sp>
      <p:pic>
        <p:nvPicPr>
          <p:cNvPr id="105" name="图片 105"/>
          <p:cNvPicPr>
            <a:picLocks noChangeAspect="1"/>
          </p:cNvPicPr>
          <p:nvPr/>
        </p:nvPicPr>
        <p:blipFill>
          <a:blip r:embed="rId3"/>
          <a:stretch>
            <a:fillRect/>
          </a:stretch>
        </p:blipFill>
        <p:spPr>
          <a:xfrm>
            <a:off x="457835" y="1325245"/>
            <a:ext cx="1864995" cy="1569085"/>
          </a:xfrm>
          <a:prstGeom prst="rect">
            <a:avLst/>
          </a:prstGeom>
        </p:spPr>
      </p:pic>
      <p:pic>
        <p:nvPicPr>
          <p:cNvPr id="104" name="图片 104"/>
          <p:cNvPicPr>
            <a:picLocks noChangeAspect="1"/>
          </p:cNvPicPr>
          <p:nvPr/>
        </p:nvPicPr>
        <p:blipFill>
          <a:blip r:embed="rId4"/>
          <a:srcRect t="15661"/>
          <a:stretch>
            <a:fillRect/>
          </a:stretch>
        </p:blipFill>
        <p:spPr>
          <a:xfrm>
            <a:off x="2320925" y="3088640"/>
            <a:ext cx="2795270" cy="1633220"/>
          </a:xfrm>
          <a:prstGeom prst="rect">
            <a:avLst/>
          </a:prstGeom>
        </p:spPr>
      </p:pic>
      <p:pic>
        <p:nvPicPr>
          <p:cNvPr id="107" name="图片 107"/>
          <p:cNvPicPr>
            <a:picLocks noChangeAspect="1"/>
          </p:cNvPicPr>
          <p:nvPr/>
        </p:nvPicPr>
        <p:blipFill>
          <a:blip r:embed="rId5"/>
          <a:srcRect l="18649" t="9819" b="23004"/>
          <a:stretch>
            <a:fillRect/>
          </a:stretch>
        </p:blipFill>
        <p:spPr>
          <a:xfrm>
            <a:off x="5246370" y="3097530"/>
            <a:ext cx="3211830" cy="1533525"/>
          </a:xfrm>
          <a:prstGeom prst="rect">
            <a:avLst/>
          </a:prstGeom>
        </p:spPr>
      </p:pic>
      <p:pic>
        <p:nvPicPr>
          <p:cNvPr id="5" name="图片 4"/>
          <p:cNvPicPr>
            <a:picLocks noChangeAspect="1"/>
          </p:cNvPicPr>
          <p:nvPr/>
        </p:nvPicPr>
        <p:blipFill>
          <a:blip r:embed="rId6"/>
          <a:stretch>
            <a:fillRect/>
          </a:stretch>
        </p:blipFill>
        <p:spPr>
          <a:xfrm>
            <a:off x="5196840" y="1491615"/>
            <a:ext cx="3126740" cy="1253490"/>
          </a:xfrm>
          <a:prstGeom prst="rect">
            <a:avLst/>
          </a:prstGeom>
        </p:spPr>
      </p:pic>
      <p:pic>
        <p:nvPicPr>
          <p:cNvPr id="6" name="图片 5"/>
          <p:cNvPicPr>
            <a:picLocks noChangeAspect="1"/>
          </p:cNvPicPr>
          <p:nvPr/>
        </p:nvPicPr>
        <p:blipFill>
          <a:blip r:embed="rId7"/>
          <a:stretch>
            <a:fillRect/>
          </a:stretch>
        </p:blipFill>
        <p:spPr>
          <a:xfrm>
            <a:off x="457200" y="3390900"/>
            <a:ext cx="1910715" cy="1409065"/>
          </a:xfrm>
          <a:prstGeom prst="rect">
            <a:avLst/>
          </a:prstGeom>
        </p:spPr>
      </p:pic>
      <p:pic>
        <p:nvPicPr>
          <p:cNvPr id="9" name="图片 8"/>
          <p:cNvPicPr>
            <a:picLocks noChangeAspect="1"/>
          </p:cNvPicPr>
          <p:nvPr/>
        </p:nvPicPr>
        <p:blipFill>
          <a:blip r:embed="rId8"/>
          <a:srcRect t="14566"/>
          <a:stretch>
            <a:fillRect/>
          </a:stretch>
        </p:blipFill>
        <p:spPr>
          <a:xfrm>
            <a:off x="2540000" y="1325245"/>
            <a:ext cx="1790065" cy="856615"/>
          </a:xfrm>
          <a:prstGeom prst="rect">
            <a:avLst/>
          </a:prstGeom>
        </p:spPr>
      </p:pic>
      <p:pic>
        <p:nvPicPr>
          <p:cNvPr id="10" name="图片 9"/>
          <p:cNvPicPr>
            <a:picLocks noChangeAspect="1"/>
          </p:cNvPicPr>
          <p:nvPr/>
        </p:nvPicPr>
        <p:blipFill>
          <a:blip r:embed="rId9"/>
          <a:stretch>
            <a:fillRect/>
          </a:stretch>
        </p:blipFill>
        <p:spPr>
          <a:xfrm>
            <a:off x="2496185" y="2156460"/>
            <a:ext cx="1807210" cy="322580"/>
          </a:xfrm>
          <a:prstGeom prst="rect">
            <a:avLst/>
          </a:prstGeom>
        </p:spPr>
      </p:pic>
      <p:pic>
        <p:nvPicPr>
          <p:cNvPr id="11" name="图片 10"/>
          <p:cNvPicPr>
            <a:picLocks noChangeAspect="1"/>
          </p:cNvPicPr>
          <p:nvPr/>
        </p:nvPicPr>
        <p:blipFill>
          <a:blip r:embed="rId10"/>
          <a:stretch>
            <a:fillRect/>
          </a:stretch>
        </p:blipFill>
        <p:spPr>
          <a:xfrm>
            <a:off x="2496185" y="2483485"/>
            <a:ext cx="1955165" cy="361315"/>
          </a:xfrm>
          <a:prstGeom prst="rect">
            <a:avLst/>
          </a:prstGeom>
        </p:spPr>
      </p:pic>
      <p:sp>
        <p:nvSpPr>
          <p:cNvPr id="20" name="文本框 19"/>
          <p:cNvSpPr txBox="1"/>
          <p:nvPr/>
        </p:nvSpPr>
        <p:spPr>
          <a:xfrm>
            <a:off x="443230" y="2844800"/>
            <a:ext cx="1587500" cy="252730"/>
          </a:xfrm>
          <a:prstGeom prst="rect">
            <a:avLst/>
          </a:prstGeom>
          <a:noFill/>
        </p:spPr>
        <p:txBody>
          <a:bodyPr wrap="square" rtlCol="0" anchor="t">
            <a:spAutoFit/>
          </a:bodyPr>
          <a:lstStyle/>
          <a:p>
            <a:pPr indent="0">
              <a:spcAft>
                <a:spcPts val="400"/>
              </a:spcAft>
              <a:buSzPct val="100000"/>
              <a:buNone/>
            </a:pPr>
            <a:r>
              <a:rPr lang="en-US" sz="1050"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(0) prompt catalogue</a:t>
            </a:r>
          </a:p>
        </p:txBody>
      </p:sp>
      <p:sp>
        <p:nvSpPr>
          <p:cNvPr id="21" name="文本框 20"/>
          <p:cNvSpPr txBox="1"/>
          <p:nvPr/>
        </p:nvSpPr>
        <p:spPr>
          <a:xfrm>
            <a:off x="3016250" y="4697095"/>
            <a:ext cx="2703830" cy="252730"/>
          </a:xfrm>
          <a:prstGeom prst="rect">
            <a:avLst/>
          </a:prstGeom>
          <a:noFill/>
        </p:spPr>
        <p:txBody>
          <a:bodyPr wrap="square" rtlCol="0" anchor="t">
            <a:spAutoFit/>
          </a:bodyPr>
          <a:lstStyle/>
          <a:p>
            <a:pPr indent="0">
              <a:spcAft>
                <a:spcPts val="400"/>
              </a:spcAft>
              <a:buSzPct val="100000"/>
              <a:buNone/>
            </a:pPr>
            <a:r>
              <a:rPr lang="en-US" sz="1050"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(4) outline writing prompt</a:t>
            </a:r>
          </a:p>
        </p:txBody>
      </p:sp>
      <p:sp>
        <p:nvSpPr>
          <p:cNvPr id="22" name="文本框 21"/>
          <p:cNvSpPr txBox="1"/>
          <p:nvPr/>
        </p:nvSpPr>
        <p:spPr>
          <a:xfrm>
            <a:off x="5210810" y="4697095"/>
            <a:ext cx="1962150" cy="252730"/>
          </a:xfrm>
          <a:prstGeom prst="rect">
            <a:avLst/>
          </a:prstGeom>
          <a:noFill/>
        </p:spPr>
        <p:txBody>
          <a:bodyPr wrap="square" rtlCol="0" anchor="t">
            <a:spAutoFit/>
          </a:bodyPr>
          <a:lstStyle/>
          <a:p>
            <a:pPr indent="0">
              <a:spcAft>
                <a:spcPts val="400"/>
              </a:spcAft>
              <a:buSzPct val="100000"/>
              <a:buNone/>
            </a:pPr>
            <a:r>
              <a:rPr lang="en-US" sz="1050"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(5) detail writing prompt </a:t>
            </a:r>
          </a:p>
        </p:txBody>
      </p:sp>
      <p:sp>
        <p:nvSpPr>
          <p:cNvPr id="23" name="文本框 22"/>
          <p:cNvSpPr txBox="1"/>
          <p:nvPr/>
        </p:nvSpPr>
        <p:spPr>
          <a:xfrm>
            <a:off x="5240655" y="2835275"/>
            <a:ext cx="1962150" cy="252730"/>
          </a:xfrm>
          <a:prstGeom prst="rect">
            <a:avLst/>
          </a:prstGeom>
          <a:noFill/>
        </p:spPr>
        <p:txBody>
          <a:bodyPr wrap="square" rtlCol="0" anchor="t">
            <a:spAutoFit/>
          </a:bodyPr>
          <a:lstStyle/>
          <a:p>
            <a:pPr indent="0">
              <a:spcAft>
                <a:spcPts val="400"/>
              </a:spcAft>
              <a:buSzPct val="100000"/>
              <a:buNone/>
            </a:pPr>
            <a:r>
              <a:rPr lang="en-US" sz="1050"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(2) character naming prompt </a:t>
            </a:r>
          </a:p>
        </p:txBody>
      </p:sp>
      <p:sp>
        <p:nvSpPr>
          <p:cNvPr id="24" name="文本框 23"/>
          <p:cNvSpPr txBox="1"/>
          <p:nvPr/>
        </p:nvSpPr>
        <p:spPr>
          <a:xfrm>
            <a:off x="438785" y="4697095"/>
            <a:ext cx="2656840" cy="252730"/>
          </a:xfrm>
          <a:prstGeom prst="rect">
            <a:avLst/>
          </a:prstGeom>
          <a:noFill/>
        </p:spPr>
        <p:txBody>
          <a:bodyPr wrap="square" rtlCol="0" anchor="t">
            <a:spAutoFit/>
          </a:bodyPr>
          <a:lstStyle/>
          <a:p>
            <a:pPr indent="0">
              <a:spcAft>
                <a:spcPts val="400"/>
              </a:spcAft>
              <a:buSzPct val="100000"/>
              <a:buNone/>
            </a:pPr>
            <a:r>
              <a:rPr lang="en-US" sz="1050"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(3) character relation generating prompt </a:t>
            </a:r>
          </a:p>
        </p:txBody>
      </p:sp>
      <p:sp>
        <p:nvSpPr>
          <p:cNvPr id="25" name="文本框 24"/>
          <p:cNvSpPr txBox="1"/>
          <p:nvPr/>
        </p:nvSpPr>
        <p:spPr>
          <a:xfrm>
            <a:off x="3016250" y="2835275"/>
            <a:ext cx="2656840" cy="252730"/>
          </a:xfrm>
          <a:prstGeom prst="rect">
            <a:avLst/>
          </a:prstGeom>
          <a:noFill/>
        </p:spPr>
        <p:txBody>
          <a:bodyPr wrap="square" rtlCol="0" anchor="t">
            <a:spAutoFit/>
          </a:bodyPr>
          <a:lstStyle/>
          <a:p>
            <a:pPr indent="0">
              <a:spcAft>
                <a:spcPts val="400"/>
              </a:spcAft>
              <a:buSzPct val="100000"/>
              <a:buNone/>
            </a:pPr>
            <a:r>
              <a:rPr lang="en-US" sz="1050"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(1) story type prompt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02 </a:t>
            </a:r>
            <a:r>
              <a:rPr lang="en-US" sz="1200" b="1" kern="0" spc="200" dirty="0">
                <a:solidFill>
                  <a:srgbClr val="415A9C"/>
                </a:solidFill>
                <a:latin typeface="Arial" panose="020B0604020202020204" pitchFamily="34" charset="0"/>
                <a:cs typeface="Arial" panose="020B0604020202020204" pitchFamily="34" charset="-120"/>
              </a:rPr>
              <a:t>SYSTEM</a:t>
            </a: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 ARCHITECTURE · NOVEL GENERATION</a:t>
            </a:r>
            <a:endParaRPr lang="en-US" sz="1200" dirty="0"/>
          </a:p>
        </p:txBody>
      </p:sp>
      <p:sp>
        <p:nvSpPr>
          <p:cNvPr id="8" name="Text 6"/>
          <p:cNvSpPr/>
          <p:nvPr/>
        </p:nvSpPr>
        <p:spPr>
          <a:xfrm>
            <a:off x="457200" y="680461"/>
            <a:ext cx="8229600" cy="713232"/>
          </a:xfrm>
          <a:prstGeom prst="rect">
            <a:avLst/>
          </a:prstGeom>
          <a:noFill/>
        </p:spPr>
        <p:txBody>
          <a:bodyPr wrap="square" lIns="0" tIns="0" rIns="0" bIns="0" rtlCol="0" anchor="t"/>
          <a:lstStyle/>
          <a:p>
            <a:pPr marL="0" indent="0">
              <a:buNone/>
            </a:pPr>
            <a:r>
              <a:rPr lang="en-US" altLang="zh-CN" sz="2000" b="1" dirty="0">
                <a:solidFill>
                  <a:srgbClr val="242424"/>
                </a:solidFill>
                <a:latin typeface="Arial" panose="020B0604020202020204" pitchFamily="34" charset="0"/>
                <a:ea typeface="Arial" panose="020B0604020202020204" pitchFamily="34" charset="-122"/>
                <a:cs typeface="Arial" panose="020B0604020202020204" pitchFamily="34" charset="-120"/>
              </a:rPr>
              <a:t>A Stateful Pipeline: Field-Pruned Context + Summary-Driven Memory</a:t>
            </a:r>
          </a:p>
        </p:txBody>
      </p:sp>
      <p:sp>
        <p:nvSpPr>
          <p:cNvPr id="9" name="Text 7"/>
          <p:cNvSpPr/>
          <p:nvPr/>
        </p:nvSpPr>
        <p:spPr>
          <a:xfrm>
            <a:off x="457200" y="1600073"/>
            <a:ext cx="4206240" cy="219456"/>
          </a:xfrm>
          <a:prstGeom prst="rect">
            <a:avLst/>
          </a:prstGeom>
          <a:noFill/>
        </p:spPr>
        <p:txBody>
          <a:bodyPr wrap="square" lIns="0" tIns="0" rIns="0" bIns="0" rtlCol="0" anchor="ctr"/>
          <a:lstStyle/>
          <a:p>
            <a:pPr marL="0" indent="0">
              <a:buNone/>
            </a:pPr>
            <a:r>
              <a:rPr lang="en-US" sz="1300" b="1" dirty="0">
                <a:solidFill>
                  <a:srgbClr val="1F2A5E"/>
                </a:solidFill>
              </a:rPr>
              <a:t>Upstream output = downstream input</a:t>
            </a:r>
            <a:endParaRPr lang="en-US" sz="1300" dirty="0"/>
          </a:p>
        </p:txBody>
      </p:sp>
      <p:sp>
        <p:nvSpPr>
          <p:cNvPr id="10" name="Text 8"/>
          <p:cNvSpPr/>
          <p:nvPr/>
        </p:nvSpPr>
        <p:spPr>
          <a:xfrm>
            <a:off x="457200" y="1837817"/>
            <a:ext cx="4206240" cy="960120"/>
          </a:xfrm>
          <a:prstGeom prst="rect">
            <a:avLst/>
          </a:prstGeom>
          <a:noFill/>
        </p:spPr>
        <p:txBody>
          <a:bodyPr wrap="square" lIns="0" tIns="0" rIns="0" bIns="0" rtlCol="0" anchor="t"/>
          <a:lstStyle/>
          <a:p>
            <a:pPr marL="342900" indent="-342900">
              <a:spcAft>
                <a:spcPts val="6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Context is field-pruned and assembled on demand — not raw-text concatenation</a:t>
            </a:r>
            <a:endParaRPr lang="en-US" sz="1100" dirty="0"/>
          </a:p>
          <a:p>
            <a:pPr marL="342900" indent="-342900">
              <a:spcAft>
                <a:spcPts val="6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Chapter generation draws on 5 structured fields (right): story setup, full outline, prior-chapter summaries, current-chapter brief, and style rules</a:t>
            </a:r>
            <a:endParaRPr lang="en-US" sz="1100" dirty="0"/>
          </a:p>
        </p:txBody>
      </p:sp>
      <p:sp>
        <p:nvSpPr>
          <p:cNvPr id="11" name="Text 9"/>
          <p:cNvSpPr/>
          <p:nvPr/>
        </p:nvSpPr>
        <p:spPr>
          <a:xfrm>
            <a:off x="457200" y="2880233"/>
            <a:ext cx="4206240" cy="219456"/>
          </a:xfrm>
          <a:prstGeom prst="rect">
            <a:avLst/>
          </a:prstGeom>
          <a:noFill/>
        </p:spPr>
        <p:txBody>
          <a:bodyPr wrap="square" lIns="0" tIns="0" rIns="0" bIns="0" rtlCol="0" anchor="ctr"/>
          <a:lstStyle/>
          <a:p>
            <a:pPr marL="0" indent="0">
              <a:buNone/>
            </a:pPr>
            <a:r>
              <a:rPr lang="en-US" sz="1300" b="1" dirty="0">
                <a:solidFill>
                  <a:srgbClr val="1F2A5E"/>
                </a:solidFill>
              </a:rPr>
              <a:t>Summary-driven memory</a:t>
            </a:r>
            <a:endParaRPr lang="en-US" sz="1300" dirty="0"/>
          </a:p>
        </p:txBody>
      </p:sp>
      <p:sp>
        <p:nvSpPr>
          <p:cNvPr id="12" name="Text 10"/>
          <p:cNvSpPr/>
          <p:nvPr/>
        </p:nvSpPr>
        <p:spPr>
          <a:xfrm>
            <a:off x="457200" y="3117977"/>
            <a:ext cx="4206240" cy="1234440"/>
          </a:xfrm>
          <a:prstGeom prst="rect">
            <a:avLst/>
          </a:prstGeom>
          <a:noFill/>
        </p:spPr>
        <p:txBody>
          <a:bodyPr wrap="square" lIns="0" tIns="0" rIns="0" bIns="0" rtlCol="0" anchor="t"/>
          <a:lstStyle/>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After each chapter, the model also returns a summary → appended to CONTINUITY_SUMMARIES</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Recursive compression: summary growth rate ≪ text growth rate</a:t>
            </a:r>
            <a:endParaRPr lang="en-US" sz="1100" dirty="0"/>
          </a:p>
          <a:p>
            <a:pPr marL="342900" indent="-342900">
              <a:spcAft>
                <a:spcPts val="500"/>
              </a:spcAft>
              <a:buSzPct val="100000"/>
              <a:buChar char="●"/>
            </a:pPr>
            <a:r>
              <a:rPr lang="en-US" sz="1100" dirty="0">
                <a:solidFill>
                  <a:srgbClr val="242424"/>
                </a:solidFill>
                <a:latin typeface="Arial" panose="020B0604020202020204" pitchFamily="34" charset="0"/>
                <a:ea typeface="Arial" panose="020B0604020202020204" pitchFamily="34" charset="-122"/>
                <a:cs typeface="Arial" panose="020B0604020202020204" pitchFamily="34" charset="-120"/>
              </a:rPr>
              <a:t>OUTLINE_JSON = “future” view, CONTINUITY_SUMMARIES = “past” view — lightweight, no vector DB / external retrieval</a:t>
            </a:r>
            <a:endParaRPr lang="en-US" sz="1100" dirty="0"/>
          </a:p>
        </p:txBody>
      </p:sp>
      <p:sp>
        <p:nvSpPr>
          <p:cNvPr id="13" name="Shape 11"/>
          <p:cNvSpPr/>
          <p:nvPr/>
        </p:nvSpPr>
        <p:spPr>
          <a:xfrm>
            <a:off x="4819015" y="1815465"/>
            <a:ext cx="1691640" cy="338328"/>
          </a:xfrm>
          <a:prstGeom prst="rect">
            <a:avLst/>
          </a:prstGeom>
          <a:solidFill>
            <a:srgbClr val="F4F6FB"/>
          </a:solidFill>
          <a:ln w="9525">
            <a:solidFill>
              <a:srgbClr val="C9D2EE"/>
            </a:solidFill>
            <a:prstDash val="solid"/>
          </a:ln>
        </p:spPr>
      </p:sp>
      <p:sp>
        <p:nvSpPr>
          <p:cNvPr id="14" name="Text 12"/>
          <p:cNvSpPr/>
          <p:nvPr/>
        </p:nvSpPr>
        <p:spPr>
          <a:xfrm>
            <a:off x="4892167" y="1815465"/>
            <a:ext cx="1545336" cy="338328"/>
          </a:xfrm>
          <a:prstGeom prst="rect">
            <a:avLst/>
          </a:prstGeom>
          <a:noFill/>
        </p:spPr>
        <p:txBody>
          <a:bodyPr wrap="square" lIns="0" tIns="0" rIns="0" bIns="0" rtlCol="0" anchor="ctr"/>
          <a:lstStyle/>
          <a:p>
            <a:pPr marL="0" indent="0" algn="l">
              <a:lnSpc>
                <a:spcPct val="95000"/>
              </a:lnSpc>
              <a:buNone/>
            </a:pPr>
            <a:r>
              <a:rPr lang="en-US" sz="950" b="1" dirty="0">
                <a:solidFill>
                  <a:srgbClr val="1F2A5E"/>
                </a:solidFill>
              </a:rPr>
              <a:t>STORY_JSON</a:t>
            </a:r>
            <a:endParaRPr lang="en-US" sz="950" dirty="0"/>
          </a:p>
          <a:p>
            <a:pPr marL="0" indent="0" algn="l">
              <a:lnSpc>
                <a:spcPct val="95000"/>
              </a:lnSpc>
              <a:buNone/>
            </a:pPr>
            <a:r>
              <a:rPr lang="en-US" sz="800" i="1" dirty="0">
                <a:solidFill>
                  <a:srgbClr val="6B7280"/>
                </a:solidFill>
              </a:rPr>
              <a:t>setup, synopsis, style</a:t>
            </a:r>
            <a:endParaRPr lang="en-US" sz="950" dirty="0"/>
          </a:p>
        </p:txBody>
      </p:sp>
      <p:sp>
        <p:nvSpPr>
          <p:cNvPr id="15" name="Shape 13"/>
          <p:cNvSpPr/>
          <p:nvPr/>
        </p:nvSpPr>
        <p:spPr>
          <a:xfrm>
            <a:off x="4819015" y="2213229"/>
            <a:ext cx="1691640" cy="338328"/>
          </a:xfrm>
          <a:prstGeom prst="rect">
            <a:avLst/>
          </a:prstGeom>
          <a:solidFill>
            <a:srgbClr val="F4F6FB"/>
          </a:solidFill>
          <a:ln w="9525">
            <a:solidFill>
              <a:srgbClr val="C9D2EE"/>
            </a:solidFill>
            <a:prstDash val="solid"/>
          </a:ln>
        </p:spPr>
      </p:sp>
      <p:sp>
        <p:nvSpPr>
          <p:cNvPr id="16" name="Text 14"/>
          <p:cNvSpPr/>
          <p:nvPr/>
        </p:nvSpPr>
        <p:spPr>
          <a:xfrm>
            <a:off x="4892167" y="2213229"/>
            <a:ext cx="1545336" cy="338328"/>
          </a:xfrm>
          <a:prstGeom prst="rect">
            <a:avLst/>
          </a:prstGeom>
          <a:noFill/>
        </p:spPr>
        <p:txBody>
          <a:bodyPr wrap="square" lIns="0" tIns="0" rIns="0" bIns="0" rtlCol="0" anchor="ctr"/>
          <a:lstStyle/>
          <a:p>
            <a:pPr marL="0" indent="0" algn="l">
              <a:lnSpc>
                <a:spcPct val="95000"/>
              </a:lnSpc>
              <a:buNone/>
            </a:pPr>
            <a:r>
              <a:rPr lang="en-US" sz="950" b="1" dirty="0">
                <a:solidFill>
                  <a:srgbClr val="1F2A5E"/>
                </a:solidFill>
              </a:rPr>
              <a:t>OUTLINE_JSON</a:t>
            </a:r>
            <a:endParaRPr lang="en-US" sz="950" dirty="0"/>
          </a:p>
          <a:p>
            <a:pPr marL="0" indent="0" algn="l">
              <a:lnSpc>
                <a:spcPct val="95000"/>
              </a:lnSpc>
              <a:buNone/>
            </a:pPr>
            <a:r>
              <a:rPr lang="en-US" sz="800" i="1" dirty="0">
                <a:solidFill>
                  <a:srgbClr val="6B7280"/>
                </a:solidFill>
              </a:rPr>
              <a:t>global plan (“future”)</a:t>
            </a:r>
            <a:endParaRPr lang="en-US" sz="950" dirty="0"/>
          </a:p>
        </p:txBody>
      </p:sp>
      <p:sp>
        <p:nvSpPr>
          <p:cNvPr id="17" name="Shape 15"/>
          <p:cNvSpPr/>
          <p:nvPr/>
        </p:nvSpPr>
        <p:spPr>
          <a:xfrm>
            <a:off x="4819015" y="2610993"/>
            <a:ext cx="1691640" cy="338328"/>
          </a:xfrm>
          <a:prstGeom prst="rect">
            <a:avLst/>
          </a:prstGeom>
          <a:solidFill>
            <a:srgbClr val="E4E9F8"/>
          </a:solidFill>
          <a:ln w="15875">
            <a:solidFill>
              <a:srgbClr val="C98A2E"/>
            </a:solidFill>
            <a:prstDash val="solid"/>
          </a:ln>
        </p:spPr>
      </p:sp>
      <p:sp>
        <p:nvSpPr>
          <p:cNvPr id="18" name="Text 16"/>
          <p:cNvSpPr/>
          <p:nvPr/>
        </p:nvSpPr>
        <p:spPr>
          <a:xfrm>
            <a:off x="4892167" y="2610993"/>
            <a:ext cx="1545336" cy="338328"/>
          </a:xfrm>
          <a:prstGeom prst="rect">
            <a:avLst/>
          </a:prstGeom>
          <a:noFill/>
        </p:spPr>
        <p:txBody>
          <a:bodyPr wrap="square" lIns="0" tIns="0" rIns="0" bIns="0" rtlCol="0" anchor="ctr"/>
          <a:lstStyle/>
          <a:p>
            <a:pPr marL="0" indent="0" algn="l">
              <a:lnSpc>
                <a:spcPct val="95000"/>
              </a:lnSpc>
              <a:buNone/>
            </a:pPr>
            <a:r>
              <a:rPr lang="en-US" sz="950" b="1" dirty="0">
                <a:solidFill>
                  <a:srgbClr val="1F2A5E"/>
                </a:solidFill>
              </a:rPr>
              <a:t>CONTINUITY_SUMMARIES</a:t>
            </a:r>
            <a:endParaRPr lang="en-US" sz="950" dirty="0"/>
          </a:p>
          <a:p>
            <a:pPr marL="0" indent="0" algn="l">
              <a:lnSpc>
                <a:spcPct val="95000"/>
              </a:lnSpc>
              <a:buNone/>
            </a:pPr>
            <a:r>
              <a:rPr lang="en-US" sz="800" i="1" dirty="0">
                <a:solidFill>
                  <a:srgbClr val="6B7280"/>
                </a:solidFill>
              </a:rPr>
              <a:t>prior chapters (“past”)</a:t>
            </a:r>
            <a:endParaRPr lang="en-US" sz="950" dirty="0"/>
          </a:p>
        </p:txBody>
      </p:sp>
      <p:sp>
        <p:nvSpPr>
          <p:cNvPr id="19" name="Shape 17"/>
          <p:cNvSpPr/>
          <p:nvPr/>
        </p:nvSpPr>
        <p:spPr>
          <a:xfrm>
            <a:off x="4819015" y="3008757"/>
            <a:ext cx="1691640" cy="338328"/>
          </a:xfrm>
          <a:prstGeom prst="rect">
            <a:avLst/>
          </a:prstGeom>
          <a:solidFill>
            <a:srgbClr val="F4F6FB"/>
          </a:solidFill>
          <a:ln w="9525">
            <a:solidFill>
              <a:srgbClr val="C9D2EE"/>
            </a:solidFill>
            <a:prstDash val="solid"/>
          </a:ln>
        </p:spPr>
      </p:sp>
      <p:sp>
        <p:nvSpPr>
          <p:cNvPr id="20" name="Text 18"/>
          <p:cNvSpPr/>
          <p:nvPr/>
        </p:nvSpPr>
        <p:spPr>
          <a:xfrm>
            <a:off x="4892167" y="3008757"/>
            <a:ext cx="1545336" cy="338328"/>
          </a:xfrm>
          <a:prstGeom prst="rect">
            <a:avLst/>
          </a:prstGeom>
          <a:noFill/>
        </p:spPr>
        <p:txBody>
          <a:bodyPr wrap="square" lIns="0" tIns="0" rIns="0" bIns="0" rtlCol="0" anchor="ctr"/>
          <a:lstStyle/>
          <a:p>
            <a:pPr marL="0" indent="0" algn="l">
              <a:lnSpc>
                <a:spcPct val="95000"/>
              </a:lnSpc>
              <a:buNone/>
            </a:pPr>
            <a:r>
              <a:rPr lang="en-US" sz="950" b="1" dirty="0">
                <a:solidFill>
                  <a:srgbClr val="1F2A5E"/>
                </a:solidFill>
              </a:rPr>
              <a:t>CHAPTER_SPEC</a:t>
            </a:r>
            <a:endParaRPr lang="en-US" sz="950" dirty="0"/>
          </a:p>
          <a:p>
            <a:pPr marL="0" indent="0" algn="l">
              <a:lnSpc>
                <a:spcPct val="95000"/>
              </a:lnSpc>
              <a:buNone/>
            </a:pPr>
            <a:r>
              <a:rPr lang="en-US" sz="800" i="1" dirty="0">
                <a:solidFill>
                  <a:srgbClr val="6B7280"/>
                </a:solidFill>
              </a:rPr>
              <a:t>current-chapter brief</a:t>
            </a:r>
            <a:endParaRPr lang="en-US" sz="950" dirty="0"/>
          </a:p>
        </p:txBody>
      </p:sp>
      <p:sp>
        <p:nvSpPr>
          <p:cNvPr id="21" name="Shape 19"/>
          <p:cNvSpPr/>
          <p:nvPr/>
        </p:nvSpPr>
        <p:spPr>
          <a:xfrm>
            <a:off x="4819015" y="3406521"/>
            <a:ext cx="1691640" cy="338328"/>
          </a:xfrm>
          <a:prstGeom prst="rect">
            <a:avLst/>
          </a:prstGeom>
          <a:solidFill>
            <a:srgbClr val="F4F6FB"/>
          </a:solidFill>
          <a:ln w="9525">
            <a:solidFill>
              <a:srgbClr val="C9D2EE"/>
            </a:solidFill>
            <a:prstDash val="solid"/>
          </a:ln>
        </p:spPr>
      </p:sp>
      <p:sp>
        <p:nvSpPr>
          <p:cNvPr id="22" name="Text 20"/>
          <p:cNvSpPr/>
          <p:nvPr/>
        </p:nvSpPr>
        <p:spPr>
          <a:xfrm>
            <a:off x="4892167" y="3406521"/>
            <a:ext cx="1545336" cy="338328"/>
          </a:xfrm>
          <a:prstGeom prst="rect">
            <a:avLst/>
          </a:prstGeom>
          <a:noFill/>
        </p:spPr>
        <p:txBody>
          <a:bodyPr wrap="square" lIns="0" tIns="0" rIns="0" bIns="0" rtlCol="0" anchor="ctr"/>
          <a:lstStyle/>
          <a:p>
            <a:pPr marL="0" indent="0" algn="l">
              <a:lnSpc>
                <a:spcPct val="95000"/>
              </a:lnSpc>
              <a:buNone/>
            </a:pPr>
            <a:r>
              <a:rPr lang="en-US" sz="950" b="1" dirty="0">
                <a:solidFill>
                  <a:srgbClr val="1F2A5E"/>
                </a:solidFill>
              </a:rPr>
              <a:t>STORY_STYLE_GUIDANCE</a:t>
            </a:r>
            <a:endParaRPr lang="en-US" sz="950" dirty="0"/>
          </a:p>
          <a:p>
            <a:pPr marL="0" indent="0" algn="l">
              <a:lnSpc>
                <a:spcPct val="95000"/>
              </a:lnSpc>
              <a:buNone/>
            </a:pPr>
            <a:r>
              <a:rPr lang="en-US" sz="800" i="1" dirty="0">
                <a:solidFill>
                  <a:srgbClr val="6B7280"/>
                </a:solidFill>
              </a:rPr>
              <a:t>genre &amp; style rules</a:t>
            </a:r>
            <a:endParaRPr lang="en-US" sz="950" dirty="0"/>
          </a:p>
        </p:txBody>
      </p:sp>
      <p:sp>
        <p:nvSpPr>
          <p:cNvPr id="23" name="Shape 21"/>
          <p:cNvSpPr/>
          <p:nvPr/>
        </p:nvSpPr>
        <p:spPr>
          <a:xfrm>
            <a:off x="6510655" y="2780157"/>
            <a:ext cx="320040" cy="0"/>
          </a:xfrm>
          <a:prstGeom prst="line">
            <a:avLst/>
          </a:prstGeom>
          <a:noFill/>
          <a:ln w="19050">
            <a:solidFill>
              <a:srgbClr val="5E72B0"/>
            </a:solidFill>
            <a:prstDash val="solid"/>
            <a:tailEnd type="triangle"/>
          </a:ln>
        </p:spPr>
      </p:sp>
      <p:sp>
        <p:nvSpPr>
          <p:cNvPr id="24" name="Shape 22"/>
          <p:cNvSpPr/>
          <p:nvPr/>
        </p:nvSpPr>
        <p:spPr>
          <a:xfrm>
            <a:off x="6830695" y="2322957"/>
            <a:ext cx="2103120" cy="914400"/>
          </a:xfrm>
          <a:prstGeom prst="rect">
            <a:avLst/>
          </a:prstGeom>
          <a:solidFill>
            <a:srgbClr val="1F2A5E"/>
          </a:solidFill>
        </p:spPr>
      </p:sp>
      <p:sp>
        <p:nvSpPr>
          <p:cNvPr id="25" name="Text 23"/>
          <p:cNvSpPr/>
          <p:nvPr/>
        </p:nvSpPr>
        <p:spPr>
          <a:xfrm>
            <a:off x="6830695" y="2322957"/>
            <a:ext cx="2103120" cy="914400"/>
          </a:xfrm>
          <a:prstGeom prst="rect">
            <a:avLst/>
          </a:prstGeom>
          <a:noFill/>
        </p:spPr>
        <p:txBody>
          <a:bodyPr wrap="square" lIns="0" tIns="0" rIns="0" bIns="0" rtlCol="0" anchor="ctr"/>
          <a:lstStyle/>
          <a:p>
            <a:pPr marL="0" indent="0" algn="ctr">
              <a:buNone/>
            </a:pPr>
            <a:r>
              <a:rPr lang="en-US" sz="1250" b="1" dirty="0">
                <a:solidFill>
                  <a:srgbClr val="FFFFFF"/>
                </a:solidFill>
              </a:rPr>
              <a:t>Chapter N</a:t>
            </a:r>
            <a:endParaRPr lang="en-US" sz="1250" dirty="0"/>
          </a:p>
          <a:p>
            <a:pPr marL="0" indent="0" algn="ctr">
              <a:buNone/>
            </a:pPr>
            <a:r>
              <a:rPr lang="en-US" sz="1250" b="1" dirty="0">
                <a:solidFill>
                  <a:srgbClr val="FFFFFF"/>
                </a:solidFill>
              </a:rPr>
              <a:t>Text Generation</a:t>
            </a:r>
            <a:endParaRPr lang="en-US" sz="1250" dirty="0"/>
          </a:p>
        </p:txBody>
      </p:sp>
      <p:sp>
        <p:nvSpPr>
          <p:cNvPr id="26" name="Shape 24"/>
          <p:cNvSpPr/>
          <p:nvPr/>
        </p:nvSpPr>
        <p:spPr>
          <a:xfrm>
            <a:off x="7882255" y="3237357"/>
            <a:ext cx="0" cy="457200"/>
          </a:xfrm>
          <a:prstGeom prst="line">
            <a:avLst/>
          </a:prstGeom>
          <a:noFill/>
          <a:ln w="19050">
            <a:solidFill>
              <a:srgbClr val="C98A2E"/>
            </a:solidFill>
            <a:prstDash val="dash"/>
            <a:tailEnd type="triangle"/>
          </a:ln>
        </p:spPr>
      </p:sp>
      <p:sp>
        <p:nvSpPr>
          <p:cNvPr id="27" name="Text 25"/>
          <p:cNvSpPr/>
          <p:nvPr/>
        </p:nvSpPr>
        <p:spPr>
          <a:xfrm>
            <a:off x="4819015" y="3799713"/>
            <a:ext cx="4114800" cy="365760"/>
          </a:xfrm>
          <a:prstGeom prst="rect">
            <a:avLst/>
          </a:prstGeom>
          <a:noFill/>
        </p:spPr>
        <p:txBody>
          <a:bodyPr wrap="square" lIns="0" tIns="0" rIns="0" bIns="0" rtlCol="0" anchor="t"/>
          <a:lstStyle/>
          <a:p>
            <a:pPr marL="0" indent="0" algn="ctr">
              <a:buNone/>
            </a:pPr>
            <a:r>
              <a:rPr lang="en-US" sz="900" i="1" dirty="0">
                <a:solidFill>
                  <a:srgbClr val="C98A2E"/>
                </a:solidFill>
              </a:rPr>
              <a:t>Returns a chapter summary → feeds back into CONTINUITY_SUMMARIES for chapter N+1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57200" y="292100"/>
            <a:ext cx="82296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sz="1200" b="1" kern="0" spc="200" dirty="0">
                <a:solidFill>
                  <a:srgbClr val="415A9C"/>
                </a:solidFill>
                <a:latin typeface="Arial" panose="020B0604020202020204" pitchFamily="34" charset="0"/>
                <a:cs typeface="Arial" panose="020B0604020202020204" pitchFamily="34" charset="-120"/>
                <a:sym typeface="Noto Sans SC" panose="020B0200000000000000" charset="-122"/>
              </a:rPr>
              <a:t>02 SYSTEM ARCHITECTURE · IMAGE GENERATION</a:t>
            </a:r>
            <a:endParaRPr lang="en-US" sz="1200" b="1" kern="0" spc="200" dirty="0">
              <a:solidFill>
                <a:srgbClr val="415A9C"/>
              </a:solidFill>
              <a:latin typeface="Arial" panose="020B0604020202020204" pitchFamily="34" charset="0"/>
              <a:cs typeface="Arial" panose="020B0604020202020204" pitchFamily="34" charset="-120"/>
            </a:endParaRPr>
          </a:p>
        </p:txBody>
      </p:sp>
      <p:sp>
        <p:nvSpPr>
          <p:cNvPr id="3" name="AutoShape 3"/>
          <p:cNvSpPr/>
          <p:nvPr/>
        </p:nvSpPr>
        <p:spPr>
          <a:xfrm>
            <a:off x="457200" y="495300"/>
            <a:ext cx="8461717" cy="762000"/>
          </a:xfrm>
          <a:prstGeom prst="roundRect">
            <a:avLst>
              <a:gd name="adj" fmla="val 0"/>
            </a:avLst>
          </a:prstGeom>
          <a:noFill/>
          <a:ln w="25400" cap="flat" cmpd="sng">
            <a:noFill/>
            <a:prstDash val="solid"/>
            <a:round/>
          </a:ln>
        </p:spPr>
        <p:txBody>
          <a:bodyPr vert="horz" wrap="square" lIns="0" tIns="50800" rIns="0" bIns="50800" rtlCol="0" anchor="ctr" anchorCtr="0"/>
          <a:lstStyle/>
          <a:p>
            <a:pPr indent="0" algn="l">
              <a:lnSpc>
                <a:spcPct val="100000"/>
              </a:lnSpc>
              <a:defRPr/>
            </a:pPr>
            <a:r>
              <a:rPr lang="en-US" sz="2000" b="1" i="0" u="none" strike="noStrike" dirty="0">
                <a:solidFill>
                  <a:srgbClr val="242424"/>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 "Parse-Rewrite-Generate" Architecture for Visual Storytelling</a:t>
            </a:r>
            <a:endParaRPr lang="en-US" sz="2000" dirty="0">
              <a:latin typeface="Arial" panose="020B0604020202020204" pitchFamily="34" charset="0"/>
              <a:cs typeface="Arial" panose="020B0604020202020204" pitchFamily="34" charset="0"/>
            </a:endParaRPr>
          </a:p>
        </p:txBody>
      </p:sp>
      <p:sp>
        <p:nvSpPr>
          <p:cNvPr id="4" name="AutoShape 4"/>
          <p:cNvSpPr/>
          <p:nvPr/>
        </p:nvSpPr>
        <p:spPr>
          <a:xfrm>
            <a:off x="444500" y="1193800"/>
            <a:ext cx="42037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Design Philosophy</a:t>
            </a:r>
            <a:endParaRPr lang="en-US" sz="1100"/>
          </a:p>
        </p:txBody>
      </p:sp>
      <p:sp>
        <p:nvSpPr>
          <p:cNvPr id="5" name="AutoShape 5"/>
          <p:cNvSpPr/>
          <p:nvPr/>
        </p:nvSpPr>
        <p:spPr>
          <a:xfrm>
            <a:off x="457200" y="1479550"/>
            <a:ext cx="3606800" cy="781050"/>
          </a:xfrm>
          <a:prstGeom prst="roundRect">
            <a:avLst>
              <a:gd name="adj" fmla="val 0"/>
            </a:avLst>
          </a:prstGeom>
          <a:noFill/>
          <a:ln w="25400" cap="flat" cmpd="sng">
            <a:noFill/>
            <a:prstDash val="solid"/>
            <a:round/>
          </a:ln>
        </p:spPr>
        <p:txBody>
          <a:bodyPr vert="horz" wrap="square" lIns="0" tIns="50800" rIns="50800" bIns="50800" rtlCol="0" anchor="t" anchorCtr="0"/>
          <a:lstStyle/>
          <a:p>
            <a:pPr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The image generation module is a key link in the multimodal creation process. It follows the "Parse-Rewrite-Generate" principle to solve the problem of poor image generation caused by non-visual information in the original text.</a:t>
            </a:r>
            <a:endParaRPr lang="en-US" sz="1100"/>
          </a:p>
        </p:txBody>
      </p:sp>
      <p:sp>
        <p:nvSpPr>
          <p:cNvPr id="6" name="AutoShape 6"/>
          <p:cNvSpPr/>
          <p:nvPr/>
        </p:nvSpPr>
        <p:spPr>
          <a:xfrm>
            <a:off x="482600" y="2632075"/>
            <a:ext cx="42037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Workflow</a:t>
            </a:r>
            <a:endParaRPr lang="en-US" sz="1100"/>
          </a:p>
        </p:txBody>
      </p:sp>
      <p:sp>
        <p:nvSpPr>
          <p:cNvPr id="7" name="AutoShape 7"/>
          <p:cNvSpPr/>
          <p:nvPr/>
        </p:nvSpPr>
        <p:spPr>
          <a:xfrm>
            <a:off x="457200" y="2884487"/>
            <a:ext cx="2368550" cy="992188"/>
          </a:xfrm>
          <a:prstGeom prst="roundRect">
            <a:avLst>
              <a:gd name="adj" fmla="val 0"/>
            </a:avLst>
          </a:prstGeom>
          <a:noFill/>
          <a:ln w="25400" cap="flat" cmpd="sng">
            <a:noFill/>
            <a:prstDash val="solid"/>
            <a:round/>
          </a:ln>
        </p:spPr>
        <p:txBody>
          <a:bodyPr vert="horz" wrap="square" lIns="0" tIns="50800" rIns="50800" bIns="50800" rtlCol="0" anchor="t" anchorCtr="0"/>
          <a:lstStyle/>
          <a:p>
            <a:pPr marL="152400" indent="-152400" algn="l">
              <a:lnSpc>
                <a:spcPct val="108000"/>
              </a:lnSpc>
              <a:spcAft>
                <a:spcPts val="200"/>
              </a:spcAft>
              <a:buClr>
                <a:srgbClr val="374151"/>
              </a:buClr>
              <a:buChar char="•"/>
              <a:defRPr/>
            </a:pPr>
            <a:r>
              <a:rPr lang="en-US" sz="120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Information Input</a:t>
            </a:r>
            <a:endParaRPr lang="en-US" sz="1100" dirty="0"/>
          </a:p>
          <a:p>
            <a:pPr marL="152400" indent="-152400" algn="l">
              <a:lnSpc>
                <a:spcPct val="108000"/>
              </a:lnSpc>
              <a:spcAft>
                <a:spcPts val="200"/>
              </a:spcAft>
              <a:buClr>
                <a:srgbClr val="374151"/>
              </a:buClr>
              <a:buChar char="•"/>
            </a:pPr>
            <a:r>
              <a:rPr lang="en-US" sz="120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 Construction</a:t>
            </a:r>
          </a:p>
          <a:p>
            <a:pPr marL="152400" indent="-152400" algn="l">
              <a:lnSpc>
                <a:spcPct val="108000"/>
              </a:lnSpc>
              <a:spcAft>
                <a:spcPts val="200"/>
              </a:spcAft>
              <a:buClr>
                <a:srgbClr val="374151"/>
              </a:buClr>
              <a:buChar char="•"/>
            </a:pPr>
            <a:r>
              <a:rPr lang="en-US" sz="120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Invocation</a:t>
            </a:r>
          </a:p>
          <a:p>
            <a:pPr marL="152400" indent="-152400" algn="l">
              <a:lnSpc>
                <a:spcPct val="108000"/>
              </a:lnSpc>
              <a:buClr>
                <a:srgbClr val="374151"/>
              </a:buClr>
              <a:buChar char="•"/>
            </a:pPr>
            <a:r>
              <a:rPr lang="en-US" sz="120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 Presentation</a:t>
            </a:r>
          </a:p>
        </p:txBody>
      </p:sp>
      <p:sp>
        <p:nvSpPr>
          <p:cNvPr id="8" name="AutoShape 8"/>
          <p:cNvSpPr/>
          <p:nvPr/>
        </p:nvSpPr>
        <p:spPr>
          <a:xfrm>
            <a:off x="4882622" y="1346200"/>
            <a:ext cx="3797300" cy="457200"/>
          </a:xfrm>
          <a:prstGeom prst="roundRect">
            <a:avLst>
              <a:gd name="adj" fmla="val 0"/>
            </a:avLst>
          </a:prstGeom>
          <a:solidFill>
            <a:srgbClr val="F4F6FB">
              <a:alpha val="100000"/>
            </a:srgbClr>
          </a:solidFill>
          <a:ln w="12700" cap="flat" cmpd="sng">
            <a:solidFill>
              <a:srgbClr val="C9D2EE">
                <a:alpha val="100000"/>
              </a:srgbClr>
            </a:solidFill>
            <a:prstDash val="solid"/>
            <a:miter lim="10000000"/>
          </a:ln>
        </p:spPr>
        <p:txBody>
          <a:bodyPr vert="horz" wrap="square" lIns="0" tIns="0" rIns="0" bIns="0" rtlCol="0" anchor="ctr" anchorCtr="0"/>
          <a:lstStyle/>
          <a:p>
            <a:pPr algn="ctr">
              <a:defRPr/>
            </a:pPr>
            <a:endParaRPr/>
          </a:p>
        </p:txBody>
      </p:sp>
      <p:sp>
        <p:nvSpPr>
          <p:cNvPr id="9" name="AutoShape 9"/>
          <p:cNvSpPr/>
          <p:nvPr/>
        </p:nvSpPr>
        <p:spPr>
          <a:xfrm>
            <a:off x="4882622" y="1397000"/>
            <a:ext cx="3797300" cy="3429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2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Novel Content Input Layer</a:t>
            </a:r>
            <a:endParaRPr lang="en-US" sz="1100"/>
          </a:p>
        </p:txBody>
      </p:sp>
      <p:sp>
        <p:nvSpPr>
          <p:cNvPr id="10" name="AutoShape 10"/>
          <p:cNvSpPr/>
          <p:nvPr/>
        </p:nvSpPr>
        <p:spPr>
          <a:xfrm>
            <a:off x="4882622" y="2032000"/>
            <a:ext cx="3797300" cy="1016000"/>
          </a:xfrm>
          <a:prstGeom prst="roundRect">
            <a:avLst>
              <a:gd name="adj" fmla="val 0"/>
            </a:avLst>
          </a:prstGeom>
          <a:solidFill>
            <a:srgbClr val="1F2A5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4971522" y="2108200"/>
            <a:ext cx="36068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Model Coordination &amp; Execution Layer</a:t>
            </a:r>
            <a:endParaRPr lang="en-US" sz="1100"/>
          </a:p>
        </p:txBody>
      </p:sp>
      <p:sp>
        <p:nvSpPr>
          <p:cNvPr id="12" name="AutoShape 12"/>
          <p:cNvSpPr/>
          <p:nvPr/>
        </p:nvSpPr>
        <p:spPr>
          <a:xfrm>
            <a:off x="5009622" y="2463800"/>
            <a:ext cx="1079500" cy="508000"/>
          </a:xfrm>
          <a:prstGeom prst="roundRect">
            <a:avLst>
              <a:gd name="adj" fmla="val 0"/>
            </a:avLst>
          </a:prstGeom>
          <a:solidFill>
            <a:srgbClr val="8C9CD4">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5009622" y="2463800"/>
            <a:ext cx="10795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9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Visual Analysis</a:t>
            </a:r>
            <a:endParaRPr lang="en-US" sz="1100"/>
          </a:p>
        </p:txBody>
      </p:sp>
      <p:sp>
        <p:nvSpPr>
          <p:cNvPr id="14" name="AutoShape 14"/>
          <p:cNvSpPr/>
          <p:nvPr/>
        </p:nvSpPr>
        <p:spPr>
          <a:xfrm>
            <a:off x="6241522" y="2463800"/>
            <a:ext cx="1079500" cy="508000"/>
          </a:xfrm>
          <a:prstGeom prst="roundRect">
            <a:avLst>
              <a:gd name="adj" fmla="val 0"/>
            </a:avLst>
          </a:prstGeom>
          <a:solidFill>
            <a:srgbClr val="8C9CD4">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6241522" y="2463800"/>
            <a:ext cx="10795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9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Invocation</a:t>
            </a:r>
            <a:endParaRPr lang="en-US" sz="1100"/>
          </a:p>
        </p:txBody>
      </p:sp>
      <p:sp>
        <p:nvSpPr>
          <p:cNvPr id="16" name="AutoShape 16"/>
          <p:cNvSpPr/>
          <p:nvPr/>
        </p:nvSpPr>
        <p:spPr>
          <a:xfrm>
            <a:off x="7473422" y="2463800"/>
            <a:ext cx="1079500" cy="508000"/>
          </a:xfrm>
          <a:prstGeom prst="roundRect">
            <a:avLst>
              <a:gd name="adj" fmla="val 0"/>
            </a:avLst>
          </a:prstGeom>
          <a:solidFill>
            <a:srgbClr val="8C9CD4">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7473422" y="2463800"/>
            <a:ext cx="10795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9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Resource Management</a:t>
            </a:r>
            <a:endParaRPr lang="en-US" sz="1100"/>
          </a:p>
        </p:txBody>
      </p:sp>
      <p:sp>
        <p:nvSpPr>
          <p:cNvPr id="18" name="AutoShape 18"/>
          <p:cNvSpPr/>
          <p:nvPr/>
        </p:nvSpPr>
        <p:spPr>
          <a:xfrm>
            <a:off x="4882622" y="3273425"/>
            <a:ext cx="3797300" cy="406400"/>
          </a:xfrm>
          <a:prstGeom prst="roundRect">
            <a:avLst>
              <a:gd name="adj" fmla="val 0"/>
            </a:avLst>
          </a:prstGeom>
          <a:solidFill>
            <a:srgbClr val="F4F6FB">
              <a:alpha val="100000"/>
            </a:srgbClr>
          </a:solidFill>
          <a:ln w="12700" cap="flat" cmpd="sng">
            <a:solidFill>
              <a:srgbClr val="C9D2EE">
                <a:alpha val="100000"/>
              </a:srgbClr>
            </a:solidFill>
            <a:prstDash val="solid"/>
            <a:miter lim="10000000"/>
          </a:ln>
        </p:spPr>
        <p:txBody>
          <a:bodyPr vert="horz" wrap="square" lIns="0" tIns="0" rIns="0" bIns="0" rtlCol="0" anchor="ctr" anchorCtr="0"/>
          <a:lstStyle/>
          <a:p>
            <a:pPr algn="ctr">
              <a:defRPr/>
            </a:pPr>
            <a:endParaRPr/>
          </a:p>
        </p:txBody>
      </p:sp>
      <p:sp>
        <p:nvSpPr>
          <p:cNvPr id="19" name="AutoShape 19"/>
          <p:cNvSpPr/>
          <p:nvPr/>
        </p:nvSpPr>
        <p:spPr>
          <a:xfrm>
            <a:off x="4882622" y="3273425"/>
            <a:ext cx="3797300" cy="4064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2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User Interaction &amp; Preview Layer</a:t>
            </a:r>
            <a:endParaRPr lang="en-US" sz="1100"/>
          </a:p>
        </p:txBody>
      </p:sp>
      <p:sp>
        <p:nvSpPr>
          <p:cNvPr id="20" name="AutoShape 20"/>
          <p:cNvSpPr/>
          <p:nvPr/>
        </p:nvSpPr>
        <p:spPr>
          <a:xfrm>
            <a:off x="457200" y="3971925"/>
            <a:ext cx="3427432"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Image Generation Process</a:t>
            </a:r>
            <a:endParaRPr lang="en-US" sz="1100"/>
          </a:p>
        </p:txBody>
      </p:sp>
      <p:sp>
        <p:nvSpPr>
          <p:cNvPr id="21" name="AutoShape 21"/>
          <p:cNvSpPr/>
          <p:nvPr/>
        </p:nvSpPr>
        <p:spPr>
          <a:xfrm>
            <a:off x="457200" y="4352925"/>
            <a:ext cx="1333500" cy="457200"/>
          </a:xfrm>
          <a:prstGeom prst="roundRect">
            <a:avLst>
              <a:gd name="adj" fmla="val 0"/>
            </a:avLst>
          </a:prstGeom>
          <a:solidFill>
            <a:srgbClr val="E4E9F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457200" y="4352925"/>
            <a:ext cx="13335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2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Text Extraction</a:t>
            </a:r>
            <a:endParaRPr lang="en-US" sz="1100"/>
          </a:p>
        </p:txBody>
      </p:sp>
      <p:cxnSp>
        <p:nvCxnSpPr>
          <p:cNvPr id="23" name="Connector 23"/>
          <p:cNvCxnSpPr/>
          <p:nvPr/>
        </p:nvCxnSpPr>
        <p:spPr>
          <a:xfrm rot="-285818">
            <a:off x="1854464" y="4575175"/>
            <a:ext cx="152400" cy="12700"/>
          </a:xfrm>
          <a:prstGeom prst="line">
            <a:avLst/>
          </a:prstGeom>
          <a:solidFill>
            <a:srgbClr val="DEE0E3">
              <a:alpha val="100000"/>
            </a:srgbClr>
          </a:solidFill>
          <a:ln w="12700" cap="sq" cmpd="sng">
            <a:solidFill>
              <a:srgbClr val="5E72B0">
                <a:alpha val="100000"/>
              </a:srgbClr>
            </a:solidFill>
            <a:prstDash val="solid"/>
            <a:miter lim="10000000"/>
            <a:headEnd type="none" w="sm" len="sm"/>
            <a:tailEnd type="triangle" w="sm" len="sm"/>
          </a:ln>
        </p:spPr>
      </p:cxnSp>
      <p:sp>
        <p:nvSpPr>
          <p:cNvPr id="24" name="AutoShape 24"/>
          <p:cNvSpPr/>
          <p:nvPr/>
        </p:nvSpPr>
        <p:spPr>
          <a:xfrm>
            <a:off x="2070100" y="4352925"/>
            <a:ext cx="1333500" cy="457200"/>
          </a:xfrm>
          <a:prstGeom prst="roundRect">
            <a:avLst>
              <a:gd name="adj" fmla="val 0"/>
            </a:avLst>
          </a:prstGeom>
          <a:solidFill>
            <a:srgbClr val="E4E9F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5" name="AutoShape 25"/>
          <p:cNvSpPr/>
          <p:nvPr/>
        </p:nvSpPr>
        <p:spPr>
          <a:xfrm>
            <a:off x="2070100" y="4352925"/>
            <a:ext cx="13335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2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 Reconstruction</a:t>
            </a:r>
            <a:endParaRPr lang="en-US" sz="1100"/>
          </a:p>
        </p:txBody>
      </p:sp>
      <p:cxnSp>
        <p:nvCxnSpPr>
          <p:cNvPr id="26" name="Connector 26"/>
          <p:cNvCxnSpPr/>
          <p:nvPr/>
        </p:nvCxnSpPr>
        <p:spPr>
          <a:xfrm rot="-285818">
            <a:off x="3467364" y="4575175"/>
            <a:ext cx="152400" cy="12700"/>
          </a:xfrm>
          <a:prstGeom prst="line">
            <a:avLst/>
          </a:prstGeom>
          <a:solidFill>
            <a:srgbClr val="DEE0E3">
              <a:alpha val="100000"/>
            </a:srgbClr>
          </a:solidFill>
          <a:ln w="12700" cap="sq" cmpd="sng">
            <a:solidFill>
              <a:srgbClr val="5E72B0">
                <a:alpha val="100000"/>
              </a:srgbClr>
            </a:solidFill>
            <a:prstDash val="solid"/>
            <a:miter lim="10000000"/>
            <a:headEnd type="none" w="sm" len="sm"/>
            <a:tailEnd type="triangle" w="sm" len="sm"/>
          </a:ln>
        </p:spPr>
      </p:cxnSp>
      <p:sp>
        <p:nvSpPr>
          <p:cNvPr id="27" name="AutoShape 27"/>
          <p:cNvSpPr/>
          <p:nvPr/>
        </p:nvSpPr>
        <p:spPr>
          <a:xfrm>
            <a:off x="3683000" y="4352925"/>
            <a:ext cx="1333500" cy="457200"/>
          </a:xfrm>
          <a:prstGeom prst="roundRect">
            <a:avLst>
              <a:gd name="adj" fmla="val 0"/>
            </a:avLst>
          </a:prstGeom>
          <a:solidFill>
            <a:srgbClr val="1F2A5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28"/>
          <p:cNvSpPr/>
          <p:nvPr/>
        </p:nvSpPr>
        <p:spPr>
          <a:xfrm>
            <a:off x="3683000" y="4352925"/>
            <a:ext cx="13335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Inference</a:t>
            </a:r>
            <a:endParaRPr lang="en-US" sz="1100"/>
          </a:p>
        </p:txBody>
      </p:sp>
      <p:cxnSp>
        <p:nvCxnSpPr>
          <p:cNvPr id="29" name="Connector 29"/>
          <p:cNvCxnSpPr/>
          <p:nvPr/>
        </p:nvCxnSpPr>
        <p:spPr>
          <a:xfrm rot="-285818">
            <a:off x="5080264" y="4575175"/>
            <a:ext cx="152400" cy="12700"/>
          </a:xfrm>
          <a:prstGeom prst="line">
            <a:avLst/>
          </a:prstGeom>
          <a:solidFill>
            <a:srgbClr val="DEE0E3">
              <a:alpha val="100000"/>
            </a:srgbClr>
          </a:solidFill>
          <a:ln w="12700" cap="sq" cmpd="sng">
            <a:solidFill>
              <a:srgbClr val="5E72B0">
                <a:alpha val="100000"/>
              </a:srgbClr>
            </a:solidFill>
            <a:prstDash val="solid"/>
            <a:miter lim="10000000"/>
            <a:headEnd type="none" w="sm" len="sm"/>
            <a:tailEnd type="triangle" w="sm" len="sm"/>
          </a:ln>
        </p:spPr>
      </p:cxnSp>
      <p:sp>
        <p:nvSpPr>
          <p:cNvPr id="30" name="AutoShape 30"/>
          <p:cNvSpPr/>
          <p:nvPr/>
        </p:nvSpPr>
        <p:spPr>
          <a:xfrm>
            <a:off x="5295900" y="4352925"/>
            <a:ext cx="1333500" cy="457200"/>
          </a:xfrm>
          <a:prstGeom prst="roundRect">
            <a:avLst>
              <a:gd name="adj" fmla="val 0"/>
            </a:avLst>
          </a:prstGeom>
          <a:solidFill>
            <a:srgbClr val="E4E9F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1" name="AutoShape 31"/>
          <p:cNvSpPr/>
          <p:nvPr/>
        </p:nvSpPr>
        <p:spPr>
          <a:xfrm>
            <a:off x="5295900" y="4352925"/>
            <a:ext cx="13335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2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 Refinement</a:t>
            </a:r>
            <a:endParaRPr lang="en-US" sz="1100"/>
          </a:p>
        </p:txBody>
      </p:sp>
      <p:cxnSp>
        <p:nvCxnSpPr>
          <p:cNvPr id="32" name="Connector 32"/>
          <p:cNvCxnSpPr/>
          <p:nvPr/>
        </p:nvCxnSpPr>
        <p:spPr>
          <a:xfrm rot="-285818">
            <a:off x="6702689" y="4575175"/>
            <a:ext cx="152400" cy="12700"/>
          </a:xfrm>
          <a:prstGeom prst="line">
            <a:avLst/>
          </a:prstGeom>
          <a:solidFill>
            <a:srgbClr val="DEE0E3">
              <a:alpha val="100000"/>
            </a:srgbClr>
          </a:solidFill>
          <a:ln w="12700" cap="sq" cmpd="sng">
            <a:solidFill>
              <a:srgbClr val="5E72B0">
                <a:alpha val="100000"/>
              </a:srgbClr>
            </a:solidFill>
            <a:prstDash val="solid"/>
            <a:miter lim="10000000"/>
            <a:headEnd type="none" w="sm" len="sm"/>
            <a:tailEnd type="triangle" w="sm" len="sm"/>
          </a:ln>
        </p:spPr>
      </p:cxnSp>
      <p:sp>
        <p:nvSpPr>
          <p:cNvPr id="33" name="AutoShape 33"/>
          <p:cNvSpPr/>
          <p:nvPr/>
        </p:nvSpPr>
        <p:spPr>
          <a:xfrm>
            <a:off x="6918325" y="4352925"/>
            <a:ext cx="1333500" cy="457200"/>
          </a:xfrm>
          <a:prstGeom prst="roundRect">
            <a:avLst>
              <a:gd name="adj" fmla="val 0"/>
            </a:avLst>
          </a:prstGeom>
          <a:solidFill>
            <a:srgbClr val="E4E9F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4" name="AutoShape 34"/>
          <p:cNvSpPr/>
          <p:nvPr/>
        </p:nvSpPr>
        <p:spPr>
          <a:xfrm>
            <a:off x="6918325" y="4352925"/>
            <a:ext cx="13335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2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 Storage</a:t>
            </a:r>
            <a:endParaRPr lang="en-US" sz="1100"/>
          </a:p>
        </p:txBody>
      </p:sp>
      <p:sp>
        <p:nvSpPr>
          <p:cNvPr id="35" name="Shape 0"/>
          <p:cNvSpPr/>
          <p:nvPr/>
        </p:nvSpPr>
        <p:spPr>
          <a:xfrm>
            <a:off x="8641080" y="-91440"/>
            <a:ext cx="594360" cy="411480"/>
          </a:xfrm>
          <a:prstGeom prst="rect">
            <a:avLst/>
          </a:prstGeom>
          <a:solidFill>
            <a:srgbClr val="1F2A5E"/>
          </a:solidFill>
        </p:spPr>
      </p:sp>
      <p:sp>
        <p:nvSpPr>
          <p:cNvPr id="36" name="Shape 1"/>
          <p:cNvSpPr/>
          <p:nvPr/>
        </p:nvSpPr>
        <p:spPr>
          <a:xfrm>
            <a:off x="8183880" y="164592"/>
            <a:ext cx="548640" cy="365760"/>
          </a:xfrm>
          <a:prstGeom prst="rect">
            <a:avLst/>
          </a:prstGeom>
          <a:solidFill>
            <a:srgbClr val="8C9CD4">
              <a:alpha val="85000"/>
            </a:srgbClr>
          </a:solid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636000" y="-88900"/>
            <a:ext cx="596900" cy="406400"/>
          </a:xfrm>
          <a:prstGeom prst="roundRect">
            <a:avLst>
              <a:gd name="adj" fmla="val 0"/>
            </a:avLst>
          </a:prstGeom>
          <a:solidFill>
            <a:srgbClr val="1F2A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178800" y="165100"/>
            <a:ext cx="546100" cy="368300"/>
          </a:xfrm>
          <a:prstGeom prst="roundRect">
            <a:avLst>
              <a:gd name="adj" fmla="val 0"/>
            </a:avLst>
          </a:prstGeom>
          <a:solidFill>
            <a:srgbClr val="8C9CD4">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4178300"/>
            <a:ext cx="1828800" cy="965200"/>
          </a:xfrm>
          <a:prstGeom prst="triangle">
            <a:avLst>
              <a:gd name="adj" fmla="val 50000"/>
            </a:avLst>
          </a:prstGeom>
          <a:solidFill>
            <a:srgbClr val="E4E9F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57200" y="292100"/>
            <a:ext cx="82296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200" b="1" kern="0" spc="200" dirty="0">
                <a:solidFill>
                  <a:srgbClr val="415A9C"/>
                </a:solidFill>
                <a:latin typeface="Arial" panose="020B0604020202020204" pitchFamily="34" charset="0"/>
                <a:cs typeface="Arial" panose="020B0604020202020204" pitchFamily="34" charset="-120"/>
                <a:sym typeface="Noto Sans SC" panose="020B0200000000000000" charset="-122"/>
              </a:rPr>
              <a:t>02</a:t>
            </a:r>
            <a:r>
              <a:rPr lang="en-US" sz="1000" b="1" i="0" u="none" strike="noStrike" spc="50" dirty="0">
                <a:solidFill>
                  <a:srgbClr val="415A9C"/>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kern="0" spc="200" dirty="0">
                <a:solidFill>
                  <a:srgbClr val="415A9C"/>
                </a:solidFill>
                <a:latin typeface="Arial" panose="020B0604020202020204" pitchFamily="34" charset="0"/>
                <a:cs typeface="Arial" panose="020B0604020202020204" pitchFamily="34" charset="-120"/>
                <a:sym typeface="Noto Sans SC" panose="020B0200000000000000" charset="-122"/>
              </a:rPr>
              <a:t>SYSTEM</a:t>
            </a:r>
            <a:r>
              <a:rPr lang="en-US" sz="1000" b="1" i="0" u="none" strike="noStrike" spc="50" dirty="0">
                <a:solidFill>
                  <a:srgbClr val="415A9C"/>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kern="0" spc="200" dirty="0">
                <a:solidFill>
                  <a:srgbClr val="415A9C"/>
                </a:solidFill>
                <a:latin typeface="Arial" panose="020B0604020202020204" pitchFamily="34" charset="0"/>
                <a:cs typeface="Arial" panose="020B0604020202020204" pitchFamily="34" charset="-120"/>
                <a:sym typeface="Noto Sans SC" panose="020B0200000000000000" charset="-122"/>
              </a:rPr>
              <a:t>ARCHITECTURE · IMAGE GENERATION</a:t>
            </a:r>
            <a:endParaRPr lang="en-US" sz="1200" b="1" kern="0" spc="200" dirty="0">
              <a:solidFill>
                <a:srgbClr val="415A9C"/>
              </a:solidFill>
              <a:latin typeface="Arial" panose="020B0604020202020204" pitchFamily="34" charset="0"/>
              <a:cs typeface="Arial" panose="020B0604020202020204" pitchFamily="34" charset="-120"/>
            </a:endParaRPr>
          </a:p>
        </p:txBody>
      </p:sp>
      <p:sp>
        <p:nvSpPr>
          <p:cNvPr id="6" name="AutoShape 6"/>
          <p:cNvSpPr/>
          <p:nvPr/>
        </p:nvSpPr>
        <p:spPr>
          <a:xfrm>
            <a:off x="457200" y="571500"/>
            <a:ext cx="8229600" cy="2286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92000"/>
              </a:lnSpc>
              <a:defRPr/>
            </a:pPr>
            <a:r>
              <a:rPr lang="en-US" sz="2000" b="1" i="0" u="none" strike="noStrike" dirty="0">
                <a:solidFill>
                  <a:srgbClr val="242424"/>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Dual-Workflow Design: Character Consistency &amp; Scene Illustration</a:t>
            </a:r>
            <a:endParaRPr lang="en-US" sz="2000" dirty="0">
              <a:latin typeface="Arial" panose="020B0604020202020204" pitchFamily="34" charset="0"/>
              <a:cs typeface="Arial" panose="020B0604020202020204" pitchFamily="34" charset="0"/>
            </a:endParaRPr>
          </a:p>
        </p:txBody>
      </p:sp>
      <p:sp>
        <p:nvSpPr>
          <p:cNvPr id="7" name="AutoShape 7"/>
          <p:cNvSpPr/>
          <p:nvPr/>
        </p:nvSpPr>
        <p:spPr>
          <a:xfrm>
            <a:off x="406400" y="1028700"/>
            <a:ext cx="8229600" cy="965200"/>
          </a:xfrm>
          <a:prstGeom prst="roundRect">
            <a:avLst>
              <a:gd name="adj" fmla="val 0"/>
            </a:avLst>
          </a:prstGeom>
          <a:solidFill>
            <a:srgbClr val="E4E9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84200" y="1092200"/>
            <a:ext cx="78613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Function Overview</a:t>
            </a:r>
            <a:endParaRPr lang="en-US" sz="1100"/>
          </a:p>
        </p:txBody>
      </p:sp>
      <p:sp>
        <p:nvSpPr>
          <p:cNvPr id="9" name="AutoShape 9"/>
          <p:cNvSpPr/>
          <p:nvPr/>
        </p:nvSpPr>
        <p:spPr>
          <a:xfrm>
            <a:off x="584200" y="1371600"/>
            <a:ext cx="7861300" cy="6223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The module contains two core workflows: character tri-view generation and chapter illustration generation, which collectively enhance the novel's narrative expressiveness.</a:t>
            </a:r>
            <a:endParaRPr lang="en-US" sz="1100"/>
          </a:p>
        </p:txBody>
      </p:sp>
      <p:sp>
        <p:nvSpPr>
          <p:cNvPr id="10" name="AutoShape 10"/>
          <p:cNvSpPr/>
          <p:nvPr/>
        </p:nvSpPr>
        <p:spPr>
          <a:xfrm>
            <a:off x="584200" y="2171700"/>
            <a:ext cx="3559583" cy="1943100"/>
          </a:xfrm>
          <a:prstGeom prst="roundRect">
            <a:avLst>
              <a:gd name="adj" fmla="val 0"/>
            </a:avLst>
          </a:prstGeom>
          <a:solidFill>
            <a:srgbClr val="F4F6FB">
              <a:alpha val="100000"/>
            </a:srgbClr>
          </a:solidFill>
          <a:ln w="25400" cap="flat" cmpd="sng">
            <a:noFill/>
            <a:prstDash val="solid"/>
            <a:round/>
          </a:ln>
          <a:effectLst>
            <a:outerShdw blurRad="50800" dist="25400" dir="5400000" algn="bl" rotWithShape="0">
              <a:srgbClr val="000000">
                <a:alpha val="12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584200" y="2171700"/>
            <a:ext cx="3559583" cy="368300"/>
          </a:xfrm>
          <a:prstGeom prst="roundRect">
            <a:avLst>
              <a:gd name="adj" fmla="val 0"/>
            </a:avLst>
          </a:prstGeom>
          <a:solidFill>
            <a:srgbClr val="1F2A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84200" y="2171700"/>
            <a:ext cx="3559583"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CHARACTER TRI-VIEWS</a:t>
            </a:r>
            <a:endParaRPr lang="en-US" sz="1100"/>
          </a:p>
        </p:txBody>
      </p:sp>
      <p:sp>
        <p:nvSpPr>
          <p:cNvPr id="13" name="AutoShape 13"/>
          <p:cNvSpPr/>
          <p:nvPr/>
        </p:nvSpPr>
        <p:spPr>
          <a:xfrm>
            <a:off x="4646901" y="2171700"/>
            <a:ext cx="3641048" cy="1943100"/>
          </a:xfrm>
          <a:prstGeom prst="roundRect">
            <a:avLst>
              <a:gd name="adj" fmla="val 0"/>
            </a:avLst>
          </a:prstGeom>
          <a:solidFill>
            <a:srgbClr val="F4F6FB">
              <a:alpha val="100000"/>
            </a:srgbClr>
          </a:solidFill>
          <a:ln w="25400" cap="flat" cmpd="sng">
            <a:noFill/>
            <a:prstDash val="solid"/>
            <a:round/>
          </a:ln>
          <a:effectLst>
            <a:outerShdw blurRad="50800" dist="25400" dir="5400000" algn="bl" rotWithShape="0">
              <a:srgbClr val="000000">
                <a:alpha val="12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4646901" y="2171700"/>
            <a:ext cx="3685498" cy="368300"/>
          </a:xfrm>
          <a:prstGeom prst="roundRect">
            <a:avLst>
              <a:gd name="adj" fmla="val 0"/>
            </a:avLst>
          </a:prstGeom>
          <a:solidFill>
            <a:srgbClr val="1F2A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646901" y="2171700"/>
            <a:ext cx="3641048"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92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CHAPTER ILLUSTRATIONS</a:t>
            </a:r>
            <a:endParaRPr lang="en-US" sz="1100"/>
          </a:p>
        </p:txBody>
      </p:sp>
      <p:sp>
        <p:nvSpPr>
          <p:cNvPr id="16" name="AutoShape 16"/>
          <p:cNvSpPr/>
          <p:nvPr/>
        </p:nvSpPr>
        <p:spPr>
          <a:xfrm>
            <a:off x="457200" y="4356100"/>
            <a:ext cx="8229600" cy="419100"/>
          </a:xfrm>
          <a:prstGeom prst="roundRect">
            <a:avLst>
              <a:gd name="adj" fmla="val 0"/>
            </a:avLst>
          </a:prstGeom>
          <a:solidFill>
            <a:srgbClr val="1F2A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35000" y="4381500"/>
            <a:ext cx="78613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E4E9F8"/>
                </a:solidFill>
                <a:latin typeface="Noto Sans SC" panose="020B0200000000000000" charset="-122"/>
                <a:ea typeface="Noto Sans SC" panose="020B0200000000000000" charset="-122"/>
                <a:cs typeface="Noto Sans SC" panose="020B0200000000000000" charset="-122"/>
                <a:sym typeface="Noto Sans SC" panose="020B0200000000000000" charset="-122"/>
              </a:rPr>
              <a:t>Credibility, Immersion, Seamless Transition.</a:t>
            </a:r>
            <a:endParaRPr lang="en-US" sz="1100"/>
          </a:p>
        </p:txBody>
      </p:sp>
      <p:pic>
        <p:nvPicPr>
          <p:cNvPr id="18" name="Picture 18"/>
          <p:cNvPicPr>
            <a:picLocks noChangeAspect="1"/>
          </p:cNvPicPr>
          <p:nvPr/>
        </p:nvPicPr>
        <p:blipFill>
          <a:blip r:embed="rId3"/>
          <a:stretch>
            <a:fillRect/>
          </a:stretch>
        </p:blipFill>
        <p:spPr>
          <a:xfrm>
            <a:off x="4851388" y="2566018"/>
            <a:ext cx="3205306" cy="1523382"/>
          </a:xfrm>
          <a:prstGeom prst="rect">
            <a:avLst/>
          </a:prstGeom>
          <a:ln w="12700">
            <a:noFill/>
            <a:prstDash val="solid"/>
          </a:ln>
        </p:spPr>
      </p:pic>
      <p:pic>
        <p:nvPicPr>
          <p:cNvPr id="19" name="Picture 19"/>
          <p:cNvPicPr>
            <a:picLocks noChangeAspect="1"/>
          </p:cNvPicPr>
          <p:nvPr/>
        </p:nvPicPr>
        <p:blipFill>
          <a:blip r:embed="rId4"/>
          <a:stretch>
            <a:fillRect/>
          </a:stretch>
        </p:blipFill>
        <p:spPr>
          <a:xfrm>
            <a:off x="928859" y="2571750"/>
            <a:ext cx="2767479" cy="1517650"/>
          </a:xfrm>
          <a:prstGeom prst="rect">
            <a:avLst/>
          </a:prstGeom>
          <a:ln w="12700">
            <a:noFill/>
            <a:prstDash val="soli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5144400"/>
          </a:xfrm>
          <a:prstGeom prst="rect">
            <a:avLst/>
          </a:prstGeom>
          <a:solidFill>
            <a:srgbClr val="FFFFFF"/>
          </a:solidFill>
        </p:spPr>
      </p:sp>
      <p:sp>
        <p:nvSpPr>
          <p:cNvPr id="11" name="Text 1"/>
          <p:cNvSpPr/>
          <p:nvPr/>
        </p:nvSpPr>
        <p:spPr>
          <a:xfrm>
            <a:off x="597515" y="319568"/>
            <a:ext cx="6624085" cy="467995"/>
          </a:xfrm>
          <a:prstGeom prst="rect">
            <a:avLst/>
          </a:prstGeom>
          <a:noFill/>
        </p:spPr>
        <p:txBody>
          <a:bodyPr wrap="square" lIns="0" tIns="0" rIns="0" bIns="0" rtlCol="0" anchor="ctr"/>
          <a:lstStyle/>
          <a:p>
            <a:pPr marL="0" indent="0" algn="l">
              <a:buNone/>
            </a:pPr>
            <a:r>
              <a:rPr lang="en-US" sz="2000" b="1" dirty="0">
                <a:solidFill>
                  <a:srgbClr val="100F0D"/>
                </a:solidFill>
                <a:latin typeface="Arial" panose="020B0604020202020204" pitchFamily="34" charset="0"/>
                <a:ea typeface="黑体" panose="02010609060101010101" charset="-122"/>
                <a:cs typeface="Arial" panose="020B0604020202020204" pitchFamily="34" charset="0"/>
              </a:rPr>
              <a:t>Audio Generation Submodule Implementation</a:t>
            </a:r>
          </a:p>
        </p:txBody>
      </p:sp>
      <p:sp>
        <p:nvSpPr>
          <p:cNvPr id="13" name="Shape 3"/>
          <p:cNvSpPr/>
          <p:nvPr/>
        </p:nvSpPr>
        <p:spPr>
          <a:xfrm>
            <a:off x="601200" y="835200"/>
            <a:ext cx="3240000" cy="1098000"/>
          </a:xfrm>
          <a:prstGeom prst="roundRect">
            <a:avLst>
              <a:gd name="adj" fmla="val 4627"/>
            </a:avLst>
          </a:prstGeom>
          <a:solidFill>
            <a:srgbClr val="E3E6EF"/>
          </a:solidFill>
        </p:spPr>
      </p:sp>
      <p:sp>
        <p:nvSpPr>
          <p:cNvPr id="14" name="Shape 4"/>
          <p:cNvSpPr/>
          <p:nvPr/>
        </p:nvSpPr>
        <p:spPr>
          <a:xfrm>
            <a:off x="705600" y="1198800"/>
            <a:ext cx="374400" cy="374400"/>
          </a:xfrm>
          <a:prstGeom prst="roundRect">
            <a:avLst>
              <a:gd name="adj" fmla="val 244231"/>
            </a:avLst>
          </a:prstGeom>
          <a:solidFill>
            <a:srgbClr val="072467"/>
          </a:solidFill>
        </p:spPr>
      </p:sp>
      <p:pic>
        <p:nvPicPr>
          <p:cNvPr id="15" name="Image 7" descr="/var/deepdoc/convert/public/a4cfed43b0fd07bbc499daba0021cb5b/images/background_bg-element-d6lpgu3dn.png"/>
          <p:cNvPicPr>
            <a:picLocks noChangeAspect="1"/>
          </p:cNvPicPr>
          <p:nvPr/>
        </p:nvPicPr>
        <p:blipFill>
          <a:blip r:embed="rId3"/>
          <a:stretch>
            <a:fillRect/>
          </a:stretch>
        </p:blipFill>
        <p:spPr>
          <a:xfrm>
            <a:off x="806400" y="1296000"/>
            <a:ext cx="172800" cy="172800"/>
          </a:xfrm>
          <a:prstGeom prst="rect">
            <a:avLst/>
          </a:prstGeom>
        </p:spPr>
      </p:pic>
      <p:sp>
        <p:nvSpPr>
          <p:cNvPr id="16" name="Text 5"/>
          <p:cNvSpPr/>
          <p:nvPr/>
        </p:nvSpPr>
        <p:spPr>
          <a:xfrm>
            <a:off x="1738745" y="931015"/>
            <a:ext cx="435600" cy="108000"/>
          </a:xfrm>
          <a:prstGeom prst="rect">
            <a:avLst/>
          </a:prstGeom>
          <a:noFill/>
        </p:spPr>
        <p:txBody>
          <a:bodyPr wrap="none" lIns="0" tIns="0" rIns="0" bIns="0" rtlCol="0" anchor="ctr"/>
          <a:lstStyle/>
          <a:p>
            <a:pPr marL="0" indent="0" algn="ctr">
              <a:buNone/>
            </a:pPr>
            <a:r>
              <a:rPr lang="en-US" sz="1200" b="1" dirty="0">
                <a:solidFill>
                  <a:srgbClr val="1E1E1E"/>
                </a:solidFill>
                <a:latin typeface="黑体" panose="02010609060101010101" charset="-122"/>
                <a:ea typeface="黑体" panose="02010609060101010101" charset="-122"/>
                <a:cs typeface="黑体" panose="02010609060101010101" pitchFamily="34" charset="-120"/>
              </a:rPr>
              <a:t>MusicGen &amp; AudioGen</a:t>
            </a:r>
          </a:p>
        </p:txBody>
      </p:sp>
      <p:sp>
        <p:nvSpPr>
          <p:cNvPr id="17" name="Text 6"/>
          <p:cNvSpPr/>
          <p:nvPr/>
        </p:nvSpPr>
        <p:spPr>
          <a:xfrm>
            <a:off x="1418705" y="1164965"/>
            <a:ext cx="651600" cy="54000"/>
          </a:xfrm>
          <a:prstGeom prst="rect">
            <a:avLst/>
          </a:prstGeom>
          <a:noFill/>
        </p:spPr>
        <p:txBody>
          <a:bodyPr wrap="none" lIns="0" tIns="0" rIns="0" bIns="0" rtlCol="0" anchor="ctr"/>
          <a:lstStyle/>
          <a:p>
            <a:pPr marL="0" indent="0" algn="ctr">
              <a:buNone/>
            </a:pPr>
            <a:r>
              <a:rPr lang="en-US" sz="600" dirty="0">
                <a:solidFill>
                  <a:srgbClr val="666666"/>
                </a:solidFill>
                <a:latin typeface="黑体" panose="02010609060101010101" charset="-122"/>
                <a:ea typeface="黑体" panose="02010609060101010101" charset="-122"/>
                <a:cs typeface="黑体" panose="02010609060101010101" pitchFamily="34" charset="-120"/>
              </a:rPr>
              <a:t>300M Parameters · Meta 2023</a:t>
            </a:r>
          </a:p>
        </p:txBody>
      </p:sp>
      <p:sp>
        <p:nvSpPr>
          <p:cNvPr id="18" name="Text 7"/>
          <p:cNvSpPr/>
          <p:nvPr/>
        </p:nvSpPr>
        <p:spPr>
          <a:xfrm>
            <a:off x="1162800" y="1375200"/>
            <a:ext cx="2343600" cy="68400"/>
          </a:xfrm>
          <a:prstGeom prst="rect">
            <a:avLst/>
          </a:prstGeom>
          <a:noFill/>
        </p:spPr>
        <p:txBody>
          <a:bodyPr wrap="none" lIns="0" tIns="0" rIns="0" bIns="0" rtlCol="0" anchor="ctr"/>
          <a:lstStyle/>
          <a:p>
            <a:pPr marL="0" indent="0" algn="ctr">
              <a:buNone/>
            </a:pPr>
            <a:endParaRPr lang="en-US" sz="400" dirty="0"/>
          </a:p>
        </p:txBody>
      </p:sp>
      <p:sp>
        <p:nvSpPr>
          <p:cNvPr id="19" name="Text 8"/>
          <p:cNvSpPr/>
          <p:nvPr/>
        </p:nvSpPr>
        <p:spPr>
          <a:xfrm>
            <a:off x="1162800" y="1461600"/>
            <a:ext cx="2527200" cy="68400"/>
          </a:xfrm>
          <a:prstGeom prst="rect">
            <a:avLst/>
          </a:prstGeom>
          <a:noFill/>
        </p:spPr>
        <p:txBody>
          <a:bodyPr wrap="none" lIns="0" tIns="0" rIns="0" bIns="0" rtlCol="0" anchor="ctr"/>
          <a:lstStyle/>
          <a:p>
            <a:pPr marL="0" indent="0" algn="ctr">
              <a:buNone/>
            </a:pPr>
            <a:endParaRPr lang="en-US" sz="400" dirty="0"/>
          </a:p>
        </p:txBody>
      </p:sp>
      <p:sp>
        <p:nvSpPr>
          <p:cNvPr id="20" name="Text 9"/>
          <p:cNvSpPr/>
          <p:nvPr/>
        </p:nvSpPr>
        <p:spPr>
          <a:xfrm>
            <a:off x="1162800" y="1551600"/>
            <a:ext cx="1137600" cy="68400"/>
          </a:xfrm>
          <a:prstGeom prst="rect">
            <a:avLst/>
          </a:prstGeom>
          <a:noFill/>
        </p:spPr>
        <p:txBody>
          <a:bodyPr wrap="none" lIns="0" tIns="0" rIns="0" bIns="0" rtlCol="0" anchor="ctr"/>
          <a:lstStyle/>
          <a:p>
            <a:pPr marL="0" indent="0" algn="ctr">
              <a:buNone/>
            </a:pPr>
            <a:endParaRPr lang="en-US" sz="400" dirty="0"/>
          </a:p>
        </p:txBody>
      </p:sp>
      <p:sp>
        <p:nvSpPr>
          <p:cNvPr id="21" name="Shape 10"/>
          <p:cNvSpPr/>
          <p:nvPr/>
        </p:nvSpPr>
        <p:spPr>
          <a:xfrm>
            <a:off x="601200" y="2026800"/>
            <a:ext cx="3240000" cy="1098000"/>
          </a:xfrm>
          <a:prstGeom prst="roundRect">
            <a:avLst>
              <a:gd name="adj" fmla="val 4627"/>
            </a:avLst>
          </a:prstGeom>
          <a:solidFill>
            <a:srgbClr val="4666AF"/>
          </a:solidFill>
        </p:spPr>
      </p:sp>
      <p:sp>
        <p:nvSpPr>
          <p:cNvPr id="22" name="Shape 11"/>
          <p:cNvSpPr/>
          <p:nvPr/>
        </p:nvSpPr>
        <p:spPr>
          <a:xfrm>
            <a:off x="705600" y="2386800"/>
            <a:ext cx="374400" cy="374400"/>
          </a:xfrm>
          <a:prstGeom prst="roundRect">
            <a:avLst>
              <a:gd name="adj" fmla="val 244231"/>
            </a:avLst>
          </a:prstGeom>
          <a:solidFill>
            <a:srgbClr val="FFFFFF"/>
          </a:solidFill>
        </p:spPr>
      </p:sp>
      <p:pic>
        <p:nvPicPr>
          <p:cNvPr id="23" name="Image 8" descr="/var/deepdoc/convert/public/a4cfed43b0fd07bbc499daba0021cb5b/images/background_bg-element-fdecctmq4.png"/>
          <p:cNvPicPr>
            <a:picLocks noChangeAspect="1"/>
          </p:cNvPicPr>
          <p:nvPr/>
        </p:nvPicPr>
        <p:blipFill>
          <a:blip r:embed="rId4"/>
          <a:stretch>
            <a:fillRect/>
          </a:stretch>
        </p:blipFill>
        <p:spPr>
          <a:xfrm>
            <a:off x="806400" y="2487600"/>
            <a:ext cx="172800" cy="172800"/>
          </a:xfrm>
          <a:prstGeom prst="rect">
            <a:avLst/>
          </a:prstGeom>
        </p:spPr>
      </p:pic>
      <p:sp>
        <p:nvSpPr>
          <p:cNvPr id="24" name="Text 12"/>
          <p:cNvSpPr/>
          <p:nvPr/>
        </p:nvSpPr>
        <p:spPr>
          <a:xfrm>
            <a:off x="1435215" y="2113725"/>
            <a:ext cx="619200" cy="108000"/>
          </a:xfrm>
          <a:prstGeom prst="rect">
            <a:avLst/>
          </a:prstGeom>
          <a:noFill/>
        </p:spPr>
        <p:txBody>
          <a:bodyPr wrap="none" lIns="0" tIns="0" rIns="0" bIns="0" rtlCol="0" anchor="ctr"/>
          <a:lstStyle/>
          <a:p>
            <a:pPr marL="0" indent="0" algn="ctr">
              <a:buNone/>
            </a:pPr>
            <a:r>
              <a:rPr lang="en-US" sz="1200" b="1" dirty="0">
                <a:solidFill>
                  <a:srgbClr val="FFFFFF"/>
                </a:solidFill>
                <a:latin typeface="黑体" panose="02010609060101010101" charset="-122"/>
                <a:ea typeface="黑体" panose="02010609060101010101" charset="-122"/>
                <a:cs typeface="黑体" panose="02010609060101010101" pitchFamily="34" charset="-120"/>
              </a:rPr>
              <a:t>Stable Audio 3</a:t>
            </a:r>
          </a:p>
        </p:txBody>
      </p:sp>
      <p:sp>
        <p:nvSpPr>
          <p:cNvPr id="25" name="Text 13"/>
          <p:cNvSpPr/>
          <p:nvPr/>
        </p:nvSpPr>
        <p:spPr>
          <a:xfrm>
            <a:off x="1404100" y="2322275"/>
            <a:ext cx="770400" cy="54000"/>
          </a:xfrm>
          <a:prstGeom prst="rect">
            <a:avLst/>
          </a:prstGeom>
          <a:noFill/>
        </p:spPr>
        <p:txBody>
          <a:bodyPr wrap="none" lIns="0" tIns="0" rIns="0" bIns="0" rtlCol="0" anchor="ctr"/>
          <a:lstStyle/>
          <a:p>
            <a:pPr marL="0" indent="0" algn="ctr">
              <a:buNone/>
            </a:pPr>
            <a:r>
              <a:rPr lang="en-US" sz="500" dirty="0">
                <a:solidFill>
                  <a:srgbClr val="FFFFFF"/>
                </a:solidFill>
                <a:latin typeface="黑体" panose="02010609060101010101" charset="-122"/>
                <a:ea typeface="黑体" panose="02010609060101010101" charset="-122"/>
                <a:cs typeface="黑体" panose="02010609060101010101" pitchFamily="34" charset="-120"/>
              </a:rPr>
              <a:t>459M Parameters · Stability AI 2024</a:t>
            </a:r>
          </a:p>
        </p:txBody>
      </p:sp>
      <p:sp>
        <p:nvSpPr>
          <p:cNvPr id="26" name="Text 14"/>
          <p:cNvSpPr/>
          <p:nvPr/>
        </p:nvSpPr>
        <p:spPr>
          <a:xfrm>
            <a:off x="1162800" y="2566800"/>
            <a:ext cx="2509200" cy="68400"/>
          </a:xfrm>
          <a:prstGeom prst="rect">
            <a:avLst/>
          </a:prstGeom>
          <a:noFill/>
        </p:spPr>
        <p:txBody>
          <a:bodyPr wrap="none" lIns="0" tIns="0" rIns="0" bIns="0" rtlCol="0" anchor="ctr"/>
          <a:lstStyle/>
          <a:p>
            <a:pPr marL="0" indent="0" algn="ctr">
              <a:buNone/>
            </a:pPr>
            <a:endParaRPr lang="en-US" sz="400" dirty="0"/>
          </a:p>
        </p:txBody>
      </p:sp>
      <p:sp>
        <p:nvSpPr>
          <p:cNvPr id="27" name="Text 15"/>
          <p:cNvSpPr/>
          <p:nvPr/>
        </p:nvSpPr>
        <p:spPr>
          <a:xfrm>
            <a:off x="1162800" y="2653200"/>
            <a:ext cx="2394000" cy="68400"/>
          </a:xfrm>
          <a:prstGeom prst="rect">
            <a:avLst/>
          </a:prstGeom>
          <a:noFill/>
        </p:spPr>
        <p:txBody>
          <a:bodyPr wrap="none" lIns="0" tIns="0" rIns="0" bIns="0" rtlCol="0" anchor="ctr"/>
          <a:lstStyle/>
          <a:p>
            <a:pPr marL="0" indent="0" algn="ctr">
              <a:buNone/>
            </a:pPr>
            <a:endParaRPr lang="en-US" sz="400" dirty="0"/>
          </a:p>
        </p:txBody>
      </p:sp>
      <p:sp>
        <p:nvSpPr>
          <p:cNvPr id="28" name="Text 16"/>
          <p:cNvSpPr/>
          <p:nvPr/>
        </p:nvSpPr>
        <p:spPr>
          <a:xfrm>
            <a:off x="1162800" y="2739600"/>
            <a:ext cx="255600" cy="68400"/>
          </a:xfrm>
          <a:prstGeom prst="rect">
            <a:avLst/>
          </a:prstGeom>
          <a:noFill/>
        </p:spPr>
        <p:txBody>
          <a:bodyPr wrap="none" lIns="0" tIns="0" rIns="0" bIns="0" rtlCol="0" anchor="ctr"/>
          <a:lstStyle/>
          <a:p>
            <a:pPr marL="0" indent="0" algn="ctr">
              <a:buNone/>
            </a:pPr>
            <a:endParaRPr lang="en-US" sz="400" dirty="0"/>
          </a:p>
        </p:txBody>
      </p:sp>
      <p:sp>
        <p:nvSpPr>
          <p:cNvPr id="29" name="Shape 17"/>
          <p:cNvSpPr/>
          <p:nvPr/>
        </p:nvSpPr>
        <p:spPr>
          <a:xfrm>
            <a:off x="601200" y="3214800"/>
            <a:ext cx="3240000" cy="1098000"/>
          </a:xfrm>
          <a:prstGeom prst="roundRect">
            <a:avLst>
              <a:gd name="adj" fmla="val 4627"/>
            </a:avLst>
          </a:prstGeom>
          <a:solidFill>
            <a:srgbClr val="072467"/>
          </a:solidFill>
        </p:spPr>
      </p:sp>
      <p:sp>
        <p:nvSpPr>
          <p:cNvPr id="30" name="Shape 18"/>
          <p:cNvSpPr/>
          <p:nvPr/>
        </p:nvSpPr>
        <p:spPr>
          <a:xfrm>
            <a:off x="705600" y="3578400"/>
            <a:ext cx="374400" cy="374400"/>
          </a:xfrm>
          <a:prstGeom prst="roundRect">
            <a:avLst>
              <a:gd name="adj" fmla="val 244231"/>
            </a:avLst>
          </a:prstGeom>
          <a:solidFill>
            <a:srgbClr val="FFFFFF"/>
          </a:solidFill>
        </p:spPr>
      </p:sp>
      <p:pic>
        <p:nvPicPr>
          <p:cNvPr id="31" name="Image 9" descr="/var/deepdoc/convert/public/a4cfed43b0fd07bbc499daba0021cb5b/images/background_bg-element-chasmvyuy.png"/>
          <p:cNvPicPr>
            <a:picLocks noChangeAspect="1"/>
          </p:cNvPicPr>
          <p:nvPr/>
        </p:nvPicPr>
        <p:blipFill>
          <a:blip r:embed="rId5"/>
          <a:stretch>
            <a:fillRect/>
          </a:stretch>
        </p:blipFill>
        <p:spPr>
          <a:xfrm>
            <a:off x="806400" y="3679200"/>
            <a:ext cx="172800" cy="172800"/>
          </a:xfrm>
          <a:prstGeom prst="rect">
            <a:avLst/>
          </a:prstGeom>
        </p:spPr>
      </p:pic>
      <p:sp>
        <p:nvSpPr>
          <p:cNvPr id="32" name="Text 19"/>
          <p:cNvSpPr/>
          <p:nvPr/>
        </p:nvSpPr>
        <p:spPr>
          <a:xfrm>
            <a:off x="1539355" y="3300245"/>
            <a:ext cx="1051200" cy="108000"/>
          </a:xfrm>
          <a:prstGeom prst="rect">
            <a:avLst/>
          </a:prstGeom>
          <a:noFill/>
        </p:spPr>
        <p:txBody>
          <a:bodyPr wrap="none" lIns="0" tIns="0" rIns="0" bIns="0" rtlCol="0" anchor="ctr"/>
          <a:lstStyle/>
          <a:p>
            <a:pPr marL="0" indent="0" algn="ctr">
              <a:buNone/>
            </a:pPr>
            <a:r>
              <a:rPr lang="en-US" sz="1200" b="1" dirty="0">
                <a:solidFill>
                  <a:srgbClr val="FFFFFF"/>
                </a:solidFill>
                <a:latin typeface="黑体" panose="02010609060101010101" charset="-122"/>
                <a:ea typeface="黑体" panose="02010609060101010101" charset="-122"/>
                <a:cs typeface="黑体" panose="02010609060101010101" pitchFamily="34" charset="-120"/>
              </a:rPr>
              <a:t>Sound Effect Generation</a:t>
            </a:r>
          </a:p>
        </p:txBody>
      </p:sp>
      <p:sp>
        <p:nvSpPr>
          <p:cNvPr id="33" name="Text 20"/>
          <p:cNvSpPr/>
          <p:nvPr/>
        </p:nvSpPr>
        <p:spPr>
          <a:xfrm>
            <a:off x="1378700" y="3466250"/>
            <a:ext cx="820800" cy="54000"/>
          </a:xfrm>
          <a:prstGeom prst="rect">
            <a:avLst/>
          </a:prstGeom>
          <a:noFill/>
        </p:spPr>
        <p:txBody>
          <a:bodyPr wrap="none" lIns="0" tIns="0" rIns="0" bIns="0" rtlCol="0" anchor="ctr"/>
          <a:lstStyle/>
          <a:p>
            <a:pPr marL="0" indent="0" algn="ctr">
              <a:buNone/>
            </a:pPr>
            <a:r>
              <a:rPr lang="en-US" sz="500" dirty="0">
                <a:solidFill>
                  <a:srgbClr val="FFFFFF"/>
                </a:solidFill>
                <a:latin typeface="黑体" panose="02010609060101010101" charset="-122"/>
                <a:ea typeface="黑体" panose="02010609060101010101" charset="-122"/>
                <a:cs typeface="黑体" panose="02010609060101010101" pitchFamily="34" charset="-120"/>
              </a:rPr>
              <a:t>Stable Audio 3 SFX Specialized Model</a:t>
            </a:r>
          </a:p>
        </p:txBody>
      </p:sp>
      <p:sp>
        <p:nvSpPr>
          <p:cNvPr id="34" name="Text 21"/>
          <p:cNvSpPr/>
          <p:nvPr/>
        </p:nvSpPr>
        <p:spPr>
          <a:xfrm>
            <a:off x="1162800" y="3754800"/>
            <a:ext cx="2228400" cy="68400"/>
          </a:xfrm>
          <a:prstGeom prst="rect">
            <a:avLst/>
          </a:prstGeom>
          <a:noFill/>
        </p:spPr>
        <p:txBody>
          <a:bodyPr wrap="none" lIns="0" tIns="0" rIns="0" bIns="0" rtlCol="0" anchor="ctr"/>
          <a:lstStyle/>
          <a:p>
            <a:pPr marL="0" indent="0" algn="ctr">
              <a:buNone/>
            </a:pPr>
            <a:endParaRPr lang="en-US" sz="400" dirty="0"/>
          </a:p>
        </p:txBody>
      </p:sp>
      <p:sp>
        <p:nvSpPr>
          <p:cNvPr id="35" name="Text 22"/>
          <p:cNvSpPr/>
          <p:nvPr/>
        </p:nvSpPr>
        <p:spPr>
          <a:xfrm>
            <a:off x="1162800" y="3844800"/>
            <a:ext cx="2422800" cy="68400"/>
          </a:xfrm>
          <a:prstGeom prst="rect">
            <a:avLst/>
          </a:prstGeom>
          <a:noFill/>
        </p:spPr>
        <p:txBody>
          <a:bodyPr wrap="none" lIns="0" tIns="0" rIns="0" bIns="0" rtlCol="0" anchor="ctr"/>
          <a:lstStyle/>
          <a:p>
            <a:pPr marL="0" indent="0" algn="ctr">
              <a:buNone/>
            </a:pPr>
            <a:endParaRPr lang="en-US" sz="400" dirty="0"/>
          </a:p>
        </p:txBody>
      </p:sp>
      <p:sp>
        <p:nvSpPr>
          <p:cNvPr id="36" name="Text 23"/>
          <p:cNvSpPr/>
          <p:nvPr/>
        </p:nvSpPr>
        <p:spPr>
          <a:xfrm>
            <a:off x="1162800" y="3931200"/>
            <a:ext cx="295200" cy="68400"/>
          </a:xfrm>
          <a:prstGeom prst="rect">
            <a:avLst/>
          </a:prstGeom>
          <a:noFill/>
        </p:spPr>
        <p:txBody>
          <a:bodyPr wrap="none" lIns="0" tIns="0" rIns="0" bIns="0" rtlCol="0" anchor="ctr"/>
          <a:lstStyle/>
          <a:p>
            <a:pPr marL="0" indent="0" algn="ctr">
              <a:buNone/>
            </a:pPr>
            <a:endParaRPr lang="en-US" sz="400" dirty="0"/>
          </a:p>
        </p:txBody>
      </p:sp>
      <p:sp>
        <p:nvSpPr>
          <p:cNvPr id="2" name="文本框 1"/>
          <p:cNvSpPr txBox="1"/>
          <p:nvPr/>
        </p:nvSpPr>
        <p:spPr>
          <a:xfrm>
            <a:off x="1146175" y="1244600"/>
            <a:ext cx="2687955" cy="693420"/>
          </a:xfrm>
          <a:prstGeom prst="rect">
            <a:avLst/>
          </a:prstGeom>
          <a:noFill/>
        </p:spPr>
        <p:txBody>
          <a:bodyPr wrap="square" rtlCol="0">
            <a:noAutofit/>
          </a:bodyPr>
          <a:lstStyle/>
          <a:p>
            <a:pPr marL="0" indent="0" algn="l">
              <a:buNone/>
            </a:pPr>
            <a:r>
              <a:rPr lang="en-US" sz="800" dirty="0">
                <a:solidFill>
                  <a:srgbClr val="333333"/>
                </a:solidFill>
                <a:latin typeface="黑体" panose="02010609060101010101" charset="-122"/>
                <a:ea typeface="黑体" panose="02010609060101010101" charset="-122"/>
                <a:cs typeface="黑体" panose="02010609060101010101" pitchFamily="34" charset="-120"/>
                <a:sym typeface="+mn-ea"/>
              </a:rPr>
              <a:t>Compresses audio at 50x ratio via EnCodec codec, runs on consumer GPUs with real-time inference. Loaded via HuggingFace Transformers with lazy loading strategy, supports CUDA auto-detection and float16 precision acceleration.</a:t>
            </a:r>
            <a:endParaRPr lang="en-US" sz="800" dirty="0"/>
          </a:p>
          <a:p>
            <a:pPr marL="0" indent="0" algn="l">
              <a:buNone/>
            </a:pPr>
            <a:endParaRPr lang="en-US" sz="800" dirty="0"/>
          </a:p>
          <a:p>
            <a:pPr marL="0" indent="0" algn="l">
              <a:buNone/>
            </a:pPr>
            <a:endParaRPr lang="en-US" altLang="en-US" sz="800" dirty="0">
              <a:solidFill>
                <a:srgbClr val="333333"/>
              </a:solidFill>
              <a:latin typeface="黑体" panose="02010609060101010101" charset="-122"/>
              <a:ea typeface="黑体" panose="02010609060101010101" charset="-122"/>
              <a:cs typeface="黑体" panose="02010609060101010101" pitchFamily="34" charset="-120"/>
              <a:sym typeface="+mn-ea"/>
            </a:endParaRPr>
          </a:p>
        </p:txBody>
      </p:sp>
      <p:sp>
        <p:nvSpPr>
          <p:cNvPr id="54" name="文本框 53"/>
          <p:cNvSpPr txBox="1"/>
          <p:nvPr/>
        </p:nvSpPr>
        <p:spPr>
          <a:xfrm>
            <a:off x="1162685" y="2415540"/>
            <a:ext cx="2640330" cy="693420"/>
          </a:xfrm>
          <a:prstGeom prst="rect">
            <a:avLst/>
          </a:prstGeom>
          <a:noFill/>
        </p:spPr>
        <p:txBody>
          <a:bodyPr wrap="square" rtlCol="0">
            <a:noAutofit/>
          </a:bodyPr>
          <a:lstStyle/>
          <a:p>
            <a:pPr marL="0" indent="0" algn="l">
              <a:buNone/>
            </a:pPr>
            <a:r>
              <a:rPr lang="en-US" sz="800" dirty="0">
                <a:solidFill>
                  <a:srgbClr val="FFFFFF"/>
                </a:solidFill>
                <a:latin typeface="黑体" panose="02010609060101010101" charset="-122"/>
                <a:ea typeface="黑体" panose="02010609060101010101" charset="-122"/>
                <a:cs typeface="黑体" panose="02010609060101010101" pitchFamily="34" charset="-120"/>
                <a:sym typeface="+mn-ea"/>
              </a:rPr>
              <a:t>Uses semantic-acoustic encoder (SAME) to compress audio 4096x into latent space, supports up to 6 min 20s generation. Small version generates 0.44s on H200 GPU, with inpainting editing capability.</a:t>
            </a:r>
            <a:endParaRPr lang="en-US" altLang="en-US" sz="800" dirty="0">
              <a:solidFill>
                <a:srgbClr val="333333"/>
              </a:solidFill>
              <a:latin typeface="黑体" panose="02010609060101010101" charset="-122"/>
              <a:ea typeface="黑体" panose="02010609060101010101" charset="-122"/>
              <a:cs typeface="黑体" panose="02010609060101010101" pitchFamily="34" charset="-120"/>
              <a:sym typeface="+mn-ea"/>
            </a:endParaRPr>
          </a:p>
        </p:txBody>
      </p:sp>
      <p:sp>
        <p:nvSpPr>
          <p:cNvPr id="55" name="文本框 54"/>
          <p:cNvSpPr txBox="1"/>
          <p:nvPr/>
        </p:nvSpPr>
        <p:spPr>
          <a:xfrm>
            <a:off x="1146175" y="3532505"/>
            <a:ext cx="2640330" cy="693420"/>
          </a:xfrm>
          <a:prstGeom prst="rect">
            <a:avLst/>
          </a:prstGeom>
          <a:noFill/>
        </p:spPr>
        <p:txBody>
          <a:bodyPr wrap="square" rtlCol="0">
            <a:noAutofit/>
          </a:bodyPr>
          <a:lstStyle/>
          <a:p>
            <a:pPr marL="0" indent="0" algn="l">
              <a:buNone/>
            </a:pPr>
            <a:r>
              <a:rPr lang="en-US" sz="800" dirty="0">
                <a:solidFill>
                  <a:srgbClr val="FFFFFF"/>
                </a:solidFill>
                <a:latin typeface="黑体" panose="02010609060101010101" charset="-122"/>
                <a:ea typeface="黑体" panose="02010609060101010101" charset="-122"/>
                <a:cs typeface="黑体" panose="02010609060101010101" pitchFamily="34" charset="-120"/>
                <a:sym typeface="+mn-ea"/>
              </a:rPr>
              <a:t>Uses Stable Audio 3 SFX specialized model, as AudioGen's AudioCraft framework has compatibility issues on Windows systems, optimized for short environmental and action sound generation.</a:t>
            </a:r>
            <a:endParaRPr lang="en-US" sz="800" dirty="0"/>
          </a:p>
          <a:p>
            <a:pPr marL="0" indent="0" algn="l">
              <a:buNone/>
            </a:pPr>
            <a:endParaRPr lang="en-US" altLang="en-US" sz="800" dirty="0">
              <a:solidFill>
                <a:srgbClr val="333333"/>
              </a:solidFill>
              <a:latin typeface="黑体" panose="02010609060101010101" charset="-122"/>
              <a:ea typeface="黑体" panose="02010609060101010101" charset="-122"/>
              <a:cs typeface="黑体" panose="02010609060101010101" pitchFamily="34" charset="-120"/>
              <a:sym typeface="+mn-ea"/>
            </a:endParaRPr>
          </a:p>
        </p:txBody>
      </p:sp>
      <p:pic>
        <p:nvPicPr>
          <p:cNvPr id="56" name="图片 55" descr="音频生成数据流"/>
          <p:cNvPicPr>
            <a:picLocks noChangeAspect="1"/>
          </p:cNvPicPr>
          <p:nvPr/>
        </p:nvPicPr>
        <p:blipFill>
          <a:blip r:embed="rId6"/>
          <a:srcRect l="15994" r="14390"/>
          <a:stretch>
            <a:fillRect/>
          </a:stretch>
        </p:blipFill>
        <p:spPr>
          <a:xfrm>
            <a:off x="3953510" y="835025"/>
            <a:ext cx="4882515" cy="3825875"/>
          </a:xfrm>
          <a:prstGeom prst="rect">
            <a:avLst/>
          </a:prstGeom>
        </p:spPr>
      </p:pic>
      <p:sp>
        <p:nvSpPr>
          <p:cNvPr id="57" name="Text 5"/>
          <p:cNvSpPr/>
          <p:nvPr/>
        </p:nvSpPr>
        <p:spPr>
          <a:xfrm>
            <a:off x="601345" y="157353"/>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02 SYSTEM ARCHITECTURE · SOUND GENERATION</a:t>
            </a:r>
            <a:endParaRPr lang="en-US" sz="1200" dirty="0"/>
          </a:p>
        </p:txBody>
      </p:sp>
      <p:sp>
        <p:nvSpPr>
          <p:cNvPr id="39" name="Shape 0"/>
          <p:cNvSpPr/>
          <p:nvPr/>
        </p:nvSpPr>
        <p:spPr>
          <a:xfrm>
            <a:off x="8641080" y="-91440"/>
            <a:ext cx="594360" cy="411480"/>
          </a:xfrm>
          <a:prstGeom prst="rect">
            <a:avLst/>
          </a:prstGeom>
          <a:solidFill>
            <a:srgbClr val="1F2A5E"/>
          </a:solidFill>
        </p:spPr>
      </p:sp>
      <p:sp>
        <p:nvSpPr>
          <p:cNvPr id="40" name="Shape 1"/>
          <p:cNvSpPr/>
          <p:nvPr/>
        </p:nvSpPr>
        <p:spPr>
          <a:xfrm>
            <a:off x="8183880" y="164592"/>
            <a:ext cx="548640" cy="365760"/>
          </a:xfrm>
          <a:prstGeom prst="rect">
            <a:avLst/>
          </a:prstGeom>
          <a:solidFill>
            <a:srgbClr val="8C9CD4">
              <a:alpha val="85000"/>
            </a:srgbClr>
          </a:solidFill>
        </p:spPr>
      </p:sp>
      <p:sp>
        <p:nvSpPr>
          <p:cNvPr id="41" name="Shape 2"/>
          <p:cNvSpPr/>
          <p:nvPr/>
        </p:nvSpPr>
        <p:spPr>
          <a:xfrm>
            <a:off x="-502920" y="4343400"/>
            <a:ext cx="1828800" cy="960120"/>
          </a:xfrm>
          <a:prstGeom prst="triangle">
            <a:avLst/>
          </a:prstGeom>
          <a:solidFill>
            <a:srgbClr val="E4E9F8">
              <a:alpha val="75000"/>
            </a:srgbClr>
          </a:solid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19050" y="19050"/>
            <a:ext cx="9144000" cy="5144400"/>
          </a:xfrm>
          <a:prstGeom prst="rect">
            <a:avLst/>
          </a:prstGeom>
          <a:solidFill>
            <a:srgbClr val="FFFFFF"/>
          </a:solidFill>
        </p:spPr>
      </p:sp>
      <p:pic>
        <p:nvPicPr>
          <p:cNvPr id="4" name="Image 0" descr="/var/deepdoc/convert/public/a4cfed43b0fd07bbc499daba0021cb5b/images/background_bg-element-2sf2l4s37.png"/>
          <p:cNvPicPr>
            <a:picLocks noChangeAspect="1"/>
          </p:cNvPicPr>
          <p:nvPr/>
        </p:nvPicPr>
        <p:blipFill>
          <a:blip r:embed="rId3"/>
          <a:stretch>
            <a:fillRect/>
          </a:stretch>
        </p:blipFill>
        <p:spPr>
          <a:xfrm>
            <a:off x="5832000" y="1908000"/>
            <a:ext cx="2646000" cy="79200"/>
          </a:xfrm>
          <a:prstGeom prst="rect">
            <a:avLst/>
          </a:prstGeom>
        </p:spPr>
      </p:pic>
      <p:sp>
        <p:nvSpPr>
          <p:cNvPr id="5" name="Text 1"/>
          <p:cNvSpPr/>
          <p:nvPr/>
        </p:nvSpPr>
        <p:spPr>
          <a:xfrm>
            <a:off x="5904000" y="1908000"/>
            <a:ext cx="669600" cy="79200"/>
          </a:xfrm>
          <a:prstGeom prst="rect">
            <a:avLst/>
          </a:prstGeom>
          <a:noFill/>
        </p:spPr>
        <p:txBody>
          <a:bodyPr wrap="none" lIns="0" tIns="0" rIns="0" bIns="0" rtlCol="0" anchor="ctr"/>
          <a:lstStyle/>
          <a:p>
            <a:pPr marL="0" indent="0" algn="ctr">
              <a:buNone/>
            </a:pPr>
            <a:endParaRPr lang="en-US" sz="500" dirty="0"/>
          </a:p>
        </p:txBody>
      </p:sp>
      <p:sp>
        <p:nvSpPr>
          <p:cNvPr id="6" name="Text 2"/>
          <p:cNvSpPr/>
          <p:nvPr/>
        </p:nvSpPr>
        <p:spPr>
          <a:xfrm>
            <a:off x="5832000" y="2030400"/>
            <a:ext cx="2044800" cy="57600"/>
          </a:xfrm>
          <a:prstGeom prst="rect">
            <a:avLst/>
          </a:prstGeom>
          <a:noFill/>
        </p:spPr>
        <p:txBody>
          <a:bodyPr wrap="none" lIns="0" tIns="0" rIns="0" bIns="0" rtlCol="0" anchor="ctr"/>
          <a:lstStyle/>
          <a:p>
            <a:pPr marL="0" indent="0" algn="ctr">
              <a:buNone/>
            </a:pPr>
            <a:endParaRPr lang="en-US" sz="400" dirty="0"/>
          </a:p>
        </p:txBody>
      </p:sp>
      <p:sp>
        <p:nvSpPr>
          <p:cNvPr id="9" name="Text 5"/>
          <p:cNvSpPr/>
          <p:nvPr/>
        </p:nvSpPr>
        <p:spPr>
          <a:xfrm>
            <a:off x="8460000" y="2030400"/>
            <a:ext cx="18000" cy="57600"/>
          </a:xfrm>
          <a:prstGeom prst="rect">
            <a:avLst/>
          </a:prstGeom>
          <a:noFill/>
        </p:spPr>
        <p:txBody>
          <a:bodyPr wrap="none" lIns="0" tIns="0" rIns="0" bIns="0" rtlCol="0" anchor="ctr"/>
          <a:lstStyle/>
          <a:p>
            <a:pPr marL="0" indent="0" algn="ctr">
              <a:buNone/>
            </a:pPr>
            <a:r>
              <a:rPr lang="en-US" sz="400" dirty="0">
                <a:solidFill>
                  <a:srgbClr val="333333"/>
                </a:solidFill>
                <a:latin typeface="微软雅黑" panose="020B0503020204020204" charset="-122"/>
                <a:ea typeface="微软雅黑" panose="020B0503020204020204" charset="-122"/>
                <a:cs typeface="微软雅黑" panose="020B0503020204020204" pitchFamily="34" charset="-120"/>
              </a:rPr>
              <a:t>,</a:t>
            </a:r>
            <a:endParaRPr lang="en-US" sz="400" dirty="0"/>
          </a:p>
        </p:txBody>
      </p:sp>
      <p:sp>
        <p:nvSpPr>
          <p:cNvPr id="10" name="Text 6"/>
          <p:cNvSpPr/>
          <p:nvPr/>
        </p:nvSpPr>
        <p:spPr>
          <a:xfrm>
            <a:off x="5832000" y="2116800"/>
            <a:ext cx="2646000" cy="57600"/>
          </a:xfrm>
          <a:prstGeom prst="rect">
            <a:avLst/>
          </a:prstGeom>
          <a:noFill/>
        </p:spPr>
        <p:txBody>
          <a:bodyPr wrap="none" lIns="0" tIns="0" rIns="0" bIns="0" rtlCol="0" anchor="ctr"/>
          <a:lstStyle/>
          <a:p>
            <a:pPr marL="0" indent="0" algn="ctr">
              <a:buNone/>
            </a:pPr>
            <a:endParaRPr lang="en-US" sz="400" dirty="0"/>
          </a:p>
        </p:txBody>
      </p:sp>
      <p:sp>
        <p:nvSpPr>
          <p:cNvPr id="11" name="Text 7"/>
          <p:cNvSpPr/>
          <p:nvPr/>
        </p:nvSpPr>
        <p:spPr>
          <a:xfrm>
            <a:off x="5226845" y="3818850"/>
            <a:ext cx="500400" cy="57600"/>
          </a:xfrm>
          <a:prstGeom prst="rect">
            <a:avLst/>
          </a:prstGeom>
          <a:noFill/>
        </p:spPr>
        <p:txBody>
          <a:bodyPr wrap="none" lIns="0" tIns="0" rIns="0" bIns="0" rtlCol="0" anchor="ctr"/>
          <a:lstStyle/>
          <a:p>
            <a:pPr marL="0" indent="0" algn="ctr">
              <a:buNone/>
            </a:pPr>
            <a:endParaRPr lang="en-US" sz="400" dirty="0"/>
          </a:p>
        </p:txBody>
      </p:sp>
      <p:pic>
        <p:nvPicPr>
          <p:cNvPr id="12" name="Image 1" descr="/var/deepdoc/convert/public/a4cfed43b0fd07bbc499daba0021cb5b/images/background_bg-element-mbop0703x.png"/>
          <p:cNvPicPr>
            <a:picLocks noChangeAspect="1"/>
          </p:cNvPicPr>
          <p:nvPr/>
        </p:nvPicPr>
        <p:blipFill>
          <a:blip r:embed="rId3"/>
          <a:stretch>
            <a:fillRect/>
          </a:stretch>
        </p:blipFill>
        <p:spPr>
          <a:xfrm>
            <a:off x="5410995" y="4001100"/>
            <a:ext cx="2646000" cy="79200"/>
          </a:xfrm>
          <a:prstGeom prst="rect">
            <a:avLst/>
          </a:prstGeom>
        </p:spPr>
      </p:pic>
      <p:sp>
        <p:nvSpPr>
          <p:cNvPr id="13" name="Text 8"/>
          <p:cNvSpPr/>
          <p:nvPr/>
        </p:nvSpPr>
        <p:spPr>
          <a:xfrm>
            <a:off x="5482995" y="4001100"/>
            <a:ext cx="766800" cy="79200"/>
          </a:xfrm>
          <a:prstGeom prst="rect">
            <a:avLst/>
          </a:prstGeom>
          <a:noFill/>
        </p:spPr>
        <p:txBody>
          <a:bodyPr wrap="none" lIns="0" tIns="0" rIns="0" bIns="0" rtlCol="0" anchor="ctr"/>
          <a:lstStyle/>
          <a:p>
            <a:pPr marL="0" indent="0" algn="ctr">
              <a:buNone/>
            </a:pPr>
            <a:endParaRPr lang="en-US" sz="500" dirty="0"/>
          </a:p>
        </p:txBody>
      </p:sp>
      <p:sp>
        <p:nvSpPr>
          <p:cNvPr id="14" name="Text 9"/>
          <p:cNvSpPr/>
          <p:nvPr/>
        </p:nvSpPr>
        <p:spPr>
          <a:xfrm>
            <a:off x="5410995" y="4119900"/>
            <a:ext cx="2646000" cy="57600"/>
          </a:xfrm>
          <a:prstGeom prst="rect">
            <a:avLst/>
          </a:prstGeom>
          <a:noFill/>
        </p:spPr>
        <p:txBody>
          <a:bodyPr wrap="none" lIns="0" tIns="0" rIns="0" bIns="0" rtlCol="0" anchor="ctr"/>
          <a:lstStyle/>
          <a:p>
            <a:pPr marL="0" indent="0" algn="ctr">
              <a:buNone/>
            </a:pPr>
            <a:endParaRPr lang="en-US" sz="400" dirty="0"/>
          </a:p>
        </p:txBody>
      </p:sp>
      <p:sp>
        <p:nvSpPr>
          <p:cNvPr id="15" name="Text 10"/>
          <p:cNvSpPr/>
          <p:nvPr/>
        </p:nvSpPr>
        <p:spPr>
          <a:xfrm>
            <a:off x="5410995" y="4206300"/>
            <a:ext cx="716400" cy="57600"/>
          </a:xfrm>
          <a:prstGeom prst="rect">
            <a:avLst/>
          </a:prstGeom>
          <a:noFill/>
        </p:spPr>
        <p:txBody>
          <a:bodyPr wrap="none" lIns="0" tIns="0" rIns="0" bIns="0" rtlCol="0" anchor="ctr"/>
          <a:lstStyle/>
          <a:p>
            <a:pPr marL="0" indent="0" algn="ctr">
              <a:buNone/>
            </a:pPr>
            <a:endParaRPr lang="en-US" sz="400" dirty="0"/>
          </a:p>
        </p:txBody>
      </p:sp>
      <p:sp>
        <p:nvSpPr>
          <p:cNvPr id="16" name="Text 11"/>
          <p:cNvSpPr/>
          <p:nvPr/>
        </p:nvSpPr>
        <p:spPr>
          <a:xfrm>
            <a:off x="6573375" y="4295200"/>
            <a:ext cx="1627200" cy="57600"/>
          </a:xfrm>
          <a:prstGeom prst="rect">
            <a:avLst/>
          </a:prstGeom>
          <a:noFill/>
        </p:spPr>
        <p:txBody>
          <a:bodyPr wrap="none" lIns="0" tIns="0" rIns="0" bIns="0" rtlCol="0" anchor="ctr"/>
          <a:lstStyle/>
          <a:p>
            <a:pPr marL="0" indent="0" algn="ctr">
              <a:buNone/>
            </a:pPr>
            <a:endParaRPr lang="en-US" sz="400" dirty="0"/>
          </a:p>
        </p:txBody>
      </p:sp>
      <p:sp>
        <p:nvSpPr>
          <p:cNvPr id="17" name="Text 12"/>
          <p:cNvSpPr/>
          <p:nvPr/>
        </p:nvSpPr>
        <p:spPr>
          <a:xfrm>
            <a:off x="7747395" y="4206300"/>
            <a:ext cx="18000" cy="57600"/>
          </a:xfrm>
          <a:prstGeom prst="rect">
            <a:avLst/>
          </a:prstGeom>
          <a:noFill/>
        </p:spPr>
        <p:txBody>
          <a:bodyPr wrap="none" lIns="0" tIns="0" rIns="0" bIns="0" rtlCol="0" anchor="ctr"/>
          <a:lstStyle/>
          <a:p>
            <a:pPr marL="0" indent="0" algn="ctr">
              <a:buNone/>
            </a:pPr>
            <a:r>
              <a:rPr lang="en-US" sz="400" dirty="0">
                <a:solidFill>
                  <a:srgbClr val="333333"/>
                </a:solidFill>
                <a:latin typeface="微软雅黑" panose="020B0503020204020204" charset="-122"/>
                <a:ea typeface="微软雅黑" panose="020B0503020204020204" charset="-122"/>
                <a:cs typeface="微软雅黑" panose="020B0503020204020204" pitchFamily="34" charset="-120"/>
              </a:rPr>
              <a:t>.</a:t>
            </a:r>
            <a:endParaRPr lang="en-US" sz="400" dirty="0"/>
          </a:p>
        </p:txBody>
      </p:sp>
      <p:pic>
        <p:nvPicPr>
          <p:cNvPr id="18" name="Image 2" descr="/var/deepdoc/convert/public/a4cfed43b0fd07bbc499daba0021cb5b/images/background_bg-element-agm4bvevu.png"/>
          <p:cNvPicPr>
            <a:picLocks noChangeAspect="1"/>
          </p:cNvPicPr>
          <p:nvPr/>
        </p:nvPicPr>
        <p:blipFill>
          <a:blip r:embed="rId3"/>
          <a:stretch>
            <a:fillRect/>
          </a:stretch>
        </p:blipFill>
        <p:spPr>
          <a:xfrm>
            <a:off x="5410995" y="4764300"/>
            <a:ext cx="2646000" cy="79200"/>
          </a:xfrm>
          <a:prstGeom prst="rect">
            <a:avLst/>
          </a:prstGeom>
        </p:spPr>
      </p:pic>
      <p:sp>
        <p:nvSpPr>
          <p:cNvPr id="19" name="Text 13"/>
          <p:cNvSpPr/>
          <p:nvPr/>
        </p:nvSpPr>
        <p:spPr>
          <a:xfrm>
            <a:off x="5482995" y="4764300"/>
            <a:ext cx="1152000" cy="79200"/>
          </a:xfrm>
          <a:prstGeom prst="rect">
            <a:avLst/>
          </a:prstGeom>
          <a:noFill/>
        </p:spPr>
        <p:txBody>
          <a:bodyPr wrap="none" lIns="0" tIns="0" rIns="0" bIns="0" rtlCol="0" anchor="ctr"/>
          <a:lstStyle/>
          <a:p>
            <a:pPr marL="0" indent="0" algn="ctr">
              <a:buNone/>
            </a:pPr>
            <a:endParaRPr lang="en-US" sz="500" dirty="0"/>
          </a:p>
        </p:txBody>
      </p:sp>
      <p:sp>
        <p:nvSpPr>
          <p:cNvPr id="20" name="Text 14"/>
          <p:cNvSpPr/>
          <p:nvPr/>
        </p:nvSpPr>
        <p:spPr>
          <a:xfrm>
            <a:off x="5410995" y="4883100"/>
            <a:ext cx="2646000" cy="57600"/>
          </a:xfrm>
          <a:prstGeom prst="rect">
            <a:avLst/>
          </a:prstGeom>
          <a:noFill/>
        </p:spPr>
        <p:txBody>
          <a:bodyPr wrap="none" lIns="0" tIns="0" rIns="0" bIns="0" rtlCol="0" anchor="ctr"/>
          <a:lstStyle/>
          <a:p>
            <a:pPr marL="0" indent="0" algn="ctr">
              <a:buNone/>
            </a:pPr>
            <a:endParaRPr lang="en-US" sz="400" dirty="0"/>
          </a:p>
        </p:txBody>
      </p:sp>
      <p:sp>
        <p:nvSpPr>
          <p:cNvPr id="21" name="Text 15"/>
          <p:cNvSpPr/>
          <p:nvPr/>
        </p:nvSpPr>
        <p:spPr>
          <a:xfrm>
            <a:off x="5410995" y="4965900"/>
            <a:ext cx="946800" cy="57600"/>
          </a:xfrm>
          <a:prstGeom prst="rect">
            <a:avLst/>
          </a:prstGeom>
          <a:noFill/>
        </p:spPr>
        <p:txBody>
          <a:bodyPr wrap="none" lIns="0" tIns="0" rIns="0" bIns="0" rtlCol="0" anchor="ctr"/>
          <a:lstStyle/>
          <a:p>
            <a:pPr marL="0" indent="0" algn="ctr">
              <a:buNone/>
            </a:pPr>
            <a:endParaRPr lang="en-US" sz="400" dirty="0"/>
          </a:p>
        </p:txBody>
      </p:sp>
      <p:sp>
        <p:nvSpPr>
          <p:cNvPr id="22" name="Text 16"/>
          <p:cNvSpPr/>
          <p:nvPr/>
        </p:nvSpPr>
        <p:spPr>
          <a:xfrm>
            <a:off x="4141220" y="4965900"/>
            <a:ext cx="946800" cy="57600"/>
          </a:xfrm>
          <a:prstGeom prst="rect">
            <a:avLst/>
          </a:prstGeom>
          <a:noFill/>
        </p:spPr>
        <p:txBody>
          <a:bodyPr wrap="none" lIns="0" tIns="0" rIns="0" bIns="0" rtlCol="0" anchor="ctr"/>
          <a:lstStyle/>
          <a:p>
            <a:pPr marL="0" indent="0" algn="ctr">
              <a:buNone/>
            </a:pPr>
            <a:endParaRPr lang="en-US" sz="400" dirty="0"/>
          </a:p>
        </p:txBody>
      </p:sp>
      <p:sp>
        <p:nvSpPr>
          <p:cNvPr id="23" name="Text 17"/>
          <p:cNvSpPr/>
          <p:nvPr/>
        </p:nvSpPr>
        <p:spPr>
          <a:xfrm>
            <a:off x="5084420" y="4965900"/>
            <a:ext cx="338400" cy="57600"/>
          </a:xfrm>
          <a:prstGeom prst="rect">
            <a:avLst/>
          </a:prstGeom>
          <a:noFill/>
        </p:spPr>
        <p:txBody>
          <a:bodyPr wrap="none" lIns="0" tIns="0" rIns="0" bIns="0" rtlCol="0" anchor="ctr"/>
          <a:lstStyle/>
          <a:p>
            <a:pPr marL="0" indent="0" algn="ctr">
              <a:buNone/>
            </a:pPr>
            <a:endParaRPr lang="en-US" sz="400" dirty="0"/>
          </a:p>
        </p:txBody>
      </p:sp>
      <p:sp>
        <p:nvSpPr>
          <p:cNvPr id="25" name="Text 19"/>
          <p:cNvSpPr/>
          <p:nvPr/>
        </p:nvSpPr>
        <p:spPr>
          <a:xfrm>
            <a:off x="399000" y="445893"/>
            <a:ext cx="4885200" cy="248400"/>
          </a:xfrm>
          <a:prstGeom prst="rect">
            <a:avLst/>
          </a:prstGeom>
          <a:noFill/>
        </p:spPr>
        <p:txBody>
          <a:bodyPr wrap="none" lIns="0" tIns="0" rIns="0" bIns="0" rtlCol="0" anchor="ctr"/>
          <a:lstStyle/>
          <a:p>
            <a:pPr marL="0" indent="0" algn="ctr">
              <a:buNone/>
            </a:pPr>
            <a:r>
              <a:rPr lang="en-US" sz="2000" b="1" dirty="0">
                <a:solidFill>
                  <a:srgbClr val="100F0D"/>
                </a:solidFill>
                <a:latin typeface="Arial" panose="020B0604020202020204" pitchFamily="34" charset="0"/>
                <a:ea typeface="微软雅黑" panose="020B0503020204020204" charset="-122"/>
                <a:cs typeface="Arial" panose="020B0604020202020204" pitchFamily="34" charset="0"/>
              </a:rPr>
              <a:t>TTS Dubbing Submodule Implementation</a:t>
            </a:r>
            <a:endParaRPr lang="en-US" sz="2000" dirty="0">
              <a:latin typeface="Arial" panose="020B0604020202020204" pitchFamily="34" charset="0"/>
              <a:cs typeface="Arial" panose="020B0604020202020204" pitchFamily="34" charset="0"/>
            </a:endParaRPr>
          </a:p>
        </p:txBody>
      </p:sp>
      <p:pic>
        <p:nvPicPr>
          <p:cNvPr id="36" name="Image 10" descr="/var/deepdoc/convert/public/a4cfed43b0fd07bbc499daba0021cb5b/images/background_bg-element-5v65gcfcp.png"/>
          <p:cNvPicPr>
            <a:picLocks noChangeAspect="1"/>
          </p:cNvPicPr>
          <p:nvPr/>
        </p:nvPicPr>
        <p:blipFill>
          <a:blip r:embed="rId4"/>
          <a:stretch>
            <a:fillRect/>
          </a:stretch>
        </p:blipFill>
        <p:spPr>
          <a:xfrm>
            <a:off x="5785200" y="837815"/>
            <a:ext cx="2739600" cy="306000"/>
          </a:xfrm>
          <a:prstGeom prst="rect">
            <a:avLst/>
          </a:prstGeom>
        </p:spPr>
      </p:pic>
      <p:sp>
        <p:nvSpPr>
          <p:cNvPr id="37" name="Text 23"/>
          <p:cNvSpPr/>
          <p:nvPr/>
        </p:nvSpPr>
        <p:spPr>
          <a:xfrm>
            <a:off x="6433200" y="891815"/>
            <a:ext cx="1443600" cy="129600"/>
          </a:xfrm>
          <a:prstGeom prst="rect">
            <a:avLst/>
          </a:prstGeom>
          <a:noFill/>
        </p:spPr>
        <p:txBody>
          <a:bodyPr wrap="none" lIns="0" tIns="0" rIns="0" bIns="0" rtlCol="0" anchor="ctr"/>
          <a:lstStyle/>
          <a:p>
            <a:pPr marL="0" indent="0" algn="ctr">
              <a:buNone/>
            </a:pPr>
            <a:r>
              <a:rPr lang="en-US" sz="1200" b="1" dirty="0">
                <a:solidFill>
                  <a:srgbClr val="FFFFFF"/>
                </a:solidFill>
                <a:latin typeface="微软雅黑" panose="020B0503020204020204" charset="-122"/>
                <a:ea typeface="微软雅黑" panose="020B0503020204020204" charset="-122"/>
                <a:cs typeface="微软雅黑" panose="020B0503020204020204" pitchFamily="34" charset="-120"/>
              </a:rPr>
              <a:t>Core Implementation Details</a:t>
            </a:r>
          </a:p>
        </p:txBody>
      </p:sp>
      <p:sp>
        <p:nvSpPr>
          <p:cNvPr id="46" name="文本框 45"/>
          <p:cNvSpPr txBox="1"/>
          <p:nvPr/>
        </p:nvSpPr>
        <p:spPr>
          <a:xfrm>
            <a:off x="5591175" y="1215390"/>
            <a:ext cx="3552825" cy="3549650"/>
          </a:xfrm>
          <a:prstGeom prst="rect">
            <a:avLst/>
          </a:prstGeom>
          <a:noFill/>
        </p:spPr>
        <p:txBody>
          <a:bodyPr wrap="square" rtlCol="0">
            <a:noAutofit/>
          </a:bodyPr>
          <a:lstStyle/>
          <a:p>
            <a:r>
              <a:rPr lang="en-US" b="1" dirty="0">
                <a:solidFill>
                  <a:srgbClr val="072467"/>
                </a:solidFill>
                <a:latin typeface="黑体" panose="02010609060101010101" charset="-122"/>
                <a:ea typeface="黑体" panose="02010609060101010101" charset="-122"/>
                <a:cs typeface="黑体" panose="02010609060101010101" pitchFamily="34" charset="-120"/>
                <a:sym typeface="+mn-ea"/>
              </a:rPr>
              <a:t>Cloud API Architecture</a:t>
            </a:r>
          </a:p>
          <a:p>
            <a:r>
              <a:rPr lang="en-US" sz="1000" dirty="0">
                <a:solidFill>
                  <a:srgbClr val="333333"/>
                </a:solidFill>
                <a:latin typeface="微软雅黑" panose="020B0503020204020204" charset="-122"/>
                <a:ea typeface="微软雅黑" panose="020B0503020204020204" charset="-122"/>
                <a:cs typeface="微软雅黑" panose="020B0503020204020204" pitchFamily="34" charset="-120"/>
                <a:sym typeface="+mn-ea"/>
              </a:rPr>
              <a:t>Connects to external EmotionTTS cloud service with OpenAI-compatible endpoint </a:t>
            </a:r>
            <a:r>
              <a:rPr lang="en-US" sz="1000" dirty="0">
                <a:solidFill>
                  <a:srgbClr val="333333"/>
                </a:solidFill>
                <a:highlight>
                  <a:srgbClr val="C0C0C0"/>
                </a:highlight>
                <a:latin typeface="微软雅黑" panose="020B0503020204020204" charset="-122"/>
                <a:ea typeface="微软雅黑" panose="020B0503020204020204" charset="-122"/>
                <a:cs typeface="微软雅黑" panose="020B0503020204020204" pitchFamily="34" charset="-120"/>
                <a:sym typeface="+mn-ea"/>
              </a:rPr>
              <a:t>/v1/audio/speech</a:t>
            </a:r>
            <a:r>
              <a:rPr lang="en-US" sz="1000" dirty="0">
                <a:solidFill>
                  <a:srgbClr val="333333"/>
                </a:solidFill>
                <a:latin typeface="微软雅黑" panose="020B0503020204020204" charset="-122"/>
                <a:ea typeface="微软雅黑" panose="020B0503020204020204" charset="-122"/>
                <a:cs typeface="微软雅黑" panose="020B0503020204020204" pitchFamily="34" charset="-120"/>
                <a:sym typeface="+mn-ea"/>
              </a:rPr>
              <a:t> avoids local deployment of GB-scale IndexTTS2 model, supports independent cloud model iteration and GPU computing offloading.</a:t>
            </a:r>
            <a:endParaRPr lang="en-US" sz="1000" dirty="0"/>
          </a:p>
          <a:p>
            <a:endParaRPr lang="en-US" sz="1000" dirty="0"/>
          </a:p>
          <a:p>
            <a:pPr algn="l">
              <a:buClrTx/>
              <a:buSzTx/>
              <a:buFontTx/>
            </a:pPr>
            <a:r>
              <a:rPr lang="en-US" sz="1800" b="1" dirty="0">
                <a:solidFill>
                  <a:srgbClr val="072467"/>
                </a:solidFill>
                <a:latin typeface="黑体" panose="02010609060101010101" charset="-122"/>
                <a:ea typeface="黑体" panose="02010609060101010101" charset="-122"/>
                <a:cs typeface="黑体" panose="02010609060101010101" pitchFamily="34" charset="-120"/>
                <a:sym typeface="+mn-ea"/>
              </a:rPr>
              <a:t>Emotion Analysis Pipeline</a:t>
            </a:r>
            <a:endParaRPr lang="en-US" sz="1800" b="1" dirty="0">
              <a:solidFill>
                <a:srgbClr val="072467"/>
              </a:solidFill>
              <a:latin typeface="黑体" panose="02010609060101010101" charset="-122"/>
              <a:ea typeface="黑体" panose="02010609060101010101" charset="-122"/>
              <a:cs typeface="黑体" panose="02010609060101010101" pitchFamily="34" charset="-120"/>
            </a:endParaRPr>
          </a:p>
          <a:p>
            <a:r>
              <a:rPr lang="en-US" sz="1000" dirty="0">
                <a:solidFill>
                  <a:srgbClr val="333333"/>
                </a:solidFill>
                <a:latin typeface="微软雅黑" panose="020B0503020204020204" charset="-122"/>
                <a:ea typeface="微软雅黑" panose="020B0503020204020204" charset="-122"/>
                <a:cs typeface="微软雅黑" panose="020B0503020204020204" pitchFamily="34" charset="-120"/>
                <a:sym typeface="+mn-ea"/>
              </a:rPr>
              <a:t>DeepSeek LLM analyzes dialogue as dubbing director, outputs structured emotion data mapped to IndexTTS2's 8-dimensional emotion vector: </a:t>
            </a:r>
            <a:r>
              <a:rPr lang="en-US" sz="1000" dirty="0">
                <a:solidFill>
                  <a:srgbClr val="072467"/>
                </a:solidFill>
                <a:latin typeface="微软雅黑" panose="020B0503020204020204" charset="-122"/>
                <a:ea typeface="微软雅黑" panose="020B0503020204020204" charset="-122"/>
                <a:cs typeface="微软雅黑" panose="020B0503020204020204" pitchFamily="34" charset="-120"/>
                <a:sym typeface="+mn-ea"/>
              </a:rPr>
              <a:t>happiness, anger, sadness, fear, disgust, depression, surprise, neutral</a:t>
            </a:r>
            <a:endParaRPr lang="en-US" sz="1000" dirty="0"/>
          </a:p>
          <a:p>
            <a:endParaRPr lang="en-US" sz="1000" dirty="0"/>
          </a:p>
          <a:p>
            <a:pPr algn="l">
              <a:buClrTx/>
              <a:buSzTx/>
              <a:buFontTx/>
            </a:pPr>
            <a:r>
              <a:rPr lang="en-US" sz="1800" b="1" dirty="0">
                <a:solidFill>
                  <a:srgbClr val="072467"/>
                </a:solidFill>
                <a:latin typeface="黑体" panose="02010609060101010101" charset="-122"/>
                <a:ea typeface="黑体" panose="02010609060101010101" charset="-122"/>
                <a:cs typeface="黑体" panose="02010609060101010101" pitchFamily="34" charset="-120"/>
                <a:sym typeface="+mn-ea"/>
              </a:rPr>
              <a:t>End-to-End Chapter Dubbing Workflow</a:t>
            </a:r>
            <a:endParaRPr lang="en-US" sz="1800" b="1" dirty="0">
              <a:solidFill>
                <a:srgbClr val="072467"/>
              </a:solidFill>
              <a:latin typeface="黑体" panose="02010609060101010101" charset="-122"/>
              <a:ea typeface="黑体" panose="02010609060101010101" charset="-122"/>
              <a:cs typeface="黑体" panose="02010609060101010101" pitchFamily="34" charset="-120"/>
            </a:endParaRPr>
          </a:p>
          <a:p>
            <a:r>
              <a:rPr lang="en-US" sz="1000" dirty="0">
                <a:solidFill>
                  <a:srgbClr val="333333"/>
                </a:solidFill>
                <a:latin typeface="微软雅黑" panose="020B0503020204020204" charset="-122"/>
                <a:ea typeface="微软雅黑" panose="020B0503020204020204" charset="-122"/>
                <a:cs typeface="微软雅黑" panose="020B0503020204020204" pitchFamily="34" charset="-120"/>
                <a:sym typeface="+mn-ea"/>
              </a:rPr>
              <a:t>Text parsing → character mapping → voice library matching → emotion analysis → Base64 encoding → cloud synthesis → local WAV file storage, with </a:t>
            </a:r>
            <a:r>
              <a:rPr lang="en-US" sz="1000" dirty="0">
                <a:solidFill>
                  <a:srgbClr val="072467"/>
                </a:solidFill>
                <a:latin typeface="微软雅黑" panose="020B0503020204020204" charset="-122"/>
                <a:ea typeface="微软雅黑" panose="020B0503020204020204" charset="-122"/>
                <a:cs typeface="微软雅黑" panose="020B0503020204020204" pitchFamily="34" charset="-120"/>
                <a:sym typeface="+mn-ea"/>
              </a:rPr>
              <a:t>7 basic emotion reference audio libraries </a:t>
            </a:r>
            <a:r>
              <a:rPr lang="en-US" sz="1000" dirty="0">
                <a:solidFill>
                  <a:srgbClr val="333333"/>
                </a:solidFill>
                <a:latin typeface="微软雅黑" panose="020B0503020204020204" charset="-122"/>
                <a:ea typeface="微软雅黑" panose="020B0503020204020204" charset="-122"/>
                <a:cs typeface="微软雅黑" panose="020B0503020204020204" pitchFamily="34" charset="-120"/>
                <a:sym typeface="+mn-ea"/>
              </a:rPr>
              <a:t>per character.</a:t>
            </a:r>
            <a:endParaRPr lang="en-US" sz="1000" dirty="0"/>
          </a:p>
          <a:p>
            <a:endParaRPr lang="en-US" sz="1000" dirty="0"/>
          </a:p>
          <a:p>
            <a:endParaRPr lang="en-US" sz="1000" dirty="0"/>
          </a:p>
          <a:p>
            <a:endParaRPr lang="en-US" sz="1000" dirty="0"/>
          </a:p>
          <a:p>
            <a:endParaRPr lang="en-US" sz="1000" dirty="0"/>
          </a:p>
          <a:p>
            <a:endParaRPr lang="en-US" sz="1000" dirty="0"/>
          </a:p>
          <a:p>
            <a:endParaRPr lang="en-US" altLang="en-US" sz="1000" dirty="0"/>
          </a:p>
        </p:txBody>
      </p:sp>
      <p:pic>
        <p:nvPicPr>
          <p:cNvPr id="48" name="图片 47" descr="TTS生成数据流"/>
          <p:cNvPicPr>
            <a:picLocks noChangeAspect="1"/>
          </p:cNvPicPr>
          <p:nvPr/>
        </p:nvPicPr>
        <p:blipFill>
          <a:blip r:embed="rId5"/>
          <a:srcRect l="12002" r="12044"/>
          <a:stretch>
            <a:fillRect/>
          </a:stretch>
        </p:blipFill>
        <p:spPr>
          <a:xfrm>
            <a:off x="671195" y="931545"/>
            <a:ext cx="4577080" cy="3363595"/>
          </a:xfrm>
          <a:prstGeom prst="rect">
            <a:avLst/>
          </a:prstGeom>
        </p:spPr>
      </p:pic>
      <p:sp>
        <p:nvSpPr>
          <p:cNvPr id="57" name="Text 5"/>
          <p:cNvSpPr/>
          <p:nvPr/>
        </p:nvSpPr>
        <p:spPr>
          <a:xfrm>
            <a:off x="381000" y="88773"/>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02 SYSTEM ARCHITECTURE · SOUND GENERATION</a:t>
            </a:r>
            <a:endParaRPr lang="en-US" sz="1200" dirty="0"/>
          </a:p>
        </p:txBody>
      </p:sp>
      <p:sp>
        <p:nvSpPr>
          <p:cNvPr id="2" name="Shape 0"/>
          <p:cNvSpPr/>
          <p:nvPr/>
        </p:nvSpPr>
        <p:spPr>
          <a:xfrm>
            <a:off x="8641080" y="-91440"/>
            <a:ext cx="594360" cy="411480"/>
          </a:xfrm>
          <a:prstGeom prst="rect">
            <a:avLst/>
          </a:prstGeom>
          <a:solidFill>
            <a:srgbClr val="1F2A5E"/>
          </a:solidFill>
        </p:spPr>
      </p:sp>
      <p:sp>
        <p:nvSpPr>
          <p:cNvPr id="7" name="Shape 1"/>
          <p:cNvSpPr/>
          <p:nvPr/>
        </p:nvSpPr>
        <p:spPr>
          <a:xfrm>
            <a:off x="8183880" y="164592"/>
            <a:ext cx="548640" cy="365760"/>
          </a:xfrm>
          <a:prstGeom prst="rect">
            <a:avLst/>
          </a:prstGeom>
          <a:solidFill>
            <a:srgbClr val="8C9CD4">
              <a:alpha val="85000"/>
            </a:srgbClr>
          </a:solidFill>
        </p:spPr>
      </p:sp>
      <p:sp>
        <p:nvSpPr>
          <p:cNvPr id="8" name="Shape 2"/>
          <p:cNvSpPr/>
          <p:nvPr/>
        </p:nvSpPr>
        <p:spPr>
          <a:xfrm>
            <a:off x="-502920" y="4343400"/>
            <a:ext cx="1828800" cy="960120"/>
          </a:xfrm>
          <a:prstGeom prst="triangle">
            <a:avLst/>
          </a:prstGeom>
          <a:solidFill>
            <a:srgbClr val="E4E9F8">
              <a:alpha val="75000"/>
            </a:srgbClr>
          </a:solid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27" name="TextBox 27"/>
          <p:cNvSpPr txBox="1"/>
          <p:nvPr/>
        </p:nvSpPr>
        <p:spPr>
          <a:xfrm>
            <a:off x="1198254" y="2480725"/>
            <a:ext cx="6186393" cy="390171"/>
          </a:xfrm>
          <a:prstGeom prst="rect">
            <a:avLst/>
          </a:prstGeom>
        </p:spPr>
        <p:txBody>
          <a:bodyPr wrap="square" lIns="0" tIns="0" rIns="0" bIns="0" rtlCol="0" anchor="t">
            <a:spAutoFit/>
          </a:bodyPr>
          <a:lstStyle/>
          <a:p>
            <a:pPr marL="0" marR="0" lvl="0" indent="0" algn="l" defTabSz="914400" rtl="0" eaLnBrk="1" fontAlgn="auto" latinLnBrk="0" hangingPunct="1">
              <a:lnSpc>
                <a:spcPts val="264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1E1E1E"/>
                </a:solidFill>
                <a:effectLst/>
                <a:uLnTx/>
                <a:uFillTx/>
                <a:latin typeface="Arial" panose="020B0604020202020204" pitchFamily="34" charset="0"/>
                <a:ea typeface="思源黑体 3 Bold"/>
                <a:cs typeface="Arial" panose="020B0604020202020204" pitchFamily="34" charset="0"/>
                <a:sym typeface="思源黑体 3 Bold"/>
              </a:rPr>
              <a:t>Evaluation</a:t>
            </a:r>
          </a:p>
        </p:txBody>
      </p:sp>
      <p:grpSp>
        <p:nvGrpSpPr>
          <p:cNvPr id="28" name="Group 28"/>
          <p:cNvGrpSpPr/>
          <p:nvPr/>
        </p:nvGrpSpPr>
        <p:grpSpPr>
          <a:xfrm>
            <a:off x="1198255" y="1279054"/>
            <a:ext cx="867769" cy="86776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2467"/>
            </a:solidFill>
          </p:spPr>
        </p:sp>
        <p:sp>
          <p:nvSpPr>
            <p:cNvPr id="30" name="TextBox 30"/>
            <p:cNvSpPr txBox="1"/>
            <p:nvPr/>
          </p:nvSpPr>
          <p:spPr>
            <a:xfrm>
              <a:off x="76200" y="76200"/>
              <a:ext cx="660400" cy="660400"/>
            </a:xfrm>
            <a:prstGeom prst="rect">
              <a:avLst/>
            </a:prstGeom>
          </p:spPr>
          <p:txBody>
            <a:bodyPr lIns="25400" tIns="25400" rIns="25400" bIns="25400" rtlCol="0" anchor="ctr"/>
            <a:lstStyle/>
            <a:p>
              <a:pPr marL="0" marR="0" lvl="0" indent="0" algn="l" defTabSz="914400" rtl="0" eaLnBrk="1" fontAlgn="auto" latinLnBrk="0" hangingPunct="1">
                <a:lnSpc>
                  <a:spcPts val="1495"/>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1" name="TextBox 31"/>
          <p:cNvSpPr txBox="1"/>
          <p:nvPr/>
        </p:nvSpPr>
        <p:spPr>
          <a:xfrm>
            <a:off x="1226949" y="1336232"/>
            <a:ext cx="810381" cy="641201"/>
          </a:xfrm>
          <a:prstGeom prst="rect">
            <a:avLst/>
          </a:prstGeom>
        </p:spPr>
        <p:txBody>
          <a:bodyPr lIns="0" tIns="0" rIns="0" bIns="0" rtlCol="0" anchor="t">
            <a:spAutoFit/>
          </a:bodyPr>
          <a:lstStyle/>
          <a:p>
            <a:pPr marL="0" marR="0" lvl="0" indent="0" algn="ctr" defTabSz="914400" rtl="0" eaLnBrk="1" fontAlgn="auto" latinLnBrk="0" hangingPunct="1">
              <a:lnSpc>
                <a:spcPts val="5030"/>
              </a:lnSpc>
              <a:spcBef>
                <a:spcPts val="0"/>
              </a:spcBef>
              <a:spcAft>
                <a:spcPts val="0"/>
              </a:spcAft>
              <a:buClrTx/>
              <a:buSzTx/>
              <a:buFontTx/>
              <a:buNone/>
              <a:defRPr/>
            </a:pPr>
            <a:r>
              <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rPr>
              <a:t>0</a:t>
            </a:r>
            <a:r>
              <a:rPr lang="en-US" sz="4190" b="1" dirty="0">
                <a:solidFill>
                  <a:srgbClr val="FFFFFF"/>
                </a:solidFill>
                <a:latin typeface="Akzidenz-Grotesk Bold"/>
                <a:ea typeface="Akzidenz-Grotesk Bold"/>
                <a:cs typeface="Akzidenz-Grotesk Bold"/>
                <a:sym typeface="Akzidenz-Grotesk Bold"/>
              </a:rPr>
              <a:t>3</a:t>
            </a:r>
            <a:endPar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03 EVALUATION · NOVEL GENERATION</a:t>
            </a:r>
            <a:endParaRPr lang="en-US" sz="1200" dirty="0"/>
          </a:p>
        </p:txBody>
      </p:sp>
      <p:sp>
        <p:nvSpPr>
          <p:cNvPr id="24" name="Shape 22"/>
          <p:cNvSpPr/>
          <p:nvPr/>
        </p:nvSpPr>
        <p:spPr>
          <a:xfrm>
            <a:off x="452755" y="3771265"/>
            <a:ext cx="4115435" cy="1056005"/>
          </a:xfrm>
          <a:prstGeom prst="rect">
            <a:avLst/>
          </a:prstGeom>
          <a:solidFill>
            <a:srgbClr val="F4F6FB"/>
          </a:solidFill>
        </p:spPr>
        <p:txBody>
          <a:bodyPr/>
          <a:lstStyle/>
          <a:p>
            <a:endParaRPr lang="zh-CN" altLang="en-US"/>
          </a:p>
        </p:txBody>
      </p:sp>
      <p:sp>
        <p:nvSpPr>
          <p:cNvPr id="25" name="Text 23"/>
          <p:cNvSpPr/>
          <p:nvPr/>
        </p:nvSpPr>
        <p:spPr>
          <a:xfrm>
            <a:off x="457200" y="3762883"/>
            <a:ext cx="3749040" cy="237744"/>
          </a:xfrm>
          <a:prstGeom prst="rect">
            <a:avLst/>
          </a:prstGeom>
          <a:noFill/>
        </p:spPr>
        <p:txBody>
          <a:bodyPr wrap="square" lIns="0" tIns="0" rIns="0" bIns="0" rtlCol="0" anchor="ctr"/>
          <a:lstStyle/>
          <a:p>
            <a:pPr marL="0" indent="0">
              <a:buNone/>
            </a:pPr>
            <a:r>
              <a:rPr lang="en-US" sz="1200" b="1" dirty="0">
                <a:solidFill>
                  <a:srgbClr val="1F2A5E"/>
                </a:solidFill>
              </a:rPr>
              <a:t>《营造法式》 — 44k words</a:t>
            </a:r>
            <a:endParaRPr lang="en-US" sz="1200" dirty="0"/>
          </a:p>
        </p:txBody>
      </p:sp>
      <p:sp>
        <p:nvSpPr>
          <p:cNvPr id="26" name="Text 24"/>
          <p:cNvSpPr/>
          <p:nvPr/>
        </p:nvSpPr>
        <p:spPr>
          <a:xfrm>
            <a:off x="513715" y="4033520"/>
            <a:ext cx="3181350" cy="960755"/>
          </a:xfrm>
          <a:prstGeom prst="rect">
            <a:avLst/>
          </a:prstGeom>
          <a:noFill/>
        </p:spPr>
        <p:txBody>
          <a:bodyPr wrap="square" lIns="0" tIns="0" rIns="0" bIns="0" rtlCol="0" anchor="ctr" anchorCtr="0"/>
          <a:lstStyle/>
          <a:p>
            <a:pPr marL="342900" indent="-342900">
              <a:spcAft>
                <a:spcPts val="300"/>
              </a:spcAft>
              <a:buSzPct val="100000"/>
              <a:buChar char="●"/>
            </a:pPr>
            <a:r>
              <a:rPr lang="en-US" sz="950" dirty="0">
                <a:solidFill>
                  <a:srgbClr val="242424"/>
                </a:solidFill>
                <a:latin typeface="Arial" panose="020B0604020202020204" pitchFamily="34" charset="0"/>
                <a:ea typeface="Arial" panose="020B0604020202020204" pitchFamily="34" charset="-122"/>
                <a:cs typeface="Arial" panose="020B0604020202020204" pitchFamily="34" charset="-120"/>
              </a:rPr>
              <a:t>Relations (56): 1m 01s   ·   Naming + outline: 1m 53s</a:t>
            </a:r>
            <a:endParaRPr lang="en-US" sz="950" dirty="0"/>
          </a:p>
          <a:p>
            <a:pPr marL="342900" indent="-342900">
              <a:spcAft>
                <a:spcPts val="300"/>
              </a:spcAft>
              <a:buSzPct val="100000"/>
              <a:buChar char="●"/>
            </a:pPr>
            <a:r>
              <a:rPr lang="en-US" sz="950" dirty="0">
                <a:solidFill>
                  <a:srgbClr val="242424"/>
                </a:solidFill>
                <a:latin typeface="Arial" panose="020B0604020202020204" pitchFamily="34" charset="0"/>
                <a:ea typeface="Arial" panose="020B0604020202020204" pitchFamily="34" charset="-122"/>
                <a:cs typeface="Arial" panose="020B0604020202020204" pitchFamily="34" charset="-120"/>
              </a:rPr>
              <a:t>Full-text generation: 9m 22s</a:t>
            </a:r>
            <a:endParaRPr lang="en-US" sz="950" dirty="0"/>
          </a:p>
        </p:txBody>
      </p:sp>
      <p:pic>
        <p:nvPicPr>
          <p:cNvPr id="29" name="图片 29"/>
          <p:cNvPicPr>
            <a:picLocks noChangeAspect="1"/>
          </p:cNvPicPr>
          <p:nvPr/>
        </p:nvPicPr>
        <p:blipFill>
          <a:blip r:embed="rId3"/>
          <a:srcRect l="6227" t="2858"/>
          <a:stretch>
            <a:fillRect/>
          </a:stretch>
        </p:blipFill>
        <p:spPr>
          <a:xfrm>
            <a:off x="7853045" y="2969260"/>
            <a:ext cx="1118870" cy="1791335"/>
          </a:xfrm>
          <a:prstGeom prst="rect">
            <a:avLst/>
          </a:prstGeom>
          <a:noFill/>
          <a:ln>
            <a:noFill/>
          </a:ln>
        </p:spPr>
      </p:pic>
      <p:pic>
        <p:nvPicPr>
          <p:cNvPr id="31" name="图片 30"/>
          <p:cNvPicPr>
            <a:picLocks noChangeAspect="1"/>
          </p:cNvPicPr>
          <p:nvPr/>
        </p:nvPicPr>
        <p:blipFill>
          <a:blip r:embed="rId4"/>
          <a:srcRect l="5287"/>
          <a:stretch>
            <a:fillRect/>
          </a:stretch>
        </p:blipFill>
        <p:spPr>
          <a:xfrm>
            <a:off x="4653915" y="2969260"/>
            <a:ext cx="3242310" cy="1802130"/>
          </a:xfrm>
          <a:prstGeom prst="rect">
            <a:avLst/>
          </a:prstGeom>
          <a:noFill/>
          <a:ln>
            <a:noFill/>
          </a:ln>
        </p:spPr>
      </p:pic>
      <p:pic>
        <p:nvPicPr>
          <p:cNvPr id="13" name="图片 12"/>
          <p:cNvPicPr>
            <a:picLocks noChangeAspect="1"/>
          </p:cNvPicPr>
          <p:nvPr/>
        </p:nvPicPr>
        <p:blipFill>
          <a:blip r:embed="rId5"/>
          <a:srcRect b="17165"/>
          <a:stretch>
            <a:fillRect/>
          </a:stretch>
        </p:blipFill>
        <p:spPr>
          <a:xfrm>
            <a:off x="457200" y="1210310"/>
            <a:ext cx="4015740" cy="1758950"/>
          </a:xfrm>
          <a:prstGeom prst="rect">
            <a:avLst/>
          </a:prstGeom>
        </p:spPr>
      </p:pic>
      <p:sp>
        <p:nvSpPr>
          <p:cNvPr id="19" name="Shape 16"/>
          <p:cNvSpPr/>
          <p:nvPr/>
        </p:nvSpPr>
        <p:spPr>
          <a:xfrm>
            <a:off x="4705350" y="1824355"/>
            <a:ext cx="4004310" cy="1026795"/>
          </a:xfrm>
          <a:prstGeom prst="rect">
            <a:avLst/>
          </a:prstGeom>
          <a:solidFill>
            <a:srgbClr val="1F2A5E"/>
          </a:solidFill>
        </p:spPr>
      </p:sp>
      <p:sp>
        <p:nvSpPr>
          <p:cNvPr id="14" name="Text 17"/>
          <p:cNvSpPr/>
          <p:nvPr/>
        </p:nvSpPr>
        <p:spPr>
          <a:xfrm>
            <a:off x="6529705" y="2101850"/>
            <a:ext cx="1991360" cy="567055"/>
          </a:xfrm>
          <a:prstGeom prst="rect">
            <a:avLst/>
          </a:prstGeom>
          <a:noFill/>
        </p:spPr>
        <p:txBody>
          <a:bodyPr wrap="square" lIns="0" tIns="0" rIns="0" bIns="0" rtlCol="0" anchor="t"/>
          <a:lstStyle/>
          <a:p>
            <a:pPr marL="0" indent="0">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Conclusion: </a:t>
            </a:r>
            <a:r>
              <a:rPr lang="en-US" sz="1100" dirty="0">
                <a:solidFill>
                  <a:srgbClr val="E4E9F8"/>
                </a:solidFill>
                <a:latin typeface="Arial" panose="020B0604020202020204" pitchFamily="34" charset="0"/>
                <a:ea typeface="Arial" panose="020B0604020202020204" pitchFamily="34" charset="-122"/>
                <a:cs typeface="Arial" panose="020B0604020202020204" pitchFamily="34" charset="-120"/>
              </a:rPr>
              <a:t>the planning layer exerts a real, observable constraint on the generation layer</a:t>
            </a:r>
            <a:endParaRPr lang="en-US" sz="1100" dirty="0"/>
          </a:p>
        </p:txBody>
      </p:sp>
      <p:sp>
        <p:nvSpPr>
          <p:cNvPr id="16" name="Text 13"/>
          <p:cNvSpPr/>
          <p:nvPr/>
        </p:nvSpPr>
        <p:spPr>
          <a:xfrm>
            <a:off x="4792345" y="1951228"/>
            <a:ext cx="1737360" cy="868680"/>
          </a:xfrm>
          <a:prstGeom prst="rect">
            <a:avLst/>
          </a:prstGeom>
          <a:noFill/>
        </p:spPr>
        <p:txBody>
          <a:bodyPr wrap="square" lIns="0" tIns="0" rIns="0" bIns="0" rtlCol="0" anchor="ctr"/>
          <a:lstStyle/>
          <a:p>
            <a:pPr marL="0" indent="0" algn="ctr">
              <a:buNone/>
            </a:pPr>
            <a:r>
              <a:rPr lang="en-US" sz="4000" b="1" dirty="0">
                <a:solidFill>
                  <a:schemeClr val="bg1"/>
                </a:solidFill>
              </a:rPr>
              <a:t>96.67%</a:t>
            </a:r>
          </a:p>
        </p:txBody>
      </p:sp>
      <p:sp>
        <p:nvSpPr>
          <p:cNvPr id="15" name="Shape 7"/>
          <p:cNvSpPr/>
          <p:nvPr/>
        </p:nvSpPr>
        <p:spPr>
          <a:xfrm>
            <a:off x="457200" y="753745"/>
            <a:ext cx="4114165" cy="454025"/>
          </a:xfrm>
          <a:prstGeom prst="rect">
            <a:avLst/>
          </a:prstGeom>
          <a:solidFill>
            <a:srgbClr val="E4E9F8"/>
          </a:solidFill>
        </p:spPr>
      </p:sp>
      <p:sp>
        <p:nvSpPr>
          <p:cNvPr id="18" name="Text 8"/>
          <p:cNvSpPr/>
          <p:nvPr/>
        </p:nvSpPr>
        <p:spPr>
          <a:xfrm>
            <a:off x="501015" y="750570"/>
            <a:ext cx="4067175" cy="457200"/>
          </a:xfrm>
          <a:prstGeom prst="rect">
            <a:avLst/>
          </a:prstGeom>
          <a:noFill/>
        </p:spPr>
        <p:txBody>
          <a:bodyPr wrap="square" lIns="0" tIns="0" rIns="0" bIns="0" rtlCol="0" anchor="ctr"/>
          <a:lstStyle/>
          <a:p>
            <a:pPr marL="0" indent="0">
              <a:buNone/>
            </a:pPr>
            <a:r>
              <a:rPr lang="en-US" altLang="zh-CN" sz="1150" dirty="0"/>
              <a:t>Test sample: 6-chapter historical fiction outline Biànshui Rainbow Bridge (《</a:t>
            </a:r>
            <a:r>
              <a:rPr lang="zh-CN" altLang="en-US" sz="1150" dirty="0"/>
              <a:t>汴水虹桥》), 12,000-</a:t>
            </a:r>
            <a:r>
              <a:rPr lang="en-US" altLang="zh-CN" sz="1150" dirty="0"/>
              <a:t>word target (~2,000 words/chapter)</a:t>
            </a:r>
          </a:p>
        </p:txBody>
      </p:sp>
      <p:sp>
        <p:nvSpPr>
          <p:cNvPr id="21" name="Shape 7"/>
          <p:cNvSpPr/>
          <p:nvPr/>
        </p:nvSpPr>
        <p:spPr>
          <a:xfrm>
            <a:off x="457200" y="3035935"/>
            <a:ext cx="4015740" cy="457200"/>
          </a:xfrm>
          <a:prstGeom prst="rect">
            <a:avLst/>
          </a:prstGeom>
          <a:solidFill>
            <a:srgbClr val="E4E9F8"/>
          </a:solidFill>
        </p:spPr>
      </p:sp>
      <p:sp>
        <p:nvSpPr>
          <p:cNvPr id="22" name="Text 8"/>
          <p:cNvSpPr/>
          <p:nvPr/>
        </p:nvSpPr>
        <p:spPr>
          <a:xfrm>
            <a:off x="533400" y="3035935"/>
            <a:ext cx="7863840" cy="457200"/>
          </a:xfrm>
          <a:prstGeom prst="rect">
            <a:avLst/>
          </a:prstGeom>
          <a:noFill/>
        </p:spPr>
        <p:txBody>
          <a:bodyPr wrap="square" lIns="0" tIns="0" rIns="0" bIns="0" rtlCol="0" anchor="ctr"/>
          <a:lstStyle/>
          <a:p>
            <a:pPr marL="0" indent="0">
              <a:buNone/>
            </a:pPr>
            <a:r>
              <a:rPr lang="en-US" sz="1150" dirty="0"/>
              <a:t>Performance Test</a:t>
            </a:r>
          </a:p>
        </p:txBody>
      </p:sp>
      <p:sp>
        <p:nvSpPr>
          <p:cNvPr id="23" name="Shape 22"/>
          <p:cNvSpPr/>
          <p:nvPr/>
        </p:nvSpPr>
        <p:spPr>
          <a:xfrm>
            <a:off x="4705350" y="1212215"/>
            <a:ext cx="4003675" cy="786765"/>
          </a:xfrm>
          <a:prstGeom prst="rect">
            <a:avLst/>
          </a:prstGeom>
          <a:solidFill>
            <a:srgbClr val="F4F6FB"/>
          </a:solidFill>
        </p:spPr>
        <p:txBody>
          <a:bodyPr/>
          <a:lstStyle/>
          <a:p>
            <a:endParaRPr lang="zh-CN" altLang="en-US"/>
          </a:p>
        </p:txBody>
      </p:sp>
      <p:sp>
        <p:nvSpPr>
          <p:cNvPr id="27" name="Text 14"/>
          <p:cNvSpPr/>
          <p:nvPr/>
        </p:nvSpPr>
        <p:spPr>
          <a:xfrm>
            <a:off x="4777740" y="1265555"/>
            <a:ext cx="3863340" cy="685800"/>
          </a:xfrm>
          <a:prstGeom prst="rect">
            <a:avLst/>
          </a:prstGeom>
          <a:noFill/>
        </p:spPr>
        <p:txBody>
          <a:bodyPr wrap="square" lIns="0" tIns="0" rIns="0" bIns="0" rtlCol="0" anchor="t"/>
          <a:lstStyle/>
          <a:p>
            <a:pPr marL="0" indent="0" algn="ctr">
              <a:buNone/>
            </a:pPr>
            <a:r>
              <a:rPr lang="en-US" altLang="zh-CN" sz="950" dirty="0">
                <a:solidFill>
                  <a:schemeClr val="bg1">
                    <a:lumMod val="65000"/>
                  </a:schemeClr>
                </a:solidFill>
              </a:rPr>
              <a:t>Scoring: fully realized = 1.0, partially realized = 0.5, absent = 0.0. Each chapter comprises 4 key plot events + 1 chapter-ending hook (5 items). Ch. 3 contains two partial realizations: a location discrepancy in the defective-timber discovery scene, and an indirect rather than explicit sample-delivery action.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41080" y="-91440"/>
            <a:ext cx="594360" cy="411480"/>
          </a:xfrm>
          <a:prstGeom prst="rect">
            <a:avLst/>
          </a:prstGeom>
          <a:solidFill>
            <a:srgbClr val="1F2A5E"/>
          </a:solidFill>
        </p:spPr>
      </p:sp>
      <p:sp>
        <p:nvSpPr>
          <p:cNvPr id="3" name="Shape 1"/>
          <p:cNvSpPr/>
          <p:nvPr/>
        </p:nvSpPr>
        <p:spPr>
          <a:xfrm>
            <a:off x="8183880" y="164592"/>
            <a:ext cx="548640" cy="365760"/>
          </a:xfrm>
          <a:prstGeom prst="rect">
            <a:avLst/>
          </a:prstGeom>
          <a:solidFill>
            <a:srgbClr val="8C9CD4">
              <a:alpha val="85000"/>
            </a:srgbClr>
          </a:solidFill>
        </p:spPr>
      </p:sp>
      <p:sp>
        <p:nvSpPr>
          <p:cNvPr id="4" name="Shape 2"/>
          <p:cNvSpPr/>
          <p:nvPr/>
        </p:nvSpPr>
        <p:spPr>
          <a:xfrm>
            <a:off x="-502920" y="4343400"/>
            <a:ext cx="1828800" cy="960120"/>
          </a:xfrm>
          <a:prstGeom prst="triangle">
            <a:avLst/>
          </a:prstGeom>
          <a:solidFill>
            <a:srgbClr val="E4E9F8">
              <a:alpha val="75000"/>
            </a:srgbClr>
          </a:solidFill>
        </p:spPr>
      </p:sp>
      <p:sp>
        <p:nvSpPr>
          <p:cNvPr id="7" name="Text 5"/>
          <p:cNvSpPr/>
          <p:nvPr/>
        </p:nvSpPr>
        <p:spPr>
          <a:xfrm>
            <a:off x="457200" y="29260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03 EVALUATION · NOVEL GENERATION</a:t>
            </a:r>
            <a:endParaRPr lang="en-US" sz="1200" dirty="0"/>
          </a:p>
        </p:txBody>
      </p:sp>
      <p:sp>
        <p:nvSpPr>
          <p:cNvPr id="8" name="Text 6"/>
          <p:cNvSpPr/>
          <p:nvPr/>
        </p:nvSpPr>
        <p:spPr>
          <a:xfrm>
            <a:off x="457200" y="761677"/>
            <a:ext cx="8229600" cy="713232"/>
          </a:xfrm>
          <a:prstGeom prst="rect">
            <a:avLst/>
          </a:prstGeom>
          <a:noFill/>
        </p:spPr>
        <p:txBody>
          <a:bodyPr wrap="square" lIns="0" tIns="0" rIns="0" bIns="0" rtlCol="0" anchor="t"/>
          <a:lstStyle/>
          <a:p>
            <a:pPr marL="0" indent="0">
              <a:buNone/>
            </a:pPr>
            <a:r>
              <a:rPr lang="en-US" sz="2000" b="1" dirty="0">
                <a:solidFill>
                  <a:srgbClr val="242424"/>
                </a:solidFill>
                <a:latin typeface="Arial" panose="020B0604020202020204" pitchFamily="34" charset="0"/>
                <a:ea typeface="Arial" panose="020B0604020202020204" pitchFamily="34" charset="-122"/>
                <a:cs typeface="Arial" panose="020B0604020202020204" pitchFamily="34" charset="-120"/>
                <a:sym typeface="+mn-ea"/>
              </a:rPr>
              <a:t>Literary Expressiveness of Text Generated by SuperSotry</a:t>
            </a:r>
            <a:endParaRPr lang="en-US" sz="2000" b="1" dirty="0"/>
          </a:p>
        </p:txBody>
      </p:sp>
      <p:pic>
        <p:nvPicPr>
          <p:cNvPr id="10" name="图片 9"/>
          <p:cNvPicPr>
            <a:picLocks noChangeAspect="1"/>
          </p:cNvPicPr>
          <p:nvPr/>
        </p:nvPicPr>
        <p:blipFill>
          <a:blip r:embed="rId3"/>
          <a:stretch>
            <a:fillRect/>
          </a:stretch>
        </p:blipFill>
        <p:spPr>
          <a:xfrm>
            <a:off x="4816475" y="3946525"/>
            <a:ext cx="4237990" cy="698500"/>
          </a:xfrm>
          <a:prstGeom prst="rect">
            <a:avLst/>
          </a:prstGeom>
        </p:spPr>
      </p:pic>
      <p:pic>
        <p:nvPicPr>
          <p:cNvPr id="11" name="图片 10"/>
          <p:cNvPicPr>
            <a:picLocks noChangeAspect="1"/>
          </p:cNvPicPr>
          <p:nvPr/>
        </p:nvPicPr>
        <p:blipFill>
          <a:blip r:embed="rId4"/>
          <a:stretch>
            <a:fillRect/>
          </a:stretch>
        </p:blipFill>
        <p:spPr>
          <a:xfrm>
            <a:off x="407670" y="3730625"/>
            <a:ext cx="3963035" cy="902335"/>
          </a:xfrm>
          <a:prstGeom prst="rect">
            <a:avLst/>
          </a:prstGeom>
        </p:spPr>
      </p:pic>
      <p:pic>
        <p:nvPicPr>
          <p:cNvPr id="12" name="图片 11"/>
          <p:cNvPicPr>
            <a:picLocks noChangeAspect="1"/>
          </p:cNvPicPr>
          <p:nvPr/>
        </p:nvPicPr>
        <p:blipFill>
          <a:blip r:embed="rId5"/>
          <a:stretch>
            <a:fillRect/>
          </a:stretch>
        </p:blipFill>
        <p:spPr>
          <a:xfrm>
            <a:off x="5080000" y="1226185"/>
            <a:ext cx="3423285" cy="2691130"/>
          </a:xfrm>
          <a:prstGeom prst="rect">
            <a:avLst/>
          </a:prstGeom>
        </p:spPr>
      </p:pic>
      <p:pic>
        <p:nvPicPr>
          <p:cNvPr id="15" name="图片 14"/>
          <p:cNvPicPr>
            <a:picLocks noChangeAspect="1"/>
          </p:cNvPicPr>
          <p:nvPr/>
        </p:nvPicPr>
        <p:blipFill>
          <a:blip r:embed="rId6"/>
          <a:stretch>
            <a:fillRect/>
          </a:stretch>
        </p:blipFill>
        <p:spPr>
          <a:xfrm>
            <a:off x="407670" y="2896870"/>
            <a:ext cx="3936365" cy="843280"/>
          </a:xfrm>
          <a:prstGeom prst="rect">
            <a:avLst/>
          </a:prstGeom>
        </p:spPr>
      </p:pic>
      <p:pic>
        <p:nvPicPr>
          <p:cNvPr id="17" name="图片 16"/>
          <p:cNvPicPr>
            <a:picLocks noChangeAspect="1"/>
          </p:cNvPicPr>
          <p:nvPr/>
        </p:nvPicPr>
        <p:blipFill>
          <a:blip r:embed="rId7"/>
          <a:stretch>
            <a:fillRect/>
          </a:stretch>
        </p:blipFill>
        <p:spPr>
          <a:xfrm>
            <a:off x="407670" y="1165860"/>
            <a:ext cx="4627880" cy="14598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0"/>
          <p:cNvSpPr/>
          <p:nvPr/>
        </p:nvSpPr>
        <p:spPr>
          <a:xfrm>
            <a:off x="8641080" y="-91440"/>
            <a:ext cx="594360" cy="411480"/>
          </a:xfrm>
          <a:prstGeom prst="rect">
            <a:avLst/>
          </a:prstGeom>
          <a:solidFill>
            <a:srgbClr val="1F2A5E"/>
          </a:solidFill>
        </p:spPr>
      </p:sp>
      <p:sp>
        <p:nvSpPr>
          <p:cNvPr id="13" name="Shape 1"/>
          <p:cNvSpPr/>
          <p:nvPr/>
        </p:nvSpPr>
        <p:spPr>
          <a:xfrm>
            <a:off x="8183880" y="164592"/>
            <a:ext cx="548640" cy="365760"/>
          </a:xfrm>
          <a:prstGeom prst="rect">
            <a:avLst/>
          </a:prstGeom>
          <a:solidFill>
            <a:srgbClr val="8C9CD4">
              <a:alpha val="85000"/>
            </a:srgbClr>
          </a:solidFill>
        </p:spPr>
      </p:sp>
      <p:sp>
        <p:nvSpPr>
          <p:cNvPr id="14" name="Shape 2"/>
          <p:cNvSpPr/>
          <p:nvPr/>
        </p:nvSpPr>
        <p:spPr>
          <a:xfrm>
            <a:off x="-502920" y="4343400"/>
            <a:ext cx="1828800" cy="960120"/>
          </a:xfrm>
          <a:prstGeom prst="triangle">
            <a:avLst/>
          </a:prstGeom>
          <a:solidFill>
            <a:srgbClr val="E4E9F8">
              <a:alpha val="75000"/>
            </a:srgbClr>
          </a:solidFill>
        </p:spPr>
      </p:sp>
      <p:sp>
        <p:nvSpPr>
          <p:cNvPr id="4" name="AutoShape 4"/>
          <p:cNvSpPr/>
          <p:nvPr/>
        </p:nvSpPr>
        <p:spPr>
          <a:xfrm>
            <a:off x="457200" y="292100"/>
            <a:ext cx="82296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spc="100">
                <a:solidFill>
                  <a:srgbClr val="41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03 EVALUATION · IMAGE GENERATION</a:t>
            </a:r>
            <a:endParaRPr lang="en-US" sz="1100"/>
          </a:p>
        </p:txBody>
      </p:sp>
      <p:sp>
        <p:nvSpPr>
          <p:cNvPr id="5" name="AutoShape 5"/>
          <p:cNvSpPr/>
          <p:nvPr/>
        </p:nvSpPr>
        <p:spPr>
          <a:xfrm>
            <a:off x="457200" y="516268"/>
            <a:ext cx="7083083" cy="3048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0000"/>
              </a:lnSpc>
              <a:defRPr/>
            </a:pPr>
            <a:r>
              <a:rPr lang="en-US" sz="2000" b="1" i="0" u="none" strike="noStrike" dirty="0">
                <a:solidFill>
                  <a:srgbClr val="242424"/>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Evaluation Methodology: An Engineering Perspective Beyond Aesthetics</a:t>
            </a:r>
            <a:endParaRPr lang="en-US" sz="2000" dirty="0">
              <a:latin typeface="Arial" panose="020B0604020202020204" pitchFamily="34" charset="0"/>
              <a:cs typeface="Arial" panose="020B0604020202020204" pitchFamily="34" charset="0"/>
            </a:endParaRPr>
          </a:p>
        </p:txBody>
      </p:sp>
      <p:sp>
        <p:nvSpPr>
          <p:cNvPr id="6" name="AutoShape 6"/>
          <p:cNvSpPr/>
          <p:nvPr/>
        </p:nvSpPr>
        <p:spPr>
          <a:xfrm>
            <a:off x="457200" y="1182175"/>
            <a:ext cx="48895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dirty="0">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Evaluation Dimensions</a:t>
            </a:r>
            <a:endParaRPr lang="en-US" sz="1100" dirty="0"/>
          </a:p>
        </p:txBody>
      </p:sp>
      <p:sp>
        <p:nvSpPr>
          <p:cNvPr id="7" name="AutoShape 7"/>
          <p:cNvSpPr/>
          <p:nvPr/>
        </p:nvSpPr>
        <p:spPr>
          <a:xfrm>
            <a:off x="457200" y="1288464"/>
            <a:ext cx="4889500" cy="2032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17000"/>
              </a:lnSpc>
              <a:spcAft>
                <a:spcPts val="600"/>
              </a:spcAft>
              <a:defRPr/>
            </a:pPr>
            <a:endParaRPr lang="en-US" sz="1100" dirty="0"/>
          </a:p>
          <a:p>
            <a:pPr marL="152400" indent="-152400" algn="l">
              <a:lnSpc>
                <a:spcPct val="117000"/>
              </a:lnSpc>
              <a:spcAft>
                <a:spcPts val="400"/>
              </a:spcAft>
              <a:buClr>
                <a:srgbClr val="1F2A5E"/>
              </a:buClr>
              <a:buChar char="•"/>
            </a:pPr>
            <a:r>
              <a:rPr lang="en-US" sz="1200" b="1" i="0" u="none" strike="noStrike" dirty="0">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Functional </a:t>
            </a:r>
            <a:r>
              <a:rPr lang="en-US" sz="1200" b="1" i="0" u="none" strike="noStrike" dirty="0" err="1">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Completeness:</a:t>
            </a:r>
            <a:r>
              <a:rPr lang="en-US" sz="12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Verify</a:t>
            </a:r>
            <a:r>
              <a:rPr lang="en-US" sz="12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a smooth, breakpoint-free workflow.</a:t>
            </a:r>
          </a:p>
          <a:p>
            <a:pPr marL="152400" indent="-152400" algn="l">
              <a:lnSpc>
                <a:spcPct val="117000"/>
              </a:lnSpc>
              <a:spcAft>
                <a:spcPts val="400"/>
              </a:spcAft>
              <a:buClr>
                <a:srgbClr val="1F2A5E"/>
              </a:buClr>
              <a:buChar char="•"/>
            </a:pPr>
            <a:r>
              <a:rPr lang="en-US" sz="1200" b="1" i="0" u="none" strike="noStrike" dirty="0">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Consistency &amp; </a:t>
            </a:r>
            <a:r>
              <a:rPr lang="en-US" sz="1200" b="1" i="0" u="none" strike="noStrike" dirty="0" err="1">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Controllability:</a:t>
            </a:r>
            <a:r>
              <a:rPr lang="en-US" sz="12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Evaluate</a:t>
            </a:r>
            <a:r>
              <a:rPr lang="en-US" sz="12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the system's ability to maintain character consistency and allow user intervention.</a:t>
            </a:r>
          </a:p>
          <a:p>
            <a:pPr marL="152400" indent="-152400" algn="l">
              <a:lnSpc>
                <a:spcPct val="117000"/>
              </a:lnSpc>
              <a:buClr>
                <a:srgbClr val="1F2A5E"/>
              </a:buClr>
              <a:buChar char="•"/>
            </a:pPr>
            <a:r>
              <a:rPr lang="en-US" sz="1200" b="1" i="0" u="none" strike="noStrike" dirty="0">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t>
            </a:r>
            <a:r>
              <a:rPr lang="en-US" sz="1200" b="1" i="0" u="none" strike="noStrike" dirty="0" err="1">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Integration:</a:t>
            </a:r>
            <a:r>
              <a:rPr lang="en-US" sz="12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Evaluate</a:t>
            </a:r>
            <a:r>
              <a:rPr lang="en-US" sz="12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smooth collaboration between modules.</a:t>
            </a:r>
          </a:p>
        </p:txBody>
      </p:sp>
      <p:sp>
        <p:nvSpPr>
          <p:cNvPr id="8" name="AutoShape 8"/>
          <p:cNvSpPr/>
          <p:nvPr/>
        </p:nvSpPr>
        <p:spPr>
          <a:xfrm>
            <a:off x="457200" y="3162300"/>
            <a:ext cx="48895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Evaluation Methods &amp; Processes</a:t>
            </a:r>
            <a:endParaRPr lang="en-US" sz="1100"/>
          </a:p>
        </p:txBody>
      </p:sp>
      <p:sp>
        <p:nvSpPr>
          <p:cNvPr id="9" name="AutoShape 9"/>
          <p:cNvSpPr/>
          <p:nvPr/>
        </p:nvSpPr>
        <p:spPr>
          <a:xfrm>
            <a:off x="457200" y="3238500"/>
            <a:ext cx="4889500" cy="1905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17000"/>
              </a:lnSpc>
              <a:spcAft>
                <a:spcPts val="600"/>
              </a:spcAft>
              <a:defRPr/>
            </a:pPr>
            <a:endParaRPr lang="en-US" sz="1100"/>
          </a:p>
          <a:p>
            <a:pPr marL="152400" indent="-152400" algn="l">
              <a:lnSpc>
                <a:spcPct val="117000"/>
              </a:lnSpc>
              <a:spcAft>
                <a:spcPts val="400"/>
              </a:spcAft>
              <a:buClr>
                <a:srgbClr val="C98A2E"/>
              </a:buClr>
              <a:buFont typeface="+mj-lt"/>
              <a:buAutoNum type="arabicPeriod"/>
            </a:pPr>
            <a:r>
              <a:rPr lang="en-US" sz="1200" b="1" i="0" u="none" strike="noStrike">
                <a:solidFill>
                  <a:srgbClr val="C98A2E"/>
                </a:solidFill>
                <a:latin typeface="Noto Sans SC" panose="020B0200000000000000" charset="-122"/>
                <a:ea typeface="Noto Sans SC" panose="020B0200000000000000" charset="-122"/>
                <a:cs typeface="Noto Sans SC" panose="020B0200000000000000" charset="-122"/>
                <a:sym typeface="Noto Sans SC" panose="020B0200000000000000" charset="-122"/>
              </a:rPr>
              <a:t>Workflow &amp; Functional Testing:</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Simulate user operations to verify functional closure.</a:t>
            </a:r>
          </a:p>
          <a:p>
            <a:pPr marL="152400" indent="-152400" algn="l">
              <a:lnSpc>
                <a:spcPct val="117000"/>
              </a:lnSpc>
              <a:spcAft>
                <a:spcPts val="400"/>
              </a:spcAft>
              <a:buClr>
                <a:srgbClr val="C98A2E"/>
              </a:buClr>
              <a:buFont typeface="+mj-lt"/>
              <a:buAutoNum type="arabicPeriod"/>
            </a:pPr>
            <a:r>
              <a:rPr lang="en-US" sz="1200" b="1" i="0" u="none" strike="noStrike">
                <a:solidFill>
                  <a:srgbClr val="C98A2E"/>
                </a:solidFill>
                <a:latin typeface="Noto Sans SC" panose="020B0200000000000000" charset="-122"/>
                <a:ea typeface="Noto Sans SC" panose="020B0200000000000000" charset="-122"/>
                <a:cs typeface="Noto Sans SC" panose="020B0200000000000000" charset="-122"/>
                <a:sym typeface="Noto Sans SC" panose="020B0200000000000000" charset="-122"/>
              </a:rPr>
              <a:t>API &amp; Module Stability:</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Conduct unit and stress tests on backend interfaces for stability and low-latency response.</a:t>
            </a:r>
          </a:p>
          <a:p>
            <a:pPr marL="152400" indent="-152400" algn="l">
              <a:lnSpc>
                <a:spcPct val="117000"/>
              </a:lnSpc>
              <a:buClr>
                <a:srgbClr val="C98A2E"/>
              </a:buClr>
              <a:buFont typeface="+mj-lt"/>
              <a:buAutoNum type="arabicPeriod"/>
            </a:pPr>
            <a:r>
              <a:rPr lang="en-US" sz="1200" b="1" i="0" u="none" strike="noStrike">
                <a:solidFill>
                  <a:srgbClr val="C98A2E"/>
                </a:solidFill>
                <a:latin typeface="Noto Sans SC" panose="020B0200000000000000" charset="-122"/>
                <a:ea typeface="Noto Sans SC" panose="020B0200000000000000" charset="-122"/>
                <a:cs typeface="Noto Sans SC" panose="020B0200000000000000" charset="-122"/>
                <a:sym typeface="Noto Sans SC" panose="020B0200000000000000" charset="-122"/>
              </a:rPr>
              <a:t>Subjective Utility Validation:</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 proposed human evaluation scheme to assess relevance, consistency, and satisfaction.</a:t>
            </a:r>
          </a:p>
        </p:txBody>
      </p:sp>
      <p:pic>
        <p:nvPicPr>
          <p:cNvPr id="10" name="Picture 10"/>
          <p:cNvPicPr>
            <a:picLocks noChangeAspect="1"/>
          </p:cNvPicPr>
          <p:nvPr/>
        </p:nvPicPr>
        <p:blipFill>
          <a:blip r:embed="rId3"/>
          <a:srcRect l="5854"/>
          <a:stretch>
            <a:fillRect/>
          </a:stretch>
        </p:blipFill>
        <p:spPr>
          <a:xfrm>
            <a:off x="5164863" y="1530277"/>
            <a:ext cx="3905220" cy="2082945"/>
          </a:xfrm>
          <a:prstGeom prst="roundRect">
            <a:avLst>
              <a:gd name="adj" fmla="val 0"/>
            </a:avLst>
          </a:prstGeom>
          <a:noFill/>
          <a:ln w="25400" cap="flat" cmpd="sng">
            <a:noFill/>
            <a:prstDash val="solid"/>
            <a:round/>
          </a:ln>
        </p:spPr>
      </p:pic>
      <p:sp>
        <p:nvSpPr>
          <p:cNvPr id="11" name="AutoShape 11"/>
          <p:cNvSpPr/>
          <p:nvPr/>
        </p:nvSpPr>
        <p:spPr>
          <a:xfrm>
            <a:off x="5415673" y="3683000"/>
            <a:ext cx="3403600" cy="10160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indent="0" algn="l">
              <a:lnSpc>
                <a:spcPct val="108000"/>
              </a:lnSpc>
              <a:defRPr/>
            </a:pPr>
            <a:r>
              <a:rPr lang="en-US" sz="11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interface demonstrates the system's ability to manage and export all generated visual assets in a unified manner, confirming the completeness of the workflow.</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636000" y="-88900"/>
            <a:ext cx="596900" cy="406400"/>
          </a:xfrm>
          <a:prstGeom prst="roundRect">
            <a:avLst>
              <a:gd name="adj" fmla="val 0"/>
            </a:avLst>
          </a:prstGeom>
          <a:solidFill>
            <a:srgbClr val="1F2A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178800" y="165100"/>
            <a:ext cx="546100" cy="368300"/>
          </a:xfrm>
          <a:prstGeom prst="roundRect">
            <a:avLst>
              <a:gd name="adj" fmla="val 0"/>
            </a:avLst>
          </a:prstGeom>
          <a:solidFill>
            <a:srgbClr val="8C9CD4">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46100" y="3822700"/>
            <a:ext cx="1828800" cy="965200"/>
          </a:xfrm>
          <a:prstGeom prst="triangle">
            <a:avLst>
              <a:gd name="adj" fmla="val 50000"/>
            </a:avLst>
          </a:prstGeom>
          <a:solidFill>
            <a:srgbClr val="E4E9F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57200" y="292100"/>
            <a:ext cx="82296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spc="50">
                <a:solidFill>
                  <a:srgbClr val="41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03 EVALUATION · IMAGE GENERATION</a:t>
            </a:r>
            <a:endParaRPr lang="en-US" sz="1100"/>
          </a:p>
        </p:txBody>
      </p:sp>
      <p:sp>
        <p:nvSpPr>
          <p:cNvPr id="6" name="AutoShape 6"/>
          <p:cNvSpPr/>
          <p:nvPr/>
        </p:nvSpPr>
        <p:spPr>
          <a:xfrm>
            <a:off x="457200" y="584200"/>
            <a:ext cx="8229600" cy="3556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0000"/>
              </a:lnSpc>
              <a:defRPr/>
            </a:pPr>
            <a:r>
              <a:rPr lang="en-US" sz="2000" b="1" i="0" u="none" strike="noStrike" dirty="0">
                <a:solidFill>
                  <a:srgbClr val="242424"/>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Evaluation Results &amp; Insights: Function, Performance, and Consistency</a:t>
            </a:r>
            <a:endParaRPr lang="en-US" sz="2000" dirty="0">
              <a:latin typeface="Arial" panose="020B0604020202020204" pitchFamily="34" charset="0"/>
              <a:cs typeface="Arial" panose="020B0604020202020204" pitchFamily="34" charset="0"/>
            </a:endParaRPr>
          </a:p>
        </p:txBody>
      </p:sp>
      <p:sp>
        <p:nvSpPr>
          <p:cNvPr id="7" name="AutoShape 7"/>
          <p:cNvSpPr/>
          <p:nvPr/>
        </p:nvSpPr>
        <p:spPr>
          <a:xfrm>
            <a:off x="368300" y="939800"/>
            <a:ext cx="8229600" cy="508000"/>
          </a:xfrm>
          <a:prstGeom prst="roundRect">
            <a:avLst>
              <a:gd name="adj" fmla="val 0"/>
            </a:avLst>
          </a:prstGeom>
          <a:solidFill>
            <a:srgbClr val="E4E9F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546100" y="939800"/>
            <a:ext cx="7861300" cy="508000"/>
          </a:xfrm>
          <a:prstGeom prst="roundRect">
            <a:avLst>
              <a:gd name="adj" fmla="val 0"/>
            </a:avLst>
          </a:prstGeom>
          <a:noFill/>
          <a:ln w="25400" cap="flat" cmpd="sng">
            <a:noFill/>
            <a:prstDash val="solid"/>
            <a:round/>
          </a:ln>
        </p:spPr>
        <p:txBody>
          <a:bodyPr vert="horz" wrap="square" lIns="0" tIns="101600" rIns="0" bIns="101600" rtlCol="0" anchor="ctr" anchorCtr="0"/>
          <a:lstStyle/>
          <a:p>
            <a:pPr indent="0" algn="l">
              <a:lnSpc>
                <a:spcPct val="108000"/>
              </a:lnSpc>
              <a:defRPr/>
            </a:pPr>
            <a:r>
              <a:rPr lang="en-US" sz="1200" b="0"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Systematic verification results show that the "Novel-to-Image" module has met its design goals in terms of functionality, performance, and consistency.</a:t>
            </a:r>
            <a:endParaRPr lang="en-US" sz="1100"/>
          </a:p>
        </p:txBody>
      </p:sp>
      <p:sp>
        <p:nvSpPr>
          <p:cNvPr id="9" name="AutoShape 9"/>
          <p:cNvSpPr/>
          <p:nvPr/>
        </p:nvSpPr>
        <p:spPr>
          <a:xfrm>
            <a:off x="368300" y="1549400"/>
            <a:ext cx="4318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Function &amp; Workflow Verification Results</a:t>
            </a:r>
            <a:endParaRPr lang="en-US" sz="1100"/>
          </a:p>
        </p:txBody>
      </p:sp>
      <p:graphicFrame>
        <p:nvGraphicFramePr>
          <p:cNvPr id="10" name="Table 10"/>
          <p:cNvGraphicFramePr>
            <a:graphicFrameLocks noGrp="1"/>
          </p:cNvGraphicFramePr>
          <p:nvPr/>
        </p:nvGraphicFramePr>
        <p:xfrm>
          <a:off x="368300" y="1917700"/>
          <a:ext cx="4318000" cy="2349500"/>
        </p:xfrm>
        <a:graphic>
          <a:graphicData uri="http://schemas.openxmlformats.org/drawingml/2006/table">
            <a:tbl>
              <a:tblPr>
                <a:effectLst/>
              </a:tblPr>
              <a:tblGrid>
                <a:gridCol w="1016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tblGrid>
              <a:tr h="444500">
                <a:tc>
                  <a:txBody>
                    <a:bodyPr/>
                    <a:lstStyle/>
                    <a:p>
                      <a:pPr indent="0" algn="ctr">
                        <a:lnSpc>
                          <a:spcPct val="92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Test Type</a:t>
                      </a:r>
                      <a:endParaRPr lang="en-US" sz="1100"/>
                    </a:p>
                  </a:txBody>
                  <a:tcPr marL="63500" marR="63500" marT="76200" marB="762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1F2A5E">
                        <a:alpha val="100000"/>
                      </a:srgbClr>
                    </a:solidFill>
                  </a:tcPr>
                </a:tc>
                <a:tc>
                  <a:txBody>
                    <a:bodyPr/>
                    <a:lstStyle/>
                    <a:p>
                      <a:pPr indent="0" algn="ctr">
                        <a:lnSpc>
                          <a:spcPct val="92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Key Execution Points</a:t>
                      </a:r>
                      <a:endParaRPr lang="en-US" sz="1100"/>
                    </a:p>
                  </a:txBody>
                  <a:tcPr marL="63500" marR="63500" marT="76200" marB="762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1F2A5E">
                        <a:alpha val="100000"/>
                      </a:srgbClr>
                    </a:solidFill>
                  </a:tcPr>
                </a:tc>
                <a:tc>
                  <a:txBody>
                    <a:bodyPr/>
                    <a:lstStyle/>
                    <a:p>
                      <a:pPr indent="0" algn="ctr">
                        <a:lnSpc>
                          <a:spcPct val="92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a:t>
                      </a:r>
                      <a:endParaRPr lang="en-US" sz="1100"/>
                    </a:p>
                  </a:txBody>
                  <a:tcPr marL="63500" marR="63500" marT="76200" marB="762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1F2A5E">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9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Workflow &amp; Function</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tc>
                  <a:txBody>
                    <a:bodyPr/>
                    <a:lstStyle/>
                    <a:p>
                      <a:pPr indent="0" algn="l">
                        <a:lnSpc>
                          <a:spcPct val="100000"/>
                        </a:lnSpc>
                        <a:defRPr/>
                      </a:pPr>
                      <a:r>
                        <a:rPr lang="en-US" sz="900" b="0"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Complete end-to-end simulation</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tc>
                  <a:txBody>
                    <a:bodyPr/>
                    <a:lstStyle/>
                    <a:p>
                      <a:pPr indent="0" algn="ctr">
                        <a:lnSpc>
                          <a:spcPct val="100000"/>
                        </a:lnSpc>
                        <a:defRPr/>
                      </a:pPr>
                      <a:r>
                        <a:rPr lang="en-US" sz="9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Functional</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9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API Module</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tc>
                  <a:txBody>
                    <a:bodyPr/>
                    <a:lstStyle/>
                    <a:p>
                      <a:pPr indent="0" algn="l">
                        <a:lnSpc>
                          <a:spcPct val="100000"/>
                        </a:lnSpc>
                        <a:defRPr/>
                      </a:pPr>
                      <a:r>
                        <a:rPr lang="en-US" sz="900" b="0"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Backend API response under high concurrency</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tc>
                  <a:txBody>
                    <a:bodyPr/>
                    <a:lstStyle/>
                    <a:p>
                      <a:pPr indent="0" algn="ctr">
                        <a:lnSpc>
                          <a:spcPct val="100000"/>
                        </a:lnSpc>
                        <a:defRPr/>
                      </a:pPr>
                      <a:r>
                        <a:rPr lang="en-US" sz="9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Stable &amp; Reliable</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9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Integration</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tc>
                  <a:txBody>
                    <a:bodyPr/>
                    <a:lstStyle/>
                    <a:p>
                      <a:pPr indent="0" algn="l">
                        <a:lnSpc>
                          <a:spcPct val="100000"/>
                        </a:lnSpc>
                        <a:defRPr/>
                      </a:pPr>
                      <a:r>
                        <a:rPr lang="en-US" sz="900" b="0"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Cross-module data flow and state synchronization</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tc>
                  <a:txBody>
                    <a:bodyPr/>
                    <a:lstStyle/>
                    <a:p>
                      <a:pPr indent="0" algn="ctr">
                        <a:lnSpc>
                          <a:spcPct val="100000"/>
                        </a:lnSpc>
                        <a:defRPr/>
                      </a:pPr>
                      <a:r>
                        <a:rPr lang="en-US" sz="9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Process Ready</a:t>
                      </a:r>
                      <a:endParaRPr lang="en-US" sz="1100"/>
                    </a:p>
                  </a:txBody>
                  <a:tcPr marL="63500" marR="63500" marT="101600" marB="101600" anchor="ctr">
                    <a:lnL w="12700" cap="flat" cmpd="sng" algn="ctr">
                      <a:solidFill>
                        <a:srgbClr val="C9D2EE"/>
                      </a:solidFill>
                      <a:prstDash val="solid"/>
                      <a:round/>
                      <a:headEnd type="none" w="med" len="med"/>
                      <a:tailEnd type="none" w="med" len="med"/>
                    </a:lnL>
                    <a:lnR w="12700" cap="flat" cmpd="sng" algn="ctr">
                      <a:solidFill>
                        <a:srgbClr val="C9D2EE"/>
                      </a:solidFill>
                      <a:prstDash val="solid"/>
                      <a:round/>
                      <a:headEnd type="none" w="med" len="med"/>
                      <a:tailEnd type="none" w="med" len="med"/>
                    </a:lnR>
                    <a:lnT w="12700" cap="flat" cmpd="sng" algn="ctr">
                      <a:solidFill>
                        <a:srgbClr val="C9D2EE"/>
                      </a:solidFill>
                      <a:prstDash val="solid"/>
                      <a:round/>
                      <a:headEnd type="none" w="med" len="med"/>
                      <a:tailEnd type="none" w="med" len="med"/>
                    </a:lnT>
                    <a:lnB w="12700" cap="flat" cmpd="sng" algn="ctr">
                      <a:solidFill>
                        <a:srgbClr val="C9D2EE"/>
                      </a:solidFill>
                      <a:prstDash val="solid"/>
                      <a:round/>
                      <a:headEnd type="none" w="med" len="med"/>
                      <a:tailEnd type="none" w="med" len="med"/>
                    </a:lnB>
                    <a:solidFill>
                      <a:srgbClr val="F4F6FB">
                        <a:alpha val="100000"/>
                      </a:srgbClr>
                    </a:solidFill>
                  </a:tcPr>
                </a:tc>
                <a:extLst>
                  <a:ext uri="{0D108BD9-81ED-4DB2-BD59-A6C34878D82A}">
                    <a16:rowId xmlns:a16="http://schemas.microsoft.com/office/drawing/2014/main" val="10003"/>
                  </a:ext>
                </a:extLst>
              </a:tr>
            </a:tbl>
          </a:graphicData>
        </a:graphic>
      </p:graphicFrame>
      <p:sp>
        <p:nvSpPr>
          <p:cNvPr id="11" name="AutoShape 11"/>
          <p:cNvSpPr/>
          <p:nvPr/>
        </p:nvSpPr>
        <p:spPr>
          <a:xfrm>
            <a:off x="5041900" y="1435100"/>
            <a:ext cx="3683000" cy="2273300"/>
          </a:xfrm>
          <a:prstGeom prst="roundRect">
            <a:avLst>
              <a:gd name="adj" fmla="val 0"/>
            </a:avLst>
          </a:prstGeom>
          <a:noFill/>
          <a:ln w="25400" cap="flat" cmpd="sng">
            <a:noFill/>
            <a:prstDash val="solid"/>
            <a:round/>
          </a:ln>
        </p:spPr>
        <p:txBody>
          <a:bodyPr vert="horz" wrap="square" lIns="190500" tIns="127000" rIns="190500" bIns="0" rtlCol="0" anchor="t" anchorCtr="0"/>
          <a:lstStyle/>
          <a:p>
            <a:pPr indent="0" algn="l">
              <a:lnSpc>
                <a:spcPct val="100000"/>
              </a:lnSpc>
              <a:defRPr/>
            </a:pPr>
            <a:r>
              <a:rPr lang="en-US" sz="1400" b="1" i="0" u="none" strike="noStrike">
                <a:solidFill>
                  <a:srgbClr val="1F2A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Conclusions</a:t>
            </a:r>
            <a:endParaRPr lang="en-US" sz="1100"/>
          </a:p>
          <a:p>
            <a:pPr indent="0" algn="l">
              <a:lnSpc>
                <a:spcPct val="100000"/>
              </a:lnSpc>
            </a:pPr>
            <a:endParaRPr lang="en-US" sz="1100"/>
          </a:p>
          <a:p>
            <a:pPr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Functional Completeness</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Achieved a complete and effective workflow.</a:t>
            </a:r>
          </a:p>
          <a:p>
            <a:pPr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Integration</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Successfully shares context with other modules, enabling smooth collaboration.</a:t>
            </a:r>
          </a:p>
          <a:p>
            <a:pPr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242424"/>
                </a:solidFill>
                <a:latin typeface="Noto Sans SC" panose="020B0200000000000000" charset="-122"/>
                <a:ea typeface="Noto Sans SC" panose="020B0200000000000000" charset="-122"/>
                <a:cs typeface="Noto Sans SC" panose="020B0200000000000000" charset="-122"/>
                <a:sym typeface="Noto Sans SC" panose="020B0200000000000000" charset="-122"/>
              </a:rPr>
              <a:t>Consistency Control</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Improved visual consistency across different scenes at the engineering level.</a:t>
            </a:r>
          </a:p>
        </p:txBody>
      </p:sp>
      <p:sp>
        <p:nvSpPr>
          <p:cNvPr id="12" name="AutoShape 12"/>
          <p:cNvSpPr/>
          <p:nvPr/>
        </p:nvSpPr>
        <p:spPr>
          <a:xfrm>
            <a:off x="406400" y="4380841"/>
            <a:ext cx="8229600" cy="635000"/>
          </a:xfrm>
          <a:prstGeom prst="roundRect">
            <a:avLst>
              <a:gd name="adj" fmla="val 0"/>
            </a:avLst>
          </a:prstGeom>
          <a:solidFill>
            <a:srgbClr val="1F2A5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584200" y="4444341"/>
            <a:ext cx="7874000" cy="508000"/>
          </a:xfrm>
          <a:prstGeom prst="roundRect">
            <a:avLst>
              <a:gd name="adj" fmla="val 0"/>
            </a:avLst>
          </a:prstGeom>
          <a:noFill/>
          <a:ln w="25400" cap="flat" cmpd="sng">
            <a:noFill/>
            <a:prstDash val="solid"/>
            <a:round/>
          </a:ln>
        </p:spPr>
        <p:txBody>
          <a:bodyPr vert="horz" wrap="square" lIns="0" tIns="76200" rIns="0" bIns="76200" rtlCol="0" anchor="ctr" anchorCtr="0"/>
          <a:lstStyle/>
          <a:p>
            <a:pPr indent="0" algn="l">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a:t>
            </a:r>
            <a:r>
              <a:rPr lang="en-US" sz="1200" b="0" i="0" u="none" strike="noStrike">
                <a:solidFill>
                  <a:srgbClr val="EBEEF8"/>
                </a:solidFill>
                <a:latin typeface="Noto Sans SC" panose="020B0200000000000000" charset="-122"/>
                <a:ea typeface="Noto Sans SC" panose="020B0200000000000000" charset="-122"/>
                <a:cs typeface="Noto Sans SC" panose="020B0200000000000000" charset="-122"/>
                <a:sym typeface="Noto Sans SC" panose="020B0200000000000000" charset="-122"/>
              </a:rPr>
              <a:t>Engineering Implementation (web interface, prompt organization, resource management). AI generation is a step in the process, not the final conclusion.</a:t>
            </a:r>
            <a:endParaRPr lang="en-US" sz="1100"/>
          </a:p>
        </p:txBody>
      </p:sp>
      <p:pic>
        <p:nvPicPr>
          <p:cNvPr id="14" name="Picture 14"/>
          <p:cNvPicPr>
            <a:picLocks noChangeAspect="1"/>
          </p:cNvPicPr>
          <p:nvPr/>
        </p:nvPicPr>
        <p:blipFill>
          <a:blip r:embed="rId3"/>
          <a:stretch>
            <a:fillRect/>
          </a:stretch>
        </p:blipFill>
        <p:spPr>
          <a:xfrm>
            <a:off x="8001000" y="4642584"/>
            <a:ext cx="1143000" cy="5009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5144400"/>
          </a:xfrm>
          <a:prstGeom prst="rect">
            <a:avLst/>
          </a:prstGeom>
          <a:solidFill>
            <a:srgbClr val="FFFFFF"/>
          </a:solidFill>
        </p:spPr>
      </p:sp>
      <p:pic>
        <p:nvPicPr>
          <p:cNvPr id="10" name="Image 6" descr="/var/deepdoc/convert/public/a4cfed43b0fd07bbc499daba0021cb5b/images/background_bg-element-015sopi60.png"/>
          <p:cNvPicPr>
            <a:picLocks noChangeAspect="1"/>
          </p:cNvPicPr>
          <p:nvPr/>
        </p:nvPicPr>
        <p:blipFill>
          <a:blip r:embed="rId3"/>
          <a:stretch>
            <a:fillRect/>
          </a:stretch>
        </p:blipFill>
        <p:spPr>
          <a:xfrm>
            <a:off x="0" y="1573200"/>
            <a:ext cx="9144000" cy="3574800"/>
          </a:xfrm>
          <a:prstGeom prst="rect">
            <a:avLst/>
          </a:prstGeom>
        </p:spPr>
      </p:pic>
      <p:pic>
        <p:nvPicPr>
          <p:cNvPr id="21" name="Image 10" descr="/var/deepdoc/convert/public/a4cfed43b0fd07bbc499daba0021cb5b/images/background_bg-element-9sc1xv063.png"/>
          <p:cNvPicPr>
            <a:picLocks noChangeAspect="1"/>
          </p:cNvPicPr>
          <p:nvPr/>
        </p:nvPicPr>
        <p:blipFill>
          <a:blip r:embed="rId4"/>
          <a:stretch>
            <a:fillRect/>
          </a:stretch>
        </p:blipFill>
        <p:spPr>
          <a:xfrm>
            <a:off x="3740400" y="1429200"/>
            <a:ext cx="5004000" cy="3049200"/>
          </a:xfrm>
          <a:prstGeom prst="rect">
            <a:avLst/>
          </a:prstGeom>
        </p:spPr>
      </p:pic>
      <p:sp>
        <p:nvSpPr>
          <p:cNvPr id="24" name="Text 9"/>
          <p:cNvSpPr/>
          <p:nvPr/>
        </p:nvSpPr>
        <p:spPr>
          <a:xfrm>
            <a:off x="640715" y="593725"/>
            <a:ext cx="7650480" cy="277495"/>
          </a:xfrm>
          <a:prstGeom prst="rect">
            <a:avLst/>
          </a:prstGeom>
          <a:noFill/>
        </p:spPr>
        <p:txBody>
          <a:bodyPr wrap="none" lIns="0" tIns="0" rIns="0" bIns="0" rtlCol="0" anchor="ctr"/>
          <a:lstStyle/>
          <a:p>
            <a:pPr marL="0" indent="0" algn="l">
              <a:buNone/>
            </a:pPr>
            <a:r>
              <a:rPr lang="en-US" altLang="zh-CN" sz="2000" b="1" dirty="0">
                <a:solidFill>
                  <a:srgbClr val="100F0D"/>
                </a:solidFill>
                <a:latin typeface="Arial" panose="020B0604020202020204" pitchFamily="34" charset="0"/>
                <a:ea typeface="黑体" panose="02010609060101010101" charset="-122"/>
                <a:cs typeface="Arial" panose="020B0604020202020204" pitchFamily="34" charset="0"/>
              </a:rPr>
              <a:t>Analysis of Novel Content</a:t>
            </a:r>
          </a:p>
        </p:txBody>
      </p:sp>
      <p:pic>
        <p:nvPicPr>
          <p:cNvPr id="26" name="Image 12" descr="/var/deepdoc/convert/public/a4cfed43b0fd07bbc499daba0021cb5b/images/background_bg-element-dlopjhiba.png"/>
          <p:cNvPicPr>
            <a:picLocks noChangeAspect="1"/>
          </p:cNvPicPr>
          <p:nvPr/>
        </p:nvPicPr>
        <p:blipFill>
          <a:blip r:embed="rId5"/>
          <a:stretch>
            <a:fillRect/>
          </a:stretch>
        </p:blipFill>
        <p:spPr>
          <a:xfrm>
            <a:off x="640800" y="936000"/>
            <a:ext cx="572400" cy="25200"/>
          </a:xfrm>
          <a:prstGeom prst="rect">
            <a:avLst/>
          </a:prstGeom>
        </p:spPr>
      </p:pic>
      <p:sp>
        <p:nvSpPr>
          <p:cNvPr id="2" name="Text 5"/>
          <p:cNvSpPr/>
          <p:nvPr/>
        </p:nvSpPr>
        <p:spPr>
          <a:xfrm>
            <a:off x="514985" y="23291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03 EVALUATION · SOUND GENERATION</a:t>
            </a:r>
            <a:endParaRPr lang="en-US" sz="1200" dirty="0"/>
          </a:p>
        </p:txBody>
      </p:sp>
      <p:sp>
        <p:nvSpPr>
          <p:cNvPr id="27" name="文本框 26"/>
          <p:cNvSpPr txBox="1"/>
          <p:nvPr/>
        </p:nvSpPr>
        <p:spPr>
          <a:xfrm>
            <a:off x="367030" y="1851025"/>
            <a:ext cx="3048000" cy="2306955"/>
          </a:xfrm>
          <a:prstGeom prst="rect">
            <a:avLst/>
          </a:prstGeom>
          <a:noFill/>
        </p:spPr>
        <p:txBody>
          <a:bodyPr wrap="square" rtlCol="0">
            <a:spAutoFit/>
          </a:bodyPr>
          <a:lstStyle/>
          <a:p>
            <a:r>
              <a:rPr lang="en-US" altLang="zh-CN">
                <a:solidFill>
                  <a:schemeClr val="bg1"/>
                </a:solidFill>
              </a:rPr>
              <a:t>After uploading the document for analysis, it can correctly recognize the content and structure of the novel, and output reference prompts into the background music generation and sound effect generation module.</a:t>
            </a:r>
          </a:p>
        </p:txBody>
      </p:sp>
      <p:pic>
        <p:nvPicPr>
          <p:cNvPr id="88" name="图片 88"/>
          <p:cNvPicPr>
            <a:picLocks noChangeAspect="1"/>
          </p:cNvPicPr>
          <p:nvPr/>
        </p:nvPicPr>
        <p:blipFill>
          <a:blip r:embed="rId6"/>
          <a:stretch>
            <a:fillRect/>
          </a:stretch>
        </p:blipFill>
        <p:spPr>
          <a:xfrm>
            <a:off x="3776980" y="1531620"/>
            <a:ext cx="4930775" cy="2849245"/>
          </a:xfrm>
          <a:prstGeom prst="rect">
            <a:avLst/>
          </a:prstGeom>
        </p:spPr>
      </p:pic>
      <p:sp>
        <p:nvSpPr>
          <p:cNvPr id="11" name="Shape 0"/>
          <p:cNvSpPr/>
          <p:nvPr/>
        </p:nvSpPr>
        <p:spPr>
          <a:xfrm>
            <a:off x="8641080" y="-91440"/>
            <a:ext cx="594360" cy="411480"/>
          </a:xfrm>
          <a:prstGeom prst="rect">
            <a:avLst/>
          </a:prstGeom>
          <a:solidFill>
            <a:srgbClr val="1F2A5E"/>
          </a:solidFill>
        </p:spPr>
      </p:sp>
      <p:sp>
        <p:nvSpPr>
          <p:cNvPr id="12" name="Shape 1"/>
          <p:cNvSpPr/>
          <p:nvPr/>
        </p:nvSpPr>
        <p:spPr>
          <a:xfrm>
            <a:off x="8183880" y="164592"/>
            <a:ext cx="548640" cy="365760"/>
          </a:xfrm>
          <a:prstGeom prst="rect">
            <a:avLst/>
          </a:prstGeom>
          <a:solidFill>
            <a:srgbClr val="8C9CD4">
              <a:alpha val="85000"/>
            </a:srgbClr>
          </a:solid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5144400"/>
          </a:xfrm>
          <a:prstGeom prst="rect">
            <a:avLst/>
          </a:prstGeom>
          <a:solidFill>
            <a:srgbClr val="FFFFFF"/>
          </a:solidFill>
        </p:spPr>
      </p:sp>
      <p:pic>
        <p:nvPicPr>
          <p:cNvPr id="10" name="Image 6" descr="/var/deepdoc/convert/public/a4cfed43b0fd07bbc499daba0021cb5b/images/background_bg-element-015sopi60.png"/>
          <p:cNvPicPr>
            <a:picLocks noChangeAspect="1"/>
          </p:cNvPicPr>
          <p:nvPr/>
        </p:nvPicPr>
        <p:blipFill>
          <a:blip r:embed="rId3"/>
          <a:stretch>
            <a:fillRect/>
          </a:stretch>
        </p:blipFill>
        <p:spPr>
          <a:xfrm>
            <a:off x="0" y="1573200"/>
            <a:ext cx="9144000" cy="3574800"/>
          </a:xfrm>
          <a:prstGeom prst="rect">
            <a:avLst/>
          </a:prstGeom>
        </p:spPr>
      </p:pic>
      <p:pic>
        <p:nvPicPr>
          <p:cNvPr id="21" name="Image 10" descr="/var/deepdoc/convert/public/a4cfed43b0fd07bbc499daba0021cb5b/images/background_bg-element-9sc1xv063.png"/>
          <p:cNvPicPr>
            <a:picLocks noChangeAspect="1"/>
          </p:cNvPicPr>
          <p:nvPr/>
        </p:nvPicPr>
        <p:blipFill>
          <a:blip r:embed="rId4"/>
          <a:stretch>
            <a:fillRect/>
          </a:stretch>
        </p:blipFill>
        <p:spPr>
          <a:xfrm>
            <a:off x="3740400" y="1429200"/>
            <a:ext cx="5004000" cy="3049200"/>
          </a:xfrm>
          <a:prstGeom prst="rect">
            <a:avLst/>
          </a:prstGeom>
        </p:spPr>
      </p:pic>
      <p:sp>
        <p:nvSpPr>
          <p:cNvPr id="24" name="Text 9"/>
          <p:cNvSpPr/>
          <p:nvPr/>
        </p:nvSpPr>
        <p:spPr>
          <a:xfrm>
            <a:off x="640715" y="593725"/>
            <a:ext cx="7650480" cy="277495"/>
          </a:xfrm>
          <a:prstGeom prst="rect">
            <a:avLst/>
          </a:prstGeom>
          <a:noFill/>
        </p:spPr>
        <p:txBody>
          <a:bodyPr wrap="none" lIns="0" tIns="0" rIns="0" bIns="0" rtlCol="0" anchor="ctr"/>
          <a:lstStyle/>
          <a:p>
            <a:pPr marL="0" indent="0" algn="l">
              <a:buNone/>
            </a:pPr>
            <a:r>
              <a:rPr lang="en-US" altLang="zh-CN" sz="2000" b="1" dirty="0">
                <a:solidFill>
                  <a:srgbClr val="100F0D"/>
                </a:solidFill>
                <a:latin typeface="Arial" panose="020B0604020202020204" pitchFamily="34" charset="0"/>
                <a:ea typeface="黑体" panose="02010609060101010101" charset="-122"/>
                <a:cs typeface="Arial" panose="020B0604020202020204" pitchFamily="34" charset="0"/>
              </a:rPr>
              <a:t>Music and SFX Generation </a:t>
            </a:r>
          </a:p>
        </p:txBody>
      </p:sp>
      <p:pic>
        <p:nvPicPr>
          <p:cNvPr id="26" name="Image 12" descr="/var/deepdoc/convert/public/a4cfed43b0fd07bbc499daba0021cb5b/images/background_bg-element-dlopjhiba.png"/>
          <p:cNvPicPr>
            <a:picLocks noChangeAspect="1"/>
          </p:cNvPicPr>
          <p:nvPr/>
        </p:nvPicPr>
        <p:blipFill>
          <a:blip r:embed="rId5"/>
          <a:stretch>
            <a:fillRect/>
          </a:stretch>
        </p:blipFill>
        <p:spPr>
          <a:xfrm>
            <a:off x="640800" y="936000"/>
            <a:ext cx="572400" cy="25200"/>
          </a:xfrm>
          <a:prstGeom prst="rect">
            <a:avLst/>
          </a:prstGeom>
        </p:spPr>
      </p:pic>
      <p:sp>
        <p:nvSpPr>
          <p:cNvPr id="2" name="Text 5"/>
          <p:cNvSpPr/>
          <p:nvPr/>
        </p:nvSpPr>
        <p:spPr>
          <a:xfrm>
            <a:off x="514985" y="23291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03 EVALUATION · SOUND GENERATION</a:t>
            </a:r>
            <a:endParaRPr lang="en-US" sz="1200" dirty="0"/>
          </a:p>
        </p:txBody>
      </p:sp>
      <p:sp>
        <p:nvSpPr>
          <p:cNvPr id="27" name="文本框 26"/>
          <p:cNvSpPr txBox="1"/>
          <p:nvPr/>
        </p:nvSpPr>
        <p:spPr>
          <a:xfrm>
            <a:off x="367030" y="1652905"/>
            <a:ext cx="3048000" cy="3415030"/>
          </a:xfrm>
          <a:prstGeom prst="rect">
            <a:avLst/>
          </a:prstGeom>
          <a:noFill/>
        </p:spPr>
        <p:txBody>
          <a:bodyPr wrap="square" rtlCol="0">
            <a:spAutoFit/>
          </a:bodyPr>
          <a:lstStyle/>
          <a:p>
            <a:r>
              <a:rPr lang="en-US" altLang="zh-CN">
                <a:solidFill>
                  <a:schemeClr val="bg1"/>
                </a:solidFill>
              </a:rPr>
              <a:t>You can generate audio using the </a:t>
            </a:r>
            <a:r>
              <a:rPr lang="en-US" altLang="zh-CN" b="1">
                <a:solidFill>
                  <a:schemeClr val="bg1"/>
                </a:solidFill>
              </a:rPr>
              <a:t>MusicGen </a:t>
            </a:r>
            <a:r>
              <a:rPr lang="en-US" altLang="zh-CN">
                <a:solidFill>
                  <a:schemeClr val="bg1"/>
                </a:solidFill>
              </a:rPr>
              <a:t>model. However, the </a:t>
            </a:r>
            <a:r>
              <a:rPr lang="en-US" altLang="zh-CN" b="1">
                <a:solidFill>
                  <a:schemeClr val="bg1"/>
                </a:solidFill>
              </a:rPr>
              <a:t>AudioGen </a:t>
            </a:r>
            <a:r>
              <a:rPr lang="en-US" altLang="zh-CN">
                <a:solidFill>
                  <a:schemeClr val="bg1"/>
                </a:solidFill>
              </a:rPr>
              <a:t>model relies on Meta's open-source </a:t>
            </a:r>
            <a:r>
              <a:rPr lang="en-US" altLang="zh-CN" b="1">
                <a:solidFill>
                  <a:schemeClr val="bg1"/>
                </a:solidFill>
              </a:rPr>
              <a:t>AudioCraft </a:t>
            </a:r>
            <a:r>
              <a:rPr lang="en-US" altLang="zh-CN">
                <a:solidFill>
                  <a:schemeClr val="bg1"/>
                </a:solidFill>
              </a:rPr>
              <a:t>library for model loading and inference, which is hard to do on Windows. The </a:t>
            </a:r>
            <a:r>
              <a:rPr lang="en-US" altLang="zh-CN" b="1">
                <a:solidFill>
                  <a:schemeClr val="bg1"/>
                </a:solidFill>
              </a:rPr>
              <a:t>Stable Audio 3</a:t>
            </a:r>
            <a:r>
              <a:rPr lang="en-US" altLang="zh-CN">
                <a:solidFill>
                  <a:schemeClr val="bg1"/>
                </a:solidFill>
              </a:rPr>
              <a:t> model uses a </a:t>
            </a:r>
            <a:r>
              <a:rPr lang="en-US" altLang="zh-CN" b="1">
                <a:solidFill>
                  <a:schemeClr val="bg1"/>
                </a:solidFill>
              </a:rPr>
              <a:t>gated </a:t>
            </a:r>
            <a:r>
              <a:rPr lang="en-US" altLang="zh-CN">
                <a:solidFill>
                  <a:schemeClr val="bg1"/>
                </a:solidFill>
              </a:rPr>
              <a:t>access system hosted on HuggingFace Hub, so it's limited by network and permissions.</a:t>
            </a:r>
          </a:p>
        </p:txBody>
      </p:sp>
      <p:pic>
        <p:nvPicPr>
          <p:cNvPr id="90" name="图片 90"/>
          <p:cNvPicPr>
            <a:picLocks noChangeAspect="1"/>
          </p:cNvPicPr>
          <p:nvPr/>
        </p:nvPicPr>
        <p:blipFill>
          <a:blip r:embed="rId6"/>
          <a:stretch>
            <a:fillRect/>
          </a:stretch>
        </p:blipFill>
        <p:spPr>
          <a:xfrm>
            <a:off x="3784600" y="1490345"/>
            <a:ext cx="4862195" cy="2909570"/>
          </a:xfrm>
          <a:prstGeom prst="rect">
            <a:avLst/>
          </a:prstGeom>
        </p:spPr>
      </p:pic>
      <p:sp>
        <p:nvSpPr>
          <p:cNvPr id="11" name="Shape 0"/>
          <p:cNvSpPr/>
          <p:nvPr/>
        </p:nvSpPr>
        <p:spPr>
          <a:xfrm>
            <a:off x="8641080" y="-91440"/>
            <a:ext cx="594360" cy="411480"/>
          </a:xfrm>
          <a:prstGeom prst="rect">
            <a:avLst/>
          </a:prstGeom>
          <a:solidFill>
            <a:srgbClr val="1F2A5E"/>
          </a:solidFill>
        </p:spPr>
      </p:sp>
      <p:sp>
        <p:nvSpPr>
          <p:cNvPr id="12" name="Shape 1"/>
          <p:cNvSpPr/>
          <p:nvPr/>
        </p:nvSpPr>
        <p:spPr>
          <a:xfrm>
            <a:off x="8183880" y="164592"/>
            <a:ext cx="548640" cy="365760"/>
          </a:xfrm>
          <a:prstGeom prst="rect">
            <a:avLst/>
          </a:prstGeom>
          <a:solidFill>
            <a:srgbClr val="8C9CD4">
              <a:alpha val="85000"/>
            </a:srgbClr>
          </a:solid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5144400"/>
          </a:xfrm>
          <a:prstGeom prst="rect">
            <a:avLst/>
          </a:prstGeom>
          <a:solidFill>
            <a:srgbClr val="FFFFFF"/>
          </a:solidFill>
        </p:spPr>
      </p:sp>
      <p:pic>
        <p:nvPicPr>
          <p:cNvPr id="10" name="Image 6" descr="/var/deepdoc/convert/public/a4cfed43b0fd07bbc499daba0021cb5b/images/background_bg-element-015sopi60.png"/>
          <p:cNvPicPr>
            <a:picLocks noChangeAspect="1"/>
          </p:cNvPicPr>
          <p:nvPr/>
        </p:nvPicPr>
        <p:blipFill>
          <a:blip r:embed="rId3"/>
          <a:stretch>
            <a:fillRect/>
          </a:stretch>
        </p:blipFill>
        <p:spPr>
          <a:xfrm>
            <a:off x="0" y="1573200"/>
            <a:ext cx="9144000" cy="3574800"/>
          </a:xfrm>
          <a:prstGeom prst="rect">
            <a:avLst/>
          </a:prstGeom>
        </p:spPr>
      </p:pic>
      <p:pic>
        <p:nvPicPr>
          <p:cNvPr id="21" name="Image 10" descr="/var/deepdoc/convert/public/a4cfed43b0fd07bbc499daba0021cb5b/images/background_bg-element-9sc1xv063.png"/>
          <p:cNvPicPr>
            <a:picLocks noChangeAspect="1"/>
          </p:cNvPicPr>
          <p:nvPr/>
        </p:nvPicPr>
        <p:blipFill>
          <a:blip r:embed="rId4"/>
          <a:stretch>
            <a:fillRect/>
          </a:stretch>
        </p:blipFill>
        <p:spPr>
          <a:xfrm>
            <a:off x="3604260" y="516255"/>
            <a:ext cx="5140325" cy="4366260"/>
          </a:xfrm>
          <a:prstGeom prst="rect">
            <a:avLst/>
          </a:prstGeom>
        </p:spPr>
      </p:pic>
      <p:sp>
        <p:nvSpPr>
          <p:cNvPr id="24" name="Text 9"/>
          <p:cNvSpPr/>
          <p:nvPr/>
        </p:nvSpPr>
        <p:spPr>
          <a:xfrm>
            <a:off x="640715" y="593725"/>
            <a:ext cx="7650480" cy="277495"/>
          </a:xfrm>
          <a:prstGeom prst="rect">
            <a:avLst/>
          </a:prstGeom>
          <a:noFill/>
        </p:spPr>
        <p:txBody>
          <a:bodyPr wrap="none" lIns="0" tIns="0" rIns="0" bIns="0" rtlCol="0" anchor="ctr"/>
          <a:lstStyle/>
          <a:p>
            <a:pPr marL="0" indent="0" algn="l">
              <a:buNone/>
            </a:pPr>
            <a:r>
              <a:rPr lang="en-US" altLang="zh-CN" sz="2000" b="1" dirty="0">
                <a:solidFill>
                  <a:srgbClr val="100F0D"/>
                </a:solidFill>
                <a:latin typeface="Arial" panose="020B0604020202020204" pitchFamily="34" charset="0"/>
                <a:ea typeface="黑体" panose="02010609060101010101" charset="-122"/>
                <a:cs typeface="Arial" panose="020B0604020202020204" pitchFamily="34" charset="0"/>
              </a:rPr>
              <a:t>TTS Dubbing</a:t>
            </a:r>
          </a:p>
        </p:txBody>
      </p:sp>
      <p:pic>
        <p:nvPicPr>
          <p:cNvPr id="26" name="Image 12" descr="/var/deepdoc/convert/public/a4cfed43b0fd07bbc499daba0021cb5b/images/background_bg-element-dlopjhiba.png"/>
          <p:cNvPicPr>
            <a:picLocks noChangeAspect="1"/>
          </p:cNvPicPr>
          <p:nvPr/>
        </p:nvPicPr>
        <p:blipFill>
          <a:blip r:embed="rId5"/>
          <a:stretch>
            <a:fillRect/>
          </a:stretch>
        </p:blipFill>
        <p:spPr>
          <a:xfrm>
            <a:off x="640800" y="936000"/>
            <a:ext cx="572400" cy="25200"/>
          </a:xfrm>
          <a:prstGeom prst="rect">
            <a:avLst/>
          </a:prstGeom>
        </p:spPr>
      </p:pic>
      <p:sp>
        <p:nvSpPr>
          <p:cNvPr id="2" name="Text 5"/>
          <p:cNvSpPr/>
          <p:nvPr/>
        </p:nvSpPr>
        <p:spPr>
          <a:xfrm>
            <a:off x="514985" y="232918"/>
            <a:ext cx="8229600" cy="274320"/>
          </a:xfrm>
          <a:prstGeom prst="rect">
            <a:avLst/>
          </a:prstGeom>
          <a:noFill/>
        </p:spPr>
        <p:txBody>
          <a:bodyPr wrap="square" lIns="0" tIns="0" rIns="0" bIns="0" rtlCol="0" anchor="ctr"/>
          <a:lstStyle/>
          <a:p>
            <a:pPr marL="0" indent="0">
              <a:buNone/>
            </a:pPr>
            <a:r>
              <a:rPr lang="en-US" sz="1200" b="1" kern="0" spc="200" dirty="0">
                <a:solidFill>
                  <a:srgbClr val="415A9C"/>
                </a:solidFill>
                <a:latin typeface="Arial" panose="020B0604020202020204" pitchFamily="34" charset="0"/>
                <a:ea typeface="Arial" panose="020B0604020202020204" pitchFamily="34" charset="-122"/>
                <a:cs typeface="Arial" panose="020B0604020202020204" pitchFamily="34" charset="-120"/>
              </a:rPr>
              <a:t>03 EVALUATION · SOUND GENERATION</a:t>
            </a:r>
            <a:endParaRPr lang="en-US" sz="1200" dirty="0"/>
          </a:p>
        </p:txBody>
      </p:sp>
      <p:sp>
        <p:nvSpPr>
          <p:cNvPr id="27" name="文本框 26"/>
          <p:cNvSpPr txBox="1"/>
          <p:nvPr/>
        </p:nvSpPr>
        <p:spPr>
          <a:xfrm>
            <a:off x="367030" y="1652905"/>
            <a:ext cx="3048000" cy="1476375"/>
          </a:xfrm>
          <a:prstGeom prst="rect">
            <a:avLst/>
          </a:prstGeom>
          <a:noFill/>
        </p:spPr>
        <p:txBody>
          <a:bodyPr wrap="square" rtlCol="0">
            <a:spAutoFit/>
          </a:bodyPr>
          <a:lstStyle/>
          <a:p>
            <a:r>
              <a:rPr lang="en-US" altLang="zh-CN">
                <a:solidFill>
                  <a:schemeClr val="bg1"/>
                </a:solidFill>
              </a:rPr>
              <a:t>By calling the cloud server API for inference, you can create a character library, do single-sentence dubbing, and handle full-length text.</a:t>
            </a:r>
          </a:p>
        </p:txBody>
      </p:sp>
      <p:pic>
        <p:nvPicPr>
          <p:cNvPr id="91" name="图片 91"/>
          <p:cNvPicPr>
            <a:picLocks noChangeAspect="1"/>
          </p:cNvPicPr>
          <p:nvPr/>
        </p:nvPicPr>
        <p:blipFill>
          <a:blip r:embed="rId6"/>
          <a:stretch>
            <a:fillRect/>
          </a:stretch>
        </p:blipFill>
        <p:spPr>
          <a:xfrm>
            <a:off x="3684270" y="593725"/>
            <a:ext cx="4979670" cy="2877820"/>
          </a:xfrm>
          <a:prstGeom prst="rect">
            <a:avLst/>
          </a:prstGeom>
        </p:spPr>
      </p:pic>
      <p:pic>
        <p:nvPicPr>
          <p:cNvPr id="11" name="Image 10" descr="/var/deepdoc/convert/public/a4cfed43b0fd07bbc499daba0021cb5b/images/background_bg-element-9sc1xv063.png"/>
          <p:cNvPicPr>
            <a:picLocks noChangeAspect="1"/>
          </p:cNvPicPr>
          <p:nvPr/>
        </p:nvPicPr>
        <p:blipFill>
          <a:blip r:embed="rId4"/>
          <a:stretch>
            <a:fillRect/>
          </a:stretch>
        </p:blipFill>
        <p:spPr>
          <a:xfrm>
            <a:off x="0" y="3459480"/>
            <a:ext cx="3515360" cy="1472565"/>
          </a:xfrm>
          <a:prstGeom prst="rect">
            <a:avLst/>
          </a:prstGeom>
        </p:spPr>
      </p:pic>
      <p:pic>
        <p:nvPicPr>
          <p:cNvPr id="98" name="图片 98"/>
          <p:cNvPicPr>
            <a:picLocks noChangeAspect="1"/>
          </p:cNvPicPr>
          <p:nvPr/>
        </p:nvPicPr>
        <p:blipFill>
          <a:blip r:embed="rId7"/>
          <a:stretch>
            <a:fillRect/>
          </a:stretch>
        </p:blipFill>
        <p:spPr>
          <a:xfrm>
            <a:off x="42545" y="3543300"/>
            <a:ext cx="3480435" cy="1269365"/>
          </a:xfrm>
          <a:prstGeom prst="rect">
            <a:avLst/>
          </a:prstGeom>
        </p:spPr>
      </p:pic>
      <p:pic>
        <p:nvPicPr>
          <p:cNvPr id="113" name="图片 113"/>
          <p:cNvPicPr>
            <a:picLocks noChangeAspect="1"/>
          </p:cNvPicPr>
          <p:nvPr/>
        </p:nvPicPr>
        <p:blipFill>
          <a:blip r:embed="rId8"/>
          <a:stretch>
            <a:fillRect/>
          </a:stretch>
        </p:blipFill>
        <p:spPr>
          <a:xfrm>
            <a:off x="3671570" y="2444115"/>
            <a:ext cx="4712335" cy="2438400"/>
          </a:xfrm>
          <a:prstGeom prst="rect">
            <a:avLst/>
          </a:prstGeom>
        </p:spPr>
      </p:pic>
      <p:sp>
        <p:nvSpPr>
          <p:cNvPr id="12" name="Shape 0"/>
          <p:cNvSpPr/>
          <p:nvPr/>
        </p:nvSpPr>
        <p:spPr>
          <a:xfrm>
            <a:off x="8641080" y="-91440"/>
            <a:ext cx="594360" cy="411480"/>
          </a:xfrm>
          <a:prstGeom prst="rect">
            <a:avLst/>
          </a:prstGeom>
          <a:solidFill>
            <a:srgbClr val="1F2A5E"/>
          </a:solidFill>
        </p:spPr>
      </p:sp>
      <p:sp>
        <p:nvSpPr>
          <p:cNvPr id="13" name="Shape 1"/>
          <p:cNvSpPr/>
          <p:nvPr/>
        </p:nvSpPr>
        <p:spPr>
          <a:xfrm>
            <a:off x="8183880" y="164592"/>
            <a:ext cx="548640" cy="365760"/>
          </a:xfrm>
          <a:prstGeom prst="rect">
            <a:avLst/>
          </a:prstGeom>
          <a:solidFill>
            <a:srgbClr val="8C9CD4">
              <a:alpha val="85000"/>
            </a:srgbClr>
          </a:solid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27" name="TextBox 27"/>
          <p:cNvSpPr txBox="1"/>
          <p:nvPr/>
        </p:nvSpPr>
        <p:spPr>
          <a:xfrm>
            <a:off x="1198254" y="2480725"/>
            <a:ext cx="6186393" cy="390171"/>
          </a:xfrm>
          <a:prstGeom prst="rect">
            <a:avLst/>
          </a:prstGeom>
        </p:spPr>
        <p:txBody>
          <a:bodyPr wrap="square" lIns="0" tIns="0" rIns="0" bIns="0" rtlCol="0" anchor="t">
            <a:spAutoFit/>
          </a:bodyPr>
          <a:lstStyle/>
          <a:p>
            <a:pPr marL="0" marR="0" lvl="0" indent="0" algn="l" defTabSz="914400" rtl="0" eaLnBrk="1" fontAlgn="auto" latinLnBrk="0" hangingPunct="1">
              <a:lnSpc>
                <a:spcPts val="264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1E1E1E"/>
                </a:solidFill>
                <a:effectLst/>
                <a:uLnTx/>
                <a:uFillTx/>
                <a:latin typeface="Arial" panose="020B0604020202020204" pitchFamily="34" charset="0"/>
                <a:ea typeface="思源黑体 3 Bold"/>
                <a:cs typeface="Arial" panose="020B0604020202020204" pitchFamily="34" charset="0"/>
                <a:sym typeface="思源黑体 3 Bold"/>
              </a:rPr>
              <a:t>Demo video</a:t>
            </a:r>
          </a:p>
        </p:txBody>
      </p:sp>
      <p:grpSp>
        <p:nvGrpSpPr>
          <p:cNvPr id="28" name="Group 28"/>
          <p:cNvGrpSpPr/>
          <p:nvPr/>
        </p:nvGrpSpPr>
        <p:grpSpPr>
          <a:xfrm>
            <a:off x="1198255" y="1279054"/>
            <a:ext cx="867769" cy="86776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2467"/>
            </a:solidFill>
          </p:spPr>
        </p:sp>
        <p:sp>
          <p:nvSpPr>
            <p:cNvPr id="30" name="TextBox 30"/>
            <p:cNvSpPr txBox="1"/>
            <p:nvPr/>
          </p:nvSpPr>
          <p:spPr>
            <a:xfrm>
              <a:off x="76200" y="76200"/>
              <a:ext cx="660400" cy="660400"/>
            </a:xfrm>
            <a:prstGeom prst="rect">
              <a:avLst/>
            </a:prstGeom>
          </p:spPr>
          <p:txBody>
            <a:bodyPr lIns="25400" tIns="25400" rIns="25400" bIns="25400" rtlCol="0" anchor="ctr"/>
            <a:lstStyle/>
            <a:p>
              <a:pPr marL="0" marR="0" lvl="0" indent="0" algn="l" defTabSz="914400" rtl="0" eaLnBrk="1" fontAlgn="auto" latinLnBrk="0" hangingPunct="1">
                <a:lnSpc>
                  <a:spcPts val="1495"/>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1" name="TextBox 31"/>
          <p:cNvSpPr txBox="1"/>
          <p:nvPr/>
        </p:nvSpPr>
        <p:spPr>
          <a:xfrm>
            <a:off x="1226949" y="1336232"/>
            <a:ext cx="810381" cy="641201"/>
          </a:xfrm>
          <a:prstGeom prst="rect">
            <a:avLst/>
          </a:prstGeom>
        </p:spPr>
        <p:txBody>
          <a:bodyPr lIns="0" tIns="0" rIns="0" bIns="0" rtlCol="0" anchor="t">
            <a:spAutoFit/>
          </a:bodyPr>
          <a:lstStyle/>
          <a:p>
            <a:pPr marL="0" marR="0" lvl="0" indent="0" algn="ctr" defTabSz="914400" rtl="0" eaLnBrk="1" fontAlgn="auto" latinLnBrk="0" hangingPunct="1">
              <a:lnSpc>
                <a:spcPts val="5030"/>
              </a:lnSpc>
              <a:spcBef>
                <a:spcPts val="0"/>
              </a:spcBef>
              <a:spcAft>
                <a:spcPts val="0"/>
              </a:spcAft>
              <a:buClrTx/>
              <a:buSzTx/>
              <a:buFontTx/>
              <a:buNone/>
              <a:defRPr/>
            </a:pPr>
            <a:r>
              <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rPr>
              <a:t>04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27" name="TextBox 27"/>
          <p:cNvSpPr txBox="1"/>
          <p:nvPr/>
        </p:nvSpPr>
        <p:spPr>
          <a:xfrm>
            <a:off x="1198254" y="2480725"/>
            <a:ext cx="6186393" cy="390171"/>
          </a:xfrm>
          <a:prstGeom prst="rect">
            <a:avLst/>
          </a:prstGeom>
        </p:spPr>
        <p:txBody>
          <a:bodyPr wrap="square" lIns="0" tIns="0" rIns="0" bIns="0" rtlCol="0" anchor="t">
            <a:spAutoFit/>
          </a:bodyPr>
          <a:lstStyle/>
          <a:p>
            <a:pPr marL="0" marR="0" lvl="0" indent="0" algn="l" defTabSz="914400" rtl="0" eaLnBrk="1" fontAlgn="auto" latinLnBrk="0" hangingPunct="1">
              <a:lnSpc>
                <a:spcPts val="264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1E1E1E"/>
                </a:solidFill>
                <a:effectLst/>
                <a:uLnTx/>
                <a:uFillTx/>
                <a:latin typeface="Arial" panose="020B0604020202020204" pitchFamily="34" charset="0"/>
                <a:ea typeface="思源黑体 3 Bold"/>
                <a:cs typeface="Arial" panose="020B0604020202020204" pitchFamily="34" charset="0"/>
                <a:sym typeface="思源黑体 3 Bold"/>
              </a:rPr>
              <a:t>Conclusion</a:t>
            </a:r>
          </a:p>
        </p:txBody>
      </p:sp>
      <p:grpSp>
        <p:nvGrpSpPr>
          <p:cNvPr id="28" name="Group 28"/>
          <p:cNvGrpSpPr/>
          <p:nvPr/>
        </p:nvGrpSpPr>
        <p:grpSpPr>
          <a:xfrm>
            <a:off x="1198255" y="1279054"/>
            <a:ext cx="867769" cy="86776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2467"/>
            </a:solidFill>
          </p:spPr>
        </p:sp>
        <p:sp>
          <p:nvSpPr>
            <p:cNvPr id="30" name="TextBox 30"/>
            <p:cNvSpPr txBox="1"/>
            <p:nvPr/>
          </p:nvSpPr>
          <p:spPr>
            <a:xfrm>
              <a:off x="76200" y="76200"/>
              <a:ext cx="660400" cy="660400"/>
            </a:xfrm>
            <a:prstGeom prst="rect">
              <a:avLst/>
            </a:prstGeom>
          </p:spPr>
          <p:txBody>
            <a:bodyPr lIns="25400" tIns="25400" rIns="25400" bIns="25400" rtlCol="0" anchor="ctr"/>
            <a:lstStyle/>
            <a:p>
              <a:pPr marL="0" marR="0" lvl="0" indent="0" algn="l" defTabSz="914400" rtl="0" eaLnBrk="1" fontAlgn="auto" latinLnBrk="0" hangingPunct="1">
                <a:lnSpc>
                  <a:spcPts val="1495"/>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1" name="TextBox 31"/>
          <p:cNvSpPr txBox="1"/>
          <p:nvPr/>
        </p:nvSpPr>
        <p:spPr>
          <a:xfrm>
            <a:off x="1226949" y="1336232"/>
            <a:ext cx="810381" cy="641201"/>
          </a:xfrm>
          <a:prstGeom prst="rect">
            <a:avLst/>
          </a:prstGeom>
        </p:spPr>
        <p:txBody>
          <a:bodyPr lIns="0" tIns="0" rIns="0" bIns="0" rtlCol="0" anchor="t">
            <a:spAutoFit/>
          </a:bodyPr>
          <a:lstStyle/>
          <a:p>
            <a:pPr marL="0" marR="0" lvl="0" indent="0" algn="ctr" defTabSz="914400" rtl="0" eaLnBrk="1" fontAlgn="auto" latinLnBrk="0" hangingPunct="1">
              <a:lnSpc>
                <a:spcPts val="5030"/>
              </a:lnSpc>
              <a:spcBef>
                <a:spcPts val="0"/>
              </a:spcBef>
              <a:spcAft>
                <a:spcPts val="0"/>
              </a:spcAft>
              <a:buClrTx/>
              <a:buSzTx/>
              <a:buFontTx/>
              <a:buNone/>
              <a:defRPr/>
            </a:pPr>
            <a:r>
              <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rPr>
              <a:t>0</a:t>
            </a:r>
            <a:r>
              <a:rPr lang="en-US" sz="4190" b="1" dirty="0">
                <a:solidFill>
                  <a:srgbClr val="FFFFFF"/>
                </a:solidFill>
                <a:latin typeface="Akzidenz-Grotesk Bold"/>
                <a:ea typeface="Akzidenz-Grotesk Bold"/>
                <a:cs typeface="Akzidenz-Grotesk Bold"/>
                <a:sym typeface="Akzidenz-Grotesk Bold"/>
              </a:rPr>
              <a:t>5</a:t>
            </a:r>
            <a:endPar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4633203" y="-1449752"/>
            <a:ext cx="7616959" cy="8101554"/>
            <a:chOff x="0" y="0"/>
            <a:chExt cx="20311890" cy="21604144"/>
          </a:xfrm>
        </p:grpSpPr>
        <p:grpSp>
          <p:nvGrpSpPr>
            <p:cNvPr id="9" name="Group 9"/>
            <p:cNvGrpSpPr/>
            <p:nvPr/>
          </p:nvGrpSpPr>
          <p:grpSpPr>
            <a:xfrm rot="-10800000">
              <a:off x="0"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5276874"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ct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3866382" y="14043435"/>
              <a:ext cx="7828222" cy="3914111"/>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rot="2700000">
              <a:off x="1494816" y="15259558"/>
              <a:ext cx="8130644" cy="406532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5355956" y="16000491"/>
              <a:ext cx="10488015" cy="5244008"/>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rot="-10800000">
              <a:off x="7780493"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marL="0" marR="0" lvl="0" indent="0" algn="ctr" defTabSz="914400" rtl="0" eaLnBrk="1" fontAlgn="auto" latinLnBrk="0" hangingPunct="1">
                  <a:lnSpc>
                    <a:spcPts val="133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1" name="TextBox 31"/>
          <p:cNvSpPr txBox="1"/>
          <p:nvPr/>
        </p:nvSpPr>
        <p:spPr>
          <a:xfrm>
            <a:off x="1226949" y="1336232"/>
            <a:ext cx="810381" cy="644525"/>
          </a:xfrm>
          <a:prstGeom prst="rect">
            <a:avLst/>
          </a:prstGeom>
        </p:spPr>
        <p:txBody>
          <a:bodyPr lIns="0" tIns="0" rIns="0" bIns="0" rtlCol="0" anchor="t">
            <a:spAutoFit/>
          </a:bodyPr>
          <a:lstStyle/>
          <a:p>
            <a:pPr marL="0" marR="0" lvl="0" indent="0" algn="ctr" defTabSz="914400" rtl="0" eaLnBrk="1" fontAlgn="auto" latinLnBrk="0" hangingPunct="1">
              <a:lnSpc>
                <a:spcPts val="5030"/>
              </a:lnSpc>
              <a:spcBef>
                <a:spcPts val="0"/>
              </a:spcBef>
              <a:spcAft>
                <a:spcPts val="0"/>
              </a:spcAft>
              <a:buClrTx/>
              <a:buSzTx/>
              <a:buFontTx/>
              <a:buNone/>
              <a:defRPr/>
            </a:pPr>
            <a:r>
              <a:rPr kumimoji="0" lang="en-US" sz="4190" b="1" i="0" u="none" strike="noStrike" kern="1200" cap="none" spc="0" normalizeH="0" baseline="0" noProof="0" dirty="0">
                <a:ln>
                  <a:noFill/>
                </a:ln>
                <a:solidFill>
                  <a:srgbClr val="FFFFFF"/>
                </a:solidFill>
                <a:effectLst/>
                <a:uLnTx/>
                <a:uFillTx/>
                <a:latin typeface="Akzidenz-Grotesk Bold"/>
                <a:ea typeface="Akzidenz-Grotesk Bold"/>
                <a:cs typeface="Akzidenz-Grotesk Bold"/>
                <a:sym typeface="Akzidenz-Grotesk Bold"/>
              </a:rPr>
              <a:t>0</a:t>
            </a:r>
          </a:p>
        </p:txBody>
      </p:sp>
      <p:pic>
        <p:nvPicPr>
          <p:cNvPr id="27" name="图片 26"/>
          <p:cNvPicPr>
            <a:picLocks noChangeAspect="1"/>
          </p:cNvPicPr>
          <p:nvPr/>
        </p:nvPicPr>
        <p:blipFill>
          <a:blip r:embed="rId2"/>
          <a:stretch>
            <a:fillRect/>
          </a:stretch>
        </p:blipFill>
        <p:spPr>
          <a:xfrm>
            <a:off x="0" y="-24130"/>
            <a:ext cx="9466580" cy="52952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89566" y="2908103"/>
            <a:ext cx="4699274" cy="2349637"/>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38824"/>
              </a:srgbClr>
            </a:solidFill>
          </p:spPr>
        </p:sp>
        <p:sp>
          <p:nvSpPr>
            <p:cNvPr id="4" name="TextBox 4"/>
            <p:cNvSpPr txBox="1"/>
            <p:nvPr/>
          </p:nvSpPr>
          <p:spPr>
            <a:xfrm>
              <a:off x="0" y="-28575"/>
              <a:ext cx="698500" cy="434975"/>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5" name="Group 5"/>
          <p:cNvGrpSpPr/>
          <p:nvPr/>
        </p:nvGrpSpPr>
        <p:grpSpPr>
          <a:xfrm>
            <a:off x="-3327061" y="4000561"/>
            <a:ext cx="4699274" cy="2349637"/>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2745"/>
              </a:srgbClr>
            </a:solidFill>
          </p:spPr>
        </p:sp>
        <p:sp>
          <p:nvSpPr>
            <p:cNvPr id="7" name="TextBox 7"/>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8" name="Group 8"/>
          <p:cNvGrpSpPr/>
          <p:nvPr/>
        </p:nvGrpSpPr>
        <p:grpSpPr>
          <a:xfrm>
            <a:off x="4439493" y="-1449752"/>
            <a:ext cx="8197360" cy="8480668"/>
            <a:chOff x="0" y="0"/>
            <a:chExt cx="21859626" cy="22615114"/>
          </a:xfrm>
        </p:grpSpPr>
        <p:grpSp>
          <p:nvGrpSpPr>
            <p:cNvPr id="9" name="Group 9"/>
            <p:cNvGrpSpPr/>
            <p:nvPr/>
          </p:nvGrpSpPr>
          <p:grpSpPr>
            <a:xfrm rot="-10800000">
              <a:off x="2284675" y="0"/>
              <a:ext cx="12531397" cy="6265699"/>
              <a:chOff x="0" y="0"/>
              <a:chExt cx="812800" cy="406400"/>
            </a:xfrm>
          </p:grpSpPr>
          <p:sp>
            <p:nvSpPr>
              <p:cNvPr id="10" name="Freeform 10"/>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2941"/>
                </a:srgbClr>
              </a:solidFill>
            </p:spPr>
          </p:sp>
          <p:sp>
            <p:nvSpPr>
              <p:cNvPr id="11" name="TextBox 11"/>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2" name="Group 12"/>
            <p:cNvGrpSpPr/>
            <p:nvPr/>
          </p:nvGrpSpPr>
          <p:grpSpPr>
            <a:xfrm>
              <a:off x="7561549" y="3801375"/>
              <a:ext cx="12531397" cy="6265699"/>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74902"/>
                </a:srgbClr>
              </a:solidFill>
            </p:spPr>
          </p:sp>
          <p:sp>
            <p:nvSpPr>
              <p:cNvPr id="14" name="TextBox 14"/>
              <p:cNvSpPr txBox="1"/>
              <p:nvPr/>
            </p:nvSpPr>
            <p:spPr>
              <a:xfrm>
                <a:off x="0" y="-28575"/>
                <a:ext cx="698500" cy="434975"/>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15" name="Group 15"/>
            <p:cNvGrpSpPr/>
            <p:nvPr/>
          </p:nvGrpSpPr>
          <p:grpSpPr>
            <a:xfrm>
              <a:off x="3128267" y="13581351"/>
              <a:ext cx="9353396" cy="4676698"/>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27843"/>
                </a:srgbClr>
              </a:solidFill>
            </p:spPr>
          </p:sp>
          <p:sp>
            <p:nvSpPr>
              <p:cNvPr id="17" name="TextBox 17"/>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18" name="Group 18"/>
            <p:cNvGrpSpPr/>
            <p:nvPr/>
          </p:nvGrpSpPr>
          <p:grpSpPr>
            <a:xfrm rot="2700000">
              <a:off x="294649" y="15034411"/>
              <a:ext cx="9714738" cy="4857369"/>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5882"/>
                </a:srgbClr>
              </a:solidFill>
            </p:spPr>
          </p:sp>
          <p:sp>
            <p:nvSpPr>
              <p:cNvPr id="20" name="TextBox 20"/>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21" name="Group 21"/>
            <p:cNvGrpSpPr/>
            <p:nvPr/>
          </p:nvGrpSpPr>
          <p:grpSpPr>
            <a:xfrm>
              <a:off x="4908055" y="15919700"/>
              <a:ext cx="12531397" cy="6265699"/>
              <a:chOff x="0" y="0"/>
              <a:chExt cx="812800" cy="406400"/>
            </a:xfrm>
          </p:grpSpPr>
          <p:sp>
            <p:nvSpPr>
              <p:cNvPr id="22" name="Freeform 22"/>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3" name="TextBox 23"/>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nvGrpSpPr>
            <p:cNvPr id="24" name="Group 24"/>
            <p:cNvGrpSpPr/>
            <p:nvPr/>
          </p:nvGrpSpPr>
          <p:grpSpPr>
            <a:xfrm>
              <a:off x="9328229" y="6714596"/>
              <a:ext cx="12531397" cy="6265699"/>
              <a:chOff x="0" y="0"/>
              <a:chExt cx="812800" cy="406400"/>
            </a:xfrm>
          </p:grpSpPr>
          <p:sp>
            <p:nvSpPr>
              <p:cNvPr id="25" name="Freeform 2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072467">
                  <a:alpha val="46667"/>
                </a:srgbClr>
              </a:solidFill>
            </p:spPr>
          </p:sp>
          <p:sp>
            <p:nvSpPr>
              <p:cNvPr id="26" name="TextBox 26"/>
              <p:cNvSpPr txBox="1"/>
              <p:nvPr/>
            </p:nvSpPr>
            <p:spPr>
              <a:xfrm>
                <a:off x="0" y="-28575"/>
                <a:ext cx="698500" cy="434975"/>
              </a:xfrm>
              <a:prstGeom prst="rect">
                <a:avLst/>
              </a:prstGeom>
            </p:spPr>
            <p:txBody>
              <a:bodyPr lIns="25400" tIns="25400" rIns="25400" bIns="25400" rtlCol="0" anchor="ctr"/>
              <a:lstStyle/>
              <a:p>
                <a:pPr algn="ctr">
                  <a:lnSpc>
                    <a:spcPts val="1330"/>
                  </a:lnSpc>
                </a:pPr>
                <a:endParaRPr sz="900"/>
              </a:p>
            </p:txBody>
          </p:sp>
        </p:grpSp>
      </p:grpSp>
      <p:sp>
        <p:nvSpPr>
          <p:cNvPr id="27" name="Freeform 27"/>
          <p:cNvSpPr/>
          <p:nvPr/>
        </p:nvSpPr>
        <p:spPr>
          <a:xfrm>
            <a:off x="858312" y="3390476"/>
            <a:ext cx="191368" cy="203854"/>
          </a:xfrm>
          <a:custGeom>
            <a:avLst/>
            <a:gdLst/>
            <a:ahLst/>
            <a:cxnLst/>
            <a:rect l="l" t="t" r="r" b="b"/>
            <a:pathLst>
              <a:path w="382735" h="407707">
                <a:moveTo>
                  <a:pt x="0" y="0"/>
                </a:moveTo>
                <a:lnTo>
                  <a:pt x="382735" y="0"/>
                </a:lnTo>
                <a:lnTo>
                  <a:pt x="382735" y="407707"/>
                </a:lnTo>
                <a:lnTo>
                  <a:pt x="0" y="40770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28" name="TextBox 28"/>
          <p:cNvSpPr txBox="1"/>
          <p:nvPr/>
        </p:nvSpPr>
        <p:spPr>
          <a:xfrm>
            <a:off x="695836" y="1760140"/>
            <a:ext cx="7842337" cy="626518"/>
          </a:xfrm>
          <a:prstGeom prst="rect">
            <a:avLst/>
          </a:prstGeom>
        </p:spPr>
        <p:txBody>
          <a:bodyPr lIns="0" tIns="0" rIns="0" bIns="0" rtlCol="0" anchor="t">
            <a:spAutoFit/>
          </a:bodyPr>
          <a:lstStyle/>
          <a:p>
            <a:pPr>
              <a:lnSpc>
                <a:spcPts val="5280"/>
              </a:lnSpc>
            </a:pPr>
            <a:r>
              <a:rPr lang="en-US" sz="4000" b="1" dirty="0">
                <a:solidFill>
                  <a:srgbClr val="1E1E1E"/>
                </a:solidFill>
                <a:latin typeface="Arial" panose="020B0604020202020204" pitchFamily="34" charset="0"/>
                <a:ea typeface="思源黑体 1 Heavy"/>
                <a:cs typeface="Arial" panose="020B0604020202020204" pitchFamily="34" charset="0"/>
                <a:sym typeface="思源黑体 1 Heavy"/>
              </a:rPr>
              <a:t>Thank you for watching</a:t>
            </a:r>
          </a:p>
        </p:txBody>
      </p:sp>
      <p:grpSp>
        <p:nvGrpSpPr>
          <p:cNvPr id="29" name="Group 29"/>
          <p:cNvGrpSpPr/>
          <p:nvPr/>
        </p:nvGrpSpPr>
        <p:grpSpPr>
          <a:xfrm>
            <a:off x="709707" y="3057296"/>
            <a:ext cx="3592326" cy="333180"/>
            <a:chOff x="0" y="0"/>
            <a:chExt cx="1570590" cy="175502"/>
          </a:xfrm>
        </p:grpSpPr>
        <p:sp>
          <p:nvSpPr>
            <p:cNvPr id="30" name="Freeform 30"/>
            <p:cNvSpPr/>
            <p:nvPr/>
          </p:nvSpPr>
          <p:spPr>
            <a:xfrm>
              <a:off x="0" y="0"/>
              <a:ext cx="1570590" cy="175502"/>
            </a:xfrm>
            <a:custGeom>
              <a:avLst/>
              <a:gdLst/>
              <a:ahLst/>
              <a:cxnLst/>
              <a:rect l="l" t="t" r="r" b="b"/>
              <a:pathLst>
                <a:path w="1570590" h="175502">
                  <a:moveTo>
                    <a:pt x="87751" y="0"/>
                  </a:moveTo>
                  <a:lnTo>
                    <a:pt x="1482839" y="0"/>
                  </a:lnTo>
                  <a:cubicBezTo>
                    <a:pt x="1506112" y="0"/>
                    <a:pt x="1528432" y="9245"/>
                    <a:pt x="1544889" y="25702"/>
                  </a:cubicBezTo>
                  <a:cubicBezTo>
                    <a:pt x="1561345" y="42158"/>
                    <a:pt x="1570590" y="64478"/>
                    <a:pt x="1570590" y="87751"/>
                  </a:cubicBezTo>
                  <a:lnTo>
                    <a:pt x="1570590" y="87751"/>
                  </a:lnTo>
                  <a:cubicBezTo>
                    <a:pt x="1570590" y="136215"/>
                    <a:pt x="1531303" y="175502"/>
                    <a:pt x="1482839" y="175502"/>
                  </a:cubicBezTo>
                  <a:lnTo>
                    <a:pt x="87751" y="175502"/>
                  </a:lnTo>
                  <a:cubicBezTo>
                    <a:pt x="39288" y="175502"/>
                    <a:pt x="0" y="136215"/>
                    <a:pt x="0" y="87751"/>
                  </a:cubicBezTo>
                  <a:lnTo>
                    <a:pt x="0" y="87751"/>
                  </a:lnTo>
                  <a:cubicBezTo>
                    <a:pt x="0" y="39288"/>
                    <a:pt x="39288" y="0"/>
                    <a:pt x="87751" y="0"/>
                  </a:cubicBezTo>
                  <a:close/>
                </a:path>
              </a:pathLst>
            </a:custGeom>
            <a:solidFill>
              <a:srgbClr val="072467"/>
            </a:solidFill>
            <a:ln cap="rnd">
              <a:noFill/>
              <a:prstDash val="solid"/>
              <a:round/>
            </a:ln>
          </p:spPr>
        </p:sp>
        <p:sp>
          <p:nvSpPr>
            <p:cNvPr id="31" name="TextBox 31"/>
            <p:cNvSpPr txBox="1"/>
            <p:nvPr/>
          </p:nvSpPr>
          <p:spPr>
            <a:xfrm>
              <a:off x="0" y="-38100"/>
              <a:ext cx="1570590" cy="213602"/>
            </a:xfrm>
            <a:prstGeom prst="rect">
              <a:avLst/>
            </a:prstGeom>
          </p:spPr>
          <p:txBody>
            <a:bodyPr lIns="25400" tIns="25400" rIns="25400" bIns="25400" rtlCol="0" anchor="ctr"/>
            <a:lstStyle/>
            <a:p>
              <a:pPr algn="ctr">
                <a:lnSpc>
                  <a:spcPts val="1330"/>
                </a:lnSpc>
                <a:spcBef>
                  <a:spcPct val="0"/>
                </a:spcBef>
              </a:pPr>
              <a:endParaRPr sz="900"/>
            </a:p>
          </p:txBody>
        </p:sp>
      </p:grpSp>
      <p:sp>
        <p:nvSpPr>
          <p:cNvPr id="32" name="Freeform 32"/>
          <p:cNvSpPr/>
          <p:nvPr/>
        </p:nvSpPr>
        <p:spPr>
          <a:xfrm>
            <a:off x="895997" y="3113672"/>
            <a:ext cx="191368" cy="203854"/>
          </a:xfrm>
          <a:custGeom>
            <a:avLst/>
            <a:gdLst/>
            <a:ahLst/>
            <a:cxnLst/>
            <a:rect l="l" t="t" r="r" b="b"/>
            <a:pathLst>
              <a:path w="382735" h="407707">
                <a:moveTo>
                  <a:pt x="0" y="0"/>
                </a:moveTo>
                <a:lnTo>
                  <a:pt x="382734" y="0"/>
                </a:lnTo>
                <a:lnTo>
                  <a:pt x="382734" y="407706"/>
                </a:lnTo>
                <a:lnTo>
                  <a:pt x="0" y="4077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3" name="TextBox 33"/>
          <p:cNvSpPr txBox="1"/>
          <p:nvPr/>
        </p:nvSpPr>
        <p:spPr>
          <a:xfrm>
            <a:off x="1120986" y="3137990"/>
            <a:ext cx="2952055" cy="179536"/>
          </a:xfrm>
          <a:prstGeom prst="rect">
            <a:avLst/>
          </a:prstGeom>
        </p:spPr>
        <p:txBody>
          <a:bodyPr wrap="square" lIns="0" tIns="0" rIns="0" bIns="0" rtlCol="0" anchor="t">
            <a:spAutoFit/>
          </a:bodyPr>
          <a:lstStyle/>
          <a:p>
            <a:pPr>
              <a:lnSpc>
                <a:spcPts val="1360"/>
              </a:lnSpc>
              <a:spcBef>
                <a:spcPct val="0"/>
              </a:spcBef>
            </a:pPr>
            <a:r>
              <a:rPr lang="en-US" sz="1400" b="1" dirty="0" err="1">
                <a:solidFill>
                  <a:srgbClr val="FFFFFF"/>
                </a:solidFill>
                <a:latin typeface="Arial" panose="020B0604020202020204" pitchFamily="34" charset="0"/>
                <a:ea typeface="思源黑体 3 Medium"/>
                <a:cs typeface="Arial" panose="020B0604020202020204" pitchFamily="34" charset="0"/>
                <a:sym typeface="思源黑体 3 Medium"/>
              </a:rPr>
              <a:t>Presenters：Wang</a:t>
            </a:r>
            <a:r>
              <a:rPr lang="en-US" sz="1400" b="1" dirty="0">
                <a:solidFill>
                  <a:srgbClr val="FFFFFF"/>
                </a:solidFill>
                <a:latin typeface="Arial" panose="020B0604020202020204" pitchFamily="34" charset="0"/>
                <a:ea typeface="思源黑体 3 Medium"/>
                <a:cs typeface="Arial" panose="020B0604020202020204" pitchFamily="34" charset="0"/>
                <a:sym typeface="思源黑体 3 Medium"/>
              </a:rPr>
              <a:t> </a:t>
            </a:r>
            <a:r>
              <a:rPr lang="en-US" sz="1400" b="1" dirty="0" err="1">
                <a:solidFill>
                  <a:srgbClr val="FFFFFF"/>
                </a:solidFill>
                <a:latin typeface="Arial" panose="020B0604020202020204" pitchFamily="34" charset="0"/>
                <a:ea typeface="思源黑体 3 Medium"/>
                <a:cs typeface="Arial" panose="020B0604020202020204" pitchFamily="34" charset="0"/>
                <a:sym typeface="思源黑体 3 Medium"/>
              </a:rPr>
              <a:t>Yiru</a:t>
            </a:r>
            <a:r>
              <a:rPr lang="en-US" sz="1400" b="1" dirty="0">
                <a:solidFill>
                  <a:srgbClr val="FFFFFF"/>
                </a:solidFill>
                <a:latin typeface="Arial" panose="020B0604020202020204" pitchFamily="34" charset="0"/>
                <a:ea typeface="思源黑体 3 Medium"/>
                <a:cs typeface="Arial" panose="020B0604020202020204" pitchFamily="34" charset="0"/>
                <a:sym typeface="思源黑体 3 Medium"/>
              </a:rPr>
              <a:t>, Hong </a:t>
            </a:r>
            <a:r>
              <a:rPr lang="en-US" sz="1400" b="1" dirty="0" err="1">
                <a:solidFill>
                  <a:srgbClr val="FFFFFF"/>
                </a:solidFill>
                <a:latin typeface="Arial" panose="020B0604020202020204" pitchFamily="34" charset="0"/>
                <a:ea typeface="思源黑体 3 Medium"/>
                <a:cs typeface="Arial" panose="020B0604020202020204" pitchFamily="34" charset="0"/>
                <a:sym typeface="思源黑体 3 Medium"/>
              </a:rPr>
              <a:t>Liya</a:t>
            </a:r>
            <a:endParaRPr lang="en-US" sz="1400" b="1" dirty="0">
              <a:solidFill>
                <a:srgbClr val="FFFFFF"/>
              </a:solidFill>
              <a:latin typeface="Arial" panose="020B0604020202020204" pitchFamily="34" charset="0"/>
              <a:ea typeface="思源黑体 3 Medium"/>
              <a:cs typeface="Arial" panose="020B0604020202020204" pitchFamily="34" charset="0"/>
              <a:sym typeface="思源黑体 3 Medium"/>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33.2,&quot;left&quot;:36,&quot;top&quot;:176.4,&quot;width&quot;:64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3579</Words>
  <Application>Microsoft Office PowerPoint</Application>
  <PresentationFormat>全屏显示(16:9)</PresentationFormat>
  <Paragraphs>272</Paragraphs>
  <Slides>26</Slides>
  <Notes>17</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26</vt:i4>
      </vt:variant>
    </vt:vector>
  </HeadingPairs>
  <TitlesOfParts>
    <vt:vector size="35" baseType="lpstr">
      <vt:lpstr>Akzidenz-Grotesk Bold</vt:lpstr>
      <vt:lpstr>Noto Sans SC</vt:lpstr>
      <vt:lpstr>黑体</vt:lpstr>
      <vt:lpstr>微软雅黑</vt:lpstr>
      <vt:lpstr>Arial</vt:lpstr>
      <vt:lpstr>Calibri</vt:lpstr>
      <vt:lpstr>Office Theme</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Human-AI Collaborative Novel Creation Research</dc:title>
  <dc:subject>PptxGenJS Presentation</dc:subject>
  <dc:creator>Course Project Team</dc:creator>
  <cp:lastModifiedBy>莉雅 洪</cp:lastModifiedBy>
  <cp:revision>14</cp:revision>
  <dcterms:created xsi:type="dcterms:W3CDTF">2026-06-13T10:53:00Z</dcterms:created>
  <dcterms:modified xsi:type="dcterms:W3CDTF">2026-06-14T07:55:39Z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630C6678A2DA45C48A082B33E1F416DE_13</vt:lpwstr>
  </property>
</Properties>
</file>