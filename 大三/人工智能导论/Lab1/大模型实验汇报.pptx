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3.svg" ContentType="image/svg+xml"/>
  <Override PartName="/ppt/media/image36.svg" ContentType="image/svg+xml"/>
  <Override PartName="/ppt/media/image43.svg" ContentType="image/svg+xml"/>
  <Override PartName="/ppt/media/image46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72" r:id="rId8"/>
    <p:sldId id="257" r:id="rId10"/>
    <p:sldId id="258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3" r:id="rId19"/>
    <p:sldId id="274" r:id="rId20"/>
    <p:sldId id="275" r:id="rId21"/>
    <p:sldId id="267" r:id="rId22"/>
    <p:sldId id="268" r:id="rId23"/>
    <p:sldId id="26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20" userDrawn="1">
          <p15:clr>
            <a:srgbClr val="747775"/>
          </p15:clr>
        </p15:guide>
        <p15:guide id="2" pos="289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20"/>
        <p:guide pos="289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20.svg"/><Relationship Id="rId45" Type="http://schemas.openxmlformats.org/officeDocument/2006/relationships/notesSlide" Target="../notesSlides/notesSlide9.xml"/><Relationship Id="rId44" Type="http://schemas.openxmlformats.org/officeDocument/2006/relationships/slideLayout" Target="../slideLayouts/slideLayout12.xml"/><Relationship Id="rId43" Type="http://schemas.openxmlformats.org/officeDocument/2006/relationships/tags" Target="../tags/tag46.xml"/><Relationship Id="rId42" Type="http://schemas.openxmlformats.org/officeDocument/2006/relationships/tags" Target="../tags/tag45.xml"/><Relationship Id="rId41" Type="http://schemas.openxmlformats.org/officeDocument/2006/relationships/tags" Target="../tags/tag44.xml"/><Relationship Id="rId40" Type="http://schemas.openxmlformats.org/officeDocument/2006/relationships/image" Target="../media/image30.svg"/><Relationship Id="rId4" Type="http://schemas.openxmlformats.org/officeDocument/2006/relationships/image" Target="../media/image19.png"/><Relationship Id="rId39" Type="http://schemas.openxmlformats.org/officeDocument/2006/relationships/image" Target="../media/image29.png"/><Relationship Id="rId38" Type="http://schemas.openxmlformats.org/officeDocument/2006/relationships/tags" Target="../tags/tag43.xml"/><Relationship Id="rId37" Type="http://schemas.openxmlformats.org/officeDocument/2006/relationships/tags" Target="../tags/tag42.xml"/><Relationship Id="rId36" Type="http://schemas.openxmlformats.org/officeDocument/2006/relationships/tags" Target="../tags/tag41.xml"/><Relationship Id="rId35" Type="http://schemas.openxmlformats.org/officeDocument/2006/relationships/tags" Target="../tags/tag40.xml"/><Relationship Id="rId34" Type="http://schemas.openxmlformats.org/officeDocument/2006/relationships/tags" Target="../tags/tag39.xml"/><Relationship Id="rId33" Type="http://schemas.openxmlformats.org/officeDocument/2006/relationships/image" Target="../media/image28.svg"/><Relationship Id="rId32" Type="http://schemas.openxmlformats.org/officeDocument/2006/relationships/image" Target="../media/image27.png"/><Relationship Id="rId31" Type="http://schemas.openxmlformats.org/officeDocument/2006/relationships/tags" Target="../tags/tag38.xml"/><Relationship Id="rId30" Type="http://schemas.openxmlformats.org/officeDocument/2006/relationships/tags" Target="../tags/tag37.xml"/><Relationship Id="rId3" Type="http://schemas.openxmlformats.org/officeDocument/2006/relationships/tags" Target="../tags/tag18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7.xml"/><Relationship Id="rId19" Type="http://schemas.openxmlformats.org/officeDocument/2006/relationships/image" Target="../media/image24.svg"/><Relationship Id="rId18" Type="http://schemas.openxmlformats.org/officeDocument/2006/relationships/image" Target="../media/image23.png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tags" Target="../tags/tag23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tags" Target="../tags/tag47.xml"/><Relationship Id="rId2" Type="http://schemas.openxmlformats.org/officeDocument/2006/relationships/image" Target="../media/image31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image" Target="../media/image41.jpeg"/><Relationship Id="rId7" Type="http://schemas.openxmlformats.org/officeDocument/2006/relationships/image" Target="../media/image40.jpeg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48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7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37922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6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《终端：理智覆写》</a:t>
            </a:r>
            <a:endParaRPr lang="zh-CN" altLang="en-US" sz="6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altLang="zh-CN" sz="6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Terminal Sanity Override</a:t>
            </a:r>
            <a:endParaRPr lang="en-US" altLang="zh-CN" sz="6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导论大模型作业汇报</a:t>
            </a:r>
            <a:endParaRPr lang="zh-CN" altLang="en-US" sz="4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马鑫</a:t>
            </a:r>
            <a:endParaRPr lang="zh-CN" altLang="en-US" sz="20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4</a:t>
            </a:r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16000" y="1841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2032000" y="190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2032000" y="2413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b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项目核心产品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112000" y="1434465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366000" y="1624965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8382000" y="1688465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项目规划与设计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8382000" y="2196465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整体工作流程</a:t>
            </a:r>
            <a:b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“1人公司”角色拆解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89000" y="3810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1143000" y="4000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2159000" y="4064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AI驱动开发实践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2159000" y="4572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角色与模型精准匹配</a:t>
            </a:r>
            <a:b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各环节实践详情与成果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7112000" y="3528060"/>
            <a:ext cx="342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7366000" y="371856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8382000" y="378206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项目成果展示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8382000" y="429006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最终游戏成果演示</a:t>
            </a:r>
            <a:b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核心AI产出汇总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OVERVIEW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5334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项目核心产品：迷你文字冒险游戏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651000"/>
          </a:xfrm>
          <a:prstGeom prst="roundRect">
            <a:avLst>
              <a:gd name="adj" fmla="val 923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E5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▍项目实践载体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本次实践基于</a:t>
            </a:r>
            <a:r>
              <a:rPr lang="en-US" sz="12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Ren'Py</a:t>
            </a: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视觉小说引擎开发迷你文字冒险游戏。我们将以这个具体项目为依托，完整展示 AI 如何赋能从创意构思、内容生成到代码实现的全流程。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E5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746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▍游戏核心档案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31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318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游戏类型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视觉小说 / 文字冒险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207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5207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Ren'Py (Python 底层)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4318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810000" y="4318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核心主题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《AI 觉醒前夜》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2000" y="5207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810000" y="5207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开发周期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 天敏捷开发</a:t>
            </a:r>
            <a:endParaRPr lang="en-US" sz="11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050405" y="1524000"/>
            <a:ext cx="3706495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E5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E5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rcRect t="11561" b="11561"/>
          <a:stretch>
            <a:fillRect/>
          </a:stretch>
        </p:blipFill>
        <p:spPr>
          <a:xfrm>
            <a:off x="6477000" y="4191000"/>
            <a:ext cx="4699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8835" y="1630680"/>
            <a:ext cx="3387725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项目规划与设计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PLANNING &amp; DESIGN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整体工作流程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7777"/>
            </a:avLst>
          </a:prstGeom>
          <a:solidFill>
            <a:srgbClr val="1A2332">
              <a:alpha val="85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17145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我们将复杂的游戏开发流程拆解为六个核心阶段，并通过大模型进行串联，打破传统开发的信息孤岛，形成一个高效、协同的智能化闭环。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10668000" cy="2413000"/>
          </a:xfrm>
          <a:prstGeom prst="roundRect">
            <a:avLst>
              <a:gd name="adj" fmla="val 8421"/>
            </a:avLst>
          </a:prstGeom>
          <a:solidFill>
            <a:srgbClr val="1A2332">
              <a:alpha val="85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E5FF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28" r="128"/>
          <a:stretch>
            <a:fillRect/>
          </a:stretch>
        </p:blipFill>
        <p:spPr>
          <a:xfrm>
            <a:off x="1651000" y="3175000"/>
            <a:ext cx="8890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62000" y="5588000"/>
            <a:ext cx="10668000" cy="508000"/>
          </a:xfrm>
          <a:prstGeom prst="roundRect">
            <a:avLst>
              <a:gd name="adj" fmla="val 20000"/>
            </a:avLst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200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AI-DRIVEN GAME DEVELOPMENT WORKFLOW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“1人公司”角色拆解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6700" r="16699"/>
          <a:stretch>
            <a:fillRect/>
          </a:stretch>
        </p:blipFill>
        <p:spPr>
          <a:xfrm>
            <a:off x="1016000" y="1841500"/>
            <a:ext cx="1143000" cy="1143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413000" y="1841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立项策划 (PM)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3495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13000" y="2730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负责项目定位、市场竞品分析及核心玩法设计规划。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99000" y="1841500"/>
            <a:ext cx="1143000" cy="1143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096000" y="1841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剧情策划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0" y="23495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2730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构建完整世界观、塑造角色形象，撰写剧情与对话文本。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52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82000" y="1841500"/>
            <a:ext cx="1143000" cy="1143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779000" y="1841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美术生产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779000" y="23495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79000" y="2730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设计游戏原画、角色差分图、场景概念图及UI界面元素。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4254500"/>
            <a:ext cx="1143000" cy="1143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2413000" y="4254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音乐开发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413000" y="47625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413000" y="5143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进行游戏BGM的创作、音效设计与音频资源的整合制作。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3937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699000" y="4254500"/>
            <a:ext cx="1143000" cy="1143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6096000" y="4254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程序开发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096000" y="47625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096000" y="5143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负责游戏核心逻辑实现、功能模块代码编写及技术调试。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3937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382000" y="4254500"/>
            <a:ext cx="1143000" cy="1143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9779000" y="4254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包装运营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779000" y="47625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779000" y="5143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撰写项目宣传文案、产品功能描述，负责对外推广包装。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AI驱动的开发实践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AI-POWERED DEVELOPMENT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5461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核心策略：角色与模型的精准匹配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14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714500" y="1651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立项策划 (PM)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714500" y="203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负责项目定位、整体玩法设计与资源规划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714500" y="241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选用模型：Gemini-3-Pro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524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1714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397500" y="1651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剧情策划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5397500" y="203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构建世界观、角色设定、主线剧情与文本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397500" y="241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选用模型：Grok4-1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128000" y="1524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8500" y="1714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9080500" y="1651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美术生产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9080500" y="203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生成原画、角色差分图及场景概念设计图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9080500" y="241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选用模型：Gemini-3 / Hunyuan 3.0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762000" y="3175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2500" y="33655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7"/>
            </p:custDataLst>
          </p:nvPr>
        </p:nvSpPr>
        <p:spPr>
          <a:xfrm>
            <a:off x="1714500" y="3302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音乐开发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1714500" y="3683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根据游戏氛围创作沉浸式BGM与音效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1714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选用模型：Suno-v4.5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4445000" y="3175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635500" y="33655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4"/>
            </p:custDataLst>
          </p:nvPr>
        </p:nvSpPr>
        <p:spPr>
          <a:xfrm>
            <a:off x="5397500" y="3302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程序开发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35"/>
            </p:custDataLst>
          </p:nvPr>
        </p:nvSpPr>
        <p:spPr>
          <a:xfrm>
            <a:off x="5397500" y="3683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实现核心游戏逻辑、编写高效业务代码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36"/>
            </p:custDataLst>
          </p:nvPr>
        </p:nvSpPr>
        <p:spPr>
          <a:xfrm>
            <a:off x="5397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选用模型：GLM-v4.7 / Grok4-1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7"/>
            </p:custDataLst>
          </p:nvPr>
        </p:nvSpPr>
        <p:spPr>
          <a:xfrm>
            <a:off x="8128000" y="3175000"/>
            <a:ext cx="3302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18500" y="3365500"/>
            <a:ext cx="609600" cy="609600"/>
          </a:xfrm>
          <a:prstGeom prst="rect">
            <a:avLst/>
          </a:prstGeom>
        </p:spPr>
      </p:pic>
      <p:sp>
        <p:nvSpPr>
          <p:cNvPr id="31" name="AutoShape 31"/>
          <p:cNvSpPr/>
          <p:nvPr>
            <p:custDataLst>
              <p:tags r:id="rId41"/>
            </p:custDataLst>
          </p:nvPr>
        </p:nvSpPr>
        <p:spPr>
          <a:xfrm>
            <a:off x="9080500" y="3302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包装运营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42"/>
            </p:custDataLst>
          </p:nvPr>
        </p:nvSpPr>
        <p:spPr>
          <a:xfrm>
            <a:off x="9080500" y="3683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撰写吸睛宣传文案、策划社群推广活动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43"/>
            </p:custDataLst>
          </p:nvPr>
        </p:nvSpPr>
        <p:spPr>
          <a:xfrm>
            <a:off x="9080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选用模型：Gemini-3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" y="4953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核心模型矩阵 SUPPORTED BY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1016000" y="5461000"/>
            <a:ext cx="152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1016000" y="5651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Gemini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2794000" y="5461000"/>
            <a:ext cx="152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2794000" y="5651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472B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Grok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572000" y="5461000"/>
            <a:ext cx="152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4572000" y="5651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Hunyuan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350000" y="5461000"/>
            <a:ext cx="152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6350000" y="5651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Suno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28000" y="5461000"/>
            <a:ext cx="152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128000" y="56515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GLM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906000" y="5461000"/>
            <a:ext cx="1270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9906000" y="56515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Qwen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实践详情：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立项策划（</a:t>
            </a:r>
            <a:r>
              <a:rPr lang="en-US" altLang="zh-CN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PM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778000" y="1524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17253C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032000" y="1778000"/>
            <a:ext cx="762000" cy="762000"/>
          </a:xfrm>
          <a:prstGeom prst="ellipse">
            <a:avLst/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984500" y="18796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立项</a:t>
            </a: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Powered by Gemini-3-Pro</a:t>
            </a:r>
            <a:endParaRPr lang="en-US" sz="1200" b="0" i="0" u="none" strike="noStrike">
              <a:solidFill>
                <a:srgbClr val="A0AE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5626">
            <a:off x="2032014" y="272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2032000" y="3012440"/>
            <a:ext cx="2794000" cy="2194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</a:t>
            </a:r>
            <a:r>
              <a:rPr lang="en-US" sz="1100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项目定位、整体玩法设计与资源规划</a:t>
            </a:r>
            <a:r>
              <a:rPr lang="zh-CN" altLang="en-US" sz="1100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  <a:endParaRPr lang="zh-CN" altLang="en-US" sz="1100">
              <a:solidFill>
                <a:srgbClr val="CBD5E1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zh-CN" altLang="en-US" sz="1100" b="0" i="0" u="none" strike="noStrike">
              <a:solidFill>
                <a:srgbClr val="CBD5E1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直接输出</a:t>
            </a:r>
            <a:r>
              <a:rPr lang="en-US" altLang="zh-CN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MarkDown</a:t>
            </a:r>
            <a:r>
              <a:rPr lang="zh-CN" altLang="en-US" sz="11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</a:t>
            </a:r>
            <a:endParaRPr lang="zh-CN" altLang="en-US" sz="1100" b="0" i="0" u="none" strike="noStrike">
              <a:solidFill>
                <a:srgbClr val="CBD5E1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295" y="311150"/>
            <a:ext cx="4525645" cy="6233795"/>
          </a:xfrm>
          <a:prstGeom prst="rect">
            <a:avLst/>
          </a:prstGeom>
        </p:spPr>
      </p:pic>
      <p:pic>
        <p:nvPicPr>
          <p:cNvPr id="38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8200" y="183896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实践详情：剧情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435735" y="1524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17253C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689735" y="1778000"/>
            <a:ext cx="762000" cy="762000"/>
          </a:xfrm>
          <a:prstGeom prst="ellipse">
            <a:avLst/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0235" y="19685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642235" y="18796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剧情策划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Powered by Grok4-1</a:t>
            </a:r>
            <a:endParaRPr lang="en-US" sz="1200" b="0" i="0" u="none" strike="noStrike">
              <a:solidFill>
                <a:srgbClr val="A0AE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5626">
            <a:off x="1689749" y="2724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689735" y="330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提供核心世界观设定与核心冲突，引导AI进行长文本剧情推演与多分支文本撰写。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89735" y="3937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</a:t>
            </a:r>
            <a:r>
              <a:rPr 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包含角色对话、分镜描述的完整剧本，及支持玩家选择的多分支剧情树。</a:t>
            </a:r>
            <a:endParaRPr lang="en-US" sz="11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en-US" sz="1100"/>
          </a:p>
          <a:p>
            <a:pPr algn="l">
              <a:lnSpc>
                <a:spcPct val="108000"/>
              </a:lnSpc>
              <a:buSzTx/>
              <a:defRPr/>
            </a:pPr>
            <a:r>
              <a:rPr lang="en-US" sz="1100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导出pdf文档</a:t>
            </a:r>
            <a:endParaRPr lang="en-US" sz="1100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075" y="76200"/>
            <a:ext cx="5847715" cy="6734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实践详情：美术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8215" y="144399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17253C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212215" y="1697990"/>
            <a:ext cx="762000" cy="762000"/>
          </a:xfrm>
          <a:prstGeom prst="ellipse">
            <a:avLst/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2715" y="188849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164715" y="179959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美术生产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Powered by Gemini-3 , humyuan3-instruct</a:t>
            </a:r>
            <a:endParaRPr lang="en-US" sz="1200" b="0" i="0" u="none" strike="noStrike">
              <a:solidFill>
                <a:srgbClr val="A0AE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5626">
            <a:off x="1212229" y="264414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0"/>
          <p:cNvSpPr/>
          <p:nvPr/>
        </p:nvSpPr>
        <p:spPr>
          <a:xfrm>
            <a:off x="1212215" y="284099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</a:t>
            </a:r>
            <a:r>
              <a:rPr lang="en-US" altLang="zh-CN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Gemini3</a:t>
            </a:r>
            <a:r>
              <a:rPr lang="zh-CN" alt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生成原画，生成效果好，但是分辨率不可控</a:t>
            </a:r>
            <a:endParaRPr lang="zh-CN" altLang="en-US" sz="11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zh-CN" altLang="en-US" sz="11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</a:t>
            </a:r>
            <a:r>
              <a:rPr lang="en-US" altLang="zh-CN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hunyuan3</a:t>
            </a:r>
            <a:r>
              <a:rPr lang="zh-CN" alt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生成差分，很好保存原图特征，但是生成非透明底</a:t>
            </a:r>
            <a:endParaRPr lang="zh-CN" altLang="en-US" sz="11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endParaRPr lang="zh-CN" altLang="en-US" sz="11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抠图模型</a:t>
            </a:r>
            <a:endParaRPr lang="zh-CN" altLang="en-US" sz="11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8" name="图片 37" descr="defau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595" y="287020"/>
            <a:ext cx="2316480" cy="3102610"/>
          </a:xfrm>
          <a:prstGeom prst="rect">
            <a:avLst/>
          </a:prstGeom>
        </p:spPr>
      </p:pic>
      <p:pic>
        <p:nvPicPr>
          <p:cNvPr id="40" name="图片 39" descr="mild distor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765" y="4134485"/>
            <a:ext cx="3471545" cy="1937385"/>
          </a:xfrm>
          <a:prstGeom prst="rect">
            <a:avLst/>
          </a:prstGeom>
        </p:spPr>
      </p:pic>
      <p:pic>
        <p:nvPicPr>
          <p:cNvPr id="41" name="图片 40" descr="green succ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795" y="4232275"/>
            <a:ext cx="3498215" cy="1954530"/>
          </a:xfrm>
          <a:prstGeom prst="rect">
            <a:avLst/>
          </a:prstGeom>
        </p:spPr>
      </p:pic>
      <p:pic>
        <p:nvPicPr>
          <p:cNvPr id="42" name="图片 41" descr="ale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3455" y="273050"/>
            <a:ext cx="2336800" cy="3116580"/>
          </a:xfrm>
          <a:prstGeom prst="rect">
            <a:avLst/>
          </a:prstGeom>
        </p:spPr>
      </p:pic>
      <p:pic>
        <p:nvPicPr>
          <p:cNvPr id="43" name="图片 42" descr="faul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9955" y="225425"/>
            <a:ext cx="2372995" cy="31642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实践详情：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音乐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005840" y="1449705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17253C">
              <a:alpha val="85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259840" y="1703705"/>
            <a:ext cx="762000" cy="762000"/>
          </a:xfrm>
          <a:prstGeom prst="ellipse">
            <a:avLst/>
          </a:prstGeom>
          <a:solidFill>
            <a:srgbClr val="00E5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50340" y="1894205"/>
            <a:ext cx="381000" cy="381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2212340" y="1805305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音乐开发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Powered by Suno-v4.5</a:t>
            </a:r>
            <a:endParaRPr lang="en-US" sz="1200" b="0" i="0" u="none" strike="noStrike">
              <a:solidFill>
                <a:srgbClr val="A0AE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/>
        </p:nvCxnSpPr>
        <p:spPr>
          <a:xfrm rot="-15626">
            <a:off x="1259854" y="2649855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>
            <p:custDataLst>
              <p:tags r:id="rId2"/>
            </p:custDataLst>
          </p:nvPr>
        </p:nvSpPr>
        <p:spPr>
          <a:xfrm>
            <a:off x="1259840" y="3227705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仅生成一首背景音做实验</a:t>
            </a:r>
            <a:endParaRPr lang="zh-CN" altLang="en-US" sz="11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实践详情：程序开发与包装运营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17253C">
              <a:alpha val="90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E5FF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52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程序开发 (GLM-v4.7, Grok4-1)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6500" y="254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</a:t>
            </a: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无论是哪个模型，在首次生成代码时都无法正常运行，需要反复输入输出，指导</a:t>
            </a:r>
            <a:r>
              <a:rPr lang="en-US" altLang="zh-CN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语法规范。</a:t>
            </a:r>
            <a:endParaRPr lang="zh-CN" alt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11087" b="11087"/>
          <a:stretch>
            <a:fillRect/>
          </a:stretch>
        </p:blipFill>
        <p:spPr>
          <a:xfrm>
            <a:off x="1016000" y="3683000"/>
            <a:ext cx="4699000" cy="2286000"/>
          </a:xfrm>
          <a:prstGeom prst="roundRect">
            <a:avLst>
              <a:gd name="adj" fmla="val 4444"/>
            </a:avLst>
          </a:prstGeom>
          <a:noFill/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17253C">
              <a:alpha val="90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E5FF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778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752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包装运营 (Gemini-3)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413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67500" y="254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输入游戏核心卖点，</a:t>
            </a:r>
            <a:r>
              <a:rPr lang="zh-CN" alt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故事大纲，预期体验，项目愿景等。</a:t>
            </a:r>
            <a:endParaRPr lang="zh-CN" alt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rcRect b="32560"/>
          <a:stretch>
            <a:fillRect/>
          </a:stretch>
        </p:blipFill>
        <p:spPr>
          <a:xfrm>
            <a:off x="6546850" y="3683000"/>
            <a:ext cx="4558665" cy="2437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项目成果展示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SHOWCASE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最终游戏成果演示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29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0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6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7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8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9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0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1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2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3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4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5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6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7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8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9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0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1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2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3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4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5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6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7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8.xml><?xml version="1.0" encoding="utf-8"?>
<p:tagLst xmlns:p="http://schemas.openxmlformats.org/presentationml/2006/main">
  <p:tag name="KSO_WM_DIAGRAM_VIRTUALLY_FRAME" val="{&quot;height&quot;:180,&quot;left&quot;:99.2,&quot;top&quot;:224.15,&quot;width&quot;:2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WPS 演示</Application>
  <PresentationFormat/>
  <Paragraphs>225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WPS_1601472217</cp:lastModifiedBy>
  <cp:revision>5</cp:revision>
  <dcterms:created xsi:type="dcterms:W3CDTF">2026-04-12T23:55:00Z</dcterms:created>
  <dcterms:modified xsi:type="dcterms:W3CDTF">2026-07-26T07:39:06Z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2138DD3744B54849A465536CFF01AA80_12</vt:lpwstr>
  </property>
</Properties>
</file>