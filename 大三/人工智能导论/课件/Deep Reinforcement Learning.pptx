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331" r:id="rId26"/>
    <p:sldId id="332" r:id="rId27"/>
  </p:sldIdLst>
  <p:sldSz cx="9144000" cy="6858000" type="screen4x3"/>
  <p:notesSz cx="6858000" cy="9144000"/>
  <p:custDataLst>
    <p:tags r:id="rId31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5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timesofindia.indiatimes.com/life-style/relationships/pets/5-things-that-scare-and-stress-your-cat/artideshow/67586673.cms" TargetMode="External"/><Relationship Id="rId3" Type="http://schemas.openxmlformats.org/officeDocument/2006/relationships/hyperlink" Target="https://www.autoexpress.co.uk/tesla/model-3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mofanpy.com/tutorials/machine-leaming/reinforcement-leaming/intro-q-leaming/" TargetMode="Externa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syncedreview.com/2020/01/08/slm-lab-new-rl-research-benchmark-software-framework/" TargetMode="Externa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levelup.gitconnected.com/how-deepmmds-alphago-became-the-world-s-top-go-player-5b275e553d6a?gi=766cb4dda780" TargetMode="Externa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8.jpeg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becominghuman.ai/summary-of-the-alphago-paper-b55ce24d8a7c" TargetMode="External"/><Relationship Id="rId1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medium.com/inside-machine-leaming/reinforcement-leaming-the-business-use-case-part-2-c175740999" TargetMode="External"/><Relationship Id="rId1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blogs.sw.siemens.com/tecnomatix/part-2-how-digital-twins-help-scale-up-industrial-robotics-ai/" TargetMode="External"/><Relationship Id="rId1" Type="http://schemas.openxmlformats.org/officeDocument/2006/relationships/image" Target="../media/image2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999615" y="3230880"/>
            <a:ext cx="6305550" cy="729615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120"/>
              </a:lnSpc>
              <a:spcBef>
                <a:spcPts val="1260"/>
              </a:spcBef>
              <a:spcAft>
                <a:spcPts val="5950"/>
              </a:spcAft>
            </a:pPr>
            <a:r>
              <a:rPr lang="en-US" sz="3200">
                <a:solidFill>
                  <a:srgbClr val="4590B8"/>
                </a:solidFill>
                <a:latin typeface="Arial" panose="020B0604020202020204"/>
              </a:rPr>
              <a:t> Deep  Reinforcement   Learning</a:t>
            </a:r>
            <a:endParaRPr lang="en-US" sz="3200">
              <a:solidFill>
                <a:srgbClr val="4590B8"/>
              </a:solidFill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0526" y="1890329"/>
            <a:ext cx="1432275" cy="188349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741" y="4402793"/>
            <a:ext cx="1575845" cy="128870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23002" y="847742"/>
            <a:ext cx="2919243" cy="338414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Supervised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941036" y="451217"/>
            <a:ext cx="105968" cy="181171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 algn="just"/>
            <a:r>
              <a:rPr lang="en-US" sz="1600">
                <a:solidFill>
                  <a:srgbClr val="FFFFFF"/>
                </a:solidFill>
                <a:latin typeface="Arial" panose="020B0604020202020204"/>
              </a:rPr>
              <a:t>■</a:t>
            </a:r>
            <a:endParaRPr lang="en-US" sz="16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3257" y="2317619"/>
            <a:ext cx="4915541" cy="161002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41300" indent="-241300">
              <a:lnSpc>
                <a:spcPts val="2120"/>
              </a:lnSpc>
              <a:spcAft>
                <a:spcPts val="1190"/>
              </a:spcAft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Given data: (</a:t>
            </a:r>
            <a:r>
              <a:rPr lang="en-US" sz="1900" i="1" spc="150">
                <a:solidFill>
                  <a:srgbClr val="3D3D3D"/>
                </a:solidFill>
                <a:latin typeface="Arial" panose="020B0604020202020204"/>
              </a:rPr>
              <a:t>x,y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), x is data, </a:t>
            </a:r>
            <a:r>
              <a:rPr lang="en-US" sz="1900" i="1" spc="150">
                <a:solidFill>
                  <a:srgbClr val="3D3D3D"/>
                </a:solidFill>
                <a:latin typeface="Arial" panose="020B0604020202020204"/>
              </a:rPr>
              <a:t>y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 is label.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905"/>
              </a:lnSpc>
              <a:spcAft>
                <a:spcPts val="350"/>
              </a:spcAft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Goal: Learn a function to map x ^ y,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namely posterior probability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marL="241300" indent="0" algn="ctr">
              <a:lnSpc>
                <a:spcPts val="2120"/>
              </a:lnSpc>
              <a:spcAft>
                <a:spcPts val="1190"/>
              </a:spcAft>
            </a:pPr>
            <a:r>
              <a:rPr lang="en-US" sz="1900" i="1" spc="150">
                <a:solidFill>
                  <a:srgbClr val="3D3D3D"/>
                </a:solidFill>
                <a:latin typeface="Arial" panose="020B0604020202020204"/>
              </a:rPr>
              <a:t>P(Y\X = x)</a:t>
            </a:r>
            <a:endParaRPr lang="en-US" sz="1900" i="1" spc="15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327022" y="2748327"/>
            <a:ext cx="297393" cy="17091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>
                <a:solidFill>
                  <a:srgbClr val="3D3D3D"/>
                </a:solidFill>
                <a:latin typeface="Arial" panose="020B0604020202020204"/>
              </a:rPr>
              <a:t>cat</a:t>
            </a:r>
            <a:endParaRPr lang="en-US" sz="14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33257" y="4112236"/>
            <a:ext cx="4648912" cy="102549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41300" indent="-241300">
              <a:lnSpc>
                <a:spcPts val="2895"/>
              </a:lnSpc>
              <a:spcBef>
                <a:spcPts val="1190"/>
              </a:spcBef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Examples: Classification, regression,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object detection, face recognition,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sentiment classification, etc.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327022" y="4994162"/>
            <a:ext cx="304230" cy="14698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>
                <a:solidFill>
                  <a:srgbClr val="3D3D3D"/>
                </a:solidFill>
                <a:latin typeface="Arial" panose="020B0604020202020204"/>
              </a:rPr>
              <a:t>car</a:t>
            </a:r>
            <a:endParaRPr lang="en-US" sz="14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686797" y="6414473"/>
            <a:ext cx="1751888" cy="58111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10"/>
              </a:lnSpc>
              <a:spcAft>
                <a:spcPts val="350"/>
              </a:spcAft>
            </a:pPr>
            <a:r>
              <a:rPr lang="en-US" sz="550">
                <a:solidFill>
                  <a:srgbClr val="093374"/>
                </a:solidFill>
                <a:latin typeface="Arial" panose="020B0604020202020204"/>
              </a:rPr>
              <a:t>SCHOOL OF INFORMATICS XIAMEN UNIVERSITY</a:t>
            </a:r>
            <a:endParaRPr lang="en-US" sz="550">
              <a:solidFill>
                <a:srgbClr val="093374"/>
              </a:solidFill>
              <a:latin typeface="Arial" panose="020B06040202020202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22917" y="6527277"/>
            <a:ext cx="3146561" cy="11451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00"/>
              </a:lnSpc>
            </a:pPr>
            <a:r>
              <a:rPr lang="en-US" sz="850">
                <a:solidFill>
                  <a:srgbClr val="3D3D3D"/>
                </a:solidFill>
                <a:latin typeface="Arial" panose="020B0604020202020204"/>
              </a:rPr>
              <a:t>Image source: </a:t>
            </a:r>
            <a:r>
              <a:rPr lang="en-US" sz="850">
                <a:solidFill>
                  <a:srgbClr val="3D3D3D"/>
                </a:solidFill>
                <a:latin typeface="Arial" panose="020B0604020202020204"/>
                <a:hlinkClick r:id="rId3"/>
              </a:rPr>
              <a:t>https://www.autoexpress.co.uk/tesla/model-3</a:t>
            </a:r>
            <a:br>
              <a:rPr lang="en-US" sz="850">
                <a:solidFill>
                  <a:srgbClr val="3D3D3D"/>
                </a:solidFill>
                <a:latin typeface="Arial" panose="020B0604020202020204"/>
                <a:hlinkClick r:id="rId3"/>
              </a:rPr>
            </a:br>
            <a:endParaRPr lang="en-US" sz="850">
              <a:solidFill>
                <a:srgbClr val="3D3D3D"/>
              </a:solidFill>
              <a:latin typeface="Arial" panose="020B0604020202020204"/>
              <a:hlinkClick r:id="rId3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22917" y="6679392"/>
            <a:ext cx="6834926" cy="11451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00"/>
              </a:lnSpc>
            </a:pPr>
            <a:r>
              <a:rPr lang="en-US" sz="850">
                <a:solidFill>
                  <a:srgbClr val="3D3D3D"/>
                </a:solidFill>
                <a:latin typeface="Arial" panose="020B0604020202020204"/>
                <a:hlinkClick r:id="rId4"/>
              </a:rPr>
              <a:t>https://timesofindia.indiatimes.com/life-style/relationships/pets/5-things-that-scare-and-stress-your-cat/artideshow/67586673.cms</a:t>
            </a:r>
            <a:endParaRPr lang="en-US" sz="850">
              <a:solidFill>
                <a:srgbClr val="3D3D3D"/>
              </a:solidFill>
              <a:latin typeface="Arial" panose="020B0604020202020204"/>
              <a:hlinkClick r:id="rId4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511611" y="6211083"/>
            <a:ext cx="112804" cy="164079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50"/>
              </a:lnSpc>
            </a:pPr>
            <a:r>
              <a:rPr lang="en-US" sz="1400" b="1">
                <a:latin typeface="Times New Roman" panose="02020603050405020304"/>
              </a:rPr>
              <a:t>1</a:t>
            </a:r>
            <a:endParaRPr lang="en-US" sz="1400" b="1">
              <a:latin typeface="Times New Roman" panose="020206030504050203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8986" y="3020040"/>
            <a:ext cx="5067467" cy="284390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43806" y="845920"/>
            <a:ext cx="344007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Reinforcement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1721" y="1615305"/>
            <a:ext cx="8072501" cy="92648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41300" indent="-241300">
              <a:lnSpc>
                <a:spcPts val="2190"/>
              </a:lnSpc>
              <a:spcAft>
                <a:spcPts val="630"/>
              </a:spcAft>
            </a:pPr>
            <a:r>
              <a:rPr lang="en-US" sz="18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800">
                <a:solidFill>
                  <a:srgbClr val="3D3D3D"/>
                </a:solidFill>
                <a:latin typeface="Arial" panose="020B0604020202020204"/>
              </a:rPr>
              <a:t>When we are kids, nobody gives us training data for good behaviors and bad   behaviors.</a:t>
            </a:r>
            <a:endParaRPr lang="en-US" sz="18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010"/>
              </a:lnSpc>
            </a:pPr>
            <a:r>
              <a:rPr lang="en-US" sz="18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800">
                <a:solidFill>
                  <a:srgbClr val="3D3D3D"/>
                </a:solidFill>
                <a:latin typeface="Arial" panose="020B0604020202020204"/>
              </a:rPr>
              <a:t>We learn by </a:t>
            </a:r>
            <a:r>
              <a:rPr lang="en-US" sz="1800">
                <a:solidFill>
                  <a:srgbClr val="FE0000"/>
                </a:solidFill>
                <a:latin typeface="Arial" panose="020B0604020202020204"/>
              </a:rPr>
              <a:t>trial and error </a:t>
            </a:r>
            <a:r>
              <a:rPr lang="en-US" sz="1800">
                <a:solidFill>
                  <a:srgbClr val="3D3D3D"/>
                </a:solidFill>
                <a:latin typeface="Arial" panose="020B0604020202020204"/>
              </a:rPr>
              <a:t>with feedbacks from parents and teachers.</a:t>
            </a:r>
            <a:endParaRPr lang="en-US" sz="18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452158" y="3359513"/>
            <a:ext cx="870090" cy="45518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1560"/>
              </a:lnSpc>
              <a:spcAft>
                <a:spcPts val="350"/>
              </a:spcAft>
            </a:pPr>
            <a:r>
              <a:rPr lang="en-US" sz="1400">
                <a:solidFill>
                  <a:srgbClr val="3D3D3D"/>
                </a:solidFill>
                <a:latin typeface="Arial" panose="020B0604020202020204"/>
              </a:rPr>
              <a:t>Negative</a:t>
            </a:r>
            <a:endParaRPr lang="en-US" sz="1400">
              <a:solidFill>
                <a:srgbClr val="3D3D3D"/>
              </a:solidFill>
              <a:latin typeface="Arial" panose="020B0604020202020204"/>
            </a:endParaRPr>
          </a:p>
          <a:p>
            <a:pPr indent="0">
              <a:lnSpc>
                <a:spcPts val="1560"/>
              </a:lnSpc>
            </a:pPr>
            <a:r>
              <a:rPr lang="en-US" sz="1400">
                <a:solidFill>
                  <a:srgbClr val="3D3D3D"/>
                </a:solidFill>
                <a:latin typeface="Arial" panose="020B0604020202020204"/>
              </a:rPr>
              <a:t>feedback</a:t>
            </a:r>
            <a:endParaRPr lang="en-US" sz="14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480355" y="4757296"/>
            <a:ext cx="870090" cy="45115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1560"/>
              </a:lnSpc>
              <a:spcAft>
                <a:spcPts val="350"/>
              </a:spcAft>
            </a:pPr>
            <a:r>
              <a:rPr lang="en-US" sz="1400">
                <a:solidFill>
                  <a:srgbClr val="3D3D3D"/>
                </a:solidFill>
                <a:latin typeface="Arial" panose="020B0604020202020204"/>
              </a:rPr>
              <a:t>Positive</a:t>
            </a:r>
            <a:endParaRPr lang="en-US" sz="1400">
              <a:solidFill>
                <a:srgbClr val="3D3D3D"/>
              </a:solidFill>
              <a:latin typeface="Arial" panose="020B0604020202020204"/>
            </a:endParaRPr>
          </a:p>
          <a:p>
            <a:pPr indent="0">
              <a:lnSpc>
                <a:spcPts val="1560"/>
              </a:lnSpc>
            </a:pPr>
            <a:r>
              <a:rPr lang="en-US" sz="1400">
                <a:solidFill>
                  <a:srgbClr val="3D3D3D"/>
                </a:solidFill>
                <a:latin typeface="Arial" panose="020B0604020202020204"/>
              </a:rPr>
              <a:t>feedback</a:t>
            </a:r>
            <a:endParaRPr lang="en-US" sz="14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507545" y="6211474"/>
            <a:ext cx="116817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2</a:t>
            </a:r>
            <a:endParaRPr lang="en-US" sz="1400" b="1">
              <a:latin typeface="Arial" panose="020B060402020202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57702" y="6666660"/>
            <a:ext cx="5478343" cy="14904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000"/>
              </a:lnSpc>
            </a:pPr>
            <a:r>
              <a:rPr lang="en-US" sz="900">
                <a:solidFill>
                  <a:srgbClr val="3D3D3D"/>
                </a:solidFill>
                <a:latin typeface="Arial" panose="020B0604020202020204"/>
              </a:rPr>
              <a:t>Image source: </a:t>
            </a:r>
            <a:r>
              <a:rPr lang="en-US" sz="900">
                <a:solidFill>
                  <a:srgbClr val="3D3D3D"/>
                </a:solidFill>
                <a:latin typeface="Arial" panose="020B0604020202020204"/>
                <a:hlinkClick r:id="rId2"/>
              </a:rPr>
              <a:t>https://mofanpy.com/tutorials/machine-lea</a:t>
            </a:r>
            <a:r>
              <a:rPr lang="en-US" sz="900">
                <a:solidFill>
                  <a:srgbClr val="A3A3A3"/>
                </a:solidFill>
                <a:latin typeface="Arial" panose="020B0604020202020204"/>
                <a:hlinkClick r:id="rId2"/>
              </a:rPr>
              <a:t>m</a:t>
            </a:r>
            <a:r>
              <a:rPr lang="en-US" sz="900">
                <a:solidFill>
                  <a:srgbClr val="3D3D3D"/>
                </a:solidFill>
                <a:latin typeface="Arial" panose="020B0604020202020204"/>
                <a:hlinkClick r:id="rId2"/>
              </a:rPr>
              <a:t>ing/reinforcement-lea</a:t>
            </a:r>
            <a:r>
              <a:rPr lang="en-US" sz="900">
                <a:solidFill>
                  <a:srgbClr val="A3A3A3"/>
                </a:solidFill>
                <a:latin typeface="Arial" panose="020B0604020202020204"/>
                <a:hlinkClick r:id="rId2"/>
              </a:rPr>
              <a:t>m</a:t>
            </a:r>
            <a:r>
              <a:rPr lang="en-US" sz="900">
                <a:solidFill>
                  <a:srgbClr val="3D3D3D"/>
                </a:solidFill>
                <a:latin typeface="Arial" panose="020B0604020202020204"/>
                <a:hlinkClick r:id="rId2"/>
              </a:rPr>
              <a:t>ing/intro-q-lea</a:t>
            </a:r>
            <a:r>
              <a:rPr lang="en-US" sz="900">
                <a:solidFill>
                  <a:srgbClr val="A3A3A3"/>
                </a:solidFill>
                <a:latin typeface="Arial" panose="020B0604020202020204"/>
                <a:hlinkClick r:id="rId2"/>
              </a:rPr>
              <a:t>m</a:t>
            </a:r>
            <a:r>
              <a:rPr lang="en-US" sz="900">
                <a:solidFill>
                  <a:srgbClr val="3D3D3D"/>
                </a:solidFill>
                <a:latin typeface="Arial" panose="020B0604020202020204"/>
                <a:hlinkClick r:id="rId2"/>
              </a:rPr>
              <a:t>ing/</a:t>
            </a:r>
            <a:endParaRPr lang="en-US" sz="900">
              <a:solidFill>
                <a:srgbClr val="3D3D3D"/>
              </a:solidFill>
              <a:latin typeface="Arial" panose="020B0604020202020204"/>
              <a:hlinkClick r:id="rId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43806" y="845920"/>
            <a:ext cx="344007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Reinforcement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19637" y="2388718"/>
            <a:ext cx="7021141" cy="268277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just">
              <a:lnSpc>
                <a:spcPts val="2900"/>
              </a:lnSpc>
              <a:spcAft>
                <a:spcPts val="770"/>
              </a:spcAft>
            </a:pP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What makes reinforcement learning different from other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machine learning paradigms?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indent="0" algn="just">
              <a:lnSpc>
                <a:spcPts val="2120"/>
              </a:lnSpc>
              <a:spcAft>
                <a:spcPts val="1260"/>
              </a:spcAft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There is no supervisor, only a reward signal.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indent="0" algn="just">
              <a:lnSpc>
                <a:spcPts val="3995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Feedback is delayed, not instantaneous.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indent="0" algn="just">
              <a:lnSpc>
                <a:spcPts val="3995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Time really matters (sequential, non i.i.d data).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indent="0" algn="just">
              <a:lnSpc>
                <a:spcPts val="3995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Agent's actions affect the subsequent data it receives.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507545" y="6211474"/>
            <a:ext cx="112789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3</a:t>
            </a:r>
            <a:endParaRPr lang="en-US" sz="1400" b="1"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637032"/>
            <a:ext cx="5852160" cy="597712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8500872" y="6211824"/>
            <a:ext cx="128016" cy="16459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4</a:t>
            </a:r>
            <a:endParaRPr lang="en-US" sz="1400" b="1">
              <a:latin typeface="Arial" panose="020B0604020202020204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109216" y="6665976"/>
            <a:ext cx="4879848" cy="1463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000"/>
              </a:lnSpc>
            </a:pPr>
            <a:r>
              <a:rPr lang="en-US" sz="900">
                <a:solidFill>
                  <a:srgbClr val="3D3D3D"/>
                </a:solidFill>
                <a:latin typeface="Arial" panose="020B0604020202020204"/>
              </a:rPr>
              <a:t>Image source: Li, Yuxi. "Deep reinforcement learning." arXiv preprint arXiv:1810.06339 (2018).</a:t>
            </a:r>
            <a:endParaRPr lang="en-US" sz="900">
              <a:solidFill>
                <a:srgbClr val="3D3D3D"/>
              </a:solidFill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148" y="2163140"/>
            <a:ext cx="6706942" cy="294460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43806" y="845920"/>
            <a:ext cx="344007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Reinforcement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507545" y="6211474"/>
            <a:ext cx="112789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5</a:t>
            </a:r>
            <a:endParaRPr lang="en-US" sz="1400" b="1"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9213" y="844641"/>
            <a:ext cx="3446439" cy="343136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Reinforcement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4130" y="1836341"/>
            <a:ext cx="3766951" cy="378203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41300" indent="-241300">
              <a:lnSpc>
                <a:spcPts val="2120"/>
              </a:lnSpc>
              <a:spcAft>
                <a:spcPts val="1330"/>
              </a:spcAft>
            </a:pP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Cart-Pole Problem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910"/>
              </a:lnSpc>
              <a:spcAft>
                <a:spcPts val="700"/>
              </a:spcAft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Objective: Balance a pole on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top of a movable cart.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910"/>
              </a:lnSpc>
              <a:spcAft>
                <a:spcPts val="700"/>
              </a:spcAft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State: angle, angular speed,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position, horizontal velocity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910"/>
              </a:lnSpc>
              <a:spcAft>
                <a:spcPts val="700"/>
              </a:spcAft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Action: horizontal force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applied on the cart.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910"/>
              </a:lnSpc>
              <a:spcAft>
                <a:spcPts val="2170"/>
              </a:spcAft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Reward: 1 at each time step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if the pole is upright.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534660" y="4524865"/>
            <a:ext cx="358219" cy="93891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just"/>
            <a:r>
              <a:rPr lang="en-US" sz="1000">
                <a:latin typeface="Arial" panose="020B0604020202020204"/>
              </a:rPr>
              <a:t>1</a:t>
            </a:r>
            <a:endParaRPr lang="en-US" sz="1000"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506748" y="6206607"/>
            <a:ext cx="124433" cy="17345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6</a:t>
            </a:r>
            <a:endParaRPr lang="en-US" sz="1400" b="1"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558" y="2147027"/>
            <a:ext cx="4866058" cy="320241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079" y="5462230"/>
            <a:ext cx="4982876" cy="13293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43806" y="845920"/>
            <a:ext cx="344007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Reinforcement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15608" y="1663644"/>
            <a:ext cx="1401812" cy="21752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marL="254000" indent="-254000">
              <a:lnSpc>
                <a:spcPts val="2120"/>
              </a:lnSpc>
              <a:spcAft>
                <a:spcPts val="770"/>
              </a:spcAft>
            </a:pP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Atari Games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31721" y="2086604"/>
            <a:ext cx="2811679" cy="3673713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38125" indent="-254000">
              <a:lnSpc>
                <a:spcPts val="2395"/>
              </a:lnSpc>
              <a:spcBef>
                <a:spcPts val="770"/>
              </a:spcBef>
              <a:spcAft>
                <a:spcPts val="770"/>
              </a:spcAft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Objective: Complete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the game with the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highest score.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marL="238125" indent="-254000">
              <a:lnSpc>
                <a:spcPts val="2300"/>
              </a:lnSpc>
              <a:spcAft>
                <a:spcPts val="770"/>
              </a:spcAft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State: Raw pixel inputs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of the game state.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marL="238125" indent="-254000">
              <a:lnSpc>
                <a:spcPts val="2380"/>
              </a:lnSpc>
              <a:spcAft>
                <a:spcPts val="770"/>
              </a:spcAft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Action: Game controls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e.g. Left, Right, Up,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Down.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marL="238125" indent="-254000">
              <a:lnSpc>
                <a:spcPts val="2345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Reward: Score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increase/decrease at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each time step.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507545" y="6211474"/>
            <a:ext cx="116817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7</a:t>
            </a:r>
            <a:endParaRPr lang="en-US" sz="1400" b="1">
              <a:latin typeface="Arial" panose="020B060402020202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623362" y="6666660"/>
            <a:ext cx="5848937" cy="14904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000"/>
              </a:lnSpc>
            </a:pPr>
            <a:r>
              <a:rPr lang="en-US" sz="900">
                <a:solidFill>
                  <a:srgbClr val="3D3D3D"/>
                </a:solidFill>
                <a:latin typeface="Arial" panose="020B0604020202020204"/>
              </a:rPr>
              <a:t>Image source: </a:t>
            </a:r>
            <a:r>
              <a:rPr lang="en-US" sz="900">
                <a:solidFill>
                  <a:srgbClr val="3D3D3D"/>
                </a:solidFill>
                <a:latin typeface="Arial" panose="020B0604020202020204"/>
                <a:hlinkClick r:id="rId3"/>
              </a:rPr>
              <a:t>https://syncedreview.com/2020/01/08/slm-lab-new-rl-research-benchmark-software-framework/</a:t>
            </a:r>
            <a:endParaRPr lang="en-US" sz="900">
              <a:solidFill>
                <a:srgbClr val="3D3D3D"/>
              </a:solidFill>
              <a:latin typeface="Arial" panose="020B0604020202020204"/>
              <a:hlinkClick r:id="rId3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5101" y="1893251"/>
            <a:ext cx="3621346" cy="362134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43806" y="845920"/>
            <a:ext cx="344007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Reinforcement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3665" y="2219534"/>
            <a:ext cx="3959714" cy="302517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54000" indent="-254000">
              <a:lnSpc>
                <a:spcPts val="4010"/>
              </a:lnSpc>
            </a:pP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Go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marL="254000" indent="-254000">
              <a:lnSpc>
                <a:spcPts val="4010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Objective: Win the game.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marL="254000" indent="-254000">
              <a:lnSpc>
                <a:spcPts val="4010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State: Position of all pieces.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marL="254000" indent="-254000">
              <a:lnSpc>
                <a:spcPts val="2900"/>
              </a:lnSpc>
              <a:spcAft>
                <a:spcPts val="770"/>
              </a:spcAft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Action: Where to put the next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piece down.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marL="254000" indent="-254000">
              <a:lnSpc>
                <a:spcPts val="2775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Reward: 1 if win at the end of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the game, 0 otherwise.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503517" y="6211474"/>
            <a:ext cx="120845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8</a:t>
            </a:r>
            <a:endParaRPr lang="en-US" sz="1400" b="1"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9666" y="6646519"/>
            <a:ext cx="7456187" cy="14904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000"/>
              </a:lnSpc>
            </a:pPr>
            <a:r>
              <a:rPr lang="en-US" sz="900">
                <a:solidFill>
                  <a:srgbClr val="3D3D3D"/>
                </a:solidFill>
                <a:latin typeface="Arial" panose="020B0604020202020204"/>
              </a:rPr>
              <a:t>Image source: </a:t>
            </a:r>
            <a:r>
              <a:rPr lang="en-US" sz="900">
                <a:solidFill>
                  <a:srgbClr val="3D3D3D"/>
                </a:solidFill>
                <a:latin typeface="Arial" panose="020B0604020202020204"/>
                <a:hlinkClick r:id="rId2"/>
              </a:rPr>
              <a:t>https://levelup.gitconnected.com/how-deepmmds-alphago-became-the-world-s-top-go-player-5b275e553d6a?gi=766cb4dda780</a:t>
            </a:r>
            <a:endParaRPr lang="en-US" sz="900">
              <a:solidFill>
                <a:srgbClr val="3D3D3D"/>
              </a:solidFill>
              <a:latin typeface="Arial" panose="020B0604020202020204"/>
              <a:hlinkClick r:id="rId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214" y="2404831"/>
            <a:ext cx="4475323" cy="144612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44" y="4221547"/>
            <a:ext cx="4507549" cy="13816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862" y="1494459"/>
            <a:ext cx="3585093" cy="436656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19637" y="845920"/>
            <a:ext cx="569183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Applications of Reinforcement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35749" y="1736151"/>
            <a:ext cx="1474319" cy="29405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120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Play game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086604" y="6569984"/>
            <a:ext cx="4894255" cy="24974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just">
              <a:lnSpc>
                <a:spcPts val="1015"/>
              </a:lnSpc>
            </a:pPr>
            <a:r>
              <a:rPr lang="en-US" sz="700">
                <a:solidFill>
                  <a:srgbClr val="3D3D3D"/>
                </a:solidFill>
                <a:latin typeface="Arial" panose="020B0604020202020204"/>
              </a:rPr>
              <a:t>Image source: Berner, Christopher, Greg Brockman, Brooke Chan, Vicki Cheung, Przemystaw D^biak, Christy Dennison,</a:t>
            </a:r>
            <a:br>
              <a:rPr lang="en-US" sz="7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700">
                <a:solidFill>
                  <a:srgbClr val="3D3D3D"/>
                </a:solidFill>
                <a:latin typeface="Arial" panose="020B0604020202020204"/>
              </a:rPr>
              <a:t>David Farhi et al. "Dota 2 with large scale deep reinforcement learning." arXiv preprint arXiv:1912.06680 (2019).</a:t>
            </a:r>
            <a:endParaRPr lang="en-US" sz="7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503517" y="6211474"/>
            <a:ext cx="120845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9</a:t>
            </a:r>
            <a:endParaRPr lang="en-US" sz="1400" b="1"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3229" y="1909363"/>
            <a:ext cx="1135951" cy="123665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349" y="1905335"/>
            <a:ext cx="757301" cy="76132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370" y="1869081"/>
            <a:ext cx="414904" cy="51158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0599" y="1873110"/>
            <a:ext cx="455186" cy="51963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8313" y="2634438"/>
            <a:ext cx="350453" cy="43907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0881" y="2565959"/>
            <a:ext cx="410875" cy="50755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2837" y="3730107"/>
            <a:ext cx="4692845" cy="217119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19637" y="845920"/>
            <a:ext cx="569183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Applications of Reinforcement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3524" y="1772405"/>
            <a:ext cx="193353" cy="153071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just"/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</a:t>
            </a:r>
            <a:endParaRPr lang="en-US" sz="1900">
              <a:solidFill>
                <a:srgbClr val="4590B8"/>
              </a:solidFill>
              <a:latin typeface="Arial" panose="020B060402020202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33131" y="1687813"/>
            <a:ext cx="1309163" cy="33836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120"/>
              </a:lnSpc>
            </a:pP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Play game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005032" y="1695869"/>
            <a:ext cx="777442" cy="153071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050"/>
              </a:lnSpc>
            </a:pPr>
            <a:r>
              <a:rPr lang="en-US" sz="950">
                <a:latin typeface="Times New Roman" panose="02020603050405020304"/>
              </a:rPr>
              <a:t>Image Feature</a:t>
            </a:r>
            <a:endParaRPr lang="en-US" sz="950">
              <a:latin typeface="Times New Roman" panose="020206030504050203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776431" y="2459212"/>
            <a:ext cx="878146" cy="197381"/>
          </a:xfrm>
          <a:prstGeom prst="rect">
            <a:avLst/>
          </a:prstGeom>
          <a:solidFill>
            <a:srgbClr val="7A937A"/>
          </a:solidFill>
        </p:spPr>
        <p:txBody>
          <a:bodyPr wrap="none" lIns="0" tIns="0" rIns="0" bIns="0">
            <a:noAutofit/>
          </a:bodyPr>
          <a:lstStyle/>
          <a:p>
            <a:pPr indent="-139700">
              <a:lnSpc>
                <a:spcPts val="3630"/>
              </a:lnSpc>
            </a:pPr>
            <a:r>
              <a:rPr lang="en-US" sz="1900">
                <a:solidFill>
                  <a:srgbClr val="375256"/>
                </a:solidFill>
                <a:latin typeface="Arial" panose="020B0604020202020204"/>
              </a:rPr>
              <a:t>_V*-Q </a:t>
            </a:r>
            <a:r>
              <a:rPr lang="en-US" sz="1900">
                <a:solidFill>
                  <a:srgbClr val="1D1D1D"/>
                </a:solidFill>
                <a:latin typeface="Arial" panose="020B0604020202020204"/>
              </a:rPr>
              <a:t>*</a:t>
            </a:r>
            <a:br>
              <a:rPr lang="en-US" sz="1900">
                <a:solidFill>
                  <a:srgbClr val="1D1D1D"/>
                </a:solidFill>
                <a:latin typeface="Arial" panose="020B0604020202020204"/>
              </a:rPr>
            </a:br>
            <a:endParaRPr lang="en-US" sz="1900">
              <a:solidFill>
                <a:srgbClr val="1D1D1D"/>
              </a:solidFill>
              <a:latin typeface="Arial" panose="020B06040202020202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909362" y="2894257"/>
            <a:ext cx="1023161" cy="205438"/>
          </a:xfrm>
          <a:prstGeom prst="rect">
            <a:avLst/>
          </a:prstGeom>
          <a:solidFill>
            <a:srgbClr val="7A937A"/>
          </a:solidFill>
        </p:spPr>
        <p:txBody>
          <a:bodyPr wrap="none" lIns="0" tIns="0" rIns="0" bIns="0">
            <a:noAutofit/>
          </a:bodyPr>
          <a:lstStyle/>
          <a:p>
            <a:pPr indent="-139700">
              <a:lnSpc>
                <a:spcPts val="3630"/>
              </a:lnSpc>
            </a:pPr>
            <a:r>
              <a:rPr lang="en-US" sz="1900" u="sng">
                <a:solidFill>
                  <a:srgbClr val="375256"/>
                </a:solidFill>
                <a:latin typeface="Arial" panose="020B0604020202020204"/>
              </a:rPr>
              <a:t>L.^vwi:</a:t>
            </a:r>
            <a:endParaRPr lang="en-US" sz="1900" u="sng">
              <a:solidFill>
                <a:srgbClr val="375256"/>
              </a:solidFill>
              <a:latin typeface="Arial" panose="020B060402020202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131918" y="1695869"/>
            <a:ext cx="692850" cy="12487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050"/>
              </a:lnSpc>
            </a:pPr>
            <a:r>
              <a:rPr lang="en-US" sz="950">
                <a:latin typeface="Times New Roman" panose="02020603050405020304"/>
              </a:rPr>
              <a:t>Unit Feature</a:t>
            </a:r>
            <a:endParaRPr lang="en-US" sz="950">
              <a:latin typeface="Times New Roman" panose="02020603050405020304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123862" y="2392747"/>
            <a:ext cx="1107753" cy="12487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770"/>
              </a:lnSpc>
            </a:pPr>
            <a:r>
              <a:rPr lang="en-US" sz="700" b="1">
                <a:latin typeface="Times New Roman" panose="02020603050405020304"/>
              </a:rPr>
              <a:t>Player’s Hero Turrets</a:t>
            </a:r>
            <a:endParaRPr lang="en-US" sz="700" b="1">
              <a:latin typeface="Times New Roman" panose="02020603050405020304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2936553" y="3202414"/>
          <a:ext cx="3650012" cy="538490"/>
        </p:xfrm>
        <a:graphic>
          <a:graphicData uri="http://schemas.openxmlformats.org/drawingml/2006/table">
            <a:tbl>
              <a:tblPr/>
              <a:tblGrid>
                <a:gridCol w="845920"/>
                <a:gridCol w="208280"/>
                <a:gridCol w="712990"/>
                <a:gridCol w="208280"/>
                <a:gridCol w="708962"/>
                <a:gridCol w="208280"/>
                <a:gridCol w="757300"/>
              </a:tblGrid>
              <a:tr h="120845">
                <a:tc gridSpan="2">
                  <a:txBody>
                    <a:bodyPr/>
                    <a:lstStyle/>
                    <a:p>
                      <a:pPr indent="0">
                        <a:lnSpc>
                          <a:spcPts val="1050"/>
                        </a:lnSpc>
                      </a:pPr>
                      <a:r>
                        <a:rPr lang="en-US" sz="950">
                          <a:solidFill>
                            <a:srgbClr val="1D1D1D"/>
                          </a:solidFill>
                          <a:latin typeface="Times New Roman" panose="02020603050405020304"/>
                        </a:rPr>
                        <a:t>v</a:t>
                      </a:r>
                      <a:endParaRPr lang="en-US" sz="950">
                        <a:solidFill>
                          <a:srgbClr val="1D1D1D"/>
                        </a:solidFill>
                        <a:latin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600"/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15900" indent="0" algn="just">
                        <a:lnSpc>
                          <a:spcPts val="1050"/>
                        </a:lnSpc>
                      </a:pPr>
                      <a:r>
                        <a:rPr lang="en-US" sz="850" b="1" i="1">
                          <a:solidFill>
                            <a:srgbClr val="1D1D1D"/>
                          </a:solidFill>
                          <a:latin typeface="Arial" panose="020B0604020202020204"/>
                        </a:rPr>
                        <a:t>y</a:t>
                      </a:r>
                      <a:r>
                        <a:rPr lang="en-US" sz="950">
                          <a:solidFill>
                            <a:srgbClr val="1D1D1D"/>
                          </a:solidFill>
                          <a:latin typeface="Times New Roman" panose="02020603050405020304"/>
                        </a:rPr>
                        <a:t> v    </a:t>
                      </a:r>
                      <a:r>
                        <a:rPr lang="en-US" sz="950">
                          <a:latin typeface="Times New Roman" panose="02020603050405020304"/>
                        </a:rPr>
                        <a:t>^</a:t>
                      </a:r>
                      <a:endParaRPr lang="en-US" sz="950">
                        <a:latin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1120"/>
                        </a:lnSpc>
                      </a:pPr>
                      <a:r>
                        <a:rPr lang="en-US" sz="1000">
                          <a:latin typeface="Arial" panose="020B0604020202020204"/>
                        </a:rPr>
                        <a:t>-</a:t>
                      </a:r>
                      <a:r>
                        <a:rPr lang="en-US" sz="850" b="1" i="1">
                          <a:latin typeface="Arial" panose="020B0604020202020204"/>
                        </a:rPr>
                        <a:t>'</a:t>
                      </a:r>
                      <a:endParaRPr lang="en-US" sz="850" b="1" i="1"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</a:tr>
              <a:tr h="181268">
                <a:tc>
                  <a:txBody>
                    <a:bodyPr/>
                    <a:lstStyle/>
                    <a:p>
                      <a:pPr marL="152400" indent="0">
                        <a:lnSpc>
                          <a:spcPts val="1050"/>
                        </a:lnSpc>
                      </a:pPr>
                      <a:r>
                        <a:rPr lang="en-US" sz="950">
                          <a:latin typeface="Times New Roman" panose="02020603050405020304"/>
                        </a:rPr>
                        <a:t>Game State</a:t>
                      </a:r>
                      <a:endParaRPr lang="en-US" sz="950">
                        <a:latin typeface="Times New Roman" panose="020206030504050203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endParaRPr sz="9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050"/>
                        </a:lnSpc>
                      </a:pPr>
                      <a:r>
                        <a:rPr lang="en-US" sz="950">
                          <a:latin typeface="Times New Roman" panose="02020603050405020304"/>
                        </a:rPr>
                        <a:t>Action</a:t>
                      </a:r>
                      <a:endParaRPr lang="en-US" sz="950">
                        <a:latin typeface="Times New Roman" panose="020206030504050203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endParaRPr sz="9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050"/>
                        </a:lnSpc>
                      </a:pPr>
                      <a:r>
                        <a:rPr lang="en-US" sz="950">
                          <a:latin typeface="Times New Roman" panose="02020603050405020304"/>
                        </a:rPr>
                        <a:t>Action</a:t>
                      </a:r>
                      <a:endParaRPr lang="en-US" sz="950">
                        <a:latin typeface="Times New Roman" panose="020206030504050203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endParaRPr sz="900"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0" indent="0">
                        <a:lnSpc>
                          <a:spcPts val="1050"/>
                        </a:lnSpc>
                      </a:pPr>
                      <a:r>
                        <a:rPr lang="en-US" sz="950">
                          <a:latin typeface="Times New Roman" panose="02020603050405020304"/>
                        </a:rPr>
                        <a:t>Reward</a:t>
                      </a:r>
                      <a:endParaRPr lang="en-US" sz="950">
                        <a:latin typeface="Times New Roman" panose="02020603050405020304"/>
                      </a:endParaRPr>
                    </a:p>
                    <a:p>
                      <a:pPr indent="0" algn="just">
                        <a:lnSpc>
                          <a:spcPts val="1050"/>
                        </a:lnSpc>
                      </a:pPr>
                      <a:r>
                        <a:rPr lang="en-US" sz="950">
                          <a:solidFill>
                            <a:srgbClr val="1D1D1D"/>
                          </a:solidFill>
                          <a:latin typeface="Times New Roman" panose="02020603050405020304"/>
                        </a:rPr>
                        <a:t>-</a:t>
                      </a:r>
                      <a:r>
                        <a:rPr lang="en-US" sz="950">
                          <a:latin typeface="Times New Roman" panose="02020603050405020304"/>
                        </a:rPr>
                        <a:t>U</a:t>
                      </a:r>
                      <a:endParaRPr lang="en-US" sz="950">
                        <a:latin typeface="Times New Roman" panose="02020603050405020304"/>
                      </a:endParaRPr>
                    </a:p>
                  </a:txBody>
                  <a:tcPr marL="0" marR="0" marT="0" marB="0" anchor="b"/>
                </a:tc>
              </a:tr>
              <a:tr h="217522">
                <a:tc>
                  <a:txBody>
                    <a:bodyPr/>
                    <a:lstStyle/>
                    <a:p>
                      <a:pPr marL="152400" indent="0">
                        <a:lnSpc>
                          <a:spcPts val="1050"/>
                        </a:lnSpc>
                      </a:pPr>
                      <a:r>
                        <a:rPr lang="en-US" sz="950">
                          <a:latin typeface="Times New Roman" panose="02020603050405020304"/>
                        </a:rPr>
                        <a:t>Info Feature</a:t>
                      </a:r>
                      <a:endParaRPr lang="en-US" sz="950">
                        <a:latin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050"/>
                        </a:lnSpc>
                      </a:pPr>
                      <a:r>
                        <a:rPr lang="en-US" sz="950">
                          <a:latin typeface="Times New Roman" panose="02020603050405020304"/>
                        </a:rPr>
                        <a:t>Mask</a:t>
                      </a:r>
                      <a:endParaRPr lang="en-US" sz="950">
                        <a:latin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ts val="1050"/>
                        </a:lnSpc>
                      </a:pPr>
                      <a:r>
                        <a:rPr lang="en-US" sz="950">
                          <a:latin typeface="Times New Roman" panose="02020603050405020304"/>
                        </a:rPr>
                        <a:t>Probability</a:t>
                      </a:r>
                      <a:endParaRPr lang="en-US" sz="950">
                        <a:latin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/>
                </a:tc>
                <a:tc vMerge="1">
                  <a:tcPr marL="0" marR="0" marT="0" marB="0"/>
                </a:tc>
              </a:tr>
            </a:tbl>
          </a:graphicData>
        </a:graphic>
      </p:graphicFrame>
      <p:sp>
        <p:nvSpPr>
          <p:cNvPr id="20" name="矩形 19"/>
          <p:cNvSpPr/>
          <p:nvPr/>
        </p:nvSpPr>
        <p:spPr>
          <a:xfrm>
            <a:off x="1144007" y="4523661"/>
            <a:ext cx="1780461" cy="41490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1330"/>
              </a:lnSpc>
              <a:spcAft>
                <a:spcPts val="420"/>
              </a:spcAft>
            </a:pPr>
            <a:r>
              <a:rPr lang="en-US" sz="1200" b="1">
                <a:latin typeface="Times New Roman" panose="02020603050405020304"/>
              </a:rPr>
              <a:t>AI Server with Game Env</a:t>
            </a:r>
            <a:endParaRPr lang="en-US" sz="1200" b="1">
              <a:latin typeface="Times New Roman" panose="02020603050405020304"/>
            </a:endParaRPr>
          </a:p>
          <a:p>
            <a:pPr marL="838200" indent="0">
              <a:lnSpc>
                <a:spcPts val="1050"/>
              </a:lnSpc>
            </a:pPr>
            <a:r>
              <a:rPr lang="en-US" sz="950">
                <a:latin typeface="Times New Roman" panose="02020603050405020304"/>
              </a:rPr>
              <a:t>self-play</a:t>
            </a:r>
            <a:endParaRPr lang="en-US" sz="950">
              <a:latin typeface="Times New Roman" panose="02020603050405020304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260824" y="5003016"/>
            <a:ext cx="390735" cy="14904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050"/>
              </a:lnSpc>
            </a:pPr>
            <a:r>
              <a:rPr lang="en-US" sz="950">
                <a:latin typeface="Times New Roman" panose="02020603050405020304"/>
              </a:rPr>
              <a:t>Agent</a:t>
            </a:r>
            <a:endParaRPr lang="en-US" sz="950">
              <a:latin typeface="Times New Roman" panose="02020603050405020304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707954" y="5023157"/>
            <a:ext cx="261832" cy="92649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just"/>
            <a:r>
              <a:rPr lang="en-US" sz="550" b="1" i="1">
                <a:latin typeface="Arial" panose="020B0604020202020204"/>
              </a:rPr>
              <a:t>&lt;—&gt;</a:t>
            </a:r>
            <a:endParaRPr lang="en-US" sz="550" b="1" i="1">
              <a:latin typeface="Arial" panose="020B0604020202020204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002012" y="5007044"/>
            <a:ext cx="398791" cy="12084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050"/>
              </a:lnSpc>
            </a:pPr>
            <a:r>
              <a:rPr lang="en-US" sz="950">
                <a:latin typeface="Times New Roman" panose="02020603050405020304"/>
              </a:rPr>
              <a:t>Env #1</a:t>
            </a:r>
            <a:endParaRPr lang="en-US" sz="950">
              <a:latin typeface="Times New Roman" panose="02020603050405020304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445113" y="5023157"/>
            <a:ext cx="257805" cy="8862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just"/>
            <a:r>
              <a:rPr lang="en-US" sz="550" b="1" i="1">
                <a:latin typeface="Arial" panose="020B0604020202020204"/>
              </a:rPr>
              <a:t>&lt;</a:t>
            </a:r>
            <a:r>
              <a:rPr lang="en-US" sz="550" b="1" i="1">
                <a:solidFill>
                  <a:srgbClr val="2C2B2C"/>
                </a:solidFill>
                <a:latin typeface="Arial" panose="020B0604020202020204"/>
              </a:rPr>
              <a:t>—</a:t>
            </a:r>
            <a:r>
              <a:rPr lang="en-US" sz="550" b="1" i="1">
                <a:latin typeface="Arial" panose="020B0604020202020204"/>
              </a:rPr>
              <a:t>&gt;</a:t>
            </a:r>
            <a:endParaRPr lang="en-US" sz="550" b="1" i="1">
              <a:latin typeface="Arial" panose="020B0604020202020204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747228" y="4998988"/>
            <a:ext cx="378650" cy="145015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050"/>
              </a:lnSpc>
            </a:pPr>
            <a:r>
              <a:rPr lang="en-US" sz="950">
                <a:latin typeface="Times New Roman" panose="02020603050405020304"/>
              </a:rPr>
              <a:t>Agent’</a:t>
            </a:r>
            <a:endParaRPr lang="en-US" sz="950">
              <a:latin typeface="Times New Roman" panose="02020603050405020304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264852" y="5442089"/>
            <a:ext cx="386707" cy="14904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050"/>
              </a:lnSpc>
            </a:pPr>
            <a:r>
              <a:rPr lang="en-US" sz="950">
                <a:latin typeface="Times New Roman" panose="02020603050405020304"/>
              </a:rPr>
              <a:t>Agent</a:t>
            </a:r>
            <a:endParaRPr lang="en-US" sz="950">
              <a:latin typeface="Times New Roman" panose="02020603050405020304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010068" y="5454174"/>
            <a:ext cx="1071500" cy="136959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050"/>
              </a:lnSpc>
            </a:pPr>
            <a:r>
              <a:rPr lang="en-US" sz="950">
                <a:latin typeface="Times New Roman" panose="02020603050405020304"/>
              </a:rPr>
              <a:t>Env </a:t>
            </a:r>
            <a:r>
              <a:rPr lang="en-US" sz="950">
                <a:solidFill>
                  <a:srgbClr val="1D1D1D"/>
                </a:solidFill>
                <a:latin typeface="Times New Roman" panose="02020603050405020304"/>
              </a:rPr>
              <a:t>#n </a:t>
            </a:r>
            <a:r>
              <a:rPr lang="en-US" sz="850" b="1" i="1">
                <a:latin typeface="Arial" panose="020B0604020202020204"/>
              </a:rPr>
              <a:t>&lt;</a:t>
            </a:r>
            <a:r>
              <a:rPr lang="en-US" sz="850" b="1" i="1">
                <a:solidFill>
                  <a:srgbClr val="1D1D1D"/>
                </a:solidFill>
                <a:latin typeface="Arial" panose="020B0604020202020204"/>
              </a:rPr>
              <a:t>—</a:t>
            </a:r>
            <a:r>
              <a:rPr lang="en-US" sz="850" b="1" i="1">
                <a:latin typeface="Arial" panose="020B0604020202020204"/>
              </a:rPr>
              <a:t>&gt;</a:t>
            </a:r>
            <a:r>
              <a:rPr lang="en-US" sz="950">
                <a:latin typeface="Times New Roman" panose="02020603050405020304"/>
              </a:rPr>
              <a:t> Agent</a:t>
            </a:r>
            <a:endParaRPr lang="en-US" sz="950">
              <a:latin typeface="Times New Roman" panose="02020603050405020304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247732" y="6569984"/>
            <a:ext cx="4592141" cy="24571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just">
              <a:lnSpc>
                <a:spcPts val="1000"/>
              </a:lnSpc>
            </a:pPr>
            <a:r>
              <a:rPr lang="en-US" sz="700">
                <a:solidFill>
                  <a:srgbClr val="3D3D3D"/>
                </a:solidFill>
                <a:latin typeface="Arial" panose="020B0604020202020204"/>
              </a:rPr>
              <a:t>Image source: Ye, Deheng, Zhao Liu, Mingfei Sun, Bei Shi, Peilin Zhao, Hao Wu, Hongsheng Yu et al. "Mastering</a:t>
            </a:r>
            <a:br>
              <a:rPr lang="en-US" sz="7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700">
                <a:solidFill>
                  <a:srgbClr val="3D3D3D"/>
                </a:solidFill>
                <a:latin typeface="Arial" panose="020B0604020202020204"/>
              </a:rPr>
              <a:t>Complex Control in MOBA Games with Deep Reinforcement Learning." In AAAI, pp. 6672-6679. 2020.</a:t>
            </a:r>
            <a:endParaRPr lang="en-US" sz="7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410868" y="6211474"/>
            <a:ext cx="217523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10</a:t>
            </a:r>
            <a:endParaRPr lang="en-US" sz="1400" b="1"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511" y="1526685"/>
            <a:ext cx="3927489" cy="435850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19637" y="845920"/>
            <a:ext cx="569183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Applications of Reinforcement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1721" y="1619333"/>
            <a:ext cx="4261829" cy="416112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2010"/>
              </a:lnSpc>
              <a:spcAft>
                <a:spcPts val="420"/>
              </a:spcAft>
            </a:pPr>
            <a:r>
              <a:rPr lang="en-US" sz="18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800">
                <a:solidFill>
                  <a:srgbClr val="3D3D3D"/>
                </a:solidFill>
                <a:latin typeface="Arial" panose="020B0604020202020204"/>
              </a:rPr>
              <a:t>AlphaGo [DeepMind, Nature 2016]:</a:t>
            </a:r>
            <a:endParaRPr lang="en-US" sz="1800">
              <a:solidFill>
                <a:srgbClr val="3D3D3D"/>
              </a:solidFill>
              <a:latin typeface="Arial" panose="020B0604020202020204"/>
            </a:endParaRPr>
          </a:p>
          <a:p>
            <a:pPr marL="482600" indent="-228600">
              <a:lnSpc>
                <a:spcPts val="2490"/>
              </a:lnSpc>
            </a:pPr>
            <a:r>
              <a:rPr lang="en-US" sz="14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400">
                <a:solidFill>
                  <a:srgbClr val="3D3D3D"/>
                </a:solidFill>
                <a:latin typeface="Arial" panose="020B0604020202020204"/>
              </a:rPr>
              <a:t>Required many engineering tricks</a:t>
            </a:r>
            <a:endParaRPr lang="en-US" sz="1400">
              <a:solidFill>
                <a:srgbClr val="3D3D3D"/>
              </a:solidFill>
              <a:latin typeface="Arial" panose="020B0604020202020204"/>
            </a:endParaRPr>
          </a:p>
          <a:p>
            <a:pPr marL="482600" indent="-228600">
              <a:lnSpc>
                <a:spcPts val="2490"/>
              </a:lnSpc>
            </a:pPr>
            <a:r>
              <a:rPr lang="en-US" sz="14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400">
                <a:solidFill>
                  <a:srgbClr val="3D3D3D"/>
                </a:solidFill>
                <a:latin typeface="Arial" panose="020B0604020202020204"/>
              </a:rPr>
              <a:t>Bootstrapped from human play</a:t>
            </a:r>
            <a:endParaRPr lang="en-US" sz="1400">
              <a:solidFill>
                <a:srgbClr val="3D3D3D"/>
              </a:solidFill>
              <a:latin typeface="Arial" panose="020B0604020202020204"/>
            </a:endParaRPr>
          </a:p>
          <a:p>
            <a:pPr marL="482600" indent="-228600">
              <a:lnSpc>
                <a:spcPts val="2490"/>
              </a:lnSpc>
              <a:spcAft>
                <a:spcPts val="420"/>
              </a:spcAft>
            </a:pPr>
            <a:r>
              <a:rPr lang="en-US" sz="14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400">
                <a:solidFill>
                  <a:srgbClr val="3D3D3D"/>
                </a:solidFill>
                <a:latin typeface="Arial" panose="020B0604020202020204"/>
              </a:rPr>
              <a:t>Beat 18-time world champion Lee Sedol</a:t>
            </a:r>
            <a:endParaRPr lang="en-US" sz="1400">
              <a:solidFill>
                <a:srgbClr val="3D3D3D"/>
              </a:solidFill>
              <a:latin typeface="Arial" panose="020B0604020202020204"/>
            </a:endParaRPr>
          </a:p>
          <a:p>
            <a:pPr indent="0">
              <a:lnSpc>
                <a:spcPts val="2570"/>
              </a:lnSpc>
            </a:pPr>
            <a:r>
              <a:rPr lang="en-US" sz="18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800">
                <a:solidFill>
                  <a:srgbClr val="3D3D3D"/>
                </a:solidFill>
                <a:latin typeface="Arial" panose="020B0604020202020204"/>
              </a:rPr>
              <a:t>AlphaGo Zero [Nature 2017]:</a:t>
            </a:r>
            <a:endParaRPr lang="en-US" sz="1800">
              <a:solidFill>
                <a:srgbClr val="3D3D3D"/>
              </a:solidFill>
              <a:latin typeface="Arial" panose="020B0604020202020204"/>
            </a:endParaRPr>
          </a:p>
          <a:p>
            <a:pPr marL="482600" indent="-228600">
              <a:lnSpc>
                <a:spcPts val="2570"/>
              </a:lnSpc>
            </a:pPr>
            <a:r>
              <a:rPr lang="en-US" sz="14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400">
                <a:solidFill>
                  <a:srgbClr val="3D3D3D"/>
                </a:solidFill>
                <a:latin typeface="Arial" panose="020B0604020202020204"/>
              </a:rPr>
              <a:t>Simplified and elegant version of AlphaGo</a:t>
            </a:r>
            <a:endParaRPr lang="en-US" sz="1400">
              <a:solidFill>
                <a:srgbClr val="3D3D3D"/>
              </a:solidFill>
              <a:latin typeface="Arial" panose="020B0604020202020204"/>
            </a:endParaRPr>
          </a:p>
          <a:p>
            <a:pPr marL="482600" indent="-228600">
              <a:lnSpc>
                <a:spcPts val="2570"/>
              </a:lnSpc>
            </a:pPr>
            <a:r>
              <a:rPr lang="en-US" sz="14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400">
                <a:solidFill>
                  <a:srgbClr val="3D3D3D"/>
                </a:solidFill>
                <a:latin typeface="Arial" panose="020B0604020202020204"/>
              </a:rPr>
              <a:t>No longer bootstrapped from human play</a:t>
            </a:r>
            <a:endParaRPr lang="en-US" sz="1400">
              <a:solidFill>
                <a:srgbClr val="3D3D3D"/>
              </a:solidFill>
              <a:latin typeface="Arial" panose="020B0604020202020204"/>
            </a:endParaRPr>
          </a:p>
          <a:p>
            <a:pPr marL="482600" indent="-228600">
              <a:lnSpc>
                <a:spcPts val="2570"/>
              </a:lnSpc>
            </a:pPr>
            <a:r>
              <a:rPr lang="en-US" sz="14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400">
                <a:solidFill>
                  <a:srgbClr val="3D3D3D"/>
                </a:solidFill>
                <a:latin typeface="Arial" panose="020B0604020202020204"/>
              </a:rPr>
              <a:t>Beat (at the time) #1 world ranked Ke Jie</a:t>
            </a:r>
            <a:endParaRPr lang="en-US" sz="1400">
              <a:solidFill>
                <a:srgbClr val="3D3D3D"/>
              </a:solidFill>
              <a:latin typeface="Arial" panose="020B0604020202020204"/>
            </a:endParaRPr>
          </a:p>
          <a:p>
            <a:pPr indent="0">
              <a:lnSpc>
                <a:spcPts val="2010"/>
              </a:lnSpc>
              <a:spcAft>
                <a:spcPts val="420"/>
              </a:spcAft>
            </a:pPr>
            <a:r>
              <a:rPr lang="en-US" sz="18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800">
                <a:solidFill>
                  <a:srgbClr val="3D3D3D"/>
                </a:solidFill>
                <a:latin typeface="Arial" panose="020B0604020202020204"/>
              </a:rPr>
              <a:t>Alpha Zero (Dec. 2017)</a:t>
            </a:r>
            <a:endParaRPr lang="en-US" sz="1800">
              <a:solidFill>
                <a:srgbClr val="3D3D3D"/>
              </a:solidFill>
              <a:latin typeface="Arial" panose="020B0604020202020204"/>
            </a:endParaRPr>
          </a:p>
          <a:p>
            <a:pPr marL="482600" indent="-228600">
              <a:lnSpc>
                <a:spcPts val="1585"/>
              </a:lnSpc>
              <a:spcAft>
                <a:spcPts val="910"/>
              </a:spcAft>
            </a:pPr>
            <a:r>
              <a:rPr lang="en-US" sz="14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400">
                <a:solidFill>
                  <a:srgbClr val="3D3D3D"/>
                </a:solidFill>
                <a:latin typeface="Arial" panose="020B0604020202020204"/>
              </a:rPr>
              <a:t>Generalized to beat world champion</a:t>
            </a:r>
            <a:br>
              <a:rPr lang="en-US" sz="14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400">
                <a:solidFill>
                  <a:srgbClr val="3D3D3D"/>
                </a:solidFill>
                <a:latin typeface="Arial" panose="020B0604020202020204"/>
              </a:rPr>
              <a:t>programs on chess and shogi as well</a:t>
            </a:r>
            <a:endParaRPr lang="en-US" sz="1400">
              <a:solidFill>
                <a:srgbClr val="3D3D3D"/>
              </a:solidFill>
              <a:latin typeface="Arial" panose="020B0604020202020204"/>
            </a:endParaRPr>
          </a:p>
          <a:p>
            <a:pPr indent="0">
              <a:lnSpc>
                <a:spcPts val="2010"/>
              </a:lnSpc>
              <a:spcAft>
                <a:spcPts val="420"/>
              </a:spcAft>
            </a:pPr>
            <a:r>
              <a:rPr lang="en-US" sz="18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800">
                <a:solidFill>
                  <a:srgbClr val="3D3D3D"/>
                </a:solidFill>
                <a:latin typeface="Arial" panose="020B0604020202020204"/>
              </a:rPr>
              <a:t>MuZero (Nov. 2019)</a:t>
            </a:r>
            <a:endParaRPr lang="en-US" sz="1800">
              <a:solidFill>
                <a:srgbClr val="3D3D3D"/>
              </a:solidFill>
              <a:latin typeface="Arial" panose="020B0604020202020204"/>
            </a:endParaRPr>
          </a:p>
          <a:p>
            <a:pPr marL="482600" indent="-228600">
              <a:lnSpc>
                <a:spcPts val="1560"/>
              </a:lnSpc>
            </a:pPr>
            <a:r>
              <a:rPr lang="en-US" sz="14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400">
                <a:solidFill>
                  <a:srgbClr val="3D3D3D"/>
                </a:solidFill>
                <a:latin typeface="Arial" panose="020B0604020202020204"/>
              </a:rPr>
              <a:t>Plans through a learned model of the game</a:t>
            </a:r>
            <a:endParaRPr lang="en-US" sz="14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45614" y="4277941"/>
            <a:ext cx="1993956" cy="26988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ctr">
              <a:lnSpc>
                <a:spcPts val="1030"/>
              </a:lnSpc>
            </a:pPr>
            <a:r>
              <a:rPr lang="en-US" sz="850" b="1" i="1">
                <a:solidFill>
                  <a:srgbClr val="DDDBD7"/>
                </a:solidFill>
                <a:latin typeface="Arial" panose="020B0604020202020204"/>
              </a:rPr>
              <a:t>At last</a:t>
            </a:r>
            <a:r>
              <a:rPr lang="en-US" sz="950">
                <a:solidFill>
                  <a:srgbClr val="DDDBD7"/>
                </a:solidFill>
                <a:latin typeface="Times New Roman" panose="02020603050405020304"/>
              </a:rPr>
              <a:t> </a:t>
            </a:r>
            <a:r>
              <a:rPr lang="en-US" sz="950">
                <a:solidFill>
                  <a:srgbClr val="B5B9BD"/>
                </a:solidFill>
                <a:latin typeface="Times New Roman" panose="02020603050405020304"/>
              </a:rPr>
              <a:t>— </a:t>
            </a:r>
            <a:r>
              <a:rPr lang="en-US" sz="950">
                <a:solidFill>
                  <a:srgbClr val="DDDBD7"/>
                </a:solidFill>
                <a:latin typeface="Times New Roman" panose="02020603050405020304"/>
              </a:rPr>
              <a:t>a computer program that</a:t>
            </a:r>
            <a:br>
              <a:rPr lang="en-US" sz="950">
                <a:solidFill>
                  <a:srgbClr val="DDDBD7"/>
                </a:solidFill>
                <a:latin typeface="Times New Roman" panose="02020603050405020304"/>
              </a:rPr>
            </a:br>
            <a:r>
              <a:rPr lang="en-US" sz="950">
                <a:solidFill>
                  <a:srgbClr val="DDDBD7"/>
                </a:solidFill>
                <a:latin typeface="Times New Roman" panose="02020603050405020304"/>
              </a:rPr>
              <a:t>can beat a champion Go player </a:t>
            </a:r>
            <a:r>
              <a:rPr lang="en-US" sz="850" cap="small">
                <a:solidFill>
                  <a:srgbClr val="C98870"/>
                </a:solidFill>
                <a:latin typeface="Arial" panose="020B0604020202020204"/>
              </a:rPr>
              <a:t>page 484</a:t>
            </a:r>
            <a:endParaRPr lang="en-US" sz="850" cap="small">
              <a:solidFill>
                <a:srgbClr val="C98870"/>
              </a:solidFill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70992" y="4592140"/>
            <a:ext cx="2727087" cy="35851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3350"/>
              </a:lnSpc>
            </a:pPr>
            <a:r>
              <a:rPr lang="en-US" sz="3000" b="1" i="1">
                <a:solidFill>
                  <a:srgbClr val="FFFFFF"/>
                </a:solidFill>
                <a:latin typeface="Arial" panose="020B0604020202020204"/>
              </a:rPr>
              <a:t>ALL SYSTEMS GO</a:t>
            </a:r>
            <a:endParaRPr lang="en-US" sz="3000" b="1" i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959711" y="5276933"/>
            <a:ext cx="435044" cy="7250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500"/>
              </a:lnSpc>
            </a:pPr>
            <a:r>
              <a:rPr lang="en-US" sz="450">
                <a:solidFill>
                  <a:srgbClr val="B5B9BD"/>
                </a:solidFill>
                <a:latin typeface="Arial" panose="020B0604020202020204"/>
              </a:rPr>
              <a:t>3MTIHUSUMU</a:t>
            </a:r>
            <a:endParaRPr lang="en-US" sz="450">
              <a:solidFill>
                <a:srgbClr val="B5B9BD"/>
              </a:solidFill>
              <a:latin typeface="Arial" panose="020B060402020202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53469" y="5297074"/>
            <a:ext cx="696878" cy="6042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ctr">
              <a:lnSpc>
                <a:spcPts val="450"/>
              </a:lnSpc>
            </a:pPr>
            <a:r>
              <a:rPr lang="en-US" sz="400" b="1" cap="small">
                <a:solidFill>
                  <a:srgbClr val="74A9C6"/>
                </a:solidFill>
                <a:latin typeface="Arial" panose="020B0604020202020204"/>
              </a:rPr>
              <a:t>cohsckutcii</a:t>
            </a:r>
            <a:endParaRPr lang="en-US" sz="400" b="1" cap="small">
              <a:solidFill>
                <a:srgbClr val="74A9C6"/>
              </a:solidFill>
              <a:latin typeface="Arial" panose="020B0604020202020204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353469" y="5409864"/>
            <a:ext cx="696878" cy="3867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R="88900" indent="0" algn="just">
              <a:lnSpc>
                <a:spcPts val="730"/>
              </a:lnSpc>
            </a:pPr>
            <a:r>
              <a:rPr lang="en-US" sz="650" b="1">
                <a:solidFill>
                  <a:srgbClr val="B5B9BD"/>
                </a:solidFill>
                <a:latin typeface="Arial" panose="020B0604020202020204"/>
              </a:rPr>
              <a:t>SONGBIRDS</a:t>
            </a:r>
            <a:br>
              <a:rPr lang="en-US" sz="650" b="1">
                <a:solidFill>
                  <a:srgbClr val="B5B9BD"/>
                </a:solidFill>
                <a:latin typeface="Arial" panose="020B0604020202020204"/>
              </a:rPr>
            </a:br>
            <a:r>
              <a:rPr lang="en-US" sz="650" b="1">
                <a:solidFill>
                  <a:srgbClr val="B5B9BD"/>
                </a:solidFill>
                <a:latin typeface="Arial" panose="020B0604020202020204"/>
              </a:rPr>
              <a:t>A LA CARTE</a:t>
            </a:r>
            <a:endParaRPr lang="en-US" sz="650" b="1">
              <a:solidFill>
                <a:srgbClr val="B5B9BD"/>
              </a:solidFill>
              <a:latin typeface="Arial" panose="020B0604020202020204"/>
            </a:endParaRPr>
          </a:p>
          <a:p>
            <a:pPr indent="0" algn="just">
              <a:lnSpc>
                <a:spcPts val="555"/>
              </a:lnSpc>
            </a:pPr>
            <a:r>
              <a:rPr lang="en-US" sz="450" i="1">
                <a:solidFill>
                  <a:srgbClr val="808080"/>
                </a:solidFill>
                <a:latin typeface="Arial" panose="020B0604020202020204"/>
              </a:rPr>
              <a:t>I</a:t>
            </a:r>
            <a:r>
              <a:rPr lang="en-US" sz="450" b="1">
                <a:solidFill>
                  <a:srgbClr val="808080"/>
                </a:solidFill>
                <a:latin typeface="Arial" panose="020B0604020202020204"/>
              </a:rPr>
              <a:t> 'IkifuJ </a:t>
            </a:r>
            <a:r>
              <a:rPr lang="en-US" sz="450" i="1">
                <a:solidFill>
                  <a:srgbClr val="808080"/>
                </a:solidFill>
                <a:latin typeface="Arial" panose="020B0604020202020204"/>
              </a:rPr>
              <a:t>hurwxt</a:t>
            </a:r>
            <a:r>
              <a:rPr lang="en-US" sz="450" b="1">
                <a:solidFill>
                  <a:srgbClr val="808080"/>
                </a:solidFill>
                <a:latin typeface="Arial" panose="020B0604020202020204"/>
              </a:rPr>
              <a:t> r&gt;/millions</a:t>
            </a:r>
            <a:br>
              <a:rPr lang="en-US" sz="450" b="1">
                <a:solidFill>
                  <a:srgbClr val="808080"/>
                </a:solidFill>
                <a:latin typeface="Arial" panose="020B0604020202020204"/>
              </a:rPr>
            </a:br>
            <a:r>
              <a:rPr lang="en-US" sz="450" i="1">
                <a:solidFill>
                  <a:srgbClr val="808080"/>
                </a:solidFill>
                <a:latin typeface="Arial" panose="020B0604020202020204"/>
              </a:rPr>
              <a:t>»l</a:t>
            </a:r>
            <a:r>
              <a:rPr lang="en-US" sz="450">
                <a:solidFill>
                  <a:srgbClr val="808080"/>
                </a:solidFill>
                <a:latin typeface="Arial" panose="020B0604020202020204"/>
              </a:rPr>
              <a:t> Mt-dlTt-mmc-un Mat*</a:t>
            </a:r>
            <a:endParaRPr lang="en-US" sz="450">
              <a:solidFill>
                <a:srgbClr val="808080"/>
              </a:solidFill>
              <a:latin typeface="Arial" panose="020B0604020202020204"/>
            </a:endParaRPr>
          </a:p>
          <a:p>
            <a:pPr indent="0" algn="ctr">
              <a:lnSpc>
                <a:spcPts val="780"/>
              </a:lnSpc>
            </a:pPr>
            <a:r>
              <a:rPr lang="en-US" sz="700" i="1">
                <a:solidFill>
                  <a:srgbClr val="B5B9BD"/>
                </a:solidFill>
                <a:latin typeface="Arial" panose="020B0604020202020204"/>
              </a:rPr>
              <a:t>Ha at</a:t>
            </a:r>
            <a:endParaRPr lang="en-US" sz="700" i="1">
              <a:solidFill>
                <a:srgbClr val="B5B9BD"/>
              </a:solidFill>
              <a:latin typeface="Arial" panose="020B06040202020202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211474" y="5297074"/>
            <a:ext cx="761329" cy="6042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ctr">
              <a:lnSpc>
                <a:spcPts val="500"/>
              </a:lnSpc>
            </a:pPr>
            <a:r>
              <a:rPr lang="en-US" sz="450">
                <a:solidFill>
                  <a:srgbClr val="74A9C6"/>
                </a:solidFill>
                <a:latin typeface="Arial" panose="020B0604020202020204"/>
              </a:rPr>
              <a:t>MStMCH ETHICS</a:t>
            </a:r>
            <a:endParaRPr lang="en-US" sz="450">
              <a:solidFill>
                <a:srgbClr val="74A9C6"/>
              </a:solidFill>
              <a:latin typeface="Arial" panose="020B060402020202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211474" y="5409864"/>
            <a:ext cx="761329" cy="68479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marL="101600" indent="0">
              <a:lnSpc>
                <a:spcPts val="730"/>
              </a:lnSpc>
            </a:pPr>
            <a:r>
              <a:rPr lang="en-US" sz="650" b="1">
                <a:solidFill>
                  <a:srgbClr val="B5B9BD"/>
                </a:solidFill>
                <a:latin typeface="Arial" panose="020B0604020202020204"/>
              </a:rPr>
              <a:t>SAFEGUARD</a:t>
            </a:r>
            <a:endParaRPr lang="en-US" sz="650" b="1">
              <a:solidFill>
                <a:srgbClr val="B5B9BD"/>
              </a:solidFill>
              <a:latin typeface="Arial" panose="020B0604020202020204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211474" y="5502512"/>
            <a:ext cx="761329" cy="29405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730"/>
              </a:lnSpc>
            </a:pPr>
            <a:r>
              <a:rPr lang="en-US" sz="650" b="1">
                <a:solidFill>
                  <a:srgbClr val="B5B9BD"/>
                </a:solidFill>
                <a:latin typeface="Arial" panose="020B0604020202020204"/>
              </a:rPr>
              <a:t>TRANSPARENCY</a:t>
            </a:r>
            <a:endParaRPr lang="en-US" sz="650" b="1">
              <a:solidFill>
                <a:srgbClr val="B5B9BD"/>
              </a:solidFill>
              <a:latin typeface="Arial" panose="020B0604020202020204"/>
            </a:endParaRPr>
          </a:p>
          <a:p>
            <a:pPr indent="0" algn="ctr">
              <a:lnSpc>
                <a:spcPts val="555"/>
              </a:lnSpc>
            </a:pPr>
            <a:r>
              <a:rPr lang="en-US" sz="450" b="1">
                <a:solidFill>
                  <a:srgbClr val="808080"/>
                </a:solidFill>
                <a:latin typeface="Arial" panose="020B0604020202020204"/>
              </a:rPr>
              <a:t>Don 'r let openness fxMi/irv</a:t>
            </a:r>
            <a:br>
              <a:rPr lang="en-US" sz="450" b="1">
                <a:solidFill>
                  <a:srgbClr val="808080"/>
                </a:solidFill>
                <a:latin typeface="Arial" panose="020B0604020202020204"/>
              </a:rPr>
            </a:br>
            <a:r>
              <a:rPr lang="en-US" sz="450" b="1">
                <a:solidFill>
                  <a:srgbClr val="808080"/>
                </a:solidFill>
                <a:latin typeface="Arial" panose="020B0604020202020204"/>
              </a:rPr>
              <a:t>»n individuals</a:t>
            </a:r>
            <a:endParaRPr lang="en-US" sz="450" b="1">
              <a:solidFill>
                <a:srgbClr val="808080"/>
              </a:solidFill>
              <a:latin typeface="Arial" panose="020B0604020202020204"/>
            </a:endParaRPr>
          </a:p>
          <a:p>
            <a:pPr indent="0" algn="ctr">
              <a:lnSpc>
                <a:spcPts val="780"/>
              </a:lnSpc>
            </a:pPr>
            <a:r>
              <a:rPr lang="en-US" sz="700">
                <a:solidFill>
                  <a:srgbClr val="B5B9BD"/>
                </a:solidFill>
                <a:latin typeface="Arial" panose="020B0604020202020204"/>
              </a:rPr>
              <a:t>NK434</a:t>
            </a:r>
            <a:endParaRPr lang="en-US" sz="700">
              <a:solidFill>
                <a:srgbClr val="B5B9BD"/>
              </a:solidFill>
              <a:latin typeface="Arial" panose="020B060402020202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146015" y="5297074"/>
            <a:ext cx="660624" cy="49949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ctr">
              <a:lnSpc>
                <a:spcPts val="560"/>
              </a:lnSpc>
            </a:pPr>
            <a:r>
              <a:rPr lang="en-US" sz="500" b="1">
                <a:solidFill>
                  <a:srgbClr val="93C7DB"/>
                </a:solidFill>
                <a:latin typeface="Arial" panose="020B0604020202020204"/>
              </a:rPr>
              <a:t>P</a:t>
            </a:r>
            <a:r>
              <a:rPr lang="en-US" sz="500">
                <a:solidFill>
                  <a:srgbClr val="93C7DB"/>
                </a:solidFill>
                <a:latin typeface="Arial" panose="020B0604020202020204"/>
              </a:rPr>
              <a:t>0</a:t>
            </a:r>
            <a:r>
              <a:rPr lang="en-US" sz="500" b="1">
                <a:solidFill>
                  <a:srgbClr val="93C7DB"/>
                </a:solidFill>
                <a:latin typeface="Arial" panose="020B0604020202020204"/>
              </a:rPr>
              <a:t>NUt$</a:t>
            </a:r>
            <a:r>
              <a:rPr lang="en-US" sz="500">
                <a:solidFill>
                  <a:srgbClr val="93C7DB"/>
                </a:solidFill>
                <a:latin typeface="Arial" panose="020B0604020202020204"/>
              </a:rPr>
              <a:t>8</a:t>
            </a:r>
            <a:r>
              <a:rPr lang="en-US" sz="500" b="1">
                <a:solidFill>
                  <a:srgbClr val="93C7DB"/>
                </a:solidFill>
                <a:latin typeface="Arial" panose="020B0604020202020204"/>
              </a:rPr>
              <a:t>MC</a:t>
            </a:r>
            <a:endParaRPr lang="en-US" sz="500" b="1">
              <a:solidFill>
                <a:srgbClr val="93C7DB"/>
              </a:solidFill>
              <a:latin typeface="Arial" panose="020B0604020202020204"/>
            </a:endParaRPr>
          </a:p>
          <a:p>
            <a:pPr indent="0" algn="just">
              <a:lnSpc>
                <a:spcPts val="745"/>
              </a:lnSpc>
            </a:pPr>
            <a:r>
              <a:rPr lang="en-US" sz="650" b="1">
                <a:solidFill>
                  <a:srgbClr val="B5B9BD"/>
                </a:solidFill>
                <a:latin typeface="Arial" panose="020B0604020202020204"/>
              </a:rPr>
              <a:t>WHEN GENES</a:t>
            </a:r>
            <a:br>
              <a:rPr lang="en-US" sz="650" b="1">
                <a:solidFill>
                  <a:srgbClr val="B5B9BD"/>
                </a:solidFill>
                <a:latin typeface="Arial" panose="020B0604020202020204"/>
              </a:rPr>
            </a:br>
            <a:r>
              <a:rPr lang="en-US" sz="650" b="1">
                <a:solidFill>
                  <a:srgbClr val="B5B9BD"/>
                </a:solidFill>
                <a:latin typeface="Arial" panose="020B0604020202020204"/>
              </a:rPr>
              <a:t>GOT SELFISH’</a:t>
            </a:r>
            <a:endParaRPr lang="en-US" sz="650" b="1">
              <a:solidFill>
                <a:srgbClr val="B5B9BD"/>
              </a:solidFill>
              <a:latin typeface="Arial" panose="020B0604020202020204"/>
            </a:endParaRPr>
          </a:p>
          <a:p>
            <a:pPr marL="101600" indent="0" algn="just">
              <a:lnSpc>
                <a:spcPts val="540"/>
              </a:lnSpc>
            </a:pPr>
            <a:r>
              <a:rPr lang="en-US" sz="450">
                <a:solidFill>
                  <a:srgbClr val="808080"/>
                </a:solidFill>
                <a:latin typeface="Arial" panose="020B0604020202020204"/>
              </a:rPr>
              <a:t>IXm-tin.v’s culling</a:t>
            </a:r>
            <a:br>
              <a:rPr lang="en-US" sz="450">
                <a:solidFill>
                  <a:srgbClr val="808080"/>
                </a:solidFill>
                <a:latin typeface="Arial" panose="020B0604020202020204"/>
              </a:rPr>
            </a:br>
            <a:r>
              <a:rPr lang="en-US" sz="450">
                <a:solidFill>
                  <a:srgbClr val="808080"/>
                </a:solidFill>
                <a:latin typeface="Arial" panose="020B0604020202020204"/>
              </a:rPr>
              <a:t>curd 40 wws on</a:t>
            </a:r>
            <a:endParaRPr lang="en-US" sz="450">
              <a:solidFill>
                <a:srgbClr val="808080"/>
              </a:solidFill>
              <a:latin typeface="Arial" panose="020B0604020202020204"/>
            </a:endParaRPr>
          </a:p>
          <a:p>
            <a:pPr indent="0" algn="ctr">
              <a:lnSpc>
                <a:spcPts val="540"/>
              </a:lnSpc>
            </a:pPr>
            <a:r>
              <a:rPr lang="en-US" sz="400">
                <a:solidFill>
                  <a:srgbClr val="B5B9BD"/>
                </a:solidFill>
                <a:latin typeface="Times New Roman" panose="02020603050405020304"/>
              </a:rPr>
              <a:t>MCE Ml</a:t>
            </a:r>
            <a:endParaRPr lang="en-US" sz="400">
              <a:solidFill>
                <a:srgbClr val="B5B9BD"/>
              </a:solidFill>
              <a:latin typeface="Times New Roman" panose="02020603050405020304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6747224" y="3121850"/>
          <a:ext cx="934540" cy="475325"/>
        </p:xfrm>
        <a:graphic>
          <a:graphicData uri="http://schemas.openxmlformats.org/drawingml/2006/table">
            <a:tbl>
              <a:tblPr/>
              <a:tblGrid>
                <a:gridCol w="221550"/>
                <a:gridCol w="503524"/>
                <a:gridCol w="209466"/>
              </a:tblGrid>
              <a:tr h="128902">
                <a:tc gridSpan="2">
                  <a:txBody>
                    <a:bodyPr/>
                    <a:lstStyle/>
                    <a:p>
                      <a:endParaRPr sz="700"/>
                    </a:p>
                  </a:txBody>
                  <a:tcPr marL="0" marR="0" marT="0" marB="0">
                    <a:solidFill>
                      <a:srgbClr val="AE8655"/>
                    </a:solidFill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indent="0" algn="r">
                        <a:lnSpc>
                          <a:spcPts val="780"/>
                        </a:lnSpc>
                      </a:pPr>
                      <a:r>
                        <a:rPr lang="en-US" sz="700" i="1">
                          <a:latin typeface="Arial" panose="020B0604020202020204"/>
                        </a:rPr>
                        <a:t>m</a:t>
                      </a:r>
                      <a:endParaRPr lang="en-US" sz="700" i="1">
                        <a:latin typeface="Arial" panose="020B0604020202020204"/>
                      </a:endParaRPr>
                    </a:p>
                  </a:txBody>
                  <a:tcPr marL="0" marR="0" marT="0" marB="0" anchor="b">
                    <a:solidFill>
                      <a:srgbClr val="AE8655"/>
                    </a:solidFill>
                  </a:tcPr>
                </a:tc>
              </a:tr>
              <a:tr h="145014">
                <a:tc>
                  <a:txBody>
                    <a:bodyPr/>
                    <a:lstStyle/>
                    <a:p>
                      <a:endParaRPr sz="700"/>
                    </a:p>
                  </a:txBody>
                  <a:tcPr marL="0" marR="0" marT="0" marB="0">
                    <a:solidFill>
                      <a:srgbClr val="CBCDD1"/>
                    </a:solidFill>
                  </a:tcPr>
                </a:tc>
                <a:tc>
                  <a:txBody>
                    <a:bodyPr/>
                    <a:lstStyle/>
                    <a:p>
                      <a:endParaRPr sz="700"/>
                    </a:p>
                  </a:txBody>
                  <a:tcPr marL="0" marR="0" marT="0" marB="0">
                    <a:solidFill>
                      <a:srgbClr val="E2E7EA"/>
                    </a:solidFill>
                  </a:tcPr>
                </a:tc>
                <a:tc>
                  <a:txBody>
                    <a:bodyPr/>
                    <a:lstStyle/>
                    <a:p>
                      <a:endParaRPr sz="700"/>
                    </a:p>
                  </a:txBody>
                  <a:tcPr marL="0" marR="0" marT="0" marB="0">
                    <a:solidFill>
                      <a:srgbClr val="AE8655"/>
                    </a:solidFill>
                  </a:tcPr>
                </a:tc>
              </a:tr>
              <a:tr h="201409">
                <a:tc>
                  <a:txBody>
                    <a:bodyPr/>
                    <a:lstStyle/>
                    <a:p>
                      <a:endParaRPr sz="1000"/>
                    </a:p>
                  </a:txBody>
                  <a:tcPr marL="0" marR="0" marT="0" marB="0">
                    <a:solidFill>
                      <a:srgbClr val="E2E7EA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/>
                    </a:p>
                  </a:txBody>
                  <a:tcPr marL="0" marR="0" marT="0" marB="0">
                    <a:solidFill>
                      <a:srgbClr val="BB9468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/>
                    </a:p>
                  </a:txBody>
                  <a:tcPr marL="0" marR="0" marT="0" marB="0">
                    <a:solidFill>
                      <a:srgbClr val="BB9468"/>
                    </a:solidFill>
                  </a:tcPr>
                </a:tc>
              </a:tr>
            </a:tbl>
          </a:graphicData>
        </a:graphic>
      </p:graphicFrame>
      <p:sp>
        <p:nvSpPr>
          <p:cNvPr id="17" name="矩形 16"/>
          <p:cNvSpPr/>
          <p:nvPr/>
        </p:nvSpPr>
        <p:spPr>
          <a:xfrm>
            <a:off x="8410868" y="6211474"/>
            <a:ext cx="213494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11</a:t>
            </a:r>
            <a:endParaRPr lang="en-US" sz="1400" b="1">
              <a:latin typeface="Arial" panose="020B0604020202020204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670692" y="6686801"/>
            <a:ext cx="3726079" cy="12084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780"/>
              </a:lnSpc>
            </a:pPr>
            <a:r>
              <a:rPr lang="en-US" sz="700">
                <a:solidFill>
                  <a:srgbClr val="3D3D3D"/>
                </a:solidFill>
                <a:latin typeface="Arial" panose="020B0604020202020204"/>
              </a:rPr>
              <a:t>Image source: </a:t>
            </a:r>
            <a:r>
              <a:rPr lang="en-US" sz="700">
                <a:solidFill>
                  <a:srgbClr val="3D3D3D"/>
                </a:solidFill>
                <a:latin typeface="Arial" panose="020B0604020202020204"/>
                <a:hlinkClick r:id="rId2"/>
              </a:rPr>
              <a:t>https://becominghuman.ai/summary-of-the-alphago-paper-b55ce24d8a7c</a:t>
            </a:r>
            <a:endParaRPr lang="en-US" sz="700">
              <a:solidFill>
                <a:srgbClr val="3D3D3D"/>
              </a:solidFill>
              <a:latin typeface="Arial" panose="020B0604020202020204"/>
              <a:hlinkClick r:id="rId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232" y="2167168"/>
            <a:ext cx="6791535" cy="378650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19637" y="845920"/>
            <a:ext cx="569183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Applications of Reinforcement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5749" y="1736151"/>
            <a:ext cx="2952666" cy="29405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120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Recommander system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71700" y="6569984"/>
            <a:ext cx="5820740" cy="24571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1000"/>
              </a:lnSpc>
            </a:pPr>
            <a:r>
              <a:rPr lang="en-US" sz="700">
                <a:solidFill>
                  <a:srgbClr val="3D3D3D"/>
                </a:solidFill>
                <a:latin typeface="Arial" panose="020B0604020202020204"/>
              </a:rPr>
              <a:t>Image source: Zheng, Guanjie, Fuzheng Zhang, Zihan Zheng, Yang Xiang, Nicholas Jing Yuan, Xing Xie, and Zhenhui Li. "DRN: A deep</a:t>
            </a:r>
            <a:br>
              <a:rPr lang="en-US" sz="7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700">
                <a:solidFill>
                  <a:srgbClr val="3D3D3D"/>
                </a:solidFill>
                <a:latin typeface="Arial" panose="020B0604020202020204"/>
              </a:rPr>
              <a:t>reinforcement learning framework for news recommendation." In Proceedings of the 2018 World Wide Web Conference, pp. 167-176. 2018.</a:t>
            </a:r>
            <a:endParaRPr lang="en-US" sz="7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410868" y="6211474"/>
            <a:ext cx="213494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12</a:t>
            </a:r>
            <a:endParaRPr lang="en-US" sz="1400" b="1"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418" y="2259816"/>
            <a:ext cx="5881163" cy="356495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19637" y="845920"/>
            <a:ext cx="569183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Applications of Reinforcement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5749" y="1736151"/>
            <a:ext cx="2271902" cy="29405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120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Financial trading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410868" y="6211474"/>
            <a:ext cx="209466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13</a:t>
            </a:r>
            <a:endParaRPr lang="en-US" sz="1400" b="1"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81166" y="6686801"/>
            <a:ext cx="5305131" cy="12084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780"/>
              </a:lnSpc>
            </a:pPr>
            <a:r>
              <a:rPr lang="en-US" sz="700">
                <a:solidFill>
                  <a:srgbClr val="3D3D3D"/>
                </a:solidFill>
                <a:latin typeface="Arial" panose="020B0604020202020204"/>
              </a:rPr>
              <a:t>Image source: </a:t>
            </a:r>
            <a:r>
              <a:rPr lang="en-US" sz="700">
                <a:solidFill>
                  <a:srgbClr val="3D3D3D"/>
                </a:solidFill>
                <a:latin typeface="Arial" panose="020B0604020202020204"/>
                <a:hlinkClick r:id="rId2"/>
              </a:rPr>
              <a:t>https://medium.com/inside-machine-leaming/reinforcement-leaming-the-business-use-case-part-2-c175740999</a:t>
            </a:r>
            <a:endParaRPr lang="en-US" sz="700">
              <a:solidFill>
                <a:srgbClr val="3D3D3D"/>
              </a:solidFill>
              <a:latin typeface="Arial" panose="020B0604020202020204"/>
              <a:hlinkClick r:id="rId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62" y="1611277"/>
            <a:ext cx="7057396" cy="405236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19637" y="845920"/>
            <a:ext cx="569183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Applications of Reinforcement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21145" y="5756288"/>
            <a:ext cx="3053371" cy="23363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ctr">
              <a:lnSpc>
                <a:spcPts val="1560"/>
              </a:lnSpc>
            </a:pPr>
            <a:r>
              <a:rPr lang="en-US" sz="1400">
                <a:solidFill>
                  <a:srgbClr val="3D3D3D"/>
                </a:solidFill>
                <a:latin typeface="Arial" panose="020B0604020202020204"/>
              </a:rPr>
              <a:t>Crowdfunding dynamics tracking</a:t>
            </a:r>
            <a:endParaRPr lang="en-US" sz="14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410868" y="6211474"/>
            <a:ext cx="217523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14</a:t>
            </a:r>
            <a:endParaRPr lang="en-US" sz="1400" b="1"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57300" y="6690829"/>
            <a:ext cx="7363538" cy="11681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780"/>
              </a:lnSpc>
            </a:pPr>
            <a:r>
              <a:rPr lang="en-US" sz="700">
                <a:solidFill>
                  <a:srgbClr val="3D3D3D"/>
                </a:solidFill>
                <a:latin typeface="Arial" panose="020B0604020202020204"/>
              </a:rPr>
              <a:t>Image source: Wang, Jun, Hefu Zhang, Qi Liu, Zhen Pan, and HanqingTao. "Crowdfunding Dynamics Tracking: A Reinforcement Learning Approach." In AAAI, pp. 6210-6218. 2020.</a:t>
            </a:r>
            <a:endParaRPr lang="en-US" sz="7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427989" y="1603221"/>
            <a:ext cx="124874" cy="1438065"/>
          </a:xfrm>
          <a:prstGeom prst="rect">
            <a:avLst/>
          </a:prstGeom>
        </p:spPr>
        <p:txBody>
          <a:bodyPr vert="vert270" wrap="none" lIns="0" tIns="0" rIns="0" bIns="0">
            <a:noAutofit/>
          </a:bodyPr>
          <a:lstStyle/>
          <a:p>
            <a:pPr indent="0">
              <a:lnSpc>
                <a:spcPts val="780"/>
              </a:lnSpc>
            </a:pPr>
            <a:r>
              <a:rPr lang="en-US" sz="700" b="1">
                <a:latin typeface="Arial" panose="020B0604020202020204"/>
              </a:rPr>
              <a:t>Cumulative funding amount (%)</a:t>
            </a:r>
            <a:endParaRPr lang="en-US" sz="700" b="1"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26" y="2320239"/>
            <a:ext cx="4600197" cy="334340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4990" y="2827792"/>
            <a:ext cx="3170188" cy="248136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9637" y="845920"/>
            <a:ext cx="569183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Applications of Reinforcement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5749" y="1744207"/>
            <a:ext cx="2807651" cy="28600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120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Smart transportation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93148" y="3709966"/>
            <a:ext cx="531722" cy="36656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1440"/>
              </a:lnSpc>
            </a:pPr>
            <a:r>
              <a:rPr lang="en-US" sz="1300" b="1">
                <a:latin typeface="Times New Roman" panose="02020603050405020304"/>
              </a:rPr>
              <a:t>Road</a:t>
            </a:r>
            <a:endParaRPr lang="en-US" sz="1300" b="1">
              <a:latin typeface="Times New Roman" panose="02020603050405020304"/>
            </a:endParaRPr>
          </a:p>
          <a:p>
            <a:pPr indent="0">
              <a:lnSpc>
                <a:spcPts val="1440"/>
              </a:lnSpc>
            </a:pPr>
            <a:r>
              <a:rPr lang="en-US" sz="1300" b="1">
                <a:latin typeface="Times New Roman" panose="02020603050405020304"/>
              </a:rPr>
              <a:t>Traffic</a:t>
            </a:r>
            <a:endParaRPr lang="en-US" sz="1300" b="1">
              <a:latin typeface="Times New Roman" panose="020206030504050203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03520" y="4342392"/>
            <a:ext cx="515609" cy="15710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440"/>
              </a:lnSpc>
            </a:pPr>
            <a:r>
              <a:rPr lang="en-US" sz="1300" b="1">
                <a:latin typeface="Times New Roman" panose="02020603050405020304"/>
              </a:rPr>
              <a:t>Action</a:t>
            </a:r>
            <a:endParaRPr lang="en-US" sz="1300" b="1">
              <a:latin typeface="Times New Roman" panose="020206030504050203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912384" y="4471295"/>
            <a:ext cx="612285" cy="153071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440"/>
              </a:lnSpc>
            </a:pPr>
            <a:r>
              <a:rPr lang="en-US" sz="1300" b="1">
                <a:latin typeface="Times New Roman" panose="02020603050405020304"/>
              </a:rPr>
              <a:t>Reward</a:t>
            </a:r>
            <a:endParaRPr lang="en-US" sz="1300" b="1">
              <a:latin typeface="Times New Roman" panose="02020603050405020304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81769" y="4890227"/>
            <a:ext cx="527693" cy="157099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440"/>
              </a:lnSpc>
            </a:pPr>
            <a:r>
              <a:rPr lang="en-US" sz="1300" b="1">
                <a:latin typeface="Times New Roman" panose="02020603050405020304"/>
              </a:rPr>
              <a:t>Traffic</a:t>
            </a:r>
            <a:endParaRPr lang="en-US" sz="1300" b="1">
              <a:latin typeface="Times New Roman" panose="020206030504050203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44207" y="5377638"/>
            <a:ext cx="2485396" cy="24974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r">
              <a:lnSpc>
                <a:spcPts val="1990"/>
              </a:lnSpc>
              <a:spcAft>
                <a:spcPts val="910"/>
              </a:spcAft>
            </a:pPr>
            <a:r>
              <a:rPr lang="en-US" sz="1800" b="1">
                <a:latin typeface="Times New Roman" panose="02020603050405020304"/>
              </a:rPr>
              <a:t>Reinforcement Learning</a:t>
            </a:r>
            <a:endParaRPr lang="en-US" sz="1800" b="1">
              <a:latin typeface="Times New Roman" panose="020206030504050203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260821" y="2441085"/>
            <a:ext cx="459214" cy="16112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440"/>
              </a:lnSpc>
            </a:pPr>
            <a:r>
              <a:rPr lang="en-US" sz="1300" b="1">
                <a:latin typeface="Times New Roman" panose="02020603050405020304"/>
              </a:rPr>
              <a:t>Input:</a:t>
            </a:r>
            <a:endParaRPr lang="en-US" sz="1300" b="1">
              <a:latin typeface="Times New Roman" panose="02020603050405020304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1231" y="2441085"/>
            <a:ext cx="584088" cy="16112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440"/>
              </a:lnSpc>
            </a:pPr>
            <a:r>
              <a:rPr lang="en-US" sz="1300" b="1">
                <a:latin typeface="Times New Roman" panose="02020603050405020304"/>
              </a:rPr>
              <a:t>Output:</a:t>
            </a:r>
            <a:endParaRPr lang="en-US" sz="1300" b="1">
              <a:latin typeface="Times New Roman" panose="020206030504050203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76933" y="2650551"/>
            <a:ext cx="439074" cy="12890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440"/>
              </a:lnSpc>
            </a:pPr>
            <a:r>
              <a:rPr lang="en-US" sz="1300" b="1">
                <a:latin typeface="Times New Roman" panose="02020603050405020304"/>
              </a:rPr>
              <a:t>States</a:t>
            </a:r>
            <a:endParaRPr lang="en-US" sz="1300" b="1">
              <a:latin typeface="Times New Roman" panose="020206030504050203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911372" y="2650551"/>
            <a:ext cx="555891" cy="12890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440"/>
              </a:lnSpc>
            </a:pPr>
            <a:r>
              <a:rPr lang="en-US" sz="1300" b="1">
                <a:latin typeface="Times New Roman" panose="02020603050405020304"/>
              </a:rPr>
              <a:t>Actions</a:t>
            </a:r>
            <a:endParaRPr lang="en-US" sz="1300" b="1">
              <a:latin typeface="Times New Roman" panose="020206030504050203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118826" y="5393751"/>
            <a:ext cx="1478347" cy="21752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990"/>
              </a:lnSpc>
            </a:pPr>
            <a:r>
              <a:rPr lang="en-US" sz="1400">
                <a:latin typeface="Arial" panose="020B0604020202020204"/>
              </a:rPr>
              <a:t>Deep </a:t>
            </a:r>
            <a:r>
              <a:rPr lang="en-US" sz="1800" b="1">
                <a:latin typeface="Times New Roman" panose="02020603050405020304"/>
              </a:rPr>
              <a:t>Learning</a:t>
            </a:r>
            <a:endParaRPr lang="en-US" sz="1800" b="1">
              <a:latin typeface="Times New Roman" panose="02020603050405020304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355485" y="5804627"/>
            <a:ext cx="2396775" cy="22960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ctr">
              <a:lnSpc>
                <a:spcPts val="1560"/>
              </a:lnSpc>
              <a:spcBef>
                <a:spcPts val="910"/>
              </a:spcBef>
            </a:pPr>
            <a:r>
              <a:rPr lang="en-US" sz="1400">
                <a:solidFill>
                  <a:srgbClr val="3D3D3D"/>
                </a:solidFill>
                <a:latin typeface="Arial" panose="020B0604020202020204"/>
              </a:rPr>
              <a:t>Traffic light control model</a:t>
            </a:r>
            <a:endParaRPr lang="en-US" sz="14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410868" y="6211474"/>
            <a:ext cx="209466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15</a:t>
            </a:r>
            <a:endParaRPr lang="en-US" sz="1400" b="1">
              <a:latin typeface="Arial" panose="020B0604020202020204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19637" y="6686801"/>
            <a:ext cx="7871090" cy="12084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780"/>
              </a:lnSpc>
            </a:pPr>
            <a:r>
              <a:rPr lang="en-US" sz="700">
                <a:solidFill>
                  <a:srgbClr val="3D3D3D"/>
                </a:solidFill>
                <a:latin typeface="Arial" panose="020B0604020202020204"/>
              </a:rPr>
              <a:t>Image source: Liang, Xiaoyuan, Xunsheng Du, Guiling Wang, and Zhu Han. "Deep reinforcement learning for traffic light control in vehicular networks." arXiv preprint arXiv:1803.11115 (2018).</a:t>
            </a:r>
            <a:endParaRPr lang="en-US" sz="700">
              <a:solidFill>
                <a:srgbClr val="3D3D3D"/>
              </a:solidFill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952" y="2465254"/>
            <a:ext cx="6300095" cy="274722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19637" y="845920"/>
            <a:ext cx="569183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Applications of Reinforcement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5749" y="1736151"/>
            <a:ext cx="1570996" cy="24169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120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Healthcare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72405" y="6569984"/>
            <a:ext cx="5542795" cy="24571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just">
              <a:lnSpc>
                <a:spcPts val="1000"/>
              </a:lnSpc>
            </a:pPr>
            <a:r>
              <a:rPr lang="en-US" sz="700">
                <a:solidFill>
                  <a:srgbClr val="3D3D3D"/>
                </a:solidFill>
                <a:latin typeface="Arial" panose="020B0604020202020204"/>
              </a:rPr>
              <a:t>Image source: Liu, Siqi, Kay Choong See, Kee Yuan Ngiam, Leo Anthony Celi, Xingzhi Sun, and Mengling Feng. "Reinforcement learning</a:t>
            </a:r>
            <a:br>
              <a:rPr lang="en-US" sz="7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700">
                <a:solidFill>
                  <a:srgbClr val="3D3D3D"/>
                </a:solidFill>
                <a:latin typeface="Arial" panose="020B0604020202020204"/>
              </a:rPr>
              <a:t>for clinical decision support in critical care: comprehensive review." Journal of medical Internet research 22, no. 7 (2020): e18477.</a:t>
            </a:r>
            <a:endParaRPr lang="en-US" sz="7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410868" y="6211474"/>
            <a:ext cx="213494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16</a:t>
            </a:r>
            <a:endParaRPr lang="en-US" sz="1400" b="1"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277" y="2368577"/>
            <a:ext cx="5921445" cy="354078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19637" y="845920"/>
            <a:ext cx="569183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Applications of Reinforcement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5749" y="1736151"/>
            <a:ext cx="1284994" cy="24169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120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Robotics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410868" y="6211474"/>
            <a:ext cx="213494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17</a:t>
            </a:r>
            <a:endParaRPr lang="en-US" sz="1400" b="1"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58206" y="6666660"/>
            <a:ext cx="6138967" cy="14904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000"/>
              </a:lnSpc>
            </a:pPr>
            <a:r>
              <a:rPr lang="en-US" sz="900">
                <a:solidFill>
                  <a:srgbClr val="3D3D3D"/>
                </a:solidFill>
                <a:latin typeface="Arial" panose="020B0604020202020204"/>
              </a:rPr>
              <a:t>Image source: </a:t>
            </a:r>
            <a:r>
              <a:rPr lang="en-US" sz="900">
                <a:solidFill>
                  <a:srgbClr val="3D3D3D"/>
                </a:solidFill>
                <a:latin typeface="Arial" panose="020B0604020202020204"/>
                <a:hlinkClick r:id="rId2"/>
              </a:rPr>
              <a:t>https://blogs.sw.siemens.com/tecnomatix/part-2-how-digital-twins-help-scale-up-industrial-robotics-ai/</a:t>
            </a:r>
            <a:endParaRPr lang="en-US" sz="900">
              <a:solidFill>
                <a:srgbClr val="3D3D3D"/>
              </a:solidFill>
              <a:latin typeface="Arial" panose="020B0604020202020204"/>
              <a:hlinkClick r:id="rId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880158"/>
            <a:ext cx="9144000" cy="223967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19637" y="845920"/>
            <a:ext cx="569183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Applications of Reinforcement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5749" y="1748236"/>
            <a:ext cx="708962" cy="22557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120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NLP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7834" y="2952666"/>
            <a:ext cx="757300" cy="35850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1230"/>
              </a:lnSpc>
              <a:spcAft>
                <a:spcPts val="280"/>
              </a:spcAft>
            </a:pPr>
            <a:r>
              <a:rPr lang="en-US" sz="1100" b="1">
                <a:solidFill>
                  <a:srgbClr val="1D1D1D"/>
                </a:solidFill>
                <a:latin typeface="Arial" panose="020B0604020202020204"/>
              </a:rPr>
              <a:t>Embedded</a:t>
            </a:r>
            <a:endParaRPr lang="en-US" sz="1100" b="1">
              <a:solidFill>
                <a:srgbClr val="1D1D1D"/>
              </a:solidFill>
              <a:latin typeface="Arial" panose="020B0604020202020204"/>
            </a:endParaRPr>
          </a:p>
          <a:p>
            <a:pPr marL="152400" indent="0">
              <a:lnSpc>
                <a:spcPts val="1230"/>
              </a:lnSpc>
            </a:pPr>
            <a:r>
              <a:rPr lang="en-US" sz="1100" b="1">
                <a:solidFill>
                  <a:srgbClr val="1D1D1D"/>
                </a:solidFill>
                <a:latin typeface="Arial" panose="020B0604020202020204"/>
              </a:rPr>
              <a:t>Article</a:t>
            </a:r>
            <a:endParaRPr lang="en-US" sz="1100" b="1">
              <a:solidFill>
                <a:srgbClr val="1D1D1D"/>
              </a:solidFill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76835" y="2952666"/>
            <a:ext cx="1301106" cy="153071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solidFill>
                  <a:srgbClr val="1D1D1D"/>
                </a:solidFill>
                <a:latin typeface="Arial" panose="020B0604020202020204"/>
              </a:rPr>
              <a:t>Bidirectional LSTM</a:t>
            </a:r>
            <a:endParaRPr lang="en-US" sz="1100" b="1">
              <a:solidFill>
                <a:srgbClr val="1D1D1D"/>
              </a:solidFill>
              <a:latin typeface="Arial" panose="020B060402020202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52965" y="2952666"/>
            <a:ext cx="982879" cy="18126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solidFill>
                  <a:srgbClr val="2C2B2C"/>
                </a:solidFill>
                <a:latin typeface="Arial" panose="020B0604020202020204"/>
              </a:rPr>
              <a:t>Align Relation</a:t>
            </a:r>
            <a:endParaRPr lang="en-US" sz="1100" b="1">
              <a:solidFill>
                <a:srgbClr val="2C2B2C"/>
              </a:solidFill>
              <a:latin typeface="Arial" panose="020B060402020202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95467" y="4189321"/>
            <a:ext cx="640483" cy="153071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solidFill>
                  <a:srgbClr val="2C2B2C"/>
                </a:solidFill>
                <a:latin typeface="Arial" panose="020B0604020202020204"/>
              </a:rPr>
              <a:t>Article </a:t>
            </a:r>
            <a:r>
              <a:rPr lang="en-US" sz="1100" b="1" i="1">
                <a:latin typeface="Arial" panose="020B0604020202020204"/>
              </a:rPr>
              <a:t>D</a:t>
            </a:r>
            <a:endParaRPr lang="en-US" sz="1100" b="1" i="1">
              <a:latin typeface="Arial" panose="020B0604020202020204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00299" y="4563943"/>
            <a:ext cx="592145" cy="181269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solidFill>
                  <a:srgbClr val="1D1D1D"/>
                </a:solidFill>
                <a:latin typeface="Arial" panose="020B0604020202020204"/>
              </a:rPr>
              <a:t>Query </a:t>
            </a:r>
            <a:r>
              <a:rPr lang="en-US" sz="1100" b="1" i="1">
                <a:solidFill>
                  <a:srgbClr val="1D1D1D"/>
                </a:solidFill>
                <a:latin typeface="Arial" panose="020B0604020202020204"/>
              </a:rPr>
              <a:t>6</a:t>
            </a:r>
            <a:endParaRPr lang="en-US" sz="1100" b="1" i="1">
              <a:solidFill>
                <a:srgbClr val="1D1D1D"/>
              </a:solidFill>
              <a:latin typeface="Arial" panose="020B06040202020202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499492" y="4628394"/>
            <a:ext cx="692849" cy="177241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solidFill>
                  <a:srgbClr val="1D1D1D"/>
                </a:solidFill>
                <a:latin typeface="Arial" panose="020B0604020202020204"/>
              </a:rPr>
              <a:t>Retrieve </a:t>
            </a:r>
            <a:r>
              <a:rPr lang="en-US" sz="1100" b="1" i="1">
                <a:solidFill>
                  <a:srgbClr val="1D1D1D"/>
                </a:solidFill>
                <a:latin typeface="Arial" panose="020B0604020202020204"/>
              </a:rPr>
              <a:t>j</a:t>
            </a:r>
            <a:endParaRPr lang="en-US" sz="1100" b="1" i="1">
              <a:solidFill>
                <a:srgbClr val="1D1D1D"/>
              </a:solidFill>
              <a:latin typeface="Arial" panose="020B060402020202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97980" y="4636451"/>
            <a:ext cx="584088" cy="35850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127000" indent="0">
              <a:lnSpc>
                <a:spcPts val="1230"/>
              </a:lnSpc>
              <a:spcAft>
                <a:spcPts val="280"/>
              </a:spcAft>
            </a:pPr>
            <a:r>
              <a:rPr lang="en-US" sz="1100" b="1">
                <a:solidFill>
                  <a:srgbClr val="1D1D1D"/>
                </a:solidFill>
                <a:latin typeface="Arial" panose="020B0604020202020204"/>
              </a:rPr>
              <a:t>Align</a:t>
            </a:r>
            <a:endParaRPr lang="en-US" sz="1100" b="1">
              <a:solidFill>
                <a:srgbClr val="1D1D1D"/>
              </a:solidFill>
              <a:latin typeface="Arial" panose="020B0604020202020204"/>
            </a:endParaRPr>
          </a:p>
          <a:p>
            <a:pPr indent="0">
              <a:lnSpc>
                <a:spcPts val="1230"/>
              </a:lnSpc>
            </a:pPr>
            <a:r>
              <a:rPr lang="en-US" sz="1100" b="1">
                <a:solidFill>
                  <a:srgbClr val="1D1D1D"/>
                </a:solidFill>
                <a:latin typeface="Arial" panose="020B0604020202020204"/>
              </a:rPr>
              <a:t>Relation</a:t>
            </a:r>
            <a:endParaRPr lang="en-US" sz="1100" b="1">
              <a:solidFill>
                <a:srgbClr val="1D1D1D"/>
              </a:solidFill>
              <a:latin typeface="Arial" panose="020B0604020202020204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182269" y="4636451"/>
            <a:ext cx="676737" cy="3464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139700" indent="0">
              <a:lnSpc>
                <a:spcPts val="1230"/>
              </a:lnSpc>
              <a:spcAft>
                <a:spcPts val="280"/>
              </a:spcAft>
            </a:pPr>
            <a:r>
              <a:rPr lang="en-US" sz="1100" b="1">
                <a:solidFill>
                  <a:srgbClr val="1D1D1D"/>
                </a:solidFill>
                <a:latin typeface="Arial" panose="020B0604020202020204"/>
              </a:rPr>
              <a:t>2-Hop</a:t>
            </a:r>
            <a:endParaRPr lang="en-US" sz="1100" b="1">
              <a:solidFill>
                <a:srgbClr val="1D1D1D"/>
              </a:solidFill>
              <a:latin typeface="Arial" panose="020B0604020202020204"/>
            </a:endParaRPr>
          </a:p>
          <a:p>
            <a:pPr indent="0">
              <a:lnSpc>
                <a:spcPts val="1230"/>
              </a:lnSpc>
            </a:pPr>
            <a:r>
              <a:rPr lang="en-US" sz="1100" b="1">
                <a:solidFill>
                  <a:srgbClr val="1D1D1D"/>
                </a:solidFill>
                <a:latin typeface="Arial" panose="020B0604020202020204"/>
              </a:rPr>
              <a:t>Attention</a:t>
            </a:r>
            <a:endParaRPr lang="en-US" sz="1100" b="1">
              <a:solidFill>
                <a:srgbClr val="1D1D1D"/>
              </a:solidFill>
              <a:latin typeface="Arial" panose="020B060402020202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786502" y="4769381"/>
            <a:ext cx="507552" cy="16918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marL="114300" indent="0">
              <a:lnSpc>
                <a:spcPts val="1230"/>
              </a:lnSpc>
            </a:pPr>
            <a:r>
              <a:rPr lang="en-US" sz="1100" b="1">
                <a:solidFill>
                  <a:srgbClr val="1D1D1D"/>
                </a:solidFill>
                <a:latin typeface="Arial" panose="020B0604020202020204"/>
              </a:rPr>
              <a:t>Corpus</a:t>
            </a:r>
            <a:endParaRPr lang="en-US" sz="1100" b="1">
              <a:solidFill>
                <a:srgbClr val="1D1D1D"/>
              </a:solidFill>
              <a:latin typeface="Arial" panose="020B06040202020202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977843" y="6569984"/>
            <a:ext cx="4978847" cy="24571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just">
              <a:lnSpc>
                <a:spcPts val="1000"/>
              </a:lnSpc>
            </a:pPr>
            <a:r>
              <a:rPr lang="en-US" sz="700">
                <a:solidFill>
                  <a:srgbClr val="3D3D3D"/>
                </a:solidFill>
                <a:latin typeface="Arial" panose="020B0604020202020204"/>
              </a:rPr>
              <a:t>Image source: Song, Yun-Zhu, Hong-Han Shuai, Sung-Lin Yeh, Yi-Lun Wu, Lun-Wei Ku, and Wen-Chih Peng. "Attractive or</a:t>
            </a:r>
            <a:br>
              <a:rPr lang="en-US" sz="7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700">
                <a:solidFill>
                  <a:srgbClr val="3D3D3D"/>
                </a:solidFill>
                <a:latin typeface="Arial" panose="020B0604020202020204"/>
              </a:rPr>
              <a:t>Faithful? Popularity-Reinforced Learning for Inspired Headline Generation." arXiv preprint arXiv:2002.02095 (2020).</a:t>
            </a:r>
            <a:endParaRPr lang="en-US" sz="7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410868" y="6211474"/>
            <a:ext cx="213494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18</a:t>
            </a:r>
            <a:endParaRPr lang="en-US" sz="1400" b="1"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012" y="2167168"/>
            <a:ext cx="5115806" cy="381067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19637" y="845920"/>
            <a:ext cx="569183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Applications of Reinforcement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5749" y="1736151"/>
            <a:ext cx="3730108" cy="24169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120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Network architecture search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410868" y="6211474"/>
            <a:ext cx="213494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19</a:t>
            </a:r>
            <a:endParaRPr lang="en-US" sz="1400" b="1"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53977" y="6674717"/>
            <a:ext cx="7363538" cy="14904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000"/>
              </a:lnSpc>
            </a:pPr>
            <a:r>
              <a:rPr lang="en-US" sz="900">
                <a:solidFill>
                  <a:srgbClr val="3D3D3D"/>
                </a:solidFill>
                <a:latin typeface="Arial" panose="020B0604020202020204"/>
              </a:rPr>
              <a:t>Image source: Zoph, Barret, and Quoc V. Le. "Neural architecture search with reinforcement learning." arXiv preprint arXiv:1611.01578 (2016).</a:t>
            </a:r>
            <a:endParaRPr lang="en-US" sz="900">
              <a:solidFill>
                <a:srgbClr val="3D3D3D"/>
              </a:solidFill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86100"/>
            <a:ext cx="9144000" cy="260624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19637" y="845920"/>
            <a:ext cx="569183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Applications of Reinforcement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5749" y="1748236"/>
            <a:ext cx="567976" cy="22960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120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CV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90128" y="2731115"/>
            <a:ext cx="2195366" cy="18529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r">
              <a:lnSpc>
                <a:spcPts val="1230"/>
              </a:lnSpc>
              <a:spcAft>
                <a:spcPts val="1890"/>
              </a:spcAft>
            </a:pPr>
            <a:r>
              <a:rPr lang="en-US" sz="1100" b="1" i="1">
                <a:latin typeface="Arial" panose="020B0604020202020204"/>
              </a:rPr>
              <a:t>next viewpoint selection</a:t>
            </a:r>
            <a:r>
              <a:rPr lang="en-US" sz="1100" b="1">
                <a:latin typeface="Arial" panose="020B0604020202020204"/>
              </a:rPr>
              <a:t> (0</a:t>
            </a:r>
            <a:r>
              <a:rPr lang="en-US" sz="1100" b="1" baseline="-25000">
                <a:latin typeface="Arial" panose="020B0604020202020204"/>
              </a:rPr>
              <a:t>a</a:t>
            </a:r>
            <a:r>
              <a:rPr lang="en-US" sz="1100" b="1">
                <a:latin typeface="Arial" panose="020B0604020202020204"/>
              </a:rPr>
              <a:t>, </a:t>
            </a:r>
            <a:r>
              <a:rPr lang="en-US" sz="1100" b="1" i="1">
                <a:latin typeface="Arial" panose="020B0604020202020204"/>
              </a:rPr>
              <a:t>6</a:t>
            </a:r>
            <a:r>
              <a:rPr lang="en-US" sz="1100" b="1" i="1" baseline="-25000">
                <a:latin typeface="Arial" panose="020B0604020202020204"/>
              </a:rPr>
              <a:t>e</a:t>
            </a:r>
            <a:r>
              <a:rPr lang="en-US" sz="1100" b="1" i="1">
                <a:latin typeface="Arial" panose="020B0604020202020204"/>
              </a:rPr>
              <a:t>)</a:t>
            </a:r>
            <a:endParaRPr lang="en-US" sz="1100" b="1" i="1"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283985" y="3206442"/>
            <a:ext cx="1430009" cy="17321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  <a:spcBef>
                <a:spcPts val="1890"/>
              </a:spcBef>
            </a:pPr>
            <a:r>
              <a:rPr lang="en-US" sz="1400">
                <a:latin typeface="Arial" panose="020B0604020202020204"/>
              </a:rPr>
              <a:t>3d Pose Network</a:t>
            </a:r>
            <a:endParaRPr lang="en-US" sz="1400">
              <a:latin typeface="Arial" panose="020B060402020202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69078" y="3649543"/>
            <a:ext cx="737159" cy="169184"/>
          </a:xfrm>
          <a:prstGeom prst="rect">
            <a:avLst/>
          </a:prstGeom>
          <a:solidFill>
            <a:srgbClr val="F2F2F2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  <a:spcAft>
                <a:spcPts val="4480"/>
              </a:spcAft>
            </a:pPr>
            <a:r>
              <a:rPr lang="en-US" sz="1400">
                <a:latin typeface="Arial" panose="020B0604020202020204"/>
              </a:rPr>
              <a:t>Network</a:t>
            </a:r>
            <a:endParaRPr lang="en-US" sz="1400">
              <a:latin typeface="Arial" panose="020B060402020202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937557" y="4672704"/>
            <a:ext cx="551863" cy="165156"/>
          </a:xfrm>
          <a:prstGeom prst="rect">
            <a:avLst/>
          </a:prstGeom>
          <a:solidFill>
            <a:srgbClr val="F2F2F2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  <a:spcBef>
                <a:spcPts val="4480"/>
              </a:spcBef>
              <a:spcAft>
                <a:spcPts val="3290"/>
              </a:spcAft>
            </a:pPr>
            <a:r>
              <a:rPr lang="en-US" sz="1400">
                <a:latin typeface="Arial" panose="020B0604020202020204"/>
              </a:rPr>
              <a:t>Fusion</a:t>
            </a:r>
            <a:endParaRPr lang="en-US" sz="1400">
              <a:latin typeface="Arial" panose="020B0604020202020204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141991" y="5462230"/>
            <a:ext cx="2831820" cy="21752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ctr">
              <a:lnSpc>
                <a:spcPts val="1560"/>
              </a:lnSpc>
              <a:spcBef>
                <a:spcPts val="3290"/>
              </a:spcBef>
            </a:pPr>
            <a:r>
              <a:rPr lang="en-US" sz="1400">
                <a:solidFill>
                  <a:srgbClr val="3D3D3D"/>
                </a:solidFill>
                <a:latin typeface="Arial" panose="020B0604020202020204"/>
              </a:rPr>
              <a:t>Active human pose estimation</a:t>
            </a:r>
            <a:endParaRPr lang="en-US" sz="14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06840" y="6211474"/>
            <a:ext cx="221551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20</a:t>
            </a:r>
            <a:endParaRPr lang="en-US" sz="1400" b="1">
              <a:latin typeface="Arial" panose="020B060402020202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39274" y="6690829"/>
            <a:ext cx="7069480" cy="11681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780"/>
              </a:lnSpc>
            </a:pPr>
            <a:r>
              <a:rPr lang="en-US" sz="700">
                <a:solidFill>
                  <a:srgbClr val="3D3D3D"/>
                </a:solidFill>
                <a:latin typeface="Arial" panose="020B0604020202020204"/>
              </a:rPr>
              <a:t>Image source: Gartner, Erik, Aleksis Pirinen, and Cristian Sminchisescu. "Deep Reinforcement Learning for Active Human Pose Estimation." In AAAI, pp. 10835-10844. 2020.</a:t>
            </a:r>
            <a:endParaRPr lang="en-US" sz="700">
              <a:solidFill>
                <a:srgbClr val="3D3D3D"/>
              </a:solidFill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11984"/>
          <a:stretch>
            <a:fillRect/>
          </a:stretch>
        </p:blipFill>
        <p:spPr>
          <a:xfrm>
            <a:off x="2134870" y="2179320"/>
            <a:ext cx="5361940" cy="424688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19637" y="845920"/>
            <a:ext cx="569183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Applications of Reinforcement Learning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5749" y="1748236"/>
            <a:ext cx="2783482" cy="28197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120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Energy management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74519" y="6565955"/>
            <a:ext cx="4938566" cy="245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just">
              <a:lnSpc>
                <a:spcPts val="1000"/>
              </a:lnSpc>
            </a:pPr>
            <a:r>
              <a:rPr lang="en-US" sz="700">
                <a:solidFill>
                  <a:srgbClr val="3D3D3D"/>
                </a:solidFill>
                <a:latin typeface="Arial" panose="020B0604020202020204"/>
              </a:rPr>
              <a:t>Image source: Ye, Yujian, Dawei Qiu, Jonathan Ward, and Marcin Abram. "Model-Free Real-Time Autonomous Energy</a:t>
            </a:r>
            <a:br>
              <a:rPr lang="en-US" sz="7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700">
                <a:solidFill>
                  <a:srgbClr val="3D3D3D"/>
                </a:solidFill>
                <a:latin typeface="Arial" panose="020B0604020202020204"/>
              </a:rPr>
              <a:t>Management for a Residential Multi-Carrier Energy System: A Deep Reinforcement Learning Approach." IJCAI, 2020.</a:t>
            </a:r>
            <a:endParaRPr lang="en-US" sz="7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06840" y="6211474"/>
            <a:ext cx="217522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21</a:t>
            </a:r>
            <a:endParaRPr lang="en-US" sz="1400" b="1"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35749" y="2574015"/>
            <a:ext cx="3287006" cy="225981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3995"/>
              </a:lnSpc>
              <a:spcBef>
                <a:spcPts val="7420"/>
              </a:spcBef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Markov Decision Process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indent="0">
              <a:lnSpc>
                <a:spcPts val="3995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Q-Learning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indent="0">
              <a:lnSpc>
                <a:spcPts val="3995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Deep Q Network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indent="0">
              <a:lnSpc>
                <a:spcPts val="2120"/>
              </a:lnSpc>
              <a:spcAft>
                <a:spcPts val="1330"/>
              </a:spcAft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Policy Gradient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indent="0">
              <a:lnSpc>
                <a:spcPts val="2120"/>
              </a:lnSpc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Actor-Critic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06840" y="6211474"/>
            <a:ext cx="217522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22</a:t>
            </a:r>
            <a:endParaRPr lang="en-US" sz="1400" b="1"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43806" y="845920"/>
            <a:ext cx="493453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Reinforcement Learning vs Human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11580" y="1760320"/>
            <a:ext cx="8072501" cy="393151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just">
              <a:lnSpc>
                <a:spcPts val="2900"/>
              </a:lnSpc>
              <a:spcAft>
                <a:spcPts val="770"/>
              </a:spcAft>
            </a:pP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There are several differences or similarities between humans and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reinforcement learning to play games: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marL="266700" marR="342900" indent="-266700" algn="just">
              <a:lnSpc>
                <a:spcPts val="2840"/>
              </a:lnSpc>
              <a:spcAft>
                <a:spcPts val="420"/>
              </a:spcAft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RL does not accept any rule input, and guesses the game rule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through trial and error completely. From this perspective, RL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will be much better than humans.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marL="495300" indent="-228600">
              <a:lnSpc>
                <a:spcPts val="2010"/>
              </a:lnSpc>
              <a:spcAft>
                <a:spcPts val="1330"/>
              </a:spcAft>
            </a:pPr>
            <a:r>
              <a:rPr lang="en-US" sz="18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800">
                <a:solidFill>
                  <a:srgbClr val="3D3D3D"/>
                </a:solidFill>
                <a:latin typeface="Arial" panose="020B0604020202020204"/>
              </a:rPr>
              <a:t>E.g. RL will not be influenced by shuffled pixels.</a:t>
            </a:r>
            <a:endParaRPr lang="en-US" sz="1800">
              <a:solidFill>
                <a:srgbClr val="3D3D3D"/>
              </a:solidFill>
              <a:latin typeface="Arial" panose="020B0604020202020204"/>
            </a:endParaRPr>
          </a:p>
          <a:p>
            <a:pPr marL="266700" indent="-266700">
              <a:lnSpc>
                <a:spcPts val="2900"/>
              </a:lnSpc>
              <a:spcAft>
                <a:spcPts val="420"/>
              </a:spcAft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Humans have a lot of prior knowledge. However, RL doesn't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know anything, it's all by trial and error.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marL="495300" indent="-228600">
              <a:lnSpc>
                <a:spcPts val="2395"/>
              </a:lnSpc>
            </a:pPr>
            <a:r>
              <a:rPr lang="en-US" sz="18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800">
                <a:solidFill>
                  <a:srgbClr val="3D3D3D"/>
                </a:solidFill>
                <a:latin typeface="Arial" panose="020B0604020202020204"/>
              </a:rPr>
              <a:t>E.g. the ball will bounce, the popping angle is the same as the popping</a:t>
            </a:r>
            <a:br>
              <a:rPr lang="en-US" sz="18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800">
                <a:solidFill>
                  <a:srgbClr val="3D3D3D"/>
                </a:solidFill>
                <a:latin typeface="Arial" panose="020B0604020202020204"/>
              </a:rPr>
              <a:t>angle, the actions correspond to the movement of the racket, and so on.</a:t>
            </a:r>
            <a:endParaRPr lang="en-US" sz="18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02812" y="6211474"/>
            <a:ext cx="217522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75</a:t>
            </a:r>
            <a:endParaRPr lang="en-US" sz="1400" b="1"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43806" y="845920"/>
            <a:ext cx="4934537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570"/>
              </a:lnSpc>
            </a:pPr>
            <a:r>
              <a:rPr lang="en-US" sz="2300">
                <a:solidFill>
                  <a:srgbClr val="FFFFFF"/>
                </a:solidFill>
                <a:latin typeface="Arial" panose="020B0604020202020204"/>
              </a:rPr>
              <a:t>Reinforcement Learning vs Human</a:t>
            </a:r>
            <a:endParaRPr lang="en-US" sz="23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11580" y="1941589"/>
            <a:ext cx="8072501" cy="357703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just">
              <a:lnSpc>
                <a:spcPts val="2900"/>
              </a:lnSpc>
              <a:spcAft>
                <a:spcPts val="910"/>
              </a:spcAft>
            </a:pP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There are several differences or similarities between humans and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reinforcement learning to play games: 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marL="266700" indent="-266700">
              <a:lnSpc>
                <a:spcPts val="2900"/>
              </a:lnSpc>
              <a:spcAft>
                <a:spcPts val="350"/>
              </a:spcAft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Trial and error is a necessary condition for RL learning, but not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a necessary condition for human learning.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marL="495300" indent="-228600">
              <a:lnSpc>
                <a:spcPts val="2410"/>
              </a:lnSpc>
              <a:spcAft>
                <a:spcPts val="910"/>
              </a:spcAft>
            </a:pPr>
            <a:r>
              <a:rPr lang="en-US" sz="18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800">
                <a:solidFill>
                  <a:srgbClr val="3D3D3D"/>
                </a:solidFill>
                <a:latin typeface="Arial" panose="020B0604020202020204"/>
              </a:rPr>
              <a:t>E.g., humans don't need to experience car crashes hundreds of times in</a:t>
            </a:r>
            <a:br>
              <a:rPr lang="en-US" sz="18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800">
                <a:solidFill>
                  <a:srgbClr val="3D3D3D"/>
                </a:solidFill>
                <a:latin typeface="Arial" panose="020B0604020202020204"/>
              </a:rPr>
              <a:t>order to learn how to avoid car crashes.</a:t>
            </a:r>
            <a:endParaRPr lang="en-US" sz="1800">
              <a:solidFill>
                <a:srgbClr val="3D3D3D"/>
              </a:solidFill>
              <a:latin typeface="Arial" panose="020B0604020202020204"/>
            </a:endParaRPr>
          </a:p>
          <a:p>
            <a:pPr marL="266700" indent="-266700">
              <a:lnSpc>
                <a:spcPts val="2900"/>
              </a:lnSpc>
              <a:spcAft>
                <a:spcPts val="350"/>
              </a:spcAft>
            </a:pPr>
            <a:r>
              <a:rPr lang="en-US" sz="19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Prior knowledge determines that humans can quickly abstract</a:t>
            </a:r>
            <a:br>
              <a:rPr lang="en-US" sz="19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900">
                <a:solidFill>
                  <a:srgbClr val="3D3D3D"/>
                </a:solidFill>
                <a:latin typeface="Arial" panose="020B0604020202020204"/>
              </a:rPr>
              <a:t>the rules of the game (strategic network).</a:t>
            </a:r>
            <a:endParaRPr lang="en-US" sz="1900">
              <a:solidFill>
                <a:srgbClr val="3D3D3D"/>
              </a:solidFill>
              <a:latin typeface="Arial" panose="020B0604020202020204"/>
            </a:endParaRPr>
          </a:p>
          <a:p>
            <a:pPr marL="495300" indent="-228600">
              <a:lnSpc>
                <a:spcPts val="2010"/>
              </a:lnSpc>
            </a:pPr>
            <a:r>
              <a:rPr lang="en-US" sz="18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800">
                <a:solidFill>
                  <a:srgbClr val="3D3D3D"/>
                </a:solidFill>
                <a:latin typeface="Arial" panose="020B0604020202020204"/>
              </a:rPr>
              <a:t>E.g., describe the rules of the game in one sentence.</a:t>
            </a:r>
            <a:endParaRPr lang="en-US" sz="18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02812" y="6211474"/>
            <a:ext cx="221550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latin typeface="Arial" panose="020B0604020202020204"/>
              </a:rPr>
              <a:t>76</a:t>
            </a:r>
            <a:endParaRPr lang="en-US" sz="1400" b="1"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p="http://schemas.openxmlformats.org/presentationml/2006/main">
  <p:tag name="COMMONDATA" val="eyJoZGlkIjoiZmM5NmVlOGFhMTY5OGVkNDcyYTcwNDQwYTY1MzY5NzcifQ=="/>
  <p:tag name="KSO_WPP_MARK_KEY" val="7f009a8f-74d8-4dd0-8a9e-8105df545bc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7924</Words>
  <Application>WPS 演示</Application>
  <PresentationFormat>全屏显示(4:3)</PresentationFormat>
  <Paragraphs>377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宋体</vt:lpstr>
      <vt:lpstr>Wingdings</vt:lpstr>
      <vt:lpstr>Arial</vt:lpstr>
      <vt:lpstr>Times New Roman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姚俊峰</cp:lastModifiedBy>
  <cp:revision>9</cp:revision>
  <dcterms:created xsi:type="dcterms:W3CDTF">2022-05-24T10:56:00Z</dcterms:created>
  <dcterms:modified xsi:type="dcterms:W3CDTF">2026-05-17T05:40:02Z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34C67435905F49919570147D6148D02C</vt:lpwstr>
  </property>
  <property fmtid="{D5CDD505-2E9C-101B-9397-08002B2CF9AE}" pid="3" name="KSOProductBuildVer">
    <vt:lpwstr>2052-12.1.0.25865</vt:lpwstr>
  </property>
</Properties>
</file>