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9144000" cy="6858000" type="screen4x3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machinelearning.apple.com/research/hey-siri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edium.com/@fenjiro/face-id-deep-learning-for-face-recognition-324b50d916d1" TargetMode="Externa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towardsdatascience.com/an-intro-to-deep-learning-for-face-recognition-aa8dfbbc51fb" TargetMode="Externa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npr.org/sections/thetwo-way/2017/05/25/530016562/google-a-i-clinches-series-against-humanitys-last-best-hope-to-win-at-go" TargetMode="External"/><Relationship Id="rId2" Type="http://schemas.openxmlformats.org/officeDocument/2006/relationships/hyperlink" Target="https://medium.com/point-nine-news/what-does-alphago-vs-8dadec65aaf" TargetMode="Externa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blog.csdn.net/qq_39521554/article/details/104402528" TargetMode="Externa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lectrek.co/2016/05/30/google-deep-learning-andrew-ng-tesla-autopilot-irresponsible/" TargetMode="Externa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mckinsey.com/industries/retail/our-insights/how-retailers-can-keep-up-with-consumers" TargetMode="Externa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andaily.com/bytedance-rumored-to-hit-20-billion-revenue-goal-for-2019/" TargetMode="Externa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oogle.github.io/seq2seq/" TargetMode="Externa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://www.whatafuture.com/microsoft-using-sentiment-analysis-software-to-predict-product-reviews/" TargetMode="Externa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bilibili.com/video/BV1MV411z7Vh?from=search&amp;seid=322100575569320645" TargetMode="Externa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trends.google.com/trends/explore?date=2015-01-01%202020-08-25&amp;q=deep%20learning" TargetMode="Externa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://index.baidu.com/v2/main/index.html" TargetMode="Externa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static.turbosquid.com/Preview/2020/10/30__23_25_13/NvidiaGeForceRTX3090FoundersEditionvray3dmodel001.jpgEEE08013-CE96-4B46-AC3B-C62F2234B776Large.jpg" TargetMode="External"/><Relationship Id="rId1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semiengineering.com/new-vision-technologies-for-real-world-applications/" TargetMode="External"/><Relationship Id="rId1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3032" y="2459736"/>
            <a:ext cx="3273552" cy="36880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3350"/>
              </a:lnSpc>
              <a:spcAft>
                <a:spcPts val="1260"/>
              </a:spcAft>
            </a:pPr>
            <a:r>
              <a:rPr lang="en-US" sz="3000">
                <a:solidFill>
                  <a:srgbClr val="183062"/>
                </a:solidFill>
                <a:latin typeface="Arial" panose="020B0604020202020204"/>
                <a:sym typeface="+mn-ea"/>
              </a:rPr>
              <a:t>Introduction   to  </a:t>
            </a:r>
            <a:r>
              <a:rPr lang="en-US" sz="3000">
                <a:solidFill>
                  <a:srgbClr val="183062"/>
                </a:solidFill>
                <a:latin typeface="Arial" panose="020B0604020202020204"/>
              </a:rPr>
              <a:t>DEEP LEARNING</a:t>
            </a:r>
            <a:endParaRPr lang="en-US" sz="3000">
              <a:solidFill>
                <a:srgbClr val="183062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3577036"/>
            <a:ext cx="7041283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Are we using deep learning techniques in our daily life?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07545" y="6211474"/>
            <a:ext cx="11278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514" y="2525677"/>
            <a:ext cx="4088617" cy="281167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416" y="2485395"/>
            <a:ext cx="1615306" cy="286001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1580" y="1848940"/>
            <a:ext cx="2662636" cy="29405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Speech recognition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99488" y="6211474"/>
            <a:ext cx="128903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4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82977" y="6710970"/>
            <a:ext cx="2719031" cy="1289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3"/>
              </a:rPr>
              <a:t>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3"/>
              </a:rPr>
              <a:t>https://machinelearning.apple.com/research/hey-siri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3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134" y="2167168"/>
            <a:ext cx="6533731" cy="36777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707954"/>
            <a:ext cx="2308155" cy="23363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Face verification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07545" y="6211474"/>
            <a:ext cx="11278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5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41085" y="6702914"/>
            <a:ext cx="4205434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2"/>
              </a:rPr>
              <a:t>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https://medium.eom/@feniiro/face-id-deep-learning-for-face-recognition-324b50d9l6d 1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11853"/>
          <a:stretch>
            <a:fillRect/>
          </a:stretch>
        </p:blipFill>
        <p:spPr>
          <a:xfrm>
            <a:off x="1066800" y="2143760"/>
            <a:ext cx="7347585" cy="38061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1580" y="1752264"/>
            <a:ext cx="2553875" cy="24169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Face identification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48437" y="6702914"/>
            <a:ext cx="4406844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2"/>
              </a:rPr>
              <a:t>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https://towardsdatascience.com/an-intro-to-deep-learning-for-face-recognition-aa8dfbbc5lfb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2685288"/>
            <a:ext cx="7714488" cy="20939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1208" y="847344"/>
            <a:ext cx="2987040" cy="33832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  <a:spcAft>
                <a:spcPts val="2800"/>
              </a:spcAft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40552" y="451104"/>
            <a:ext cx="109728" cy="18288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1900" b="1">
                <a:solidFill>
                  <a:srgbClr val="FFFFFF"/>
                </a:solidFill>
                <a:latin typeface="Times New Roman" panose="02020603050405020304"/>
              </a:rPr>
              <a:t>i</a:t>
            </a:r>
            <a:endParaRPr lang="en-US" sz="19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9016" y="1731264"/>
            <a:ext cx="1679448" cy="2987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  <a:spcBef>
                <a:spcPts val="2800"/>
              </a:spcBef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Playgames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0224" y="4922520"/>
            <a:ext cx="6827520" cy="23164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>
              <a:lnSpc>
                <a:spcPts val="1670"/>
              </a:lnSpc>
              <a:spcAft>
                <a:spcPts val="5040"/>
              </a:spcAft>
            </a:pPr>
            <a:r>
              <a:rPr lang="en-US" sz="1500">
                <a:latin typeface="Arial" panose="020B0604020202020204"/>
              </a:rPr>
              <a:t>AlphaGo vs. Lee Sedol 4-1, 2016    AlphaGo vs. Ke Jie 3-0, 2017</a:t>
            </a:r>
            <a:endParaRPr lang="en-US" sz="1500"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80616" y="6553200"/>
            <a:ext cx="5337048" cy="24993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2"/>
              </a:rPr>
              <a:t>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https://medium.com/point-nine-news/what-does-alphago-vs-8dadec65aaf</a:t>
            </a:r>
            <a:endParaRPr lang="en-US" sz="600" b="1" u="sng">
              <a:solidFill>
                <a:srgbClr val="828282"/>
              </a:solidFill>
              <a:latin typeface="Arial" panose="020B0604020202020204"/>
            </a:endParaRPr>
          </a:p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828282"/>
                </a:solidFill>
                <a:latin typeface="Arial" panose="020B0604020202020204"/>
                <a:hlinkClick r:id="rId3"/>
              </a:rPr>
              <a:t>https://www.npr.org/sections/thetwo-way/20l7/05/25/5300l6562/google-a-i-clinches-series-against-humanitys-last-best-hope-to-win-at-go</a:t>
            </a:r>
            <a:endParaRPr lang="en-US" sz="600" b="1">
              <a:solidFill>
                <a:srgbClr val="828282"/>
              </a:solidFill>
              <a:latin typeface="Arial" panose="020B0604020202020204"/>
              <a:hlinkClick r:id="rId3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03920" y="6211824"/>
            <a:ext cx="121920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7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834" y="2835848"/>
            <a:ext cx="3879151" cy="18207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522" y="2839876"/>
            <a:ext cx="3738164" cy="180865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1580" y="1707954"/>
            <a:ext cx="1675729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Playgames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2879" y="4849945"/>
            <a:ext cx="7182269" cy="52769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670"/>
              </a:lnSpc>
              <a:spcAft>
                <a:spcPts val="350"/>
              </a:spcAft>
            </a:pP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In 2019, AI player Juewu    developed by Tencent defeated pro players in</a:t>
            </a:r>
            <a:endParaRPr lang="en-US" sz="1500">
              <a:solidFill>
                <a:srgbClr val="3D3D3D"/>
              </a:solidFill>
              <a:latin typeface="Arial" panose="020B0604020202020204"/>
            </a:endParaRPr>
          </a:p>
          <a:p>
            <a:pPr marL="2081530" indent="0">
              <a:lnSpc>
                <a:spcPts val="1670"/>
              </a:lnSpc>
            </a:pP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game Honor of Kings (i^^0)</a:t>
            </a:r>
            <a:endParaRPr lang="en-US" sz="15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03517" y="6211474"/>
            <a:ext cx="120845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8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01709" y="6698886"/>
            <a:ext cx="2916412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3"/>
              </a:rPr>
              <a:t>https://blog.csdn.net/qq 39521554/article/details/104402528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3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86" y="2259816"/>
            <a:ext cx="6723055" cy="33675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587108"/>
            <a:ext cx="1466263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Autopilot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03517" y="6211474"/>
            <a:ext cx="120845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9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3311" y="6698886"/>
            <a:ext cx="4165152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https://electrek.co/20l6/05/30/google-deep-learning-andrew-ng-tesla-autopilot-irresponsible/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5" y="2424972"/>
            <a:ext cx="1993956" cy="13293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97" y="3991940"/>
            <a:ext cx="7573005" cy="198187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1580" y="1591136"/>
            <a:ext cx="3037258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Recommender system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60722" y="2231619"/>
            <a:ext cx="1816715" cy="14501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060"/>
              </a:lnSpc>
            </a:pPr>
            <a:r>
              <a:rPr lang="en-US" sz="950">
                <a:solidFill>
                  <a:srgbClr val="504E50"/>
                </a:solidFill>
                <a:latin typeface="Arial" panose="020B0604020202020204"/>
              </a:rPr>
              <a:t>People who liked this also liked...</a:t>
            </a:r>
            <a:endParaRPr lang="en-US" sz="950">
              <a:solidFill>
                <a:srgbClr val="504E50"/>
              </a:solidFill>
              <a:latin typeface="Arial" panose="020B060402020202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27185" y="2219534"/>
            <a:ext cx="1156092" cy="83786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r">
              <a:lnSpc>
                <a:spcPts val="560"/>
              </a:lnSpc>
              <a:spcAft>
                <a:spcPts val="700"/>
              </a:spcAft>
            </a:pPr>
            <a:r>
              <a:rPr lang="en-US" sz="500">
                <a:solidFill>
                  <a:srgbClr val="828282"/>
                </a:solidFill>
                <a:latin typeface="Arial" panose="020B0604020202020204"/>
              </a:rPr>
              <a:t>Learn more</a:t>
            </a:r>
            <a:endParaRPr lang="en-US" sz="500">
              <a:solidFill>
                <a:srgbClr val="828282"/>
              </a:solidFill>
              <a:latin typeface="Arial" panose="020B0604020202020204"/>
            </a:endParaRPr>
          </a:p>
          <a:p>
            <a:pPr indent="0">
              <a:lnSpc>
                <a:spcPts val="560"/>
              </a:lnSpc>
              <a:spcAft>
                <a:spcPts val="210"/>
              </a:spcAft>
            </a:pPr>
            <a:r>
              <a:rPr lang="en-US" sz="500" b="1">
                <a:solidFill>
                  <a:srgbClr val="50708D"/>
                </a:solidFill>
                <a:latin typeface="Arial" panose="020B0604020202020204"/>
              </a:rPr>
              <a:t>Yedi </a:t>
            </a:r>
            <a:r>
              <a:rPr lang="en-US" sz="500" b="1">
                <a:solidFill>
                  <a:srgbClr val="B0B3B5"/>
                </a:solidFill>
                <a:latin typeface="Arial" panose="020B0604020202020204"/>
              </a:rPr>
              <a:t>(1995)</a:t>
            </a:r>
            <a:endParaRPr lang="en-US" sz="500" b="1">
              <a:solidFill>
                <a:srgbClr val="B0B3B5"/>
              </a:solidFill>
              <a:latin typeface="Arial" panose="020B0604020202020204"/>
            </a:endParaRPr>
          </a:p>
          <a:p>
            <a:pPr indent="0">
              <a:lnSpc>
                <a:spcPts val="450"/>
              </a:lnSpc>
              <a:spcAft>
                <a:spcPts val="210"/>
              </a:spcAft>
            </a:pPr>
            <a:r>
              <a:rPr lang="en-US" sz="400" b="1">
                <a:solidFill>
                  <a:srgbClr val="B0B3B5"/>
                </a:solidFill>
                <a:latin typeface="Arial" panose="020B0604020202020204"/>
              </a:rPr>
              <a:t>Certificate: 13+ Crime I Drama I Mystery</a:t>
            </a:r>
            <a:endParaRPr lang="en-US" sz="400" b="1">
              <a:solidFill>
                <a:srgbClr val="B0B3B5"/>
              </a:solidFill>
              <a:latin typeface="Arial" panose="020B0604020202020204"/>
            </a:endParaRPr>
          </a:p>
          <a:p>
            <a:pPr indent="0">
              <a:lnSpc>
                <a:spcPts val="1450"/>
              </a:lnSpc>
            </a:pPr>
            <a:r>
              <a:rPr lang="en-US" sz="1300" spc="50">
                <a:solidFill>
                  <a:srgbClr val="C8B359"/>
                </a:solidFill>
                <a:latin typeface="Arial" panose="020B0604020202020204"/>
              </a:rPr>
              <a:t>********** </a:t>
            </a:r>
            <a:r>
              <a:rPr lang="en-US" sz="450">
                <a:solidFill>
                  <a:srgbClr val="828282"/>
                </a:solidFill>
                <a:latin typeface="Arial" panose="020B0604020202020204"/>
              </a:rPr>
              <a:t>8,6</a:t>
            </a:r>
            <a:endParaRPr lang="en-US" sz="450">
              <a:solidFill>
                <a:srgbClr val="828282"/>
              </a:solidFill>
              <a:latin typeface="Arial" panose="020B0604020202020204"/>
            </a:endParaRPr>
          </a:p>
          <a:p>
            <a:pPr indent="0">
              <a:lnSpc>
                <a:spcPts val="605"/>
              </a:lnSpc>
            </a:pP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Two detectives, a rookie and a</a:t>
            </a:r>
            <a:br>
              <a:rPr lang="en-US" sz="500">
                <a:solidFill>
                  <a:srgbClr val="666566"/>
                </a:solidFill>
                <a:latin typeface="Arial" panose="020B0604020202020204"/>
              </a:rPr>
            </a:b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veteran, hunt a serial killer </a:t>
            </a:r>
            <a:r>
              <a:rPr lang="en-US" sz="500">
                <a:solidFill>
                  <a:srgbClr val="828282"/>
                </a:solidFill>
                <a:latin typeface="Arial" panose="020B0604020202020204"/>
              </a:rPr>
              <a:t>who </a:t>
            </a: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uses</a:t>
            </a:r>
            <a:br>
              <a:rPr lang="en-US" sz="500">
                <a:solidFill>
                  <a:srgbClr val="666566"/>
                </a:solidFill>
                <a:latin typeface="Arial" panose="020B0604020202020204"/>
              </a:rPr>
            </a:b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the seven deadly sins as his modus</a:t>
            </a:r>
            <a:br>
              <a:rPr lang="en-US" sz="500">
                <a:solidFill>
                  <a:srgbClr val="666566"/>
                </a:solidFill>
                <a:latin typeface="Arial" panose="020B0604020202020204"/>
              </a:rPr>
            </a:b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operandi.</a:t>
            </a:r>
            <a:endParaRPr lang="en-US" sz="500">
              <a:solidFill>
                <a:srgbClr val="666566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31214" y="3601205"/>
            <a:ext cx="1023161" cy="17321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560"/>
              </a:lnSpc>
            </a:pPr>
            <a:r>
              <a:rPr lang="en-US" sz="450" b="1">
                <a:solidFill>
                  <a:srgbClr val="504E50"/>
                </a:solidFill>
                <a:latin typeface="Arial" panose="020B0604020202020204"/>
              </a:rPr>
              <a:t>Director </a:t>
            </a: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David Fincher</a:t>
            </a:r>
            <a:endParaRPr lang="en-US" sz="500">
              <a:solidFill>
                <a:srgbClr val="666566"/>
              </a:solidFill>
              <a:latin typeface="Arial" panose="020B0604020202020204"/>
            </a:endParaRPr>
          </a:p>
          <a:p>
            <a:pPr indent="0">
              <a:lnSpc>
                <a:spcPts val="560"/>
              </a:lnSpc>
            </a:pPr>
            <a:r>
              <a:rPr lang="en-US" sz="450" b="1">
                <a:solidFill>
                  <a:srgbClr val="504E50"/>
                </a:solidFill>
                <a:latin typeface="Arial" panose="020B0604020202020204"/>
              </a:rPr>
              <a:t>Stars: </a:t>
            </a:r>
            <a:r>
              <a:rPr lang="en-US" sz="500">
                <a:solidFill>
                  <a:srgbClr val="666566"/>
                </a:solidFill>
                <a:latin typeface="Arial" panose="020B0604020202020204"/>
              </a:rPr>
              <a:t>Morgan Freeman, Brad Pitt,</a:t>
            </a:r>
            <a:endParaRPr lang="en-US" sz="500">
              <a:solidFill>
                <a:srgbClr val="666566"/>
              </a:solidFill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10868" y="6211474"/>
            <a:ext cx="217523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10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40380" y="6698886"/>
            <a:ext cx="4426985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3"/>
              </a:rPr>
              <a:t>https://www.mckinsey.com/industries/retail/our-insights/how-retailers-can-keep-up-with-consumers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3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239" y="2275929"/>
            <a:ext cx="4503521" cy="34884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647531"/>
            <a:ext cx="3037258" cy="2940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Recommender system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11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06946" y="6698886"/>
            <a:ext cx="3701910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https://pandaily.com/bytedance-rumored-to-hit-20-billion-revenue-goal-for-20l9/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824" y="2070491"/>
            <a:ext cx="6622351" cy="33635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583080"/>
            <a:ext cx="2771397" cy="24169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Machine translation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59312" y="5675725"/>
            <a:ext cx="3593149" cy="22960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70"/>
              </a:lnSpc>
            </a:pP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Machine translation by seq2seq model</a:t>
            </a:r>
            <a:endParaRPr lang="en-US" sz="15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12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49543" y="6678745"/>
            <a:ext cx="1828800" cy="13293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https://google.github.io/seq2seq/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957" y="2122858"/>
            <a:ext cx="4584085" cy="366968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579051"/>
            <a:ext cx="2614298" cy="29405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Sentiment analysis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09466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13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88014" y="6686801"/>
            <a:ext cx="4531718" cy="13293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http://www.whatafuture.com/microsoft-using-sentiment-analysis-software-to-predict-product-reviews/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978" y="2070491"/>
            <a:ext cx="6868071" cy="387109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665" y="849948"/>
            <a:ext cx="2984891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Why Deep Learning?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1580" y="1639474"/>
            <a:ext cx="1623362" cy="23363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23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Recreation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10868" y="6211474"/>
            <a:ext cx="217523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14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37762" y="6698886"/>
            <a:ext cx="4024165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Video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https://www.bilibili.com/video/BVIMV4llz7Vh?from=search&amp;seid=322l00575569320645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9948"/>
            <a:ext cx="5534738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marL="241935" indent="-254000">
              <a:lnSpc>
                <a:spcPts val="2680"/>
              </a:lnSpc>
              <a:spcAft>
                <a:spcPts val="2870"/>
              </a:spcAft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is Becoming Ubiquitous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1495" y="1756410"/>
            <a:ext cx="8283575" cy="390715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54000" indent="-254000">
              <a:lnSpc>
                <a:spcPts val="2230"/>
              </a:lnSpc>
              <a:spcBef>
                <a:spcPts val="2870"/>
              </a:spcBef>
              <a:spcAft>
                <a:spcPts val="63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Deep learning is enabling AI's to become an everyday part of life.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1900"/>
              </a:lnSpc>
              <a:spcAft>
                <a:spcPts val="105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Working, studying, eating, shopping, entertaining</a:t>
            </a:r>
            <a:r>
              <a:rPr lang="en-US" sz="1700">
                <a:solidFill>
                  <a:srgbClr val="B0B3B5"/>
                </a:solidFill>
                <a:latin typeface="Arial" panose="020B0604020202020204"/>
              </a:rPr>
              <a:t>...</a:t>
            </a:r>
            <a:endParaRPr lang="en-US" sz="1700">
              <a:solidFill>
                <a:srgbClr val="B0B3B5"/>
              </a:solidFill>
              <a:latin typeface="Arial" panose="020B0604020202020204"/>
            </a:endParaRPr>
          </a:p>
          <a:p>
            <a:pPr marL="254000" indent="-254000">
              <a:lnSpc>
                <a:spcPts val="2600"/>
              </a:lnSpc>
              <a:spcAft>
                <a:spcPts val="63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Deep learning not only influences computer science, but also in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many other areas: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250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Medical science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250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Biology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250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Chemistry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1900"/>
              </a:lnSpc>
              <a:spcAft>
                <a:spcPts val="105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Marketing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marR="2057400" indent="0">
              <a:lnSpc>
                <a:spcPts val="3190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Accounting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17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270" y="2771397"/>
            <a:ext cx="8209459" cy="26062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9948"/>
            <a:ext cx="5131919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Development Trends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18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61226" y="6698886"/>
            <a:ext cx="4237660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Data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2"/>
              </a:rPr>
              <a:t>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https://trends.google.com/trends/explore?date=20l5-0I -0I%202020-08-25&amp;q=deep%20learning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481" y="2396775"/>
            <a:ext cx="8435037" cy="29325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9948"/>
            <a:ext cx="5131919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Development Trends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10868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19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87612" y="6698886"/>
            <a:ext cx="6912380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Data source:</a:t>
            </a:r>
            <a:r>
              <a:rPr lang="en-US" sz="600" b="1">
                <a:solidFill>
                  <a:srgbClr val="3D3D3D"/>
                </a:solidFill>
                <a:latin typeface="Arial" panose="020B0604020202020204"/>
                <a:hlinkClick r:id="rId2"/>
              </a:rPr>
              <a:t> </a:t>
            </a:r>
            <a:r>
              <a:rPr lang="en-US" sz="600" b="1">
                <a:solidFill>
                  <a:srgbClr val="828282"/>
                </a:solidFill>
                <a:latin typeface="Arial" panose="020B0604020202020204"/>
                <a:hlinkClick r:id="rId2"/>
              </a:rPr>
              <a:t>http://index.baidu.com/v2/main/index.html#/trend/%E6%B7%BI%E5%BA%A6%E5%AD%A6%E4%B9%A0?words=%E6%B7%BI%E5%BA%A6%E5%AD%A6%E4%B9%A0</a:t>
            </a:r>
            <a:endParaRPr lang="en-US" sz="600" b="1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16" y="2667000"/>
            <a:ext cx="4032504" cy="2036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667000"/>
            <a:ext cx="1770888" cy="20360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44" y="2667000"/>
            <a:ext cx="1694688" cy="203606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39496" y="856488"/>
            <a:ext cx="2859024" cy="329184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Big 4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40552" y="451104"/>
            <a:ext cx="109728" cy="18288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en-US" sz="1900" b="1">
                <a:solidFill>
                  <a:srgbClr val="FFFFFF"/>
                </a:solidFill>
                <a:latin typeface="Times New Roman" panose="02020603050405020304"/>
              </a:rPr>
              <a:t>i</a:t>
            </a:r>
            <a:endParaRPr lang="en-US" sz="19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470648" y="4767072"/>
            <a:ext cx="826008" cy="1767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Andrew Ng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0664" y="4782312"/>
            <a:ext cx="1164336" cy="1767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Geoffrey Hinton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05328" y="4782312"/>
            <a:ext cx="1066800" cy="1767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Yoshua Bengio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30952" y="4782312"/>
            <a:ext cx="829056" cy="1463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Yann LeCun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03336" y="6208776"/>
            <a:ext cx="222504" cy="17068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20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5712" y="2231136"/>
            <a:ext cx="1045464" cy="12527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840736"/>
            <a:ext cx="1938528" cy="1676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" y="2197608"/>
            <a:ext cx="3209544" cy="29352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704" y="3712464"/>
            <a:ext cx="1167384" cy="141427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39496" y="856488"/>
            <a:ext cx="2859024" cy="329184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Big 4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40152" y="1981200"/>
            <a:ext cx="1100328" cy="1615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Michael Jordan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43728" y="2002536"/>
            <a:ext cx="826008" cy="1767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Andrew Ng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99560" y="2645664"/>
            <a:ext cx="865632" cy="1615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PhD student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79392" y="3499104"/>
            <a:ext cx="569976" cy="1615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Postdoc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56304" y="4285488"/>
            <a:ext cx="1203960" cy="19202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Former colleague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67856" y="2645664"/>
            <a:ext cx="2033016" cy="1615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Bachelor and master student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385304" y="4578096"/>
            <a:ext cx="1115568" cy="1615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Ian Goodfellow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24856" y="5230368"/>
            <a:ext cx="1063752" cy="19202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Yoshua Bengio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62072" y="5245608"/>
            <a:ext cx="832104" cy="1463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Yann LeCun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67000" y="6394704"/>
            <a:ext cx="1792224" cy="9753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>
                <a:solidFill>
                  <a:srgbClr val="083476"/>
                </a:solidFill>
                <a:latin typeface="Arial" panose="020B0604020202020204"/>
              </a:rPr>
              <a:t>SCHOOL OF INFORMATICS XIAMEN UNIVERSITY</a:t>
            </a:r>
            <a:endParaRPr lang="en-US" sz="600">
              <a:solidFill>
                <a:srgbClr val="083476"/>
              </a:solidFill>
              <a:latin typeface="Arial" panose="020B060402020202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403336" y="6208776"/>
            <a:ext cx="222504" cy="1676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50"/>
              </a:lnSpc>
            </a:pPr>
            <a:r>
              <a:rPr lang="en-US" sz="1400" b="1">
                <a:latin typeface="Times New Roman" panose="02020603050405020304"/>
              </a:rPr>
              <a:t>21</a:t>
            </a:r>
            <a:endParaRPr lang="en-US" sz="14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93" y="3516613"/>
            <a:ext cx="1498488" cy="10070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987" y="3480359"/>
            <a:ext cx="1885195" cy="11601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33" y="3468274"/>
            <a:ext cx="1897279" cy="11681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562" y="3552866"/>
            <a:ext cx="1909364" cy="108358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43806" y="858005"/>
            <a:ext cx="2855989" cy="326283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Big 4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51157" y="2638466"/>
          <a:ext cx="1897277" cy="672707"/>
        </p:xfrm>
        <a:graphic>
          <a:graphicData uri="http://schemas.openxmlformats.org/drawingml/2006/table">
            <a:tbl>
              <a:tblPr/>
              <a:tblGrid>
                <a:gridCol w="620341"/>
                <a:gridCol w="656595"/>
                <a:gridCol w="620341"/>
              </a:tblGrid>
              <a:tr h="201409"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All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Since 2015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173212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Citations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369842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270673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124874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h-index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156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114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  <a:tr h="173212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i10-index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351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261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487411" y="4515605"/>
            <a:ext cx="1579052" cy="8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560"/>
              </a:lnSpc>
            </a:pPr>
            <a:r>
              <a:rPr lang="en-US" sz="500" b="1">
                <a:solidFill>
                  <a:srgbClr val="828282"/>
                </a:solidFill>
                <a:latin typeface="Arial" panose="020B0604020202020204"/>
              </a:rPr>
              <a:t>2013 2014 2015 2016 2017 2018 2019 2020</a:t>
            </a:r>
            <a:endParaRPr lang="en-US" sz="500" b="1">
              <a:solidFill>
                <a:srgbClr val="828282"/>
              </a:solidFill>
              <a:latin typeface="Arial" panose="020B0604020202020204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578044" y="2650551"/>
          <a:ext cx="1869081" cy="608255"/>
        </p:xfrm>
        <a:graphic>
          <a:graphicData uri="http://schemas.openxmlformats.org/drawingml/2006/table">
            <a:tbl>
              <a:tblPr/>
              <a:tblGrid>
                <a:gridCol w="612285"/>
                <a:gridCol w="648539"/>
                <a:gridCol w="608257"/>
              </a:tblGrid>
              <a:tr h="201409"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All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Since 2015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165155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Citations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312522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285226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124874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h-index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167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152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i10-index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574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507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80761" y="2626382"/>
          <a:ext cx="1893250" cy="680763"/>
        </p:xfrm>
        <a:graphic>
          <a:graphicData uri="http://schemas.openxmlformats.org/drawingml/2006/table">
            <a:tbl>
              <a:tblPr/>
              <a:tblGrid>
                <a:gridCol w="620341"/>
                <a:gridCol w="644511"/>
                <a:gridCol w="628398"/>
              </a:tblGrid>
              <a:tr h="209466"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All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Since 2015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169184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Citations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159826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132024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120845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h-index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123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104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181268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i10-index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285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235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803619" y="2638466"/>
          <a:ext cx="1901307" cy="688819"/>
        </p:xfrm>
        <a:graphic>
          <a:graphicData uri="http://schemas.openxmlformats.org/drawingml/2006/table">
            <a:tbl>
              <a:tblPr/>
              <a:tblGrid>
                <a:gridCol w="624370"/>
                <a:gridCol w="652567"/>
                <a:gridCol w="624370"/>
              </a:tblGrid>
              <a:tr h="213494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All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Since 2015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169184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Citations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152689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103669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b"/>
                </a:tc>
              </a:tr>
              <a:tr h="120845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h-index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127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100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185296">
                <a:tc>
                  <a:txBody>
                    <a:bodyPr/>
                    <a:lstStyle/>
                    <a:p>
                      <a:pPr indent="0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i10-index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267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r">
                        <a:lnSpc>
                          <a:spcPts val="670"/>
                        </a:lnSpc>
                      </a:pPr>
                      <a:r>
                        <a:rPr lang="en-US" sz="600">
                          <a:solidFill>
                            <a:srgbClr val="1F1F1F"/>
                          </a:solidFill>
                          <a:latin typeface="Arial" panose="020B0604020202020204"/>
                        </a:rPr>
                        <a:t>244</a:t>
                      </a:r>
                      <a:endParaRPr lang="en-US" sz="600">
                        <a:solidFill>
                          <a:srgbClr val="1F1F1F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394755" y="3472303"/>
            <a:ext cx="249748" cy="9667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>
                <a:solidFill>
                  <a:srgbClr val="828282"/>
                </a:solidFill>
                <a:latin typeface="Arial" panose="020B0604020202020204"/>
              </a:rPr>
              <a:t>23000</a:t>
            </a:r>
            <a:endParaRPr lang="en-US" sz="600">
              <a:solidFill>
                <a:srgbClr val="828282"/>
              </a:solidFill>
              <a:latin typeface="Arial" panose="020B060402020202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09666" y="4773409"/>
            <a:ext cx="1160120" cy="18932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Geoffrey Hinton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96976" y="4761325"/>
            <a:ext cx="1063443" cy="18932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Yoshua Bengio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20539" y="4769381"/>
            <a:ext cx="841892" cy="14904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latin typeface="Arial" panose="020B0604020202020204"/>
              </a:rPr>
              <a:t>Yann LeCun</a:t>
            </a:r>
            <a:endParaRPr lang="en-US" sz="1100" b="1">
              <a:latin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55481" y="4761325"/>
            <a:ext cx="821752" cy="18932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Andrew Ng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70692" y="6396771"/>
            <a:ext cx="1784490" cy="9264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>
                <a:solidFill>
                  <a:srgbClr val="083476"/>
                </a:solidFill>
                <a:latin typeface="Arial" panose="020B0604020202020204"/>
              </a:rPr>
              <a:t>SCHOOL OF INFORMATICS XIAMEN UNIVERSITY</a:t>
            </a:r>
            <a:endParaRPr lang="en-US" sz="600">
              <a:solidFill>
                <a:srgbClr val="083476"/>
              </a:solidFill>
              <a:latin typeface="Arial" panose="020B06040202020202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560"/>
              </a:lnSpc>
            </a:pPr>
            <a:r>
              <a:rPr lang="en-US" sz="1400">
                <a:latin typeface="Arial" panose="020B0604020202020204"/>
              </a:rPr>
              <a:t>22</a:t>
            </a:r>
            <a:endParaRPr lang="en-US" sz="1400">
              <a:latin typeface="Arial" panose="020B060402020202020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903319" y="6698886"/>
            <a:ext cx="1333332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30"/>
              </a:lnSpc>
            </a:pPr>
            <a:r>
              <a:rPr lang="en-US" sz="650">
                <a:solidFill>
                  <a:srgbClr val="3D3D3D"/>
                </a:solidFill>
                <a:latin typeface="Arial" panose="020B0604020202020204"/>
              </a:rPr>
              <a:t>Data source: Google Scholar 2020</a:t>
            </a:r>
            <a:endParaRPr lang="en-US" sz="650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5920"/>
            <a:ext cx="3556895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marL="233045" indent="-241300">
              <a:lnSpc>
                <a:spcPts val="2680"/>
              </a:lnSpc>
              <a:spcAft>
                <a:spcPts val="7140"/>
              </a:spcAft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History of Deep Learning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2525677"/>
            <a:ext cx="7963739" cy="24048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900"/>
              </a:lnSpc>
              <a:spcBef>
                <a:spcPts val="7140"/>
              </a:spcBef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Deep learning has had a long and rich history, dating back to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1940s.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0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It has gone through many different names, and has only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recently become called "deep learning."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Generally, there were three waves in the development of deep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learning.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23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58005"/>
            <a:ext cx="1482375" cy="265861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First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1909363"/>
            <a:ext cx="8132924" cy="363745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230"/>
              </a:lnSpc>
              <a:spcAft>
                <a:spcPts val="119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Deep learning was known as </a:t>
            </a: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cybernetics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in the 1940s-1960s.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0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initial model was inspired by the biological brain. Therefore,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it is also called </a:t>
            </a: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artificial neural networks (ANNs)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885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Many concepts can be traced back to that time: neurons,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hidden layers, stochastic gradient descent, activation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functions...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855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We did not know enough about biological learning for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neuroscience to offer much guidance for the </a:t>
            </a: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learning</a:t>
            </a:r>
            <a:br>
              <a:rPr lang="en-US" sz="2000">
                <a:solidFill>
                  <a:srgbClr val="4590B8"/>
                </a:solidFill>
                <a:latin typeface="Arial" panose="020B0604020202020204"/>
              </a:rPr>
            </a:b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algorithms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we use to train these architectures.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21551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24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3665" y="849948"/>
            <a:ext cx="1933533" cy="27391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Second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1711982"/>
            <a:ext cx="7963739" cy="395165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585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In the 1980s, the second wave emerged in great part via a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movement called </a:t>
            </a: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connectionism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00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In this wave, a major accomplishment is the successful use of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back-propagation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to train deep neural networks, which was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proposed by Geoffrey Hinton.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15"/>
              </a:lnSpc>
              <a:spcAft>
                <a:spcPts val="35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During the 1990s, researchers made important advances in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modeling sequences with neural networks.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469900" indent="-228600">
              <a:lnSpc>
                <a:spcPts val="2205"/>
              </a:lnSpc>
              <a:spcAft>
                <a:spcPts val="77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Recurrent neural networks (RNN) and long short-term memory (LSTM)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were proposed at that time.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15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Convolutional neural networks (CNN) was proposed in 1998 by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Yann LeCun.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3494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25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3665" y="849948"/>
            <a:ext cx="1933533" cy="27391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Second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1909363"/>
            <a:ext cx="8072501" cy="358509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900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At this point in time, deep networks were generally believed to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be </a:t>
            </a:r>
            <a:r>
              <a:rPr lang="en-US" sz="2000">
                <a:solidFill>
                  <a:srgbClr val="FF0000"/>
                </a:solidFill>
                <a:latin typeface="Arial" panose="020B0604020202020204"/>
              </a:rPr>
              <a:t>very difficult to train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0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Too computationally costly to allow much experimentation with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hardware available at the time.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885"/>
              </a:lnSpc>
              <a:spcAft>
                <a:spcPts val="70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On the other hand, other fields of machine learning algorithms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like kernel machines (SVM) achieved good results on many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important tasks.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90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These two factors led to a decline in the popularity of neural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networks that lasted until 2007.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26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5608" y="849948"/>
            <a:ext cx="1639475" cy="27391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Third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1716010"/>
            <a:ext cx="8004021" cy="399596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555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third wave began from 2006, when Geoffrey Hinton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showed that a kind of neural network called a </a:t>
            </a: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deep belief</a:t>
            </a:r>
            <a:br>
              <a:rPr lang="en-US" sz="2000">
                <a:solidFill>
                  <a:srgbClr val="4590B8"/>
                </a:solidFill>
                <a:latin typeface="Arial" panose="020B0604020202020204"/>
              </a:rPr>
            </a:b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network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could be </a:t>
            </a:r>
            <a:r>
              <a:rPr lang="en-US" sz="2000">
                <a:solidFill>
                  <a:srgbClr val="FF0000"/>
                </a:solidFill>
                <a:latin typeface="Arial" panose="020B0604020202020204"/>
              </a:rPr>
              <a:t>efficiently trained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00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researchers quickly showed that the same strategy could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be used to train many other kinds of deep networks.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585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The term "deep learning" is then used to emphasize that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researchers were now able to train deeper neural networks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than had been possible before.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00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At this time, deep neural networks outperformed competing AI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systems based on other machine learning technologies as well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as hand-designed functionality.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27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5608" y="849948"/>
            <a:ext cx="1639475" cy="27391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Third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1957702"/>
            <a:ext cx="8016106" cy="35488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230"/>
              </a:lnSpc>
              <a:spcAft>
                <a:spcPts val="84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Deep learning milestones: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395"/>
              </a:lnSpc>
              <a:spcAft>
                <a:spcPts val="84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 2012, AlexNet competed in the ImageNet Large Scale Visual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Recognition Challenge. The network achieved a top-5 error of 15.3%,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more than 10.8 percentage points lower than that of the runner up.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395"/>
              </a:lnSpc>
              <a:spcAft>
                <a:spcPts val="84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 2015, ImageNet challenge declared that machines are now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outperforming humans on the task of image recognition.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1900"/>
              </a:lnSpc>
              <a:spcAft>
                <a:spcPts val="84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 2016, AlphaGo defeated Lee Sedol.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2395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 2019, Geoffrey Hinton, Yoshua Bengio and Yann LeCun were awarded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the Turing Award for conceptual and engineering breakthroughs that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have made deep neural networks a critical component of computing.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28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5608" y="849948"/>
            <a:ext cx="1639475" cy="27391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Third Wave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49" y="2932525"/>
            <a:ext cx="7585089" cy="15951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230"/>
              </a:lnSpc>
              <a:spcAft>
                <a:spcPts val="840"/>
              </a:spcAft>
            </a:pP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Key reasons of the success of deep learning in the third wave: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395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Increasing dataset sizes.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395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Increasing model sizes.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3395"/>
              </a:lnSpc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Increasing accuracy, complexity and real-world impact.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6840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29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0690"/>
          <a:stretch>
            <a:fillRect/>
          </a:stretch>
        </p:blipFill>
        <p:spPr>
          <a:xfrm>
            <a:off x="2134870" y="3973195"/>
            <a:ext cx="4874260" cy="20447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43806" y="858005"/>
            <a:ext cx="3407852" cy="326283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Increasing Dataset Sizes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1721" y="1651559"/>
            <a:ext cx="8096670" cy="217522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54000" indent="-254000">
              <a:lnSpc>
                <a:spcPts val="2015"/>
              </a:lnSpc>
              <a:spcAft>
                <a:spcPts val="56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The most important new development is that today we can provide these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algorithms with the </a:t>
            </a:r>
            <a:r>
              <a:rPr lang="en-US" sz="1700">
                <a:solidFill>
                  <a:srgbClr val="FF0000"/>
                </a:solidFill>
                <a:latin typeface="Arial" panose="020B0604020202020204"/>
              </a:rPr>
              <a:t>resources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they need to succeed.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254000" indent="-254000">
              <a:lnSpc>
                <a:spcPts val="1920"/>
              </a:lnSpc>
              <a:spcAft>
                <a:spcPts val="560"/>
              </a:spcAft>
            </a:pPr>
            <a:r>
              <a:rPr lang="en-US" sz="17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As of 2016, a rough rule of thumb is that a supervised deep learning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algorithm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1600"/>
              </a:lnSpc>
              <a:spcAft>
                <a:spcPts val="560"/>
              </a:spcAft>
            </a:pPr>
            <a:r>
              <a:rPr lang="en-US" sz="15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will generally achieve acceptable performance with around 5,000 labeled examples per</a:t>
            </a:r>
            <a:br>
              <a:rPr lang="en-US" sz="15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category;</a:t>
            </a:r>
            <a:endParaRPr lang="en-US" sz="1500">
              <a:solidFill>
                <a:srgbClr val="3D3D3D"/>
              </a:solidFill>
              <a:latin typeface="Arial" panose="020B0604020202020204"/>
            </a:endParaRPr>
          </a:p>
          <a:p>
            <a:pPr marL="482600" indent="-228600">
              <a:lnSpc>
                <a:spcPts val="1600"/>
              </a:lnSpc>
            </a:pPr>
            <a:r>
              <a:rPr lang="en-US" sz="15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will match or exceed human performance when trained with a dataset containing at</a:t>
            </a:r>
            <a:br>
              <a:rPr lang="en-US" sz="15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500">
                <a:solidFill>
                  <a:srgbClr val="3D3D3D"/>
                </a:solidFill>
                <a:latin typeface="Arial" panose="020B0604020202020204"/>
              </a:rPr>
              <a:t>least 10 million labeled examples.</a:t>
            </a:r>
            <a:endParaRPr lang="en-US" sz="15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02812" y="6211474"/>
            <a:ext cx="22557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30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09564" y="6698886"/>
            <a:ext cx="4104730" cy="1208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Figure 1.8, Goodfellow, Bengio, and Courville, Deep Learning, Cambridge: MIT press, 2016.</a:t>
            </a:r>
            <a:endParaRPr lang="en-US" sz="600" b="1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91" y="2541790"/>
            <a:ext cx="2980863" cy="15589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5890" y="2449141"/>
            <a:ext cx="132931" cy="1752265"/>
          </a:xfrm>
          <a:prstGeom prst="rect">
            <a:avLst/>
          </a:prstGeom>
        </p:spPr>
        <p:txBody>
          <a:bodyPr vert="vert270"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latin typeface="Times New Roman" panose="02020603050405020304"/>
              </a:rPr>
              <a:t>Number of neurons (logarithmic scale)</a:t>
            </a:r>
            <a:endParaRPr lang="en-US" sz="700" b="1">
              <a:latin typeface="Times New Roman" panose="020206030504050203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3806" y="849948"/>
            <a:ext cx="3242696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Increasing Model Sizes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11376" y="2509564"/>
            <a:ext cx="374622" cy="165156"/>
          </a:xfrm>
          <a:prstGeom prst="rect">
            <a:avLst/>
          </a:prstGeom>
          <a:solidFill>
            <a:srgbClr val="FDFD78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latin typeface="Times New Roman" panose="02020603050405020304"/>
              </a:rPr>
              <a:t>Human j</a:t>
            </a:r>
            <a:endParaRPr lang="en-US" sz="7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98586" y="2735143"/>
            <a:ext cx="487412" cy="225579"/>
          </a:xfrm>
          <a:prstGeom prst="rect">
            <a:avLst/>
          </a:prstGeom>
          <a:solidFill>
            <a:srgbClr val="FDFD78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 u="sng">
                <a:latin typeface="Times New Roman" panose="02020603050405020304"/>
              </a:rPr>
              <a:t>| Octopus j</a:t>
            </a:r>
            <a:endParaRPr lang="en-US" sz="700" b="1" u="sng"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38868" y="2984891"/>
            <a:ext cx="193354" cy="88620"/>
          </a:xfrm>
          <a:prstGeom prst="rect">
            <a:avLst/>
          </a:prstGeom>
          <a:solidFill>
            <a:srgbClr val="FDFD78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latin typeface="Times New Roman" panose="02020603050405020304"/>
              </a:rPr>
              <a:t>Prog</a:t>
            </a:r>
            <a:endParaRPr lang="en-US" sz="700" b="1">
              <a:latin typeface="Times New Roman" panose="020206030504050203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0923" y="3693853"/>
            <a:ext cx="668680" cy="72508"/>
          </a:xfrm>
          <a:prstGeom prst="rect">
            <a:avLst/>
          </a:prstGeom>
          <a:solidFill>
            <a:srgbClr val="FDFD78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- </a:t>
            </a:r>
            <a:r>
              <a:rPr lang="en-US" sz="700" b="1">
                <a:latin typeface="Times New Roman" panose="02020603050405020304"/>
              </a:rPr>
              <a:t>Roundworm</a:t>
            </a:r>
            <a:endParaRPr lang="en-US" sz="700" b="1">
              <a:latin typeface="Times New Roman" panose="020206030504050203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83178" y="4016109"/>
            <a:ext cx="366566" cy="169184"/>
          </a:xfrm>
          <a:prstGeom prst="rect">
            <a:avLst/>
          </a:prstGeom>
          <a:solidFill>
            <a:srgbClr val="FDFD78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70"/>
              </a:lnSpc>
            </a:pPr>
            <a:r>
              <a:rPr lang="en-US" sz="700" b="1">
                <a:latin typeface="Times New Roman" panose="02020603050405020304"/>
              </a:rPr>
              <a:t>Sponge!</a:t>
            </a:r>
            <a:endParaRPr lang="en-US" sz="700" b="1">
              <a:latin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1922" y="4128898"/>
            <a:ext cx="193353" cy="6847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30"/>
              </a:lnSpc>
            </a:pPr>
            <a:r>
              <a:rPr lang="en-US" sz="650">
                <a:latin typeface="Arial" panose="020B0604020202020204"/>
              </a:rPr>
              <a:t>1950</a:t>
            </a:r>
            <a:endParaRPr lang="en-US" sz="650">
              <a:latin typeface="Arial" panose="020B060402020202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13392" y="4128898"/>
            <a:ext cx="866061" cy="6847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>
              <a:lnSpc>
                <a:spcPts val="730"/>
              </a:lnSpc>
            </a:pPr>
            <a:r>
              <a:rPr lang="en-US" sz="650">
                <a:latin typeface="Arial" panose="020B0604020202020204"/>
              </a:rPr>
              <a:t>1985    2000    2015</a:t>
            </a:r>
            <a:endParaRPr lang="en-US" sz="650">
              <a:latin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92444" y="4128898"/>
            <a:ext cx="201409" cy="6847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730"/>
              </a:lnSpc>
            </a:pPr>
            <a:r>
              <a:rPr lang="en-US" sz="650">
                <a:latin typeface="Arial" panose="020B0604020202020204"/>
              </a:rPr>
              <a:t>2056</a:t>
            </a:r>
            <a:endParaRPr lang="en-US" sz="650">
              <a:latin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92140" y="1663644"/>
            <a:ext cx="3895264" cy="30775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1.    Perceptron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(Rosenblatt, 1958, 1962)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2.    Adaptive linear element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(Widrow and Hoff, 1960)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3.    Neocognitron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(Fukushima, 1980)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4.    Early back-propagation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(Rumelhart 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1986b)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5.    Recurrent neural network for speech recognition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(Robinson and Fallside, 1991)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6.    Multilayer perceptron for speech recognition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(Bengio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1991)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7.    Mean field sigmoid belief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(Saul 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1996)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8.    LeNet-5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(LeCun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1998b)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9.    Echo state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(Jaeger and Haas, 2004)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10.    Deep belief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(Hinton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2006)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11.    GPU-accelerated convolutional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(Chellapilla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2006)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12.    Deep Boltzmann machine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(Salakhutdinov and Hinton, 2009a)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13.    GPU-accelerated deep belief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(Raina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2009)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14.    Unsupervised convolutional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(Jarrett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2009)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15.    GPU-accelerated multilayer perceptron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(Ciresan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et 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2010)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16.    OMP-1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(Coates and Ng, 2011)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17.    Distributed autoencoder </a:t>
            </a:r>
            <a:r>
              <a:rPr lang="en-US" sz="700" b="1">
                <a:solidFill>
                  <a:srgbClr val="34A635"/>
                </a:solidFill>
                <a:latin typeface="Times New Roman" panose="02020603050405020304"/>
              </a:rPr>
              <a:t>(Le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2012)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18.    Multi-GPU convolutional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(Krizhevsky 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2012)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19.    COTS HPC unsupervised convolutional network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(Coates 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2013)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  <a:p>
            <a:pPr indent="0">
              <a:lnSpc>
                <a:spcPts val="1220"/>
              </a:lnSpc>
            </a:pPr>
            <a:r>
              <a:rPr lang="en-US" sz="700" b="1">
                <a:solidFill>
                  <a:srgbClr val="1F1F1F"/>
                </a:solidFill>
                <a:latin typeface="Times New Roman" panose="02020603050405020304"/>
              </a:rPr>
              <a:t>20.    GoogLeNet 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(Szegedy et </a:t>
            </a:r>
            <a:r>
              <a:rPr lang="en-US" sz="600" b="1" i="1" spc="50">
                <a:solidFill>
                  <a:srgbClr val="31D133"/>
                </a:solidFill>
                <a:latin typeface="Arial" panose="020B0604020202020204"/>
              </a:rPr>
              <a:t>al.,</a:t>
            </a:r>
            <a:r>
              <a:rPr lang="en-US" sz="700" b="1">
                <a:solidFill>
                  <a:srgbClr val="31D133"/>
                </a:solidFill>
                <a:latin typeface="Times New Roman" panose="02020603050405020304"/>
              </a:rPr>
              <a:t> 2014a)</a:t>
            </a:r>
            <a:endParaRPr lang="en-US" sz="700" b="1">
              <a:solidFill>
                <a:srgbClr val="31D133"/>
              </a:solidFill>
              <a:latin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8146" y="5184285"/>
            <a:ext cx="6860014" cy="55589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2395"/>
              </a:lnSpc>
            </a:pP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In 2020, the language model Generative Pre-trained Transformer 3</a:t>
            </a:r>
            <a:br>
              <a:rPr lang="en-US" sz="17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(GPT-3) has 175 billion (10</a:t>
            </a:r>
            <a:r>
              <a:rPr lang="en-US" sz="1700" baseline="30000">
                <a:solidFill>
                  <a:srgbClr val="3D3D3D"/>
                </a:solidFill>
                <a:latin typeface="Arial" panose="020B0604020202020204"/>
              </a:rPr>
              <a:t>11</a:t>
            </a:r>
            <a:r>
              <a:rPr lang="en-US" sz="1700">
                <a:solidFill>
                  <a:srgbClr val="3D3D3D"/>
                </a:solidFill>
                <a:latin typeface="Arial" panose="020B0604020202020204"/>
              </a:rPr>
              <a:t>) parameters!</a:t>
            </a:r>
            <a:endParaRPr lang="en-US" sz="17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402812" y="6211474"/>
            <a:ext cx="221550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31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77339" y="6690829"/>
            <a:ext cx="4153068" cy="11681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Figure 1.11, Goodfellow, Bengio, and Courville, Deep Learning, Cambridge: MIT press, 2016.</a:t>
            </a:r>
            <a:endParaRPr lang="en-US" sz="600" b="1">
              <a:solidFill>
                <a:srgbClr val="3D3D3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708" y="2337642"/>
            <a:ext cx="4233632" cy="23806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9948"/>
            <a:ext cx="3242696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Increasing Model Sizes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0340" y="1667510"/>
            <a:ext cx="3888105" cy="42214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41300" indent="-241300">
              <a:lnSpc>
                <a:spcPts val="2600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We have the computational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resources to run much larger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models today.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marR="228600" indent="-241300" algn="just">
              <a:lnSpc>
                <a:spcPts val="2650"/>
              </a:lnSpc>
              <a:spcAft>
                <a:spcPts val="770"/>
              </a:spcAft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Larger networks are able to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achieve higher accuracy on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more complex tasks.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  <a:p>
            <a:pPr marL="241300" indent="-241300">
              <a:lnSpc>
                <a:spcPts val="2635"/>
              </a:lnSpc>
            </a:pPr>
            <a:r>
              <a:rPr lang="en-US" sz="20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Hardware development, with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some GPUs designed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specifically for deep learning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(rather than video games)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have accelerated the training</a:t>
            </a:r>
            <a:br>
              <a:rPr lang="en-US" sz="2000">
                <a:solidFill>
                  <a:srgbClr val="3D3D3D"/>
                </a:solidFill>
                <a:latin typeface="Arial" panose="020B0604020202020204"/>
              </a:rPr>
            </a:br>
            <a:r>
              <a:rPr lang="en-US" sz="2000">
                <a:solidFill>
                  <a:srgbClr val="3D3D3D"/>
                </a:solidFill>
                <a:latin typeface="Arial" panose="020B0604020202020204"/>
              </a:rPr>
              <a:t>of bigger models.</a:t>
            </a:r>
            <a:endParaRPr lang="en-US" sz="20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38262" y="4906340"/>
            <a:ext cx="1111782" cy="14501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Nvidia RTX3090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02812" y="6211474"/>
            <a:ext cx="221550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32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3695" y="6678745"/>
            <a:ext cx="7452158" cy="13293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>
                <a:solidFill>
                  <a:srgbClr val="828282"/>
                </a:solidFill>
                <a:latin typeface="Arial" panose="020B0604020202020204"/>
                <a:hlinkClick r:id="rId2"/>
              </a:rPr>
              <a:t>https://static.turbosquid.com/Preview/2020/10/30 23 25 l3/NvidiaGeForceRTX3090FoundersEditionvray3dmodel00I.ipgEEE080l3-CE96-4B46-AC3B-C62F2234B776Large.ipg</a:t>
            </a:r>
            <a:endParaRPr lang="en-US" sz="600" b="1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106" y="1828800"/>
            <a:ext cx="6509561" cy="354078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3806" y="849948"/>
            <a:ext cx="7979852" cy="334340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Increasing Accuracy, Complexity and Real-World Impact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26886" y="5470287"/>
            <a:ext cx="4821748" cy="20543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230"/>
              </a:lnSpc>
            </a:pP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ImageNet Large Scale Visual Recognition Challenge (ILSVRC) winners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02812" y="6211474"/>
            <a:ext cx="217522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33</a:t>
            </a:r>
            <a:endParaRPr lang="en-US" sz="1500" b="1">
              <a:latin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02918" y="6698886"/>
            <a:ext cx="3705938" cy="12890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670"/>
              </a:lnSpc>
            </a:pPr>
            <a:r>
              <a:rPr lang="en-US" sz="600" b="1">
                <a:solidFill>
                  <a:srgbClr val="3D3D3D"/>
                </a:solidFill>
                <a:latin typeface="Arial" panose="020B0604020202020204"/>
              </a:rPr>
              <a:t>Image source: </a:t>
            </a:r>
            <a:r>
              <a:rPr lang="en-US" sz="600" b="1" u="sng">
                <a:solidFill>
                  <a:srgbClr val="828282"/>
                </a:solidFill>
                <a:latin typeface="Arial" panose="020B0604020202020204"/>
                <a:hlinkClick r:id="rId2"/>
              </a:rPr>
              <a:t>https://semiengineering.com/new-vision-technologies-for-real-world-applications/</a:t>
            </a:r>
            <a:endParaRPr lang="en-US" sz="600" b="1" u="sng">
              <a:solidFill>
                <a:srgbClr val="828282"/>
              </a:solidFill>
              <a:latin typeface="Arial" panose="020B0604020202020204"/>
              <a:hlinkClick r:id="rId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3806" y="845920"/>
            <a:ext cx="4527690" cy="338368"/>
          </a:xfrm>
          <a:prstGeom prst="rect">
            <a:avLst/>
          </a:prstGeom>
          <a:solidFill>
            <a:srgbClr val="1A3260"/>
          </a:solidFill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680"/>
              </a:lnSpc>
              <a:spcAft>
                <a:spcPts val="2310"/>
              </a:spcAft>
            </a:pPr>
            <a:r>
              <a:rPr lang="en-US" sz="2400">
                <a:solidFill>
                  <a:srgbClr val="FFFFFF"/>
                </a:solidFill>
                <a:latin typeface="Arial" panose="020B0604020202020204"/>
              </a:rPr>
              <a:t>Deep Learning Top Conferences</a:t>
            </a:r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3875" y="1727835"/>
            <a:ext cx="6436995" cy="395160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1230"/>
              </a:lnSpc>
              <a:spcBef>
                <a:spcPts val="2310"/>
              </a:spcBef>
              <a:spcAft>
                <a:spcPts val="560"/>
              </a:spcAft>
            </a:pPr>
            <a:r>
              <a:rPr lang="en-US" sz="1100" b="1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Machine learning: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1340"/>
              </a:lnSpc>
              <a:spcAft>
                <a:spcPts val="560"/>
              </a:spcAft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Neural Information Processing Systems (NeurIPS, formerly abbreviated as NIPS)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1340"/>
              </a:lnSpc>
              <a:spcAft>
                <a:spcPts val="560"/>
              </a:spcAft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International Conference on Machine Learning (ICML)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1340"/>
              </a:lnSpc>
              <a:spcAft>
                <a:spcPts val="560"/>
              </a:spcAft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International Conference on Learning Representations (ICLR)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060"/>
              </a:lnSpc>
            </a:pPr>
            <a:r>
              <a:rPr lang="en-US" sz="1100" b="1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Computer vision: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60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IEEE/CVF Conference on Computer Vision and Pattern Recognition (CVPR)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60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International Conference on Computer Vision (ICCV)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60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European Conference on Computer Vision (ECCV)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095"/>
              </a:lnSpc>
            </a:pPr>
            <a:r>
              <a:rPr lang="en-US" sz="1100" b="1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Natural language processing: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95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Association for Computational Linguistics (ACL)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95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Empirical Methods in Natural Language Processing (EMNLP)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95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North American Chapter of the Association for Computational Linguistics (NAACL)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indent="0">
              <a:lnSpc>
                <a:spcPts val="2095"/>
              </a:lnSpc>
            </a:pPr>
            <a:r>
              <a:rPr lang="en-US" sz="1100" b="1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100" b="1">
                <a:solidFill>
                  <a:srgbClr val="3D3D3D"/>
                </a:solidFill>
                <a:latin typeface="Arial" panose="020B0604020202020204"/>
              </a:rPr>
              <a:t>AI: </a:t>
            </a:r>
            <a:endParaRPr lang="en-US" sz="1100" b="1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95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International Joint Conference on Artificial Intelligence (IJCAI)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  <a:p>
            <a:pPr marL="254000" indent="0">
              <a:lnSpc>
                <a:spcPts val="2095"/>
              </a:lnSpc>
            </a:pPr>
            <a:r>
              <a:rPr lang="en-US" sz="1200">
                <a:solidFill>
                  <a:srgbClr val="4590B8"/>
                </a:solidFill>
                <a:latin typeface="Arial" panose="020B0604020202020204"/>
              </a:rPr>
              <a:t>■    </a:t>
            </a:r>
            <a:r>
              <a:rPr lang="en-US" sz="1200">
                <a:solidFill>
                  <a:srgbClr val="3D3D3D"/>
                </a:solidFill>
                <a:latin typeface="Arial" panose="020B0604020202020204"/>
              </a:rPr>
              <a:t>Association for the Advancement of Artificial Intelligence (AAAI)</a:t>
            </a:r>
            <a:endParaRPr lang="en-US" sz="1200">
              <a:solidFill>
                <a:srgbClr val="3D3D3D"/>
              </a:solidFill>
              <a:latin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2812" y="6211474"/>
            <a:ext cx="225579" cy="16515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 panose="02020603050405020304"/>
              </a:rPr>
              <a:t>34</a:t>
            </a:r>
            <a:endParaRPr lang="en-US" sz="1500" b="1">
              <a:latin typeface="Times New Roman" panose="0202060305040502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COMMONDATA" val="eyJoZGlkIjoiZmM5NmVlOGFhMTY5OGVkNDcyYTcwNDQwYTY1MzY5NzcifQ=="/>
  <p:tag name="KSO_WPP_MARK_KEY" val="21f4c839-285e-45c9-ba9f-e87f09b4ee5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10141</Words>
  <Application>WPS 演示</Application>
  <PresentationFormat>全屏显示(4:3)</PresentationFormat>
  <Paragraphs>448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姚俊峰</cp:lastModifiedBy>
  <cp:revision>11</cp:revision>
  <dcterms:created xsi:type="dcterms:W3CDTF">2022-05-18T00:48:00Z</dcterms:created>
  <dcterms:modified xsi:type="dcterms:W3CDTF">2026-05-17T05:39:02Z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710395E9DE264FA3BE7BDE89385D73E4</vt:lpwstr>
  </property>
  <property fmtid="{D5CDD505-2E9C-101B-9397-08002B2CF9AE}" pid="3" name="KSOProductBuildVer">
    <vt:lpwstr>2052-12.1.0.25865</vt:lpwstr>
  </property>
</Properties>
</file>