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gif" ContentType="image/gif"/>
  <Default Extension="avi" ContentType="video/avi"/>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notesMasterIdLst>
    <p:notesMasterId r:id="rId17"/>
  </p:notesMasterIdLst>
  <p:sldIdLst>
    <p:sldId id="256" r:id="rId7"/>
    <p:sldId id="329" r:id="rId8"/>
    <p:sldId id="267" r:id="rId9"/>
    <p:sldId id="319" r:id="rId10"/>
    <p:sldId id="320" r:id="rId11"/>
    <p:sldId id="321" r:id="rId12"/>
    <p:sldId id="322" r:id="rId13"/>
    <p:sldId id="331" r:id="rId14"/>
    <p:sldId id="272" r:id="rId15"/>
    <p:sldId id="273" r:id="rId16"/>
    <p:sldId id="323" r:id="rId18"/>
    <p:sldId id="324" r:id="rId19"/>
    <p:sldId id="317" r:id="rId20"/>
    <p:sldId id="318" r:id="rId21"/>
    <p:sldId id="325" r:id="rId22"/>
    <p:sldId id="326" r:id="rId23"/>
    <p:sldId id="275" r:id="rId24"/>
    <p:sldId id="276" r:id="rId25"/>
    <p:sldId id="281" r:id="rId26"/>
    <p:sldId id="282" r:id="rId27"/>
    <p:sldId id="283" r:id="rId28"/>
    <p:sldId id="279" r:id="rId29"/>
    <p:sldId id="284" r:id="rId30"/>
    <p:sldId id="285" r:id="rId31"/>
    <p:sldId id="286" r:id="rId32"/>
    <p:sldId id="287" r:id="rId33"/>
    <p:sldId id="288" r:id="rId34"/>
    <p:sldId id="289" r:id="rId35"/>
    <p:sldId id="290" r:id="rId36"/>
    <p:sldId id="291" r:id="rId37"/>
    <p:sldId id="303" r:id="rId38"/>
    <p:sldId id="294" r:id="rId39"/>
    <p:sldId id="295" r:id="rId40"/>
    <p:sldId id="296" r:id="rId41"/>
    <p:sldId id="297" r:id="rId42"/>
    <p:sldId id="298" r:id="rId43"/>
    <p:sldId id="309" r:id="rId44"/>
    <p:sldId id="333" r:id="rId45"/>
    <p:sldId id="310" r:id="rId46"/>
    <p:sldId id="307" r:id="rId47"/>
    <p:sldId id="306" r:id="rId48"/>
    <p:sldId id="308" r:id="rId49"/>
    <p:sldId id="302" r:id="rId50"/>
  </p:sldIdLst>
  <p:sldSz cx="9144000" cy="6858000" type="screen4x3"/>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20" d="100"/>
          <a:sy n="120" d="100"/>
        </p:scale>
        <p:origin x="1386" y="84"/>
      </p:cViewPr>
      <p:guideLst>
        <p:guide orient="horz" pos="215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4" Type="http://schemas.openxmlformats.org/officeDocument/2006/relationships/tags" Target="tags/tag72.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notesMaster" Target="notesMasters/notesMaster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E7E044-45C7-49D4-B616-C1EB0EB337FB}"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C839A6-008C-4A28-B9D2-6B4E741E06E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p:sp>
      <p:sp>
        <p:nvSpPr>
          <p:cNvPr id="337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de-DE"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p:sp>
      <p:sp>
        <p:nvSpPr>
          <p:cNvPr id="307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de-DE"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ln>
        </p:spPr>
      </p:sp>
      <p:sp>
        <p:nvSpPr>
          <p:cNvPr id="57347" name="Notes Placeholder 2"/>
          <p:cNvSpPr>
            <a:spLocks noGrp="1"/>
          </p:cNvSpPr>
          <p:nvPr>
            <p:ph type="body" idx="1"/>
          </p:nvPr>
        </p:nvSpPr>
        <p:spPr bwMode="auto">
          <a:noFill/>
        </p:spPr>
        <p:txBody>
          <a:bodyPr wrap="square" numCol="1" anchor="t" anchorCtr="0" compatLnSpc="1"/>
          <a:lstStyle/>
          <a:p>
            <a:endParaRPr lang="en-US"/>
          </a:p>
        </p:txBody>
      </p:sp>
      <p:sp>
        <p:nvSpPr>
          <p:cNvPr id="4" name="Slide Number Placeholder 3"/>
          <p:cNvSpPr>
            <a:spLocks noGrp="1"/>
          </p:cNvSpPr>
          <p:nvPr>
            <p:ph type="sldNum" sz="quarter" idx="5"/>
          </p:nvPr>
        </p:nvSpPr>
        <p:spPr/>
        <p:txBody>
          <a:bodyPr/>
          <a:lstStyle/>
          <a:p>
            <a:pPr>
              <a:defRPr/>
            </a:pPr>
            <a:fld id="{7BD416FA-368F-4DD3-B68D-BEBC34F8981B}" type="slidenum">
              <a:rPr lang="en-US">
                <a:solidFill>
                  <a:prstClr val="black"/>
                </a:solidFill>
              </a:rPr>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0E24E23-3A0D-4A13-ACE9-B48827D9FCEC}" type="slidenum">
              <a:rPr lang="en-US">
                <a:solidFill>
                  <a:prstClr val="black"/>
                </a:solidFill>
              </a:rPr>
            </a:fld>
            <a:endParaRPr lang="en-US">
              <a:solidFill>
                <a:prstClr val="black"/>
              </a:solidFill>
            </a:endParaRPr>
          </a:p>
        </p:txBody>
      </p:sp>
      <p:sp>
        <p:nvSpPr>
          <p:cNvPr id="58371" name="Rectangle 2"/>
          <p:cNvSpPr>
            <a:spLocks noGrp="1" noRot="1" noChangeAspect="1" noChangeArrowheads="1" noTextEdit="1"/>
          </p:cNvSpPr>
          <p:nvPr>
            <p:ph type="sldImg"/>
          </p:nvPr>
        </p:nvSpPr>
        <p:spPr bwMode="auto">
          <a:noFill/>
          <a:ln>
            <a:solidFill>
              <a:srgbClr val="000000"/>
            </a:solidFill>
            <a:miter lim="800000"/>
          </a:ln>
        </p:spPr>
      </p:sp>
      <p:sp>
        <p:nvSpPr>
          <p:cNvPr id="58372"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9EA53EF-9B7D-45A1-95DF-EC0072083AD3}" type="slidenum">
              <a:rPr lang="en-US">
                <a:solidFill>
                  <a:prstClr val="black"/>
                </a:solidFill>
              </a:rPr>
            </a:fld>
            <a:endParaRPr lang="en-US">
              <a:solidFill>
                <a:prstClr val="black"/>
              </a:solidFill>
            </a:endParaRPr>
          </a:p>
        </p:txBody>
      </p:sp>
      <p:sp>
        <p:nvSpPr>
          <p:cNvPr id="62467" name="Rectangle 2"/>
          <p:cNvSpPr>
            <a:spLocks noGrp="1" noRot="1" noChangeAspect="1" noChangeArrowheads="1" noTextEdit="1"/>
          </p:cNvSpPr>
          <p:nvPr>
            <p:ph type="sldImg"/>
          </p:nvPr>
        </p:nvSpPr>
        <p:spPr bwMode="auto">
          <a:noFill/>
          <a:ln>
            <a:solidFill>
              <a:srgbClr val="000000"/>
            </a:solidFill>
            <a:miter lim="800000"/>
          </a:ln>
        </p:spPr>
      </p:sp>
      <p:sp>
        <p:nvSpPr>
          <p:cNvPr id="62468"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7D5A03B-08FB-451F-BD92-52AFF74ACA54}" type="slidenum">
              <a:rPr lang="en-US">
                <a:solidFill>
                  <a:prstClr val="black"/>
                </a:solidFill>
              </a:rPr>
            </a:fld>
            <a:endParaRPr lang="en-US">
              <a:solidFill>
                <a:prstClr val="black"/>
              </a:solidFill>
            </a:endParaRPr>
          </a:p>
        </p:txBody>
      </p:sp>
      <p:sp>
        <p:nvSpPr>
          <p:cNvPr id="63491" name="Rectangle 2"/>
          <p:cNvSpPr>
            <a:spLocks noGrp="1" noRot="1" noChangeAspect="1" noChangeArrowheads="1" noTextEdit="1"/>
          </p:cNvSpPr>
          <p:nvPr>
            <p:ph type="sldImg"/>
          </p:nvPr>
        </p:nvSpPr>
        <p:spPr bwMode="auto">
          <a:noFill/>
          <a:ln>
            <a:solidFill>
              <a:srgbClr val="000000"/>
            </a:solidFill>
            <a:miter lim="800000"/>
          </a:ln>
        </p:spPr>
      </p:sp>
      <p:sp>
        <p:nvSpPr>
          <p:cNvPr id="63492" name="Rectangle 3"/>
          <p:cNvSpPr>
            <a:spLocks noGrp="1" noChangeArrowheads="1"/>
          </p:cNvSpPr>
          <p:nvPr>
            <p:ph type="body" idx="1"/>
          </p:nvPr>
        </p:nvSpPr>
        <p:spPr bwMode="auto">
          <a:noFill/>
        </p:spPr>
        <p:txBody>
          <a:bodyPr wrap="square" numCol="1" anchor="t" anchorCtr="0" compatLnSpc="1"/>
          <a:lstStyle/>
          <a:p>
            <a:pPr eaLnBrk="1" hangingPunct="1"/>
            <a:r>
              <a:rPr lang="en-US"/>
              <a:t>Why would this be useful?  Main reason is focus.  Also enables “smart” cropping.</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08A6558-1239-4CB6-9FB3-4F4D94D97265}" type="slidenum">
              <a:rPr lang="en-US">
                <a:solidFill>
                  <a:prstClr val="black"/>
                </a:solidFill>
              </a:rPr>
            </a:fld>
            <a:endParaRPr lang="en-US">
              <a:solidFill>
                <a:prstClr val="black"/>
              </a:solidFill>
            </a:endParaRPr>
          </a:p>
        </p:txBody>
      </p:sp>
      <p:sp>
        <p:nvSpPr>
          <p:cNvPr id="64515" name="Rectangle 2"/>
          <p:cNvSpPr>
            <a:spLocks noGrp="1" noRot="1" noChangeAspect="1" noChangeArrowheads="1" noTextEdit="1"/>
          </p:cNvSpPr>
          <p:nvPr>
            <p:ph type="sldImg"/>
          </p:nvPr>
        </p:nvSpPr>
        <p:spPr bwMode="auto">
          <a:noFill/>
          <a:ln>
            <a:solidFill>
              <a:srgbClr val="000000"/>
            </a:solidFill>
            <a:miter lim="800000"/>
          </a:ln>
        </p:spPr>
      </p:sp>
      <p:sp>
        <p:nvSpPr>
          <p:cNvPr id="64516"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ln>
        </p:spPr>
      </p:sp>
      <p:sp>
        <p:nvSpPr>
          <p:cNvPr id="61443" name="Notes Placeholder 2"/>
          <p:cNvSpPr>
            <a:spLocks noGrp="1"/>
          </p:cNvSpPr>
          <p:nvPr>
            <p:ph type="body" idx="1"/>
          </p:nvPr>
        </p:nvSpPr>
        <p:spPr bwMode="auto">
          <a:noFill/>
        </p:spPr>
        <p:txBody>
          <a:bodyPr wrap="square" numCol="1" anchor="t" anchorCtr="0" compatLnSpc="1"/>
          <a:lstStyle/>
          <a:p>
            <a:pPr>
              <a:spcBef>
                <a:spcPct val="0"/>
              </a:spcBef>
            </a:pPr>
            <a:endParaRPr lang="en-US" dirty="0"/>
          </a:p>
        </p:txBody>
      </p:sp>
      <p:sp>
        <p:nvSpPr>
          <p:cNvPr id="52228" name="Slide Number Placeholder 3"/>
          <p:cNvSpPr>
            <a:spLocks noGrp="1"/>
          </p:cNvSpPr>
          <p:nvPr>
            <p:ph type="sldNum" sz="quarter" idx="5"/>
          </p:nvPr>
        </p:nvSpPr>
        <p:spPr bwMode="auto">
          <a:ln>
            <a:miter lim="800000"/>
          </a:ln>
        </p:spPr>
        <p:txBody>
          <a:bodyPr wrap="square" numCol="1" anchorCtr="0" compatLnSpc="1"/>
          <a:lstStyle/>
          <a:p>
            <a:pPr>
              <a:defRPr/>
            </a:pPr>
            <a:fld id="{8862DE74-0D8A-47DA-866E-BC8B97707F7A}" type="slidenum">
              <a:rPr lang="en-US">
                <a:solidFill>
                  <a:prstClr val="black"/>
                </a:solidFill>
              </a:rPr>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752AF0C-75E1-4A9C-98FD-1141052C118A}" type="slidenum">
              <a:rPr lang="en-US">
                <a:solidFill>
                  <a:prstClr val="black"/>
                </a:solidFill>
              </a:rPr>
            </a:fld>
            <a:endParaRPr lang="en-US">
              <a:solidFill>
                <a:prstClr val="black"/>
              </a:solidFill>
            </a:endParaRPr>
          </a:p>
        </p:txBody>
      </p:sp>
      <p:sp>
        <p:nvSpPr>
          <p:cNvPr id="65539" name="Rectangle 2"/>
          <p:cNvSpPr>
            <a:spLocks noGrp="1" noRot="1" noChangeAspect="1" noChangeArrowheads="1" noTextEdit="1"/>
          </p:cNvSpPr>
          <p:nvPr>
            <p:ph type="sldImg"/>
          </p:nvPr>
        </p:nvSpPr>
        <p:spPr bwMode="auto">
          <a:noFill/>
          <a:ln>
            <a:solidFill>
              <a:srgbClr val="000000"/>
            </a:solidFill>
            <a:miter lim="800000"/>
          </a:ln>
        </p:spPr>
      </p:sp>
      <p:sp>
        <p:nvSpPr>
          <p:cNvPr id="65540"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380A047-6BB5-487C-94E7-03558DC35B55}" type="slidenum">
              <a:rPr lang="en-US">
                <a:solidFill>
                  <a:prstClr val="black"/>
                </a:solidFill>
              </a:rPr>
            </a:fld>
            <a:endParaRPr lang="en-US">
              <a:solidFill>
                <a:prstClr val="black"/>
              </a:solidFill>
            </a:endParaRPr>
          </a:p>
        </p:txBody>
      </p:sp>
      <p:sp>
        <p:nvSpPr>
          <p:cNvPr id="66563" name="Rectangle 2"/>
          <p:cNvSpPr>
            <a:spLocks noGrp="1" noRot="1" noChangeAspect="1" noChangeArrowheads="1" noTextEdit="1"/>
          </p:cNvSpPr>
          <p:nvPr>
            <p:ph type="sldImg"/>
          </p:nvPr>
        </p:nvSpPr>
        <p:spPr bwMode="auto">
          <a:noFill/>
          <a:ln>
            <a:solidFill>
              <a:srgbClr val="000000"/>
            </a:solidFill>
            <a:miter lim="800000"/>
          </a:ln>
        </p:spPr>
      </p:sp>
      <p:sp>
        <p:nvSpPr>
          <p:cNvPr id="66564" name="Rectangle 3"/>
          <p:cNvSpPr>
            <a:spLocks noGrp="1" noChangeArrowheads="1"/>
          </p:cNvSpPr>
          <p:nvPr>
            <p:ph type="body" idx="1"/>
          </p:nvPr>
        </p:nvSpPr>
        <p:spPr bwMode="auto">
          <a:noFill/>
        </p:spPr>
        <p:txBody>
          <a:bodyPr wrap="square" numCol="1" anchor="t" anchorCtr="0" compatLnSpc="1"/>
          <a:lstStyle/>
          <a:p>
            <a:pPr eaLnBrk="1" hangingPunct="1"/>
            <a:r>
              <a:rPr lang="en-US"/>
              <a:t>Age 12, Age 30</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865E028-653E-42ED-B42D-84DAD997030B}" type="slidenum">
              <a:rPr lang="en-US">
                <a:solidFill>
                  <a:prstClr val="black"/>
                </a:solidFill>
              </a:rPr>
            </a:fld>
            <a:endParaRPr lang="en-US">
              <a:solidFill>
                <a:prstClr val="black"/>
              </a:solidFill>
            </a:endParaRPr>
          </a:p>
        </p:txBody>
      </p:sp>
      <p:sp>
        <p:nvSpPr>
          <p:cNvPr id="67587" name="Rectangle 2"/>
          <p:cNvSpPr>
            <a:spLocks noGrp="1" noRot="1" noChangeAspect="1" noChangeArrowheads="1" noTextEdit="1"/>
          </p:cNvSpPr>
          <p:nvPr>
            <p:ph type="sldImg"/>
          </p:nvPr>
        </p:nvSpPr>
        <p:spPr bwMode="auto">
          <a:noFill/>
          <a:ln>
            <a:solidFill>
              <a:srgbClr val="000000"/>
            </a:solidFill>
            <a:miter lim="800000"/>
          </a:ln>
        </p:spPr>
      </p:sp>
      <p:sp>
        <p:nvSpPr>
          <p:cNvPr id="67588"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1EA3614-857B-4D8C-9F61-6CDE108F3745}" type="slidenum">
              <a:rPr lang="en-US">
                <a:solidFill>
                  <a:prstClr val="black"/>
                </a:solidFill>
              </a:rPr>
            </a:fld>
            <a:endParaRPr lang="en-US">
              <a:solidFill>
                <a:prstClr val="black"/>
              </a:solidFill>
            </a:endParaRPr>
          </a:p>
        </p:txBody>
      </p:sp>
      <p:sp>
        <p:nvSpPr>
          <p:cNvPr id="68611" name="Rectangle 2"/>
          <p:cNvSpPr>
            <a:spLocks noGrp="1" noRot="1" noChangeAspect="1" noChangeArrowheads="1" noTextEdit="1"/>
          </p:cNvSpPr>
          <p:nvPr>
            <p:ph type="sldImg"/>
          </p:nvPr>
        </p:nvSpPr>
        <p:spPr bwMode="auto">
          <a:noFill/>
          <a:ln>
            <a:solidFill>
              <a:srgbClr val="000000"/>
            </a:solidFill>
            <a:miter lim="800000"/>
          </a:ln>
        </p:spPr>
      </p:sp>
      <p:sp>
        <p:nvSpPr>
          <p:cNvPr id="68612"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642AAB2-2528-4A41-AE86-F678288756F7}" type="slidenum">
              <a:rPr lang="en-US">
                <a:solidFill>
                  <a:prstClr val="black"/>
                </a:solidFill>
              </a:rPr>
            </a:fld>
            <a:endParaRPr lang="en-US">
              <a:solidFill>
                <a:prstClr val="black"/>
              </a:solidFill>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ln>
        </p:spPr>
      </p:sp>
      <p:sp>
        <p:nvSpPr>
          <p:cNvPr id="69636"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6EFA8EB-F376-4460-9BA5-400A0D59BC65}" type="slidenum">
              <a:rPr lang="en-US">
                <a:solidFill>
                  <a:prstClr val="black"/>
                </a:solidFill>
              </a:rPr>
            </a:fld>
            <a:endParaRPr lang="en-US">
              <a:solidFill>
                <a:prstClr val="black"/>
              </a:solidFill>
            </a:endParaRPr>
          </a:p>
        </p:txBody>
      </p:sp>
      <p:sp>
        <p:nvSpPr>
          <p:cNvPr id="70659" name="Rectangle 2"/>
          <p:cNvSpPr>
            <a:spLocks noGrp="1" noRot="1" noChangeAspect="1" noChangeArrowheads="1" noTextEdit="1"/>
          </p:cNvSpPr>
          <p:nvPr>
            <p:ph type="sldImg"/>
          </p:nvPr>
        </p:nvSpPr>
        <p:spPr bwMode="auto">
          <a:noFill/>
          <a:ln>
            <a:solidFill>
              <a:srgbClr val="000000"/>
            </a:solidFill>
            <a:miter lim="800000"/>
          </a:ln>
        </p:spPr>
      </p:sp>
      <p:sp>
        <p:nvSpPr>
          <p:cNvPr id="70660"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FB740A2-7CD3-4F5C-A457-5F0A9A6C75F1}" type="slidenum">
              <a:rPr lang="en-US">
                <a:solidFill>
                  <a:prstClr val="black"/>
                </a:solidFill>
              </a:rPr>
            </a:fld>
            <a:endParaRPr lang="en-US">
              <a:solidFill>
                <a:prstClr val="black"/>
              </a:solidFill>
            </a:endParaRPr>
          </a:p>
        </p:txBody>
      </p:sp>
      <p:sp>
        <p:nvSpPr>
          <p:cNvPr id="71683" name="Rectangle 2"/>
          <p:cNvSpPr>
            <a:spLocks noGrp="1" noRot="1" noChangeAspect="1" noChangeArrowheads="1" noTextEdit="1"/>
          </p:cNvSpPr>
          <p:nvPr>
            <p:ph type="sldImg"/>
          </p:nvPr>
        </p:nvSpPr>
        <p:spPr bwMode="auto">
          <a:noFill/>
          <a:ln>
            <a:solidFill>
              <a:srgbClr val="000000"/>
            </a:solidFill>
            <a:miter lim="800000"/>
          </a:ln>
        </p:spPr>
      </p:sp>
      <p:sp>
        <p:nvSpPr>
          <p:cNvPr id="71684"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41CF79F-CC66-493A-93CB-0A27C322F186}" type="slidenum">
              <a:rPr lang="en-US">
                <a:solidFill>
                  <a:prstClr val="black"/>
                </a:solidFill>
              </a:rPr>
            </a:fld>
            <a:endParaRPr lang="en-US">
              <a:solidFill>
                <a:prstClr val="black"/>
              </a:solidFill>
            </a:endParaRPr>
          </a:p>
        </p:txBody>
      </p:sp>
      <p:sp>
        <p:nvSpPr>
          <p:cNvPr id="72707" name="Rectangle 2"/>
          <p:cNvSpPr>
            <a:spLocks noGrp="1" noRot="1" noChangeAspect="1" noChangeArrowheads="1" noTextEdit="1"/>
          </p:cNvSpPr>
          <p:nvPr>
            <p:ph type="sldImg"/>
          </p:nvPr>
        </p:nvSpPr>
        <p:spPr bwMode="auto">
          <a:noFill/>
          <a:ln>
            <a:solidFill>
              <a:srgbClr val="000000"/>
            </a:solidFill>
            <a:miter lim="800000"/>
          </a:ln>
        </p:spPr>
      </p:sp>
      <p:sp>
        <p:nvSpPr>
          <p:cNvPr id="72708"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D37A23B-8D52-40D7-811F-5CF5BEFEFAD9}" type="slidenum">
              <a:rPr lang="en-US">
                <a:solidFill>
                  <a:prstClr val="black"/>
                </a:solidFill>
              </a:rPr>
            </a:fld>
            <a:endParaRPr lang="en-US">
              <a:solidFill>
                <a:prstClr val="black"/>
              </a:solidFill>
            </a:endParaRPr>
          </a:p>
        </p:txBody>
      </p:sp>
      <p:sp>
        <p:nvSpPr>
          <p:cNvPr id="74755" name="Rectangle 2"/>
          <p:cNvSpPr>
            <a:spLocks noGrp="1" noRot="1" noChangeAspect="1" noChangeArrowheads="1" noTextEdit="1"/>
          </p:cNvSpPr>
          <p:nvPr>
            <p:ph type="sldImg"/>
          </p:nvPr>
        </p:nvSpPr>
        <p:spPr bwMode="auto">
          <a:noFill/>
          <a:ln>
            <a:solidFill>
              <a:srgbClr val="000000"/>
            </a:solidFill>
            <a:miter lim="800000"/>
          </a:ln>
        </p:spPr>
      </p:sp>
      <p:sp>
        <p:nvSpPr>
          <p:cNvPr id="74756"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ln>
        </p:spPr>
      </p:sp>
      <p:sp>
        <p:nvSpPr>
          <p:cNvPr id="75779"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53252" name="Slide Number Placeholder 3"/>
          <p:cNvSpPr>
            <a:spLocks noGrp="1"/>
          </p:cNvSpPr>
          <p:nvPr>
            <p:ph type="sldNum" sz="quarter" idx="5"/>
          </p:nvPr>
        </p:nvSpPr>
        <p:spPr bwMode="auto">
          <a:ln>
            <a:miter lim="800000"/>
          </a:ln>
        </p:spPr>
        <p:txBody>
          <a:bodyPr wrap="square" numCol="1" anchorCtr="0" compatLnSpc="1"/>
          <a:lstStyle/>
          <a:p>
            <a:pPr>
              <a:defRPr/>
            </a:pPr>
            <a:fld id="{DDF4EEBE-B542-4754-AD35-7E051E69A3C6}" type="slidenum">
              <a:rPr lang="en-US">
                <a:solidFill>
                  <a:prstClr val="black"/>
                </a:solidFill>
              </a:rPr>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3F38643-3C41-4548-A4BF-829D96E6E4DC}" type="slidenum">
              <a:rPr lang="en-US">
                <a:solidFill>
                  <a:prstClr val="black"/>
                </a:solidFill>
              </a:rPr>
            </a:fld>
            <a:endParaRPr lang="en-US">
              <a:solidFill>
                <a:prstClr val="black"/>
              </a:solidFill>
            </a:endParaRPr>
          </a:p>
        </p:txBody>
      </p:sp>
      <p:sp>
        <p:nvSpPr>
          <p:cNvPr id="76803" name="Rectangle 2"/>
          <p:cNvSpPr>
            <a:spLocks noGrp="1" noRot="1" noChangeAspect="1" noChangeArrowheads="1" noTextEdit="1"/>
          </p:cNvSpPr>
          <p:nvPr>
            <p:ph type="sldImg"/>
          </p:nvPr>
        </p:nvSpPr>
        <p:spPr bwMode="auto">
          <a:noFill/>
          <a:ln>
            <a:solidFill>
              <a:srgbClr val="000000"/>
            </a:solidFill>
            <a:miter lim="800000"/>
          </a:ln>
        </p:spPr>
      </p:sp>
      <p:sp>
        <p:nvSpPr>
          <p:cNvPr id="76804"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B6B8B02-626C-4183-9435-2E1EF9A7735E}" type="slidenum">
              <a:rPr lang="en-US">
                <a:solidFill>
                  <a:prstClr val="black"/>
                </a:solidFill>
              </a:rPr>
            </a:fld>
            <a:endParaRPr lang="en-US">
              <a:solidFill>
                <a:prstClr val="black"/>
              </a:solidFill>
            </a:endParaRPr>
          </a:p>
        </p:txBody>
      </p:sp>
      <p:sp>
        <p:nvSpPr>
          <p:cNvPr id="77827" name="Rectangle 2"/>
          <p:cNvSpPr>
            <a:spLocks noGrp="1" noRot="1" noChangeAspect="1" noChangeArrowheads="1" noTextEdit="1"/>
          </p:cNvSpPr>
          <p:nvPr>
            <p:ph type="sldImg"/>
          </p:nvPr>
        </p:nvSpPr>
        <p:spPr bwMode="auto">
          <a:noFill/>
          <a:ln>
            <a:solidFill>
              <a:srgbClr val="000000"/>
            </a:solidFill>
            <a:miter lim="800000"/>
          </a:ln>
        </p:spPr>
      </p:sp>
      <p:sp>
        <p:nvSpPr>
          <p:cNvPr id="77828" name="Rectangle 3"/>
          <p:cNvSpPr>
            <a:spLocks noGrp="1" noChangeArrowheads="1"/>
          </p:cNvSpPr>
          <p:nvPr>
            <p:ph type="body" idx="1"/>
          </p:nvPr>
        </p:nvSpPr>
        <p:spPr bwMode="auto">
          <a:noFill/>
        </p:spPr>
        <p:txBody>
          <a:bodyPr wrap="square" numCol="1" anchor="t" anchorCtr="0" compatLnSpc="1"/>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C839A6-008C-4A28-B9D2-6B4E741E06E2}" type="slidenum">
              <a:rPr 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1470025"/>
          </a:xfrm>
        </p:spPr>
        <p:txBody>
          <a:bodyPr>
            <a:normAutofit/>
          </a:bodyPr>
          <a:lstStyle>
            <a:lvl1pPr algn="ctr">
              <a:defRPr sz="4000"/>
            </a:lvl1pPr>
          </a:lstStyle>
          <a:p>
            <a:r>
              <a:rPr lang="en-US"/>
              <a:t>Click to edit Master title style</a:t>
            </a:r>
            <a:endParaRPr lang="en-US"/>
          </a:p>
        </p:txBody>
      </p:sp>
      <p:sp>
        <p:nvSpPr>
          <p:cNvPr id="3" name="Subtitle 2"/>
          <p:cNvSpPr>
            <a:spLocks noGrp="1"/>
          </p:cNvSpPr>
          <p:nvPr>
            <p:ph type="subTitle" idx="1"/>
          </p:nvPr>
        </p:nvSpPr>
        <p:spPr>
          <a:xfrm>
            <a:off x="1371600" y="3355975"/>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4E6D6FB3-47F3-4646-932B-1BE4AE028EA9}" type="datetimeFigureOut">
              <a:rPr lang="en-US">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28CD94A-2C6B-4DF6-871F-7769C9B8A217}"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normAutofit/>
          </a:bodyPr>
          <a:lstStyle>
            <a:lvl1pPr algn="l">
              <a:defRPr sz="4000"/>
            </a:lvl1pPr>
          </a:lstStyle>
          <a:p>
            <a:r>
              <a:rPr lang="en-US" dirty="0"/>
              <a:t>Click to edit Master title style</a:t>
            </a:r>
            <a:endParaRPr lang="en-US" dirty="0"/>
          </a:p>
        </p:txBody>
      </p:sp>
      <p:sp>
        <p:nvSpPr>
          <p:cNvPr id="3" name="Content Placeholder 2"/>
          <p:cNvSpPr>
            <a:spLocks noGrp="1"/>
          </p:cNvSpPr>
          <p:nvPr>
            <p:ph idx="1"/>
          </p:nvPr>
        </p:nvSpPr>
        <p:spPr>
          <a:xfrm>
            <a:off x="457200" y="990600"/>
            <a:ext cx="8229600" cy="5135563"/>
          </a:xfrm>
        </p:spPr>
        <p:txBody>
          <a:bodyPr>
            <a:normAutofit/>
          </a:bodyPr>
          <a:lstStyle>
            <a:lvl1pPr>
              <a:defRPr sz="3200"/>
            </a:lvl1pPr>
            <a:lvl2pPr>
              <a:defRPr sz="2800"/>
            </a:lvl2pPr>
            <a:lvl3pPr>
              <a:defRPr sz="2400"/>
            </a:lvl3pPr>
            <a:lvl4pPr>
              <a:defRPr sz="2000"/>
            </a:lvl4pPr>
            <a:lvl5pPr>
              <a:defRPr sz="20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7918F93-C341-4EB0-90ED-80D2F37FD3C1}" type="datetimeFigureOut">
              <a:rPr lang="en-US">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446044A-196B-42E3-9270-AF8BCFBE168D}"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157F1927-EE98-41CA-9555-CC0AE1322754}" type="datetimeFigureOut">
              <a:rPr lang="en-US">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A8491543-5E52-45B1-8835-521D57B71428}"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3E7DFFBA-A9B8-4DFE-A883-23A264947ABB}" type="datetimeFigureOut">
              <a:rPr lang="en-US">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E7CDB326-25EC-4715-B256-DD324C59909C}"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87D38E61-1AB8-4719-AA18-2F1A2E2A1AA8}" type="datetimeFigureOut">
              <a:rPr lang="en-US">
                <a:solidFill>
                  <a:prstClr val="black">
                    <a:tint val="75000"/>
                  </a:prstClr>
                </a:solidFill>
              </a:rPr>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A3ED1F38-FE73-4530-972D-B5896288F8D1}"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CF3F1C6D-9305-4F92-9FFF-44BFD78DE8DA}" type="datetimeFigureOut">
              <a:rPr lang="en-US">
                <a:solidFill>
                  <a:prstClr val="black">
                    <a:tint val="75000"/>
                  </a:prstClr>
                </a:solidFill>
              </a:rPr>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4BEA10E8-845B-4F12-A45E-E9D8AFA2CA47}"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306D4F9-3AFD-45DE-90B9-958DFC7ECA09}" type="datetimeFigureOut">
              <a:rPr lang="en-US">
                <a:solidFill>
                  <a:prstClr val="black">
                    <a:tint val="75000"/>
                  </a:prstClr>
                </a:solidFill>
              </a:rPr>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2A54D1D3-1FF9-4A54-A838-C942B77D6FCF}"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96550616-C8AD-48B9-B76F-88FA806AEEEA}" type="datetimeFigureOut">
              <a:rPr lang="en-US">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713D15C-E520-46F1-8E8A-9D8432F63E12}"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CA5B1031-02B1-4B22-9EEE-5AE2B922B597}" type="datetimeFigureOut">
              <a:rPr lang="en-US">
                <a:solidFill>
                  <a:prstClr val="black">
                    <a:tint val="75000"/>
                  </a:prstClr>
                </a:solidFill>
              </a:rPr>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2D4BF9D-A3E0-47BC-A209-31556D4803AA}"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2216563C-EAC2-4DCF-B523-0E7486BA2411}" type="datetimeFigureOut">
              <a:rPr lang="en-US">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6F45124-8F79-47CD-9108-F31BC3CF0719}"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15AFC4EB-9E26-4046-B3F2-C3B0FEBE00F6}" type="datetimeFigureOut">
              <a:rPr lang="en-US">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334D376-153D-4A5D-BD50-A8A321ED4D14}" type="slidenum">
              <a:rPr lang="en-US">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0"/>
            <a:ext cx="8229600" cy="9144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27" name="Text Placeholder 2"/>
          <p:cNvSpPr>
            <a:spLocks noGrp="1"/>
          </p:cNvSpPr>
          <p:nvPr>
            <p:ph type="body" idx="1"/>
          </p:nvPr>
        </p:nvSpPr>
        <p:spPr bwMode="auto">
          <a:xfrm>
            <a:off x="457200" y="1066800"/>
            <a:ext cx="8229600" cy="5181600"/>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BFB2DA7-57E5-4DD9-9CC6-625DF2779305}" type="datetimeFigureOut">
              <a:rPr lang="en-US">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2F93EFA-51EA-439B-83F4-BECA7EE6E4C3}" type="slidenum">
              <a:rPr lang="en-US">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36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Calibri" panose="020F0502020204030204" pitchFamily="34" charset="0"/>
        </a:defRPr>
      </a:lvl2pPr>
      <a:lvl3pPr algn="l" rtl="0" eaLnBrk="0" fontAlgn="base" hangingPunct="0">
        <a:spcBef>
          <a:spcPct val="0"/>
        </a:spcBef>
        <a:spcAft>
          <a:spcPct val="0"/>
        </a:spcAft>
        <a:defRPr sz="3600">
          <a:solidFill>
            <a:schemeClr val="tx1"/>
          </a:solidFill>
          <a:latin typeface="Calibri" panose="020F0502020204030204" pitchFamily="34" charset="0"/>
        </a:defRPr>
      </a:lvl3pPr>
      <a:lvl4pPr algn="l" rtl="0" eaLnBrk="0" fontAlgn="base" hangingPunct="0">
        <a:spcBef>
          <a:spcPct val="0"/>
        </a:spcBef>
        <a:spcAft>
          <a:spcPct val="0"/>
        </a:spcAft>
        <a:defRPr sz="3600">
          <a:solidFill>
            <a:schemeClr val="tx1"/>
          </a:solidFill>
          <a:latin typeface="Calibri" panose="020F0502020204030204" pitchFamily="34" charset="0"/>
        </a:defRPr>
      </a:lvl4pPr>
      <a:lvl5pPr algn="l" rtl="0" eaLnBrk="0" fontAlgn="base" hangingPunct="0">
        <a:spcBef>
          <a:spcPct val="0"/>
        </a:spcBef>
        <a:spcAft>
          <a:spcPct val="0"/>
        </a:spcAft>
        <a:defRPr sz="3600">
          <a:solidFill>
            <a:schemeClr val="tx1"/>
          </a:solidFill>
          <a:latin typeface="Calibri" panose="020F0502020204030204" pitchFamily="34" charset="0"/>
        </a:defRPr>
      </a:lvl5pPr>
      <a:lvl6pPr marL="457200" algn="l" rtl="0" fontAlgn="base">
        <a:spcBef>
          <a:spcPct val="0"/>
        </a:spcBef>
        <a:spcAft>
          <a:spcPct val="0"/>
        </a:spcAft>
        <a:defRPr sz="3600">
          <a:solidFill>
            <a:schemeClr val="tx1"/>
          </a:solidFill>
          <a:latin typeface="Calibri" panose="020F0502020204030204" pitchFamily="34" charset="0"/>
        </a:defRPr>
      </a:lvl6pPr>
      <a:lvl7pPr marL="914400" algn="l" rtl="0" fontAlgn="base">
        <a:spcBef>
          <a:spcPct val="0"/>
        </a:spcBef>
        <a:spcAft>
          <a:spcPct val="0"/>
        </a:spcAft>
        <a:defRPr sz="3600">
          <a:solidFill>
            <a:schemeClr val="tx1"/>
          </a:solidFill>
          <a:latin typeface="Calibri" panose="020F0502020204030204" pitchFamily="34" charset="0"/>
        </a:defRPr>
      </a:lvl7pPr>
      <a:lvl8pPr marL="1371600" algn="l" rtl="0" fontAlgn="base">
        <a:spcBef>
          <a:spcPct val="0"/>
        </a:spcBef>
        <a:spcAft>
          <a:spcPct val="0"/>
        </a:spcAft>
        <a:defRPr sz="3600">
          <a:solidFill>
            <a:schemeClr val="tx1"/>
          </a:solidFill>
          <a:latin typeface="Calibri" panose="020F0502020204030204" pitchFamily="34" charset="0"/>
        </a:defRPr>
      </a:lvl8pPr>
      <a:lvl9pPr marL="1828800" algn="l" rtl="0" fontAlgn="base">
        <a:spcBef>
          <a:spcPct val="0"/>
        </a:spcBef>
        <a:spcAft>
          <a:spcPct val="0"/>
        </a:spcAft>
        <a:defRPr sz="36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tags" Target="../tags/tag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4.xml"/><Relationship Id="rId7" Type="http://schemas.openxmlformats.org/officeDocument/2006/relationships/image" Target="../media/image29.jpeg"/><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24.xml"/><Relationship Id="rId7" Type="http://schemas.openxmlformats.org/officeDocument/2006/relationships/image" Target="../media/image36.jpeg"/><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image" Target="../media/image30.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4.xml"/><Relationship Id="rId3" Type="http://schemas.openxmlformats.org/officeDocument/2006/relationships/image" Target="../media/image41.png"/><Relationship Id="rId2" Type="http://schemas.openxmlformats.org/officeDocument/2006/relationships/image" Target="../media/image40.wmf"/><Relationship Id="rId1" Type="http://schemas.openxmlformats.org/officeDocument/2006/relationships/image" Target="../media/image39.wmf"/></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4.xml"/><Relationship Id="rId3" Type="http://schemas.openxmlformats.org/officeDocument/2006/relationships/hyperlink" Target="https://www.ted.com/talks/fei_fei_li_how_we_re_teaching_computers_to_understand_pictures?language=zh-cn" TargetMode="External"/><Relationship Id="rId2" Type="http://schemas.openxmlformats.org/officeDocument/2006/relationships/tags" Target="../tags/tag4.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image" Target="../media/image42.png"/><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hyperlink" Target="http://www.research.att.com/~yann" TargetMode="External"/><Relationship Id="rId4" Type="http://schemas.openxmlformats.org/officeDocument/2006/relationships/tags" Target="../tags/tag7.xml"/><Relationship Id="rId3" Type="http://schemas.openxmlformats.org/officeDocument/2006/relationships/image" Target="../media/image4.GIF"/><Relationship Id="rId2" Type="http://schemas.openxmlformats.org/officeDocument/2006/relationships/tags" Target="../tags/tag6.xml"/><Relationship Id="rId12" Type="http://schemas.openxmlformats.org/officeDocument/2006/relationships/notesSlide" Target="../notesSlides/notesSlide6.xml"/><Relationship Id="rId11" Type="http://schemas.openxmlformats.org/officeDocument/2006/relationships/slideLayout" Target="../slideLayouts/slideLayout28.xml"/><Relationship Id="rId10" Type="http://schemas.openxmlformats.org/officeDocument/2006/relationships/hyperlink" Target="http://en.wikipedia.org/wiki/Automatic_number_plate_recognition" TargetMode="Externa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4.xml"/><Relationship Id="rId4" Type="http://schemas.openxmlformats.org/officeDocument/2006/relationships/image" Target="../media/image43.jpeg"/><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hyperlink" Target="http://www.sonystyle.com/webapp/wcs/stores/servlet/ProductDisplay?catalogId=10551&amp;storeId=10151&amp;productId=8198552921665200469&amp;langId=-1" TargetMode="External"/><Relationship Id="rId7" Type="http://schemas.openxmlformats.org/officeDocument/2006/relationships/tags" Target="../tags/tag18.xml"/><Relationship Id="rId6" Type="http://schemas.openxmlformats.org/officeDocument/2006/relationships/image" Target="../media/image45.wmf"/><Relationship Id="rId5" Type="http://schemas.openxmlformats.org/officeDocument/2006/relationships/tags" Target="../tags/tag17.xml"/><Relationship Id="rId4" Type="http://schemas.openxmlformats.org/officeDocument/2006/relationships/image" Target="../media/image44.wmf"/><Relationship Id="rId3" Type="http://schemas.openxmlformats.org/officeDocument/2006/relationships/tags" Target="../tags/tag16.xml"/><Relationship Id="rId2" Type="http://schemas.openxmlformats.org/officeDocument/2006/relationships/tags" Target="../tags/tag15.xml"/><Relationship Id="rId10" Type="http://schemas.openxmlformats.org/officeDocument/2006/relationships/notesSlide" Target="../notesSlides/notesSlide8.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9" Type="http://schemas.openxmlformats.org/officeDocument/2006/relationships/image" Target="../media/image48.png"/><Relationship Id="rId8" Type="http://schemas.microsoft.com/office/2007/relationships/media" Target="../media/media1.avi"/><Relationship Id="rId7" Type="http://schemas.openxmlformats.org/officeDocument/2006/relationships/video" Target="../media/media1.avi"/><Relationship Id="rId6" Type="http://schemas.openxmlformats.org/officeDocument/2006/relationships/image" Target="../media/image47.png"/><Relationship Id="rId5" Type="http://schemas.microsoft.com/office/2007/relationships/media" Target="file:///C:\Users\Hoiem\Documents\Classes\Spring11%20-%20Computer%20Vision\materials\sanmarco.avi" TargetMode="External"/><Relationship Id="rId4" Type="http://schemas.openxmlformats.org/officeDocument/2006/relationships/video" Target="file:///C:\Users\Hoiem\Documents\Classes\Spring11%20-%20Computer%20Vision\materials\sanmarco.avi" TargetMode="External"/><Relationship Id="rId3" Type="http://schemas.openxmlformats.org/officeDocument/2006/relationships/image" Target="../media/image46.png"/><Relationship Id="rId2" Type="http://schemas.microsoft.com/office/2007/relationships/media" Target="file:///C:\Users\Hoiem\Documents\Classes\Spring11%20-%20Computer%20Vision\materials\stpeters.avi" TargetMode="External"/><Relationship Id="rId11" Type="http://schemas.openxmlformats.org/officeDocument/2006/relationships/notesSlide" Target="../notesSlides/notesSlide9.xml"/><Relationship Id="rId10" Type="http://schemas.openxmlformats.org/officeDocument/2006/relationships/slideLayout" Target="../slideLayouts/slideLayout24.xml"/><Relationship Id="rId1" Type="http://schemas.openxmlformats.org/officeDocument/2006/relationships/video" Target="file:///C:\Users\Hoiem\Documents\Classes\Spring11%20-%20Computer%20Vision\materials\stpeters.avi" TargetMode="Externa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4.xml"/><Relationship Id="rId6" Type="http://schemas.openxmlformats.org/officeDocument/2006/relationships/hyperlink" Target="http://www.evolution.com/products/lanehawk/" TargetMode="External"/><Relationship Id="rId5" Type="http://schemas.openxmlformats.org/officeDocument/2006/relationships/tags" Target="../tags/tag22.xml"/><Relationship Id="rId4" Type="http://schemas.openxmlformats.org/officeDocument/2006/relationships/image" Target="../media/image49.jpeg"/><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24.xml.rels><?xml version="1.0" encoding="UTF-8" standalone="yes"?>
<Relationships xmlns="http://schemas.openxmlformats.org/package/2006/relationships"><Relationship Id="rId9" Type="http://schemas.openxmlformats.org/officeDocument/2006/relationships/hyperlink" Target="http://www.cl.cam.ac.uk/~jgd1000/afghan.html" TargetMode="External"/><Relationship Id="rId8" Type="http://schemas.openxmlformats.org/officeDocument/2006/relationships/tags" Target="../tags/tag27.xml"/><Relationship Id="rId7" Type="http://schemas.openxmlformats.org/officeDocument/2006/relationships/image" Target="../media/image52.jpeg"/><Relationship Id="rId6" Type="http://schemas.openxmlformats.org/officeDocument/2006/relationships/tags" Target="../tags/tag26.xml"/><Relationship Id="rId5" Type="http://schemas.openxmlformats.org/officeDocument/2006/relationships/image" Target="../media/image51.jpeg"/><Relationship Id="rId4" Type="http://schemas.openxmlformats.org/officeDocument/2006/relationships/tags" Target="../tags/tag25.xml"/><Relationship Id="rId3" Type="http://schemas.openxmlformats.org/officeDocument/2006/relationships/image" Target="../media/image50.jpeg"/><Relationship Id="rId2" Type="http://schemas.openxmlformats.org/officeDocument/2006/relationships/tags" Target="../tags/tag24.xml"/><Relationship Id="rId12" Type="http://schemas.openxmlformats.org/officeDocument/2006/relationships/notesSlide" Target="../notesSlides/notesSlide11.xml"/><Relationship Id="rId11" Type="http://schemas.openxmlformats.org/officeDocument/2006/relationships/slideLayout" Target="../slideLayouts/slideLayout24.xml"/><Relationship Id="rId10" Type="http://schemas.openxmlformats.org/officeDocument/2006/relationships/hyperlink" Target="http://en.wikipedia.org/wiki/Afghan_Girl_(photo)" TargetMode="Externa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9" Type="http://schemas.openxmlformats.org/officeDocument/2006/relationships/image" Target="../media/image54.jpeg"/><Relationship Id="rId8" Type="http://schemas.openxmlformats.org/officeDocument/2006/relationships/tags" Target="../tags/tag33.xml"/><Relationship Id="rId7" Type="http://schemas.openxmlformats.org/officeDocument/2006/relationships/image" Target="../media/image2.jpeg"/><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image" Target="../media/image53.jpeg"/><Relationship Id="rId3" Type="http://schemas.openxmlformats.org/officeDocument/2006/relationships/tags" Target="../tags/tag30.xml"/><Relationship Id="rId2" Type="http://schemas.openxmlformats.org/officeDocument/2006/relationships/tags" Target="../tags/tag29.xml"/><Relationship Id="rId15" Type="http://schemas.openxmlformats.org/officeDocument/2006/relationships/notesSlide" Target="../notesSlides/notesSlide12.xml"/><Relationship Id="rId14" Type="http://schemas.openxmlformats.org/officeDocument/2006/relationships/slideLayout" Target="../slideLayouts/slideLayout24.xml"/><Relationship Id="rId13" Type="http://schemas.openxmlformats.org/officeDocument/2006/relationships/image" Target="../media/image55.jpeg"/><Relationship Id="rId12" Type="http://schemas.openxmlformats.org/officeDocument/2006/relationships/tags" Target="../tags/tag35.xml"/><Relationship Id="rId11" Type="http://schemas.openxmlformats.org/officeDocument/2006/relationships/hyperlink" Target="http://www.sensiblevision.com/" TargetMode="External"/><Relationship Id="rId10" Type="http://schemas.openxmlformats.org/officeDocument/2006/relationships/tags" Target="../tags/tag34.xml"/><Relationship Id="rId1" Type="http://schemas.openxmlformats.org/officeDocument/2006/relationships/tags" Target="../tags/tag28.xml"/></Relationships>
</file>

<file path=ppt/slides/_rels/slide26.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4.xml"/><Relationship Id="rId7" Type="http://schemas.openxmlformats.org/officeDocument/2006/relationships/image" Target="../media/image56.jpeg"/><Relationship Id="rId6" Type="http://schemas.openxmlformats.org/officeDocument/2006/relationships/tags" Target="../tags/tag38.xml"/><Relationship Id="rId5" Type="http://schemas.openxmlformats.org/officeDocument/2006/relationships/hyperlink" Target="http://www.google.com/mobile/goggles/#text" TargetMode="External"/><Relationship Id="rId4" Type="http://schemas.openxmlformats.org/officeDocument/2006/relationships/hyperlink" Target="http://research.nokia.com/researchteams/vcui/index.html" TargetMode="External"/><Relationship Id="rId3" Type="http://schemas.openxmlformats.org/officeDocument/2006/relationships/hyperlink" Target="http://www.infoworld.com/article/07/04/24/HNnokiasiliconvalley_1.html" TargetMode="External"/><Relationship Id="rId2" Type="http://schemas.openxmlformats.org/officeDocument/2006/relationships/tags" Target="../tags/tag37.xml"/><Relationship Id="rId1" Type="http://schemas.openxmlformats.org/officeDocument/2006/relationships/tags" Target="../tags/tag36.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24.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image" Target="../media/image58.jpeg"/><Relationship Id="rId3" Type="http://schemas.openxmlformats.org/officeDocument/2006/relationships/tags" Target="../tags/tag40.xml"/><Relationship Id="rId2" Type="http://schemas.openxmlformats.org/officeDocument/2006/relationships/image" Target="../media/image57.jpeg"/><Relationship Id="rId1" Type="http://schemas.openxmlformats.org/officeDocument/2006/relationships/tags" Target="../tags/tag39.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24.xml"/><Relationship Id="rId6" Type="http://schemas.openxmlformats.org/officeDocument/2006/relationships/image" Target="../media/image60.jpeg"/><Relationship Id="rId5" Type="http://schemas.openxmlformats.org/officeDocument/2006/relationships/tags" Target="../tags/tag46.xml"/><Relationship Id="rId4" Type="http://schemas.openxmlformats.org/officeDocument/2006/relationships/image" Target="../media/image59.jpeg"/><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hyperlink" Target="http://www.sportvision.com/video.html" TargetMode="External"/><Relationship Id="rId7" Type="http://schemas.openxmlformats.org/officeDocument/2006/relationships/hyperlink" Target="http://www.howstuffworks.com/" TargetMode="External"/><Relationship Id="rId6" Type="http://schemas.openxmlformats.org/officeDocument/2006/relationships/hyperlink" Target="http://www.howstuffworks.com/first-down-line.htm" TargetMode="External"/><Relationship Id="rId5" Type="http://schemas.openxmlformats.org/officeDocument/2006/relationships/tags" Target="../tags/tag50.xml"/><Relationship Id="rId4" Type="http://schemas.openxmlformats.org/officeDocument/2006/relationships/image" Target="../media/image61.jpeg"/><Relationship Id="rId3" Type="http://schemas.openxmlformats.org/officeDocument/2006/relationships/tags" Target="../tags/tag49.xml"/><Relationship Id="rId2" Type="http://schemas.openxmlformats.org/officeDocument/2006/relationships/tags" Target="../tags/tag48.xml"/><Relationship Id="rId10" Type="http://schemas.openxmlformats.org/officeDocument/2006/relationships/notesSlide" Target="../notesSlides/notesSlide16.xml"/><Relationship Id="rId1" Type="http://schemas.openxmlformats.org/officeDocument/2006/relationships/tags" Target="../tags/tag47.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4.xml"/><Relationship Id="rId6" Type="http://schemas.openxmlformats.org/officeDocument/2006/relationships/tags" Target="../tags/tag54.xml"/><Relationship Id="rId5" Type="http://schemas.openxmlformats.org/officeDocument/2006/relationships/image" Target="../media/image62.png"/><Relationship Id="rId4" Type="http://schemas.openxmlformats.org/officeDocument/2006/relationships/tags" Target="../tags/tag53.xml"/><Relationship Id="rId3" Type="http://schemas.openxmlformats.org/officeDocument/2006/relationships/hyperlink" Target="http://www.mobileye.com/" TargetMode="External"/><Relationship Id="rId2" Type="http://schemas.openxmlformats.org/officeDocument/2006/relationships/tags" Target="../tags/tag52.xml"/><Relationship Id="rId1" Type="http://schemas.openxmlformats.org/officeDocument/2006/relationships/tags" Target="../tags/tag51.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hyperlink" Target="http://www.thestar.com/wheels/article/1036702--human-error-blamed-after-google-s-driverless-car-sparks-five-vehicle-crash" TargetMode="External"/><Relationship Id="rId5" Type="http://schemas.openxmlformats.org/officeDocument/2006/relationships/hyperlink" Target="http://en.wikipedia.org/wiki/Financial_Post" TargetMode="External"/><Relationship Id="rId4" Type="http://schemas.openxmlformats.org/officeDocument/2006/relationships/hyperlink" Target="http://business.financialpost.com/2011/06/24/nevada-state-law-paves-the-way-for-driverless-cars/" TargetMode="External"/><Relationship Id="rId3" Type="http://schemas.openxmlformats.org/officeDocument/2006/relationships/hyperlink" Target="http://en.wikipedia.org/wiki/The_New_York_Times" TargetMode="External"/><Relationship Id="rId2" Type="http://schemas.openxmlformats.org/officeDocument/2006/relationships/hyperlink" Target="http://www.nytimes.com/2010/10/10/science/10google.html" TargetMode="External"/><Relationship Id="rId1" Type="http://schemas.openxmlformats.org/officeDocument/2006/relationships/image" Target="../media/image63.jpeg"/></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hyperlink" Target="http://www.youtube.com/watch?v=w8BmgtMKFbY" TargetMode="External"/><Relationship Id="rId3" Type="http://schemas.openxmlformats.org/officeDocument/2006/relationships/hyperlink" Target="http://www.youtube.com/watch?v=7QrnwoO1-8A" TargetMode="External"/><Relationship Id="rId2" Type="http://schemas.openxmlformats.org/officeDocument/2006/relationships/hyperlink" Target="http://www.youtube.com/watch?v=8CTJL5lUjHg" TargetMode="External"/><Relationship Id="rId1" Type="http://schemas.openxmlformats.org/officeDocument/2006/relationships/hyperlink" Target="http://www.youtube.com/watch?feature=iv&amp;v=fQ59dXOo63o" TargetMode="Externa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hyperlink" Target="http://marsrovers.jpl.nasa.gov/gallery/images.html" TargetMode="External"/><Relationship Id="rId7" Type="http://schemas.openxmlformats.org/officeDocument/2006/relationships/tags" Target="../tags/tag59.xml"/><Relationship Id="rId6" Type="http://schemas.openxmlformats.org/officeDocument/2006/relationships/hyperlink" Target="http://www.ri.cmu.edu/pubs/pub_5719.html" TargetMode="External"/><Relationship Id="rId5" Type="http://schemas.openxmlformats.org/officeDocument/2006/relationships/tags" Target="../tags/tag58.xml"/><Relationship Id="rId4" Type="http://schemas.openxmlformats.org/officeDocument/2006/relationships/image" Target="../media/image66.jpeg"/><Relationship Id="rId3" Type="http://schemas.openxmlformats.org/officeDocument/2006/relationships/tags" Target="../tags/tag57.xml"/><Relationship Id="rId2" Type="http://schemas.openxmlformats.org/officeDocument/2006/relationships/tags" Target="../tags/tag56.xml"/><Relationship Id="rId10" Type="http://schemas.openxmlformats.org/officeDocument/2006/relationships/notesSlide" Target="../notesSlides/notesSlide18.xml"/><Relationship Id="rId1" Type="http://schemas.openxmlformats.org/officeDocument/2006/relationships/tags" Target="../tags/tag55.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4.xml"/><Relationship Id="rId2" Type="http://schemas.openxmlformats.org/officeDocument/2006/relationships/image" Target="../media/image68.png"/><Relationship Id="rId1" Type="http://schemas.openxmlformats.org/officeDocument/2006/relationships/image" Target="../media/image67.png"/></Relationships>
</file>

<file path=ppt/slides/_rels/slide35.xml.rels><?xml version="1.0" encoding="UTF-8" standalone="yes"?>
<Relationships xmlns="http://schemas.openxmlformats.org/package/2006/relationships"><Relationship Id="rId9" Type="http://schemas.openxmlformats.org/officeDocument/2006/relationships/hyperlink" Target="http://upload.wikimedia.org/wikipedia/commons/d/d8/NASA_Mars_Rover.jpg" TargetMode="External"/><Relationship Id="rId8" Type="http://schemas.openxmlformats.org/officeDocument/2006/relationships/hyperlink" Target="http://www.robocup.org/" TargetMode="External"/><Relationship Id="rId7" Type="http://schemas.openxmlformats.org/officeDocument/2006/relationships/tags" Target="../tags/tag64.xml"/><Relationship Id="rId6" Type="http://schemas.openxmlformats.org/officeDocument/2006/relationships/image" Target="../media/image69.jpeg"/><Relationship Id="rId5" Type="http://schemas.openxmlformats.org/officeDocument/2006/relationships/tags" Target="../tags/tag63.xml"/><Relationship Id="rId4" Type="http://schemas.openxmlformats.org/officeDocument/2006/relationships/hyperlink" Target="UNSW_CMU.mpg" TargetMode="External"/><Relationship Id="rId3" Type="http://schemas.openxmlformats.org/officeDocument/2006/relationships/tags" Target="../tags/tag62.xml"/><Relationship Id="rId2" Type="http://schemas.openxmlformats.org/officeDocument/2006/relationships/tags" Target="../tags/tag61.xml"/><Relationship Id="rId17" Type="http://schemas.openxmlformats.org/officeDocument/2006/relationships/notesSlide" Target="../notesSlides/notesSlide20.xml"/><Relationship Id="rId16" Type="http://schemas.openxmlformats.org/officeDocument/2006/relationships/slideLayout" Target="../slideLayouts/slideLayout28.xml"/><Relationship Id="rId15" Type="http://schemas.openxmlformats.org/officeDocument/2006/relationships/hyperlink" Target="http://stair.stanford.edu/" TargetMode="External"/><Relationship Id="rId14" Type="http://schemas.openxmlformats.org/officeDocument/2006/relationships/image" Target="../media/image71.jpeg"/><Relationship Id="rId13" Type="http://schemas.openxmlformats.org/officeDocument/2006/relationships/hyperlink" Target="http://en.wikipedia.org/wiki/Spirit_rover" TargetMode="External"/><Relationship Id="rId12" Type="http://schemas.openxmlformats.org/officeDocument/2006/relationships/tags" Target="../tags/tag66.xml"/><Relationship Id="rId11" Type="http://schemas.openxmlformats.org/officeDocument/2006/relationships/image" Target="../media/image70.jpeg"/><Relationship Id="rId10" Type="http://schemas.openxmlformats.org/officeDocument/2006/relationships/tags" Target="../tags/tag65.xml"/><Relationship Id="rId1" Type="http://schemas.openxmlformats.org/officeDocument/2006/relationships/tags" Target="../tags/tag60.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tags" Target="../tags/tag71.xml"/><Relationship Id="rId7" Type="http://schemas.openxmlformats.org/officeDocument/2006/relationships/hyperlink" Target="http://groups.csail.mit.edu/vision/medical-vision/surgery/surgical_navigation.html" TargetMode="External"/><Relationship Id="rId6" Type="http://schemas.openxmlformats.org/officeDocument/2006/relationships/tags" Target="../tags/tag70.xml"/><Relationship Id="rId5" Type="http://schemas.openxmlformats.org/officeDocument/2006/relationships/image" Target="../media/image73.png"/><Relationship Id="rId4" Type="http://schemas.openxmlformats.org/officeDocument/2006/relationships/tags" Target="../tags/tag69.xml"/><Relationship Id="rId3" Type="http://schemas.openxmlformats.org/officeDocument/2006/relationships/image" Target="../media/image72.png"/><Relationship Id="rId2" Type="http://schemas.openxmlformats.org/officeDocument/2006/relationships/tags" Target="../tags/tag68.xml"/><Relationship Id="rId10" Type="http://schemas.openxmlformats.org/officeDocument/2006/relationships/notesSlide" Target="../notesSlides/notesSlide21.xml"/><Relationship Id="rId1" Type="http://schemas.openxmlformats.org/officeDocument/2006/relationships/tags" Target="../tags/tag6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5.xml"/><Relationship Id="rId2" Type="http://schemas.openxmlformats.org/officeDocument/2006/relationships/hyperlink" Target="http://szeliski.org/Book/" TargetMode="External"/><Relationship Id="rId1" Type="http://schemas.openxmlformats.org/officeDocument/2006/relationships/image" Target="../media/image7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C:\Users\hays\Desktop\143 Computer Vision\slides\01\BioMech_Eye_by_kirkh.jpg"/>
          <p:cNvPicPr>
            <a:picLocks noChangeAspect="1" noChangeArrowheads="1"/>
          </p:cNvPicPr>
          <p:nvPr/>
        </p:nvPicPr>
        <p:blipFill>
          <a:blip r:embed="rId1" cstate="print"/>
          <a:srcRect/>
          <a:stretch>
            <a:fillRect/>
          </a:stretch>
        </p:blipFill>
        <p:spPr bwMode="auto">
          <a:xfrm>
            <a:off x="-533559" y="152400"/>
            <a:ext cx="9751219" cy="6500813"/>
          </a:xfrm>
          <a:prstGeom prst="rect">
            <a:avLst/>
          </a:prstGeom>
          <a:noFill/>
        </p:spPr>
      </p:pic>
      <p:sp>
        <p:nvSpPr>
          <p:cNvPr id="2" name="Title 1"/>
          <p:cNvSpPr>
            <a:spLocks noGrp="1"/>
          </p:cNvSpPr>
          <p:nvPr>
            <p:ph type="ctrTitle"/>
          </p:nvPr>
        </p:nvSpPr>
        <p:spPr>
          <a:xfrm>
            <a:off x="685800" y="152400"/>
            <a:ext cx="8228330" cy="1470025"/>
          </a:xfrm>
          <a:solidFill>
            <a:schemeClr val="tx1">
              <a:alpha val="60000"/>
            </a:schemeClr>
          </a:solidFill>
        </p:spPr>
        <p:txBody>
          <a:bodyPr/>
          <a:lstStyle/>
          <a:p>
            <a:r>
              <a:rPr lang="en-US" dirty="0">
                <a:solidFill>
                  <a:schemeClr val="bg1"/>
                </a:solidFill>
              </a:rPr>
              <a:t>Introduction to   Computer  Vision</a:t>
            </a:r>
            <a:endParaRPr lang="en-US" dirty="0">
              <a:solidFill>
                <a:schemeClr val="bg1"/>
              </a:solidFill>
            </a:endParaRPr>
          </a:p>
        </p:txBody>
      </p:sp>
      <p:sp>
        <p:nvSpPr>
          <p:cNvPr id="5" name="TextBox 4"/>
          <p:cNvSpPr txBox="1"/>
          <p:nvPr/>
        </p:nvSpPr>
        <p:spPr>
          <a:xfrm>
            <a:off x="7848600" y="6457890"/>
            <a:ext cx="1600200" cy="400110"/>
          </a:xfrm>
          <a:prstGeom prst="rect">
            <a:avLst/>
          </a:prstGeom>
          <a:noFill/>
        </p:spPr>
        <p:txBody>
          <a:bodyPr wrap="square" rtlCol="0">
            <a:spAutoFit/>
          </a:bodyPr>
          <a:lstStyle/>
          <a:p>
            <a:r>
              <a:rPr lang="en-US" sz="1000" dirty="0">
                <a:solidFill>
                  <a:schemeClr val="bg1"/>
                </a:solidFill>
              </a:rPr>
              <a:t>Image by kirkh.deviantart.com</a:t>
            </a:r>
            <a:endParaRPr lang="en-US" sz="1000" dirty="0">
              <a:solidFill>
                <a:schemeClr val="bg1"/>
              </a:solidFill>
            </a:endParaRPr>
          </a:p>
        </p:txBody>
      </p:sp>
      <p:sp>
        <p:nvSpPr>
          <p:cNvPr id="4" name="副标题 3"/>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Computer Vision  in Our Living</a:t>
            </a:r>
            <a:endParaRPr lang="zh-CN" altLang="en-US" dirty="0"/>
          </a:p>
        </p:txBody>
      </p:sp>
      <p:sp>
        <p:nvSpPr>
          <p:cNvPr id="3" name="内容占位符 2"/>
          <p:cNvSpPr>
            <a:spLocks noGrp="1"/>
          </p:cNvSpPr>
          <p:nvPr>
            <p:ph idx="1"/>
          </p:nvPr>
        </p:nvSpPr>
        <p:spPr/>
        <p:txBody>
          <a:bodyPr/>
          <a:lstStyle/>
          <a:p>
            <a:r>
              <a:rPr lang="zh-CN" altLang="en-US" b="1" dirty="0">
                <a:latin typeface="+mn-ea"/>
              </a:rPr>
              <a:t>指纹识别</a:t>
            </a:r>
            <a:endParaRPr lang="en-US" altLang="zh-CN" b="1" dirty="0">
              <a:latin typeface="+mn-ea"/>
            </a:endParaRPr>
          </a:p>
          <a:p>
            <a:endParaRPr lang="en-US" altLang="zh-CN" b="1" dirty="0">
              <a:latin typeface="+mn-ea"/>
            </a:endParaRPr>
          </a:p>
          <a:p>
            <a:r>
              <a:rPr lang="zh-CN" altLang="en-US" b="1" dirty="0">
                <a:latin typeface="+mn-ea"/>
              </a:rPr>
              <a:t>无人驾驶  </a:t>
            </a:r>
            <a:endParaRPr lang="en-US" altLang="zh-CN" b="1" dirty="0">
              <a:latin typeface="+mn-ea"/>
            </a:endParaRPr>
          </a:p>
          <a:p>
            <a:pPr marL="0" indent="0">
              <a:buNone/>
            </a:pPr>
            <a:endParaRPr lang="en-US" altLang="zh-CN" b="1" dirty="0">
              <a:latin typeface="+mn-ea"/>
            </a:endParaRPr>
          </a:p>
          <a:p>
            <a:r>
              <a:rPr lang="en-US" altLang="zh-CN" b="1" dirty="0">
                <a:latin typeface="+mn-ea"/>
              </a:rPr>
              <a:t>OCR（Optical Character Recognition）</a:t>
            </a:r>
            <a:endParaRPr lang="en-US" altLang="zh-CN" b="1" dirty="0">
              <a:latin typeface="+mn-ea"/>
            </a:endParaRPr>
          </a:p>
          <a:p>
            <a:endParaRPr lang="en-US" altLang="zh-CN" dirty="0"/>
          </a:p>
          <a:p>
            <a:endParaRPr lang="zh-CN" altLang="en-US" dirty="0"/>
          </a:p>
        </p:txBody>
      </p:sp>
      <p:pic>
        <p:nvPicPr>
          <p:cNvPr id="4" name="Picture 9" descr="FINGERPRINT"/>
          <p:cNvPicPr>
            <a:picLocks noChangeAspect="1" noChangeArrowheads="1"/>
          </p:cNvPicPr>
          <p:nvPr>
            <p:custDataLst>
              <p:tags r:id="rId1"/>
            </p:custDataLst>
          </p:nvPr>
        </p:nvPicPr>
        <p:blipFill>
          <a:blip r:embed="rId2" cstate="print"/>
          <a:srcRect/>
          <a:stretch>
            <a:fillRect/>
          </a:stretch>
        </p:blipFill>
        <p:spPr bwMode="auto">
          <a:xfrm>
            <a:off x="3258081" y="1143000"/>
            <a:ext cx="1057275" cy="1524000"/>
          </a:xfrm>
          <a:prstGeom prst="rect">
            <a:avLst/>
          </a:prstGeom>
          <a:noFill/>
          <a:ln w="9525">
            <a:noFill/>
            <a:miter lim="800000"/>
            <a:headEnd/>
            <a:tailEnd/>
          </a:ln>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199" y="1676400"/>
            <a:ext cx="3221999" cy="1957812"/>
          </a:xfrm>
          <a:prstGeom prst="rect">
            <a:avLst/>
          </a:prstGeom>
        </p:spPr>
      </p:pic>
      <p:pic>
        <p:nvPicPr>
          <p:cNvPr id="6" name="Picture 3" descr="asamples"/>
          <p:cNvPicPr>
            <a:picLocks noChangeAspect="1" noChangeArrowheads="1" noCrop="1"/>
          </p:cNvPicPr>
          <p:nvPr>
            <p:custDataLst>
              <p:tags r:id="rId4"/>
            </p:custDataLst>
          </p:nvPr>
        </p:nvPicPr>
        <p:blipFill>
          <a:blip r:embed="rId5" cstate="print"/>
          <a:srcRect/>
          <a:stretch>
            <a:fillRect/>
          </a:stretch>
        </p:blipFill>
        <p:spPr bwMode="auto">
          <a:xfrm>
            <a:off x="2971800" y="4548612"/>
            <a:ext cx="3657600" cy="2286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Computer Vision?</a:t>
            </a:r>
            <a:endParaRPr lang="en-US" dirty="0"/>
          </a:p>
        </p:txBody>
      </p:sp>
      <p:pic>
        <p:nvPicPr>
          <p:cNvPr id="1027" name="Picture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914400" y="1600200"/>
            <a:ext cx="6781800" cy="16117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895600"/>
            <a:ext cx="6019800" cy="3826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04800" y="914400"/>
            <a:ext cx="7758932" cy="2767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8860" y="533400"/>
            <a:ext cx="7288340" cy="5578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990600"/>
            <a:ext cx="7095893"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685800"/>
            <a:ext cx="6700520" cy="49028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b="1" dirty="0"/>
              <a:t>Explosive growth of Image </a:t>
            </a:r>
            <a:br>
              <a:rPr lang="en-US" altLang="zh-CN" b="1" dirty="0"/>
            </a:br>
            <a:r>
              <a:rPr lang="en-US" altLang="zh-CN" b="1" dirty="0"/>
              <a:t>and video data </a:t>
            </a:r>
            <a:endParaRPr lang="zh-CN" altLang="en-US" b="1" dirty="0"/>
          </a:p>
        </p:txBody>
      </p:sp>
      <p:sp>
        <p:nvSpPr>
          <p:cNvPr id="3" name="内容占位符 2"/>
          <p:cNvSpPr>
            <a:spLocks noGrp="1"/>
          </p:cNvSpPr>
          <p:nvPr>
            <p:ph idx="1"/>
          </p:nvPr>
        </p:nvSpPr>
        <p:spPr/>
        <p:txBody>
          <a:bodyPr/>
          <a:lstStyle/>
          <a:p>
            <a:endParaRPr lang="zh-CN" altLang="en-US" dirty="0"/>
          </a:p>
        </p:txBody>
      </p:sp>
      <p:pic>
        <p:nvPicPr>
          <p:cNvPr id="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96218" y="2206739"/>
            <a:ext cx="5315210" cy="3127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053187"/>
            <a:ext cx="381000" cy="3204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t>Vision is really hard</a:t>
            </a:r>
            <a:endParaRPr lang="en-US"/>
          </a:p>
        </p:txBody>
      </p:sp>
      <p:sp>
        <p:nvSpPr>
          <p:cNvPr id="3" name="Content Placeholder 2"/>
          <p:cNvSpPr>
            <a:spLocks noGrp="1"/>
          </p:cNvSpPr>
          <p:nvPr>
            <p:ph idx="1"/>
          </p:nvPr>
        </p:nvSpPr>
        <p:spPr>
          <a:xfrm>
            <a:off x="347663" y="1295400"/>
            <a:ext cx="8262937" cy="5257800"/>
          </a:xfrm>
        </p:spPr>
        <p:txBody>
          <a:bodyPr/>
          <a:lstStyle/>
          <a:p>
            <a:pPr eaLnBrk="1" hangingPunct="1"/>
            <a:r>
              <a:rPr lang="en-US" dirty="0"/>
              <a:t>Vision is an amazing feat of natural intelligence	</a:t>
            </a:r>
            <a:endParaRPr lang="en-US" dirty="0"/>
          </a:p>
          <a:p>
            <a:pPr eaLnBrk="1" hangingPunct="1"/>
            <a:r>
              <a:rPr lang="en-US" dirty="0"/>
              <a:t>--</a:t>
            </a:r>
            <a:r>
              <a:rPr lang="en-US" sz="2400" dirty="0"/>
              <a:t>80% perceptions are from eyes</a:t>
            </a:r>
            <a:endParaRPr lang="en-US" sz="2400" dirty="0"/>
          </a:p>
          <a:p>
            <a:pPr lvl="1" eaLnBrk="1" hangingPunct="1"/>
            <a:r>
              <a:rPr lang="en-US" sz="2400" dirty="0"/>
              <a:t>Visual cortex occupies about 50% of Macaque brain</a:t>
            </a:r>
            <a:endParaRPr lang="en-US" sz="2400" dirty="0"/>
          </a:p>
          <a:p>
            <a:pPr lvl="1" eaLnBrk="1" hangingPunct="1"/>
            <a:r>
              <a:rPr lang="en-US" sz="2400" dirty="0"/>
              <a:t>More human brain devoted to vision than anything else</a:t>
            </a:r>
            <a:endParaRPr lang="en-US" sz="2400" dirty="0"/>
          </a:p>
        </p:txBody>
      </p:sp>
      <p:pic>
        <p:nvPicPr>
          <p:cNvPr id="19461" name="Picture 5"/>
          <p:cNvPicPr>
            <a:picLocks noChangeAspect="1" noChangeArrowheads="1"/>
          </p:cNvPicPr>
          <p:nvPr/>
        </p:nvPicPr>
        <p:blipFill>
          <a:blip r:embed="rId1" cstate="print"/>
          <a:srcRect/>
          <a:stretch>
            <a:fillRect/>
          </a:stretch>
        </p:blipFill>
        <p:spPr bwMode="auto">
          <a:xfrm>
            <a:off x="3124200" y="3886200"/>
            <a:ext cx="2070100" cy="2819400"/>
          </a:xfrm>
          <a:prstGeom prst="rect">
            <a:avLst/>
          </a:prstGeom>
          <a:noFill/>
          <a:ln w="9525">
            <a:noFill/>
            <a:miter lim="800000"/>
            <a:headEnd/>
            <a:tailEnd/>
          </a:ln>
        </p:spPr>
      </p:pic>
      <p:sp>
        <p:nvSpPr>
          <p:cNvPr id="9" name="Cloud 8"/>
          <p:cNvSpPr/>
          <p:nvPr/>
        </p:nvSpPr>
        <p:spPr bwMode="auto">
          <a:xfrm>
            <a:off x="5105400" y="3886200"/>
            <a:ext cx="2438400" cy="1371600"/>
          </a:xfrm>
          <a:prstGeom prst="cloud">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lstStyle/>
          <a:p>
            <a:pPr algn="ctr" fontAlgn="base">
              <a:spcBef>
                <a:spcPct val="0"/>
              </a:spcBef>
              <a:spcAft>
                <a:spcPct val="0"/>
              </a:spcAft>
              <a:defRPr/>
            </a:pPr>
            <a:r>
              <a:rPr lang="en-US" sz="2000" dirty="0">
                <a:solidFill>
                  <a:prstClr val="black"/>
                </a:solidFill>
                <a:latin typeface="Comic Sans MS" panose="030F0702030302020204" pitchFamily="66" charset="0"/>
              </a:rPr>
              <a:t>Is that a queen or a bishop?</a:t>
            </a:r>
            <a:endParaRPr lang="en-US" sz="2000" dirty="0">
              <a:solidFill>
                <a:prstClr val="black"/>
              </a:solidFill>
              <a:latin typeface="Comic Sans MS" panose="030F0702030302020204" pitchFamily="66" charset="0"/>
            </a:endParaRPr>
          </a:p>
        </p:txBody>
      </p:sp>
      <p:sp>
        <p:nvSpPr>
          <p:cNvPr id="10" name="Cloud 9"/>
          <p:cNvSpPr/>
          <p:nvPr/>
        </p:nvSpPr>
        <p:spPr bwMode="auto">
          <a:xfrm>
            <a:off x="4343400" y="3886200"/>
            <a:ext cx="152400" cy="152400"/>
          </a:xfrm>
          <a:prstGeom prst="cloud">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normAutofit fontScale="25000" lnSpcReduction="20000"/>
          </a:bodyPr>
          <a:lstStyle/>
          <a:p>
            <a:pPr algn="ctr" fontAlgn="base">
              <a:spcBef>
                <a:spcPct val="0"/>
              </a:spcBef>
              <a:spcAft>
                <a:spcPct val="0"/>
              </a:spcAft>
              <a:defRPr/>
            </a:pPr>
            <a:endParaRPr lang="en-US" b="1" dirty="0">
              <a:solidFill>
                <a:prstClr val="black"/>
              </a:solidFill>
              <a:latin typeface="Arial" panose="020B0604020202020204" pitchFamily="34" charset="0"/>
            </a:endParaRPr>
          </a:p>
        </p:txBody>
      </p:sp>
      <p:sp>
        <p:nvSpPr>
          <p:cNvPr id="11" name="Cloud 10"/>
          <p:cNvSpPr/>
          <p:nvPr/>
        </p:nvSpPr>
        <p:spPr bwMode="auto">
          <a:xfrm>
            <a:off x="4724400" y="3886200"/>
            <a:ext cx="304800" cy="228600"/>
          </a:xfrm>
          <a:prstGeom prst="cloud">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nchor="ctr">
            <a:normAutofit fontScale="25000" lnSpcReduction="20000"/>
          </a:bodyPr>
          <a:lstStyle/>
          <a:p>
            <a:pPr algn="ctr" fontAlgn="base">
              <a:spcBef>
                <a:spcPct val="0"/>
              </a:spcBef>
              <a:spcAft>
                <a:spcPct val="0"/>
              </a:spcAft>
              <a:defRPr/>
            </a:pPr>
            <a:endParaRPr lang="en-US" b="1" dirty="0">
              <a:solidFill>
                <a:prstClr val="black"/>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t>Why computer vision matters</a:t>
            </a:r>
            <a:endParaRPr lang="en-US"/>
          </a:p>
        </p:txBody>
      </p:sp>
      <p:pic>
        <p:nvPicPr>
          <p:cNvPr id="13315" name="Picture 2"/>
          <p:cNvPicPr>
            <a:picLocks noChangeAspect="1" noChangeArrowheads="1"/>
          </p:cNvPicPr>
          <p:nvPr/>
        </p:nvPicPr>
        <p:blipFill>
          <a:blip r:embed="rId1" cstate="print"/>
          <a:srcRect/>
          <a:stretch>
            <a:fillRect/>
          </a:stretch>
        </p:blipFill>
        <p:spPr bwMode="auto">
          <a:xfrm>
            <a:off x="609600" y="1609725"/>
            <a:ext cx="2138363" cy="1600200"/>
          </a:xfrm>
          <a:prstGeom prst="rect">
            <a:avLst/>
          </a:prstGeom>
          <a:noFill/>
          <a:ln w="9525">
            <a:noFill/>
            <a:miter lim="800000"/>
            <a:headEnd/>
            <a:tailEnd/>
          </a:ln>
        </p:spPr>
      </p:pic>
      <p:sp>
        <p:nvSpPr>
          <p:cNvPr id="13316" name="TextBox 5"/>
          <p:cNvSpPr txBox="1">
            <a:spLocks noChangeArrowheads="1"/>
          </p:cNvSpPr>
          <p:nvPr/>
        </p:nvSpPr>
        <p:spPr bwMode="auto">
          <a:xfrm>
            <a:off x="990600" y="3286125"/>
            <a:ext cx="1203325" cy="523875"/>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Arial" panose="020B0604020202020204" pitchFamily="34" charset="0"/>
              </a:rPr>
              <a:t>Safety</a:t>
            </a:r>
            <a:endParaRPr lang="en-US" sz="2800">
              <a:solidFill>
                <a:prstClr val="black"/>
              </a:solidFill>
              <a:latin typeface="Arial" panose="020B0604020202020204" pitchFamily="34" charset="0"/>
            </a:endParaRPr>
          </a:p>
        </p:txBody>
      </p:sp>
      <p:pic>
        <p:nvPicPr>
          <p:cNvPr id="13317" name="Picture 2"/>
          <p:cNvPicPr>
            <a:picLocks noChangeAspect="1" noChangeArrowheads="1"/>
          </p:cNvPicPr>
          <p:nvPr/>
        </p:nvPicPr>
        <p:blipFill>
          <a:blip r:embed="rId2" cstate="print"/>
          <a:srcRect/>
          <a:stretch>
            <a:fillRect/>
          </a:stretch>
        </p:blipFill>
        <p:spPr bwMode="auto">
          <a:xfrm>
            <a:off x="3200400" y="1609725"/>
            <a:ext cx="2401888" cy="1600200"/>
          </a:xfrm>
          <a:prstGeom prst="rect">
            <a:avLst/>
          </a:prstGeom>
          <a:noFill/>
          <a:ln w="9525">
            <a:noFill/>
            <a:miter lim="800000"/>
            <a:headEnd/>
            <a:tailEnd/>
          </a:ln>
        </p:spPr>
      </p:pic>
      <p:sp>
        <p:nvSpPr>
          <p:cNvPr id="13318" name="TextBox 7"/>
          <p:cNvSpPr txBox="1">
            <a:spLocks noChangeArrowheads="1"/>
          </p:cNvSpPr>
          <p:nvPr/>
        </p:nvSpPr>
        <p:spPr bwMode="auto">
          <a:xfrm>
            <a:off x="3810000" y="3209925"/>
            <a:ext cx="1225550" cy="523875"/>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Arial" panose="020B0604020202020204" pitchFamily="34" charset="0"/>
              </a:rPr>
              <a:t>Health</a:t>
            </a:r>
            <a:endParaRPr lang="en-US" sz="2800">
              <a:solidFill>
                <a:prstClr val="black"/>
              </a:solidFill>
              <a:latin typeface="Arial" panose="020B0604020202020204" pitchFamily="34" charset="0"/>
            </a:endParaRPr>
          </a:p>
        </p:txBody>
      </p:sp>
      <p:pic>
        <p:nvPicPr>
          <p:cNvPr id="13319" name="Picture 5"/>
          <p:cNvPicPr>
            <a:picLocks noChangeAspect="1" noChangeArrowheads="1"/>
          </p:cNvPicPr>
          <p:nvPr/>
        </p:nvPicPr>
        <p:blipFill>
          <a:blip r:embed="rId3" cstate="print"/>
          <a:srcRect/>
          <a:stretch>
            <a:fillRect/>
          </a:stretch>
        </p:blipFill>
        <p:spPr bwMode="auto">
          <a:xfrm>
            <a:off x="6248400" y="1609725"/>
            <a:ext cx="2005013" cy="1600200"/>
          </a:xfrm>
          <a:prstGeom prst="rect">
            <a:avLst/>
          </a:prstGeom>
          <a:noFill/>
          <a:ln w="9525">
            <a:noFill/>
            <a:miter lim="800000"/>
            <a:headEnd/>
            <a:tailEnd/>
          </a:ln>
        </p:spPr>
      </p:pic>
      <p:sp>
        <p:nvSpPr>
          <p:cNvPr id="13320" name="TextBox 9"/>
          <p:cNvSpPr txBox="1">
            <a:spLocks noChangeArrowheads="1"/>
          </p:cNvSpPr>
          <p:nvPr/>
        </p:nvSpPr>
        <p:spPr bwMode="auto">
          <a:xfrm>
            <a:off x="6400800" y="3209925"/>
            <a:ext cx="1482725" cy="523875"/>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Arial" panose="020B0604020202020204" pitchFamily="34" charset="0"/>
              </a:rPr>
              <a:t>Security</a:t>
            </a:r>
            <a:endParaRPr lang="en-US" sz="2800">
              <a:solidFill>
                <a:prstClr val="black"/>
              </a:solidFill>
              <a:latin typeface="Arial" panose="020B0604020202020204" pitchFamily="34" charset="0"/>
            </a:endParaRPr>
          </a:p>
        </p:txBody>
      </p:sp>
      <p:sp>
        <p:nvSpPr>
          <p:cNvPr id="13321" name="TextBox 11"/>
          <p:cNvSpPr txBox="1">
            <a:spLocks noChangeArrowheads="1"/>
          </p:cNvSpPr>
          <p:nvPr/>
        </p:nvSpPr>
        <p:spPr bwMode="auto">
          <a:xfrm>
            <a:off x="914400" y="5953125"/>
            <a:ext cx="1463675" cy="523875"/>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Arial" panose="020B0604020202020204" pitchFamily="34" charset="0"/>
              </a:rPr>
              <a:t>Comfort</a:t>
            </a:r>
            <a:endParaRPr lang="en-US" sz="2800">
              <a:solidFill>
                <a:prstClr val="black"/>
              </a:solidFill>
              <a:latin typeface="Arial" panose="020B0604020202020204" pitchFamily="34" charset="0"/>
            </a:endParaRPr>
          </a:p>
        </p:txBody>
      </p:sp>
      <p:pic>
        <p:nvPicPr>
          <p:cNvPr id="13322" name="Picture 6"/>
          <p:cNvPicPr>
            <a:picLocks noChangeAspect="1" noChangeArrowheads="1"/>
          </p:cNvPicPr>
          <p:nvPr/>
        </p:nvPicPr>
        <p:blipFill>
          <a:blip r:embed="rId4" cstate="print"/>
          <a:srcRect/>
          <a:stretch>
            <a:fillRect/>
          </a:stretch>
        </p:blipFill>
        <p:spPr bwMode="auto">
          <a:xfrm>
            <a:off x="6248400" y="4343400"/>
            <a:ext cx="2095500" cy="1600200"/>
          </a:xfrm>
          <a:prstGeom prst="rect">
            <a:avLst/>
          </a:prstGeom>
          <a:noFill/>
          <a:ln w="9525">
            <a:solidFill>
              <a:schemeClr val="tx1"/>
            </a:solidFill>
            <a:miter lim="800000"/>
            <a:headEnd/>
            <a:tailEnd/>
          </a:ln>
        </p:spPr>
      </p:pic>
      <p:sp>
        <p:nvSpPr>
          <p:cNvPr id="13323" name="TextBox 13"/>
          <p:cNvSpPr txBox="1">
            <a:spLocks noChangeArrowheads="1"/>
          </p:cNvSpPr>
          <p:nvPr/>
        </p:nvSpPr>
        <p:spPr bwMode="auto">
          <a:xfrm>
            <a:off x="6705600" y="5943600"/>
            <a:ext cx="1341438" cy="523875"/>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Arial" panose="020B0604020202020204" pitchFamily="34" charset="0"/>
              </a:rPr>
              <a:t>Access</a:t>
            </a:r>
            <a:endParaRPr lang="en-US" sz="2800">
              <a:solidFill>
                <a:prstClr val="black"/>
              </a:solidFill>
              <a:latin typeface="Arial" panose="020B0604020202020204" pitchFamily="34" charset="0"/>
            </a:endParaRPr>
          </a:p>
        </p:txBody>
      </p:sp>
      <p:pic>
        <p:nvPicPr>
          <p:cNvPr id="13324" name="Picture 2"/>
          <p:cNvPicPr>
            <a:picLocks noChangeAspect="1" noChangeArrowheads="1"/>
          </p:cNvPicPr>
          <p:nvPr/>
        </p:nvPicPr>
        <p:blipFill>
          <a:blip r:embed="rId5" cstate="print"/>
          <a:srcRect l="20078" t="7430"/>
          <a:stretch>
            <a:fillRect/>
          </a:stretch>
        </p:blipFill>
        <p:spPr bwMode="auto">
          <a:xfrm>
            <a:off x="3276600" y="4343400"/>
            <a:ext cx="2216150" cy="1600200"/>
          </a:xfrm>
          <a:prstGeom prst="rect">
            <a:avLst/>
          </a:prstGeom>
          <a:noFill/>
          <a:ln w="9525">
            <a:noFill/>
            <a:miter lim="800000"/>
            <a:headEnd/>
            <a:tailEnd/>
          </a:ln>
        </p:spPr>
      </p:pic>
      <p:sp>
        <p:nvSpPr>
          <p:cNvPr id="13325" name="TextBox 15"/>
          <p:cNvSpPr txBox="1">
            <a:spLocks noChangeArrowheads="1"/>
          </p:cNvSpPr>
          <p:nvPr/>
        </p:nvSpPr>
        <p:spPr bwMode="auto">
          <a:xfrm>
            <a:off x="3962400" y="5867400"/>
            <a:ext cx="804863" cy="523875"/>
          </a:xfrm>
          <a:prstGeom prst="rect">
            <a:avLst/>
          </a:prstGeom>
          <a:noFill/>
          <a:ln w="9525">
            <a:noFill/>
            <a:miter lim="800000"/>
          </a:ln>
        </p:spPr>
        <p:txBody>
          <a:bodyPr wrap="none">
            <a:spAutoFit/>
          </a:bodyPr>
          <a:lstStyle/>
          <a:p>
            <a:pPr fontAlgn="base">
              <a:spcBef>
                <a:spcPct val="0"/>
              </a:spcBef>
              <a:spcAft>
                <a:spcPct val="0"/>
              </a:spcAft>
            </a:pPr>
            <a:r>
              <a:rPr lang="en-US" sz="2800">
                <a:solidFill>
                  <a:prstClr val="black"/>
                </a:solidFill>
                <a:latin typeface="Arial" panose="020B0604020202020204" pitchFamily="34" charset="0"/>
              </a:rPr>
              <a:t>Fun</a:t>
            </a:r>
            <a:endParaRPr lang="en-US" sz="2800">
              <a:solidFill>
                <a:prstClr val="black"/>
              </a:solidFill>
              <a:latin typeface="Arial" panose="020B0604020202020204" pitchFamily="34" charset="0"/>
            </a:endParaRPr>
          </a:p>
        </p:txBody>
      </p:sp>
      <p:pic>
        <p:nvPicPr>
          <p:cNvPr id="13326" name="Picture 2"/>
          <p:cNvPicPr>
            <a:picLocks noChangeAspect="1" noChangeArrowheads="1"/>
          </p:cNvPicPr>
          <p:nvPr/>
        </p:nvPicPr>
        <p:blipFill>
          <a:blip r:embed="rId6" cstate="print"/>
          <a:srcRect l="26999" r="8202" b="32710"/>
          <a:stretch>
            <a:fillRect/>
          </a:stretch>
        </p:blipFill>
        <p:spPr bwMode="auto">
          <a:xfrm>
            <a:off x="762000" y="4343400"/>
            <a:ext cx="1920875" cy="1600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 y="1104079"/>
            <a:ext cx="7696200" cy="46246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500063"/>
            <a:ext cx="8401050" cy="5857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1295400"/>
            <a:ext cx="7391400" cy="44170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dirty="0">
                <a:ea typeface="宋体" panose="02010600030101010101" pitchFamily="2" charset="-122"/>
              </a:rPr>
              <a:t>Challenges: many nuisance parameters</a:t>
            </a:r>
            <a:endParaRPr lang="en-US" altLang="zh-CN" dirty="0">
              <a:ea typeface="宋体" panose="02010600030101010101" pitchFamily="2" charset="-122"/>
            </a:endParaRPr>
          </a:p>
        </p:txBody>
      </p:sp>
      <p:pic>
        <p:nvPicPr>
          <p:cNvPr id="13315" name="Picture 3" descr="koala1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11175" y="1339850"/>
            <a:ext cx="16033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4" descr="koala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5150" y="1573213"/>
            <a:ext cx="2127250" cy="159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 Box 5"/>
          <p:cNvSpPr txBox="1">
            <a:spLocks noChangeArrowheads="1"/>
          </p:cNvSpPr>
          <p:nvPr/>
        </p:nvSpPr>
        <p:spPr bwMode="auto">
          <a:xfrm>
            <a:off x="454025" y="3168650"/>
            <a:ext cx="18319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pPr eaLnBrk="1" hangingPunct="1">
              <a:spcBef>
                <a:spcPct val="50000"/>
              </a:spcBef>
            </a:pPr>
            <a:r>
              <a:rPr lang="en-US" altLang="zh-CN" sz="2200">
                <a:solidFill>
                  <a:srgbClr val="000000"/>
                </a:solidFill>
                <a:ea typeface="宋体" panose="02010600030101010101" pitchFamily="2" charset="-122"/>
                <a:cs typeface="Arial" panose="020B0604020202020204" pitchFamily="34" charset="0"/>
              </a:rPr>
              <a:t>Illumination</a:t>
            </a:r>
            <a:endParaRPr lang="en-US" altLang="zh-CN" sz="2200">
              <a:solidFill>
                <a:srgbClr val="000000"/>
              </a:solidFill>
              <a:ea typeface="宋体" panose="02010600030101010101" pitchFamily="2" charset="-122"/>
              <a:cs typeface="Arial" panose="020B0604020202020204" pitchFamily="34" charset="0"/>
            </a:endParaRPr>
          </a:p>
        </p:txBody>
      </p:sp>
      <p:pic>
        <p:nvPicPr>
          <p:cNvPr id="13318" name="Picture 6" descr="koala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4963" y="1339850"/>
            <a:ext cx="13620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 Box 7"/>
          <p:cNvSpPr txBox="1">
            <a:spLocks noChangeArrowheads="1"/>
          </p:cNvSpPr>
          <p:nvPr/>
        </p:nvSpPr>
        <p:spPr bwMode="auto">
          <a:xfrm>
            <a:off x="3575050" y="3168650"/>
            <a:ext cx="18319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pPr eaLnBrk="1" hangingPunct="1">
              <a:spcBef>
                <a:spcPct val="50000"/>
              </a:spcBef>
            </a:pPr>
            <a:r>
              <a:rPr lang="en-US" altLang="zh-CN" sz="2200">
                <a:solidFill>
                  <a:srgbClr val="000000"/>
                </a:solidFill>
                <a:ea typeface="宋体" panose="02010600030101010101" pitchFamily="2" charset="-122"/>
                <a:cs typeface="Arial" panose="020B0604020202020204" pitchFamily="34" charset="0"/>
              </a:rPr>
              <a:t>Object pose</a:t>
            </a:r>
            <a:endParaRPr lang="en-US" altLang="zh-CN" sz="2200">
              <a:solidFill>
                <a:srgbClr val="000000"/>
              </a:solidFill>
              <a:ea typeface="宋体" panose="02010600030101010101" pitchFamily="2" charset="-122"/>
              <a:cs typeface="Arial" panose="020B0604020202020204" pitchFamily="34" charset="0"/>
            </a:endParaRPr>
          </a:p>
        </p:txBody>
      </p:sp>
      <p:pic>
        <p:nvPicPr>
          <p:cNvPr id="13320" name="Picture 8" descr="koala11"/>
          <p:cNvPicPr>
            <a:picLocks noChangeAspect="1" noChangeArrowheads="1"/>
          </p:cNvPicPr>
          <p:nvPr/>
        </p:nvPicPr>
        <p:blipFill>
          <a:blip r:embed="rId4">
            <a:extLst>
              <a:ext uri="{28A0092B-C50C-407E-A947-70E740481C1C}">
                <a14:useLocalDpi xmlns:a14="http://schemas.microsoft.com/office/drawing/2010/main" val="0"/>
              </a:ext>
            </a:extLst>
          </a:blip>
          <a:srcRect r="17667"/>
          <a:stretch>
            <a:fillRect/>
          </a:stretch>
        </p:blipFill>
        <p:spPr bwMode="auto">
          <a:xfrm>
            <a:off x="6038850" y="3824288"/>
            <a:ext cx="14636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Text Box 9"/>
          <p:cNvSpPr txBox="1">
            <a:spLocks noChangeArrowheads="1"/>
          </p:cNvSpPr>
          <p:nvPr/>
        </p:nvSpPr>
        <p:spPr bwMode="auto">
          <a:xfrm>
            <a:off x="6686550" y="3214688"/>
            <a:ext cx="20574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pPr algn="ctr" eaLnBrk="1" hangingPunct="1">
              <a:spcBef>
                <a:spcPct val="50000"/>
              </a:spcBef>
            </a:pPr>
            <a:r>
              <a:rPr lang="en-US" altLang="zh-CN" sz="2200">
                <a:solidFill>
                  <a:srgbClr val="000000"/>
                </a:solidFill>
                <a:ea typeface="宋体" panose="02010600030101010101" pitchFamily="2" charset="-122"/>
                <a:cs typeface="Arial" panose="020B0604020202020204" pitchFamily="34" charset="0"/>
              </a:rPr>
              <a:t>Clutter</a:t>
            </a:r>
            <a:endParaRPr lang="en-US" altLang="zh-CN" sz="2200">
              <a:solidFill>
                <a:srgbClr val="000000"/>
              </a:solidFill>
              <a:ea typeface="宋体" panose="02010600030101010101" pitchFamily="2" charset="-122"/>
              <a:cs typeface="Arial" panose="020B0604020202020204" pitchFamily="34" charset="0"/>
            </a:endParaRPr>
          </a:p>
        </p:txBody>
      </p:sp>
      <p:sp>
        <p:nvSpPr>
          <p:cNvPr id="13322" name="Text Box 10"/>
          <p:cNvSpPr txBox="1">
            <a:spLocks noChangeArrowheads="1"/>
          </p:cNvSpPr>
          <p:nvPr/>
        </p:nvSpPr>
        <p:spPr bwMode="auto">
          <a:xfrm>
            <a:off x="6007100" y="5607050"/>
            <a:ext cx="3254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pPr eaLnBrk="1" hangingPunct="1">
              <a:spcBef>
                <a:spcPct val="50000"/>
              </a:spcBef>
            </a:pPr>
            <a:r>
              <a:rPr lang="en-US" altLang="zh-CN" sz="2200">
                <a:solidFill>
                  <a:srgbClr val="000000"/>
                </a:solidFill>
                <a:ea typeface="宋体" panose="02010600030101010101" pitchFamily="2" charset="-122"/>
                <a:cs typeface="Arial" panose="020B0604020202020204" pitchFamily="34" charset="0"/>
              </a:rPr>
              <a:t>Viewpoint</a:t>
            </a:r>
            <a:endParaRPr lang="en-US" altLang="zh-CN" sz="2200">
              <a:solidFill>
                <a:srgbClr val="000000"/>
              </a:solidFill>
              <a:ea typeface="宋体" panose="02010600030101010101" pitchFamily="2" charset="-122"/>
              <a:cs typeface="Arial" panose="020B0604020202020204" pitchFamily="34" charset="0"/>
            </a:endParaRPr>
          </a:p>
        </p:txBody>
      </p:sp>
      <p:grpSp>
        <p:nvGrpSpPr>
          <p:cNvPr id="13323" name="Group 11"/>
          <p:cNvGrpSpPr/>
          <p:nvPr/>
        </p:nvGrpSpPr>
        <p:grpSpPr bwMode="auto">
          <a:xfrm>
            <a:off x="3011488" y="3900488"/>
            <a:ext cx="2690812" cy="2408237"/>
            <a:chOff x="2005" y="2990"/>
            <a:chExt cx="1695" cy="1517"/>
          </a:xfrm>
        </p:grpSpPr>
        <p:sp>
          <p:nvSpPr>
            <p:cNvPr id="13328" name="Text Box 12"/>
            <p:cNvSpPr txBox="1">
              <a:spLocks noChangeArrowheads="1"/>
            </p:cNvSpPr>
            <p:nvPr/>
          </p:nvSpPr>
          <p:spPr bwMode="auto">
            <a:xfrm>
              <a:off x="2005" y="4027"/>
              <a:ext cx="169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pPr algn="ctr" eaLnBrk="1" hangingPunct="1">
                <a:spcBef>
                  <a:spcPct val="50000"/>
                </a:spcBef>
              </a:pPr>
              <a:r>
                <a:rPr lang="en-US" altLang="zh-CN" sz="2200">
                  <a:solidFill>
                    <a:srgbClr val="000000"/>
                  </a:solidFill>
                  <a:ea typeface="宋体" panose="02010600030101010101" pitchFamily="2" charset="-122"/>
                  <a:cs typeface="Arial" panose="020B0604020202020204" pitchFamily="34" charset="0"/>
                </a:rPr>
                <a:t>Intra-class appearance</a:t>
              </a:r>
              <a:endParaRPr lang="en-US" altLang="zh-CN" sz="2200">
                <a:solidFill>
                  <a:srgbClr val="000000"/>
                </a:solidFill>
                <a:ea typeface="宋体" panose="02010600030101010101" pitchFamily="2" charset="-122"/>
                <a:cs typeface="Arial" panose="020B0604020202020204" pitchFamily="34" charset="0"/>
              </a:endParaRPr>
            </a:p>
          </p:txBody>
        </p:sp>
        <p:pic>
          <p:nvPicPr>
            <p:cNvPr id="13329" name="Picture 13" descr="albinokoal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20" y="2990"/>
              <a:ext cx="1074" cy="1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324" name="Text Box 14"/>
          <p:cNvSpPr txBox="1">
            <a:spLocks noChangeArrowheads="1"/>
          </p:cNvSpPr>
          <p:nvPr/>
        </p:nvSpPr>
        <p:spPr bwMode="auto">
          <a:xfrm>
            <a:off x="1084263" y="5565775"/>
            <a:ext cx="18319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pPr eaLnBrk="1" hangingPunct="1">
              <a:spcBef>
                <a:spcPct val="50000"/>
              </a:spcBef>
            </a:pPr>
            <a:r>
              <a:rPr lang="en-US" altLang="zh-CN" sz="2200">
                <a:solidFill>
                  <a:srgbClr val="000000"/>
                </a:solidFill>
                <a:ea typeface="宋体" panose="02010600030101010101" pitchFamily="2" charset="-122"/>
                <a:cs typeface="Arial" panose="020B0604020202020204" pitchFamily="34" charset="0"/>
              </a:rPr>
              <a:t>Occlusions</a:t>
            </a:r>
            <a:endParaRPr lang="en-US" altLang="zh-CN" sz="2200">
              <a:solidFill>
                <a:srgbClr val="000000"/>
              </a:solidFill>
              <a:ea typeface="宋体" panose="02010600030101010101" pitchFamily="2" charset="-122"/>
              <a:cs typeface="Arial" panose="020B0604020202020204" pitchFamily="34" charset="0"/>
            </a:endParaRPr>
          </a:p>
        </p:txBody>
      </p:sp>
      <p:pic>
        <p:nvPicPr>
          <p:cNvPr id="13325" name="Picture 15" descr="koala_occlusions"/>
          <p:cNvPicPr>
            <a:picLocks noChangeAspect="1" noChangeArrowheads="1"/>
          </p:cNvPicPr>
          <p:nvPr/>
        </p:nvPicPr>
        <p:blipFill>
          <a:blip r:embed="rId6">
            <a:lum bright="6000"/>
            <a:extLst>
              <a:ext uri="{28A0092B-C50C-407E-A947-70E740481C1C}">
                <a14:useLocalDpi xmlns:a14="http://schemas.microsoft.com/office/drawing/2010/main" val="0"/>
              </a:ext>
            </a:extLst>
          </a:blip>
          <a:srcRect b="19913"/>
          <a:stretch>
            <a:fillRect/>
          </a:stretch>
        </p:blipFill>
        <p:spPr bwMode="auto">
          <a:xfrm>
            <a:off x="1241425" y="3900488"/>
            <a:ext cx="1401763"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6" name="Picture 16" descr="koalas_lgbg"/>
          <p:cNvPicPr>
            <a:picLocks noChangeAspect="1" noChangeArrowheads="1"/>
          </p:cNvPicPr>
          <p:nvPr/>
        </p:nvPicPr>
        <p:blipFill>
          <a:blip r:embed="rId7">
            <a:extLst>
              <a:ext uri="{28A0092B-C50C-407E-A947-70E740481C1C}">
                <a14:useLocalDpi xmlns:a14="http://schemas.microsoft.com/office/drawing/2010/main" val="0"/>
              </a:ext>
            </a:extLst>
          </a:blip>
          <a:srcRect r="40761"/>
          <a:stretch>
            <a:fillRect/>
          </a:stretch>
        </p:blipFill>
        <p:spPr bwMode="auto">
          <a:xfrm>
            <a:off x="6921500" y="1339850"/>
            <a:ext cx="16256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Footer Placeholder 4"/>
          <p:cNvSpPr txBox="1">
            <a:spLocks noGrp="1"/>
          </p:cNvSpPr>
          <p:nvPr/>
        </p:nvSpPr>
        <p:spPr bwMode="auto">
          <a:xfrm>
            <a:off x="2376488" y="6553200"/>
            <a:ext cx="457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pPr algn="ctr"/>
            <a:r>
              <a:rPr lang="de-DE" altLang="zh-CN" sz="1200" b="0"/>
              <a:t>K. Grauman, B. Leibe</a:t>
            </a:r>
            <a:endParaRPr lang="de-DE" altLang="zh-CN" sz="1200" b="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fld id="{4F057956-1FA8-4CFE-AD85-BB41FDC5ADBE}" type="slidenum">
              <a:rPr lang="de-DE" altLang="zh-CN" sz="1400" b="0"/>
            </a:fld>
            <a:endParaRPr lang="de-DE" altLang="zh-CN" sz="1400" b="0"/>
          </a:p>
        </p:txBody>
      </p:sp>
      <p:sp>
        <p:nvSpPr>
          <p:cNvPr id="10243" name="Footer Placeholder 4"/>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bg2"/>
                </a:solidFill>
                <a:latin typeface="Trebuchet MS" panose="020B0603020202020204" pitchFamily="34" charset="0"/>
              </a:defRPr>
            </a:lvl1pPr>
            <a:lvl2pPr marL="742950" indent="-285750">
              <a:defRPr sz="2000" b="1">
                <a:solidFill>
                  <a:schemeClr val="bg2"/>
                </a:solidFill>
                <a:latin typeface="Trebuchet MS" panose="020B0603020202020204" pitchFamily="34" charset="0"/>
              </a:defRPr>
            </a:lvl2pPr>
            <a:lvl3pPr marL="1143000" indent="-228600">
              <a:defRPr sz="2000" b="1">
                <a:solidFill>
                  <a:schemeClr val="bg2"/>
                </a:solidFill>
                <a:latin typeface="Trebuchet MS" panose="020B0603020202020204" pitchFamily="34" charset="0"/>
              </a:defRPr>
            </a:lvl3pPr>
            <a:lvl4pPr marL="1600200" indent="-228600">
              <a:defRPr sz="2000" b="1">
                <a:solidFill>
                  <a:schemeClr val="bg2"/>
                </a:solidFill>
                <a:latin typeface="Trebuchet MS" panose="020B0603020202020204" pitchFamily="34" charset="0"/>
              </a:defRPr>
            </a:lvl4pPr>
            <a:lvl5pPr marL="2057400" indent="-228600">
              <a:defRPr sz="2000" b="1">
                <a:solidFill>
                  <a:schemeClr val="bg2"/>
                </a:solidFill>
                <a:latin typeface="Trebuchet MS" panose="020B0603020202020204" pitchFamily="34" charset="0"/>
              </a:defRPr>
            </a:lvl5pPr>
            <a:lvl6pPr marL="2514600" indent="-228600" eaLnBrk="0" fontAlgn="base" hangingPunct="0">
              <a:spcBef>
                <a:spcPct val="0"/>
              </a:spcBef>
              <a:spcAft>
                <a:spcPct val="0"/>
              </a:spcAft>
              <a:defRPr sz="2000" b="1">
                <a:solidFill>
                  <a:schemeClr val="bg2"/>
                </a:solidFill>
                <a:latin typeface="Trebuchet MS" panose="020B0603020202020204" pitchFamily="34" charset="0"/>
              </a:defRPr>
            </a:lvl6pPr>
            <a:lvl7pPr marL="2971800" indent="-228600" eaLnBrk="0" fontAlgn="base" hangingPunct="0">
              <a:spcBef>
                <a:spcPct val="0"/>
              </a:spcBef>
              <a:spcAft>
                <a:spcPct val="0"/>
              </a:spcAft>
              <a:defRPr sz="2000" b="1">
                <a:solidFill>
                  <a:schemeClr val="bg2"/>
                </a:solidFill>
                <a:latin typeface="Trebuchet MS" panose="020B0603020202020204" pitchFamily="34" charset="0"/>
              </a:defRPr>
            </a:lvl7pPr>
            <a:lvl8pPr marL="3429000" indent="-228600" eaLnBrk="0" fontAlgn="base" hangingPunct="0">
              <a:spcBef>
                <a:spcPct val="0"/>
              </a:spcBef>
              <a:spcAft>
                <a:spcPct val="0"/>
              </a:spcAft>
              <a:defRPr sz="2000" b="1">
                <a:solidFill>
                  <a:schemeClr val="bg2"/>
                </a:solidFill>
                <a:latin typeface="Trebuchet MS" panose="020B0603020202020204" pitchFamily="34" charset="0"/>
              </a:defRPr>
            </a:lvl8pPr>
            <a:lvl9pPr marL="3886200" indent="-228600" eaLnBrk="0" fontAlgn="base" hangingPunct="0">
              <a:spcBef>
                <a:spcPct val="0"/>
              </a:spcBef>
              <a:spcAft>
                <a:spcPct val="0"/>
              </a:spcAft>
              <a:defRPr sz="2000" b="1">
                <a:solidFill>
                  <a:schemeClr val="bg2"/>
                </a:solidFill>
                <a:latin typeface="Trebuchet MS" panose="020B0603020202020204" pitchFamily="34" charset="0"/>
              </a:defRPr>
            </a:lvl9pPr>
          </a:lstStyle>
          <a:p>
            <a:r>
              <a:rPr lang="de-DE" altLang="zh-CN" sz="1200" b="0"/>
              <a:t>K. Grauman, B. Leibe</a:t>
            </a:r>
            <a:endParaRPr lang="de-DE" altLang="zh-CN" sz="1200" b="0"/>
          </a:p>
        </p:txBody>
      </p:sp>
      <p:sp>
        <p:nvSpPr>
          <p:cNvPr id="10244" name="Rectangle 2"/>
          <p:cNvSpPr>
            <a:spLocks noGrp="1" noChangeArrowheads="1"/>
          </p:cNvSpPr>
          <p:nvPr>
            <p:ph type="title"/>
          </p:nvPr>
        </p:nvSpPr>
        <p:spPr/>
        <p:txBody>
          <a:bodyPr/>
          <a:lstStyle/>
          <a:p>
            <a:r>
              <a:rPr lang="en-US" altLang="zh-CN" dirty="0">
                <a:ea typeface="宋体" panose="02010600030101010101" pitchFamily="2" charset="-122"/>
              </a:rPr>
              <a:t>Challenge: intra-class variation</a:t>
            </a:r>
            <a:endParaRPr lang="en-US" altLang="zh-CN" dirty="0">
              <a:ea typeface="宋体" panose="02010600030101010101" pitchFamily="2" charset="-122"/>
            </a:endParaRPr>
          </a:p>
        </p:txBody>
      </p:sp>
      <p:sp>
        <p:nvSpPr>
          <p:cNvPr id="10245" name="Rectangle 3"/>
          <p:cNvSpPr>
            <a:spLocks noGrp="1" noChangeArrowheads="1"/>
          </p:cNvSpPr>
          <p:nvPr>
            <p:ph type="body" idx="1"/>
          </p:nvPr>
        </p:nvSpPr>
        <p:spPr/>
        <p:txBody>
          <a:bodyPr/>
          <a:lstStyle/>
          <a:p>
            <a:r>
              <a:rPr lang="en-US" altLang="zh-CN" dirty="0">
                <a:ea typeface="宋体" panose="02010600030101010101" pitchFamily="2" charset="-122"/>
              </a:rPr>
              <a:t>Functional Categories</a:t>
            </a:r>
            <a:endParaRPr lang="en-US" altLang="zh-CN" dirty="0">
              <a:ea typeface="宋体" panose="02010600030101010101" pitchFamily="2" charset="-122"/>
            </a:endParaRPr>
          </a:p>
          <a:p>
            <a:pPr lvl="1"/>
            <a:r>
              <a:rPr lang="en-US" altLang="zh-CN" dirty="0">
                <a:ea typeface="宋体" panose="02010600030101010101" pitchFamily="2" charset="-122"/>
              </a:rPr>
              <a:t>e.g. chairs = </a:t>
            </a:r>
            <a:r>
              <a:rPr lang="en-US" altLang="zh-CN" i="1" dirty="0">
                <a:ea typeface="宋体" panose="02010600030101010101" pitchFamily="2" charset="-122"/>
              </a:rPr>
              <a:t>“something you can sit on”</a:t>
            </a:r>
            <a:endParaRPr lang="en-US" altLang="zh-CN" i="1" dirty="0">
              <a:ea typeface="宋体" panose="02010600030101010101" pitchFamily="2" charset="-122"/>
            </a:endParaRPr>
          </a:p>
        </p:txBody>
      </p:sp>
      <p:pic>
        <p:nvPicPr>
          <p:cNvPr id="10246" name="Picture 4" descr="chai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3068638"/>
            <a:ext cx="1373187"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5" descr="chair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3825" y="4329113"/>
            <a:ext cx="1373188"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8" name="Picture 6" descr="chair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54300" y="2276475"/>
            <a:ext cx="1292225"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Picture 7" descr="chair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700" y="2347913"/>
            <a:ext cx="12827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0" name="Picture 8" descr="chair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85000" y="4256088"/>
            <a:ext cx="1498600"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1" name="Picture 9" descr="chair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2455863"/>
            <a:ext cx="989013"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2" name="Picture 10" descr="chair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24388" y="4364038"/>
            <a:ext cx="1963737"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9296" y="609600"/>
            <a:ext cx="7416504" cy="56779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672232"/>
            <a:ext cx="7772400" cy="5858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z="3200" dirty="0"/>
              <a:t>Ridiculously brief history of computer vision</a:t>
            </a:r>
            <a:endParaRPr lang="en-US" sz="3200" dirty="0"/>
          </a:p>
        </p:txBody>
      </p:sp>
      <p:pic>
        <p:nvPicPr>
          <p:cNvPr id="4" name="Picture 4"/>
          <p:cNvPicPr>
            <a:picLocks noChangeAspect="1" noChangeArrowheads="1"/>
          </p:cNvPicPr>
          <p:nvPr/>
        </p:nvPicPr>
        <p:blipFill>
          <a:blip r:embed="rId1" cstate="print"/>
          <a:srcRect/>
          <a:stretch>
            <a:fillRect/>
          </a:stretch>
        </p:blipFill>
        <p:spPr bwMode="auto">
          <a:xfrm>
            <a:off x="6477000" y="762000"/>
            <a:ext cx="1752600" cy="1673225"/>
          </a:xfrm>
          <a:prstGeom prst="rect">
            <a:avLst/>
          </a:prstGeom>
          <a:noFill/>
          <a:ln w="9525">
            <a:noFill/>
            <a:miter lim="800000"/>
            <a:headEnd/>
            <a:tailEnd/>
          </a:ln>
        </p:spPr>
      </p:pic>
      <p:sp>
        <p:nvSpPr>
          <p:cNvPr id="6" name="Content Placeholder 2"/>
          <p:cNvSpPr>
            <a:spLocks noGrp="1"/>
          </p:cNvSpPr>
          <p:nvPr>
            <p:ph idx="1"/>
          </p:nvPr>
        </p:nvSpPr>
        <p:spPr>
          <a:xfrm>
            <a:off x="457200" y="990600"/>
            <a:ext cx="5486400" cy="5486400"/>
          </a:xfrm>
        </p:spPr>
        <p:txBody>
          <a:bodyPr>
            <a:normAutofit lnSpcReduction="10000"/>
          </a:bodyPr>
          <a:lstStyle/>
          <a:p>
            <a:pPr>
              <a:defRPr/>
            </a:pPr>
            <a:r>
              <a:rPr lang="en-US" sz="2400" dirty="0"/>
              <a:t>1966: </a:t>
            </a:r>
            <a:r>
              <a:rPr lang="en-US" sz="2400" dirty="0" err="1"/>
              <a:t>Minsky</a:t>
            </a:r>
            <a:r>
              <a:rPr lang="en-US" sz="2400" dirty="0"/>
              <a:t> assigns computer vision as an undergrad summer project</a:t>
            </a:r>
            <a:endParaRPr lang="en-US" sz="2400" dirty="0"/>
          </a:p>
          <a:p>
            <a:pPr>
              <a:defRPr/>
            </a:pPr>
            <a:r>
              <a:rPr lang="en-US" sz="2400" dirty="0"/>
              <a:t>1960’s: interpretation of synthetic worlds</a:t>
            </a:r>
            <a:endParaRPr lang="en-US" sz="2400" dirty="0"/>
          </a:p>
          <a:p>
            <a:pPr>
              <a:defRPr/>
            </a:pPr>
            <a:r>
              <a:rPr lang="en-US" sz="2400" dirty="0"/>
              <a:t>1970’s: some progress on interpreting selected images</a:t>
            </a:r>
            <a:endParaRPr lang="en-US" sz="2400" dirty="0"/>
          </a:p>
          <a:p>
            <a:pPr>
              <a:defRPr/>
            </a:pPr>
            <a:r>
              <a:rPr lang="en-US" sz="2400" dirty="0"/>
              <a:t>1980’s: ANNs come and go; shift toward geometry and increased mathematical rigor</a:t>
            </a:r>
            <a:endParaRPr lang="en-US" sz="2400" dirty="0">
              <a:sym typeface="Wingdings" panose="05000000000000000000" pitchFamily="2" charset="2"/>
            </a:endParaRPr>
          </a:p>
          <a:p>
            <a:pPr>
              <a:defRPr/>
            </a:pPr>
            <a:r>
              <a:rPr lang="en-US" sz="2400" dirty="0">
                <a:sym typeface="Wingdings" panose="05000000000000000000" pitchFamily="2" charset="2"/>
              </a:rPr>
              <a:t>1990’s: face recognition; statistical analysis in vogue</a:t>
            </a:r>
            <a:endParaRPr lang="en-US" sz="2400" dirty="0">
              <a:sym typeface="Wingdings" panose="05000000000000000000" pitchFamily="2" charset="2"/>
            </a:endParaRPr>
          </a:p>
          <a:p>
            <a:pPr>
              <a:defRPr/>
            </a:pPr>
            <a:r>
              <a:rPr lang="en-US" sz="2400" dirty="0">
                <a:sym typeface="Wingdings" panose="05000000000000000000" pitchFamily="2" charset="2"/>
              </a:rPr>
              <a:t>2000’s: broader recognition; large annotated datasets available; video processing starts</a:t>
            </a:r>
            <a:endParaRPr lang="en-US" sz="2400" dirty="0">
              <a:sym typeface="Wingdings" panose="05000000000000000000" pitchFamily="2" charset="2"/>
            </a:endParaRPr>
          </a:p>
          <a:p>
            <a:pPr>
              <a:defRPr/>
            </a:pPr>
            <a:r>
              <a:rPr lang="en-US" sz="2400" dirty="0">
                <a:sym typeface="Wingdings" panose="05000000000000000000" pitchFamily="2" charset="2"/>
              </a:rPr>
              <a:t>2030’s: robot uprising?</a:t>
            </a:r>
            <a:endParaRPr lang="en-US" sz="2400" dirty="0">
              <a:sym typeface="Wingdings" panose="05000000000000000000" pitchFamily="2" charset="2"/>
            </a:endParaRPr>
          </a:p>
          <a:p>
            <a:pPr>
              <a:defRPr/>
            </a:pPr>
            <a:endParaRPr lang="en-US" sz="2400" dirty="0"/>
          </a:p>
        </p:txBody>
      </p:sp>
      <p:sp>
        <p:nvSpPr>
          <p:cNvPr id="7" name="TextBox 6"/>
          <p:cNvSpPr txBox="1">
            <a:spLocks noChangeArrowheads="1"/>
          </p:cNvSpPr>
          <p:nvPr/>
        </p:nvSpPr>
        <p:spPr bwMode="auto">
          <a:xfrm>
            <a:off x="6781800" y="2286000"/>
            <a:ext cx="1149350" cy="307975"/>
          </a:xfrm>
          <a:prstGeom prst="rect">
            <a:avLst/>
          </a:prstGeom>
          <a:noFill/>
          <a:ln w="9525">
            <a:noFill/>
            <a:miter lim="800000"/>
          </a:ln>
        </p:spPr>
        <p:txBody>
          <a:bodyPr wrap="none">
            <a:spAutoFit/>
          </a:bodyPr>
          <a:lstStyle/>
          <a:p>
            <a:pPr fontAlgn="base">
              <a:spcBef>
                <a:spcPct val="0"/>
              </a:spcBef>
              <a:spcAft>
                <a:spcPct val="0"/>
              </a:spcAft>
            </a:pPr>
            <a:r>
              <a:rPr lang="en-US" sz="1400">
                <a:solidFill>
                  <a:prstClr val="black"/>
                </a:solidFill>
                <a:latin typeface="Arial" panose="020B0604020202020204" pitchFamily="34" charset="0"/>
              </a:rPr>
              <a:t>Guzman ‘68</a:t>
            </a:r>
            <a:endParaRPr lang="en-US" sz="1400">
              <a:solidFill>
                <a:prstClr val="black"/>
              </a:solidFill>
              <a:latin typeface="Arial" panose="020B0604020202020204" pitchFamily="34" charset="0"/>
            </a:endParaRPr>
          </a:p>
        </p:txBody>
      </p:sp>
      <p:pic>
        <p:nvPicPr>
          <p:cNvPr id="8" name="Picture 3"/>
          <p:cNvPicPr>
            <a:picLocks noChangeAspect="1" noChangeArrowheads="1"/>
          </p:cNvPicPr>
          <p:nvPr/>
        </p:nvPicPr>
        <p:blipFill>
          <a:blip r:embed="rId2" cstate="print"/>
          <a:srcRect l="64282" t="2711" r="4964" b="19205"/>
          <a:stretch>
            <a:fillRect/>
          </a:stretch>
        </p:blipFill>
        <p:spPr bwMode="auto">
          <a:xfrm>
            <a:off x="6477000" y="2590800"/>
            <a:ext cx="1863725" cy="1831975"/>
          </a:xfrm>
          <a:prstGeom prst="rect">
            <a:avLst/>
          </a:prstGeom>
          <a:noFill/>
          <a:ln w="9525">
            <a:noFill/>
            <a:miter lim="800000"/>
            <a:headEnd/>
            <a:tailEnd/>
          </a:ln>
        </p:spPr>
      </p:pic>
      <p:sp>
        <p:nvSpPr>
          <p:cNvPr id="9" name="TextBox 8"/>
          <p:cNvSpPr txBox="1">
            <a:spLocks noChangeArrowheads="1"/>
          </p:cNvSpPr>
          <p:nvPr/>
        </p:nvSpPr>
        <p:spPr bwMode="auto">
          <a:xfrm>
            <a:off x="6781800" y="4343400"/>
            <a:ext cx="1528763" cy="307975"/>
          </a:xfrm>
          <a:prstGeom prst="rect">
            <a:avLst/>
          </a:prstGeom>
          <a:noFill/>
          <a:ln w="9525">
            <a:noFill/>
            <a:miter lim="800000"/>
          </a:ln>
        </p:spPr>
        <p:txBody>
          <a:bodyPr wrap="none">
            <a:spAutoFit/>
          </a:bodyPr>
          <a:lstStyle/>
          <a:p>
            <a:pPr fontAlgn="base">
              <a:spcBef>
                <a:spcPct val="0"/>
              </a:spcBef>
              <a:spcAft>
                <a:spcPct val="0"/>
              </a:spcAft>
            </a:pPr>
            <a:r>
              <a:rPr lang="en-US" sz="1400">
                <a:solidFill>
                  <a:prstClr val="black"/>
                </a:solidFill>
                <a:latin typeface="Arial" panose="020B0604020202020204" pitchFamily="34" charset="0"/>
              </a:rPr>
              <a:t>Ohta Kanade ‘78</a:t>
            </a:r>
            <a:endParaRPr lang="en-US" sz="1400">
              <a:solidFill>
                <a:prstClr val="black"/>
              </a:solidFill>
              <a:latin typeface="Arial" panose="020B0604020202020204" pitchFamily="34" charset="0"/>
            </a:endParaRPr>
          </a:p>
        </p:txBody>
      </p:sp>
      <p:pic>
        <p:nvPicPr>
          <p:cNvPr id="87042" name="Picture 2"/>
          <p:cNvPicPr>
            <a:picLocks noChangeAspect="1" noChangeArrowheads="1"/>
          </p:cNvPicPr>
          <p:nvPr/>
        </p:nvPicPr>
        <p:blipFill>
          <a:blip r:embed="rId3" cstate="print"/>
          <a:srcRect/>
          <a:stretch>
            <a:fillRect/>
          </a:stretch>
        </p:blipFill>
        <p:spPr bwMode="auto">
          <a:xfrm>
            <a:off x="6705600" y="4800600"/>
            <a:ext cx="1466850" cy="1752600"/>
          </a:xfrm>
          <a:prstGeom prst="rect">
            <a:avLst/>
          </a:prstGeom>
          <a:noFill/>
          <a:ln w="9525">
            <a:noFill/>
            <a:miter lim="800000"/>
            <a:headEnd/>
            <a:tailEnd/>
          </a:ln>
        </p:spPr>
      </p:pic>
      <p:sp>
        <p:nvSpPr>
          <p:cNvPr id="11" name="TextBox 10"/>
          <p:cNvSpPr txBox="1">
            <a:spLocks noChangeArrowheads="1"/>
          </p:cNvSpPr>
          <p:nvPr/>
        </p:nvSpPr>
        <p:spPr bwMode="auto">
          <a:xfrm>
            <a:off x="6477000" y="6477000"/>
            <a:ext cx="1928813" cy="307975"/>
          </a:xfrm>
          <a:prstGeom prst="rect">
            <a:avLst/>
          </a:prstGeom>
          <a:noFill/>
          <a:ln w="9525">
            <a:noFill/>
            <a:miter lim="800000"/>
          </a:ln>
        </p:spPr>
        <p:txBody>
          <a:bodyPr wrap="none">
            <a:spAutoFit/>
          </a:bodyPr>
          <a:lstStyle/>
          <a:p>
            <a:pPr fontAlgn="base">
              <a:spcBef>
                <a:spcPct val="0"/>
              </a:spcBef>
              <a:spcAft>
                <a:spcPct val="0"/>
              </a:spcAft>
            </a:pPr>
            <a:r>
              <a:rPr lang="en-US" sz="1400">
                <a:solidFill>
                  <a:prstClr val="black"/>
                </a:solidFill>
                <a:latin typeface="Arial" panose="020B0604020202020204" pitchFamily="34" charset="0"/>
              </a:rPr>
              <a:t>Turk and Pentland ‘91</a:t>
            </a:r>
            <a:endParaRPr lang="en-US" sz="1400">
              <a:solidFill>
                <a:prstClr val="black"/>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70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custDataLst>
              <p:tags r:id="rId1"/>
            </p:custDataLst>
          </p:nvPr>
        </p:nvSpPr>
        <p:spPr/>
        <p:txBody>
          <a:bodyPr/>
          <a:lstStyle/>
          <a:p>
            <a:pPr eaLnBrk="1" hangingPunct="1"/>
            <a:r>
              <a:rPr lang="en-US"/>
              <a:t>How vision is used now</a:t>
            </a:r>
            <a:endParaRPr lang="en-US"/>
          </a:p>
        </p:txBody>
      </p:sp>
      <p:sp>
        <p:nvSpPr>
          <p:cNvPr id="16387" name="Rectangle 3"/>
          <p:cNvSpPr>
            <a:spLocks noGrp="1" noChangeArrowheads="1"/>
          </p:cNvSpPr>
          <p:nvPr>
            <p:ph type="body" idx="1"/>
            <p:custDataLst>
              <p:tags r:id="rId2"/>
            </p:custDataLst>
          </p:nvPr>
        </p:nvSpPr>
        <p:spPr/>
        <p:txBody>
          <a:bodyPr>
            <a:normAutofit fontScale="92500" lnSpcReduction="10000"/>
          </a:bodyPr>
          <a:lstStyle/>
          <a:p>
            <a:pPr eaLnBrk="1" hangingPunct="1"/>
            <a:r>
              <a:rPr lang="en-US" dirty="0"/>
              <a:t>Examples of state-of-the-art</a:t>
            </a:r>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endParaRPr lang="en-US" dirty="0"/>
          </a:p>
          <a:p>
            <a:pPr eaLnBrk="1" hangingPunct="1"/>
            <a:r>
              <a:rPr lang="en-US" dirty="0">
                <a:hlinkClick r:id="rId3"/>
              </a:rPr>
              <a:t>https://www.ted.com/talks/fei_fei_li_how_we_re_teaching_computers_to_understand_pictures?language=zh-cn</a:t>
            </a:r>
            <a:r>
              <a:rPr lang="zh-CN" altLang="en-US" dirty="0"/>
              <a:t>（李飞飞</a:t>
            </a:r>
            <a:r>
              <a:rPr lang="en-US" altLang="zh-CN" dirty="0"/>
              <a:t>TED</a:t>
            </a:r>
            <a:r>
              <a:rPr lang="zh-CN" altLang="en-US" dirty="0"/>
              <a:t>视频）</a:t>
            </a:r>
            <a:endParaRPr lang="en-US" dirty="0"/>
          </a:p>
        </p:txBody>
      </p:sp>
      <p:sp>
        <p:nvSpPr>
          <p:cNvPr id="16388" name="TextBox 3"/>
          <p:cNvSpPr txBox="1">
            <a:spLocks noChangeArrowheads="1"/>
          </p:cNvSpPr>
          <p:nvPr/>
        </p:nvSpPr>
        <p:spPr bwMode="auto">
          <a:xfrm>
            <a:off x="0" y="6519863"/>
            <a:ext cx="4094163" cy="338137"/>
          </a:xfrm>
          <a:prstGeom prst="rect">
            <a:avLst/>
          </a:prstGeom>
          <a:noFill/>
          <a:ln w="9525">
            <a:noFill/>
            <a:miter lim="800000"/>
          </a:ln>
        </p:spPr>
        <p:txBody>
          <a:bodyPr wrap="none">
            <a:spAutoFit/>
          </a:bodyPr>
          <a:lstStyle/>
          <a:p>
            <a:pPr fontAlgn="base">
              <a:spcBef>
                <a:spcPct val="0"/>
              </a:spcBef>
              <a:spcAft>
                <a:spcPct val="0"/>
              </a:spcAft>
            </a:pPr>
            <a:r>
              <a:rPr lang="en-US" sz="1600">
                <a:solidFill>
                  <a:prstClr val="black"/>
                </a:solidFill>
                <a:latin typeface="Arial" panose="020B0604020202020204" pitchFamily="34" charset="0"/>
              </a:rPr>
              <a:t>Some of the following slides by Steve Seitz</a:t>
            </a:r>
            <a:endParaRPr lang="en-US" sz="1600">
              <a:solidFill>
                <a:prstClr val="black"/>
              </a:solidFill>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custDataLst>
              <p:tags r:id="rId1"/>
            </p:custDataLst>
          </p:nvPr>
        </p:nvSpPr>
        <p:spPr/>
        <p:txBody>
          <a:bodyPr/>
          <a:lstStyle/>
          <a:p>
            <a:pPr eaLnBrk="1" hangingPunct="1"/>
            <a:r>
              <a:rPr lang="en-US"/>
              <a:t>Optical character recognition (OCR)</a:t>
            </a:r>
            <a:endParaRPr lang="en-US"/>
          </a:p>
        </p:txBody>
      </p:sp>
      <p:pic>
        <p:nvPicPr>
          <p:cNvPr id="21507" name="Picture 3" descr="asamples"/>
          <p:cNvPicPr>
            <a:picLocks noChangeAspect="1" noChangeArrowheads="1" noCrop="1"/>
          </p:cNvPicPr>
          <p:nvPr>
            <p:custDataLst>
              <p:tags r:id="rId2"/>
            </p:custDataLst>
          </p:nvPr>
        </p:nvPicPr>
        <p:blipFill>
          <a:blip r:embed="rId3"/>
          <a:srcRect/>
          <a:stretch>
            <a:fillRect/>
          </a:stretch>
        </p:blipFill>
        <p:spPr bwMode="auto">
          <a:xfrm>
            <a:off x="609600" y="2690813"/>
            <a:ext cx="3657600" cy="2286000"/>
          </a:xfrm>
          <a:prstGeom prst="rect">
            <a:avLst/>
          </a:prstGeom>
          <a:noFill/>
          <a:ln w="9525">
            <a:noFill/>
            <a:miter lim="800000"/>
            <a:headEnd/>
            <a:tailEnd/>
          </a:ln>
        </p:spPr>
      </p:pic>
      <p:sp>
        <p:nvSpPr>
          <p:cNvPr id="21508" name="Text Box 4"/>
          <p:cNvSpPr txBox="1">
            <a:spLocks noChangeArrowheads="1"/>
          </p:cNvSpPr>
          <p:nvPr>
            <p:custDataLst>
              <p:tags r:id="rId4"/>
            </p:custDataLst>
          </p:nvPr>
        </p:nvSpPr>
        <p:spPr bwMode="auto">
          <a:xfrm>
            <a:off x="685800" y="5362575"/>
            <a:ext cx="3379788" cy="581025"/>
          </a:xfrm>
          <a:prstGeom prst="rect">
            <a:avLst/>
          </a:prstGeom>
          <a:noFill/>
          <a:ln w="9525">
            <a:noFill/>
            <a:miter lim="800000"/>
          </a:ln>
        </p:spPr>
        <p:txBody>
          <a:bodyPr wrap="none">
            <a:spAutoFit/>
          </a:bodyPr>
          <a:lstStyle/>
          <a:p>
            <a:pPr algn="ctr" fontAlgn="base">
              <a:spcBef>
                <a:spcPct val="0"/>
              </a:spcBef>
              <a:spcAft>
                <a:spcPct val="0"/>
              </a:spcAft>
            </a:pPr>
            <a:r>
              <a:rPr lang="en-US" sz="1600" dirty="0">
                <a:solidFill>
                  <a:prstClr val="black"/>
                </a:solidFill>
                <a:latin typeface="Arial" panose="020B0604020202020204" pitchFamily="34" charset="0"/>
              </a:rPr>
              <a:t>Digit recognition, AT&amp;T labs</a:t>
            </a:r>
            <a:endParaRPr lang="en-US" sz="1600" dirty="0">
              <a:solidFill>
                <a:prstClr val="black"/>
              </a:solidFill>
              <a:latin typeface="Arial" panose="020B0604020202020204" pitchFamily="34" charset="0"/>
            </a:endParaRPr>
          </a:p>
          <a:p>
            <a:pPr algn="ctr" fontAlgn="base">
              <a:spcBef>
                <a:spcPct val="0"/>
              </a:spcBef>
              <a:spcAft>
                <a:spcPct val="0"/>
              </a:spcAft>
            </a:pPr>
            <a:r>
              <a:rPr lang="en-US" sz="1600" dirty="0">
                <a:solidFill>
                  <a:prstClr val="black"/>
                </a:solidFill>
                <a:latin typeface="Arial" panose="020B0604020202020204" pitchFamily="34" charset="0"/>
                <a:hlinkClick r:id="rId5"/>
              </a:rPr>
              <a:t>http://www.research.att.com/~yann</a:t>
            </a:r>
            <a:r>
              <a:rPr lang="en-US" sz="1600" dirty="0">
                <a:solidFill>
                  <a:prstClr val="black"/>
                </a:solidFill>
                <a:latin typeface="Arial" panose="020B0604020202020204" pitchFamily="34" charset="0"/>
              </a:rPr>
              <a:t>/</a:t>
            </a:r>
            <a:endParaRPr lang="en-US" sz="1600" dirty="0">
              <a:solidFill>
                <a:prstClr val="black"/>
              </a:solidFill>
              <a:latin typeface="Arial" panose="020B0604020202020204" pitchFamily="34" charset="0"/>
            </a:endParaRPr>
          </a:p>
        </p:txBody>
      </p:sp>
      <p:sp>
        <p:nvSpPr>
          <p:cNvPr id="21509" name="Rectangle 5"/>
          <p:cNvSpPr>
            <a:spLocks noChangeArrowheads="1"/>
          </p:cNvSpPr>
          <p:nvPr>
            <p:custDataLst>
              <p:tags r:id="rId6"/>
            </p:custDataLst>
          </p:nvPr>
        </p:nvSpPr>
        <p:spPr bwMode="auto">
          <a:xfrm>
            <a:off x="685800" y="990600"/>
            <a:ext cx="7772400" cy="5334000"/>
          </a:xfrm>
          <a:prstGeom prst="rect">
            <a:avLst/>
          </a:prstGeom>
          <a:noFill/>
          <a:ln w="9525">
            <a:noFill/>
            <a:miter lim="800000"/>
          </a:ln>
        </p:spPr>
        <p:txBody>
          <a:bodyPr/>
          <a:lstStyle/>
          <a:p>
            <a:pPr marL="342900" indent="-342900" fontAlgn="base">
              <a:spcBef>
                <a:spcPct val="20000"/>
              </a:spcBef>
              <a:spcAft>
                <a:spcPct val="0"/>
              </a:spcAft>
            </a:pPr>
            <a:r>
              <a:rPr lang="en-US" sz="2800">
                <a:solidFill>
                  <a:prstClr val="black"/>
                </a:solidFill>
                <a:latin typeface="Arial" panose="020B0604020202020204" pitchFamily="34" charset="0"/>
              </a:rPr>
              <a:t>Technology to convert scanned docs to text</a:t>
            </a:r>
            <a:endParaRPr lang="en-US" sz="2800">
              <a:solidFill>
                <a:prstClr val="black"/>
              </a:solidFill>
              <a:latin typeface="Arial" panose="020B0604020202020204" pitchFamily="34" charset="0"/>
            </a:endParaRPr>
          </a:p>
          <a:p>
            <a:pPr marL="742950" lvl="1" indent="-285750" fontAlgn="base">
              <a:spcBef>
                <a:spcPct val="20000"/>
              </a:spcBef>
              <a:spcAft>
                <a:spcPct val="0"/>
              </a:spcAft>
              <a:buFontTx/>
              <a:buChar char="•"/>
            </a:pPr>
            <a:r>
              <a:rPr lang="en-US" sz="2000">
                <a:solidFill>
                  <a:prstClr val="black"/>
                </a:solidFill>
                <a:latin typeface="Arial" panose="020B0604020202020204" pitchFamily="34" charset="0"/>
              </a:rPr>
              <a:t>If you have a scanner, it probably came with OCR software</a:t>
            </a:r>
            <a:endParaRPr lang="en-US" sz="2000">
              <a:solidFill>
                <a:prstClr val="black"/>
              </a:solidFill>
              <a:latin typeface="Arial" panose="020B0604020202020204" pitchFamily="34" charset="0"/>
            </a:endParaRPr>
          </a:p>
          <a:p>
            <a:pPr marL="342900" indent="-342900" fontAlgn="base">
              <a:spcBef>
                <a:spcPct val="20000"/>
              </a:spcBef>
              <a:spcAft>
                <a:spcPct val="0"/>
              </a:spcAft>
            </a:pPr>
            <a:endParaRPr lang="en-US" sz="2800">
              <a:solidFill>
                <a:prstClr val="black"/>
              </a:solidFill>
              <a:latin typeface="Arial" panose="020B0604020202020204" pitchFamily="34" charset="0"/>
            </a:endParaRPr>
          </a:p>
        </p:txBody>
      </p:sp>
      <p:pic>
        <p:nvPicPr>
          <p:cNvPr id="21510" name="Picture 6" descr="California_license_plate_ANPR"/>
          <p:cNvPicPr>
            <a:picLocks noChangeAspect="1" noChangeArrowheads="1"/>
          </p:cNvPicPr>
          <p:nvPr>
            <p:custDataLst>
              <p:tags r:id="rId7"/>
            </p:custDataLst>
          </p:nvPr>
        </p:nvPicPr>
        <p:blipFill>
          <a:blip r:embed="rId8" cstate="print"/>
          <a:srcRect/>
          <a:stretch>
            <a:fillRect/>
          </a:stretch>
        </p:blipFill>
        <p:spPr bwMode="auto">
          <a:xfrm>
            <a:off x="4876800" y="2419350"/>
            <a:ext cx="3581400" cy="2762250"/>
          </a:xfrm>
          <a:prstGeom prst="rect">
            <a:avLst/>
          </a:prstGeom>
          <a:noFill/>
          <a:ln w="9525">
            <a:noFill/>
            <a:miter lim="800000"/>
            <a:headEnd/>
            <a:tailEnd/>
          </a:ln>
        </p:spPr>
      </p:pic>
      <p:sp>
        <p:nvSpPr>
          <p:cNvPr id="21511" name="Text Box 7"/>
          <p:cNvSpPr txBox="1">
            <a:spLocks noChangeArrowheads="1"/>
          </p:cNvSpPr>
          <p:nvPr>
            <p:custDataLst>
              <p:tags r:id="rId9"/>
            </p:custDataLst>
          </p:nvPr>
        </p:nvSpPr>
        <p:spPr bwMode="auto">
          <a:xfrm>
            <a:off x="4511675" y="5362575"/>
            <a:ext cx="4513263" cy="701675"/>
          </a:xfrm>
          <a:prstGeom prst="rect">
            <a:avLst/>
          </a:prstGeom>
          <a:noFill/>
          <a:ln w="9525">
            <a:noFill/>
            <a:miter lim="800000"/>
          </a:ln>
        </p:spPr>
        <p:txBody>
          <a:bodyPr wrap="none">
            <a:spAutoFit/>
          </a:bodyPr>
          <a:lstStyle/>
          <a:p>
            <a:pPr algn="ctr" fontAlgn="base">
              <a:spcBef>
                <a:spcPct val="0"/>
              </a:spcBef>
              <a:spcAft>
                <a:spcPct val="0"/>
              </a:spcAft>
            </a:pPr>
            <a:r>
              <a:rPr lang="en-US" sz="1600" dirty="0">
                <a:solidFill>
                  <a:prstClr val="black"/>
                </a:solidFill>
                <a:latin typeface="Arial" panose="020B0604020202020204" pitchFamily="34" charset="0"/>
              </a:rPr>
              <a:t>License plate readers</a:t>
            </a:r>
            <a:endParaRPr lang="en-US" sz="1600" dirty="0">
              <a:solidFill>
                <a:prstClr val="black"/>
              </a:solidFill>
              <a:latin typeface="Arial" panose="020B0604020202020204" pitchFamily="34" charset="0"/>
            </a:endParaRPr>
          </a:p>
          <a:p>
            <a:pPr algn="ctr" fontAlgn="base">
              <a:spcBef>
                <a:spcPct val="0"/>
              </a:spcBef>
              <a:spcAft>
                <a:spcPct val="0"/>
              </a:spcAft>
            </a:pPr>
            <a:r>
              <a:rPr lang="en-US" sz="1200" dirty="0">
                <a:solidFill>
                  <a:prstClr val="black"/>
                </a:solidFill>
                <a:latin typeface="Arial" panose="020B0604020202020204" pitchFamily="34" charset="0"/>
                <a:hlinkClick r:id="rId10"/>
              </a:rPr>
              <a:t>http://en.wikipedia.org/wiki/Automatic_number_plate_recognition</a:t>
            </a:r>
            <a:endParaRPr lang="en-US" sz="1200" dirty="0">
              <a:solidFill>
                <a:prstClr val="black"/>
              </a:solidFill>
              <a:latin typeface="Arial" panose="020B0604020202020204" pitchFamily="34" charset="0"/>
            </a:endParaRPr>
          </a:p>
          <a:p>
            <a:pPr algn="ctr" fontAlgn="base">
              <a:spcBef>
                <a:spcPct val="0"/>
              </a:spcBef>
              <a:spcAft>
                <a:spcPct val="0"/>
              </a:spcAft>
            </a:pPr>
            <a:endParaRPr lang="en-US" sz="1200" dirty="0">
              <a:solidFill>
                <a:prstClr val="black"/>
              </a:solidFill>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custDataLst>
              <p:tags r:id="rId1"/>
            </p:custDataLst>
          </p:nvPr>
        </p:nvSpPr>
        <p:spPr/>
        <p:txBody>
          <a:bodyPr/>
          <a:lstStyle/>
          <a:p>
            <a:pPr eaLnBrk="1" hangingPunct="1"/>
            <a:r>
              <a:rPr lang="en-US"/>
              <a:t>Face detection</a:t>
            </a:r>
            <a:endParaRPr lang="en-US"/>
          </a:p>
        </p:txBody>
      </p:sp>
      <p:sp>
        <p:nvSpPr>
          <p:cNvPr id="22531" name="Rectangle 3"/>
          <p:cNvSpPr>
            <a:spLocks noGrp="1" noChangeArrowheads="1"/>
          </p:cNvSpPr>
          <p:nvPr>
            <p:ph type="body" idx="1"/>
            <p:custDataLst>
              <p:tags r:id="rId2"/>
            </p:custDataLst>
          </p:nvPr>
        </p:nvSpPr>
        <p:spPr>
          <a:xfrm>
            <a:off x="685800" y="4876800"/>
            <a:ext cx="7772400" cy="1295400"/>
          </a:xfrm>
        </p:spPr>
        <p:txBody>
          <a:bodyPr/>
          <a:lstStyle/>
          <a:p>
            <a:pPr eaLnBrk="1" hangingPunct="1"/>
            <a:r>
              <a:rPr lang="en-US"/>
              <a:t>Many new digital cameras now detect faces</a:t>
            </a:r>
            <a:endParaRPr lang="en-US"/>
          </a:p>
          <a:p>
            <a:pPr lvl="1" eaLnBrk="1" hangingPunct="1"/>
            <a:r>
              <a:rPr lang="en-US"/>
              <a:t>Canon, Sony, Fuji, …</a:t>
            </a:r>
            <a:endParaRPr lang="en-US"/>
          </a:p>
          <a:p>
            <a:pPr lvl="1" eaLnBrk="1" hangingPunct="1">
              <a:buFontTx/>
              <a:buNone/>
            </a:pPr>
            <a:endParaRPr lang="en-US"/>
          </a:p>
        </p:txBody>
      </p:sp>
      <p:pic>
        <p:nvPicPr>
          <p:cNvPr id="22532" name="Picture 5" descr="tested_485"/>
          <p:cNvPicPr>
            <a:picLocks noChangeAspect="1" noChangeArrowheads="1"/>
          </p:cNvPicPr>
          <p:nvPr>
            <p:custDataLst>
              <p:tags r:id="rId3"/>
            </p:custDataLst>
          </p:nvPr>
        </p:nvPicPr>
        <p:blipFill>
          <a:blip r:embed="rId4" cstate="print"/>
          <a:srcRect/>
          <a:stretch>
            <a:fillRect/>
          </a:stretch>
        </p:blipFill>
        <p:spPr bwMode="auto">
          <a:xfrm>
            <a:off x="2262188" y="1371600"/>
            <a:ext cx="4619625" cy="31242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custDataLst>
              <p:tags r:id="rId1"/>
            </p:custDataLst>
          </p:nvPr>
        </p:nvSpPr>
        <p:spPr/>
        <p:txBody>
          <a:bodyPr/>
          <a:lstStyle/>
          <a:p>
            <a:pPr eaLnBrk="1" hangingPunct="1"/>
            <a:r>
              <a:rPr lang="en-US" dirty="0"/>
              <a:t>Smile detection</a:t>
            </a:r>
            <a:endParaRPr lang="en-US" dirty="0"/>
          </a:p>
        </p:txBody>
      </p:sp>
      <p:sp>
        <p:nvSpPr>
          <p:cNvPr id="23555" name="Rectangle 3"/>
          <p:cNvSpPr>
            <a:spLocks noGrp="1" noChangeArrowheads="1"/>
          </p:cNvSpPr>
          <p:nvPr>
            <p:ph type="body" idx="1"/>
            <p:custDataLst>
              <p:tags r:id="rId2"/>
            </p:custDataLst>
          </p:nvPr>
        </p:nvSpPr>
        <p:spPr/>
        <p:txBody>
          <a:bodyPr/>
          <a:lstStyle/>
          <a:p>
            <a:pPr eaLnBrk="1" hangingPunct="1"/>
            <a:endParaRPr lang="en-US"/>
          </a:p>
        </p:txBody>
      </p:sp>
      <p:pic>
        <p:nvPicPr>
          <p:cNvPr id="23556" name="Picture 6"/>
          <p:cNvPicPr>
            <a:picLocks noChangeAspect="1" noChangeArrowheads="1"/>
          </p:cNvPicPr>
          <p:nvPr>
            <p:custDataLst>
              <p:tags r:id="rId3"/>
            </p:custDataLst>
          </p:nvPr>
        </p:nvPicPr>
        <p:blipFill>
          <a:blip r:embed="rId4" cstate="print"/>
          <a:srcRect/>
          <a:stretch>
            <a:fillRect/>
          </a:stretch>
        </p:blipFill>
        <p:spPr bwMode="auto">
          <a:xfrm>
            <a:off x="849313" y="2170113"/>
            <a:ext cx="7443787" cy="3240087"/>
          </a:xfrm>
          <a:prstGeom prst="rect">
            <a:avLst/>
          </a:prstGeom>
          <a:noFill/>
          <a:ln w="9525">
            <a:noFill/>
            <a:miter lim="800000"/>
            <a:headEnd/>
            <a:tailEnd/>
          </a:ln>
        </p:spPr>
      </p:pic>
      <p:pic>
        <p:nvPicPr>
          <p:cNvPr id="23557" name="Picture 7"/>
          <p:cNvPicPr>
            <a:picLocks noChangeAspect="1" noChangeArrowheads="1"/>
          </p:cNvPicPr>
          <p:nvPr>
            <p:custDataLst>
              <p:tags r:id="rId5"/>
            </p:custDataLst>
          </p:nvPr>
        </p:nvPicPr>
        <p:blipFill>
          <a:blip r:embed="rId6" cstate="print"/>
          <a:srcRect/>
          <a:stretch>
            <a:fillRect/>
          </a:stretch>
        </p:blipFill>
        <p:spPr bwMode="auto">
          <a:xfrm>
            <a:off x="838200" y="1143000"/>
            <a:ext cx="7467600" cy="1050925"/>
          </a:xfrm>
          <a:prstGeom prst="rect">
            <a:avLst/>
          </a:prstGeom>
          <a:noFill/>
          <a:ln w="9525">
            <a:noFill/>
            <a:miter lim="800000"/>
            <a:headEnd/>
            <a:tailEnd/>
          </a:ln>
        </p:spPr>
      </p:pic>
      <p:sp>
        <p:nvSpPr>
          <p:cNvPr id="23558" name="Rectangle 8"/>
          <p:cNvSpPr>
            <a:spLocks noChangeArrowheads="1"/>
          </p:cNvSpPr>
          <p:nvPr>
            <p:custDataLst>
              <p:tags r:id="rId7"/>
            </p:custDataLst>
          </p:nvPr>
        </p:nvSpPr>
        <p:spPr bwMode="auto">
          <a:xfrm>
            <a:off x="2051050" y="6278563"/>
            <a:ext cx="4730750" cy="396875"/>
          </a:xfrm>
          <a:prstGeom prst="rect">
            <a:avLst/>
          </a:prstGeom>
          <a:noFill/>
          <a:ln w="9525">
            <a:noFill/>
            <a:miter lim="800000"/>
          </a:ln>
        </p:spPr>
        <p:txBody>
          <a:bodyPr wrap="none" anchor="ctr">
            <a:spAutoFit/>
          </a:bodyPr>
          <a:lstStyle/>
          <a:p>
            <a:pPr fontAlgn="base">
              <a:spcBef>
                <a:spcPct val="0"/>
              </a:spcBef>
              <a:spcAft>
                <a:spcPct val="0"/>
              </a:spcAft>
            </a:pPr>
            <a:r>
              <a:rPr lang="en-US" sz="2000">
                <a:solidFill>
                  <a:prstClr val="black"/>
                </a:solidFill>
                <a:latin typeface="Arial" panose="020B0604020202020204" pitchFamily="34" charset="0"/>
                <a:hlinkClick r:id="rId8"/>
              </a:rPr>
              <a:t>Sony Cyber-shot® T70 Digital Still Camera </a:t>
            </a:r>
            <a:endParaRPr lang="en-US" sz="2000">
              <a:solidFill>
                <a:prstClr val="black"/>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3D from thousands of images</a:t>
            </a:r>
            <a:endParaRPr lang="en-US"/>
          </a:p>
        </p:txBody>
      </p:sp>
      <p:sp>
        <p:nvSpPr>
          <p:cNvPr id="19459" name="TextBox 7"/>
          <p:cNvSpPr txBox="1">
            <a:spLocks noChangeArrowheads="1"/>
          </p:cNvSpPr>
          <p:nvPr/>
        </p:nvSpPr>
        <p:spPr bwMode="auto">
          <a:xfrm>
            <a:off x="4394200" y="6488113"/>
            <a:ext cx="4749800" cy="369887"/>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Arial" panose="020B0604020202020204" pitchFamily="34" charset="0"/>
              </a:rPr>
              <a:t>Building Rome in a Day: Agarwal et al. 2009</a:t>
            </a:r>
            <a:endParaRPr lang="en-US">
              <a:solidFill>
                <a:prstClr val="black"/>
              </a:solidFill>
              <a:latin typeface="Arial" panose="020B0604020202020204" pitchFamily="34" charset="0"/>
            </a:endParaRPr>
          </a:p>
        </p:txBody>
      </p:sp>
      <p:pic>
        <p:nvPicPr>
          <p:cNvPr id="10" name="stpeters.avi">
            <a:hlinkClick r:id="" action="ppaction://media"/>
          </p:cNvPr>
          <p:cNvPicPr>
            <a:picLocks noGrp="1" noRot="1" noChangeAspect="1"/>
          </p:cNvPicPr>
          <p:nvPr>
            <p:ph idx="1"/>
            <a:videoFile r:link="rId1"/>
            <p:extLst>
              <p:ext uri="{DAA4B4D4-6D71-4841-9C94-3DE7FCFB9230}">
                <p14:media xmlns:p14="http://schemas.microsoft.com/office/powerpoint/2010/main" r:link="rId2"/>
              </p:ext>
            </p:extLst>
          </p:nvPr>
        </p:nvPicPr>
        <p:blipFill>
          <a:blip r:embed="rId3" cstate="print"/>
          <a:srcRect/>
          <a:stretch>
            <a:fillRect/>
          </a:stretch>
        </p:blipFill>
        <p:spPr>
          <a:xfrm>
            <a:off x="304800" y="2286000"/>
            <a:ext cx="3787775" cy="2689225"/>
          </a:xfrm>
        </p:spPr>
      </p:pic>
      <p:pic>
        <p:nvPicPr>
          <p:cNvPr id="11" name="sanmarco.avi">
            <a:hlinkClick r:id="" action="ppaction://media"/>
          </p:cNvPr>
          <p:cNvPicPr>
            <a:picLocks noRot="1" noChangeAspect="1"/>
          </p:cNvPicPr>
          <p:nvPr>
            <a:videoFile r:link="rId4"/>
            <p:extLst>
              <p:ext uri="{DAA4B4D4-6D71-4841-9C94-3DE7FCFB9230}">
                <p14:media xmlns:p14="http://schemas.microsoft.com/office/powerpoint/2010/main" r:link="rId5"/>
              </p:ext>
            </p:extLst>
          </p:nvPr>
        </p:nvPicPr>
        <p:blipFill>
          <a:blip r:embed="rId6" cstate="print"/>
          <a:srcRect/>
          <a:stretch>
            <a:fillRect/>
          </a:stretch>
        </p:blipFill>
        <p:spPr bwMode="auto">
          <a:xfrm>
            <a:off x="3733800" y="2286000"/>
            <a:ext cx="5011738" cy="2819400"/>
          </a:xfrm>
          <a:prstGeom prst="rect">
            <a:avLst/>
          </a:prstGeom>
          <a:noFill/>
          <a:ln w="9525">
            <a:noFill/>
            <a:miter lim="800000"/>
            <a:headEnd/>
            <a:tailEnd/>
          </a:ln>
        </p:spPr>
      </p:pic>
      <p:pic>
        <p:nvPicPr>
          <p:cNvPr id="2" name="colosseum.avi">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1143000" y="1295400"/>
            <a:ext cx="6858000" cy="4114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60"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94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p:cTn id="11" fill="hold" display="0">
                  <p:stCondLst>
                    <p:cond delay="indefinite"/>
                  </p:stCondLst>
                  <p:endCondLst>
                    <p:cond evt="onNext" delay="0">
                      <p:tgtEl>
                        <p:sldTgt/>
                      </p:tgtEl>
                    </p:cond>
                    <p:cond evt="onPrev" delay="0">
                      <p:tgtEl>
                        <p:sldTgt/>
                      </p:tgtEl>
                    </p:cond>
                  </p:endCondLst>
                </p:cTn>
                <p:tgtEl>
                  <p:spTgt spid="10"/>
                </p:tgtEl>
              </p:cMediaNode>
            </p:video>
            <p:video fullScrn="1">
              <p:cMediaNode>
                <p:cTn id="12" fill="hold" display="0">
                  <p:stCondLst>
                    <p:cond delay="indefinite"/>
                  </p:stCondLst>
                  <p:endCondLst>
                    <p:cond evt="onNext" delay="0">
                      <p:tgtEl>
                        <p:sldTgt/>
                      </p:tgtEl>
                    </p:cond>
                    <p:cond evt="onPrev" delay="0">
                      <p:tgtEl>
                        <p:sldTgt/>
                      </p:tgtEl>
                    </p:cond>
                  </p:endCondLst>
                </p:cTn>
                <p:tgtEl>
                  <p:spTgt spid="11"/>
                </p:tgtEl>
              </p:cMediaNode>
            </p:video>
            <p:seq concurrent="1" nextAc="seek">
              <p:cTn id="13" restart="whenNotActive" fill="hold" evtFilter="cancelBubble" nodeType="interactiveSeq">
                <p:stCondLst>
                  <p:cond evt="onClick" delay="0">
                    <p:tgtEl>
                      <p:spTgt spid="2"/>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
                                        </p:tgtEl>
                                      </p:cBhvr>
                                    </p:cmd>
                                  </p:childTnLst>
                                </p:cTn>
                              </p:par>
                            </p:childTnLst>
                          </p:cTn>
                        </p:par>
                      </p:childTnLst>
                    </p:cTn>
                  </p:par>
                </p:childTnLst>
              </p:cTn>
              <p:nextCondLst>
                <p:cond evt="onClick" delay="0">
                  <p:tgtEl>
                    <p:spTgt spid="2"/>
                  </p:tgtEl>
                </p:cond>
              </p:nextCondLst>
            </p:seq>
            <p:video>
              <p:cMediaNode vol="80000">
                <p:cTn id="18" fill="hold" display="0">
                  <p:stCondLst>
                    <p:cond delay="indefinite"/>
                  </p:stCondLst>
                </p:cTn>
                <p:tgtEl>
                  <p:spTgt spid="2"/>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custDataLst>
              <p:tags r:id="rId1"/>
            </p:custDataLst>
          </p:nvPr>
        </p:nvSpPr>
        <p:spPr/>
        <p:txBody>
          <a:bodyPr/>
          <a:lstStyle/>
          <a:p>
            <a:pPr eaLnBrk="1" hangingPunct="1"/>
            <a:r>
              <a:rPr lang="en-US"/>
              <a:t>Object recognition (in supermarkets)</a:t>
            </a:r>
            <a:endParaRPr lang="en-US"/>
          </a:p>
        </p:txBody>
      </p:sp>
      <p:sp>
        <p:nvSpPr>
          <p:cNvPr id="24579" name="Rectangle 3"/>
          <p:cNvSpPr>
            <a:spLocks noGrp="1" noChangeArrowheads="1"/>
          </p:cNvSpPr>
          <p:nvPr>
            <p:ph type="body" idx="1"/>
            <p:custDataLst>
              <p:tags r:id="rId2"/>
            </p:custDataLst>
          </p:nvPr>
        </p:nvSpPr>
        <p:spPr/>
        <p:txBody>
          <a:bodyPr/>
          <a:lstStyle/>
          <a:p>
            <a:pPr eaLnBrk="1" hangingPunct="1"/>
            <a:endParaRPr lang="en-US"/>
          </a:p>
        </p:txBody>
      </p:sp>
      <p:pic>
        <p:nvPicPr>
          <p:cNvPr id="24580" name="Picture 5" descr="Detection of Bottom of the Cart Loss in Retail Checkout"/>
          <p:cNvPicPr>
            <a:picLocks noChangeAspect="1" noChangeArrowheads="1"/>
          </p:cNvPicPr>
          <p:nvPr>
            <p:custDataLst>
              <p:tags r:id="rId3"/>
            </p:custDataLst>
          </p:nvPr>
        </p:nvPicPr>
        <p:blipFill>
          <a:blip r:embed="rId4" cstate="print"/>
          <a:srcRect/>
          <a:stretch>
            <a:fillRect/>
          </a:stretch>
        </p:blipFill>
        <p:spPr bwMode="auto">
          <a:xfrm>
            <a:off x="2711450" y="1219200"/>
            <a:ext cx="2774950" cy="3295650"/>
          </a:xfrm>
          <a:prstGeom prst="rect">
            <a:avLst/>
          </a:prstGeom>
          <a:noFill/>
          <a:ln w="9525">
            <a:noFill/>
            <a:miter lim="800000"/>
            <a:headEnd/>
            <a:tailEnd/>
          </a:ln>
        </p:spPr>
      </p:pic>
      <p:sp>
        <p:nvSpPr>
          <p:cNvPr id="24581" name="Rectangle 6"/>
          <p:cNvSpPr>
            <a:spLocks noChangeArrowheads="1"/>
          </p:cNvSpPr>
          <p:nvPr>
            <p:custDataLst>
              <p:tags r:id="rId5"/>
            </p:custDataLst>
          </p:nvPr>
        </p:nvSpPr>
        <p:spPr bwMode="auto">
          <a:xfrm>
            <a:off x="1492250" y="4872038"/>
            <a:ext cx="6737350" cy="1558925"/>
          </a:xfrm>
          <a:prstGeom prst="rect">
            <a:avLst/>
          </a:prstGeom>
          <a:noFill/>
          <a:ln w="9525">
            <a:noFill/>
            <a:miter lim="800000"/>
          </a:ln>
        </p:spPr>
        <p:txBody>
          <a:bodyPr anchor="ctr">
            <a:spAutoFit/>
          </a:bodyPr>
          <a:lstStyle/>
          <a:p>
            <a:pPr fontAlgn="base">
              <a:spcBef>
                <a:spcPct val="0"/>
              </a:spcBef>
              <a:spcAft>
                <a:spcPct val="0"/>
              </a:spcAft>
            </a:pPr>
            <a:r>
              <a:rPr lang="en-US" sz="1600">
                <a:solidFill>
                  <a:prstClr val="black"/>
                </a:solidFill>
                <a:latin typeface="Arial" panose="020B0604020202020204" pitchFamily="34" charset="0"/>
                <a:hlinkClick r:id="rId6"/>
              </a:rPr>
              <a:t>LaneHawk by EvolutionRobotics</a:t>
            </a:r>
            <a:endParaRPr lang="en-US" sz="1600">
              <a:solidFill>
                <a:prstClr val="black"/>
              </a:solidFill>
              <a:latin typeface="Arial" panose="020B0604020202020204" pitchFamily="34" charset="0"/>
            </a:endParaRPr>
          </a:p>
          <a:p>
            <a:pPr fontAlgn="base">
              <a:spcBef>
                <a:spcPct val="0"/>
              </a:spcBef>
              <a:spcAft>
                <a:spcPct val="0"/>
              </a:spcAft>
            </a:pPr>
            <a:r>
              <a:rPr lang="en-US" sz="1600">
                <a:solidFill>
                  <a:prstClr val="black"/>
                </a:solidFill>
                <a:latin typeface="Arial" panose="020B0604020202020204" pitchFamily="34" charset="0"/>
              </a:rPr>
              <a:t>“A smart camera is flush-mounted in the checkout lane, continuously watching for items. When an item is detected and recognized, the cashier verifies the quantity of items that were found under the basket, and continues to close the transaction. The item can remain under the basket, and with LaneHawk,you are assured to get paid for it… “</a:t>
            </a:r>
            <a:endParaRPr lang="en-US" sz="1600">
              <a:solidFill>
                <a:prstClr val="black"/>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custDataLst>
              <p:tags r:id="rId1"/>
            </p:custDataLst>
          </p:nvPr>
        </p:nvSpPr>
        <p:spPr/>
        <p:txBody>
          <a:bodyPr/>
          <a:lstStyle/>
          <a:p>
            <a:pPr eaLnBrk="1" hangingPunct="1"/>
            <a:r>
              <a:rPr lang="en-US"/>
              <a:t>Vision-based biometrics</a:t>
            </a:r>
            <a:endParaRPr lang="en-US"/>
          </a:p>
        </p:txBody>
      </p:sp>
      <p:pic>
        <p:nvPicPr>
          <p:cNvPr id="25603" name="Picture 3" descr="youngProcessedR"/>
          <p:cNvPicPr>
            <a:picLocks noChangeAspect="1" noChangeArrowheads="1"/>
          </p:cNvPicPr>
          <p:nvPr>
            <p:custDataLst>
              <p:tags r:id="rId2"/>
            </p:custDataLst>
          </p:nvPr>
        </p:nvPicPr>
        <p:blipFill>
          <a:blip r:embed="rId3" cstate="print"/>
          <a:srcRect/>
          <a:stretch>
            <a:fillRect/>
          </a:stretch>
        </p:blipFill>
        <p:spPr bwMode="auto">
          <a:xfrm>
            <a:off x="914400" y="4362450"/>
            <a:ext cx="3124200" cy="2343150"/>
          </a:xfrm>
          <a:prstGeom prst="rect">
            <a:avLst/>
          </a:prstGeom>
          <a:noFill/>
          <a:ln w="9525">
            <a:noFill/>
            <a:miter lim="800000"/>
            <a:headEnd/>
            <a:tailEnd/>
          </a:ln>
        </p:spPr>
      </p:pic>
      <p:pic>
        <p:nvPicPr>
          <p:cNvPr id="25604" name="Picture 4" descr="matched2002_R"/>
          <p:cNvPicPr>
            <a:picLocks noChangeAspect="1" noChangeArrowheads="1"/>
          </p:cNvPicPr>
          <p:nvPr>
            <p:custDataLst>
              <p:tags r:id="rId4"/>
            </p:custDataLst>
          </p:nvPr>
        </p:nvPicPr>
        <p:blipFill>
          <a:blip r:embed="rId5" cstate="print"/>
          <a:srcRect/>
          <a:stretch>
            <a:fillRect/>
          </a:stretch>
        </p:blipFill>
        <p:spPr bwMode="auto">
          <a:xfrm>
            <a:off x="5257800" y="4362450"/>
            <a:ext cx="3124200" cy="2343150"/>
          </a:xfrm>
          <a:prstGeom prst="rect">
            <a:avLst/>
          </a:prstGeom>
          <a:noFill/>
          <a:ln w="9525">
            <a:noFill/>
            <a:miter lim="800000"/>
            <a:headEnd/>
            <a:tailEnd/>
          </a:ln>
        </p:spPr>
      </p:pic>
      <p:pic>
        <p:nvPicPr>
          <p:cNvPr id="25605" name="Picture 5" descr="afghanportraits"/>
          <p:cNvPicPr>
            <a:picLocks noChangeAspect="1" noChangeArrowheads="1"/>
          </p:cNvPicPr>
          <p:nvPr>
            <p:custDataLst>
              <p:tags r:id="rId6"/>
            </p:custDataLst>
          </p:nvPr>
        </p:nvPicPr>
        <p:blipFill>
          <a:blip r:embed="rId7" cstate="print"/>
          <a:srcRect/>
          <a:stretch>
            <a:fillRect/>
          </a:stretch>
        </p:blipFill>
        <p:spPr bwMode="auto">
          <a:xfrm>
            <a:off x="2590800" y="762000"/>
            <a:ext cx="3810000" cy="2847975"/>
          </a:xfrm>
          <a:prstGeom prst="rect">
            <a:avLst/>
          </a:prstGeom>
          <a:noFill/>
          <a:ln w="9525">
            <a:noFill/>
            <a:miter lim="800000"/>
            <a:headEnd/>
            <a:tailEnd/>
          </a:ln>
        </p:spPr>
      </p:pic>
      <p:sp>
        <p:nvSpPr>
          <p:cNvPr id="25606" name="Rectangle 6"/>
          <p:cNvSpPr>
            <a:spLocks noChangeArrowheads="1"/>
          </p:cNvSpPr>
          <p:nvPr>
            <p:custDataLst>
              <p:tags r:id="rId8"/>
            </p:custDataLst>
          </p:nvPr>
        </p:nvSpPr>
        <p:spPr bwMode="auto">
          <a:xfrm>
            <a:off x="1447800" y="3657600"/>
            <a:ext cx="6737350" cy="584200"/>
          </a:xfrm>
          <a:prstGeom prst="rect">
            <a:avLst/>
          </a:prstGeom>
          <a:noFill/>
          <a:ln w="9525">
            <a:noFill/>
            <a:miter lim="800000"/>
          </a:ln>
        </p:spPr>
        <p:txBody>
          <a:bodyPr anchor="ctr">
            <a:spAutoFit/>
          </a:bodyPr>
          <a:lstStyle/>
          <a:p>
            <a:pPr algn="ctr" fontAlgn="base">
              <a:spcBef>
                <a:spcPct val="0"/>
              </a:spcBef>
              <a:spcAft>
                <a:spcPct val="0"/>
              </a:spcAft>
            </a:pPr>
            <a:r>
              <a:rPr lang="en-US" sz="1600" dirty="0">
                <a:solidFill>
                  <a:prstClr val="black"/>
                </a:solidFill>
                <a:latin typeface="Arial" panose="020B0604020202020204" pitchFamily="34" charset="0"/>
              </a:rPr>
              <a:t>“</a:t>
            </a:r>
            <a:r>
              <a:rPr lang="en-US" sz="1600" i="1" dirty="0">
                <a:solidFill>
                  <a:prstClr val="black"/>
                </a:solidFill>
                <a:latin typeface="Arial" panose="020B0604020202020204" pitchFamily="34" charset="0"/>
              </a:rPr>
              <a:t>How the Afghan Girl was Identified by Her Iris Patterns</a:t>
            </a:r>
            <a:r>
              <a:rPr lang="en-US" sz="1600" dirty="0">
                <a:solidFill>
                  <a:prstClr val="black"/>
                </a:solidFill>
                <a:latin typeface="Arial" panose="020B0604020202020204" pitchFamily="34" charset="0"/>
              </a:rPr>
              <a:t>”  Read the </a:t>
            </a:r>
            <a:r>
              <a:rPr lang="en-US" sz="1600" dirty="0">
                <a:solidFill>
                  <a:prstClr val="black"/>
                </a:solidFill>
                <a:latin typeface="Arial" panose="020B0604020202020204" pitchFamily="34" charset="0"/>
                <a:hlinkClick r:id="rId9"/>
              </a:rPr>
              <a:t>story </a:t>
            </a:r>
            <a:endParaRPr lang="en-US" sz="1600" dirty="0">
              <a:solidFill>
                <a:prstClr val="black"/>
              </a:solidFill>
              <a:latin typeface="Arial" panose="020B0604020202020204" pitchFamily="34" charset="0"/>
            </a:endParaRPr>
          </a:p>
          <a:p>
            <a:pPr algn="ctr" fontAlgn="base">
              <a:spcBef>
                <a:spcPct val="0"/>
              </a:spcBef>
              <a:spcAft>
                <a:spcPct val="0"/>
              </a:spcAft>
            </a:pPr>
            <a:r>
              <a:rPr lang="en-US" sz="1600" dirty="0" err="1">
                <a:solidFill>
                  <a:prstClr val="black"/>
                </a:solidFill>
                <a:latin typeface="Arial" panose="020B0604020202020204" pitchFamily="34" charset="0"/>
                <a:hlinkClick r:id="rId10"/>
              </a:rPr>
              <a:t>wikipedia</a:t>
            </a:r>
            <a:endParaRPr lang="en-US" sz="1600" dirty="0">
              <a:solidFill>
                <a:prstClr val="black"/>
              </a:solidFill>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custDataLst>
              <p:tags r:id="rId1"/>
            </p:custDataLst>
          </p:nvPr>
        </p:nvSpPr>
        <p:spPr/>
        <p:txBody>
          <a:bodyPr/>
          <a:lstStyle/>
          <a:p>
            <a:pPr eaLnBrk="1" hangingPunct="1"/>
            <a:r>
              <a:rPr lang="en-US"/>
              <a:t>Login without a password…</a:t>
            </a:r>
            <a:endParaRPr lang="en-US"/>
          </a:p>
        </p:txBody>
      </p:sp>
      <p:sp>
        <p:nvSpPr>
          <p:cNvPr id="26627" name="Rectangle 3"/>
          <p:cNvSpPr>
            <a:spLocks noGrp="1" noChangeArrowheads="1"/>
          </p:cNvSpPr>
          <p:nvPr>
            <p:ph type="body" idx="1"/>
            <p:custDataLst>
              <p:tags r:id="rId2"/>
            </p:custDataLst>
          </p:nvPr>
        </p:nvSpPr>
        <p:spPr/>
        <p:txBody>
          <a:bodyPr/>
          <a:lstStyle/>
          <a:p>
            <a:pPr eaLnBrk="1" hangingPunct="1"/>
            <a:endParaRPr lang="en-US"/>
          </a:p>
        </p:txBody>
      </p:sp>
      <p:pic>
        <p:nvPicPr>
          <p:cNvPr id="26628" name="Picture 4" descr="XM Micro Biometric Fingerprint Mouse"/>
          <p:cNvPicPr>
            <a:picLocks noChangeAspect="1" noChangeArrowheads="1"/>
          </p:cNvPicPr>
          <p:nvPr>
            <p:custDataLst>
              <p:tags r:id="rId3"/>
            </p:custDataLst>
          </p:nvPr>
        </p:nvPicPr>
        <p:blipFill>
          <a:blip r:embed="rId4" cstate="print"/>
          <a:srcRect/>
          <a:stretch>
            <a:fillRect/>
          </a:stretch>
        </p:blipFill>
        <p:spPr bwMode="auto">
          <a:xfrm>
            <a:off x="1825625" y="1333500"/>
            <a:ext cx="2136775" cy="4000500"/>
          </a:xfrm>
          <a:prstGeom prst="rect">
            <a:avLst/>
          </a:prstGeom>
          <a:noFill/>
          <a:ln w="9525">
            <a:noFill/>
            <a:miter lim="800000"/>
            <a:headEnd/>
            <a:tailEnd/>
          </a:ln>
        </p:spPr>
      </p:pic>
      <p:sp>
        <p:nvSpPr>
          <p:cNvPr id="26629" name="Rectangle 6"/>
          <p:cNvSpPr>
            <a:spLocks noChangeArrowheads="1"/>
          </p:cNvSpPr>
          <p:nvPr>
            <p:custDataLst>
              <p:tags r:id="rId5"/>
            </p:custDataLst>
          </p:nvPr>
        </p:nvSpPr>
        <p:spPr bwMode="auto">
          <a:xfrm>
            <a:off x="1524000" y="5410200"/>
            <a:ext cx="2514600" cy="825500"/>
          </a:xfrm>
          <a:prstGeom prst="rect">
            <a:avLst/>
          </a:prstGeom>
          <a:noFill/>
          <a:ln w="9525">
            <a:noFill/>
            <a:miter lim="800000"/>
          </a:ln>
        </p:spPr>
        <p:txBody>
          <a:bodyPr anchor="ctr">
            <a:spAutoFit/>
          </a:bodyPr>
          <a:lstStyle/>
          <a:p>
            <a:pPr algn="ctr" fontAlgn="base">
              <a:spcBef>
                <a:spcPct val="0"/>
              </a:spcBef>
              <a:spcAft>
                <a:spcPct val="0"/>
              </a:spcAft>
            </a:pPr>
            <a:r>
              <a:rPr lang="en-US" sz="1600">
                <a:solidFill>
                  <a:prstClr val="black"/>
                </a:solidFill>
                <a:latin typeface="Arial" panose="020B0604020202020204" pitchFamily="34" charset="0"/>
              </a:rPr>
              <a:t>Fingerprint scanners on many new laptops, </a:t>
            </a:r>
            <a:br>
              <a:rPr lang="en-US" sz="1600">
                <a:solidFill>
                  <a:prstClr val="black"/>
                </a:solidFill>
                <a:latin typeface="Arial" panose="020B0604020202020204" pitchFamily="34" charset="0"/>
              </a:rPr>
            </a:br>
            <a:r>
              <a:rPr lang="en-US" sz="1600">
                <a:solidFill>
                  <a:prstClr val="black"/>
                </a:solidFill>
                <a:latin typeface="Arial" panose="020B0604020202020204" pitchFamily="34" charset="0"/>
              </a:rPr>
              <a:t>other devices</a:t>
            </a:r>
            <a:endParaRPr lang="en-US" sz="1600">
              <a:solidFill>
                <a:prstClr val="black"/>
              </a:solidFill>
              <a:latin typeface="Arial" panose="020B0604020202020204" pitchFamily="34" charset="0"/>
            </a:endParaRPr>
          </a:p>
        </p:txBody>
      </p:sp>
      <p:pic>
        <p:nvPicPr>
          <p:cNvPr id="26630" name="Picture 9" descr="FINGERPRINT"/>
          <p:cNvPicPr>
            <a:picLocks noChangeAspect="1" noChangeArrowheads="1"/>
          </p:cNvPicPr>
          <p:nvPr>
            <p:custDataLst>
              <p:tags r:id="rId6"/>
            </p:custDataLst>
          </p:nvPr>
        </p:nvPicPr>
        <p:blipFill>
          <a:blip r:embed="rId7" cstate="print"/>
          <a:srcRect/>
          <a:stretch>
            <a:fillRect/>
          </a:stretch>
        </p:blipFill>
        <p:spPr bwMode="auto">
          <a:xfrm>
            <a:off x="695325" y="3048000"/>
            <a:ext cx="1057275" cy="1524000"/>
          </a:xfrm>
          <a:prstGeom prst="rect">
            <a:avLst/>
          </a:prstGeom>
          <a:noFill/>
          <a:ln w="9525">
            <a:noFill/>
            <a:miter lim="800000"/>
            <a:headEnd/>
            <a:tailEnd/>
          </a:ln>
        </p:spPr>
      </p:pic>
      <p:pic>
        <p:nvPicPr>
          <p:cNvPr id="26631" name="Picture 11" descr="login_dialog"/>
          <p:cNvPicPr>
            <a:picLocks noChangeAspect="1" noChangeArrowheads="1"/>
          </p:cNvPicPr>
          <p:nvPr>
            <p:custDataLst>
              <p:tags r:id="rId8"/>
            </p:custDataLst>
          </p:nvPr>
        </p:nvPicPr>
        <p:blipFill>
          <a:blip r:embed="rId9" cstate="print"/>
          <a:srcRect/>
          <a:stretch>
            <a:fillRect/>
          </a:stretch>
        </p:blipFill>
        <p:spPr bwMode="auto">
          <a:xfrm>
            <a:off x="6400800" y="2679700"/>
            <a:ext cx="2209800" cy="2197100"/>
          </a:xfrm>
          <a:prstGeom prst="rect">
            <a:avLst/>
          </a:prstGeom>
          <a:noFill/>
          <a:ln w="9525">
            <a:noFill/>
            <a:miter lim="800000"/>
            <a:headEnd/>
            <a:tailEnd/>
          </a:ln>
        </p:spPr>
      </p:pic>
      <p:sp>
        <p:nvSpPr>
          <p:cNvPr id="26632" name="Rectangle 12"/>
          <p:cNvSpPr>
            <a:spLocks noChangeArrowheads="1"/>
          </p:cNvSpPr>
          <p:nvPr>
            <p:custDataLst>
              <p:tags r:id="rId10"/>
            </p:custDataLst>
          </p:nvPr>
        </p:nvSpPr>
        <p:spPr bwMode="auto">
          <a:xfrm>
            <a:off x="4953000" y="5287963"/>
            <a:ext cx="3581400" cy="1006475"/>
          </a:xfrm>
          <a:prstGeom prst="rect">
            <a:avLst/>
          </a:prstGeom>
          <a:noFill/>
          <a:ln w="9525">
            <a:noFill/>
            <a:miter lim="800000"/>
          </a:ln>
        </p:spPr>
        <p:txBody>
          <a:bodyPr anchor="ctr">
            <a:spAutoFit/>
          </a:bodyPr>
          <a:lstStyle/>
          <a:p>
            <a:pPr algn="ctr" fontAlgn="base">
              <a:spcBef>
                <a:spcPct val="0"/>
              </a:spcBef>
              <a:spcAft>
                <a:spcPct val="0"/>
              </a:spcAft>
            </a:pPr>
            <a:r>
              <a:rPr lang="en-US" sz="1600">
                <a:solidFill>
                  <a:prstClr val="black"/>
                </a:solidFill>
                <a:latin typeface="Arial" panose="020B0604020202020204" pitchFamily="34" charset="0"/>
              </a:rPr>
              <a:t>Face recognition systems now beginning to appear more widely</a:t>
            </a:r>
            <a:br>
              <a:rPr lang="en-US" sz="1600">
                <a:solidFill>
                  <a:prstClr val="black"/>
                </a:solidFill>
                <a:latin typeface="Arial" panose="020B0604020202020204" pitchFamily="34" charset="0"/>
              </a:rPr>
            </a:br>
            <a:r>
              <a:rPr lang="en-US" sz="1400">
                <a:solidFill>
                  <a:prstClr val="black"/>
                </a:solidFill>
                <a:latin typeface="Arial" panose="020B0604020202020204" pitchFamily="34" charset="0"/>
                <a:hlinkClick r:id="rId11"/>
              </a:rPr>
              <a:t>http://www.sensiblevision.com/</a:t>
            </a:r>
            <a:endParaRPr lang="en-US" sz="1400">
              <a:solidFill>
                <a:prstClr val="black"/>
              </a:solidFill>
              <a:latin typeface="Arial" panose="020B0604020202020204" pitchFamily="34" charset="0"/>
            </a:endParaRPr>
          </a:p>
          <a:p>
            <a:pPr algn="ctr" fontAlgn="base">
              <a:spcBef>
                <a:spcPct val="0"/>
              </a:spcBef>
              <a:spcAft>
                <a:spcPct val="0"/>
              </a:spcAft>
            </a:pPr>
            <a:endParaRPr lang="en-US" sz="1400">
              <a:solidFill>
                <a:prstClr val="black"/>
              </a:solidFill>
              <a:latin typeface="Arial" panose="020B0604020202020204" pitchFamily="34" charset="0"/>
            </a:endParaRPr>
          </a:p>
        </p:txBody>
      </p:sp>
      <p:pic>
        <p:nvPicPr>
          <p:cNvPr id="26633" name="Picture 14" descr="woman_laptop"/>
          <p:cNvPicPr>
            <a:picLocks noChangeAspect="1" noChangeArrowheads="1"/>
          </p:cNvPicPr>
          <p:nvPr>
            <p:custDataLst>
              <p:tags r:id="rId12"/>
            </p:custDataLst>
          </p:nvPr>
        </p:nvPicPr>
        <p:blipFill>
          <a:blip r:embed="rId13" cstate="print"/>
          <a:srcRect/>
          <a:stretch>
            <a:fillRect/>
          </a:stretch>
        </p:blipFill>
        <p:spPr bwMode="auto">
          <a:xfrm>
            <a:off x="4533900" y="2933700"/>
            <a:ext cx="1714500" cy="17145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custDataLst>
              <p:tags r:id="rId1"/>
            </p:custDataLst>
          </p:nvPr>
        </p:nvSpPr>
        <p:spPr/>
        <p:txBody>
          <a:bodyPr/>
          <a:lstStyle/>
          <a:p>
            <a:pPr eaLnBrk="1" hangingPunct="1"/>
            <a:r>
              <a:rPr lang="en-US"/>
              <a:t>Object recognition (in mobile phones)</a:t>
            </a:r>
            <a:endParaRPr lang="en-US"/>
          </a:p>
        </p:txBody>
      </p:sp>
      <p:sp>
        <p:nvSpPr>
          <p:cNvPr id="27651" name="Rectangle 3"/>
          <p:cNvSpPr>
            <a:spLocks noGrp="1" noChangeArrowheads="1"/>
          </p:cNvSpPr>
          <p:nvPr>
            <p:ph type="body" idx="1"/>
            <p:custDataLst>
              <p:tags r:id="rId2"/>
            </p:custDataLst>
          </p:nvPr>
        </p:nvSpPr>
        <p:spPr>
          <a:xfrm>
            <a:off x="685800" y="4495800"/>
            <a:ext cx="7772400" cy="1676400"/>
          </a:xfrm>
        </p:spPr>
        <p:txBody>
          <a:bodyPr>
            <a:normAutofit fontScale="92500" lnSpcReduction="10000"/>
          </a:bodyPr>
          <a:lstStyle/>
          <a:p>
            <a:pPr lvl="1" eaLnBrk="1" hangingPunct="1">
              <a:buFont typeface="Arial" panose="020B0604020202020204" pitchFamily="34" charset="0"/>
              <a:buNone/>
            </a:pPr>
            <a:r>
              <a:rPr lang="en-US" dirty="0">
                <a:hlinkClick r:id="rId3"/>
              </a:rPr>
              <a:t>Point &amp; Find</a:t>
            </a:r>
            <a:r>
              <a:rPr lang="en-US" dirty="0"/>
              <a:t>, </a:t>
            </a:r>
            <a:r>
              <a:rPr lang="en-US" dirty="0">
                <a:hlinkClick r:id="rId4"/>
              </a:rPr>
              <a:t>Nokia</a:t>
            </a:r>
            <a:endParaRPr lang="en-US" dirty="0"/>
          </a:p>
          <a:p>
            <a:pPr lvl="1" eaLnBrk="1" hangingPunct="1">
              <a:buFont typeface="Arial" panose="020B0604020202020204" pitchFamily="34" charset="0"/>
              <a:buNone/>
            </a:pPr>
            <a:r>
              <a:rPr lang="en-US" dirty="0">
                <a:hlinkClick r:id="rId5"/>
              </a:rPr>
              <a:t>Google Goggles</a:t>
            </a:r>
            <a:endParaRPr lang="en-US" dirty="0"/>
          </a:p>
          <a:p>
            <a:pPr lvl="1" eaLnBrk="1" hangingPunct="1">
              <a:buNone/>
            </a:pPr>
            <a:r>
              <a:rPr lang="en-US" dirty="0"/>
              <a:t>http://v.youku.com/v_show/id_XMTI2MzMxOTk0NA==.html</a:t>
            </a:r>
            <a:endParaRPr lang="en-US" dirty="0"/>
          </a:p>
        </p:txBody>
      </p:sp>
      <p:pic>
        <p:nvPicPr>
          <p:cNvPr id="27652" name="Picture 5" descr="Smart Photos"/>
          <p:cNvPicPr>
            <a:picLocks noChangeAspect="1" noChangeArrowheads="1"/>
          </p:cNvPicPr>
          <p:nvPr>
            <p:custDataLst>
              <p:tags r:id="rId6"/>
            </p:custDataLst>
          </p:nvPr>
        </p:nvPicPr>
        <p:blipFill>
          <a:blip r:embed="rId7" cstate="print"/>
          <a:srcRect/>
          <a:stretch>
            <a:fillRect/>
          </a:stretch>
        </p:blipFill>
        <p:spPr bwMode="auto">
          <a:xfrm>
            <a:off x="1228725" y="1371600"/>
            <a:ext cx="6543675" cy="2776538"/>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____"/>
          <p:cNvPicPr>
            <a:picLocks noChangeAspect="1" noChangeArrowheads="1"/>
          </p:cNvPicPr>
          <p:nvPr>
            <p:custDataLst>
              <p:tags r:id="rId1"/>
            </p:custDataLst>
          </p:nvPr>
        </p:nvPicPr>
        <p:blipFill>
          <a:blip r:embed="rId2" cstate="print"/>
          <a:srcRect/>
          <a:stretch>
            <a:fillRect/>
          </a:stretch>
        </p:blipFill>
        <p:spPr bwMode="auto">
          <a:xfrm>
            <a:off x="6400800" y="1371600"/>
            <a:ext cx="2343150" cy="3076575"/>
          </a:xfrm>
          <a:prstGeom prst="rect">
            <a:avLst/>
          </a:prstGeom>
          <a:noFill/>
          <a:ln w="9525">
            <a:noFill/>
            <a:miter lim="800000"/>
            <a:headEnd/>
            <a:tailEnd/>
          </a:ln>
        </p:spPr>
      </p:pic>
      <p:pic>
        <p:nvPicPr>
          <p:cNvPr id="28675" name="Picture 3" descr="cap_138439"/>
          <p:cNvPicPr>
            <a:picLocks noChangeAspect="1" noChangeArrowheads="1"/>
          </p:cNvPicPr>
          <p:nvPr>
            <p:custDataLst>
              <p:tags r:id="rId3"/>
            </p:custDataLst>
          </p:nvPr>
        </p:nvPicPr>
        <p:blipFill>
          <a:blip r:embed="rId4" cstate="print"/>
          <a:srcRect/>
          <a:stretch>
            <a:fillRect/>
          </a:stretch>
        </p:blipFill>
        <p:spPr bwMode="auto">
          <a:xfrm>
            <a:off x="533400" y="1447800"/>
            <a:ext cx="5715000" cy="2619375"/>
          </a:xfrm>
          <a:prstGeom prst="rect">
            <a:avLst/>
          </a:prstGeom>
          <a:noFill/>
          <a:ln w="9525">
            <a:noFill/>
            <a:miter lim="800000"/>
            <a:headEnd/>
            <a:tailEnd/>
          </a:ln>
        </p:spPr>
      </p:pic>
      <p:sp>
        <p:nvSpPr>
          <p:cNvPr id="28676" name="Text Box 4"/>
          <p:cNvSpPr txBox="1">
            <a:spLocks noChangeArrowheads="1"/>
          </p:cNvSpPr>
          <p:nvPr>
            <p:custDataLst>
              <p:tags r:id="rId5"/>
            </p:custDataLst>
          </p:nvPr>
        </p:nvSpPr>
        <p:spPr bwMode="auto">
          <a:xfrm>
            <a:off x="1965325" y="5988050"/>
            <a:ext cx="5197475" cy="336550"/>
          </a:xfrm>
          <a:prstGeom prst="rect">
            <a:avLst/>
          </a:prstGeom>
          <a:noFill/>
          <a:ln w="9525">
            <a:noFill/>
            <a:miter lim="800000"/>
          </a:ln>
        </p:spPr>
        <p:txBody>
          <a:bodyPr wrap="none">
            <a:spAutoFit/>
          </a:bodyPr>
          <a:lstStyle/>
          <a:p>
            <a:pPr fontAlgn="base">
              <a:spcBef>
                <a:spcPct val="0"/>
              </a:spcBef>
              <a:spcAft>
                <a:spcPct val="0"/>
              </a:spcAft>
            </a:pPr>
            <a:r>
              <a:rPr lang="en-US" sz="1600" i="1">
                <a:solidFill>
                  <a:prstClr val="black"/>
                </a:solidFill>
                <a:latin typeface="Arial" panose="020B0604020202020204" pitchFamily="34" charset="0"/>
              </a:rPr>
              <a:t>The Matrix</a:t>
            </a:r>
            <a:r>
              <a:rPr lang="en-US" sz="1600">
                <a:solidFill>
                  <a:prstClr val="black"/>
                </a:solidFill>
                <a:latin typeface="Arial" panose="020B0604020202020204" pitchFamily="34" charset="0"/>
              </a:rPr>
              <a:t> movies, ESC Entertainment, XYZRGB, NRC</a:t>
            </a:r>
            <a:endParaRPr lang="en-US" sz="1600">
              <a:solidFill>
                <a:prstClr val="black"/>
              </a:solidFill>
              <a:latin typeface="Arial" panose="020B0604020202020204" pitchFamily="34" charset="0"/>
            </a:endParaRPr>
          </a:p>
        </p:txBody>
      </p:sp>
      <p:sp>
        <p:nvSpPr>
          <p:cNvPr id="28677" name="Rectangle 5"/>
          <p:cNvSpPr>
            <a:spLocks noGrp="1" noChangeArrowheads="1"/>
          </p:cNvSpPr>
          <p:nvPr>
            <p:ph type="title"/>
            <p:custDataLst>
              <p:tags r:id="rId6"/>
            </p:custDataLst>
          </p:nvPr>
        </p:nvSpPr>
        <p:spPr>
          <a:noFill/>
        </p:spPr>
        <p:txBody>
          <a:bodyPr/>
          <a:lstStyle/>
          <a:p>
            <a:pPr eaLnBrk="1" hangingPunct="1"/>
            <a:r>
              <a:rPr lang="en-US"/>
              <a:t>Special effects:  shape capture</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4"/>
          <p:cNvSpPr txBox="1">
            <a:spLocks noChangeArrowheads="1"/>
          </p:cNvSpPr>
          <p:nvPr>
            <p:custDataLst>
              <p:tags r:id="rId1"/>
            </p:custDataLst>
          </p:nvPr>
        </p:nvSpPr>
        <p:spPr bwMode="auto">
          <a:xfrm>
            <a:off x="2152650" y="6096000"/>
            <a:ext cx="4803775" cy="338138"/>
          </a:xfrm>
          <a:prstGeom prst="rect">
            <a:avLst/>
          </a:prstGeom>
          <a:noFill/>
          <a:ln w="9525">
            <a:noFill/>
            <a:miter lim="800000"/>
          </a:ln>
        </p:spPr>
        <p:txBody>
          <a:bodyPr wrap="none">
            <a:spAutoFit/>
          </a:bodyPr>
          <a:lstStyle/>
          <a:p>
            <a:pPr algn="ctr" fontAlgn="base">
              <a:spcBef>
                <a:spcPct val="0"/>
              </a:spcBef>
              <a:spcAft>
                <a:spcPct val="0"/>
              </a:spcAft>
            </a:pPr>
            <a:r>
              <a:rPr lang="en-US" sz="1600" i="1">
                <a:solidFill>
                  <a:prstClr val="black"/>
                </a:solidFill>
                <a:latin typeface="Arial" panose="020B0604020202020204" pitchFamily="34" charset="0"/>
              </a:rPr>
              <a:t>Pirates of the Carribean</a:t>
            </a:r>
            <a:r>
              <a:rPr lang="en-US" sz="1600">
                <a:solidFill>
                  <a:prstClr val="black"/>
                </a:solidFill>
                <a:latin typeface="Arial" panose="020B0604020202020204" pitchFamily="34" charset="0"/>
              </a:rPr>
              <a:t>, Industrial Light and Magic</a:t>
            </a:r>
            <a:endParaRPr lang="en-US" sz="1600">
              <a:solidFill>
                <a:prstClr val="black"/>
              </a:solidFill>
              <a:latin typeface="Arial" panose="020B0604020202020204" pitchFamily="34" charset="0"/>
            </a:endParaRPr>
          </a:p>
        </p:txBody>
      </p:sp>
      <p:sp>
        <p:nvSpPr>
          <p:cNvPr id="29699" name="Rectangle 5"/>
          <p:cNvSpPr>
            <a:spLocks noGrp="1" noChangeArrowheads="1"/>
          </p:cNvSpPr>
          <p:nvPr>
            <p:ph type="title"/>
            <p:custDataLst>
              <p:tags r:id="rId2"/>
            </p:custDataLst>
          </p:nvPr>
        </p:nvSpPr>
        <p:spPr>
          <a:noFill/>
        </p:spPr>
        <p:txBody>
          <a:bodyPr/>
          <a:lstStyle/>
          <a:p>
            <a:pPr eaLnBrk="1" hangingPunct="1"/>
            <a:r>
              <a:rPr lang="en-US"/>
              <a:t>Special effects:  motion capture</a:t>
            </a:r>
            <a:endParaRPr lang="en-US"/>
          </a:p>
        </p:txBody>
      </p:sp>
      <p:pic>
        <p:nvPicPr>
          <p:cNvPr id="29700" name="Picture 6"/>
          <p:cNvPicPr>
            <a:picLocks noChangeAspect="1" noChangeArrowheads="1"/>
          </p:cNvPicPr>
          <p:nvPr>
            <p:custDataLst>
              <p:tags r:id="rId3"/>
            </p:custDataLst>
          </p:nvPr>
        </p:nvPicPr>
        <p:blipFill>
          <a:blip r:embed="rId4" cstate="print"/>
          <a:srcRect/>
          <a:stretch>
            <a:fillRect/>
          </a:stretch>
        </p:blipFill>
        <p:spPr bwMode="auto">
          <a:xfrm>
            <a:off x="1933575" y="1143000"/>
            <a:ext cx="5276850" cy="2409825"/>
          </a:xfrm>
          <a:prstGeom prst="rect">
            <a:avLst/>
          </a:prstGeom>
          <a:noFill/>
          <a:ln w="9525">
            <a:noFill/>
            <a:miter lim="800000"/>
            <a:headEnd/>
            <a:tailEnd/>
          </a:ln>
        </p:spPr>
      </p:pic>
      <p:pic>
        <p:nvPicPr>
          <p:cNvPr id="29701" name="Picture 7"/>
          <p:cNvPicPr>
            <a:picLocks noChangeAspect="1" noChangeArrowheads="1"/>
          </p:cNvPicPr>
          <p:nvPr>
            <p:custDataLst>
              <p:tags r:id="rId5"/>
            </p:custDataLst>
          </p:nvPr>
        </p:nvPicPr>
        <p:blipFill>
          <a:blip r:embed="rId6" cstate="print"/>
          <a:srcRect/>
          <a:stretch>
            <a:fillRect/>
          </a:stretch>
        </p:blipFill>
        <p:spPr bwMode="auto">
          <a:xfrm>
            <a:off x="1938338" y="3581400"/>
            <a:ext cx="5267325" cy="24193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custDataLst>
              <p:tags r:id="rId1"/>
            </p:custDataLst>
          </p:nvPr>
        </p:nvSpPr>
        <p:spPr/>
        <p:txBody>
          <a:bodyPr/>
          <a:lstStyle/>
          <a:p>
            <a:pPr eaLnBrk="1" hangingPunct="1"/>
            <a:r>
              <a:rPr lang="en-US"/>
              <a:t>Sports</a:t>
            </a:r>
            <a:endParaRPr lang="en-US"/>
          </a:p>
        </p:txBody>
      </p:sp>
      <p:sp>
        <p:nvSpPr>
          <p:cNvPr id="30723" name="Rectangle 3"/>
          <p:cNvSpPr>
            <a:spLocks noGrp="1" noChangeArrowheads="1"/>
          </p:cNvSpPr>
          <p:nvPr>
            <p:ph type="body" idx="1"/>
            <p:custDataLst>
              <p:tags r:id="rId2"/>
            </p:custDataLst>
          </p:nvPr>
        </p:nvSpPr>
        <p:spPr/>
        <p:txBody>
          <a:bodyPr/>
          <a:lstStyle/>
          <a:p>
            <a:pPr eaLnBrk="1" hangingPunct="1"/>
            <a:endParaRPr lang="en-US" dirty="0"/>
          </a:p>
        </p:txBody>
      </p:sp>
      <p:pic>
        <p:nvPicPr>
          <p:cNvPr id="30724" name="Picture 5" descr="first-down-line"/>
          <p:cNvPicPr>
            <a:picLocks noChangeAspect="1" noChangeArrowheads="1"/>
          </p:cNvPicPr>
          <p:nvPr>
            <p:custDataLst>
              <p:tags r:id="rId3"/>
            </p:custDataLst>
          </p:nvPr>
        </p:nvPicPr>
        <p:blipFill>
          <a:blip r:embed="rId4" cstate="print"/>
          <a:srcRect/>
          <a:stretch>
            <a:fillRect/>
          </a:stretch>
        </p:blipFill>
        <p:spPr bwMode="auto">
          <a:xfrm>
            <a:off x="2667000" y="1552575"/>
            <a:ext cx="3810000" cy="2857500"/>
          </a:xfrm>
          <a:prstGeom prst="rect">
            <a:avLst/>
          </a:prstGeom>
          <a:noFill/>
          <a:ln w="9525">
            <a:noFill/>
            <a:miter lim="800000"/>
            <a:headEnd/>
            <a:tailEnd/>
          </a:ln>
        </p:spPr>
      </p:pic>
      <p:sp>
        <p:nvSpPr>
          <p:cNvPr id="30725" name="Text Box 6"/>
          <p:cNvSpPr txBox="1">
            <a:spLocks noChangeArrowheads="1"/>
          </p:cNvSpPr>
          <p:nvPr>
            <p:custDataLst>
              <p:tags r:id="rId5"/>
            </p:custDataLst>
          </p:nvPr>
        </p:nvSpPr>
        <p:spPr bwMode="auto">
          <a:xfrm>
            <a:off x="2420938" y="4495800"/>
            <a:ext cx="4271962" cy="1108075"/>
          </a:xfrm>
          <a:prstGeom prst="rect">
            <a:avLst/>
          </a:prstGeom>
          <a:noFill/>
          <a:ln w="9525">
            <a:noFill/>
            <a:miter lim="800000"/>
          </a:ln>
        </p:spPr>
        <p:txBody>
          <a:bodyPr wrap="none">
            <a:spAutoFit/>
          </a:bodyPr>
          <a:lstStyle/>
          <a:p>
            <a:pPr algn="ctr" fontAlgn="base">
              <a:spcBef>
                <a:spcPct val="0"/>
              </a:spcBef>
              <a:spcAft>
                <a:spcPct val="0"/>
              </a:spcAft>
            </a:pPr>
            <a:r>
              <a:rPr lang="en-US" sz="1600" i="1" dirty="0" err="1">
                <a:solidFill>
                  <a:prstClr val="black"/>
                </a:solidFill>
                <a:latin typeface="Arial" panose="020B0604020202020204" pitchFamily="34" charset="0"/>
              </a:rPr>
              <a:t>Sportvision</a:t>
            </a:r>
            <a:r>
              <a:rPr lang="en-US" sz="1600" dirty="0">
                <a:solidFill>
                  <a:prstClr val="black"/>
                </a:solidFill>
                <a:latin typeface="Arial" panose="020B0604020202020204" pitchFamily="34" charset="0"/>
              </a:rPr>
              <a:t> first down line</a:t>
            </a:r>
            <a:endParaRPr lang="en-US" sz="1600" dirty="0">
              <a:solidFill>
                <a:prstClr val="black"/>
              </a:solidFill>
              <a:latin typeface="Arial" panose="020B0604020202020204" pitchFamily="34" charset="0"/>
            </a:endParaRPr>
          </a:p>
          <a:p>
            <a:pPr algn="ctr" fontAlgn="base">
              <a:spcBef>
                <a:spcPct val="0"/>
              </a:spcBef>
              <a:spcAft>
                <a:spcPct val="0"/>
              </a:spcAft>
            </a:pPr>
            <a:r>
              <a:rPr lang="en-US" sz="1600" dirty="0">
                <a:solidFill>
                  <a:prstClr val="black"/>
                </a:solidFill>
                <a:latin typeface="Arial" panose="020B0604020202020204" pitchFamily="34" charset="0"/>
              </a:rPr>
              <a:t>Nice </a:t>
            </a:r>
            <a:r>
              <a:rPr lang="en-US" sz="1600" dirty="0">
                <a:solidFill>
                  <a:prstClr val="black"/>
                </a:solidFill>
                <a:latin typeface="Arial" panose="020B0604020202020204" pitchFamily="34" charset="0"/>
                <a:hlinkClick r:id="rId6"/>
              </a:rPr>
              <a:t>explanation</a:t>
            </a:r>
            <a:r>
              <a:rPr lang="en-US" sz="1600" dirty="0">
                <a:solidFill>
                  <a:prstClr val="black"/>
                </a:solidFill>
                <a:latin typeface="Arial" panose="020B0604020202020204" pitchFamily="34" charset="0"/>
              </a:rPr>
              <a:t> on </a:t>
            </a:r>
            <a:r>
              <a:rPr lang="en-US" sz="1600" dirty="0">
                <a:solidFill>
                  <a:prstClr val="black"/>
                </a:solidFill>
                <a:latin typeface="Arial" panose="020B0604020202020204" pitchFamily="34" charset="0"/>
                <a:hlinkClick r:id="rId7"/>
              </a:rPr>
              <a:t>www.howstuffworks.com</a:t>
            </a:r>
            <a:endParaRPr lang="en-US" sz="1600" dirty="0">
              <a:solidFill>
                <a:prstClr val="black"/>
              </a:solidFill>
              <a:latin typeface="Arial" panose="020B0604020202020204" pitchFamily="34" charset="0"/>
            </a:endParaRPr>
          </a:p>
          <a:p>
            <a:pPr algn="ctr" fontAlgn="base">
              <a:spcBef>
                <a:spcPct val="0"/>
              </a:spcBef>
              <a:spcAft>
                <a:spcPct val="0"/>
              </a:spcAft>
            </a:pPr>
            <a:endParaRPr lang="en-US" sz="1600" dirty="0">
              <a:solidFill>
                <a:prstClr val="black"/>
              </a:solidFill>
              <a:latin typeface="Arial" panose="020B0604020202020204" pitchFamily="34" charset="0"/>
            </a:endParaRPr>
          </a:p>
          <a:p>
            <a:pPr algn="ctr" fontAlgn="base">
              <a:spcBef>
                <a:spcPct val="0"/>
              </a:spcBef>
              <a:spcAft>
                <a:spcPct val="0"/>
              </a:spcAft>
            </a:pPr>
            <a:r>
              <a:rPr lang="en-US" sz="1600" dirty="0">
                <a:solidFill>
                  <a:prstClr val="black"/>
                </a:solidFill>
                <a:latin typeface="Arial" panose="020B0604020202020204" pitchFamily="34" charset="0"/>
                <a:hlinkClick r:id="rId8"/>
              </a:rPr>
              <a:t>http://www.sportvision.com/video.html</a:t>
            </a:r>
            <a:endParaRPr lang="en-US" sz="1600" dirty="0">
              <a:solidFill>
                <a:prstClr val="black"/>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custDataLst>
              <p:tags r:id="rId1"/>
            </p:custDataLst>
          </p:nvPr>
        </p:nvSpPr>
        <p:spPr/>
        <p:txBody>
          <a:bodyPr/>
          <a:lstStyle/>
          <a:p>
            <a:pPr eaLnBrk="1" hangingPunct="1"/>
            <a:r>
              <a:rPr lang="en-US"/>
              <a:t>Smart cars</a:t>
            </a:r>
            <a:endParaRPr lang="en-US"/>
          </a:p>
        </p:txBody>
      </p:sp>
      <p:sp>
        <p:nvSpPr>
          <p:cNvPr id="31747" name="Rectangle 3"/>
          <p:cNvSpPr>
            <a:spLocks noGrp="1" noChangeArrowheads="1"/>
          </p:cNvSpPr>
          <p:nvPr>
            <p:ph type="body" idx="1"/>
            <p:custDataLst>
              <p:tags r:id="rId2"/>
            </p:custDataLst>
          </p:nvPr>
        </p:nvSpPr>
        <p:spPr>
          <a:xfrm>
            <a:off x="685800" y="4876800"/>
            <a:ext cx="8077200" cy="2057400"/>
          </a:xfrm>
        </p:spPr>
        <p:txBody>
          <a:bodyPr/>
          <a:lstStyle/>
          <a:p>
            <a:pPr eaLnBrk="1" hangingPunct="1"/>
            <a:r>
              <a:rPr lang="en-US" dirty="0" err="1">
                <a:hlinkClick r:id="rId3"/>
              </a:rPr>
              <a:t>Mobileye</a:t>
            </a:r>
            <a:endParaRPr lang="en-US" dirty="0"/>
          </a:p>
          <a:p>
            <a:pPr lvl="1" eaLnBrk="1" hangingPunct="1"/>
            <a:r>
              <a:rPr lang="en-US" dirty="0"/>
              <a:t>Vision systems currently in high-end BMW, GM, Volvo models </a:t>
            </a:r>
            <a:endParaRPr lang="en-US" dirty="0"/>
          </a:p>
          <a:p>
            <a:pPr lvl="1" eaLnBrk="1" hangingPunct="1"/>
            <a:r>
              <a:rPr lang="en-US" dirty="0"/>
              <a:t>By 2010:  70% of car manufacturers.</a:t>
            </a:r>
            <a:endParaRPr lang="en-US" dirty="0"/>
          </a:p>
        </p:txBody>
      </p:sp>
      <p:pic>
        <p:nvPicPr>
          <p:cNvPr id="31748" name="Picture 6"/>
          <p:cNvPicPr>
            <a:picLocks noChangeAspect="1" noChangeArrowheads="1"/>
          </p:cNvPicPr>
          <p:nvPr>
            <p:custDataLst>
              <p:tags r:id="rId4"/>
            </p:custDataLst>
          </p:nvPr>
        </p:nvPicPr>
        <p:blipFill>
          <a:blip r:embed="rId5" cstate="print"/>
          <a:srcRect/>
          <a:stretch>
            <a:fillRect/>
          </a:stretch>
        </p:blipFill>
        <p:spPr bwMode="auto">
          <a:xfrm>
            <a:off x="904875" y="869950"/>
            <a:ext cx="7781925" cy="4006850"/>
          </a:xfrm>
          <a:prstGeom prst="rect">
            <a:avLst/>
          </a:prstGeom>
          <a:noFill/>
          <a:ln w="9525">
            <a:noFill/>
            <a:miter lim="800000"/>
            <a:headEnd/>
            <a:tailEnd/>
          </a:ln>
        </p:spPr>
      </p:pic>
      <p:sp>
        <p:nvSpPr>
          <p:cNvPr id="31749" name="Text Box 8"/>
          <p:cNvSpPr txBox="1">
            <a:spLocks noChangeArrowheads="1"/>
          </p:cNvSpPr>
          <p:nvPr>
            <p:custDataLst>
              <p:tags r:id="rId6"/>
            </p:custDataLst>
          </p:nvPr>
        </p:nvSpPr>
        <p:spPr bwMode="auto">
          <a:xfrm>
            <a:off x="4572000" y="425450"/>
            <a:ext cx="3967163" cy="336550"/>
          </a:xfrm>
          <a:prstGeom prst="rect">
            <a:avLst/>
          </a:prstGeom>
          <a:noFill/>
          <a:ln w="9525">
            <a:noFill/>
            <a:miter lim="800000"/>
          </a:ln>
        </p:spPr>
        <p:txBody>
          <a:bodyPr wrap="none">
            <a:spAutoFit/>
          </a:bodyPr>
          <a:lstStyle/>
          <a:p>
            <a:pPr algn="ctr" fontAlgn="base">
              <a:spcBef>
                <a:spcPct val="0"/>
              </a:spcBef>
              <a:spcAft>
                <a:spcPct val="0"/>
              </a:spcAft>
            </a:pPr>
            <a:r>
              <a:rPr lang="en-US" sz="1600">
                <a:solidFill>
                  <a:prstClr val="black"/>
                </a:solidFill>
                <a:latin typeface="Arial" panose="020B0604020202020204" pitchFamily="34" charset="0"/>
              </a:rPr>
              <a:t>Slide content courtesy of Amnon Shashua</a:t>
            </a:r>
            <a:endParaRPr lang="en-US" sz="1600">
              <a:solidFill>
                <a:prstClr val="black"/>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t>Google cars</a:t>
            </a:r>
            <a:endParaRPr lang="en-US"/>
          </a:p>
        </p:txBody>
      </p:sp>
      <p:pic>
        <p:nvPicPr>
          <p:cNvPr id="31747" name="Picture 2" descr="http://graphics8.nytimes.com/images/2010/10/10/us/10google-span/10google-span-articleLarge.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1295400"/>
            <a:ext cx="5715000"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Box 4"/>
          <p:cNvSpPr txBox="1">
            <a:spLocks noChangeArrowheads="1"/>
          </p:cNvSpPr>
          <p:nvPr/>
        </p:nvSpPr>
        <p:spPr bwMode="auto">
          <a:xfrm>
            <a:off x="304800" y="4953000"/>
            <a:ext cx="8686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dirty="0"/>
              <a:t>Oct 9, 2010. </a:t>
            </a:r>
            <a:r>
              <a:rPr lang="en-US" dirty="0">
                <a:hlinkClick r:id="rId2"/>
              </a:rPr>
              <a:t>"Google Cars Drive Themselves, in Traffic"</a:t>
            </a:r>
            <a:r>
              <a:rPr lang="en-US" dirty="0"/>
              <a:t>. </a:t>
            </a:r>
            <a:r>
              <a:rPr lang="en-US" i="1" dirty="0">
                <a:hlinkClick r:id="rId3" tooltip="The New York Times"/>
              </a:rPr>
              <a:t>The New York Times</a:t>
            </a:r>
            <a:r>
              <a:rPr lang="en-US" dirty="0"/>
              <a:t>. John </a:t>
            </a:r>
            <a:r>
              <a:rPr lang="en-US" dirty="0" err="1"/>
              <a:t>Markoff</a:t>
            </a:r>
            <a:endParaRPr lang="en-US" dirty="0"/>
          </a:p>
          <a:p>
            <a:pPr eaLnBrk="1" hangingPunct="1"/>
            <a:r>
              <a:rPr lang="en-US" dirty="0"/>
              <a:t>June 24, 2011. </a:t>
            </a:r>
            <a:r>
              <a:rPr lang="en-US" dirty="0">
                <a:hlinkClick r:id="rId4"/>
              </a:rPr>
              <a:t>"Nevada state law paves the way for driverless cars"</a:t>
            </a:r>
            <a:r>
              <a:rPr lang="en-US" dirty="0"/>
              <a:t>. </a:t>
            </a:r>
            <a:r>
              <a:rPr lang="en-US" i="1" dirty="0">
                <a:hlinkClick r:id="rId5" tooltip="Financial Post"/>
              </a:rPr>
              <a:t>Financial Post</a:t>
            </a:r>
            <a:r>
              <a:rPr lang="en-US" dirty="0"/>
              <a:t>. Christine Dobby</a:t>
            </a:r>
            <a:endParaRPr lang="en-US" dirty="0"/>
          </a:p>
          <a:p>
            <a:pPr eaLnBrk="1" hangingPunct="1"/>
            <a:r>
              <a:rPr lang="en-US" dirty="0"/>
              <a:t>Aug 9, 2011, </a:t>
            </a:r>
            <a:r>
              <a:rPr lang="en-US" u="sng" dirty="0">
                <a:hlinkClick r:id="rId6"/>
              </a:rPr>
              <a:t>"Human error blamed after Google's driverless car sparks five-vehicle crash"</a:t>
            </a:r>
            <a:r>
              <a:rPr lang="en-US" dirty="0"/>
              <a:t>. </a:t>
            </a:r>
            <a:r>
              <a:rPr lang="en-US" i="1" dirty="0"/>
              <a:t>The Star</a:t>
            </a:r>
            <a:r>
              <a:rPr lang="en-US" dirty="0"/>
              <a:t> (Toronto)</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t>Interactive Games: Kinect</a:t>
            </a:r>
            <a:endParaRPr lang="en-US"/>
          </a:p>
        </p:txBody>
      </p:sp>
      <p:sp>
        <p:nvSpPr>
          <p:cNvPr id="34819" name="Content Placeholder 2"/>
          <p:cNvSpPr>
            <a:spLocks noGrp="1"/>
          </p:cNvSpPr>
          <p:nvPr>
            <p:ph idx="1"/>
          </p:nvPr>
        </p:nvSpPr>
        <p:spPr/>
        <p:txBody>
          <a:bodyPr/>
          <a:lstStyle/>
          <a:p>
            <a:r>
              <a:rPr lang="en-US" sz="2400" dirty="0"/>
              <a:t>Object Recognition: </a:t>
            </a:r>
            <a:r>
              <a:rPr lang="en-US" sz="2400" dirty="0">
                <a:hlinkClick r:id="rId1"/>
              </a:rPr>
              <a:t>http://www.youtube.com/watch?feature=iv&amp;v=fQ59dXOo63o</a:t>
            </a:r>
            <a:endParaRPr lang="en-US" sz="2400" dirty="0">
              <a:hlinkClick r:id="rId2"/>
            </a:endParaRPr>
          </a:p>
          <a:p>
            <a:r>
              <a:rPr lang="en-US" sz="2400" dirty="0"/>
              <a:t>Mario: </a:t>
            </a:r>
            <a:r>
              <a:rPr lang="en-US" sz="2400" dirty="0">
                <a:hlinkClick r:id="rId2"/>
              </a:rPr>
              <a:t>http://www.youtube.com/watch?v=8CTJL5lUjHg</a:t>
            </a:r>
            <a:endParaRPr lang="en-US" sz="2400" dirty="0">
              <a:hlinkClick r:id="rId3"/>
            </a:endParaRPr>
          </a:p>
          <a:p>
            <a:r>
              <a:rPr lang="en-US" sz="2400" dirty="0"/>
              <a:t>3D: </a:t>
            </a:r>
            <a:r>
              <a:rPr lang="en-US" sz="2400" dirty="0">
                <a:hlinkClick r:id="rId3"/>
              </a:rPr>
              <a:t>http://www.youtube.com/watch?v=7QrnwoO1-8A</a:t>
            </a:r>
            <a:endParaRPr lang="en-US" sz="2400" dirty="0"/>
          </a:p>
          <a:p>
            <a:r>
              <a:rPr lang="en-US" sz="2400" dirty="0"/>
              <a:t>Robot: </a:t>
            </a:r>
            <a:r>
              <a:rPr lang="en-US" sz="2400" dirty="0">
                <a:hlinkClick r:id="rId4"/>
              </a:rPr>
              <a:t>http://www.youtube.com/watch?v=w8BmgtMKFbY</a:t>
            </a:r>
            <a:endParaRPr lang="en-US" sz="2400" dirty="0"/>
          </a:p>
        </p:txBody>
      </p:sp>
      <p:pic>
        <p:nvPicPr>
          <p:cNvPr id="34820" name="Picture 2" descr="http://news.cnet.com/i/tim/2010/06/22/Kinect_specs_610x405.jpg"/>
          <p:cNvPicPr>
            <a:picLocks noChangeAspect="1" noChangeArrowheads="1"/>
          </p:cNvPicPr>
          <p:nvPr/>
        </p:nvPicPr>
        <p:blipFill>
          <a:blip r:embed="rId5" cstate="print"/>
          <a:srcRect/>
          <a:stretch>
            <a:fillRect/>
          </a:stretch>
        </p:blipFill>
        <p:spPr bwMode="auto">
          <a:xfrm>
            <a:off x="762000" y="4246563"/>
            <a:ext cx="3352800" cy="2227262"/>
          </a:xfrm>
          <a:prstGeom prst="rect">
            <a:avLst/>
          </a:prstGeom>
          <a:noFill/>
          <a:ln w="9525">
            <a:noFill/>
            <a:miter lim="800000"/>
            <a:headEnd/>
            <a:tailEnd/>
          </a:ln>
        </p:spPr>
      </p:pic>
      <p:pic>
        <p:nvPicPr>
          <p:cNvPr id="34821" name="Picture 4" descr="http://xbox360media.ign.com/xbox360/image/article/111/1112845/dance-central-20100816111932700-000.jpg"/>
          <p:cNvPicPr>
            <a:picLocks noChangeAspect="1" noChangeArrowheads="1"/>
          </p:cNvPicPr>
          <p:nvPr/>
        </p:nvPicPr>
        <p:blipFill>
          <a:blip r:embed="rId6" cstate="print"/>
          <a:srcRect/>
          <a:stretch>
            <a:fillRect/>
          </a:stretch>
        </p:blipFill>
        <p:spPr bwMode="auto">
          <a:xfrm>
            <a:off x="4343400" y="4267200"/>
            <a:ext cx="3924300" cy="2205038"/>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custDataLst>
              <p:tags r:id="rId1"/>
            </p:custDataLst>
          </p:nvPr>
        </p:nvSpPr>
        <p:spPr/>
        <p:txBody>
          <a:bodyPr/>
          <a:lstStyle/>
          <a:p>
            <a:pPr eaLnBrk="1" hangingPunct="1"/>
            <a:r>
              <a:rPr lang="en-US"/>
              <a:t>Vision in space</a:t>
            </a:r>
            <a:endParaRPr lang="en-US"/>
          </a:p>
        </p:txBody>
      </p:sp>
      <p:sp>
        <p:nvSpPr>
          <p:cNvPr id="35843" name="Rectangle 3"/>
          <p:cNvSpPr>
            <a:spLocks noGrp="1" noChangeArrowheads="1"/>
          </p:cNvSpPr>
          <p:nvPr>
            <p:ph type="body" idx="1"/>
            <p:custDataLst>
              <p:tags r:id="rId2"/>
            </p:custDataLst>
          </p:nvPr>
        </p:nvSpPr>
        <p:spPr/>
        <p:txBody>
          <a:bodyPr/>
          <a:lstStyle/>
          <a:p>
            <a:pPr eaLnBrk="1" hangingPunct="1"/>
            <a:endParaRPr lang="en-US"/>
          </a:p>
        </p:txBody>
      </p:sp>
      <p:pic>
        <p:nvPicPr>
          <p:cNvPr id="35844" name="Picture 6" descr="1198865273_31824-1_Sol1369A_WestValley_L257F_br"/>
          <p:cNvPicPr>
            <a:picLocks noChangeAspect="1" noChangeArrowheads="1"/>
          </p:cNvPicPr>
          <p:nvPr>
            <p:custDataLst>
              <p:tags r:id="rId3"/>
            </p:custDataLst>
          </p:nvPr>
        </p:nvPicPr>
        <p:blipFill>
          <a:blip r:embed="rId4" cstate="print"/>
          <a:srcRect/>
          <a:stretch>
            <a:fillRect/>
          </a:stretch>
        </p:blipFill>
        <p:spPr bwMode="auto">
          <a:xfrm>
            <a:off x="304800" y="1276350"/>
            <a:ext cx="8534400" cy="2333625"/>
          </a:xfrm>
          <a:prstGeom prst="rect">
            <a:avLst/>
          </a:prstGeom>
          <a:noFill/>
          <a:ln w="9525">
            <a:noFill/>
            <a:miter lim="800000"/>
            <a:headEnd/>
            <a:tailEnd/>
          </a:ln>
        </p:spPr>
      </p:pic>
      <p:sp>
        <p:nvSpPr>
          <p:cNvPr id="35845" name="Rectangle 7"/>
          <p:cNvSpPr>
            <a:spLocks noChangeArrowheads="1"/>
          </p:cNvSpPr>
          <p:nvPr>
            <p:custDataLst>
              <p:tags r:id="rId5"/>
            </p:custDataLst>
          </p:nvPr>
        </p:nvSpPr>
        <p:spPr bwMode="auto">
          <a:xfrm>
            <a:off x="685800" y="4495800"/>
            <a:ext cx="8001000" cy="1676400"/>
          </a:xfrm>
          <a:prstGeom prst="rect">
            <a:avLst/>
          </a:prstGeom>
          <a:noFill/>
          <a:ln w="9525">
            <a:noFill/>
            <a:miter lim="800000"/>
          </a:ln>
        </p:spPr>
        <p:txBody>
          <a:bodyPr/>
          <a:lstStyle/>
          <a:p>
            <a:pPr marL="342900" indent="-342900" fontAlgn="base">
              <a:spcBef>
                <a:spcPct val="20000"/>
              </a:spcBef>
              <a:spcAft>
                <a:spcPct val="0"/>
              </a:spcAft>
            </a:pPr>
            <a:r>
              <a:rPr lang="en-US" sz="2800" dirty="0">
                <a:solidFill>
                  <a:prstClr val="black"/>
                </a:solidFill>
                <a:latin typeface="Arial" panose="020B0604020202020204" pitchFamily="34" charset="0"/>
              </a:rPr>
              <a:t>Vision systems (JPL) used for several tasks</a:t>
            </a:r>
            <a:endParaRPr lang="en-US" sz="2800" dirty="0">
              <a:solidFill>
                <a:prstClr val="black"/>
              </a:solidFill>
              <a:latin typeface="Arial" panose="020B0604020202020204" pitchFamily="34" charset="0"/>
            </a:endParaRPr>
          </a:p>
          <a:p>
            <a:pPr marL="742950" lvl="1" indent="-285750" fontAlgn="base">
              <a:spcBef>
                <a:spcPct val="20000"/>
              </a:spcBef>
              <a:spcAft>
                <a:spcPct val="0"/>
              </a:spcAft>
              <a:buFontTx/>
              <a:buChar char="•"/>
            </a:pPr>
            <a:r>
              <a:rPr lang="en-US" sz="2000" dirty="0">
                <a:solidFill>
                  <a:prstClr val="black"/>
                </a:solidFill>
                <a:latin typeface="Arial" panose="020B0604020202020204" pitchFamily="34" charset="0"/>
              </a:rPr>
              <a:t>Panorama stitching</a:t>
            </a:r>
            <a:endParaRPr lang="en-US" sz="2000" dirty="0">
              <a:solidFill>
                <a:prstClr val="black"/>
              </a:solidFill>
              <a:latin typeface="Arial" panose="020B0604020202020204" pitchFamily="34" charset="0"/>
            </a:endParaRPr>
          </a:p>
          <a:p>
            <a:pPr marL="742950" lvl="1" indent="-285750" fontAlgn="base">
              <a:spcBef>
                <a:spcPct val="20000"/>
              </a:spcBef>
              <a:spcAft>
                <a:spcPct val="0"/>
              </a:spcAft>
              <a:buFontTx/>
              <a:buChar char="•"/>
            </a:pPr>
            <a:r>
              <a:rPr lang="en-US" sz="2000" dirty="0">
                <a:solidFill>
                  <a:prstClr val="black"/>
                </a:solidFill>
                <a:latin typeface="Arial" panose="020B0604020202020204" pitchFamily="34" charset="0"/>
              </a:rPr>
              <a:t>3D terrain modeling</a:t>
            </a:r>
            <a:endParaRPr lang="en-US" sz="2000" dirty="0">
              <a:solidFill>
                <a:prstClr val="black"/>
              </a:solidFill>
              <a:latin typeface="Arial" panose="020B0604020202020204" pitchFamily="34" charset="0"/>
            </a:endParaRPr>
          </a:p>
          <a:p>
            <a:pPr marL="742950" lvl="1" indent="-285750" fontAlgn="base">
              <a:spcBef>
                <a:spcPct val="20000"/>
              </a:spcBef>
              <a:spcAft>
                <a:spcPct val="0"/>
              </a:spcAft>
              <a:buFontTx/>
              <a:buChar char="•"/>
            </a:pPr>
            <a:r>
              <a:rPr lang="en-US" sz="2000" dirty="0">
                <a:solidFill>
                  <a:prstClr val="black"/>
                </a:solidFill>
                <a:latin typeface="Arial" panose="020B0604020202020204" pitchFamily="34" charset="0"/>
              </a:rPr>
              <a:t>Obstacle detection, position tracking</a:t>
            </a:r>
            <a:endParaRPr lang="en-US" sz="2000" dirty="0">
              <a:solidFill>
                <a:prstClr val="black"/>
              </a:solidFill>
              <a:latin typeface="Arial" panose="020B0604020202020204" pitchFamily="34" charset="0"/>
            </a:endParaRPr>
          </a:p>
          <a:p>
            <a:pPr marL="742950" lvl="1" indent="-285750" fontAlgn="base">
              <a:spcBef>
                <a:spcPct val="20000"/>
              </a:spcBef>
              <a:spcAft>
                <a:spcPct val="0"/>
              </a:spcAft>
              <a:buFontTx/>
              <a:buChar char="•"/>
            </a:pPr>
            <a:r>
              <a:rPr lang="en-US" sz="2000" dirty="0">
                <a:solidFill>
                  <a:prstClr val="black"/>
                </a:solidFill>
                <a:latin typeface="Arial" panose="020B0604020202020204" pitchFamily="34" charset="0"/>
              </a:rPr>
              <a:t>For more, read “</a:t>
            </a:r>
            <a:r>
              <a:rPr lang="en-US" sz="2000" dirty="0">
                <a:solidFill>
                  <a:prstClr val="black"/>
                </a:solidFill>
                <a:latin typeface="Arial" panose="020B0604020202020204" pitchFamily="34" charset="0"/>
                <a:hlinkClick r:id="rId6"/>
              </a:rPr>
              <a:t>Computer Vision on Mars</a:t>
            </a:r>
            <a:r>
              <a:rPr lang="en-US" sz="2000" dirty="0">
                <a:solidFill>
                  <a:prstClr val="black"/>
                </a:solidFill>
                <a:latin typeface="Arial" panose="020B0604020202020204" pitchFamily="34" charset="0"/>
              </a:rPr>
              <a:t>” by </a:t>
            </a:r>
            <a:r>
              <a:rPr lang="en-US" sz="2000" dirty="0" err="1">
                <a:solidFill>
                  <a:prstClr val="black"/>
                </a:solidFill>
                <a:latin typeface="Arial" panose="020B0604020202020204" pitchFamily="34" charset="0"/>
              </a:rPr>
              <a:t>Matthies</a:t>
            </a:r>
            <a:r>
              <a:rPr lang="en-US" sz="2000" dirty="0">
                <a:solidFill>
                  <a:prstClr val="black"/>
                </a:solidFill>
                <a:latin typeface="Arial" panose="020B0604020202020204" pitchFamily="34" charset="0"/>
              </a:rPr>
              <a:t> et al.</a:t>
            </a:r>
            <a:endParaRPr lang="en-US" sz="2000" dirty="0">
              <a:solidFill>
                <a:prstClr val="black"/>
              </a:solidFill>
              <a:latin typeface="Arial" panose="020B0604020202020204" pitchFamily="34" charset="0"/>
            </a:endParaRPr>
          </a:p>
        </p:txBody>
      </p:sp>
      <p:sp>
        <p:nvSpPr>
          <p:cNvPr id="35846" name="Rectangle 8"/>
          <p:cNvSpPr>
            <a:spLocks noChangeArrowheads="1"/>
          </p:cNvSpPr>
          <p:nvPr>
            <p:custDataLst>
              <p:tags r:id="rId7"/>
            </p:custDataLst>
          </p:nvPr>
        </p:nvSpPr>
        <p:spPr bwMode="auto">
          <a:xfrm>
            <a:off x="838200" y="3609975"/>
            <a:ext cx="7772400" cy="581025"/>
          </a:xfrm>
          <a:prstGeom prst="rect">
            <a:avLst/>
          </a:prstGeom>
          <a:noFill/>
          <a:ln w="9525">
            <a:noFill/>
            <a:miter lim="800000"/>
          </a:ln>
        </p:spPr>
        <p:txBody>
          <a:bodyPr anchor="ctr">
            <a:spAutoFit/>
          </a:bodyPr>
          <a:lstStyle/>
          <a:p>
            <a:pPr fontAlgn="base">
              <a:spcBef>
                <a:spcPct val="0"/>
              </a:spcBef>
              <a:spcAft>
                <a:spcPct val="0"/>
              </a:spcAft>
            </a:pPr>
            <a:r>
              <a:rPr lang="en-US" sz="1600">
                <a:solidFill>
                  <a:prstClr val="black"/>
                </a:solidFill>
                <a:latin typeface="Arial" panose="020B0604020202020204" pitchFamily="34" charset="0"/>
                <a:hlinkClick r:id="rId8"/>
              </a:rPr>
              <a:t>NASA'S Mars Exploration Rover Spirit </a:t>
            </a:r>
            <a:r>
              <a:rPr lang="en-US" sz="1600">
                <a:solidFill>
                  <a:prstClr val="black"/>
                </a:solidFill>
                <a:latin typeface="Arial" panose="020B0604020202020204" pitchFamily="34" charset="0"/>
              </a:rPr>
              <a:t>captured this westward view from atop </a:t>
            </a:r>
            <a:br>
              <a:rPr lang="en-US" sz="1600">
                <a:solidFill>
                  <a:prstClr val="black"/>
                </a:solidFill>
                <a:latin typeface="Arial" panose="020B0604020202020204" pitchFamily="34" charset="0"/>
              </a:rPr>
            </a:br>
            <a:r>
              <a:rPr lang="en-US" sz="1600">
                <a:solidFill>
                  <a:prstClr val="black"/>
                </a:solidFill>
                <a:latin typeface="Arial" panose="020B0604020202020204" pitchFamily="34" charset="0"/>
              </a:rPr>
              <a:t>a low plateau where Spirit spent the closing months of 2007. </a:t>
            </a:r>
            <a:endParaRPr lang="en-US" sz="1600">
              <a:solidFill>
                <a:prstClr val="black"/>
              </a:solidFill>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a:t>Industrial robots</a:t>
            </a:r>
            <a:endParaRPr lang="en-US"/>
          </a:p>
        </p:txBody>
      </p:sp>
      <p:pic>
        <p:nvPicPr>
          <p:cNvPr id="36867" name="Picture 2"/>
          <p:cNvPicPr>
            <a:picLocks noChangeAspect="1" noChangeArrowheads="1"/>
          </p:cNvPicPr>
          <p:nvPr/>
        </p:nvPicPr>
        <p:blipFill>
          <a:blip r:embed="rId1" cstate="print"/>
          <a:srcRect/>
          <a:stretch>
            <a:fillRect/>
          </a:stretch>
        </p:blipFill>
        <p:spPr bwMode="auto">
          <a:xfrm>
            <a:off x="762000" y="1828800"/>
            <a:ext cx="4645025" cy="3883025"/>
          </a:xfrm>
          <a:prstGeom prst="rect">
            <a:avLst/>
          </a:prstGeom>
          <a:noFill/>
          <a:ln w="9525">
            <a:noFill/>
            <a:miter lim="800000"/>
            <a:headEnd/>
            <a:tailEnd/>
          </a:ln>
        </p:spPr>
      </p:pic>
      <p:sp>
        <p:nvSpPr>
          <p:cNvPr id="36868" name="TextBox 6"/>
          <p:cNvSpPr txBox="1">
            <a:spLocks noChangeArrowheads="1"/>
          </p:cNvSpPr>
          <p:nvPr/>
        </p:nvSpPr>
        <p:spPr bwMode="auto">
          <a:xfrm>
            <a:off x="1533525" y="6019800"/>
            <a:ext cx="5476875" cy="369888"/>
          </a:xfrm>
          <a:prstGeom prst="rect">
            <a:avLst/>
          </a:prstGeom>
          <a:noFill/>
          <a:ln w="9525">
            <a:noFill/>
            <a:miter lim="800000"/>
          </a:ln>
        </p:spPr>
        <p:txBody>
          <a:bodyPr wrap="none">
            <a:spAutoFit/>
          </a:bodyPr>
          <a:lstStyle/>
          <a:p>
            <a:pPr fontAlgn="base">
              <a:spcBef>
                <a:spcPct val="0"/>
              </a:spcBef>
              <a:spcAft>
                <a:spcPct val="0"/>
              </a:spcAft>
            </a:pPr>
            <a:r>
              <a:rPr lang="en-US">
                <a:solidFill>
                  <a:prstClr val="black"/>
                </a:solidFill>
                <a:latin typeface="Arial" panose="020B0604020202020204" pitchFamily="34" charset="0"/>
              </a:rPr>
              <a:t>Vision-guided robots position nut runners on wheels</a:t>
            </a:r>
            <a:endParaRPr lang="en-US">
              <a:solidFill>
                <a:prstClr val="black"/>
              </a:solidFill>
              <a:latin typeface="Arial" panose="020B0604020202020204" pitchFamily="34" charset="0"/>
            </a:endParaRPr>
          </a:p>
        </p:txBody>
      </p:sp>
      <p:pic>
        <p:nvPicPr>
          <p:cNvPr id="36869" name="Picture 3"/>
          <p:cNvPicPr>
            <a:picLocks noChangeAspect="1" noChangeArrowheads="1"/>
          </p:cNvPicPr>
          <p:nvPr/>
        </p:nvPicPr>
        <p:blipFill>
          <a:blip r:embed="rId2" cstate="print"/>
          <a:srcRect/>
          <a:stretch>
            <a:fillRect/>
          </a:stretch>
        </p:blipFill>
        <p:spPr bwMode="auto">
          <a:xfrm>
            <a:off x="5791200" y="2667000"/>
            <a:ext cx="2867025" cy="210502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custDataLst>
              <p:tags r:id="rId1"/>
            </p:custDataLst>
          </p:nvPr>
        </p:nvSpPr>
        <p:spPr/>
        <p:txBody>
          <a:bodyPr/>
          <a:lstStyle/>
          <a:p>
            <a:pPr eaLnBrk="1" hangingPunct="1"/>
            <a:r>
              <a:rPr lang="en-US"/>
              <a:t>Mobile robots</a:t>
            </a:r>
            <a:endParaRPr lang="en-US"/>
          </a:p>
        </p:txBody>
      </p:sp>
      <p:sp>
        <p:nvSpPr>
          <p:cNvPr id="37891" name="AutoShape 6" descr="2_on_1_melee2"/>
          <p:cNvSpPr>
            <a:spLocks noChangeAspect="1" noChangeArrowheads="1"/>
          </p:cNvSpPr>
          <p:nvPr>
            <p:custDataLst>
              <p:tags r:id="rId2"/>
            </p:custDataLst>
          </p:nvPr>
        </p:nvSpPr>
        <p:spPr bwMode="auto">
          <a:xfrm>
            <a:off x="8386763" y="2481263"/>
            <a:ext cx="296862" cy="296862"/>
          </a:xfrm>
          <a:prstGeom prst="rect">
            <a:avLst/>
          </a:prstGeom>
          <a:noFill/>
          <a:ln w="9525">
            <a:noFill/>
            <a:miter lim="800000"/>
          </a:ln>
        </p:spPr>
        <p:txBody>
          <a:bodyPr/>
          <a:lstStyle/>
          <a:p>
            <a:pPr fontAlgn="base">
              <a:spcBef>
                <a:spcPct val="0"/>
              </a:spcBef>
              <a:spcAft>
                <a:spcPct val="0"/>
              </a:spcAft>
            </a:pPr>
            <a:endParaRPr lang="en-US">
              <a:solidFill>
                <a:prstClr val="black"/>
              </a:solidFill>
              <a:latin typeface="Arial" panose="020B0604020202020204" pitchFamily="34" charset="0"/>
            </a:endParaRPr>
          </a:p>
        </p:txBody>
      </p:sp>
      <p:sp>
        <p:nvSpPr>
          <p:cNvPr id="37892" name="AutoShape 8" descr="2_on_1_melee2"/>
          <p:cNvSpPr>
            <a:spLocks noChangeAspect="1" noChangeArrowheads="1"/>
          </p:cNvSpPr>
          <p:nvPr>
            <p:custDataLst>
              <p:tags r:id="rId3"/>
            </p:custDataLst>
          </p:nvPr>
        </p:nvSpPr>
        <p:spPr bwMode="auto">
          <a:xfrm>
            <a:off x="8386763" y="2481263"/>
            <a:ext cx="296862" cy="296862"/>
          </a:xfrm>
          <a:prstGeom prst="rect">
            <a:avLst/>
          </a:prstGeom>
          <a:noFill/>
          <a:ln w="9525">
            <a:noFill/>
            <a:miter lim="800000"/>
          </a:ln>
        </p:spPr>
        <p:txBody>
          <a:bodyPr/>
          <a:lstStyle/>
          <a:p>
            <a:pPr fontAlgn="base">
              <a:spcBef>
                <a:spcPct val="0"/>
              </a:spcBef>
              <a:spcAft>
                <a:spcPct val="0"/>
              </a:spcAft>
            </a:pPr>
            <a:endParaRPr lang="en-US">
              <a:solidFill>
                <a:prstClr val="black"/>
              </a:solidFill>
              <a:latin typeface="Arial" panose="020B0604020202020204" pitchFamily="34" charset="0"/>
            </a:endParaRPr>
          </a:p>
        </p:txBody>
      </p:sp>
      <p:pic>
        <p:nvPicPr>
          <p:cNvPr id="37893" name="Picture 9" descr="2_on_1_melee2">
            <a:hlinkClick r:id="rId4" action="ppaction://hlinkfile"/>
          </p:cNvPr>
          <p:cNvPicPr>
            <a:picLocks noChangeAspect="1" noChangeArrowheads="1"/>
          </p:cNvPicPr>
          <p:nvPr>
            <p:custDataLst>
              <p:tags r:id="rId5"/>
            </p:custDataLst>
          </p:nvPr>
        </p:nvPicPr>
        <p:blipFill>
          <a:blip r:embed="rId6" cstate="print"/>
          <a:srcRect/>
          <a:stretch>
            <a:fillRect/>
          </a:stretch>
        </p:blipFill>
        <p:spPr bwMode="auto">
          <a:xfrm>
            <a:off x="4495800" y="990600"/>
            <a:ext cx="3581400" cy="2686050"/>
          </a:xfrm>
          <a:prstGeom prst="rect">
            <a:avLst/>
          </a:prstGeom>
          <a:noFill/>
          <a:ln w="9525">
            <a:noFill/>
            <a:miter lim="800000"/>
            <a:headEnd/>
            <a:tailEnd/>
          </a:ln>
        </p:spPr>
      </p:pic>
      <p:sp>
        <p:nvSpPr>
          <p:cNvPr id="37894" name="Rectangle 10"/>
          <p:cNvSpPr>
            <a:spLocks noChangeArrowheads="1"/>
          </p:cNvSpPr>
          <p:nvPr>
            <p:custDataLst>
              <p:tags r:id="rId7"/>
            </p:custDataLst>
          </p:nvPr>
        </p:nvSpPr>
        <p:spPr bwMode="auto">
          <a:xfrm>
            <a:off x="5181600" y="3657600"/>
            <a:ext cx="2332038" cy="581025"/>
          </a:xfrm>
          <a:prstGeom prst="rect">
            <a:avLst/>
          </a:prstGeom>
          <a:noFill/>
          <a:ln w="9525">
            <a:noFill/>
            <a:miter lim="800000"/>
          </a:ln>
        </p:spPr>
        <p:txBody>
          <a:bodyPr wrap="none">
            <a:spAutoFit/>
          </a:bodyPr>
          <a:lstStyle/>
          <a:p>
            <a:pPr fontAlgn="base">
              <a:spcBef>
                <a:spcPct val="0"/>
              </a:spcBef>
              <a:spcAft>
                <a:spcPct val="0"/>
              </a:spcAft>
            </a:pPr>
            <a:r>
              <a:rPr lang="en-US" sz="1600">
                <a:solidFill>
                  <a:prstClr val="black"/>
                </a:solidFill>
                <a:latin typeface="Arial" panose="020B0604020202020204" pitchFamily="34" charset="0"/>
                <a:hlinkClick r:id="rId8"/>
              </a:rPr>
              <a:t>http://www.robocup.org/</a:t>
            </a:r>
            <a:endParaRPr lang="en-US" sz="1600">
              <a:solidFill>
                <a:prstClr val="black"/>
              </a:solidFill>
              <a:latin typeface="Arial" panose="020B0604020202020204" pitchFamily="34" charset="0"/>
            </a:endParaRPr>
          </a:p>
          <a:p>
            <a:pPr fontAlgn="base">
              <a:spcBef>
                <a:spcPct val="0"/>
              </a:spcBef>
              <a:spcAft>
                <a:spcPct val="0"/>
              </a:spcAft>
            </a:pPr>
            <a:endParaRPr lang="en-US" sz="1600">
              <a:solidFill>
                <a:prstClr val="black"/>
              </a:solidFill>
              <a:latin typeface="Arial" panose="020B0604020202020204" pitchFamily="34" charset="0"/>
            </a:endParaRPr>
          </a:p>
        </p:txBody>
      </p:sp>
      <p:pic>
        <p:nvPicPr>
          <p:cNvPr id="37895" name="Picture 12" descr="Image:NASA Mars Rover.jpg">
            <a:hlinkClick r:id="rId9"/>
          </p:cNvPr>
          <p:cNvPicPr>
            <a:picLocks noChangeAspect="1" noChangeArrowheads="1"/>
          </p:cNvPicPr>
          <p:nvPr>
            <p:custDataLst>
              <p:tags r:id="rId10"/>
            </p:custDataLst>
          </p:nvPr>
        </p:nvPicPr>
        <p:blipFill>
          <a:blip r:embed="rId11" cstate="print"/>
          <a:srcRect/>
          <a:stretch>
            <a:fillRect/>
          </a:stretch>
        </p:blipFill>
        <p:spPr bwMode="auto">
          <a:xfrm>
            <a:off x="838200" y="914400"/>
            <a:ext cx="3200400" cy="2559050"/>
          </a:xfrm>
          <a:prstGeom prst="rect">
            <a:avLst/>
          </a:prstGeom>
          <a:noFill/>
          <a:ln w="9525">
            <a:noFill/>
            <a:miter lim="800000"/>
            <a:headEnd/>
            <a:tailEnd/>
          </a:ln>
        </p:spPr>
      </p:pic>
      <p:sp>
        <p:nvSpPr>
          <p:cNvPr id="37896" name="Rectangle 13"/>
          <p:cNvSpPr>
            <a:spLocks noChangeArrowheads="1"/>
          </p:cNvSpPr>
          <p:nvPr>
            <p:custDataLst>
              <p:tags r:id="rId12"/>
            </p:custDataLst>
          </p:nvPr>
        </p:nvSpPr>
        <p:spPr bwMode="auto">
          <a:xfrm>
            <a:off x="685800" y="3505200"/>
            <a:ext cx="3649663" cy="581025"/>
          </a:xfrm>
          <a:prstGeom prst="rect">
            <a:avLst/>
          </a:prstGeom>
          <a:noFill/>
          <a:ln w="9525">
            <a:noFill/>
            <a:miter lim="800000"/>
          </a:ln>
        </p:spPr>
        <p:txBody>
          <a:bodyPr wrap="none">
            <a:spAutoFit/>
          </a:bodyPr>
          <a:lstStyle/>
          <a:p>
            <a:pPr algn="ctr" fontAlgn="base">
              <a:spcBef>
                <a:spcPct val="0"/>
              </a:spcBef>
              <a:spcAft>
                <a:spcPct val="0"/>
              </a:spcAft>
            </a:pPr>
            <a:r>
              <a:rPr lang="en-US" sz="1600">
                <a:solidFill>
                  <a:prstClr val="black"/>
                </a:solidFill>
                <a:latin typeface="Arial" panose="020B0604020202020204" pitchFamily="34" charset="0"/>
              </a:rPr>
              <a:t>NASA’s Mars Spirit Rover</a:t>
            </a:r>
            <a:endParaRPr lang="en-US" sz="1600">
              <a:solidFill>
                <a:prstClr val="black"/>
              </a:solidFill>
              <a:latin typeface="Arial" panose="020B0604020202020204" pitchFamily="34" charset="0"/>
            </a:endParaRPr>
          </a:p>
          <a:p>
            <a:pPr algn="ctr" fontAlgn="base">
              <a:spcBef>
                <a:spcPct val="0"/>
              </a:spcBef>
              <a:spcAft>
                <a:spcPct val="0"/>
              </a:spcAft>
            </a:pPr>
            <a:r>
              <a:rPr lang="en-US" sz="1600">
                <a:solidFill>
                  <a:prstClr val="black"/>
                </a:solidFill>
                <a:latin typeface="Arial" panose="020B0604020202020204" pitchFamily="34" charset="0"/>
                <a:hlinkClick r:id="rId13"/>
              </a:rPr>
              <a:t>http://en.wikipedia.org/wiki/Spirit_rover</a:t>
            </a:r>
            <a:endParaRPr lang="en-US" sz="1600">
              <a:solidFill>
                <a:prstClr val="black"/>
              </a:solidFill>
              <a:latin typeface="Arial" panose="020B0604020202020204" pitchFamily="34" charset="0"/>
            </a:endParaRPr>
          </a:p>
        </p:txBody>
      </p:sp>
      <p:pic>
        <p:nvPicPr>
          <p:cNvPr id="37897" name="Picture 2"/>
          <p:cNvPicPr>
            <a:picLocks noChangeAspect="1" noChangeArrowheads="1"/>
          </p:cNvPicPr>
          <p:nvPr/>
        </p:nvPicPr>
        <p:blipFill>
          <a:blip r:embed="rId14" cstate="print"/>
          <a:srcRect/>
          <a:stretch>
            <a:fillRect/>
          </a:stretch>
        </p:blipFill>
        <p:spPr bwMode="auto">
          <a:xfrm>
            <a:off x="3200400" y="4419600"/>
            <a:ext cx="2014538" cy="2438400"/>
          </a:xfrm>
          <a:prstGeom prst="rect">
            <a:avLst/>
          </a:prstGeom>
          <a:noFill/>
          <a:ln w="9525">
            <a:noFill/>
            <a:miter lim="800000"/>
            <a:headEnd/>
            <a:tailEnd/>
          </a:ln>
        </p:spPr>
      </p:pic>
      <p:sp>
        <p:nvSpPr>
          <p:cNvPr id="37898" name="TextBox 9"/>
          <p:cNvSpPr txBox="1">
            <a:spLocks noChangeArrowheads="1"/>
          </p:cNvSpPr>
          <p:nvPr/>
        </p:nvSpPr>
        <p:spPr bwMode="auto">
          <a:xfrm>
            <a:off x="5257800" y="6248400"/>
            <a:ext cx="1895475" cy="584200"/>
          </a:xfrm>
          <a:prstGeom prst="rect">
            <a:avLst/>
          </a:prstGeom>
          <a:noFill/>
          <a:ln w="9525">
            <a:noFill/>
            <a:miter lim="800000"/>
          </a:ln>
        </p:spPr>
        <p:txBody>
          <a:bodyPr wrap="none">
            <a:spAutoFit/>
          </a:bodyPr>
          <a:lstStyle/>
          <a:p>
            <a:pPr fontAlgn="base">
              <a:spcBef>
                <a:spcPct val="0"/>
              </a:spcBef>
              <a:spcAft>
                <a:spcPct val="0"/>
              </a:spcAft>
            </a:pPr>
            <a:r>
              <a:rPr lang="en-US" sz="1600">
                <a:solidFill>
                  <a:prstClr val="black"/>
                </a:solidFill>
                <a:latin typeface="Arial" panose="020B0604020202020204" pitchFamily="34" charset="0"/>
              </a:rPr>
              <a:t>Saxena et al. 2008</a:t>
            </a:r>
            <a:endParaRPr lang="en-US" sz="1600">
              <a:solidFill>
                <a:prstClr val="black"/>
              </a:solidFill>
              <a:latin typeface="Arial" panose="020B0604020202020204" pitchFamily="34" charset="0"/>
            </a:endParaRPr>
          </a:p>
          <a:p>
            <a:pPr fontAlgn="base">
              <a:spcBef>
                <a:spcPct val="0"/>
              </a:spcBef>
              <a:spcAft>
                <a:spcPct val="0"/>
              </a:spcAft>
            </a:pPr>
            <a:r>
              <a:rPr lang="en-US" sz="1600">
                <a:solidFill>
                  <a:prstClr val="black"/>
                </a:solidFill>
                <a:latin typeface="Arial" panose="020B0604020202020204" pitchFamily="34" charset="0"/>
                <a:hlinkClick r:id="rId15"/>
              </a:rPr>
              <a:t>STAIR</a:t>
            </a:r>
            <a:r>
              <a:rPr lang="en-US" sz="1600">
                <a:solidFill>
                  <a:prstClr val="black"/>
                </a:solidFill>
                <a:latin typeface="Arial" panose="020B0604020202020204" pitchFamily="34" charset="0"/>
              </a:rPr>
              <a:t> at Stanford</a:t>
            </a:r>
            <a:endParaRPr lang="en-US" sz="1600">
              <a:solidFill>
                <a:prstClr val="black"/>
              </a:solidFill>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custDataLst>
              <p:tags r:id="rId1"/>
            </p:custDataLst>
          </p:nvPr>
        </p:nvSpPr>
        <p:spPr/>
        <p:txBody>
          <a:bodyPr/>
          <a:lstStyle/>
          <a:p>
            <a:pPr eaLnBrk="1" hangingPunct="1"/>
            <a:r>
              <a:rPr lang="en-US"/>
              <a:t>Medical imaging</a:t>
            </a:r>
            <a:endParaRPr lang="en-US"/>
          </a:p>
        </p:txBody>
      </p:sp>
      <p:pic>
        <p:nvPicPr>
          <p:cNvPr id="38915" name="Picture 4" descr="mybrain"/>
          <p:cNvPicPr>
            <a:picLocks noChangeAspect="1" noChangeArrowheads="1"/>
          </p:cNvPicPr>
          <p:nvPr>
            <p:custDataLst>
              <p:tags r:id="rId2"/>
            </p:custDataLst>
          </p:nvPr>
        </p:nvPicPr>
        <p:blipFill>
          <a:blip r:embed="rId3" cstate="print"/>
          <a:srcRect/>
          <a:stretch>
            <a:fillRect/>
          </a:stretch>
        </p:blipFill>
        <p:spPr bwMode="auto">
          <a:xfrm>
            <a:off x="457200" y="1616075"/>
            <a:ext cx="3505200" cy="3505200"/>
          </a:xfrm>
          <a:prstGeom prst="rect">
            <a:avLst/>
          </a:prstGeom>
          <a:noFill/>
          <a:ln w="9525">
            <a:noFill/>
            <a:miter lim="800000"/>
            <a:headEnd/>
            <a:tailEnd/>
          </a:ln>
        </p:spPr>
      </p:pic>
      <p:pic>
        <p:nvPicPr>
          <p:cNvPr id="38916" name="Picture 5"/>
          <p:cNvPicPr>
            <a:picLocks noChangeAspect="1" noChangeArrowheads="1"/>
          </p:cNvPicPr>
          <p:nvPr>
            <p:custDataLst>
              <p:tags r:id="rId4"/>
            </p:custDataLst>
          </p:nvPr>
        </p:nvPicPr>
        <p:blipFill>
          <a:blip r:embed="rId5" cstate="print"/>
          <a:srcRect/>
          <a:stretch>
            <a:fillRect/>
          </a:stretch>
        </p:blipFill>
        <p:spPr bwMode="auto">
          <a:xfrm>
            <a:off x="4268788" y="1947863"/>
            <a:ext cx="4494212" cy="2852737"/>
          </a:xfrm>
          <a:prstGeom prst="rect">
            <a:avLst/>
          </a:prstGeom>
          <a:noFill/>
          <a:ln w="9525">
            <a:noFill/>
            <a:miter lim="800000"/>
            <a:headEnd/>
            <a:tailEnd/>
          </a:ln>
        </p:spPr>
      </p:pic>
      <p:sp>
        <p:nvSpPr>
          <p:cNvPr id="38917" name="Rectangle 6"/>
          <p:cNvSpPr>
            <a:spLocks noChangeArrowheads="1"/>
          </p:cNvSpPr>
          <p:nvPr>
            <p:custDataLst>
              <p:tags r:id="rId6"/>
            </p:custDataLst>
          </p:nvPr>
        </p:nvSpPr>
        <p:spPr bwMode="auto">
          <a:xfrm>
            <a:off x="5559425" y="5105400"/>
            <a:ext cx="2149475" cy="581025"/>
          </a:xfrm>
          <a:prstGeom prst="rect">
            <a:avLst/>
          </a:prstGeom>
          <a:noFill/>
          <a:ln w="9525">
            <a:noFill/>
            <a:miter lim="800000"/>
          </a:ln>
        </p:spPr>
        <p:txBody>
          <a:bodyPr wrap="none">
            <a:spAutoFit/>
          </a:bodyPr>
          <a:lstStyle/>
          <a:p>
            <a:pPr algn="ctr" fontAlgn="base">
              <a:spcBef>
                <a:spcPct val="0"/>
              </a:spcBef>
              <a:spcAft>
                <a:spcPct val="0"/>
              </a:spcAft>
            </a:pPr>
            <a:r>
              <a:rPr lang="en-US" sz="1600">
                <a:solidFill>
                  <a:prstClr val="black"/>
                </a:solidFill>
                <a:latin typeface="Arial" panose="020B0604020202020204" pitchFamily="34" charset="0"/>
              </a:rPr>
              <a:t>Image guided surgery</a:t>
            </a:r>
            <a:endParaRPr lang="en-US" sz="1600">
              <a:solidFill>
                <a:prstClr val="black"/>
              </a:solidFill>
              <a:latin typeface="Arial" panose="020B0604020202020204" pitchFamily="34" charset="0"/>
            </a:endParaRPr>
          </a:p>
          <a:p>
            <a:pPr algn="ctr" fontAlgn="base">
              <a:spcBef>
                <a:spcPct val="0"/>
              </a:spcBef>
              <a:spcAft>
                <a:spcPct val="0"/>
              </a:spcAft>
            </a:pPr>
            <a:r>
              <a:rPr lang="en-US" sz="1600">
                <a:solidFill>
                  <a:prstClr val="black"/>
                </a:solidFill>
                <a:latin typeface="Arial" panose="020B0604020202020204" pitchFamily="34" charset="0"/>
                <a:hlinkClick r:id="rId7"/>
              </a:rPr>
              <a:t>Grimson et al., MIT</a:t>
            </a:r>
            <a:endParaRPr lang="en-US" sz="1600">
              <a:solidFill>
                <a:prstClr val="black"/>
              </a:solidFill>
              <a:latin typeface="Arial" panose="020B0604020202020204" pitchFamily="34" charset="0"/>
            </a:endParaRPr>
          </a:p>
        </p:txBody>
      </p:sp>
      <p:sp>
        <p:nvSpPr>
          <p:cNvPr id="38918" name="Rectangle 7"/>
          <p:cNvSpPr>
            <a:spLocks noChangeArrowheads="1"/>
          </p:cNvSpPr>
          <p:nvPr>
            <p:custDataLst>
              <p:tags r:id="rId8"/>
            </p:custDataLst>
          </p:nvPr>
        </p:nvSpPr>
        <p:spPr bwMode="auto">
          <a:xfrm>
            <a:off x="1611313" y="5210175"/>
            <a:ext cx="1209675" cy="581025"/>
          </a:xfrm>
          <a:prstGeom prst="rect">
            <a:avLst/>
          </a:prstGeom>
          <a:noFill/>
          <a:ln w="9525">
            <a:noFill/>
            <a:miter lim="800000"/>
          </a:ln>
        </p:spPr>
        <p:txBody>
          <a:bodyPr wrap="none">
            <a:spAutoFit/>
          </a:bodyPr>
          <a:lstStyle/>
          <a:p>
            <a:pPr algn="ctr" fontAlgn="base">
              <a:spcBef>
                <a:spcPct val="0"/>
              </a:spcBef>
              <a:spcAft>
                <a:spcPct val="0"/>
              </a:spcAft>
            </a:pPr>
            <a:r>
              <a:rPr lang="en-US" sz="1600">
                <a:solidFill>
                  <a:prstClr val="black"/>
                </a:solidFill>
                <a:latin typeface="Arial" panose="020B0604020202020204" pitchFamily="34" charset="0"/>
              </a:rPr>
              <a:t>3D imaging</a:t>
            </a:r>
            <a:endParaRPr lang="en-US" sz="1600">
              <a:solidFill>
                <a:prstClr val="black"/>
              </a:solidFill>
              <a:latin typeface="Arial" panose="020B0604020202020204" pitchFamily="34" charset="0"/>
            </a:endParaRPr>
          </a:p>
          <a:p>
            <a:pPr algn="ctr" fontAlgn="base">
              <a:spcBef>
                <a:spcPct val="0"/>
              </a:spcBef>
              <a:spcAft>
                <a:spcPct val="0"/>
              </a:spcAft>
            </a:pPr>
            <a:r>
              <a:rPr lang="en-US" sz="1600">
                <a:solidFill>
                  <a:prstClr val="black"/>
                </a:solidFill>
                <a:latin typeface="Arial" panose="020B0604020202020204" pitchFamily="34" charset="0"/>
              </a:rPr>
              <a:t>MRI, CT</a:t>
            </a:r>
            <a:endParaRPr lang="en-US" sz="1600">
              <a:solidFill>
                <a:prstClr val="black"/>
              </a:solidFill>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Vision and Nearby Fields</a:t>
            </a:r>
            <a:endParaRPr lang="en-US" dirty="0"/>
          </a:p>
        </p:txBody>
      </p:sp>
      <p:sp>
        <p:nvSpPr>
          <p:cNvPr id="3" name="Content Placeholder 2"/>
          <p:cNvSpPr>
            <a:spLocks noGrp="1"/>
          </p:cNvSpPr>
          <p:nvPr>
            <p:ph idx="1"/>
          </p:nvPr>
        </p:nvSpPr>
        <p:spPr/>
        <p:txBody>
          <a:bodyPr/>
          <a:lstStyle/>
          <a:p>
            <a:r>
              <a:rPr lang="en-US" dirty="0"/>
              <a:t>Computer Graphics: Models to Images</a:t>
            </a:r>
            <a:endParaRPr lang="en-US" dirty="0"/>
          </a:p>
          <a:p>
            <a:r>
              <a:rPr lang="en-US" dirty="0"/>
              <a:t>Comp. Photography: Images to Images</a:t>
            </a:r>
            <a:endParaRPr lang="en-US" dirty="0"/>
          </a:p>
          <a:p>
            <a:r>
              <a:rPr lang="en-US" dirty="0"/>
              <a:t>Computer Vision: Images to Models</a:t>
            </a:r>
            <a:endParaRPr lang="en-US" dirty="0"/>
          </a:p>
          <a:p>
            <a:endParaRPr lang="en-US" dirty="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Vision and Nearby Fields</a:t>
            </a:r>
            <a:endParaRPr lang="en-US" dirty="0"/>
          </a:p>
        </p:txBody>
      </p:sp>
      <p:sp>
        <p:nvSpPr>
          <p:cNvPr id="3" name="Content Placeholder 2"/>
          <p:cNvSpPr>
            <a:spLocks noGrp="1"/>
          </p:cNvSpPr>
          <p:nvPr>
            <p:ph idx="1"/>
          </p:nvPr>
        </p:nvSpPr>
        <p:spPr>
          <a:xfrm>
            <a:off x="457200" y="1600201"/>
            <a:ext cx="8229600" cy="1376242"/>
          </a:xfrm>
        </p:spPr>
        <p:txBody>
          <a:bodyPr/>
          <a:lstStyle/>
          <a:p>
            <a:pPr marL="0" indent="0">
              <a:buNone/>
            </a:pPr>
            <a:r>
              <a:rPr lang="en-US" dirty="0"/>
              <a:t>Derogatory summary of computer vision:</a:t>
            </a:r>
            <a:endParaRPr lang="en-US" dirty="0"/>
          </a:p>
          <a:p>
            <a:pPr marL="0" indent="0">
              <a:buNone/>
            </a:pPr>
            <a:r>
              <a:rPr lang="en-US" dirty="0"/>
              <a:t>    “Machine learning applied to visual data.”</a:t>
            </a:r>
            <a:endParaRPr lang="en-US" dirty="0"/>
          </a:p>
        </p:txBody>
      </p:sp>
      <p:sp>
        <p:nvSpPr>
          <p:cNvPr id="4" name="TextBox 3"/>
          <p:cNvSpPr txBox="1"/>
          <p:nvPr/>
        </p:nvSpPr>
        <p:spPr>
          <a:xfrm>
            <a:off x="8743950" y="6500098"/>
            <a:ext cx="457200" cy="369332"/>
          </a:xfrm>
          <a:prstGeom prst="rect">
            <a:avLst/>
          </a:prstGeom>
          <a:noFill/>
        </p:spPr>
        <p:txBody>
          <a:bodyPr wrap="square" rtlCol="0">
            <a:spAutoFit/>
          </a:bodyPr>
          <a:lstStyle/>
          <a:p>
            <a:r>
              <a:rPr lang="en-US" dirty="0">
                <a:solidFill>
                  <a:prstClr val="black"/>
                </a:solidFill>
              </a:rPr>
              <a:t>JH</a:t>
            </a:r>
            <a:endParaRPr lang="en-US" dirty="0">
              <a:solidFill>
                <a:prstClr val="black"/>
              </a:solidFill>
            </a:endParaRPr>
          </a:p>
        </p:txBody>
      </p:sp>
      <p:sp>
        <p:nvSpPr>
          <p:cNvPr id="5" name="AutoShape 4"/>
          <p:cNvSpPr>
            <a:spLocks noChangeArrowheads="1"/>
          </p:cNvSpPr>
          <p:nvPr/>
        </p:nvSpPr>
        <p:spPr bwMode="auto">
          <a:xfrm>
            <a:off x="3505200" y="4391401"/>
            <a:ext cx="2001986" cy="1734762"/>
          </a:xfrm>
          <a:prstGeom prst="roundRect">
            <a:avLst>
              <a:gd name="adj" fmla="val 16667"/>
            </a:avLst>
          </a:prstGeom>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endParaRPr lang="en-US">
              <a:solidFill>
                <a:prstClr val="black"/>
              </a:solidFill>
              <a:latin typeface="Calibri" panose="020F0502020204030204"/>
            </a:endParaRPr>
          </a:p>
        </p:txBody>
      </p:sp>
      <p:sp>
        <p:nvSpPr>
          <p:cNvPr id="6" name="Text Box 5"/>
          <p:cNvSpPr txBox="1">
            <a:spLocks noChangeArrowheads="1"/>
          </p:cNvSpPr>
          <p:nvPr/>
        </p:nvSpPr>
        <p:spPr bwMode="auto">
          <a:xfrm>
            <a:off x="3828726" y="4843283"/>
            <a:ext cx="139044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r>
              <a:rPr lang="en-US" sz="2400" dirty="0">
                <a:solidFill>
                  <a:prstClr val="black"/>
                </a:solidFill>
                <a:latin typeface="Calibri" panose="020F0502020204030204"/>
              </a:rPr>
              <a:t>Model of </a:t>
            </a:r>
            <a:br>
              <a:rPr lang="en-US" sz="2400" dirty="0">
                <a:solidFill>
                  <a:prstClr val="black"/>
                </a:solidFill>
                <a:latin typeface="Calibri" panose="020F0502020204030204"/>
              </a:rPr>
            </a:br>
            <a:r>
              <a:rPr lang="en-US" sz="2400" dirty="0">
                <a:solidFill>
                  <a:prstClr val="black"/>
                </a:solidFill>
                <a:latin typeface="Calibri" panose="020F0502020204030204"/>
              </a:rPr>
              <a:t>the world</a:t>
            </a:r>
            <a:endParaRPr lang="en-US" sz="2400" dirty="0">
              <a:solidFill>
                <a:prstClr val="black"/>
              </a:solidFill>
              <a:latin typeface="Calibri" panose="020F0502020204030204"/>
            </a:endParaRPr>
          </a:p>
        </p:txBody>
      </p:sp>
      <p:sp>
        <p:nvSpPr>
          <p:cNvPr id="8" name="Rectangle 7"/>
          <p:cNvSpPr>
            <a:spLocks noChangeArrowheads="1"/>
          </p:cNvSpPr>
          <p:nvPr/>
        </p:nvSpPr>
        <p:spPr bwMode="auto">
          <a:xfrm>
            <a:off x="268744" y="4525876"/>
            <a:ext cx="2135922" cy="1469711"/>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algn="ctr" eaLnBrk="1" hangingPunct="1"/>
            <a:r>
              <a:rPr lang="en-US" sz="2000" dirty="0">
                <a:solidFill>
                  <a:prstClr val="black"/>
                </a:solidFill>
                <a:latin typeface="Calibri" panose="020F0502020204030204"/>
              </a:rPr>
              <a:t>Images, videos,</a:t>
            </a:r>
            <a:endParaRPr lang="en-US" sz="2000" dirty="0">
              <a:solidFill>
                <a:prstClr val="black"/>
              </a:solidFill>
              <a:latin typeface="Calibri" panose="020F0502020204030204"/>
            </a:endParaRPr>
          </a:p>
          <a:p>
            <a:pPr algn="ctr" eaLnBrk="1" hangingPunct="1"/>
            <a:r>
              <a:rPr lang="en-US" sz="2000" dirty="0">
                <a:solidFill>
                  <a:prstClr val="black"/>
                </a:solidFill>
                <a:latin typeface="Calibri" panose="020F0502020204030204"/>
              </a:rPr>
              <a:t>sensor data…</a:t>
            </a:r>
            <a:endParaRPr lang="en-US" sz="2000" dirty="0">
              <a:solidFill>
                <a:prstClr val="black"/>
              </a:solidFill>
              <a:latin typeface="Calibri" panose="020F0502020204030204"/>
            </a:endParaRPr>
          </a:p>
        </p:txBody>
      </p:sp>
      <p:sp>
        <p:nvSpPr>
          <p:cNvPr id="9" name="AutoShape 8"/>
          <p:cNvSpPr>
            <a:spLocks noChangeArrowheads="1"/>
          </p:cNvSpPr>
          <p:nvPr/>
        </p:nvSpPr>
        <p:spPr bwMode="auto">
          <a:xfrm>
            <a:off x="2663221" y="4783121"/>
            <a:ext cx="650535" cy="475661"/>
          </a:xfrm>
          <a:prstGeom prst="rightArrow">
            <a:avLst>
              <a:gd name="adj1" fmla="val 50000"/>
              <a:gd name="adj2" fmla="val 31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endParaRPr lang="en-US">
              <a:solidFill>
                <a:prstClr val="black"/>
              </a:solidFill>
              <a:latin typeface="Calibri" panose="020F0502020204030204"/>
            </a:endParaRPr>
          </a:p>
        </p:txBody>
      </p:sp>
      <p:sp>
        <p:nvSpPr>
          <p:cNvPr id="10" name="AutoShape 9"/>
          <p:cNvSpPr>
            <a:spLocks noChangeArrowheads="1"/>
          </p:cNvSpPr>
          <p:nvPr/>
        </p:nvSpPr>
        <p:spPr bwMode="auto">
          <a:xfrm>
            <a:off x="5680854" y="4779373"/>
            <a:ext cx="650535" cy="475661"/>
          </a:xfrm>
          <a:prstGeom prst="rightArrow">
            <a:avLst>
              <a:gd name="adj1" fmla="val 50000"/>
              <a:gd name="adj2" fmla="val 31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endParaRPr lang="en-US">
              <a:solidFill>
                <a:prstClr val="black"/>
              </a:solidFill>
              <a:latin typeface="Calibri" panose="020F0502020204030204"/>
            </a:endParaRPr>
          </a:p>
        </p:txBody>
      </p:sp>
      <p:sp>
        <p:nvSpPr>
          <p:cNvPr id="11" name="Rectangle 10"/>
          <p:cNvSpPr>
            <a:spLocks noChangeArrowheads="1"/>
          </p:cNvSpPr>
          <p:nvPr/>
        </p:nvSpPr>
        <p:spPr bwMode="auto">
          <a:xfrm>
            <a:off x="6698195" y="4525877"/>
            <a:ext cx="2168449" cy="1469710"/>
          </a:xfrm>
          <a:prstGeom prst="rect">
            <a:avLst/>
          </a:prstGeom>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algn="ctr" eaLnBrk="1" hangingPunct="1"/>
            <a:r>
              <a:rPr lang="en-US" sz="2000" dirty="0">
                <a:solidFill>
                  <a:prstClr val="black"/>
                </a:solidFill>
                <a:latin typeface="Calibri" panose="020F0502020204030204"/>
              </a:rPr>
              <a:t>Images, videos,</a:t>
            </a:r>
            <a:endParaRPr lang="en-US" sz="2000" dirty="0">
              <a:solidFill>
                <a:prstClr val="black"/>
              </a:solidFill>
              <a:latin typeface="Calibri" panose="020F0502020204030204"/>
            </a:endParaRPr>
          </a:p>
          <a:p>
            <a:pPr algn="ctr" eaLnBrk="1" hangingPunct="1"/>
            <a:r>
              <a:rPr lang="en-US" sz="2000" i="1" dirty="0">
                <a:solidFill>
                  <a:prstClr val="black"/>
                </a:solidFill>
                <a:latin typeface="Calibri" panose="020F0502020204030204"/>
              </a:rPr>
              <a:t>interaction</a:t>
            </a:r>
            <a:endParaRPr lang="en-US" sz="2000" i="1" dirty="0">
              <a:solidFill>
                <a:prstClr val="black"/>
              </a:solidFill>
              <a:latin typeface="Calibri" panose="020F0502020204030204"/>
            </a:endParaRPr>
          </a:p>
        </p:txBody>
      </p:sp>
      <p:sp>
        <p:nvSpPr>
          <p:cNvPr id="12" name="Text Box 12"/>
          <p:cNvSpPr txBox="1">
            <a:spLocks noChangeArrowheads="1"/>
          </p:cNvSpPr>
          <p:nvPr/>
        </p:nvSpPr>
        <p:spPr bwMode="auto">
          <a:xfrm>
            <a:off x="6900735" y="4074366"/>
            <a:ext cx="17633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r>
              <a:rPr lang="en-US" sz="2400" dirty="0">
                <a:solidFill>
                  <a:prstClr val="black"/>
                </a:solidFill>
                <a:latin typeface="Calibri" panose="020F0502020204030204"/>
              </a:rPr>
              <a:t>Digital world</a:t>
            </a:r>
            <a:endParaRPr lang="en-US" sz="2400" dirty="0">
              <a:solidFill>
                <a:prstClr val="black"/>
              </a:solidFill>
              <a:latin typeface="Calibri" panose="020F0502020204030204"/>
            </a:endParaRPr>
          </a:p>
        </p:txBody>
      </p:sp>
      <p:sp>
        <p:nvSpPr>
          <p:cNvPr id="13" name="Text Box 13"/>
          <p:cNvSpPr txBox="1">
            <a:spLocks noChangeArrowheads="1"/>
          </p:cNvSpPr>
          <p:nvPr/>
        </p:nvSpPr>
        <p:spPr bwMode="auto">
          <a:xfrm>
            <a:off x="523681" y="4074366"/>
            <a:ext cx="1285091" cy="36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r>
              <a:rPr lang="en-US" sz="2400" dirty="0">
                <a:solidFill>
                  <a:prstClr val="black"/>
                </a:solidFill>
                <a:latin typeface="Calibri" panose="020F0502020204030204"/>
              </a:rPr>
              <a:t>Real world</a:t>
            </a:r>
            <a:endParaRPr lang="en-US" sz="2400" dirty="0">
              <a:solidFill>
                <a:prstClr val="black"/>
              </a:solidFill>
              <a:latin typeface="Calibri" panose="020F0502020204030204"/>
            </a:endParaRPr>
          </a:p>
        </p:txBody>
      </p:sp>
      <p:sp>
        <p:nvSpPr>
          <p:cNvPr id="14" name="Text Box 15"/>
          <p:cNvSpPr txBox="1">
            <a:spLocks noChangeArrowheads="1"/>
          </p:cNvSpPr>
          <p:nvPr/>
        </p:nvSpPr>
        <p:spPr bwMode="auto">
          <a:xfrm>
            <a:off x="4895812" y="6200754"/>
            <a:ext cx="2299819" cy="36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r>
              <a:rPr lang="en-US" sz="2400" b="1" i="1" dirty="0">
                <a:solidFill>
                  <a:srgbClr val="C0504D"/>
                </a:solidFill>
                <a:latin typeface="Calibri" panose="020F0502020204030204"/>
              </a:rPr>
              <a:t>Computer Graphics </a:t>
            </a:r>
            <a:endParaRPr lang="en-US" sz="2400" b="1" i="1" dirty="0">
              <a:solidFill>
                <a:srgbClr val="C0504D"/>
              </a:solidFill>
              <a:latin typeface="Calibri" panose="020F0502020204030204"/>
            </a:endParaRPr>
          </a:p>
        </p:txBody>
      </p:sp>
      <p:sp>
        <p:nvSpPr>
          <p:cNvPr id="15" name="Text Box 16"/>
          <p:cNvSpPr txBox="1">
            <a:spLocks noChangeArrowheads="1"/>
          </p:cNvSpPr>
          <p:nvPr/>
        </p:nvSpPr>
        <p:spPr bwMode="auto">
          <a:xfrm>
            <a:off x="1808772" y="6200754"/>
            <a:ext cx="1954952" cy="360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r>
              <a:rPr lang="en-US" sz="2400" b="1" i="1" dirty="0">
                <a:solidFill>
                  <a:srgbClr val="C0504D"/>
                </a:solidFill>
                <a:latin typeface="Calibri" panose="020F0502020204030204"/>
              </a:rPr>
              <a:t>Computer Vision</a:t>
            </a:r>
            <a:endParaRPr lang="en-US" sz="2400" b="1" i="1" dirty="0">
              <a:solidFill>
                <a:srgbClr val="C0504D"/>
              </a:solidFill>
              <a:latin typeface="Calibri" panose="020F0502020204030204"/>
            </a:endParaRPr>
          </a:p>
        </p:txBody>
      </p:sp>
      <p:sp>
        <p:nvSpPr>
          <p:cNvPr id="16" name="AutoShape 17"/>
          <p:cNvSpPr>
            <a:spLocks noChangeArrowheads="1"/>
          </p:cNvSpPr>
          <p:nvPr/>
        </p:nvSpPr>
        <p:spPr bwMode="auto">
          <a:xfrm rot="10800000">
            <a:off x="2663219" y="5307390"/>
            <a:ext cx="650535" cy="475661"/>
          </a:xfrm>
          <a:prstGeom prst="rightArrow">
            <a:avLst>
              <a:gd name="adj1" fmla="val 50000"/>
              <a:gd name="adj2" fmla="val 31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endParaRPr lang="en-US">
              <a:solidFill>
                <a:prstClr val="black"/>
              </a:solidFill>
              <a:latin typeface="Calibri" panose="020F0502020204030204"/>
            </a:endParaRPr>
          </a:p>
        </p:txBody>
      </p:sp>
      <p:sp>
        <p:nvSpPr>
          <p:cNvPr id="17" name="AutoShape 18"/>
          <p:cNvSpPr>
            <a:spLocks noChangeArrowheads="1"/>
          </p:cNvSpPr>
          <p:nvPr/>
        </p:nvSpPr>
        <p:spPr bwMode="auto">
          <a:xfrm rot="10800000">
            <a:off x="5680854" y="5303642"/>
            <a:ext cx="650535" cy="475661"/>
          </a:xfrm>
          <a:prstGeom prst="rightArrow">
            <a:avLst>
              <a:gd name="adj1" fmla="val 50000"/>
              <a:gd name="adj2" fmla="val 31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endParaRPr lang="en-US">
              <a:solidFill>
                <a:prstClr val="black"/>
              </a:solidFill>
              <a:latin typeface="Calibri" panose="020F0502020204030204"/>
            </a:endParaRPr>
          </a:p>
        </p:txBody>
      </p:sp>
      <p:sp>
        <p:nvSpPr>
          <p:cNvPr id="19" name="AutoShape 8"/>
          <p:cNvSpPr>
            <a:spLocks noChangeArrowheads="1"/>
          </p:cNvSpPr>
          <p:nvPr/>
        </p:nvSpPr>
        <p:spPr bwMode="auto">
          <a:xfrm rot="16200000">
            <a:off x="4180925" y="3701687"/>
            <a:ext cx="650535" cy="475661"/>
          </a:xfrm>
          <a:prstGeom prst="rightArrow">
            <a:avLst>
              <a:gd name="adj1" fmla="val 50000"/>
              <a:gd name="adj2" fmla="val 3125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4000">
                <a:solidFill>
                  <a:schemeClr val="tx1"/>
                </a:solidFill>
                <a:latin typeface="Arial" panose="020B0604020202020204" pitchFamily="34" charset="0"/>
              </a:defRPr>
            </a:lvl1pPr>
            <a:lvl2pPr marL="742950" indent="-285750" eaLnBrk="0" hangingPunct="0">
              <a:defRPr sz="4000">
                <a:solidFill>
                  <a:schemeClr val="tx1"/>
                </a:solidFill>
                <a:latin typeface="Arial" panose="020B0604020202020204" pitchFamily="34" charset="0"/>
              </a:defRPr>
            </a:lvl2pPr>
            <a:lvl3pPr marL="1143000" indent="-228600" eaLnBrk="0" hangingPunct="0">
              <a:defRPr sz="4000">
                <a:solidFill>
                  <a:schemeClr val="tx1"/>
                </a:solidFill>
                <a:latin typeface="Arial" panose="020B0604020202020204" pitchFamily="34" charset="0"/>
              </a:defRPr>
            </a:lvl3pPr>
            <a:lvl4pPr marL="1600200" indent="-228600" eaLnBrk="0" hangingPunct="0">
              <a:defRPr sz="4000">
                <a:solidFill>
                  <a:schemeClr val="tx1"/>
                </a:solidFill>
                <a:latin typeface="Arial" panose="020B0604020202020204" pitchFamily="34" charset="0"/>
              </a:defRPr>
            </a:lvl4pPr>
            <a:lvl5pPr marL="2057400" indent="-228600" eaLnBrk="0" hangingPunct="0">
              <a:defRPr sz="4000">
                <a:solidFill>
                  <a:schemeClr val="tx1"/>
                </a:solidFill>
                <a:latin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defRPr>
            </a:lvl9pPr>
          </a:lstStyle>
          <a:p>
            <a:pPr eaLnBrk="1" hangingPunct="1"/>
            <a:endParaRPr lang="en-US">
              <a:solidFill>
                <a:prstClr val="black"/>
              </a:solidFill>
              <a:latin typeface="Calibri" panose="020F0502020204030204"/>
            </a:endParaRPr>
          </a:p>
        </p:txBody>
      </p:sp>
      <p:sp>
        <p:nvSpPr>
          <p:cNvPr id="20" name="TextBox 19"/>
          <p:cNvSpPr txBox="1"/>
          <p:nvPr/>
        </p:nvSpPr>
        <p:spPr>
          <a:xfrm>
            <a:off x="3427232" y="3181609"/>
            <a:ext cx="2193432" cy="369332"/>
          </a:xfrm>
          <a:prstGeom prst="rect">
            <a:avLst/>
          </a:prstGeom>
          <a:noFill/>
        </p:spPr>
        <p:txBody>
          <a:bodyPr wrap="square" rtlCol="0">
            <a:spAutoFit/>
          </a:bodyPr>
          <a:lstStyle/>
          <a:p>
            <a:r>
              <a:rPr lang="en-US" dirty="0">
                <a:solidFill>
                  <a:prstClr val="black"/>
                </a:solidFill>
              </a:rPr>
              <a:t>Question answering</a:t>
            </a:r>
            <a:endParaRPr lang="en-US" dirty="0">
              <a:solidFill>
                <a:prstClr val="black"/>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828800" y="920234"/>
            <a:ext cx="5486400" cy="4800600"/>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00" y="1600200"/>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1547649" y="5191954"/>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943600" y="4410927"/>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813331" y="3607897"/>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6813331" y="1540078"/>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09600" y="4273034"/>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97221" y="3276600"/>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6019800" y="577646"/>
            <a:ext cx="2286000" cy="1447800"/>
          </a:xfrm>
          <a:prstGeom prst="ellipse">
            <a:avLst/>
          </a:prstGeom>
          <a:solidFill>
            <a:schemeClr val="accent1">
              <a:alpha val="2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200400" y="1062335"/>
            <a:ext cx="2743200" cy="461665"/>
          </a:xfrm>
          <a:prstGeom prst="rect">
            <a:avLst/>
          </a:prstGeom>
          <a:noFill/>
        </p:spPr>
        <p:txBody>
          <a:bodyPr wrap="square" rtlCol="0">
            <a:spAutoFit/>
          </a:bodyPr>
          <a:lstStyle/>
          <a:p>
            <a:pPr algn="ctr"/>
            <a:r>
              <a:rPr lang="en-US" sz="2400" dirty="0"/>
              <a:t>Computer Vision</a:t>
            </a:r>
            <a:endParaRPr lang="en-US" sz="2400" dirty="0"/>
          </a:p>
        </p:txBody>
      </p:sp>
      <p:sp>
        <p:nvSpPr>
          <p:cNvPr id="7" name="TextBox 6"/>
          <p:cNvSpPr txBox="1"/>
          <p:nvPr/>
        </p:nvSpPr>
        <p:spPr>
          <a:xfrm>
            <a:off x="6324600" y="1072634"/>
            <a:ext cx="1828800" cy="369332"/>
          </a:xfrm>
          <a:prstGeom prst="rect">
            <a:avLst/>
          </a:prstGeom>
          <a:noFill/>
        </p:spPr>
        <p:txBody>
          <a:bodyPr wrap="square" rtlCol="0">
            <a:spAutoFit/>
          </a:bodyPr>
          <a:lstStyle/>
          <a:p>
            <a:pPr algn="ctr"/>
            <a:r>
              <a:rPr lang="en-US" dirty="0"/>
              <a:t>Robotics</a:t>
            </a:r>
            <a:endParaRPr lang="en-US" dirty="0"/>
          </a:p>
        </p:txBody>
      </p:sp>
      <p:sp>
        <p:nvSpPr>
          <p:cNvPr id="8" name="TextBox 7"/>
          <p:cNvSpPr txBox="1"/>
          <p:nvPr/>
        </p:nvSpPr>
        <p:spPr>
          <a:xfrm>
            <a:off x="6248400" y="5193268"/>
            <a:ext cx="1828800" cy="369332"/>
          </a:xfrm>
          <a:prstGeom prst="rect">
            <a:avLst/>
          </a:prstGeom>
          <a:noFill/>
        </p:spPr>
        <p:txBody>
          <a:bodyPr wrap="square" rtlCol="0">
            <a:spAutoFit/>
          </a:bodyPr>
          <a:lstStyle/>
          <a:p>
            <a:pPr algn="ctr"/>
            <a:r>
              <a:rPr lang="en-US" dirty="0"/>
              <a:t>Neuroscience</a:t>
            </a:r>
            <a:endParaRPr lang="en-US" dirty="0"/>
          </a:p>
        </p:txBody>
      </p:sp>
      <p:sp>
        <p:nvSpPr>
          <p:cNvPr id="9" name="TextBox 8"/>
          <p:cNvSpPr txBox="1"/>
          <p:nvPr/>
        </p:nvSpPr>
        <p:spPr>
          <a:xfrm>
            <a:off x="152400" y="3810000"/>
            <a:ext cx="1828800" cy="369332"/>
          </a:xfrm>
          <a:prstGeom prst="rect">
            <a:avLst/>
          </a:prstGeom>
          <a:noFill/>
        </p:spPr>
        <p:txBody>
          <a:bodyPr wrap="square" rtlCol="0">
            <a:spAutoFit/>
          </a:bodyPr>
          <a:lstStyle/>
          <a:p>
            <a:pPr algn="ctr"/>
            <a:r>
              <a:rPr lang="en-US" dirty="0"/>
              <a:t>Graphics</a:t>
            </a:r>
            <a:endParaRPr lang="en-US" dirty="0"/>
          </a:p>
        </p:txBody>
      </p:sp>
      <p:sp>
        <p:nvSpPr>
          <p:cNvPr id="10" name="TextBox 9"/>
          <p:cNvSpPr txBox="1"/>
          <p:nvPr/>
        </p:nvSpPr>
        <p:spPr>
          <a:xfrm>
            <a:off x="762000" y="4724400"/>
            <a:ext cx="1828800" cy="646331"/>
          </a:xfrm>
          <a:prstGeom prst="rect">
            <a:avLst/>
          </a:prstGeom>
          <a:noFill/>
        </p:spPr>
        <p:txBody>
          <a:bodyPr wrap="square" rtlCol="0">
            <a:spAutoFit/>
          </a:bodyPr>
          <a:lstStyle/>
          <a:p>
            <a:pPr algn="ctr"/>
            <a:r>
              <a:rPr lang="en-US" dirty="0"/>
              <a:t>Computational Photography</a:t>
            </a:r>
            <a:endParaRPr lang="en-US" dirty="0"/>
          </a:p>
        </p:txBody>
      </p:sp>
      <p:sp>
        <p:nvSpPr>
          <p:cNvPr id="11" name="TextBox 10"/>
          <p:cNvSpPr txBox="1"/>
          <p:nvPr/>
        </p:nvSpPr>
        <p:spPr>
          <a:xfrm>
            <a:off x="152400" y="1981200"/>
            <a:ext cx="1828800" cy="646331"/>
          </a:xfrm>
          <a:prstGeom prst="rect">
            <a:avLst/>
          </a:prstGeom>
          <a:noFill/>
        </p:spPr>
        <p:txBody>
          <a:bodyPr wrap="square" rtlCol="0">
            <a:spAutoFit/>
          </a:bodyPr>
          <a:lstStyle/>
          <a:p>
            <a:pPr algn="ctr"/>
            <a:r>
              <a:rPr lang="en-US" dirty="0"/>
              <a:t>Machine Learning</a:t>
            </a:r>
            <a:endParaRPr lang="en-US" dirty="0"/>
          </a:p>
        </p:txBody>
      </p:sp>
      <p:sp>
        <p:nvSpPr>
          <p:cNvPr id="12" name="TextBox 11"/>
          <p:cNvSpPr txBox="1"/>
          <p:nvPr/>
        </p:nvSpPr>
        <p:spPr>
          <a:xfrm>
            <a:off x="7239000" y="4038600"/>
            <a:ext cx="1828800" cy="369332"/>
          </a:xfrm>
          <a:prstGeom prst="rect">
            <a:avLst/>
          </a:prstGeom>
          <a:noFill/>
        </p:spPr>
        <p:txBody>
          <a:bodyPr wrap="square" rtlCol="0">
            <a:spAutoFit/>
          </a:bodyPr>
          <a:lstStyle/>
          <a:p>
            <a:pPr algn="ctr"/>
            <a:r>
              <a:rPr lang="en-US" dirty="0"/>
              <a:t>Medical Imaging</a:t>
            </a:r>
            <a:endParaRPr lang="en-US" dirty="0"/>
          </a:p>
        </p:txBody>
      </p:sp>
      <p:sp>
        <p:nvSpPr>
          <p:cNvPr id="13" name="TextBox 12"/>
          <p:cNvSpPr txBox="1"/>
          <p:nvPr/>
        </p:nvSpPr>
        <p:spPr>
          <a:xfrm>
            <a:off x="7086600" y="2096869"/>
            <a:ext cx="1981200" cy="646331"/>
          </a:xfrm>
          <a:prstGeom prst="rect">
            <a:avLst/>
          </a:prstGeom>
          <a:noFill/>
        </p:spPr>
        <p:txBody>
          <a:bodyPr wrap="square" rtlCol="0">
            <a:spAutoFit/>
          </a:bodyPr>
          <a:lstStyle/>
          <a:p>
            <a:pPr algn="ctr"/>
            <a:r>
              <a:rPr lang="en-US" dirty="0"/>
              <a:t>Human Computer Interaction</a:t>
            </a:r>
            <a:endParaRPr lang="en-US" dirty="0"/>
          </a:p>
        </p:txBody>
      </p:sp>
      <p:sp>
        <p:nvSpPr>
          <p:cNvPr id="22" name="TextBox 21"/>
          <p:cNvSpPr txBox="1"/>
          <p:nvPr/>
        </p:nvSpPr>
        <p:spPr>
          <a:xfrm>
            <a:off x="1828800" y="5746374"/>
            <a:ext cx="1828800" cy="369332"/>
          </a:xfrm>
          <a:prstGeom prst="rect">
            <a:avLst/>
          </a:prstGeom>
          <a:noFill/>
        </p:spPr>
        <p:txBody>
          <a:bodyPr wrap="square" rtlCol="0">
            <a:spAutoFit/>
          </a:bodyPr>
          <a:lstStyle/>
          <a:p>
            <a:pPr algn="ctr"/>
            <a:r>
              <a:rPr lang="en-US" dirty="0"/>
              <a:t>Optics</a:t>
            </a:r>
            <a:endParaRPr lang="en-US" dirty="0"/>
          </a:p>
        </p:txBody>
      </p:sp>
      <p:sp>
        <p:nvSpPr>
          <p:cNvPr id="23" name="Oval 22"/>
          <p:cNvSpPr/>
          <p:nvPr/>
        </p:nvSpPr>
        <p:spPr>
          <a:xfrm>
            <a:off x="3048000" y="3048000"/>
            <a:ext cx="3200400" cy="2163027"/>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3263462" y="3505200"/>
            <a:ext cx="2743200" cy="1200329"/>
          </a:xfrm>
          <a:prstGeom prst="rect">
            <a:avLst/>
          </a:prstGeom>
          <a:noFill/>
        </p:spPr>
        <p:txBody>
          <a:bodyPr wrap="square" rtlCol="0">
            <a:spAutoFit/>
          </a:bodyPr>
          <a:lstStyle/>
          <a:p>
            <a:pPr algn="ctr"/>
            <a:r>
              <a:rPr lang="en-US" sz="2400" dirty="0"/>
              <a:t>Image Processing</a:t>
            </a:r>
            <a:br>
              <a:rPr lang="en-US" sz="2400" dirty="0"/>
            </a:br>
            <a:r>
              <a:rPr lang="en-US" sz="2400" dirty="0"/>
              <a:t>Feature Matching</a:t>
            </a:r>
            <a:br>
              <a:rPr lang="en-US" sz="2400" dirty="0"/>
            </a:br>
            <a:r>
              <a:rPr lang="en-US" sz="2400" dirty="0"/>
              <a:t>Recognition</a:t>
            </a:r>
            <a:endParaRPr lang="en-US" sz="2400" dirty="0"/>
          </a:p>
        </p:txBody>
      </p:sp>
      <p:sp>
        <p:nvSpPr>
          <p:cNvPr id="3" name="标题 2"/>
          <p:cNvSpPr>
            <a:spLocks noGrp="1"/>
          </p:cNvSpPr>
          <p:nvPr>
            <p:ph type="title"/>
          </p:nvPr>
        </p:nvSpPr>
        <p:spPr/>
        <p:txBody>
          <a:bodyPr/>
          <a:lstStyle/>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fade">
                                      <p:cBhvr>
                                        <p:cTn id="66" dur="500"/>
                                        <p:tgtEl>
                                          <p:spTgt spid="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17" grpId="0" animBg="1"/>
      <p:bldP spid="16" grpId="0" animBg="1"/>
      <p:bldP spid="15" grpId="0" animBg="1"/>
      <p:bldP spid="18" grpId="0" animBg="1"/>
      <p:bldP spid="19" grpId="0" animBg="1"/>
      <p:bldP spid="14" grpId="0" animBg="1"/>
      <p:bldP spid="7" grpId="0"/>
      <p:bldP spid="8" grpId="0"/>
      <p:bldP spid="9" grpId="0"/>
      <p:bldP spid="10" grpId="0"/>
      <p:bldP spid="11" grpId="0"/>
      <p:bldP spid="12" grpId="0"/>
      <p:bldP spid="13" grpId="0"/>
      <p:bldP spid="22" grpId="0"/>
      <p:bldP spid="23" grpId="0" animBg="1"/>
      <p:bldP spid="2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457200" y="0"/>
            <a:ext cx="8229600" cy="1143000"/>
          </a:xfrm>
        </p:spPr>
        <p:txBody>
          <a:bodyPr/>
          <a:lstStyle/>
          <a:p>
            <a:r>
              <a:rPr lang="en-US" dirty="0"/>
              <a:t>Course Topics</a:t>
            </a:r>
            <a:endParaRPr lang="en-US" dirty="0"/>
          </a:p>
        </p:txBody>
      </p:sp>
      <p:sp>
        <p:nvSpPr>
          <p:cNvPr id="3" name="Content Placeholder 2"/>
          <p:cNvSpPr>
            <a:spLocks noGrp="1"/>
          </p:cNvSpPr>
          <p:nvPr>
            <p:ph idx="1"/>
          </p:nvPr>
        </p:nvSpPr>
        <p:spPr>
          <a:xfrm>
            <a:off x="304800" y="990600"/>
            <a:ext cx="8686800" cy="5867400"/>
          </a:xfrm>
        </p:spPr>
        <p:txBody>
          <a:bodyPr>
            <a:normAutofit/>
          </a:bodyPr>
          <a:lstStyle/>
          <a:p>
            <a:pPr>
              <a:buFont typeface="Arial" panose="020B0604020202020204" pitchFamily="34" charset="0"/>
              <a:buChar char="•"/>
              <a:defRPr/>
            </a:pPr>
            <a:r>
              <a:rPr lang="en-US" sz="2400" dirty="0"/>
              <a:t>Interpreting Intensities</a:t>
            </a:r>
            <a:endParaRPr lang="en-US" sz="2400" dirty="0"/>
          </a:p>
          <a:p>
            <a:pPr lvl="1">
              <a:buFont typeface="Arial" panose="020B0604020202020204" pitchFamily="34" charset="0"/>
              <a:buChar char="–"/>
              <a:defRPr/>
            </a:pPr>
            <a:r>
              <a:rPr lang="en-US" sz="2000" dirty="0"/>
              <a:t>What determines the brightness and color of a pixel?</a:t>
            </a:r>
            <a:endParaRPr lang="en-US" sz="2000" dirty="0"/>
          </a:p>
          <a:p>
            <a:pPr lvl="1">
              <a:buFont typeface="Arial" panose="020B0604020202020204" pitchFamily="34" charset="0"/>
              <a:buChar char="–"/>
              <a:defRPr/>
            </a:pPr>
            <a:r>
              <a:rPr lang="en-US" sz="2000" dirty="0"/>
              <a:t>How can we use image filters to extract meaningful information from the image?</a:t>
            </a:r>
            <a:endParaRPr lang="en-US" sz="2000" dirty="0"/>
          </a:p>
          <a:p>
            <a:pPr marL="342900" lvl="1" indent="-342900">
              <a:buFont typeface="Arial" panose="020B0604020202020204" pitchFamily="34" charset="0"/>
              <a:buChar char="•"/>
              <a:defRPr/>
            </a:pPr>
            <a:r>
              <a:rPr lang="en-US" altLang="zh-CN" sz="2400" dirty="0"/>
              <a:t>Subspace learning</a:t>
            </a:r>
            <a:endParaRPr lang="en-US" altLang="zh-CN" sz="2400" dirty="0"/>
          </a:p>
          <a:p>
            <a:pPr lvl="1">
              <a:buFont typeface="Arial" panose="020B0604020202020204" pitchFamily="34" charset="0"/>
              <a:buChar char="–"/>
              <a:defRPr/>
            </a:pPr>
            <a:r>
              <a:rPr lang="en-US" sz="2000" dirty="0"/>
              <a:t>PCA, LDA</a:t>
            </a:r>
            <a:endParaRPr lang="en-US" sz="2000" dirty="0"/>
          </a:p>
          <a:p>
            <a:pPr>
              <a:buFont typeface="Arial" panose="020B0604020202020204" pitchFamily="34" charset="0"/>
              <a:buChar char="•"/>
              <a:defRPr/>
            </a:pPr>
            <a:r>
              <a:rPr lang="en-US" sz="2400" dirty="0"/>
              <a:t>Correspondence and Alignment</a:t>
            </a:r>
            <a:endParaRPr lang="en-US" sz="2400" dirty="0"/>
          </a:p>
          <a:p>
            <a:pPr lvl="1">
              <a:buFont typeface="Arial" panose="020B0604020202020204" pitchFamily="34" charset="0"/>
              <a:buChar char="–"/>
              <a:defRPr/>
            </a:pPr>
            <a:r>
              <a:rPr lang="en-US" sz="2000" dirty="0"/>
              <a:t>How can we find corresponding points in objects or scenes?</a:t>
            </a:r>
            <a:endParaRPr lang="en-US" sz="2000" dirty="0"/>
          </a:p>
          <a:p>
            <a:pPr lvl="1">
              <a:buFont typeface="Arial" panose="020B0604020202020204" pitchFamily="34" charset="0"/>
              <a:buChar char="–"/>
              <a:defRPr/>
            </a:pPr>
            <a:r>
              <a:rPr lang="en-US" sz="2000" dirty="0"/>
              <a:t>How can we estimate the transformation between them?</a:t>
            </a:r>
            <a:endParaRPr lang="en-US" sz="2000" dirty="0"/>
          </a:p>
          <a:p>
            <a:pPr>
              <a:buFont typeface="Arial" panose="020B0604020202020204" pitchFamily="34" charset="0"/>
              <a:buChar char="•"/>
              <a:defRPr/>
            </a:pPr>
            <a:r>
              <a:rPr lang="en-US" sz="2400" dirty="0"/>
              <a:t>Categorization and Object Recognition</a:t>
            </a:r>
            <a:endParaRPr lang="en-US" sz="2400" dirty="0"/>
          </a:p>
          <a:p>
            <a:pPr lvl="1">
              <a:buFont typeface="Arial" panose="020B0604020202020204" pitchFamily="34" charset="0"/>
              <a:buChar char="–"/>
              <a:defRPr/>
            </a:pPr>
            <a:r>
              <a:rPr lang="en-US" sz="2000" dirty="0"/>
              <a:t>How can we represent images and categorize them?</a:t>
            </a:r>
            <a:endParaRPr lang="en-US" sz="2000" dirty="0"/>
          </a:p>
          <a:p>
            <a:pPr marL="0" indent="0">
              <a:buNone/>
              <a:defRPr/>
            </a:pPr>
            <a:r>
              <a:rPr lang="en-US" sz="2000" dirty="0"/>
              <a:t>        </a:t>
            </a:r>
            <a:r>
              <a:rPr lang="en-US" altLang="zh-CN" sz="2000" dirty="0"/>
              <a:t>--   </a:t>
            </a:r>
            <a:r>
              <a:rPr lang="en-US" sz="2000" dirty="0"/>
              <a:t>How can we recognize categories o</a:t>
            </a:r>
            <a:r>
              <a:rPr lang="en-US" altLang="zh-CN" sz="2000" dirty="0"/>
              <a:t>f objects?  </a:t>
            </a:r>
            <a:endParaRPr lang="en-US" altLang="zh-CN" sz="2000" dirty="0"/>
          </a:p>
          <a:p>
            <a:pPr>
              <a:defRPr/>
            </a:pPr>
            <a:r>
              <a:rPr lang="en-US" altLang="zh-CN" sz="2000" dirty="0"/>
              <a:t>Deep Learning</a:t>
            </a:r>
            <a:endParaRPr lang="en-US" altLang="zh-CN" sz="2000" dirty="0"/>
          </a:p>
          <a:p>
            <a:pPr lvl="0">
              <a:buFont typeface="Arial" panose="020B0604020202020204" pitchFamily="34" charset="0"/>
              <a:buChar char="•"/>
              <a:defRPr/>
            </a:pPr>
            <a:r>
              <a:rPr lang="en-US" altLang="zh-CN" sz="2400" dirty="0">
                <a:solidFill>
                  <a:prstClr val="black"/>
                </a:solidFill>
              </a:rPr>
              <a:t>Grouping and Segmentation</a:t>
            </a:r>
            <a:endParaRPr lang="en-US" altLang="zh-CN" sz="2400" dirty="0">
              <a:solidFill>
                <a:prstClr val="black"/>
              </a:solidFill>
            </a:endParaRPr>
          </a:p>
          <a:p>
            <a:pPr lvl="1">
              <a:buFont typeface="Arial" panose="020B0604020202020204" pitchFamily="34" charset="0"/>
              <a:buChar char="–"/>
              <a:defRPr/>
            </a:pPr>
            <a:r>
              <a:rPr lang="en-US" altLang="zh-CN" sz="2000" dirty="0">
                <a:solidFill>
                  <a:prstClr val="black"/>
                </a:solidFill>
              </a:rPr>
              <a:t>How can we group pixels into meaningful regions?</a:t>
            </a:r>
            <a:endParaRPr lang="en-US" altLang="zh-CN" sz="2000"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Textbook</a:t>
            </a:r>
            <a:endParaRPr lang="en-US" dirty="0"/>
          </a:p>
        </p:txBody>
      </p:sp>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23648" t="5468" r="26697" b="57873"/>
          <a:stretch>
            <a:fillRect/>
          </a:stretch>
        </p:blipFill>
        <p:spPr bwMode="auto">
          <a:xfrm>
            <a:off x="315311" y="1447800"/>
            <a:ext cx="8513379" cy="392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262556" y="5638800"/>
            <a:ext cx="6618889" cy="646331"/>
          </a:xfrm>
          <a:prstGeom prst="rect">
            <a:avLst/>
          </a:prstGeom>
          <a:noFill/>
        </p:spPr>
        <p:txBody>
          <a:bodyPr wrap="square" rtlCol="0">
            <a:spAutoFit/>
          </a:bodyPr>
          <a:lstStyle/>
          <a:p>
            <a:pPr algn="ctr"/>
            <a:r>
              <a:rPr lang="en-US" sz="3600" dirty="0">
                <a:hlinkClick r:id="rId2"/>
              </a:rPr>
              <a:t>http://szeliski.org/Book/</a:t>
            </a:r>
            <a:endParaRPr lang="en-US" sz="3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t>Prerequisites</a:t>
            </a:r>
            <a:endParaRPr lang="en-US"/>
          </a:p>
        </p:txBody>
      </p:sp>
      <p:sp>
        <p:nvSpPr>
          <p:cNvPr id="46083" name="Content Placeholder 2"/>
          <p:cNvSpPr>
            <a:spLocks noGrp="1"/>
          </p:cNvSpPr>
          <p:nvPr>
            <p:ph idx="1"/>
          </p:nvPr>
        </p:nvSpPr>
        <p:spPr>
          <a:xfrm>
            <a:off x="457200" y="990600"/>
            <a:ext cx="8229600" cy="5638800"/>
          </a:xfrm>
        </p:spPr>
        <p:txBody>
          <a:bodyPr/>
          <a:lstStyle/>
          <a:p>
            <a:endParaRPr lang="en-US" sz="2800" b="1" dirty="0"/>
          </a:p>
          <a:p>
            <a:r>
              <a:rPr lang="en-US" sz="2800" b="1" dirty="0"/>
              <a:t>Linear algebra</a:t>
            </a:r>
            <a:r>
              <a:rPr lang="en-US" sz="2800" dirty="0"/>
              <a:t>, basic calculus, and probability</a:t>
            </a:r>
            <a:endParaRPr lang="en-US" sz="2800" dirty="0"/>
          </a:p>
          <a:p>
            <a:r>
              <a:rPr lang="en-US" sz="2800" dirty="0"/>
              <a:t>Experience with image processing or </a:t>
            </a:r>
            <a:r>
              <a:rPr lang="en-US" sz="2800" dirty="0" err="1"/>
              <a:t>Matlab</a:t>
            </a:r>
            <a:r>
              <a:rPr lang="en-US" sz="2800" dirty="0"/>
              <a:t> will help but is not necessary</a:t>
            </a:r>
            <a:endParaRPr lang="en-US" sz="2800" dirty="0"/>
          </a:p>
          <a:p>
            <a:pPr>
              <a:buFont typeface="Arial" panose="020B0604020202020204" pitchFamily="34" charset="0"/>
              <a:buNone/>
            </a:pPr>
            <a:endParaRPr lang="en-US" sz="2800" dirty="0"/>
          </a:p>
          <a:p>
            <a:pPr>
              <a:buFont typeface="Arial" panose="020B0604020202020204" pitchFamily="34" charset="0"/>
              <a:buNone/>
            </a:pPr>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Projects</a:t>
            </a:r>
            <a:endParaRPr lang="en-US" dirty="0"/>
          </a:p>
        </p:txBody>
      </p:sp>
      <p:sp>
        <p:nvSpPr>
          <p:cNvPr id="3" name="Content Placeholder 2"/>
          <p:cNvSpPr>
            <a:spLocks noGrp="1"/>
          </p:cNvSpPr>
          <p:nvPr>
            <p:ph idx="1"/>
          </p:nvPr>
        </p:nvSpPr>
        <p:spPr/>
        <p:txBody>
          <a:bodyPr/>
          <a:lstStyle/>
          <a:p>
            <a:r>
              <a:rPr lang="en-US" altLang="zh-CN" dirty="0"/>
              <a:t>Face verification(competition)</a:t>
            </a:r>
            <a:endParaRPr lang="en-US" dirty="0"/>
          </a:p>
          <a:p>
            <a:r>
              <a:rPr lang="en-US" dirty="0"/>
              <a:t>Face recognition</a:t>
            </a:r>
            <a:endParaRPr lang="en-US" dirty="0"/>
          </a:p>
          <a:p>
            <a:r>
              <a:rPr lang="en-US" dirty="0"/>
              <a:t>Image Filtering and Hybrid Images</a:t>
            </a:r>
            <a:endParaRPr lang="en-US" dirty="0"/>
          </a:p>
          <a:p>
            <a:r>
              <a:rPr lang="en-US" dirty="0"/>
              <a:t>Local Feature Matching</a:t>
            </a:r>
            <a:endParaRPr lang="en-US" dirty="0"/>
          </a:p>
          <a:p>
            <a:r>
              <a:rPr lang="en-US" dirty="0"/>
              <a:t>Scene Recognition with Bag of Words </a:t>
            </a:r>
            <a:endParaRPr lang="en-US" dirty="0"/>
          </a:p>
          <a:p>
            <a:r>
              <a:rPr lang="en-US" dirty="0"/>
              <a:t>Object Detection with a Sliding Window</a:t>
            </a:r>
            <a:endParaRPr lang="en-US" dirty="0"/>
          </a:p>
        </p:txBody>
      </p:sp>
    </p:spTree>
  </p:cSld>
  <p:clrMapOvr>
    <a:masterClrMapping/>
  </p:clrMapOvr>
</p:sld>
</file>

<file path=ppt/tags/tag1.xml><?xml version="1.0" encoding="utf-8"?>
<p:tagLst xmlns:p="http://schemas.openxmlformats.org/presentationml/2006/main">
  <p:tag name="_INSTRUCTOR VIEW19C14C36-AC8E-43BC-9DB6-C2AAF774C7DC|PANE__TAG" val="_"/>
</p:tagLst>
</file>

<file path=ppt/tags/tag2.xml><?xml version="1.0" encoding="utf-8"?>
<p:tagLst xmlns:p="http://schemas.openxmlformats.org/presentationml/2006/main">
  <p:tag name="_INSTRUCTOR VIEW19C14C36-AC8E-43BC-9DB6-C2AAF774C7DC|PANE__TAG" val="_"/>
</p:tagLst>
</file>

<file path=ppt/tags/tag3.xml><?xml version="1.0" encoding="utf-8"?>
<p:tagLst xmlns:p="http://schemas.openxmlformats.org/presentationml/2006/main">
  <p:tag name="_INSTRUCTOR VIEW19C14C36-AC8E-43BC-9DB6-C2AAF774C7DC|PANE__TAG" val="_"/>
</p:tagLst>
</file>

<file path=ppt/tags/tag4.xml><?xml version="1.0" encoding="utf-8"?>
<p:tagLst xmlns:p="http://schemas.openxmlformats.org/presentationml/2006/main">
  <p:tag name="_INSTRUCTOR VIEW19C14C36-AC8E-43BC-9DB6-C2AAF774C7DC|PANE__TAG" val="_"/>
</p:tagLst>
</file>

<file path=ppt/tags/tag5.xml><?xml version="1.0" encoding="utf-8"?>
<p:tagLst xmlns:p="http://schemas.openxmlformats.org/presentationml/2006/main">
  <p:tag name="_INSTRUCTOR VIEW19C14C36-AC8E-43BC-9DB6-C2AAF774C7DC|PANE__TAG" val="_"/>
</p:tagLst>
</file>

<file path=ppt/tags/tag6.xml><?xml version="1.0" encoding="utf-8"?>
<p:tagLst xmlns:p="http://schemas.openxmlformats.org/presentationml/2006/main">
  <p:tag name="_INSTRUCTOR VIEW19C14C36-AC8E-43BC-9DB6-C2AAF774C7DC|PANE__TAG" val="_"/>
</p:tagLst>
</file>

<file path=ppt/tags/tag7.xml><?xml version="1.0" encoding="utf-8"?>
<p:tagLst xmlns:p="http://schemas.openxmlformats.org/presentationml/2006/main">
  <p:tag name="_INSTRUCTOR VIEW19C14C36-AC8E-43BC-9DB6-C2AAF774C7DC|PANE__TAG" val="_"/>
</p:tagLst>
</file>

<file path=ppt/tags/tag8.xml><?xml version="1.0" encoding="utf-8"?>
<p:tagLst xmlns:p="http://schemas.openxmlformats.org/presentationml/2006/main">
  <p:tag name="_INSTRUCTOR VIEW19C14C36-AC8E-43BC-9DB6-C2AAF774C7DC|PANE__TAG" val="_"/>
</p:tagLst>
</file>

<file path=ppt/tags/tag9.xml><?xml version="1.0" encoding="utf-8"?>
<p:tagLst xmlns:p="http://schemas.openxmlformats.org/presentationml/2006/main">
  <p:tag name="_INSTRUCTOR VIEW19C14C36-AC8E-43BC-9DB6-C2AAF774C7DC|PANE__TAG" val="_"/>
</p:tagLst>
</file>

<file path=ppt/tags/tag10.xml><?xml version="1.0" encoding="utf-8"?>
<p:tagLst xmlns:p="http://schemas.openxmlformats.org/presentationml/2006/main">
  <p:tag name="_INSTRUCTOR VIEW19C14C36-AC8E-43BC-9DB6-C2AAF774C7DC|PANE__TAG" val="_"/>
</p:tagLst>
</file>

<file path=ppt/tags/tag11.xml><?xml version="1.0" encoding="utf-8"?>
<p:tagLst xmlns:p="http://schemas.openxmlformats.org/presentationml/2006/main">
  <p:tag name="_INSTRUCTOR VIEW19C14C36-AC8E-43BC-9DB6-C2AAF774C7DC|PANE__TAG" val="_"/>
</p:tagLst>
</file>

<file path=ppt/tags/tag12.xml><?xml version="1.0" encoding="utf-8"?>
<p:tagLst xmlns:p="http://schemas.openxmlformats.org/presentationml/2006/main">
  <p:tag name="_INSTRUCTOR VIEW19C14C36-AC8E-43BC-9DB6-C2AAF774C7DC|PANE__TAG" val="_"/>
</p:tagLst>
</file>

<file path=ppt/tags/tag13.xml><?xml version="1.0" encoding="utf-8"?>
<p:tagLst xmlns:p="http://schemas.openxmlformats.org/presentationml/2006/main">
  <p:tag name="_INSTRUCTOR VIEW19C14C36-AC8E-43BC-9DB6-C2AAF774C7DC|PANE__TAG" val="_"/>
</p:tagLst>
</file>

<file path=ppt/tags/tag14.xml><?xml version="1.0" encoding="utf-8"?>
<p:tagLst xmlns:p="http://schemas.openxmlformats.org/presentationml/2006/main">
  <p:tag name="_INSTRUCTOR VIEW19C14C36-AC8E-43BC-9DB6-C2AAF774C7DC|PANE__TAG" val="_"/>
</p:tagLst>
</file>

<file path=ppt/tags/tag15.xml><?xml version="1.0" encoding="utf-8"?>
<p:tagLst xmlns:p="http://schemas.openxmlformats.org/presentationml/2006/main">
  <p:tag name="_INSTRUCTOR VIEW19C14C36-AC8E-43BC-9DB6-C2AAF774C7DC|PANE__TAG" val="_"/>
</p:tagLst>
</file>

<file path=ppt/tags/tag16.xml><?xml version="1.0" encoding="utf-8"?>
<p:tagLst xmlns:p="http://schemas.openxmlformats.org/presentationml/2006/main">
  <p:tag name="_INSTRUCTOR VIEW19C14C36-AC8E-43BC-9DB6-C2AAF774C7DC|PANE__TAG" val="_"/>
</p:tagLst>
</file>

<file path=ppt/tags/tag17.xml><?xml version="1.0" encoding="utf-8"?>
<p:tagLst xmlns:p="http://schemas.openxmlformats.org/presentationml/2006/main">
  <p:tag name="_INSTRUCTOR VIEW19C14C36-AC8E-43BC-9DB6-C2AAF774C7DC|PANE__TAG" val="_"/>
</p:tagLst>
</file>

<file path=ppt/tags/tag18.xml><?xml version="1.0" encoding="utf-8"?>
<p:tagLst xmlns:p="http://schemas.openxmlformats.org/presentationml/2006/main">
  <p:tag name="_INSTRUCTOR VIEW19C14C36-AC8E-43BC-9DB6-C2AAF774C7DC|PANE__TAG" val="_"/>
</p:tagLst>
</file>

<file path=ppt/tags/tag19.xml><?xml version="1.0" encoding="utf-8"?>
<p:tagLst xmlns:p="http://schemas.openxmlformats.org/presentationml/2006/main">
  <p:tag name="_INSTRUCTOR VIEW19C14C36-AC8E-43BC-9DB6-C2AAF774C7DC|PANE__TAG" val="_"/>
</p:tagLst>
</file>

<file path=ppt/tags/tag20.xml><?xml version="1.0" encoding="utf-8"?>
<p:tagLst xmlns:p="http://schemas.openxmlformats.org/presentationml/2006/main">
  <p:tag name="_INSTRUCTOR VIEW19C14C36-AC8E-43BC-9DB6-C2AAF774C7DC|PANE__TAG" val="_"/>
</p:tagLst>
</file>

<file path=ppt/tags/tag21.xml><?xml version="1.0" encoding="utf-8"?>
<p:tagLst xmlns:p="http://schemas.openxmlformats.org/presentationml/2006/main">
  <p:tag name="_INSTRUCTOR VIEW19C14C36-AC8E-43BC-9DB6-C2AAF774C7DC|PANE__TAG" val="_"/>
</p:tagLst>
</file>

<file path=ppt/tags/tag22.xml><?xml version="1.0" encoding="utf-8"?>
<p:tagLst xmlns:p="http://schemas.openxmlformats.org/presentationml/2006/main">
  <p:tag name="_INSTRUCTOR VIEW19C14C36-AC8E-43BC-9DB6-C2AAF774C7DC|PANE__TAG" val="_"/>
</p:tagLst>
</file>

<file path=ppt/tags/tag23.xml><?xml version="1.0" encoding="utf-8"?>
<p:tagLst xmlns:p="http://schemas.openxmlformats.org/presentationml/2006/main">
  <p:tag name="_INSTRUCTOR VIEW19C14C36-AC8E-43BC-9DB6-C2AAF774C7DC|PANE__TAG" val="_"/>
</p:tagLst>
</file>

<file path=ppt/tags/tag24.xml><?xml version="1.0" encoding="utf-8"?>
<p:tagLst xmlns:p="http://schemas.openxmlformats.org/presentationml/2006/main">
  <p:tag name="_INSTRUCTOR VIEW19C14C36-AC8E-43BC-9DB6-C2AAF774C7DC|PANE__TAG" val="_"/>
</p:tagLst>
</file>

<file path=ppt/tags/tag25.xml><?xml version="1.0" encoding="utf-8"?>
<p:tagLst xmlns:p="http://schemas.openxmlformats.org/presentationml/2006/main">
  <p:tag name="_INSTRUCTOR VIEW19C14C36-AC8E-43BC-9DB6-C2AAF774C7DC|PANE__TAG" val="_"/>
</p:tagLst>
</file>

<file path=ppt/tags/tag26.xml><?xml version="1.0" encoding="utf-8"?>
<p:tagLst xmlns:p="http://schemas.openxmlformats.org/presentationml/2006/main">
  <p:tag name="_INSTRUCTOR VIEW19C14C36-AC8E-43BC-9DB6-C2AAF774C7DC|PANE__TAG" val="_"/>
</p:tagLst>
</file>

<file path=ppt/tags/tag27.xml><?xml version="1.0" encoding="utf-8"?>
<p:tagLst xmlns:p="http://schemas.openxmlformats.org/presentationml/2006/main">
  <p:tag name="_INSTRUCTOR VIEW19C14C36-AC8E-43BC-9DB6-C2AAF774C7DC|PANE__TAG" val="_"/>
</p:tagLst>
</file>

<file path=ppt/tags/tag28.xml><?xml version="1.0" encoding="utf-8"?>
<p:tagLst xmlns:p="http://schemas.openxmlformats.org/presentationml/2006/main">
  <p:tag name="_INSTRUCTOR VIEW19C14C36-AC8E-43BC-9DB6-C2AAF774C7DC|PANE__TAG" val="_"/>
</p:tagLst>
</file>

<file path=ppt/tags/tag29.xml><?xml version="1.0" encoding="utf-8"?>
<p:tagLst xmlns:p="http://schemas.openxmlformats.org/presentationml/2006/main">
  <p:tag name="_INSTRUCTOR VIEW19C14C36-AC8E-43BC-9DB6-C2AAF774C7DC|PANE__TAG" val="_"/>
</p:tagLst>
</file>

<file path=ppt/tags/tag30.xml><?xml version="1.0" encoding="utf-8"?>
<p:tagLst xmlns:p="http://schemas.openxmlformats.org/presentationml/2006/main">
  <p:tag name="_INSTRUCTOR VIEW19C14C36-AC8E-43BC-9DB6-C2AAF774C7DC|PANE__TAG" val="_"/>
</p:tagLst>
</file>

<file path=ppt/tags/tag31.xml><?xml version="1.0" encoding="utf-8"?>
<p:tagLst xmlns:p="http://schemas.openxmlformats.org/presentationml/2006/main">
  <p:tag name="_INSTRUCTOR VIEW19C14C36-AC8E-43BC-9DB6-C2AAF774C7DC|PANE__TAG" val="_"/>
</p:tagLst>
</file>

<file path=ppt/tags/tag32.xml><?xml version="1.0" encoding="utf-8"?>
<p:tagLst xmlns:p="http://schemas.openxmlformats.org/presentationml/2006/main">
  <p:tag name="_INSTRUCTOR VIEW19C14C36-AC8E-43BC-9DB6-C2AAF774C7DC|PANE__TAG" val="_"/>
</p:tagLst>
</file>

<file path=ppt/tags/tag33.xml><?xml version="1.0" encoding="utf-8"?>
<p:tagLst xmlns:p="http://schemas.openxmlformats.org/presentationml/2006/main">
  <p:tag name="_INSTRUCTOR VIEW19C14C36-AC8E-43BC-9DB6-C2AAF774C7DC|PANE__TAG" val="_"/>
</p:tagLst>
</file>

<file path=ppt/tags/tag34.xml><?xml version="1.0" encoding="utf-8"?>
<p:tagLst xmlns:p="http://schemas.openxmlformats.org/presentationml/2006/main">
  <p:tag name="_INSTRUCTOR VIEW19C14C36-AC8E-43BC-9DB6-C2AAF774C7DC|PANE__TAG" val="_"/>
</p:tagLst>
</file>

<file path=ppt/tags/tag35.xml><?xml version="1.0" encoding="utf-8"?>
<p:tagLst xmlns:p="http://schemas.openxmlformats.org/presentationml/2006/main">
  <p:tag name="_INSTRUCTOR VIEW19C14C36-AC8E-43BC-9DB6-C2AAF774C7DC|PANE__TAG" val="_"/>
</p:tagLst>
</file>

<file path=ppt/tags/tag36.xml><?xml version="1.0" encoding="utf-8"?>
<p:tagLst xmlns:p="http://schemas.openxmlformats.org/presentationml/2006/main">
  <p:tag name="_INSTRUCTOR VIEW19C14C36-AC8E-43BC-9DB6-C2AAF774C7DC|PANE__TAG" val="_"/>
</p:tagLst>
</file>

<file path=ppt/tags/tag37.xml><?xml version="1.0" encoding="utf-8"?>
<p:tagLst xmlns:p="http://schemas.openxmlformats.org/presentationml/2006/main">
  <p:tag name="_INSTRUCTOR VIEW19C14C36-AC8E-43BC-9DB6-C2AAF774C7DC|PANE__TAG" val="_"/>
</p:tagLst>
</file>

<file path=ppt/tags/tag38.xml><?xml version="1.0" encoding="utf-8"?>
<p:tagLst xmlns:p="http://schemas.openxmlformats.org/presentationml/2006/main">
  <p:tag name="_INSTRUCTOR VIEW19C14C36-AC8E-43BC-9DB6-C2AAF774C7DC|PANE__TAG" val="_"/>
</p:tagLst>
</file>

<file path=ppt/tags/tag39.xml><?xml version="1.0" encoding="utf-8"?>
<p:tagLst xmlns:p="http://schemas.openxmlformats.org/presentationml/2006/main">
  <p:tag name="_INSTRUCTOR VIEW19C14C36-AC8E-43BC-9DB6-C2AAF774C7DC|PANE__TAG" val="_"/>
</p:tagLst>
</file>

<file path=ppt/tags/tag40.xml><?xml version="1.0" encoding="utf-8"?>
<p:tagLst xmlns:p="http://schemas.openxmlformats.org/presentationml/2006/main">
  <p:tag name="_INSTRUCTOR VIEW19C14C36-AC8E-43BC-9DB6-C2AAF774C7DC|PANE__TAG" val="_"/>
</p:tagLst>
</file>

<file path=ppt/tags/tag41.xml><?xml version="1.0" encoding="utf-8"?>
<p:tagLst xmlns:p="http://schemas.openxmlformats.org/presentationml/2006/main">
  <p:tag name="_INSTRUCTOR VIEW19C14C36-AC8E-43BC-9DB6-C2AAF774C7DC|PANE__TAG" val="_"/>
</p:tagLst>
</file>

<file path=ppt/tags/tag42.xml><?xml version="1.0" encoding="utf-8"?>
<p:tagLst xmlns:p="http://schemas.openxmlformats.org/presentationml/2006/main">
  <p:tag name="_INSTRUCTOR VIEW19C14C36-AC8E-43BC-9DB6-C2AAF774C7DC|PANE__TAG" val="_"/>
</p:tagLst>
</file>

<file path=ppt/tags/tag43.xml><?xml version="1.0" encoding="utf-8"?>
<p:tagLst xmlns:p="http://schemas.openxmlformats.org/presentationml/2006/main">
  <p:tag name="_INSTRUCTOR VIEW19C14C36-AC8E-43BC-9DB6-C2AAF774C7DC|PANE__TAG" val="_"/>
</p:tagLst>
</file>

<file path=ppt/tags/tag44.xml><?xml version="1.0" encoding="utf-8"?>
<p:tagLst xmlns:p="http://schemas.openxmlformats.org/presentationml/2006/main">
  <p:tag name="_INSTRUCTOR VIEW19C14C36-AC8E-43BC-9DB6-C2AAF774C7DC|PANE__TAG" val="_"/>
</p:tagLst>
</file>

<file path=ppt/tags/tag45.xml><?xml version="1.0" encoding="utf-8"?>
<p:tagLst xmlns:p="http://schemas.openxmlformats.org/presentationml/2006/main">
  <p:tag name="_INSTRUCTOR VIEW19C14C36-AC8E-43BC-9DB6-C2AAF774C7DC|PANE__TAG" val="_"/>
</p:tagLst>
</file>

<file path=ppt/tags/tag46.xml><?xml version="1.0" encoding="utf-8"?>
<p:tagLst xmlns:p="http://schemas.openxmlformats.org/presentationml/2006/main">
  <p:tag name="_INSTRUCTOR VIEW19C14C36-AC8E-43BC-9DB6-C2AAF774C7DC|PANE__TAG" val="_"/>
</p:tagLst>
</file>

<file path=ppt/tags/tag47.xml><?xml version="1.0" encoding="utf-8"?>
<p:tagLst xmlns:p="http://schemas.openxmlformats.org/presentationml/2006/main">
  <p:tag name="_INSTRUCTOR VIEW19C14C36-AC8E-43BC-9DB6-C2AAF774C7DC|PANE__TAG" val="_"/>
</p:tagLst>
</file>

<file path=ppt/tags/tag48.xml><?xml version="1.0" encoding="utf-8"?>
<p:tagLst xmlns:p="http://schemas.openxmlformats.org/presentationml/2006/main">
  <p:tag name="_INSTRUCTOR VIEW19C14C36-AC8E-43BC-9DB6-C2AAF774C7DC|PANE__TAG" val="_"/>
</p:tagLst>
</file>

<file path=ppt/tags/tag49.xml><?xml version="1.0" encoding="utf-8"?>
<p:tagLst xmlns:p="http://schemas.openxmlformats.org/presentationml/2006/main">
  <p:tag name="_INSTRUCTOR VIEW19C14C36-AC8E-43BC-9DB6-C2AAF774C7DC|PANE__TAG" val="_"/>
</p:tagLst>
</file>

<file path=ppt/tags/tag50.xml><?xml version="1.0" encoding="utf-8"?>
<p:tagLst xmlns:p="http://schemas.openxmlformats.org/presentationml/2006/main">
  <p:tag name="_INSTRUCTOR VIEW19C14C36-AC8E-43BC-9DB6-C2AAF774C7DC|PANE__TAG" val="_"/>
</p:tagLst>
</file>

<file path=ppt/tags/tag51.xml><?xml version="1.0" encoding="utf-8"?>
<p:tagLst xmlns:p="http://schemas.openxmlformats.org/presentationml/2006/main">
  <p:tag name="_INSTRUCTOR VIEW19C14C36-AC8E-43BC-9DB6-C2AAF774C7DC|PANE__TAG" val="_"/>
</p:tagLst>
</file>

<file path=ppt/tags/tag52.xml><?xml version="1.0" encoding="utf-8"?>
<p:tagLst xmlns:p="http://schemas.openxmlformats.org/presentationml/2006/main">
  <p:tag name="_INSTRUCTOR VIEW19C14C36-AC8E-43BC-9DB6-C2AAF774C7DC|PANE__TAG" val="_"/>
</p:tagLst>
</file>

<file path=ppt/tags/tag53.xml><?xml version="1.0" encoding="utf-8"?>
<p:tagLst xmlns:p="http://schemas.openxmlformats.org/presentationml/2006/main">
  <p:tag name="_INSTRUCTOR VIEW19C14C36-AC8E-43BC-9DB6-C2AAF774C7DC|PANE__TAG" val="_"/>
</p:tagLst>
</file>

<file path=ppt/tags/tag54.xml><?xml version="1.0" encoding="utf-8"?>
<p:tagLst xmlns:p="http://schemas.openxmlformats.org/presentationml/2006/main">
  <p:tag name="_INSTRUCTOR VIEW19C14C36-AC8E-43BC-9DB6-C2AAF774C7DC|PANE__TAG" val="_"/>
</p:tagLst>
</file>

<file path=ppt/tags/tag55.xml><?xml version="1.0" encoding="utf-8"?>
<p:tagLst xmlns:p="http://schemas.openxmlformats.org/presentationml/2006/main">
  <p:tag name="_INSTRUCTOR VIEW19C14C36-AC8E-43BC-9DB6-C2AAF774C7DC|PANE__TAG" val="_"/>
</p:tagLst>
</file>

<file path=ppt/tags/tag56.xml><?xml version="1.0" encoding="utf-8"?>
<p:tagLst xmlns:p="http://schemas.openxmlformats.org/presentationml/2006/main">
  <p:tag name="_INSTRUCTOR VIEW19C14C36-AC8E-43BC-9DB6-C2AAF774C7DC|PANE__TAG" val="_"/>
</p:tagLst>
</file>

<file path=ppt/tags/tag57.xml><?xml version="1.0" encoding="utf-8"?>
<p:tagLst xmlns:p="http://schemas.openxmlformats.org/presentationml/2006/main">
  <p:tag name="_INSTRUCTOR VIEW19C14C36-AC8E-43BC-9DB6-C2AAF774C7DC|PANE__TAG" val="_"/>
</p:tagLst>
</file>

<file path=ppt/tags/tag58.xml><?xml version="1.0" encoding="utf-8"?>
<p:tagLst xmlns:p="http://schemas.openxmlformats.org/presentationml/2006/main">
  <p:tag name="_INSTRUCTOR VIEW19C14C36-AC8E-43BC-9DB6-C2AAF774C7DC|PANE__TAG" val="_"/>
</p:tagLst>
</file>

<file path=ppt/tags/tag59.xml><?xml version="1.0" encoding="utf-8"?>
<p:tagLst xmlns:p="http://schemas.openxmlformats.org/presentationml/2006/main">
  <p:tag name="_INSTRUCTOR VIEW19C14C36-AC8E-43BC-9DB6-C2AAF774C7DC|PANE__TAG" val="_"/>
</p:tagLst>
</file>

<file path=ppt/tags/tag60.xml><?xml version="1.0" encoding="utf-8"?>
<p:tagLst xmlns:p="http://schemas.openxmlformats.org/presentationml/2006/main">
  <p:tag name="_INSTRUCTOR VIEW19C14C36-AC8E-43BC-9DB6-C2AAF774C7DC|PANE__TAG" val="_"/>
</p:tagLst>
</file>

<file path=ppt/tags/tag61.xml><?xml version="1.0" encoding="utf-8"?>
<p:tagLst xmlns:p="http://schemas.openxmlformats.org/presentationml/2006/main">
  <p:tag name="_INSTRUCTOR VIEW19C14C36-AC8E-43BC-9DB6-C2AAF774C7DC|PANE__TAG" val="_"/>
</p:tagLst>
</file>

<file path=ppt/tags/tag62.xml><?xml version="1.0" encoding="utf-8"?>
<p:tagLst xmlns:p="http://schemas.openxmlformats.org/presentationml/2006/main">
  <p:tag name="_INSTRUCTOR VIEW19C14C36-AC8E-43BC-9DB6-C2AAF774C7DC|PANE__TAG" val="_"/>
</p:tagLst>
</file>

<file path=ppt/tags/tag63.xml><?xml version="1.0" encoding="utf-8"?>
<p:tagLst xmlns:p="http://schemas.openxmlformats.org/presentationml/2006/main">
  <p:tag name="_INSTRUCTOR VIEW19C14C36-AC8E-43BC-9DB6-C2AAF774C7DC|PANE__TAG" val="_"/>
</p:tagLst>
</file>

<file path=ppt/tags/tag64.xml><?xml version="1.0" encoding="utf-8"?>
<p:tagLst xmlns:p="http://schemas.openxmlformats.org/presentationml/2006/main">
  <p:tag name="_INSTRUCTOR VIEW19C14C36-AC8E-43BC-9DB6-C2AAF774C7DC|PANE__TAG" val="_"/>
</p:tagLst>
</file>

<file path=ppt/tags/tag65.xml><?xml version="1.0" encoding="utf-8"?>
<p:tagLst xmlns:p="http://schemas.openxmlformats.org/presentationml/2006/main">
  <p:tag name="_INSTRUCTOR VIEW19C14C36-AC8E-43BC-9DB6-C2AAF774C7DC|PANE__TAG" val="_"/>
</p:tagLst>
</file>

<file path=ppt/tags/tag66.xml><?xml version="1.0" encoding="utf-8"?>
<p:tagLst xmlns:p="http://schemas.openxmlformats.org/presentationml/2006/main">
  <p:tag name="_INSTRUCTOR VIEW19C14C36-AC8E-43BC-9DB6-C2AAF774C7DC|PANE__TAG" val="_"/>
</p:tagLst>
</file>

<file path=ppt/tags/tag67.xml><?xml version="1.0" encoding="utf-8"?>
<p:tagLst xmlns:p="http://schemas.openxmlformats.org/presentationml/2006/main">
  <p:tag name="_INSTRUCTOR VIEW19C14C36-AC8E-43BC-9DB6-C2AAF774C7DC|PANE__TAG" val="_"/>
</p:tagLst>
</file>

<file path=ppt/tags/tag68.xml><?xml version="1.0" encoding="utf-8"?>
<p:tagLst xmlns:p="http://schemas.openxmlformats.org/presentationml/2006/main">
  <p:tag name="_INSTRUCTOR VIEW19C14C36-AC8E-43BC-9DB6-C2AAF774C7DC|PANE__TAG" val="_"/>
</p:tagLst>
</file>

<file path=ppt/tags/tag69.xml><?xml version="1.0" encoding="utf-8"?>
<p:tagLst xmlns:p="http://schemas.openxmlformats.org/presentationml/2006/main">
  <p:tag name="_INSTRUCTOR VIEW19C14C36-AC8E-43BC-9DB6-C2AAF774C7DC|PANE__TAG" val="_"/>
</p:tagLst>
</file>

<file path=ppt/tags/tag70.xml><?xml version="1.0" encoding="utf-8"?>
<p:tagLst xmlns:p="http://schemas.openxmlformats.org/presentationml/2006/main">
  <p:tag name="_INSTRUCTOR VIEW19C14C36-AC8E-43BC-9DB6-C2AAF774C7DC|PANE__TAG" val="_"/>
</p:tagLst>
</file>

<file path=ppt/tags/tag71.xml><?xml version="1.0" encoding="utf-8"?>
<p:tagLst xmlns:p="http://schemas.openxmlformats.org/presentationml/2006/main">
  <p:tag name="_INSTRUCTOR VIEW19C14C36-AC8E-43BC-9DB6-C2AAF774C7DC|PANE__TAG" val="_"/>
</p:tagLst>
</file>

<file path=ppt/tags/tag72.xml><?xml version="1.0" encoding="utf-8"?>
<p:tagLst xmlns:p="http://schemas.openxmlformats.org/presentationml/2006/main">
  <p:tag name="COMMONDATA" val="eyJoZGlkIjoiZmM5NmVlOGFhMTY5OGVkNDcyYTcwNDQwYTY1MzY5NzcifQ=="/>
  <p:tag name="KSO_WPP_MARK_KEY" val="c09b780d-b784-4109-9beb-8e18a65e96c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5795</Words>
  <Application>WPS 演示</Application>
  <PresentationFormat>全屏显示(4:3)</PresentationFormat>
  <Paragraphs>305</Paragraphs>
  <Slides>43</Slides>
  <Notes>21</Notes>
  <HiddenSlides>0</HiddenSlides>
  <MMClips>3</MMClips>
  <ScaleCrop>false</ScaleCrop>
  <HeadingPairs>
    <vt:vector size="6" baseType="variant">
      <vt:variant>
        <vt:lpstr>已用的字体</vt:lpstr>
      </vt:variant>
      <vt:variant>
        <vt:i4>9</vt:i4>
      </vt:variant>
      <vt:variant>
        <vt:lpstr>主题</vt:lpstr>
      </vt:variant>
      <vt:variant>
        <vt:i4>5</vt:i4>
      </vt:variant>
      <vt:variant>
        <vt:lpstr>幻灯片标题</vt:lpstr>
      </vt:variant>
      <vt:variant>
        <vt:i4>43</vt:i4>
      </vt:variant>
    </vt:vector>
  </HeadingPairs>
  <TitlesOfParts>
    <vt:vector size="57" baseType="lpstr">
      <vt:lpstr>Arial</vt:lpstr>
      <vt:lpstr>宋体</vt:lpstr>
      <vt:lpstr>Wingdings</vt:lpstr>
      <vt:lpstr>Calibri</vt:lpstr>
      <vt:lpstr>Comic Sans MS</vt:lpstr>
      <vt:lpstr>微软雅黑</vt:lpstr>
      <vt:lpstr>Arial Unicode MS</vt:lpstr>
      <vt:lpstr>Trebuchet MS</vt:lpstr>
      <vt:lpstr>Calibri</vt:lpstr>
      <vt:lpstr>Office Theme</vt:lpstr>
      <vt:lpstr>1_Office Theme</vt:lpstr>
      <vt:lpstr>3_Office Theme</vt:lpstr>
      <vt:lpstr>5_Office Theme</vt:lpstr>
      <vt:lpstr>2_Office Theme</vt:lpstr>
      <vt:lpstr>Introduction to   Computer  Vision</vt:lpstr>
      <vt:lpstr>Computer Vision  in Our Living</vt:lpstr>
      <vt:lpstr>What is Computer Vision?</vt:lpstr>
      <vt:lpstr>PowerPoint 演示文稿</vt:lpstr>
      <vt:lpstr>PowerPoint 演示文稿</vt:lpstr>
      <vt:lpstr>PowerPoint 演示文稿</vt:lpstr>
      <vt:lpstr>PowerPoint 演示文稿</vt:lpstr>
      <vt:lpstr>Explosive growth of Image  and video data </vt:lpstr>
      <vt:lpstr>Vision is really hard</vt:lpstr>
      <vt:lpstr>Why computer vision matters</vt:lpstr>
      <vt:lpstr>PowerPoint 演示文稿</vt:lpstr>
      <vt:lpstr>PowerPoint 演示文稿</vt:lpstr>
      <vt:lpstr>Challenges: many nuisance parameters</vt:lpstr>
      <vt:lpstr>Challenge: intra-class variation</vt:lpstr>
      <vt:lpstr>PowerPoint 演示文稿</vt:lpstr>
      <vt:lpstr>PowerPoint 演示文稿</vt:lpstr>
      <vt:lpstr>Ridiculously brief history of computer vision</vt:lpstr>
      <vt:lpstr>How vision is used now</vt:lpstr>
      <vt:lpstr>Optical character recognition (OCR)</vt:lpstr>
      <vt:lpstr>Face detection</vt:lpstr>
      <vt:lpstr>Smile detection</vt:lpstr>
      <vt:lpstr>3D from thousands of images</vt:lpstr>
      <vt:lpstr>Object recognition (in supermarkets)</vt:lpstr>
      <vt:lpstr>Vision-based biometrics</vt:lpstr>
      <vt:lpstr>Login without a password…</vt:lpstr>
      <vt:lpstr>Object recognition (in mobile phones)</vt:lpstr>
      <vt:lpstr>Special effects:  shape capture</vt:lpstr>
      <vt:lpstr>Special effects:  motion capture</vt:lpstr>
      <vt:lpstr>Sports</vt:lpstr>
      <vt:lpstr>Smart cars</vt:lpstr>
      <vt:lpstr>Google cars</vt:lpstr>
      <vt:lpstr>Interactive Games: Kinect</vt:lpstr>
      <vt:lpstr>Vision in space</vt:lpstr>
      <vt:lpstr>Industrial robots</vt:lpstr>
      <vt:lpstr>Mobile robots</vt:lpstr>
      <vt:lpstr>Medical imaging</vt:lpstr>
      <vt:lpstr>Computer Vision and Nearby Fields</vt:lpstr>
      <vt:lpstr>Computer Vision and Nearby Fields</vt:lpstr>
      <vt:lpstr>PowerPoint 演示文稿</vt:lpstr>
      <vt:lpstr>Course Topics</vt:lpstr>
      <vt:lpstr>Textbook</vt:lpstr>
      <vt:lpstr>Prerequisites</vt:lpstr>
      <vt:lpstr>Projects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143: Introduction to Computer Vision</dc:title>
  <dc:creator>James Hays</dc:creator>
  <cp:lastModifiedBy>姚俊峰</cp:lastModifiedBy>
  <cp:revision>79</cp:revision>
  <dcterms:created xsi:type="dcterms:W3CDTF">2006-08-16T00:00:00Z</dcterms:created>
  <dcterms:modified xsi:type="dcterms:W3CDTF">2026-05-23T04:53:22Z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1EF7D497C2224F6DB5AF154F07BA8CF8</vt:lpwstr>
  </property>
  <property fmtid="{D5CDD505-2E9C-101B-9397-08002B2CF9AE}" pid="3" name="KSOProductBuildVer">
    <vt:lpwstr>2052-12.1.0.25865</vt:lpwstr>
  </property>
</Properties>
</file>