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37"/>
  </p:notesMasterIdLst>
  <p:handoutMasterIdLst>
    <p:handoutMasterId r:id="rId38"/>
  </p:handoutMasterIdLst>
  <p:sldIdLst>
    <p:sldId id="2591" r:id="rId2"/>
    <p:sldId id="1464" r:id="rId3"/>
    <p:sldId id="1456" r:id="rId4"/>
    <p:sldId id="3323" r:id="rId5"/>
    <p:sldId id="3324" r:id="rId6"/>
    <p:sldId id="3325" r:id="rId7"/>
    <p:sldId id="3303" r:id="rId8"/>
    <p:sldId id="3326" r:id="rId9"/>
    <p:sldId id="3327" r:id="rId10"/>
    <p:sldId id="3328" r:id="rId11"/>
    <p:sldId id="3306" r:id="rId12"/>
    <p:sldId id="3329" r:id="rId13"/>
    <p:sldId id="3298" r:id="rId14"/>
    <p:sldId id="3299" r:id="rId15"/>
    <p:sldId id="3300" r:id="rId16"/>
    <p:sldId id="3302" r:id="rId17"/>
    <p:sldId id="3330" r:id="rId18"/>
    <p:sldId id="3331" r:id="rId19"/>
    <p:sldId id="3332" r:id="rId20"/>
    <p:sldId id="3334" r:id="rId21"/>
    <p:sldId id="3311" r:id="rId22"/>
    <p:sldId id="3312" r:id="rId23"/>
    <p:sldId id="3313" r:id="rId24"/>
    <p:sldId id="3338" r:id="rId25"/>
    <p:sldId id="3314" r:id="rId26"/>
    <p:sldId id="3316" r:id="rId27"/>
    <p:sldId id="3320" r:id="rId28"/>
    <p:sldId id="3339" r:id="rId29"/>
    <p:sldId id="1458" r:id="rId30"/>
    <p:sldId id="3321" r:id="rId31"/>
    <p:sldId id="3322" r:id="rId32"/>
    <p:sldId id="3317" r:id="rId33"/>
    <p:sldId id="1461" r:id="rId34"/>
    <p:sldId id="1462" r:id="rId35"/>
    <p:sldId id="3336" r:id="rId36"/>
  </p:sldIdLst>
  <p:sldSz cx="12192000" cy="6858000"/>
  <p:notesSz cx="6858000" cy="9144000"/>
  <p:custDataLst>
    <p:tags r:id="rId39"/>
  </p:custDataLst>
  <p:defaultTextStyle>
    <a:defPPr>
      <a:defRPr lang="zh-CN"/>
    </a:defPPr>
    <a:lvl1pPr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pos="3839" userDrawn="1">
          <p15:clr>
            <a:srgbClr val="A4A3A4"/>
          </p15:clr>
        </p15:guide>
        <p15:guide id="2" orient="horz" pos="2039" userDrawn="1">
          <p15:clr>
            <a:srgbClr val="A4A3A4"/>
          </p15:clr>
        </p15:guide>
      </p15:sldGuideLst>
    </p:ext>
    <p:ext uri="{2D200454-40CA-4A62-9FC3-DE9A4176ACB9}">
      <p15:notesGuideLst xmlns:p15="http://schemas.microsoft.com/office/powerpoint/2012/main">
        <p15:guide id="1" orient="horz" pos="2719">
          <p15:clr>
            <a:srgbClr val="A4A3A4"/>
          </p15:clr>
        </p15:guide>
        <p15:guide id="2" pos="2159">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FF"/>
    <a:srgbClr val="274FA2"/>
    <a:srgbClr val="0000FF"/>
    <a:srgbClr val="0070C0"/>
    <a:srgbClr val="F8C090"/>
    <a:srgbClr val="F96E96"/>
    <a:srgbClr val="93CBDC"/>
    <a:srgbClr val="D5E2BC"/>
    <a:srgbClr val="FDFE80"/>
    <a:srgbClr val="1717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951" autoAdjust="0"/>
    <p:restoredTop sz="91820" autoAdjust="0"/>
  </p:normalViewPr>
  <p:slideViewPr>
    <p:cSldViewPr snapToGrid="0" showGuides="1">
      <p:cViewPr varScale="1">
        <p:scale>
          <a:sx n="87" d="100"/>
          <a:sy n="87" d="100"/>
        </p:scale>
        <p:origin x="178" y="62"/>
      </p:cViewPr>
      <p:guideLst>
        <p:guide pos="3839"/>
        <p:guide orient="horz" pos="2039"/>
      </p:guideLst>
    </p:cSldViewPr>
  </p:slideViewPr>
  <p:outlineViewPr>
    <p:cViewPr>
      <p:scale>
        <a:sx n="25" d="100"/>
        <a:sy n="25" d="100"/>
      </p:scale>
      <p:origin x="0" y="0"/>
    </p:cViewPr>
  </p:outlineViewPr>
  <p:notesTextViewPr>
    <p:cViewPr>
      <p:scale>
        <a:sx n="125" d="100"/>
        <a:sy n="125" d="100"/>
      </p:scale>
      <p:origin x="0" y="0"/>
    </p:cViewPr>
  </p:notesTextViewPr>
  <p:sorterViewPr>
    <p:cViewPr>
      <p:scale>
        <a:sx n="75" d="100"/>
        <a:sy n="75" d="100"/>
      </p:scale>
      <p:origin x="0" y="-1440"/>
    </p:cViewPr>
  </p:sorterViewPr>
  <p:notesViewPr>
    <p:cSldViewPr snapToGrid="0">
      <p:cViewPr varScale="1">
        <p:scale>
          <a:sx n="121" d="100"/>
          <a:sy n="121" d="100"/>
        </p:scale>
        <p:origin x="4938" y="96"/>
      </p:cViewPr>
      <p:guideLst>
        <p:guide orient="horz" pos="2719"/>
        <p:guide pos="2159"/>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gs" Target="tags/tag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088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Verdana" panose="020B0604030504040204" pitchFamily="34" charset="0"/>
                <a:ea typeface="宋体" panose="02010600030101010101" pitchFamily="2" charset="-122"/>
              </a:defRPr>
            </a:lvl1pPr>
          </a:lstStyle>
          <a:p>
            <a:pPr>
              <a:defRPr/>
            </a:pPr>
            <a:endParaRPr lang="en-US" altLang="zh-CN"/>
          </a:p>
        </p:txBody>
      </p:sp>
      <p:sp>
        <p:nvSpPr>
          <p:cNvPr id="250883"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Verdana" panose="020B0604030504040204" pitchFamily="34" charset="0"/>
                <a:ea typeface="宋体" panose="02010600030101010101" pitchFamily="2" charset="-122"/>
              </a:defRPr>
            </a:lvl1pPr>
          </a:lstStyle>
          <a:p>
            <a:pPr>
              <a:defRPr/>
            </a:pPr>
            <a:endParaRPr lang="en-US" altLang="zh-CN"/>
          </a:p>
        </p:txBody>
      </p:sp>
      <p:sp>
        <p:nvSpPr>
          <p:cNvPr id="250884"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Verdana" panose="020B0604030504040204" pitchFamily="34" charset="0"/>
                <a:ea typeface="宋体" panose="02010600030101010101" pitchFamily="2" charset="-122"/>
              </a:defRPr>
            </a:lvl1pPr>
          </a:lstStyle>
          <a:p>
            <a:pPr>
              <a:defRPr/>
            </a:pPr>
            <a:endParaRPr lang="en-US" altLang="zh-CN"/>
          </a:p>
        </p:txBody>
      </p:sp>
      <p:sp>
        <p:nvSpPr>
          <p:cNvPr id="250885"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vl1pPr>
          </a:lstStyle>
          <a:p>
            <a:fld id="{7C4803FF-7A1D-4EE9-8F21-D3681F147401}" type="slidenum">
              <a:rPr lang="en-US" altLang="zh-CN"/>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949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Verdana" panose="020B0604030504040204" pitchFamily="34" charset="0"/>
                <a:ea typeface="宋体" panose="02010600030101010101" pitchFamily="2" charset="-122"/>
              </a:defRPr>
            </a:lvl1pPr>
          </a:lstStyle>
          <a:p>
            <a:pPr>
              <a:defRPr/>
            </a:pPr>
            <a:endParaRPr lang="en-US" altLang="zh-CN"/>
          </a:p>
        </p:txBody>
      </p:sp>
      <p:sp>
        <p:nvSpPr>
          <p:cNvPr id="319491"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Verdana" panose="020B0604030504040204" pitchFamily="34" charset="0"/>
                <a:ea typeface="宋体" panose="02010600030101010101" pitchFamily="2" charset="-122"/>
              </a:defRPr>
            </a:lvl1pPr>
          </a:lstStyle>
          <a:p>
            <a:pPr>
              <a:defRPr/>
            </a:pPr>
            <a:endParaRPr lang="en-US" altLang="zh-CN"/>
          </a:p>
        </p:txBody>
      </p:sp>
      <p:sp>
        <p:nvSpPr>
          <p:cNvPr id="1126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319493"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19494"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Verdana" panose="020B0604030504040204" pitchFamily="34" charset="0"/>
                <a:ea typeface="宋体" panose="02010600030101010101" pitchFamily="2" charset="-122"/>
              </a:defRPr>
            </a:lvl1pPr>
          </a:lstStyle>
          <a:p>
            <a:pPr>
              <a:defRPr/>
            </a:pPr>
            <a:endParaRPr lang="en-US" altLang="zh-CN"/>
          </a:p>
        </p:txBody>
      </p:sp>
      <p:sp>
        <p:nvSpPr>
          <p:cNvPr id="319495"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vl1pPr>
          </a:lstStyle>
          <a:p>
            <a:fld id="{98AA420E-8999-4B68-9F06-563144D81D63}"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p:cNvSpPr>
            <a:spLocks noGrp="1" noRot="1" noChangeAspect="1" noChangeArrowheads="1" noTextEdit="1"/>
          </p:cNvSpPr>
          <p:nvPr>
            <p:ph type="sldImg"/>
          </p:nvPr>
        </p:nvSpPr>
        <p:spPr>
          <a:xfrm>
            <a:off x="381000" y="685800"/>
            <a:ext cx="6096000" cy="3429000"/>
          </a:xfrm>
        </p:spPr>
      </p:sp>
      <p:sp>
        <p:nvSpPr>
          <p:cNvPr id="14339"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zh-CN" b="0" dirty="0"/>
          </a:p>
        </p:txBody>
      </p:sp>
      <p:sp>
        <p:nvSpPr>
          <p:cNvPr id="14340"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Verdana" panose="020B0604030504040204" pitchFamily="34" charset="0"/>
                <a:ea typeface="宋体" panose="02010600030101010101" pitchFamily="2" charset="-122"/>
              </a:defRPr>
            </a:lvl1pPr>
            <a:lvl2pPr marL="742950" indent="-285750">
              <a:defRPr sz="1400">
                <a:solidFill>
                  <a:schemeClr val="tx1"/>
                </a:solidFill>
                <a:latin typeface="Verdana" panose="020B0604030504040204" pitchFamily="34" charset="0"/>
                <a:ea typeface="宋体" panose="02010600030101010101" pitchFamily="2" charset="-122"/>
              </a:defRPr>
            </a:lvl2pPr>
            <a:lvl3pPr marL="1143000" indent="-228600">
              <a:defRPr sz="1400">
                <a:solidFill>
                  <a:schemeClr val="tx1"/>
                </a:solidFill>
                <a:latin typeface="Verdana" panose="020B0604030504040204" pitchFamily="34" charset="0"/>
                <a:ea typeface="宋体" panose="02010600030101010101" pitchFamily="2" charset="-122"/>
              </a:defRPr>
            </a:lvl3pPr>
            <a:lvl4pPr marL="1600200" indent="-228600">
              <a:defRPr sz="1400">
                <a:solidFill>
                  <a:schemeClr val="tx1"/>
                </a:solidFill>
                <a:latin typeface="Verdana" panose="020B0604030504040204" pitchFamily="34" charset="0"/>
                <a:ea typeface="宋体" panose="02010600030101010101" pitchFamily="2" charset="-122"/>
              </a:defRPr>
            </a:lvl4pPr>
            <a:lvl5pPr marL="2057400" indent="-228600">
              <a:defRPr sz="14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Verdana" panose="020B0604030504040204" pitchFamily="34" charset="0"/>
                <a:ea typeface="宋体" panose="02010600030101010101" pitchFamily="2" charset="-122"/>
              </a:defRPr>
            </a:lvl9pPr>
          </a:lstStyle>
          <a:p>
            <a:fld id="{B093EB02-05DE-4FBA-B58C-F692575D24CC}" type="slidenum">
              <a:rPr lang="en-US" altLang="zh-CN" sz="1200"/>
              <a:t>1</a:t>
            </a:fld>
            <a:endParaRPr lang="en-US" altLang="zh-CN"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8AA420E-8999-4B68-9F06-563144D81D63}" type="slidenum">
              <a:rPr lang="en-US" altLang="zh-CN" smtClean="0"/>
              <a:t>2</a:t>
            </a:fld>
            <a:endParaRPr lang="en-US" altLang="zh-CN"/>
          </a:p>
        </p:txBody>
      </p:sp>
    </p:spTree>
    <p:extLst>
      <p:ext uri="{BB962C8B-B14F-4D97-AF65-F5344CB8AC3E}">
        <p14:creationId xmlns:p14="http://schemas.microsoft.com/office/powerpoint/2010/main" val="1527410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8AA420E-8999-4B68-9F06-563144D81D63}" type="slidenum">
              <a:rPr lang="en-US" altLang="zh-CN" smtClean="0"/>
              <a:t>4</a:t>
            </a:fld>
            <a:endParaRPr lang="en-US" altLang="zh-CN"/>
          </a:p>
        </p:txBody>
      </p:sp>
    </p:spTree>
    <p:extLst>
      <p:ext uri="{BB962C8B-B14F-4D97-AF65-F5344CB8AC3E}">
        <p14:creationId xmlns:p14="http://schemas.microsoft.com/office/powerpoint/2010/main" val="37202344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8AA420E-8999-4B68-9F06-563144D81D63}" type="slidenum">
              <a:rPr lang="en-US" altLang="zh-CN" smtClean="0"/>
              <a:t>5</a:t>
            </a:fld>
            <a:endParaRPr lang="en-US" altLang="zh-CN"/>
          </a:p>
        </p:txBody>
      </p:sp>
    </p:spTree>
    <p:extLst>
      <p:ext uri="{BB962C8B-B14F-4D97-AF65-F5344CB8AC3E}">
        <p14:creationId xmlns:p14="http://schemas.microsoft.com/office/powerpoint/2010/main" val="32583018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8AA420E-8999-4B68-9F06-563144D81D63}" type="slidenum">
              <a:rPr lang="en-US" altLang="zh-CN" smtClean="0"/>
              <a:t>7</a:t>
            </a:fld>
            <a:endParaRPr lang="en-US" altLang="zh-CN"/>
          </a:p>
        </p:txBody>
      </p:sp>
    </p:spTree>
    <p:extLst>
      <p:ext uri="{BB962C8B-B14F-4D97-AF65-F5344CB8AC3E}">
        <p14:creationId xmlns:p14="http://schemas.microsoft.com/office/powerpoint/2010/main" val="5470709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8AA420E-8999-4B68-9F06-563144D81D63}" type="slidenum">
              <a:rPr lang="en-US" altLang="zh-CN" smtClean="0"/>
              <a:t>9</a:t>
            </a:fld>
            <a:endParaRPr lang="en-US" altLang="zh-CN"/>
          </a:p>
        </p:txBody>
      </p:sp>
    </p:spTree>
    <p:extLst>
      <p:ext uri="{BB962C8B-B14F-4D97-AF65-F5344CB8AC3E}">
        <p14:creationId xmlns:p14="http://schemas.microsoft.com/office/powerpoint/2010/main" val="17813586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8AA420E-8999-4B68-9F06-563144D81D63}" type="slidenum">
              <a:rPr lang="en-US" altLang="zh-CN" smtClean="0"/>
              <a:t>10</a:t>
            </a:fld>
            <a:endParaRPr lang="en-US" altLang="zh-CN"/>
          </a:p>
        </p:txBody>
      </p:sp>
    </p:spTree>
    <p:extLst>
      <p:ext uri="{BB962C8B-B14F-4D97-AF65-F5344CB8AC3E}">
        <p14:creationId xmlns:p14="http://schemas.microsoft.com/office/powerpoint/2010/main" val="28958724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8AA420E-8999-4B68-9F06-563144D81D63}" type="slidenum">
              <a:rPr lang="en-US" altLang="zh-CN" smtClean="0"/>
              <a:t>11</a:t>
            </a:fld>
            <a:endParaRPr lang="en-US" altLang="zh-CN"/>
          </a:p>
        </p:txBody>
      </p:sp>
    </p:spTree>
    <p:extLst>
      <p:ext uri="{BB962C8B-B14F-4D97-AF65-F5344CB8AC3E}">
        <p14:creationId xmlns:p14="http://schemas.microsoft.com/office/powerpoint/2010/main" val="23414340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8AA420E-8999-4B68-9F06-563144D81D63}" type="slidenum">
              <a:rPr lang="en-US" altLang="zh-CN" smtClean="0"/>
              <a:t>13</a:t>
            </a:fld>
            <a:endParaRPr lang="en-US" altLang="zh-CN"/>
          </a:p>
        </p:txBody>
      </p:sp>
    </p:spTree>
    <p:extLst>
      <p:ext uri="{BB962C8B-B14F-4D97-AF65-F5344CB8AC3E}">
        <p14:creationId xmlns:p14="http://schemas.microsoft.com/office/powerpoint/2010/main" val="42516363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8AA420E-8999-4B68-9F06-563144D81D63}" type="slidenum">
              <a:rPr lang="en-US" altLang="zh-CN" smtClean="0"/>
              <a:t>14</a:t>
            </a:fld>
            <a:endParaRPr lang="en-US" altLang="zh-CN"/>
          </a:p>
        </p:txBody>
      </p:sp>
    </p:spTree>
    <p:extLst>
      <p:ext uri="{BB962C8B-B14F-4D97-AF65-F5344CB8AC3E}">
        <p14:creationId xmlns:p14="http://schemas.microsoft.com/office/powerpoint/2010/main" val="4078426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8AA420E-8999-4B68-9F06-563144D81D63}" type="slidenum">
              <a:rPr lang="en-US" altLang="zh-CN" smtClean="0"/>
              <a:t>15</a:t>
            </a:fld>
            <a:endParaRPr lang="en-US" altLang="zh-CN"/>
          </a:p>
        </p:txBody>
      </p:sp>
    </p:spTree>
    <p:extLst>
      <p:ext uri="{BB962C8B-B14F-4D97-AF65-F5344CB8AC3E}">
        <p14:creationId xmlns:p14="http://schemas.microsoft.com/office/powerpoint/2010/main" val="3586278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8AA420E-8999-4B68-9F06-563144D81D63}" type="slidenum">
              <a:rPr lang="en-US" altLang="zh-CN" smtClean="0"/>
              <a:t>16</a:t>
            </a:fld>
            <a:endParaRPr lang="en-US" altLang="zh-CN"/>
          </a:p>
        </p:txBody>
      </p:sp>
    </p:spTree>
    <p:extLst>
      <p:ext uri="{BB962C8B-B14F-4D97-AF65-F5344CB8AC3E}">
        <p14:creationId xmlns:p14="http://schemas.microsoft.com/office/powerpoint/2010/main" val="25952017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8AA420E-8999-4B68-9F06-563144D81D63}" type="slidenum">
              <a:rPr lang="en-US" altLang="zh-CN" smtClean="0"/>
              <a:t>17</a:t>
            </a:fld>
            <a:endParaRPr lang="en-US" altLang="zh-CN"/>
          </a:p>
        </p:txBody>
      </p:sp>
    </p:spTree>
    <p:extLst>
      <p:ext uri="{BB962C8B-B14F-4D97-AF65-F5344CB8AC3E}">
        <p14:creationId xmlns:p14="http://schemas.microsoft.com/office/powerpoint/2010/main" val="17329623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8AA420E-8999-4B68-9F06-563144D81D63}" type="slidenum">
              <a:rPr lang="en-US" altLang="zh-CN" smtClean="0"/>
              <a:t>20</a:t>
            </a:fld>
            <a:endParaRPr lang="en-US" altLang="zh-CN"/>
          </a:p>
        </p:txBody>
      </p:sp>
    </p:spTree>
    <p:extLst>
      <p:ext uri="{BB962C8B-B14F-4D97-AF65-F5344CB8AC3E}">
        <p14:creationId xmlns:p14="http://schemas.microsoft.com/office/powerpoint/2010/main" val="24057096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8AA420E-8999-4B68-9F06-563144D81D63}" type="slidenum">
              <a:rPr lang="en-US" altLang="zh-CN" smtClean="0"/>
              <a:t>23</a:t>
            </a:fld>
            <a:endParaRPr lang="en-US" altLang="zh-CN"/>
          </a:p>
        </p:txBody>
      </p:sp>
    </p:spTree>
    <p:extLst>
      <p:ext uri="{BB962C8B-B14F-4D97-AF65-F5344CB8AC3E}">
        <p14:creationId xmlns:p14="http://schemas.microsoft.com/office/powerpoint/2010/main" val="33389902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8AA420E-8999-4B68-9F06-563144D81D63}" type="slidenum">
              <a:rPr lang="en-US" altLang="zh-CN" smtClean="0"/>
              <a:t>24</a:t>
            </a:fld>
            <a:endParaRPr lang="en-US" altLang="zh-CN"/>
          </a:p>
        </p:txBody>
      </p:sp>
    </p:spTree>
    <p:extLst>
      <p:ext uri="{BB962C8B-B14F-4D97-AF65-F5344CB8AC3E}">
        <p14:creationId xmlns:p14="http://schemas.microsoft.com/office/powerpoint/2010/main" val="22590896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8AA420E-8999-4B68-9F06-563144D81D63}" type="slidenum">
              <a:rPr lang="en-US" altLang="zh-CN" smtClean="0"/>
              <a:t>25</a:t>
            </a:fld>
            <a:endParaRPr lang="en-US" altLang="zh-CN"/>
          </a:p>
        </p:txBody>
      </p:sp>
    </p:spTree>
    <p:extLst>
      <p:ext uri="{BB962C8B-B14F-4D97-AF65-F5344CB8AC3E}">
        <p14:creationId xmlns:p14="http://schemas.microsoft.com/office/powerpoint/2010/main" val="39802711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8AA420E-8999-4B68-9F06-563144D81D63}" type="slidenum">
              <a:rPr lang="en-US" altLang="zh-CN" smtClean="0"/>
              <a:t>26</a:t>
            </a:fld>
            <a:endParaRPr lang="en-US" altLang="zh-CN"/>
          </a:p>
        </p:txBody>
      </p:sp>
    </p:spTree>
    <p:extLst>
      <p:ext uri="{BB962C8B-B14F-4D97-AF65-F5344CB8AC3E}">
        <p14:creationId xmlns:p14="http://schemas.microsoft.com/office/powerpoint/2010/main" val="42712255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8AA420E-8999-4B68-9F06-563144D81D63}" type="slidenum">
              <a:rPr lang="en-US" altLang="zh-CN" smtClean="0"/>
              <a:t>27</a:t>
            </a:fld>
            <a:endParaRPr lang="en-US" altLang="zh-CN"/>
          </a:p>
        </p:txBody>
      </p:sp>
    </p:spTree>
    <p:extLst>
      <p:ext uri="{BB962C8B-B14F-4D97-AF65-F5344CB8AC3E}">
        <p14:creationId xmlns:p14="http://schemas.microsoft.com/office/powerpoint/2010/main" val="20324296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8AA420E-8999-4B68-9F06-563144D81D63}" type="slidenum">
              <a:rPr lang="en-US" altLang="zh-CN" smtClean="0"/>
              <a:t>30</a:t>
            </a:fld>
            <a:endParaRPr lang="en-US" altLang="zh-CN"/>
          </a:p>
        </p:txBody>
      </p:sp>
    </p:spTree>
    <p:extLst>
      <p:ext uri="{BB962C8B-B14F-4D97-AF65-F5344CB8AC3E}">
        <p14:creationId xmlns:p14="http://schemas.microsoft.com/office/powerpoint/2010/main" val="11359913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8AA420E-8999-4B68-9F06-563144D81D63}" type="slidenum">
              <a:rPr lang="en-US" altLang="zh-CN" smtClean="0"/>
              <a:t>32</a:t>
            </a:fld>
            <a:endParaRPr lang="en-US" altLang="zh-CN"/>
          </a:p>
        </p:txBody>
      </p:sp>
    </p:spTree>
    <p:extLst>
      <p:ext uri="{BB962C8B-B14F-4D97-AF65-F5344CB8AC3E}">
        <p14:creationId xmlns:p14="http://schemas.microsoft.com/office/powerpoint/2010/main" val="10131509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8AA420E-8999-4B68-9F06-563144D81D63}" type="slidenum">
              <a:rPr lang="en-US" altLang="zh-CN" smtClean="0"/>
              <a:t>34</a:t>
            </a:fld>
            <a:endParaRPr lang="en-US" altLang="zh-CN"/>
          </a:p>
        </p:txBody>
      </p:sp>
    </p:spTree>
    <p:extLst>
      <p:ext uri="{BB962C8B-B14F-4D97-AF65-F5344CB8AC3E}">
        <p14:creationId xmlns:p14="http://schemas.microsoft.com/office/powerpoint/2010/main" val="25793813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8AA420E-8999-4B68-9F06-563144D81D63}" type="slidenum">
              <a:rPr lang="en-US" altLang="zh-CN" smtClean="0"/>
              <a:t>35</a:t>
            </a:fld>
            <a:endParaRPr lang="en-US" altLang="zh-CN"/>
          </a:p>
        </p:txBody>
      </p:sp>
    </p:spTree>
    <p:extLst>
      <p:ext uri="{BB962C8B-B14F-4D97-AF65-F5344CB8AC3E}">
        <p14:creationId xmlns:p14="http://schemas.microsoft.com/office/powerpoint/2010/main" val="2826745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4" name="矩形 3"/>
          <p:cNvSpPr/>
          <p:nvPr userDrawn="1"/>
        </p:nvSpPr>
        <p:spPr>
          <a:xfrm>
            <a:off x="1" y="0"/>
            <a:ext cx="3340100" cy="876300"/>
          </a:xfrm>
          <a:prstGeom prst="rect">
            <a:avLst/>
          </a:prstGeom>
          <a:solidFill>
            <a:schemeClr val="bg1"/>
          </a:solidFill>
          <a:ln>
            <a:solidFill>
              <a:schemeClr val="bg1"/>
            </a:solidFill>
          </a:ln>
          <a:effectLst/>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endParaRPr lang="zh-CN" altLang="en-US" sz="2400" b="1" dirty="0">
              <a:solidFill>
                <a:schemeClr val="bg1"/>
              </a:solidFill>
              <a:latin typeface="黑体" panose="02010609060101010101" pitchFamily="2" charset="-122"/>
            </a:endParaRPr>
          </a:p>
        </p:txBody>
      </p:sp>
      <p:sp>
        <p:nvSpPr>
          <p:cNvPr id="5" name="矩形 4"/>
          <p:cNvSpPr/>
          <p:nvPr userDrawn="1"/>
        </p:nvSpPr>
        <p:spPr>
          <a:xfrm>
            <a:off x="5177367" y="2889250"/>
            <a:ext cx="3340100" cy="876300"/>
          </a:xfrm>
          <a:prstGeom prst="rect">
            <a:avLst/>
          </a:prstGeom>
          <a:solidFill>
            <a:schemeClr val="bg1"/>
          </a:solidFill>
          <a:ln>
            <a:solidFill>
              <a:schemeClr val="bg1"/>
            </a:solidFill>
          </a:ln>
          <a:effectLst/>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endParaRPr lang="zh-CN" altLang="en-US" sz="2400" b="1" dirty="0">
              <a:solidFill>
                <a:schemeClr val="bg1"/>
              </a:solidFill>
              <a:latin typeface="黑体" panose="02010609060101010101" pitchFamily="2" charset="-122"/>
            </a:endParaRPr>
          </a:p>
        </p:txBody>
      </p:sp>
      <p:sp>
        <p:nvSpPr>
          <p:cNvPr id="44034" name="Rectangle 2"/>
          <p:cNvSpPr>
            <a:spLocks noGrp="1" noChangeArrowheads="1"/>
          </p:cNvSpPr>
          <p:nvPr>
            <p:ph type="ctrTitle"/>
          </p:nvPr>
        </p:nvSpPr>
        <p:spPr>
          <a:xfrm>
            <a:off x="914400" y="990600"/>
            <a:ext cx="10363200" cy="1371600"/>
          </a:xfrm>
        </p:spPr>
        <p:txBody>
          <a:bodyPr/>
          <a:lstStyle>
            <a:lvl1pPr>
              <a:defRPr sz="4000">
                <a:latin typeface="黑体" panose="02010609060101010101" pitchFamily="2" charset="-122"/>
                <a:ea typeface="黑体" panose="02010609060101010101" pitchFamily="2" charset="-122"/>
              </a:defRPr>
            </a:lvl1pPr>
          </a:lstStyle>
          <a:p>
            <a:r>
              <a:rPr lang="en-US" altLang="zh-CN"/>
              <a:t>Click to edit Master title style</a:t>
            </a:r>
          </a:p>
        </p:txBody>
      </p:sp>
      <p:sp>
        <p:nvSpPr>
          <p:cNvPr id="44035" name="Rectangle 3"/>
          <p:cNvSpPr>
            <a:spLocks noGrp="1" noChangeArrowheads="1"/>
          </p:cNvSpPr>
          <p:nvPr>
            <p:ph type="subTitle" idx="1"/>
          </p:nvPr>
        </p:nvSpPr>
        <p:spPr>
          <a:xfrm>
            <a:off x="1930400" y="3429000"/>
            <a:ext cx="9347200" cy="1600200"/>
          </a:xfrm>
        </p:spPr>
        <p:txBody>
          <a:bodyPr/>
          <a:lstStyle>
            <a:lvl1pPr marL="0" indent="0">
              <a:buFont typeface="Wingdings" panose="05000000000000000000" pitchFamily="2" charset="2"/>
              <a:buNone/>
              <a:defRPr sz="2800"/>
            </a:lvl1pPr>
          </a:lstStyle>
          <a:p>
            <a:r>
              <a:rPr lang="en-US" altLang="zh-CN"/>
              <a:t>Click to edit Master subtitle style</a:t>
            </a:r>
          </a:p>
        </p:txBody>
      </p:sp>
      <p:sp>
        <p:nvSpPr>
          <p:cNvPr id="6" name="Rectangle 4"/>
          <p:cNvSpPr>
            <a:spLocks noGrp="1" noChangeArrowheads="1"/>
          </p:cNvSpPr>
          <p:nvPr>
            <p:ph type="dt" sz="half" idx="10"/>
          </p:nvPr>
        </p:nvSpPr>
        <p:spPr bwMode="auto">
          <a:xfrm>
            <a:off x="812800" y="6245225"/>
            <a:ext cx="2641600" cy="476250"/>
          </a:xfrm>
          <a:prstGeom prst="rect">
            <a:avLst/>
          </a:prstGeom>
          <a:ln>
            <a:miter lim="800000"/>
          </a:ln>
        </p:spPr>
        <p:txBody>
          <a:bodyPr vert="horz" wrap="square" lIns="91440" tIns="45720" rIns="91440" bIns="45720" numCol="1" anchor="t" anchorCtr="0" compatLnSpc="1"/>
          <a:lstStyle>
            <a:defPPr>
              <a:defRPr lang="zh-CN"/>
            </a:defPPr>
            <a:lvl1pPr algn="l" rtl="0" eaLnBrk="1" fontAlgn="base" hangingPunct="1">
              <a:spcBef>
                <a:spcPct val="0"/>
              </a:spcBef>
              <a:spcAft>
                <a:spcPct val="0"/>
              </a:spcAft>
              <a:defRPr sz="1200" kern="1200">
                <a:solidFill>
                  <a:schemeClr val="tx1"/>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9pPr>
          </a:lstStyle>
          <a:p>
            <a:pPr>
              <a:defRPr/>
            </a:pPr>
            <a:endParaRPr lang="en-US" altLang="zh-CN"/>
          </a:p>
        </p:txBody>
      </p:sp>
      <p:sp>
        <p:nvSpPr>
          <p:cNvPr id="7" name="Rectangle 5"/>
          <p:cNvSpPr>
            <a:spLocks noGrp="1" noChangeArrowheads="1"/>
          </p:cNvSpPr>
          <p:nvPr>
            <p:ph type="ftr" sz="quarter" idx="11"/>
          </p:nvPr>
        </p:nvSpPr>
        <p:spPr bwMode="auto">
          <a:xfrm>
            <a:off x="4165600" y="6245225"/>
            <a:ext cx="3860800" cy="476250"/>
          </a:xfrm>
          <a:prstGeom prst="rect">
            <a:avLst/>
          </a:prstGeom>
          <a:ln>
            <a:miter lim="800000"/>
          </a:ln>
        </p:spPr>
        <p:txBody>
          <a:bodyPr vert="horz" wrap="square" lIns="91440" tIns="45720" rIns="91440" bIns="45720" numCol="1" anchor="t" anchorCtr="0" compatLnSpc="1"/>
          <a:lstStyle>
            <a:defPPr>
              <a:defRPr lang="zh-CN"/>
            </a:defPPr>
            <a:lvl1pPr algn="ctr" rtl="0" eaLnBrk="1" fontAlgn="base" hangingPunct="1">
              <a:spcBef>
                <a:spcPct val="0"/>
              </a:spcBef>
              <a:spcAft>
                <a:spcPct val="0"/>
              </a:spcAft>
              <a:defRPr sz="1200" kern="1200">
                <a:solidFill>
                  <a:schemeClr val="tx1"/>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sz="1400"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Verdana" panose="020B0604030504040204" pitchFamily="34" charset="0"/>
                <a:ea typeface="宋体" panose="02010600030101010101" pitchFamily="2" charset="-122"/>
                <a:cs typeface="+mn-cs"/>
              </a:defRPr>
            </a:lvl9pPr>
          </a:lstStyle>
          <a:p>
            <a:pPr>
              <a:defRPr/>
            </a:pPr>
            <a:endParaRPr lang="en-US" altLang="zh-CN"/>
          </a:p>
        </p:txBody>
      </p:sp>
      <p:sp>
        <p:nvSpPr>
          <p:cNvPr id="8" name="Rectangle 6"/>
          <p:cNvSpPr>
            <a:spLocks noGrp="1" noChangeArrowheads="1"/>
          </p:cNvSpPr>
          <p:nvPr>
            <p:ph type="sldNum" sz="quarter" idx="12"/>
          </p:nvPr>
        </p:nvSpPr>
        <p:spPr bwMode="auto">
          <a:xfrm>
            <a:off x="8737600" y="6245225"/>
            <a:ext cx="2641600" cy="476250"/>
          </a:xfrm>
          <a:prstGeom prst="rect">
            <a:avLst/>
          </a:prstGeom>
          <a:ln>
            <a:miter lim="800000"/>
          </a:ln>
        </p:spPr>
        <p:txBody>
          <a:bodyPr vert="horz" wrap="square" lIns="91440" tIns="45720" rIns="91440" bIns="45720" numCol="1" anchor="t" anchorCtr="0" compatLnSpc="1"/>
          <a:lstStyle>
            <a:lvl1pPr algn="r" eaLnBrk="1" hangingPunct="1">
              <a:defRPr sz="1200"/>
            </a:lvl1pPr>
          </a:lstStyle>
          <a:p>
            <a:fld id="{A2549619-5BB4-4CE2-B062-4DE22A476271}"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矩形 3"/>
          <p:cNvSpPr/>
          <p:nvPr userDrawn="1"/>
        </p:nvSpPr>
        <p:spPr bwMode="auto">
          <a:xfrm>
            <a:off x="5412318" y="4054476"/>
            <a:ext cx="5590116" cy="771525"/>
          </a:xfrm>
          <a:prstGeom prst="rect">
            <a:avLst/>
          </a:prstGeom>
          <a:solidFill>
            <a:schemeClr val="bg1"/>
          </a:solidFill>
          <a:ln>
            <a:noFill/>
          </a:ln>
          <a:effectLst/>
        </p:spPr>
        <p:style>
          <a:lnRef idx="1">
            <a:schemeClr val="accent3"/>
          </a:lnRef>
          <a:fillRef idx="3">
            <a:schemeClr val="accent3"/>
          </a:fillRef>
          <a:effectRef idx="2">
            <a:schemeClr val="accent3"/>
          </a:effectRef>
          <a:fontRef idx="minor">
            <a:schemeClr val="lt1"/>
          </a:fontRef>
        </p:style>
        <p:txBody>
          <a:bodyPr anchor="ctr"/>
          <a:lstStyle/>
          <a:p>
            <a:pPr algn="ctr">
              <a:defRPr/>
            </a:pPr>
            <a:endParaRPr lang="zh-CN" altLang="en-US" sz="800" b="1" dirty="0">
              <a:solidFill>
                <a:schemeClr val="tx1"/>
              </a:solidFill>
            </a:endParaRPr>
          </a:p>
        </p:txBody>
      </p:sp>
      <p:sp>
        <p:nvSpPr>
          <p:cNvPr id="57353" name="Rectangle 9"/>
          <p:cNvSpPr>
            <a:spLocks noGrp="1" noChangeArrowheads="1"/>
          </p:cNvSpPr>
          <p:nvPr>
            <p:ph type="ctrTitle"/>
          </p:nvPr>
        </p:nvSpPr>
        <p:spPr>
          <a:xfrm>
            <a:off x="914400" y="1798639"/>
            <a:ext cx="10363200" cy="1470025"/>
          </a:xfrm>
        </p:spPr>
        <p:txBody>
          <a:bodyPr tIns="45720" anchor="ctr"/>
          <a:lstStyle>
            <a:lvl1pPr>
              <a:defRPr sz="4300"/>
            </a:lvl1pPr>
          </a:lstStyle>
          <a:p>
            <a:pPr lvl="0"/>
            <a:r>
              <a:rPr lang="zh-CN" altLang="en-US" noProof="0"/>
              <a:t>单击此处编辑母版标题样式</a:t>
            </a:r>
          </a:p>
        </p:txBody>
      </p:sp>
      <p:sp>
        <p:nvSpPr>
          <p:cNvPr id="57354" name="Rectangle 10"/>
          <p:cNvSpPr>
            <a:spLocks noGrp="1" noChangeArrowheads="1"/>
          </p:cNvSpPr>
          <p:nvPr>
            <p:ph type="subTitle" idx="1"/>
          </p:nvPr>
        </p:nvSpPr>
        <p:spPr>
          <a:xfrm>
            <a:off x="1828800" y="3957638"/>
            <a:ext cx="8534400" cy="1079500"/>
          </a:xfrm>
        </p:spPr>
        <p:txBody>
          <a:bodyPr anchor="ctr" anchorCtr="1"/>
          <a:lstStyle>
            <a:lvl1pPr marL="0" indent="0" algn="ctr">
              <a:buFontTx/>
              <a:buNone/>
              <a:defRPr sz="2400">
                <a:solidFill>
                  <a:srgbClr val="16388A"/>
                </a:solidFill>
              </a:defRPr>
            </a:lvl1pPr>
          </a:lstStyle>
          <a:p>
            <a:pPr lvl="0"/>
            <a:r>
              <a:rPr lang="zh-CN" altLang="en-US" noProof="0"/>
              <a:t>单击此处编辑母版副标题样式</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304800" y="149226"/>
            <a:ext cx="11277600" cy="688975"/>
          </a:xfrm>
        </p:spPr>
        <p:txBody>
          <a:bodyPr/>
          <a:lstStyle>
            <a:lvl1pPr>
              <a:defRPr sz="3200" b="1">
                <a:solidFill>
                  <a:srgbClr val="C00000"/>
                </a:solidFill>
                <a:effectLst>
                  <a:outerShdw blurRad="38100" dist="38100" dir="2700000" algn="tl">
                    <a:srgbClr val="000000">
                      <a:alpha val="43137"/>
                    </a:srgbClr>
                  </a:outerShdw>
                </a:effectLst>
                <a:latin typeface="+mn-ea"/>
                <a:ea typeface="+mn-ea"/>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609600" y="1051719"/>
            <a:ext cx="10972800" cy="5065712"/>
          </a:xfrm>
        </p:spPr>
        <p:txBody>
          <a:bodyPr/>
          <a:lstStyle>
            <a:lvl1pPr marL="449580" indent="-449580">
              <a:buFontTx/>
              <a:buBlip>
                <a:blip r:embed="rId2"/>
              </a:buBlip>
              <a:defRPr/>
            </a:lvl1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a:effectLst/>
        </p:spPr>
        <p:txBody>
          <a:bodyPr/>
          <a:lstStyle>
            <a:lvl1pPr>
              <a:defRPr lang="zh-CN" altLang="en-US" sz="3200">
                <a:solidFill>
                  <a:srgbClr val="C00000"/>
                </a:solidFill>
              </a:defRPr>
            </a:lvl1pPr>
          </a:lstStyle>
          <a:p>
            <a:pPr lvl="0"/>
            <a:r>
              <a:rPr lang="zh-CN" altLang="en-US"/>
              <a:t>单击此处编辑母版标题样式</a:t>
            </a:r>
          </a:p>
        </p:txBody>
      </p:sp>
      <p:sp>
        <p:nvSpPr>
          <p:cNvPr id="3" name="内容占位符 2"/>
          <p:cNvSpPr>
            <a:spLocks noGrp="1"/>
          </p:cNvSpPr>
          <p:nvPr>
            <p:ph sz="half" idx="1"/>
          </p:nvPr>
        </p:nvSpPr>
        <p:spPr>
          <a:xfrm>
            <a:off x="575733" y="1268413"/>
            <a:ext cx="5384800" cy="50657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63733" y="1268413"/>
            <a:ext cx="5384800" cy="50657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noFill/>
          <a:ln>
            <a:noFill/>
          </a:ln>
          <a:effectLst/>
        </p:spPr>
        <p:txBody>
          <a:bodyPr/>
          <a:lstStyle>
            <a:lvl1pPr>
              <a:defRPr lang="zh-CN" altLang="en-US" sz="3200">
                <a:solidFill>
                  <a:srgbClr val="C00000"/>
                </a:solidFill>
              </a:defRPr>
            </a:lvl1pPr>
          </a:lstStyle>
          <a:p>
            <a:pPr lvl="0"/>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a:effectLst/>
        </p:spPr>
        <p:txBody>
          <a:bodyPr/>
          <a:lstStyle>
            <a:lvl1pPr>
              <a:defRPr lang="zh-CN" altLang="en-US" sz="3200">
                <a:solidFill>
                  <a:srgbClr val="C00000"/>
                </a:solidFill>
              </a:defRPr>
            </a:lvl1pPr>
          </a:lstStyle>
          <a:p>
            <a:pPr lvl="0"/>
            <a:r>
              <a:rPr lang="zh-CN" altLang="en-US"/>
              <a:t>单击此处编辑母版标题样式</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a:effectLst/>
        </p:spPr>
        <p:txBody>
          <a:bodyPr/>
          <a:lstStyle>
            <a:lvl1pPr>
              <a:defRPr lang="zh-CN" altLang="en-US" sz="3200">
                <a:solidFill>
                  <a:srgbClr val="C00000"/>
                </a:solidFill>
              </a:defRPr>
            </a:lvl1pPr>
          </a:lstStyle>
          <a:p>
            <a:pPr lvl="0"/>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144000" y="179389"/>
            <a:ext cx="3048000" cy="615473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0" y="179389"/>
            <a:ext cx="8940800" cy="615473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2052" name="Rectangle 5"/>
          <p:cNvSpPr>
            <a:spLocks noGrp="1" noChangeArrowheads="1"/>
          </p:cNvSpPr>
          <p:nvPr>
            <p:ph type="body" idx="1"/>
          </p:nvPr>
        </p:nvSpPr>
        <p:spPr bwMode="auto">
          <a:xfrm>
            <a:off x="533400" y="1268413"/>
            <a:ext cx="10972800" cy="5065712"/>
          </a:xfrm>
          <a:prstGeom prst="rect">
            <a:avLst/>
          </a:prstGeom>
          <a:noFill/>
          <a:ln>
            <a:noFill/>
          </a:ln>
          <a:effec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p:txBody>
      </p:sp>
      <p:sp>
        <p:nvSpPr>
          <p:cNvPr id="5" name="矩形 4"/>
          <p:cNvSpPr/>
          <p:nvPr userDrawn="1"/>
        </p:nvSpPr>
        <p:spPr bwMode="auto">
          <a:xfrm>
            <a:off x="71968" y="0"/>
            <a:ext cx="2529417" cy="800100"/>
          </a:xfrm>
          <a:prstGeom prst="rect">
            <a:avLst/>
          </a:prstGeom>
          <a:solidFill>
            <a:schemeClr val="bg1"/>
          </a:solidFill>
          <a:ln>
            <a:noFill/>
          </a:ln>
          <a:effectLst/>
        </p:spPr>
        <p:style>
          <a:lnRef idx="1">
            <a:schemeClr val="accent3"/>
          </a:lnRef>
          <a:fillRef idx="3">
            <a:schemeClr val="accent3"/>
          </a:fillRef>
          <a:effectRef idx="2">
            <a:schemeClr val="accent3"/>
          </a:effectRef>
          <a:fontRef idx="minor">
            <a:schemeClr val="lt1"/>
          </a:fontRef>
        </p:style>
        <p:txBody>
          <a:bodyPr anchor="ctr"/>
          <a:lstStyle/>
          <a:p>
            <a:pPr algn="ctr">
              <a:defRPr/>
            </a:pPr>
            <a:endParaRPr lang="zh-CN" altLang="en-US" sz="800" b="1" dirty="0">
              <a:solidFill>
                <a:schemeClr val="tx1"/>
              </a:solidFill>
            </a:endParaRPr>
          </a:p>
        </p:txBody>
      </p:sp>
      <p:sp>
        <p:nvSpPr>
          <p:cNvPr id="1029" name="Rectangle 4"/>
          <p:cNvSpPr>
            <a:spLocks noGrp="1" noChangeArrowheads="1"/>
          </p:cNvSpPr>
          <p:nvPr>
            <p:ph type="title"/>
          </p:nvPr>
        </p:nvSpPr>
        <p:spPr bwMode="auto">
          <a:xfrm>
            <a:off x="812800" y="149226"/>
            <a:ext cx="10668000" cy="688975"/>
          </a:xfrm>
          <a:prstGeom prst="rect">
            <a:avLst/>
          </a:prstGeom>
          <a:noFill/>
          <a:ln>
            <a:noFill/>
          </a:ln>
          <a:effectLst/>
        </p:spPr>
        <p:txBody>
          <a:bodyPr vert="horz" wrap="square" lIns="91440" tIns="54000" rIns="91440" bIns="45720" numCol="1" anchor="t" anchorCtr="1" compatLnSpc="1"/>
          <a:lstStyle/>
          <a:p>
            <a:pPr lvl="0"/>
            <a:r>
              <a:rPr lang="zh-CN" altLang="en-US"/>
              <a:t>单击此处编辑母版标题样式</a:t>
            </a:r>
          </a:p>
        </p:txBody>
      </p:sp>
      <p:sp>
        <p:nvSpPr>
          <p:cNvPr id="2" name="矩形 1"/>
          <p:cNvSpPr/>
          <p:nvPr userDrawn="1"/>
        </p:nvSpPr>
        <p:spPr>
          <a:xfrm>
            <a:off x="563033" y="862013"/>
            <a:ext cx="11099800" cy="74612"/>
          </a:xfrm>
          <a:prstGeom prst="rect">
            <a:avLst/>
          </a:prstGeom>
          <a:gradFill flip="none" rotWithShape="1">
            <a:gsLst>
              <a:gs pos="0">
                <a:srgbClr val="0000FF"/>
              </a:gs>
              <a:gs pos="0">
                <a:srgbClr val="0070C0"/>
              </a:gs>
              <a:gs pos="45000">
                <a:srgbClr val="0070C0"/>
              </a:gs>
              <a:gs pos="100000">
                <a:schemeClr val="bg1"/>
              </a:gs>
            </a:gsLst>
            <a:lin ang="0" scaled="1"/>
            <a:tileRect/>
          </a:gradFill>
          <a:ln>
            <a:no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kumimoji="1" lang="zh-CN" altLang="en-US" sz="135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lang="zh-CN" altLang="en-US" sz="3200" b="1">
          <a:solidFill>
            <a:srgbClr val="C00000"/>
          </a:solidFill>
          <a:effectLst>
            <a:outerShdw blurRad="38100" dist="38100" dir="2700000" algn="tl">
              <a:srgbClr val="000000">
                <a:alpha val="43137"/>
              </a:srgbClr>
            </a:outerShdw>
          </a:effectLst>
          <a:latin typeface="+mn-ea"/>
          <a:ea typeface="+mn-ea"/>
          <a:cs typeface="+mj-cs"/>
        </a:defRPr>
      </a:lvl1pPr>
      <a:lvl2pPr algn="ctr" rtl="0" eaLnBrk="0" fontAlgn="base" hangingPunct="0">
        <a:spcBef>
          <a:spcPct val="0"/>
        </a:spcBef>
        <a:spcAft>
          <a:spcPct val="0"/>
        </a:spcAft>
        <a:defRPr sz="3200" b="1">
          <a:solidFill>
            <a:srgbClr val="C00000"/>
          </a:solidFill>
          <a:latin typeface="黑体" panose="02010609060101010101" pitchFamily="2" charset="-122"/>
          <a:ea typeface="黑体" panose="02010609060101010101" pitchFamily="2" charset="-122"/>
        </a:defRPr>
      </a:lvl2pPr>
      <a:lvl3pPr algn="ctr" rtl="0" eaLnBrk="0" fontAlgn="base" hangingPunct="0">
        <a:spcBef>
          <a:spcPct val="0"/>
        </a:spcBef>
        <a:spcAft>
          <a:spcPct val="0"/>
        </a:spcAft>
        <a:defRPr sz="3200" b="1">
          <a:solidFill>
            <a:srgbClr val="C00000"/>
          </a:solidFill>
          <a:latin typeface="黑体" panose="02010609060101010101" pitchFamily="2" charset="-122"/>
          <a:ea typeface="黑体" panose="02010609060101010101" pitchFamily="2" charset="-122"/>
        </a:defRPr>
      </a:lvl3pPr>
      <a:lvl4pPr algn="ctr" rtl="0" eaLnBrk="0" fontAlgn="base" hangingPunct="0">
        <a:spcBef>
          <a:spcPct val="0"/>
        </a:spcBef>
        <a:spcAft>
          <a:spcPct val="0"/>
        </a:spcAft>
        <a:defRPr sz="3200" b="1">
          <a:solidFill>
            <a:srgbClr val="C00000"/>
          </a:solidFill>
          <a:latin typeface="黑体" panose="02010609060101010101" pitchFamily="2" charset="-122"/>
          <a:ea typeface="黑体" panose="02010609060101010101" pitchFamily="2" charset="-122"/>
        </a:defRPr>
      </a:lvl4pPr>
      <a:lvl5pPr algn="ctr" rtl="0" eaLnBrk="0" fontAlgn="base" hangingPunct="0">
        <a:spcBef>
          <a:spcPct val="0"/>
        </a:spcBef>
        <a:spcAft>
          <a:spcPct val="0"/>
        </a:spcAft>
        <a:defRPr sz="3200" b="1">
          <a:solidFill>
            <a:srgbClr val="C00000"/>
          </a:solidFill>
          <a:latin typeface="黑体" panose="02010609060101010101" pitchFamily="2" charset="-122"/>
          <a:ea typeface="黑体" panose="02010609060101010101" pitchFamily="2" charset="-122"/>
        </a:defRPr>
      </a:lvl5pPr>
      <a:lvl6pPr marL="4572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6pPr>
      <a:lvl7pPr marL="9144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7pPr>
      <a:lvl8pPr marL="13716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8pPr>
      <a:lvl9pPr marL="18288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9pPr>
    </p:titleStyle>
    <p:bodyStyle>
      <a:lvl1pPr marL="449580" indent="-449580" algn="l" rtl="0" eaLnBrk="0" fontAlgn="base" hangingPunct="0">
        <a:lnSpc>
          <a:spcPct val="110000"/>
        </a:lnSpc>
        <a:spcBef>
          <a:spcPct val="20000"/>
        </a:spcBef>
        <a:spcAft>
          <a:spcPct val="0"/>
        </a:spcAft>
        <a:buSzPct val="120000"/>
        <a:buBlip>
          <a:blip r:embed="rId15"/>
        </a:buBlip>
        <a:defRPr lang="zh-CN" altLang="en-US" sz="2800" dirty="0">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000066"/>
        </a:buClr>
        <a:buChar char="•"/>
        <a:defRPr sz="2400">
          <a:solidFill>
            <a:srgbClr val="133984"/>
          </a:solidFill>
          <a:latin typeface="+mn-lt"/>
          <a:ea typeface="+mn-ea"/>
        </a:defRPr>
      </a:lvl2pPr>
      <a:lvl3pPr marL="1322705" indent="-228600" algn="l" rtl="0" eaLnBrk="0" fontAlgn="base" hangingPunct="0">
        <a:spcBef>
          <a:spcPct val="20000"/>
        </a:spcBef>
        <a:spcAft>
          <a:spcPct val="0"/>
        </a:spcAft>
        <a:buChar char="•"/>
        <a:defRPr sz="2400">
          <a:solidFill>
            <a:schemeClr val="tx1"/>
          </a:solidFill>
          <a:latin typeface="+mn-lt"/>
          <a:ea typeface="宋体" panose="02010600030101010101" pitchFamily="2" charset="-122"/>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vl6pPr marL="259588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6pPr>
      <a:lvl7pPr marL="305308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7pPr>
      <a:lvl8pPr marL="351028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8pPr>
      <a:lvl9pPr marL="396748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bwMode="auto">
          <a:xfrm>
            <a:off x="2211789" y="249200"/>
            <a:ext cx="7806523" cy="576263"/>
          </a:xfrm>
          <a:prstGeom prst="rect">
            <a:avLst/>
          </a:prstGeom>
          <a:noFill/>
          <a:ln>
            <a:noFill/>
          </a:ln>
          <a:effectLst/>
        </p:spPr>
        <p:txBody>
          <a:bodyPr anchor="ctr" anchorCtr="1"/>
          <a:lstStyle>
            <a:lvl1pPr algn="ctr" rtl="0" eaLnBrk="0" fontAlgn="base" hangingPunct="0">
              <a:spcBef>
                <a:spcPct val="0"/>
              </a:spcBef>
              <a:spcAft>
                <a:spcPct val="0"/>
              </a:spcAft>
              <a:defRPr lang="zh-CN" altLang="en-US" sz="4300" b="1">
                <a:solidFill>
                  <a:srgbClr val="C00000"/>
                </a:solidFill>
                <a:effectLst>
                  <a:outerShdw blurRad="38100" dist="38100" dir="2700000" algn="tl">
                    <a:srgbClr val="000000">
                      <a:alpha val="43137"/>
                    </a:srgbClr>
                  </a:outerShdw>
                </a:effectLst>
                <a:latin typeface="+mn-ea"/>
                <a:ea typeface="+mn-ea"/>
                <a:cs typeface="+mj-cs"/>
              </a:defRPr>
            </a:lvl1pPr>
            <a:lvl2pPr algn="ctr" rtl="0" eaLnBrk="0" fontAlgn="base" hangingPunct="0">
              <a:spcBef>
                <a:spcPct val="0"/>
              </a:spcBef>
              <a:spcAft>
                <a:spcPct val="0"/>
              </a:spcAft>
              <a:defRPr sz="3200" b="1">
                <a:solidFill>
                  <a:srgbClr val="C00000"/>
                </a:solidFill>
                <a:latin typeface="黑体" panose="02010609060101010101" pitchFamily="2" charset="-122"/>
                <a:ea typeface="黑体" panose="02010609060101010101" pitchFamily="2" charset="-122"/>
              </a:defRPr>
            </a:lvl2pPr>
            <a:lvl3pPr algn="ctr" rtl="0" eaLnBrk="0" fontAlgn="base" hangingPunct="0">
              <a:spcBef>
                <a:spcPct val="0"/>
              </a:spcBef>
              <a:spcAft>
                <a:spcPct val="0"/>
              </a:spcAft>
              <a:defRPr sz="3200" b="1">
                <a:solidFill>
                  <a:srgbClr val="C00000"/>
                </a:solidFill>
                <a:latin typeface="黑体" panose="02010609060101010101" pitchFamily="2" charset="-122"/>
                <a:ea typeface="黑体" panose="02010609060101010101" pitchFamily="2" charset="-122"/>
              </a:defRPr>
            </a:lvl3pPr>
            <a:lvl4pPr algn="ctr" rtl="0" eaLnBrk="0" fontAlgn="base" hangingPunct="0">
              <a:spcBef>
                <a:spcPct val="0"/>
              </a:spcBef>
              <a:spcAft>
                <a:spcPct val="0"/>
              </a:spcAft>
              <a:defRPr sz="3200" b="1">
                <a:solidFill>
                  <a:srgbClr val="C00000"/>
                </a:solidFill>
                <a:latin typeface="黑体" panose="02010609060101010101" pitchFamily="2" charset="-122"/>
                <a:ea typeface="黑体" panose="02010609060101010101" pitchFamily="2" charset="-122"/>
              </a:defRPr>
            </a:lvl4pPr>
            <a:lvl5pPr algn="ctr" rtl="0" eaLnBrk="0" fontAlgn="base" hangingPunct="0">
              <a:spcBef>
                <a:spcPct val="0"/>
              </a:spcBef>
              <a:spcAft>
                <a:spcPct val="0"/>
              </a:spcAft>
              <a:defRPr sz="3200" b="1">
                <a:solidFill>
                  <a:srgbClr val="C00000"/>
                </a:solidFill>
                <a:latin typeface="黑体" panose="02010609060101010101" pitchFamily="2" charset="-122"/>
                <a:ea typeface="黑体" panose="02010609060101010101" pitchFamily="2" charset="-122"/>
              </a:defRPr>
            </a:lvl5pPr>
            <a:lvl6pPr marL="4572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6pPr>
            <a:lvl7pPr marL="9144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7pPr>
            <a:lvl8pPr marL="13716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8pPr>
            <a:lvl9pPr marL="18288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9pPr>
          </a:lstStyle>
          <a:p>
            <a:pPr>
              <a:defRPr/>
            </a:pPr>
            <a:r>
              <a:rPr lang="en-US" altLang="zh-CN" sz="3600" dirty="0">
                <a:solidFill>
                  <a:srgbClr val="274FA2"/>
                </a:solidFill>
                <a:effectLst/>
                <a:latin typeface="微软雅黑" panose="020B0503020204020204" pitchFamily="34" charset="-122"/>
                <a:ea typeface="微软雅黑" panose="020B0503020204020204" pitchFamily="34" charset="-122"/>
              </a:rPr>
              <a:t>《</a:t>
            </a:r>
            <a:r>
              <a:rPr lang="zh-CN" altLang="en-US" sz="3600" dirty="0">
                <a:solidFill>
                  <a:srgbClr val="274FA2"/>
                </a:solidFill>
                <a:effectLst/>
                <a:latin typeface="微软雅黑" panose="020B0503020204020204" pitchFamily="34" charset="-122"/>
                <a:ea typeface="微软雅黑" panose="020B0503020204020204" pitchFamily="34" charset="-122"/>
              </a:rPr>
              <a:t>计算机组成原理</a:t>
            </a:r>
            <a:r>
              <a:rPr lang="en-US" altLang="zh-CN" sz="3600" dirty="0">
                <a:solidFill>
                  <a:srgbClr val="274FA2"/>
                </a:solidFill>
                <a:effectLst/>
                <a:latin typeface="微软雅黑" panose="020B0503020204020204" pitchFamily="34" charset="-122"/>
                <a:ea typeface="微软雅黑" panose="020B0503020204020204" pitchFamily="34" charset="-122"/>
              </a:rPr>
              <a:t>》</a:t>
            </a:r>
            <a:r>
              <a:rPr lang="zh-CN" altLang="en-US" sz="3600" dirty="0">
                <a:solidFill>
                  <a:srgbClr val="274FA2"/>
                </a:solidFill>
                <a:effectLst/>
                <a:latin typeface="微软雅黑" panose="020B0503020204020204" pitchFamily="34" charset="-122"/>
                <a:ea typeface="微软雅黑" panose="020B0503020204020204" pitchFamily="34" charset="-122"/>
              </a:rPr>
              <a:t>课程思政公开课</a:t>
            </a:r>
            <a:endParaRPr lang="en-US" altLang="zh-CN" sz="3600" dirty="0">
              <a:solidFill>
                <a:srgbClr val="274FA2"/>
              </a:solidFill>
              <a:effectLst/>
              <a:latin typeface="微软雅黑" panose="020B0503020204020204" pitchFamily="34" charset="-122"/>
              <a:ea typeface="微软雅黑" panose="020B0503020204020204" pitchFamily="34" charset="-122"/>
            </a:endParaRPr>
          </a:p>
        </p:txBody>
      </p:sp>
      <p:sp>
        <p:nvSpPr>
          <p:cNvPr id="13315" name="标题 6"/>
          <p:cNvSpPr>
            <a:spLocks noGrp="1" noChangeArrowheads="1"/>
          </p:cNvSpPr>
          <p:nvPr>
            <p:ph type="ctrTitle"/>
          </p:nvPr>
        </p:nvSpPr>
        <p:spPr>
          <a:xfrm>
            <a:off x="1001826" y="2077745"/>
            <a:ext cx="10503535" cy="1183005"/>
          </a:xfrm>
        </p:spPr>
        <p:txBody>
          <a:bodyPr/>
          <a:lstStyle/>
          <a:p>
            <a:r>
              <a:rPr kumimoji="1" lang="en-US" altLang="zh-CN" sz="4400" dirty="0">
                <a:effectLst>
                  <a:outerShdw blurRad="38100" dist="38100" dir="2700000" algn="tl">
                    <a:srgbClr val="000000">
                      <a:alpha val="43137"/>
                    </a:srgbClr>
                  </a:outerShdw>
                </a:effectLst>
                <a:latin typeface="Verdana Bold" panose="020B0804030504040204" charset="0"/>
                <a:ea typeface="微软雅黑" panose="020B0503020204020204" pitchFamily="34" charset="-122"/>
                <a:cs typeface="Verdana Bold" panose="020B0804030504040204" charset="0"/>
                <a:sym typeface="+mn-lt"/>
              </a:rPr>
              <a:t>《</a:t>
            </a:r>
            <a:r>
              <a:rPr kumimoji="1" lang="zh-CN" altLang="en-US" sz="4400" dirty="0">
                <a:effectLst>
                  <a:outerShdw blurRad="38100" dist="38100" dir="2700000" algn="tl">
                    <a:srgbClr val="000000">
                      <a:alpha val="43137"/>
                    </a:srgbClr>
                  </a:outerShdw>
                </a:effectLst>
                <a:latin typeface="Verdana Bold" panose="020B0804030504040204" charset="0"/>
                <a:ea typeface="微软雅黑" panose="020B0503020204020204" pitchFamily="34" charset="-122"/>
                <a:cs typeface="Verdana Bold" panose="020B0804030504040204" charset="0"/>
                <a:sym typeface="+mn-lt"/>
              </a:rPr>
              <a:t>计算机组成原理</a:t>
            </a:r>
            <a:r>
              <a:rPr kumimoji="1" lang="en-US" altLang="zh-CN" sz="4400" dirty="0">
                <a:effectLst>
                  <a:outerShdw blurRad="38100" dist="38100" dir="2700000" algn="tl">
                    <a:srgbClr val="000000">
                      <a:alpha val="43137"/>
                    </a:srgbClr>
                  </a:outerShdw>
                </a:effectLst>
                <a:latin typeface="Verdana Bold" panose="020B0804030504040204" charset="0"/>
                <a:ea typeface="微软雅黑" panose="020B0503020204020204" pitchFamily="34" charset="-122"/>
                <a:cs typeface="Verdana Bold" panose="020B0804030504040204" charset="0"/>
                <a:sym typeface="+mn-lt"/>
              </a:rPr>
              <a:t>》</a:t>
            </a:r>
            <a:r>
              <a:rPr kumimoji="1" lang="zh-CN" altLang="en-US" sz="4400" dirty="0">
                <a:effectLst>
                  <a:outerShdw blurRad="38100" dist="38100" dir="2700000" algn="tl">
                    <a:srgbClr val="000000">
                      <a:alpha val="43137"/>
                    </a:srgbClr>
                  </a:outerShdw>
                </a:effectLst>
                <a:latin typeface="Verdana Bold" panose="020B0804030504040204" charset="0"/>
                <a:ea typeface="微软雅黑" panose="020B0503020204020204" pitchFamily="34" charset="-122"/>
                <a:cs typeface="Verdana Bold" panose="020B0804030504040204" charset="0"/>
                <a:sym typeface="+mn-lt"/>
              </a:rPr>
              <a:t>之中断技术</a:t>
            </a:r>
            <a:endParaRPr kumimoji="1" lang="en-US" altLang="zh-CN" sz="4400" dirty="0" err="1">
              <a:effectLst>
                <a:outerShdw blurRad="38100" dist="38100" dir="2700000" algn="tl">
                  <a:srgbClr val="000000">
                    <a:alpha val="43137"/>
                  </a:srgbClr>
                </a:outerShdw>
              </a:effectLst>
              <a:latin typeface="Verdana Bold" panose="020B0804030504040204" charset="0"/>
              <a:ea typeface="微软雅黑" panose="020B0503020204020204" pitchFamily="34" charset="-122"/>
              <a:cs typeface="Verdana Bold" panose="020B0804030504040204" charset="0"/>
              <a:sym typeface="+mn-lt"/>
            </a:endParaRPr>
          </a:p>
        </p:txBody>
      </p:sp>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9663" y="4395515"/>
            <a:ext cx="3704252" cy="2462485"/>
          </a:xfrm>
          <a:prstGeom prst="rect">
            <a:avLst/>
          </a:prstGeom>
          <a:noFill/>
          <a:extLst>
            <a:ext uri="{909E8E84-426E-40DD-AFC4-6F175D3DCCD1}">
              <a14:hiddenFill xmlns:a14="http://schemas.microsoft.com/office/drawing/2010/main">
                <a:solidFill>
                  <a:srgbClr val="FFFFFF"/>
                </a:solidFill>
              </a14:hiddenFill>
            </a:ext>
          </a:extLst>
        </p:spPr>
      </p:pic>
      <p:sp>
        <p:nvSpPr>
          <p:cNvPr id="8" name="副标题 7"/>
          <p:cNvSpPr>
            <a:spLocks noGrp="1"/>
          </p:cNvSpPr>
          <p:nvPr>
            <p:ph type="subTitle" idx="1"/>
          </p:nvPr>
        </p:nvSpPr>
        <p:spPr>
          <a:xfrm>
            <a:off x="3418138" y="3597251"/>
            <a:ext cx="6188149" cy="2192631"/>
          </a:xfrm>
        </p:spPr>
        <p:txBody>
          <a:bodyPr/>
          <a:lstStyle/>
          <a:p>
            <a:pPr>
              <a:spcBef>
                <a:spcPts val="600"/>
              </a:spcBef>
              <a:defRPr/>
            </a:pPr>
            <a:r>
              <a:rPr lang="zh-CN" altLang="en-US" b="1" kern="1200" dirty="0">
                <a:solidFill>
                  <a:srgbClr val="274FA2"/>
                </a:solidFill>
                <a:latin typeface="微软雅黑" panose="020B0503020204020204" pitchFamily="34" charset="-122"/>
                <a:ea typeface="微软雅黑" panose="020B0503020204020204" pitchFamily="34" charset="-122"/>
                <a:cs typeface="+mj-cs"/>
              </a:rPr>
              <a:t>厦门大学信息学院  软件工程系</a:t>
            </a:r>
            <a:endParaRPr lang="en-US" altLang="zh-CN" b="1" kern="1200" dirty="0">
              <a:solidFill>
                <a:srgbClr val="274FA2"/>
              </a:solidFill>
              <a:latin typeface="微软雅黑" panose="020B0503020204020204" pitchFamily="34" charset="-122"/>
              <a:ea typeface="微软雅黑" panose="020B0503020204020204" pitchFamily="34" charset="-122"/>
              <a:cs typeface="+mj-cs"/>
            </a:endParaRPr>
          </a:p>
          <a:p>
            <a:pPr>
              <a:spcBef>
                <a:spcPts val="600"/>
              </a:spcBef>
              <a:defRPr/>
            </a:pPr>
            <a:r>
              <a:rPr lang="zh-CN" altLang="en-US" b="1" kern="1200" dirty="0">
                <a:solidFill>
                  <a:srgbClr val="274FA2"/>
                </a:solidFill>
                <a:latin typeface="微软雅黑" panose="020B0503020204020204" pitchFamily="34" charset="-122"/>
                <a:ea typeface="微软雅黑" panose="020B0503020204020204" pitchFamily="34" charset="-122"/>
                <a:cs typeface="+mj-cs"/>
              </a:rPr>
              <a:t>张海英</a:t>
            </a:r>
            <a:endParaRPr lang="en-US" altLang="zh-CN" b="1" kern="1200" dirty="0">
              <a:solidFill>
                <a:srgbClr val="274FA2"/>
              </a:solidFill>
              <a:latin typeface="微软雅黑" panose="020B0503020204020204" pitchFamily="34" charset="-122"/>
              <a:ea typeface="微软雅黑" panose="020B0503020204020204" pitchFamily="34" charset="-122"/>
              <a:cs typeface="+mj-cs"/>
            </a:endParaRPr>
          </a:p>
          <a:p>
            <a:pPr>
              <a:spcBef>
                <a:spcPts val="600"/>
              </a:spcBef>
              <a:defRPr/>
            </a:pPr>
            <a:endParaRPr lang="en-US" altLang="zh-CN" b="1" kern="1200" dirty="0">
              <a:solidFill>
                <a:srgbClr val="274FA2"/>
              </a:solidFill>
              <a:latin typeface="微软雅黑" panose="020B0503020204020204" pitchFamily="34" charset="-122"/>
              <a:ea typeface="微软雅黑" panose="020B0503020204020204" pitchFamily="34" charset="-122"/>
              <a:cs typeface="+mj-cs"/>
            </a:endParaRPr>
          </a:p>
          <a:p>
            <a:pPr>
              <a:spcBef>
                <a:spcPts val="600"/>
              </a:spcBef>
              <a:defRPr/>
            </a:pPr>
            <a:r>
              <a:rPr lang="en-US" altLang="zh-CN" b="1" kern="1200" dirty="0">
                <a:solidFill>
                  <a:srgbClr val="274FA2"/>
                </a:solidFill>
                <a:latin typeface="微软雅黑" panose="020B0503020204020204" pitchFamily="34" charset="-122"/>
                <a:ea typeface="微软雅黑" panose="020B0503020204020204" pitchFamily="34" charset="-122"/>
                <a:cs typeface="+mj-cs"/>
              </a:rPr>
              <a:t>2024.5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11F1A7-5357-42C9-BA6E-BCFBA2CE7571}"/>
              </a:ext>
            </a:extLst>
          </p:cNvPr>
          <p:cNvSpPr>
            <a:spLocks noGrp="1"/>
          </p:cNvSpPr>
          <p:nvPr>
            <p:ph type="title"/>
          </p:nvPr>
        </p:nvSpPr>
        <p:spPr>
          <a:xfrm>
            <a:off x="708891" y="166874"/>
            <a:ext cx="10515600" cy="470436"/>
          </a:xfrm>
        </p:spPr>
        <p:txBody>
          <a:bodyPr/>
          <a:lstStyle/>
          <a:p>
            <a:r>
              <a:rPr lang="zh-CN" altLang="en-US" dirty="0">
                <a:latin typeface="微软雅黑" panose="020B0503020204020204" pitchFamily="34" charset="-122"/>
                <a:ea typeface="微软雅黑" panose="020B0503020204020204" pitchFamily="34" charset="-122"/>
              </a:rPr>
              <a:t>前言</a:t>
            </a:r>
          </a:p>
        </p:txBody>
      </p:sp>
      <p:sp>
        <p:nvSpPr>
          <p:cNvPr id="3" name="内容占位符 2">
            <a:extLst>
              <a:ext uri="{FF2B5EF4-FFF2-40B4-BE49-F238E27FC236}">
                <a16:creationId xmlns:a16="http://schemas.microsoft.com/office/drawing/2014/main" id="{3EE5CE96-094D-4D5C-964C-BAFD59D0DDB6}"/>
              </a:ext>
            </a:extLst>
          </p:cNvPr>
          <p:cNvSpPr>
            <a:spLocks noGrp="1"/>
          </p:cNvSpPr>
          <p:nvPr>
            <p:ph idx="1"/>
          </p:nvPr>
        </p:nvSpPr>
        <p:spPr>
          <a:xfrm>
            <a:off x="609600" y="1079428"/>
            <a:ext cx="10972800" cy="5611697"/>
          </a:xfrm>
        </p:spPr>
        <p:txBody>
          <a:bodyPr/>
          <a:lstStyle/>
          <a:p>
            <a:r>
              <a:rPr lang="zh-CN" altLang="en-US" b="1" dirty="0">
                <a:latin typeface="微软雅黑" panose="020B0503020204020204" pitchFamily="34" charset="-122"/>
                <a:ea typeface="微软雅黑" panose="020B0503020204020204" pitchFamily="34" charset="-122"/>
              </a:rPr>
              <a:t>教学目标</a:t>
            </a:r>
            <a:endParaRPr lang="en-US" altLang="zh-CN" b="1" dirty="0">
              <a:latin typeface="微软雅黑" panose="020B0503020204020204" pitchFamily="34" charset="-122"/>
              <a:ea typeface="微软雅黑" panose="020B0503020204020204" pitchFamily="34" charset="-122"/>
            </a:endParaRPr>
          </a:p>
          <a:p>
            <a:pPr marL="444500" lvl="1" indent="274638">
              <a:buNone/>
            </a:pP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计算机组成原理</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是计算机科学与技术以及相关专业的核心课程，是培养“</a:t>
            </a:r>
            <a:r>
              <a:rPr lang="zh-CN" altLang="en-US" sz="2000" b="1" dirty="0">
                <a:solidFill>
                  <a:srgbClr val="C00000"/>
                </a:solidFill>
                <a:latin typeface="微软雅黑" panose="020B0503020204020204" pitchFamily="34" charset="-122"/>
                <a:ea typeface="微软雅黑" panose="020B0503020204020204" pitchFamily="34" charset="-122"/>
              </a:rPr>
              <a:t>中国芯</a:t>
            </a:r>
            <a:r>
              <a:rPr lang="zh-CN" altLang="en-US" sz="2000" b="1" dirty="0">
                <a:latin typeface="微软雅黑" panose="020B0503020204020204" pitchFamily="34" charset="-122"/>
                <a:ea typeface="微软雅黑" panose="020B0503020204020204" pitchFamily="34" charset="-122"/>
              </a:rPr>
              <a:t>”的必修课。本节课程以</a:t>
            </a:r>
            <a:r>
              <a:rPr lang="zh-CN" altLang="en-US" sz="2000" b="1" dirty="0">
                <a:solidFill>
                  <a:srgbClr val="C00000"/>
                </a:solidFill>
                <a:latin typeface="微软雅黑" panose="020B0503020204020204" pitchFamily="34" charset="-122"/>
                <a:ea typeface="微软雅黑" panose="020B0503020204020204" pitchFamily="34" charset="-122"/>
              </a:rPr>
              <a:t>知识</a:t>
            </a:r>
            <a:r>
              <a:rPr lang="zh-CN" altLang="en-US" sz="2000" b="1" dirty="0">
                <a:latin typeface="微软雅黑" panose="020B0503020204020204" pitchFamily="34" charset="-122"/>
                <a:ea typeface="微软雅黑" panose="020B0503020204020204" pitchFamily="34" charset="-122"/>
              </a:rPr>
              <a:t>、</a:t>
            </a:r>
            <a:r>
              <a:rPr lang="zh-CN" altLang="en-US" sz="2000" b="1" dirty="0">
                <a:solidFill>
                  <a:srgbClr val="C00000"/>
                </a:solidFill>
                <a:latin typeface="微软雅黑" panose="020B0503020204020204" pitchFamily="34" charset="-122"/>
                <a:ea typeface="微软雅黑" panose="020B0503020204020204" pitchFamily="34" charset="-122"/>
              </a:rPr>
              <a:t>能力</a:t>
            </a:r>
            <a:r>
              <a:rPr lang="zh-CN" altLang="en-US" sz="2000" b="1" dirty="0">
                <a:latin typeface="微软雅黑" panose="020B0503020204020204" pitchFamily="34" charset="-122"/>
                <a:ea typeface="微软雅黑" panose="020B0503020204020204" pitchFamily="34" charset="-122"/>
              </a:rPr>
              <a:t>、</a:t>
            </a:r>
            <a:r>
              <a:rPr lang="zh-CN" altLang="en-US" sz="2000" b="1" dirty="0">
                <a:solidFill>
                  <a:srgbClr val="C00000"/>
                </a:solidFill>
                <a:latin typeface="微软雅黑" panose="020B0503020204020204" pitchFamily="34" charset="-122"/>
                <a:ea typeface="微软雅黑" panose="020B0503020204020204" pitchFamily="34" charset="-122"/>
              </a:rPr>
              <a:t>素质</a:t>
            </a:r>
            <a:r>
              <a:rPr lang="zh-CN" altLang="en-US" sz="2000" b="1" dirty="0">
                <a:latin typeface="微软雅黑" panose="020B0503020204020204" pitchFamily="34" charset="-122"/>
                <a:ea typeface="微软雅黑" panose="020B0503020204020204" pitchFamily="34" charset="-122"/>
              </a:rPr>
              <a:t>三维育人观为指导，介绍中断处理技术的主要原理及其设计理念，让学生理解计算机设计中的严谨性与科学性，理论与实践的统一性。并引导其深度思考计算机技术应用中的价值批判和工程伦理道德问题，将</a:t>
            </a:r>
            <a:r>
              <a:rPr lang="zh-CN" altLang="en-US" sz="2000" b="1" dirty="0">
                <a:solidFill>
                  <a:srgbClr val="C00000"/>
                </a:solidFill>
                <a:latin typeface="微软雅黑" panose="020B0503020204020204" pitchFamily="34" charset="-122"/>
                <a:ea typeface="微软雅黑" panose="020B0503020204020204" pitchFamily="34" charset="-122"/>
              </a:rPr>
              <a:t>全局意识</a:t>
            </a:r>
            <a:r>
              <a:rPr lang="zh-CN" altLang="en-US" sz="2000" b="1" dirty="0">
                <a:latin typeface="微软雅黑" panose="020B0503020204020204" pitchFamily="34" charset="-122"/>
                <a:ea typeface="微软雅黑" panose="020B0503020204020204" pitchFamily="34" charset="-122"/>
              </a:rPr>
              <a:t>和</a:t>
            </a:r>
            <a:r>
              <a:rPr lang="zh-CN" altLang="en-US" sz="2000" b="1" dirty="0">
                <a:solidFill>
                  <a:srgbClr val="C00000"/>
                </a:solidFill>
                <a:latin typeface="微软雅黑" panose="020B0503020204020204" pitchFamily="34" charset="-122"/>
                <a:ea typeface="微软雅黑" panose="020B0503020204020204" pitchFamily="34" charset="-122"/>
              </a:rPr>
              <a:t>核心意识</a:t>
            </a:r>
            <a:r>
              <a:rPr lang="zh-CN" altLang="en-US" sz="2000" b="1" dirty="0">
                <a:latin typeface="微软雅黑" panose="020B0503020204020204" pitchFamily="34" charset="-122"/>
                <a:ea typeface="微软雅黑" panose="020B0503020204020204" pitchFamily="34" charset="-122"/>
              </a:rPr>
              <a:t>与专业学习融合，培养其</a:t>
            </a:r>
            <a:r>
              <a:rPr lang="zh-CN" altLang="en-US" sz="2000" b="1" dirty="0">
                <a:solidFill>
                  <a:srgbClr val="C00000"/>
                </a:solidFill>
                <a:latin typeface="微软雅黑" panose="020B0503020204020204" pitchFamily="34" charset="-122"/>
                <a:ea typeface="微软雅黑" panose="020B0503020204020204" pitchFamily="34" charset="-122"/>
              </a:rPr>
              <a:t>精益求精</a:t>
            </a:r>
            <a:r>
              <a:rPr lang="zh-CN" altLang="en-US" sz="2000" b="1" dirty="0">
                <a:latin typeface="微软雅黑" panose="020B0503020204020204" pitchFamily="34" charset="-122"/>
                <a:ea typeface="微软雅黑" panose="020B0503020204020204" pitchFamily="34" charset="-122"/>
              </a:rPr>
              <a:t>的</a:t>
            </a:r>
            <a:r>
              <a:rPr lang="zh-CN" altLang="en-US" sz="2000" b="1" dirty="0">
                <a:solidFill>
                  <a:srgbClr val="C00000"/>
                </a:solidFill>
                <a:latin typeface="微软雅黑" panose="020B0503020204020204" pitchFamily="34" charset="-122"/>
                <a:ea typeface="微软雅黑" panose="020B0503020204020204" pitchFamily="34" charset="-122"/>
              </a:rPr>
              <a:t>工匠精神</a:t>
            </a:r>
            <a:r>
              <a:rPr lang="zh-CN" altLang="en-US" sz="2000" b="1" dirty="0">
                <a:latin typeface="微软雅黑" panose="020B0503020204020204" pitchFamily="34" charset="-122"/>
                <a:ea typeface="微软雅黑" panose="020B0503020204020204" pitchFamily="34" charset="-122"/>
              </a:rPr>
              <a:t>，逐步建立</a:t>
            </a:r>
            <a:r>
              <a:rPr lang="zh-CN" altLang="en-US" sz="2000" b="1" dirty="0">
                <a:solidFill>
                  <a:srgbClr val="C00000"/>
                </a:solidFill>
                <a:latin typeface="微软雅黑" panose="020B0503020204020204" pitchFamily="34" charset="-122"/>
                <a:ea typeface="微软雅黑" panose="020B0503020204020204" pitchFamily="34" charset="-122"/>
              </a:rPr>
              <a:t>系统观</a:t>
            </a:r>
            <a:r>
              <a:rPr lang="zh-CN" altLang="en-US" sz="2000" b="1" dirty="0">
                <a:latin typeface="微软雅黑" panose="020B0503020204020204" pitchFamily="34" charset="-122"/>
                <a:ea typeface="微软雅黑" panose="020B0503020204020204" pitchFamily="34" charset="-122"/>
              </a:rPr>
              <a:t>、</a:t>
            </a:r>
            <a:r>
              <a:rPr lang="zh-CN" altLang="en-US" sz="2000" b="1" dirty="0">
                <a:solidFill>
                  <a:srgbClr val="C00000"/>
                </a:solidFill>
                <a:latin typeface="微软雅黑" panose="020B0503020204020204" pitchFamily="34" charset="-122"/>
                <a:ea typeface="微软雅黑" panose="020B0503020204020204" pitchFamily="34" charset="-122"/>
              </a:rPr>
              <a:t>工程观</a:t>
            </a:r>
            <a:r>
              <a:rPr lang="zh-CN" altLang="en-US" sz="2000" b="1" dirty="0">
                <a:latin typeface="微软雅黑" panose="020B0503020204020204" pitchFamily="34" charset="-122"/>
                <a:ea typeface="微软雅黑" panose="020B0503020204020204" pitchFamily="34" charset="-122"/>
              </a:rPr>
              <a:t>以及</a:t>
            </a:r>
            <a:r>
              <a:rPr lang="zh-CN" altLang="en-US" sz="2000" b="1" dirty="0">
                <a:solidFill>
                  <a:srgbClr val="C00000"/>
                </a:solidFill>
                <a:latin typeface="微软雅黑" panose="020B0503020204020204" pitchFamily="34" charset="-122"/>
                <a:ea typeface="微软雅黑" panose="020B0503020204020204" pitchFamily="34" charset="-122"/>
              </a:rPr>
              <a:t>构造观</a:t>
            </a:r>
            <a:r>
              <a:rPr lang="zh-CN" altLang="en-US" sz="2000" b="1" dirty="0">
                <a:latin typeface="微软雅黑" panose="020B0503020204020204" pitchFamily="34" charset="-122"/>
                <a:ea typeface="微软雅黑" panose="020B0503020204020204" pitchFamily="34" charset="-122"/>
              </a:rPr>
              <a:t>。</a:t>
            </a:r>
            <a:endParaRPr lang="en-US" altLang="zh-CN" sz="2000" b="1" dirty="0">
              <a:latin typeface="微软雅黑" panose="020B0503020204020204" pitchFamily="34" charset="-122"/>
              <a:ea typeface="微软雅黑" panose="020B0503020204020204" pitchFamily="34" charset="-122"/>
            </a:endParaRPr>
          </a:p>
          <a:p>
            <a:r>
              <a:rPr lang="zh-CN" altLang="en-US" b="1" dirty="0">
                <a:latin typeface="微软雅黑" panose="020B0503020204020204" pitchFamily="34" charset="-122"/>
                <a:ea typeface="微软雅黑" panose="020B0503020204020204" pitchFamily="34" charset="-122"/>
              </a:rPr>
              <a:t>结合课程内容</a:t>
            </a:r>
            <a:endParaRPr lang="en-US" altLang="zh-CN" b="1" dirty="0">
              <a:latin typeface="微软雅黑" panose="020B0503020204020204" pitchFamily="34" charset="-122"/>
              <a:ea typeface="微软雅黑" panose="020B0503020204020204" pitchFamily="34" charset="-122"/>
            </a:endParaRPr>
          </a:p>
          <a:p>
            <a:pPr lvl="1">
              <a:buFont typeface="Wingdings" panose="05000000000000000000" pitchFamily="2" charset="2"/>
              <a:buChar char="p"/>
            </a:pPr>
            <a:r>
              <a:rPr lang="zh-CN" altLang="en-US" sz="2000" b="1" dirty="0">
                <a:latin typeface="微软雅黑" panose="020B0503020204020204" pitchFamily="34" charset="-122"/>
                <a:ea typeface="微软雅黑" panose="020B0503020204020204" pitchFamily="34" charset="-122"/>
              </a:rPr>
              <a:t>第</a:t>
            </a:r>
            <a:r>
              <a:rPr lang="en-US" altLang="zh-CN" sz="2000" b="1" dirty="0">
                <a:latin typeface="微软雅黑" panose="020B0503020204020204" pitchFamily="34" charset="-122"/>
                <a:ea typeface="微软雅黑" panose="020B0503020204020204" pitchFamily="34" charset="-122"/>
              </a:rPr>
              <a:t>6</a:t>
            </a:r>
            <a:r>
              <a:rPr lang="zh-CN" altLang="en-US" sz="2000" b="1" dirty="0">
                <a:latin typeface="微软雅黑" panose="020B0503020204020204" pitchFamily="34" charset="-122"/>
                <a:ea typeface="微软雅黑" panose="020B0503020204020204" pitchFamily="34" charset="-122"/>
              </a:rPr>
              <a:t>章 中央处理器  </a:t>
            </a:r>
            <a:endParaRPr lang="en-US" altLang="zh-CN" sz="2000" b="1" dirty="0">
              <a:latin typeface="微软雅黑" panose="020B0503020204020204" pitchFamily="34" charset="-122"/>
              <a:ea typeface="微软雅黑" panose="020B0503020204020204" pitchFamily="34" charset="-122"/>
            </a:endParaRPr>
          </a:p>
          <a:p>
            <a:pPr lvl="2">
              <a:buFont typeface="Wingdings" panose="05000000000000000000" pitchFamily="2" charset="2"/>
              <a:buChar char="p"/>
            </a:pPr>
            <a:r>
              <a:rPr lang="en-US" altLang="zh-CN" sz="2000" b="1" dirty="0">
                <a:solidFill>
                  <a:srgbClr val="133984"/>
                </a:solidFill>
                <a:latin typeface="微软雅黑" panose="020B0503020204020204" pitchFamily="34" charset="-122"/>
                <a:ea typeface="微软雅黑" panose="020B0503020204020204" pitchFamily="34" charset="-122"/>
              </a:rPr>
              <a:t>6.7 </a:t>
            </a:r>
            <a:r>
              <a:rPr lang="zh-CN" altLang="en-US" sz="2000" b="1" dirty="0">
                <a:solidFill>
                  <a:srgbClr val="133984"/>
                </a:solidFill>
                <a:latin typeface="微软雅黑" panose="020B0503020204020204" pitchFamily="34" charset="-122"/>
                <a:ea typeface="微软雅黑" panose="020B0503020204020204" pitchFamily="34" charset="-122"/>
              </a:rPr>
              <a:t>异常与中断处理</a:t>
            </a:r>
            <a:endParaRPr lang="en-US" altLang="zh-CN" sz="2000" b="1" dirty="0">
              <a:solidFill>
                <a:srgbClr val="133984"/>
              </a:solidFill>
              <a:latin typeface="微软雅黑" panose="020B0503020204020204" pitchFamily="34" charset="-122"/>
              <a:ea typeface="微软雅黑" panose="020B0503020204020204" pitchFamily="34" charset="-122"/>
            </a:endParaRPr>
          </a:p>
          <a:p>
            <a:pPr lvl="3">
              <a:buFont typeface="Wingdings" panose="05000000000000000000" pitchFamily="2" charset="2"/>
              <a:buChar char="n"/>
            </a:pPr>
            <a:r>
              <a:rPr lang="en-US" altLang="zh-CN" sz="1800" b="1" dirty="0">
                <a:solidFill>
                  <a:srgbClr val="133984"/>
                </a:solidFill>
                <a:latin typeface="微软雅黑" panose="020B0503020204020204" pitchFamily="34" charset="-122"/>
                <a:ea typeface="微软雅黑" panose="020B0503020204020204" pitchFamily="34" charset="-122"/>
              </a:rPr>
              <a:t>6.7.1 </a:t>
            </a:r>
            <a:r>
              <a:rPr lang="zh-CN" altLang="en-US" sz="1800" b="1" dirty="0">
                <a:solidFill>
                  <a:srgbClr val="133984"/>
                </a:solidFill>
                <a:latin typeface="微软雅黑" panose="020B0503020204020204" pitchFamily="34" charset="-122"/>
                <a:ea typeface="微软雅黑" panose="020B0503020204020204" pitchFamily="34" charset="-122"/>
              </a:rPr>
              <a:t>异常与中断的基本概念  </a:t>
            </a:r>
            <a:endParaRPr lang="en-US" altLang="zh-CN" sz="1800" b="1" dirty="0">
              <a:solidFill>
                <a:srgbClr val="133984"/>
              </a:solidFill>
              <a:latin typeface="微软雅黑" panose="020B0503020204020204" pitchFamily="34" charset="-122"/>
              <a:ea typeface="微软雅黑" panose="020B0503020204020204" pitchFamily="34" charset="-122"/>
            </a:endParaRPr>
          </a:p>
          <a:p>
            <a:pPr lvl="3">
              <a:buFont typeface="Wingdings" panose="05000000000000000000" pitchFamily="2" charset="2"/>
              <a:buChar char="n"/>
            </a:pPr>
            <a:r>
              <a:rPr lang="en-US" altLang="zh-CN" sz="1800" b="1" dirty="0">
                <a:solidFill>
                  <a:srgbClr val="133984"/>
                </a:solidFill>
                <a:latin typeface="微软雅黑" panose="020B0503020204020204" pitchFamily="34" charset="-122"/>
                <a:ea typeface="微软雅黑" panose="020B0503020204020204" pitchFamily="34" charset="-122"/>
              </a:rPr>
              <a:t>6.7.2 </a:t>
            </a:r>
            <a:r>
              <a:rPr lang="zh-CN" altLang="en-US" sz="1800" b="1" dirty="0">
                <a:solidFill>
                  <a:srgbClr val="133984"/>
                </a:solidFill>
                <a:latin typeface="微软雅黑" panose="020B0503020204020204" pitchFamily="34" charset="-122"/>
                <a:ea typeface="微软雅黑" panose="020B0503020204020204" pitchFamily="34" charset="-122"/>
              </a:rPr>
              <a:t>异常与中断处理过程    </a:t>
            </a:r>
            <a:endParaRPr lang="en-US" altLang="zh-CN" sz="1800" b="1" dirty="0">
              <a:solidFill>
                <a:srgbClr val="133984"/>
              </a:solidFill>
              <a:latin typeface="微软雅黑" panose="020B0503020204020204" pitchFamily="34" charset="-122"/>
              <a:ea typeface="微软雅黑" panose="020B0503020204020204" pitchFamily="34" charset="-122"/>
            </a:endParaRPr>
          </a:p>
          <a:p>
            <a:pPr lvl="3">
              <a:buFont typeface="Wingdings" panose="05000000000000000000" pitchFamily="2" charset="2"/>
              <a:buChar char="n"/>
            </a:pPr>
            <a:r>
              <a:rPr lang="en-US" altLang="zh-CN" sz="1800" b="1" dirty="0">
                <a:solidFill>
                  <a:srgbClr val="133984"/>
                </a:solidFill>
                <a:latin typeface="微软雅黑" panose="020B0503020204020204" pitchFamily="34" charset="-122"/>
                <a:ea typeface="微软雅黑" panose="020B0503020204020204" pitchFamily="34" charset="-122"/>
              </a:rPr>
              <a:t>6.7.3 </a:t>
            </a:r>
            <a:r>
              <a:rPr lang="zh-CN" altLang="en-US" sz="1800" b="1" dirty="0">
                <a:solidFill>
                  <a:srgbClr val="133984"/>
                </a:solidFill>
                <a:latin typeface="微软雅黑" panose="020B0503020204020204" pitchFamily="34" charset="-122"/>
                <a:ea typeface="微软雅黑" panose="020B0503020204020204" pitchFamily="34" charset="-122"/>
              </a:rPr>
              <a:t>中断处理中的技术</a:t>
            </a:r>
            <a:endParaRPr lang="en-US" altLang="zh-CN" sz="1800" b="1" dirty="0">
              <a:solidFill>
                <a:srgbClr val="133984"/>
              </a:solidFill>
              <a:latin typeface="微软雅黑" panose="020B0503020204020204" pitchFamily="34" charset="-122"/>
              <a:ea typeface="微软雅黑" panose="020B0503020204020204" pitchFamily="34" charset="-122"/>
            </a:endParaRPr>
          </a:p>
          <a:p>
            <a:pPr lvl="3">
              <a:buFont typeface="Wingdings" panose="05000000000000000000" pitchFamily="2" charset="2"/>
              <a:buChar char="n"/>
            </a:pPr>
            <a:r>
              <a:rPr lang="en-US" altLang="zh-CN" sz="1800" b="1" dirty="0">
                <a:solidFill>
                  <a:srgbClr val="133984"/>
                </a:solidFill>
                <a:latin typeface="微软雅黑" panose="020B0503020204020204" pitchFamily="34" charset="-122"/>
                <a:ea typeface="微软雅黑" panose="020B0503020204020204" pitchFamily="34" charset="-122"/>
              </a:rPr>
              <a:t>6.7.4 </a:t>
            </a:r>
            <a:r>
              <a:rPr lang="zh-CN" altLang="en-US" sz="1800" b="1" dirty="0">
                <a:solidFill>
                  <a:srgbClr val="133984"/>
                </a:solidFill>
                <a:latin typeface="微软雅黑" panose="020B0503020204020204" pitchFamily="34" charset="-122"/>
                <a:ea typeface="微软雅黑" panose="020B0503020204020204" pitchFamily="34" charset="-122"/>
              </a:rPr>
              <a:t>支持中断的</a:t>
            </a:r>
            <a:r>
              <a:rPr lang="en-US" altLang="zh-CN" sz="1800" b="1" dirty="0">
                <a:solidFill>
                  <a:srgbClr val="133984"/>
                </a:solidFill>
                <a:latin typeface="微软雅黑" panose="020B0503020204020204" pitchFamily="34" charset="-122"/>
                <a:ea typeface="微软雅黑" panose="020B0503020204020204" pitchFamily="34" charset="-122"/>
              </a:rPr>
              <a:t>CPU</a:t>
            </a:r>
            <a:r>
              <a:rPr lang="zh-CN" altLang="en-US" sz="1800" b="1" dirty="0">
                <a:solidFill>
                  <a:srgbClr val="133984"/>
                </a:solidFill>
                <a:latin typeface="微软雅黑" panose="020B0503020204020204" pitchFamily="34" charset="-122"/>
                <a:ea typeface="微软雅黑" panose="020B0503020204020204" pitchFamily="34" charset="-122"/>
              </a:rPr>
              <a:t>设计</a:t>
            </a:r>
            <a:endParaRPr lang="en-US" altLang="zh-CN" sz="1800" b="1" dirty="0">
              <a:solidFill>
                <a:srgbClr val="133984"/>
              </a:solidFill>
              <a:latin typeface="微软雅黑" panose="020B0503020204020204" pitchFamily="34" charset="-122"/>
              <a:ea typeface="微软雅黑" panose="020B0503020204020204" pitchFamily="34" charset="-122"/>
            </a:endParaRPr>
          </a:p>
          <a:p>
            <a:pPr lvl="3">
              <a:buFont typeface="Wingdings" panose="05000000000000000000" pitchFamily="2" charset="2"/>
              <a:buChar char="n"/>
            </a:pPr>
            <a:r>
              <a:rPr lang="zh-CN" altLang="en-US" sz="1800" b="1" dirty="0">
                <a:solidFill>
                  <a:srgbClr val="133984"/>
                </a:solidFill>
                <a:latin typeface="微软雅黑" panose="020B0503020204020204" pitchFamily="34" charset="-122"/>
                <a:ea typeface="微软雅黑" panose="020B0503020204020204" pitchFamily="34" charset="-122"/>
              </a:rPr>
              <a:t>实训：基于</a:t>
            </a:r>
            <a:r>
              <a:rPr lang="en-US" altLang="zh-CN" sz="1800" b="1" dirty="0">
                <a:solidFill>
                  <a:srgbClr val="133984"/>
                </a:solidFill>
                <a:latin typeface="微软雅黑" panose="020B0503020204020204" pitchFamily="34" charset="-122"/>
                <a:ea typeface="微软雅黑" panose="020B0503020204020204" pitchFamily="34" charset="-122"/>
              </a:rPr>
              <a:t>Logisim</a:t>
            </a:r>
            <a:r>
              <a:rPr lang="zh-CN" altLang="en-US" sz="1800" b="1" dirty="0">
                <a:solidFill>
                  <a:srgbClr val="133984"/>
                </a:solidFill>
                <a:latin typeface="微软雅黑" panose="020B0503020204020204" pitchFamily="34" charset="-122"/>
                <a:ea typeface="微软雅黑" panose="020B0503020204020204" pitchFamily="34" charset="-122"/>
              </a:rPr>
              <a:t>的实践训练</a:t>
            </a:r>
            <a:endParaRPr lang="en-US" altLang="zh-CN" sz="1800" b="1" dirty="0">
              <a:solidFill>
                <a:srgbClr val="133984"/>
              </a:solidFill>
              <a:latin typeface="微软雅黑" panose="020B0503020204020204" pitchFamily="34" charset="-122"/>
              <a:ea typeface="微软雅黑" panose="020B0503020204020204" pitchFamily="34" charset="-122"/>
            </a:endParaRPr>
          </a:p>
          <a:p>
            <a:pPr marL="0" indent="0">
              <a:buNone/>
            </a:pPr>
            <a:endParaRPr lang="en-US" altLang="zh-CN" sz="2400" b="1" dirty="0">
              <a:latin typeface="微软雅黑" panose="020B0503020204020204" pitchFamily="34" charset="-122"/>
              <a:ea typeface="微软雅黑" panose="020B0503020204020204" pitchFamily="34" charset="-122"/>
            </a:endParaRPr>
          </a:p>
          <a:p>
            <a:pPr marL="0" indent="0">
              <a:buNone/>
            </a:pPr>
            <a:endParaRPr lang="en-US" altLang="zh-CN" sz="2400" b="1" dirty="0">
              <a:latin typeface="微软雅黑" panose="020B0503020204020204" pitchFamily="34" charset="-122"/>
              <a:ea typeface="微软雅黑" panose="020B0503020204020204" pitchFamily="34" charset="-122"/>
            </a:endParaRPr>
          </a:p>
          <a:p>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178489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a:xfrm>
            <a:off x="2632364" y="237845"/>
            <a:ext cx="5487107" cy="475384"/>
          </a:xfrm>
        </p:spPr>
        <p:txBody>
          <a:bodyPr rtlCol="0">
            <a:normAutofit fontScale="90000"/>
          </a:bodyPr>
          <a:lstStyle/>
          <a:p>
            <a:pPr>
              <a:defRPr/>
            </a:pPr>
            <a:r>
              <a:rPr lang="en-US" altLang="zh-CN" b="1" dirty="0">
                <a:effectLst/>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rPr>
              <a:t>6.7  </a:t>
            </a:r>
            <a:r>
              <a:rPr lang="zh-CN" altLang="en-US" b="1" dirty="0">
                <a:latin typeface="微软雅黑" panose="020B0503020204020204" pitchFamily="34" charset="-122"/>
                <a:ea typeface="微软雅黑" panose="020B0503020204020204" pitchFamily="34" charset="-122"/>
              </a:rPr>
              <a:t>异常与中断处理</a:t>
            </a:r>
            <a:endParaRPr lang="zh-CN" altLang="en-US" dirty="0">
              <a:latin typeface="微软雅黑" panose="020B0503020204020204" pitchFamily="34" charset="-122"/>
              <a:ea typeface="微软雅黑" panose="020B0503020204020204" pitchFamily="34" charset="-122"/>
            </a:endParaRPr>
          </a:p>
        </p:txBody>
      </p:sp>
      <p:sp>
        <p:nvSpPr>
          <p:cNvPr id="6" name="内容占位符 2">
            <a:extLst>
              <a:ext uri="{FF2B5EF4-FFF2-40B4-BE49-F238E27FC236}">
                <a16:creationId xmlns:a16="http://schemas.microsoft.com/office/drawing/2014/main" id="{AE0BA04D-BF63-44EB-B00C-AA88B596EFF3}"/>
              </a:ext>
            </a:extLst>
          </p:cNvPr>
          <p:cNvSpPr>
            <a:spLocks noGrp="1"/>
          </p:cNvSpPr>
          <p:nvPr>
            <p:ph idx="1"/>
          </p:nvPr>
        </p:nvSpPr>
        <p:spPr>
          <a:xfrm>
            <a:off x="608893" y="987497"/>
            <a:ext cx="8845823" cy="5632658"/>
          </a:xfrm>
        </p:spPr>
        <p:txBody>
          <a:bodyPr rtlCol="0">
            <a:normAutofit fontScale="92500" lnSpcReduction="20000"/>
          </a:bodyPr>
          <a:lstStyle/>
          <a:p>
            <a:pPr>
              <a:lnSpc>
                <a:spcPct val="140000"/>
              </a:lnSpc>
              <a:defRPr/>
            </a:pPr>
            <a:r>
              <a:rPr lang="zh-CN" altLang="en-US" sz="2200" b="1" dirty="0">
                <a:latin typeface="Calibri" panose="020F0502020204030204" pitchFamily="34" charset="0"/>
                <a:ea typeface="微软雅黑" panose="020B0503020204020204" pitchFamily="34" charset="-122"/>
                <a:cs typeface="Calibri" panose="020F0502020204030204" pitchFamily="34" charset="0"/>
              </a:rPr>
              <a:t>计算机系统中引入中断技术，是为了实现</a:t>
            </a:r>
            <a:r>
              <a:rPr lang="zh-CN" altLang="en-US" sz="22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人机交互</a:t>
            </a:r>
            <a:r>
              <a:rPr lang="zh-CN" altLang="en-US" sz="2200" b="1" dirty="0">
                <a:latin typeface="Calibri" panose="020F0502020204030204" pitchFamily="34" charset="0"/>
                <a:ea typeface="微软雅黑" panose="020B0503020204020204" pitchFamily="34" charset="-122"/>
                <a:cs typeface="Calibri" panose="020F0502020204030204" pitchFamily="34" charset="0"/>
              </a:rPr>
              <a:t>，</a:t>
            </a:r>
            <a:r>
              <a:rPr lang="zh-CN" altLang="en-US" sz="22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故障处理</a:t>
            </a:r>
            <a:r>
              <a:rPr lang="zh-CN" altLang="en-US" sz="2200" b="1" dirty="0">
                <a:latin typeface="Calibri" panose="020F0502020204030204" pitchFamily="34" charset="0"/>
                <a:ea typeface="微软雅黑" panose="020B0503020204020204" pitchFamily="34" charset="-122"/>
                <a:cs typeface="Calibri" panose="020F0502020204030204" pitchFamily="34" charset="0"/>
              </a:rPr>
              <a:t>，</a:t>
            </a:r>
            <a:r>
              <a:rPr lang="zh-CN" altLang="en-US" sz="22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实时控制</a:t>
            </a:r>
            <a:r>
              <a:rPr lang="zh-CN" altLang="en-US" sz="2200" b="1" dirty="0">
                <a:latin typeface="Calibri" panose="020F0502020204030204" pitchFamily="34" charset="0"/>
                <a:ea typeface="微软雅黑" panose="020B0503020204020204" pitchFamily="34" charset="-122"/>
                <a:cs typeface="Calibri" panose="020F0502020204030204" pitchFamily="34" charset="0"/>
              </a:rPr>
              <a:t>以及提升其</a:t>
            </a:r>
            <a:r>
              <a:rPr lang="zh-CN" altLang="en-US" sz="22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并行性</a:t>
            </a:r>
            <a:r>
              <a:rPr lang="zh-CN" altLang="en-US" sz="2200" b="1" dirty="0">
                <a:latin typeface="Calibri" panose="020F0502020204030204" pitchFamily="34" charset="0"/>
                <a:ea typeface="微软雅黑" panose="020B0503020204020204" pitchFamily="34" charset="-122"/>
                <a:cs typeface="Calibri" panose="020F0502020204030204" pitchFamily="34" charset="0"/>
              </a:rPr>
              <a:t>的需要。中断技术来源于实际需求，又应用于实际场景，体现了</a:t>
            </a:r>
            <a:r>
              <a:rPr lang="zh-CN" altLang="en-US" sz="22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理论与实践</a:t>
            </a:r>
            <a:r>
              <a:rPr lang="zh-CN" altLang="en-US" sz="2200" b="1" dirty="0">
                <a:latin typeface="Calibri" panose="020F0502020204030204" pitchFamily="34" charset="0"/>
                <a:ea typeface="微软雅黑" panose="020B0503020204020204" pitchFamily="34" charset="-122"/>
                <a:cs typeface="Calibri" panose="020F0502020204030204" pitchFamily="34" charset="0"/>
              </a:rPr>
              <a:t>的辩证统一。</a:t>
            </a:r>
            <a:endParaRPr lang="en-US" altLang="zh-CN" sz="2200" b="1" dirty="0">
              <a:latin typeface="Calibri" panose="020F0502020204030204" pitchFamily="34" charset="0"/>
              <a:ea typeface="微软雅黑" panose="020B0503020204020204" pitchFamily="34" charset="-122"/>
              <a:cs typeface="Calibri" panose="020F0502020204030204" pitchFamily="34" charset="0"/>
            </a:endParaRPr>
          </a:p>
          <a:p>
            <a:pPr>
              <a:lnSpc>
                <a:spcPct val="120000"/>
              </a:lnSpc>
              <a:defRPr/>
            </a:pPr>
            <a:r>
              <a:rPr lang="en-US" altLang="zh-CN" sz="2200" b="1" dirty="0">
                <a:latin typeface="Calibri" panose="020F0502020204030204" pitchFamily="34" charset="0"/>
                <a:ea typeface="Calibri" panose="020F0502020204030204" pitchFamily="34" charset="0"/>
                <a:cs typeface="Calibri" panose="020F0502020204030204" pitchFamily="34" charset="0"/>
              </a:rPr>
              <a:t>6.7.1  </a:t>
            </a:r>
            <a:r>
              <a:rPr lang="zh-CN" altLang="en-US" sz="2200" b="1" dirty="0">
                <a:latin typeface="Calibri" panose="020F0502020204030204" pitchFamily="34" charset="0"/>
                <a:ea typeface="微软雅黑" panose="020B0503020204020204" pitchFamily="34" charset="-122"/>
                <a:cs typeface="Calibri" panose="020F0502020204030204" pitchFamily="34" charset="0"/>
              </a:rPr>
              <a:t>异常与中断的基本概念</a:t>
            </a:r>
            <a:endParaRPr lang="en-US" altLang="zh-CN" sz="2200" b="1" dirty="0">
              <a:latin typeface="Calibri" panose="020F0502020204030204" pitchFamily="34" charset="0"/>
              <a:ea typeface="Calibri" panose="020F0502020204030204" pitchFamily="34" charset="0"/>
              <a:cs typeface="Calibri" panose="020F0502020204030204" pitchFamily="34" charset="0"/>
            </a:endParaRPr>
          </a:p>
          <a:p>
            <a:pPr lvl="1" eaLnBrk="1" hangingPunct="1"/>
            <a:endParaRPr lang="en-US" altLang="zh-CN" sz="400" b="1" dirty="0">
              <a:latin typeface="Calibri" panose="020F0502020204030204" pitchFamily="34" charset="0"/>
              <a:ea typeface="Calibri" panose="020F0502020204030204" pitchFamily="34" charset="0"/>
              <a:cs typeface="Calibri" panose="020F0502020204030204" pitchFamily="34" charset="0"/>
            </a:endParaRPr>
          </a:p>
          <a:p>
            <a:pPr lvl="1" eaLnBrk="1" hangingPunct="1">
              <a:buFont typeface="Wingdings" panose="05000000000000000000" pitchFamily="2" charset="2"/>
              <a:buChar char="p"/>
            </a:pP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异常</a:t>
            </a:r>
            <a:r>
              <a:rPr lang="zh-CN" altLang="en-US" sz="1800" b="1" dirty="0">
                <a:latin typeface="Calibri" panose="020F0502020204030204" pitchFamily="34" charset="0"/>
                <a:ea typeface="微软雅黑" panose="020B0503020204020204" pitchFamily="34" charset="-122"/>
                <a:cs typeface="Calibri" panose="020F0502020204030204" pitchFamily="34" charset="0"/>
              </a:rPr>
              <a:t>（</a:t>
            </a:r>
            <a:r>
              <a:rPr lang="en-US" altLang="zh-CN" sz="1800" b="1" dirty="0">
                <a:latin typeface="Calibri" panose="020F0502020204030204" pitchFamily="34" charset="0"/>
                <a:ea typeface="Calibri" panose="020F0502020204030204" pitchFamily="34" charset="0"/>
                <a:cs typeface="Calibri" panose="020F0502020204030204" pitchFamily="34" charset="0"/>
              </a:rPr>
              <a:t>Exception</a:t>
            </a:r>
            <a:r>
              <a:rPr lang="zh-CN" altLang="en-US" sz="1800" b="1" dirty="0">
                <a:latin typeface="Calibri" panose="020F0502020204030204" pitchFamily="34" charset="0"/>
                <a:ea typeface="微软雅黑" panose="020B0503020204020204" pitchFamily="34" charset="-122"/>
                <a:cs typeface="Calibri" panose="020F0502020204030204" pitchFamily="34" charset="0"/>
              </a:rPr>
              <a:t>）：通常是指</a:t>
            </a:r>
            <a:r>
              <a:rPr lang="en-US" altLang="zh-CN" sz="1800" b="1" dirty="0">
                <a:latin typeface="Calibri" panose="020F0502020204030204" pitchFamily="34" charset="0"/>
                <a:ea typeface="微软雅黑" panose="020B0503020204020204" pitchFamily="34" charset="-122"/>
                <a:cs typeface="Calibri" panose="020F0502020204030204" pitchFamily="34" charset="0"/>
              </a:rPr>
              <a:t>CPU</a:t>
            </a:r>
            <a:r>
              <a:rPr lang="zh-CN" altLang="en-US" sz="1800" b="1" dirty="0">
                <a:latin typeface="Calibri" panose="020F0502020204030204" pitchFamily="34" charset="0"/>
                <a:ea typeface="微软雅黑" panose="020B0503020204020204" pitchFamily="34" charset="-122"/>
                <a:cs typeface="Calibri" panose="020F0502020204030204" pitchFamily="34" charset="0"/>
              </a:rPr>
              <a:t>内部引起的异常事件，也称为</a:t>
            </a: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内部中断</a:t>
            </a:r>
            <a:r>
              <a:rPr lang="zh-CN" altLang="en-US" sz="1800" b="1" dirty="0">
                <a:latin typeface="Calibri" panose="020F0502020204030204" pitchFamily="34" charset="0"/>
                <a:ea typeface="微软雅黑" panose="020B0503020204020204" pitchFamily="34" charset="-122"/>
                <a:cs typeface="Calibri" panose="020F0502020204030204" pitchFamily="34" charset="0"/>
              </a:rPr>
              <a:t>、</a:t>
            </a: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软件中断。</a:t>
            </a:r>
            <a:r>
              <a:rPr lang="zh-CN" altLang="en-US" sz="1800" b="1" dirty="0">
                <a:latin typeface="Calibri" panose="020F0502020204030204" pitchFamily="34" charset="0"/>
                <a:ea typeface="微软雅黑" panose="020B0503020204020204" pitchFamily="34" charset="-122"/>
                <a:cs typeface="Calibri" panose="020F0502020204030204" pitchFamily="34" charset="0"/>
              </a:rPr>
              <a:t>可以进一步分为：故障、自陷、终止。</a:t>
            </a:r>
            <a:endParaRPr lang="en-US" altLang="zh-CN" sz="1800" b="1" dirty="0">
              <a:latin typeface="Calibri" panose="020F0502020204030204" pitchFamily="34" charset="0"/>
              <a:ea typeface="Calibri" panose="020F0502020204030204" pitchFamily="34" charset="0"/>
              <a:cs typeface="Calibri" panose="020F0502020204030204" pitchFamily="34" charset="0"/>
            </a:endParaRPr>
          </a:p>
          <a:p>
            <a:pPr marL="1255713" lvl="2" indent="-341313">
              <a:lnSpc>
                <a:spcPct val="110000"/>
              </a:lnSpc>
              <a:buFont typeface="Wingdings" panose="05000000000000000000" pitchFamily="2" charset="2"/>
              <a:buChar char="n"/>
            </a:pP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故障</a:t>
            </a:r>
            <a:r>
              <a:rPr lang="zh-CN" altLang="en-US" sz="1800" b="1" dirty="0">
                <a:latin typeface="Calibri" panose="020F0502020204030204" pitchFamily="34" charset="0"/>
                <a:ea typeface="微软雅黑" panose="020B0503020204020204" pitchFamily="34" charset="-122"/>
                <a:cs typeface="Calibri" panose="020F0502020204030204" pitchFamily="34" charset="0"/>
              </a:rPr>
              <a:t>（</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Fault</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）：通常是</a:t>
            </a: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由指令执行引起</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的异常，如未定义指令、越权指令、段故障、缺页故障、存储保护违例、数据未对齐、除数为零、浮点溢出、整数溢出等；故障又可分为：可恢复故障（如数据缺页）和不可恢复故障（如未定义指令、越权指令等）。</a:t>
            </a:r>
            <a:endPar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marL="1255713" lvl="2" indent="-341313">
              <a:lnSpc>
                <a:spcPct val="110000"/>
              </a:lnSpc>
              <a:buFont typeface="Wingdings" panose="05000000000000000000" pitchFamily="2" charset="2"/>
              <a:buChar char="n"/>
            </a:pP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自陷</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Trap</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）：是一种</a:t>
            </a: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事先安排</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的“异常”事件；如系统调用指令、条件陷阱指令；例如</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x86</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的</a:t>
            </a:r>
            <a:r>
              <a:rPr lang="en-US" altLang="zh-CN"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INT 21H</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指令，</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MIPS</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的</a:t>
            </a:r>
            <a:r>
              <a:rPr lang="en-US" altLang="zh-CN"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syscall</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指令。</a:t>
            </a:r>
            <a:endPar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marL="1255713" lvl="2" indent="-341313">
              <a:lnSpc>
                <a:spcPct val="110000"/>
              </a:lnSpc>
              <a:buFont typeface="Wingdings" panose="05000000000000000000" pitchFamily="2" charset="2"/>
              <a:buChar char="n"/>
            </a:pP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终止</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Abort</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）：是指随机出现的使得</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CPU</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无法继续执行的</a:t>
            </a: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硬件故障</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，和具体指令无关；如机器校验错、总线错误、异常处理中再次异常的双错等。</a:t>
            </a:r>
            <a:endPar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marL="914400" lvl="2" indent="0">
              <a:lnSpc>
                <a:spcPct val="110000"/>
              </a:lnSpc>
              <a:buNone/>
            </a:pPr>
            <a:endParaRPr lang="en-US" altLang="zh-CN" sz="1100" b="1" dirty="0">
              <a:latin typeface="Calibri" panose="020F0502020204030204" pitchFamily="34" charset="0"/>
              <a:ea typeface="Calibri" panose="020F0502020204030204" pitchFamily="34" charset="0"/>
              <a:cs typeface="Calibri" panose="020F0502020204030204" pitchFamily="34" charset="0"/>
            </a:endParaRPr>
          </a:p>
          <a:p>
            <a:pPr lvl="1" eaLnBrk="1" hangingPunct="1">
              <a:buFont typeface="Wingdings" panose="05000000000000000000" pitchFamily="2" charset="2"/>
              <a:buChar char="p"/>
            </a:pP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中断</a:t>
            </a:r>
            <a:r>
              <a:rPr lang="zh-CN" altLang="en-US" sz="1800" b="1" dirty="0">
                <a:latin typeface="Calibri" panose="020F0502020204030204" pitchFamily="34" charset="0"/>
                <a:ea typeface="微软雅黑" panose="020B0503020204020204" pitchFamily="34" charset="-122"/>
                <a:cs typeface="Calibri" panose="020F0502020204030204" pitchFamily="34" charset="0"/>
              </a:rPr>
              <a:t>（外部中断</a:t>
            </a:r>
            <a:r>
              <a:rPr lang="en-US" altLang="zh-CN" sz="1800" b="1" dirty="0">
                <a:latin typeface="Calibri" panose="020F0502020204030204" pitchFamily="34" charset="0"/>
                <a:ea typeface="Calibri" panose="020F0502020204030204" pitchFamily="34" charset="0"/>
                <a:cs typeface="Calibri" panose="020F0502020204030204" pitchFamily="34" charset="0"/>
              </a:rPr>
              <a:t>Interrupt</a:t>
            </a:r>
            <a:r>
              <a:rPr lang="zh-CN" altLang="en-US" sz="1800" b="1" dirty="0">
                <a:latin typeface="Calibri" panose="020F0502020204030204" pitchFamily="34" charset="0"/>
                <a:ea typeface="微软雅黑" panose="020B0503020204020204" pitchFamily="34" charset="-122"/>
                <a:cs typeface="Calibri" panose="020F0502020204030204" pitchFamily="34" charset="0"/>
              </a:rPr>
              <a:t>）：是</a:t>
            </a: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指由外部设备</a:t>
            </a:r>
            <a:r>
              <a:rPr lang="zh-CN" altLang="en-US" sz="1800" b="1" dirty="0">
                <a:latin typeface="Calibri" panose="020F0502020204030204" pitchFamily="34" charset="0"/>
                <a:ea typeface="微软雅黑" panose="020B0503020204020204" pitchFamily="34" charset="-122"/>
                <a:cs typeface="Calibri" panose="020F0502020204030204" pitchFamily="34" charset="0"/>
              </a:rPr>
              <a:t>向</a:t>
            </a:r>
            <a:r>
              <a:rPr lang="en-US" altLang="zh-CN" sz="1800" b="1" dirty="0">
                <a:latin typeface="Calibri" panose="020F0502020204030204" pitchFamily="34" charset="0"/>
                <a:ea typeface="Calibri" panose="020F0502020204030204" pitchFamily="34" charset="0"/>
                <a:cs typeface="Calibri" panose="020F0502020204030204" pitchFamily="34" charset="0"/>
              </a:rPr>
              <a:t>CPU</a:t>
            </a:r>
            <a:r>
              <a:rPr lang="zh-CN" altLang="en-US" sz="1800" b="1" dirty="0">
                <a:latin typeface="Calibri" panose="020F0502020204030204" pitchFamily="34" charset="0"/>
                <a:ea typeface="微软雅黑" panose="020B0503020204020204" pitchFamily="34" charset="-122"/>
                <a:cs typeface="Calibri" panose="020F0502020204030204" pitchFamily="34" charset="0"/>
              </a:rPr>
              <a:t>发出的</a:t>
            </a: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中断请求</a:t>
            </a:r>
            <a:r>
              <a:rPr lang="zh-CN" altLang="en-US" sz="1800" b="1" dirty="0">
                <a:latin typeface="Calibri" panose="020F0502020204030204" pitchFamily="34" charset="0"/>
                <a:ea typeface="微软雅黑" panose="020B0503020204020204" pitchFamily="34" charset="-122"/>
                <a:cs typeface="Calibri" panose="020F0502020204030204" pitchFamily="34" charset="0"/>
              </a:rPr>
              <a:t>（如鼠标点击、按键动作等），要求</a:t>
            </a:r>
            <a:r>
              <a:rPr lang="en-US" altLang="zh-CN" sz="1800" b="1" dirty="0">
                <a:latin typeface="Calibri" panose="020F0502020204030204" pitchFamily="34" charset="0"/>
                <a:ea typeface="Calibri" panose="020F0502020204030204" pitchFamily="34" charset="0"/>
                <a:cs typeface="Calibri" panose="020F0502020204030204" pitchFamily="34" charset="0"/>
              </a:rPr>
              <a:t>CPU</a:t>
            </a:r>
            <a:r>
              <a:rPr lang="zh-CN" altLang="en-US" sz="1800" b="1" dirty="0">
                <a:latin typeface="Calibri" panose="020F0502020204030204" pitchFamily="34" charset="0"/>
                <a:ea typeface="微软雅黑" panose="020B0503020204020204" pitchFamily="34" charset="-122"/>
                <a:cs typeface="Calibri" panose="020F0502020204030204" pitchFamily="34" charset="0"/>
              </a:rPr>
              <a:t>暂停当前正在执行的程序，转去执行为某个外部设备事件服务的中断服务程序，处理完毕后，再返回</a:t>
            </a: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断点</a:t>
            </a:r>
            <a:r>
              <a:rPr lang="zh-CN" altLang="en-US" sz="1800" b="1" dirty="0">
                <a:latin typeface="Calibri" panose="020F0502020204030204" pitchFamily="34" charset="0"/>
                <a:ea typeface="微软雅黑" panose="020B0503020204020204" pitchFamily="34" charset="-122"/>
                <a:cs typeface="Calibri" panose="020F0502020204030204" pitchFamily="34" charset="0"/>
              </a:rPr>
              <a:t>继续执行（</a:t>
            </a: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如图</a:t>
            </a:r>
            <a:r>
              <a:rPr lang="en-US" altLang="zh-CN"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6.1</a:t>
            </a: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所示</a:t>
            </a:r>
            <a:r>
              <a:rPr lang="zh-CN" altLang="en-US" sz="1800" b="1" dirty="0">
                <a:latin typeface="Calibri" panose="020F0502020204030204" pitchFamily="34" charset="0"/>
                <a:ea typeface="微软雅黑" panose="020B0503020204020204" pitchFamily="34" charset="-122"/>
                <a:cs typeface="Calibri" panose="020F0502020204030204" pitchFamily="34" charset="0"/>
              </a:rPr>
              <a:t>）。</a:t>
            </a:r>
            <a:endParaRPr lang="en-US" altLang="zh-CN" sz="1800" b="1" dirty="0">
              <a:latin typeface="Calibri" panose="020F0502020204030204" pitchFamily="34" charset="0"/>
              <a:ea typeface="微软雅黑" panose="020B0503020204020204" pitchFamily="34" charset="-122"/>
              <a:cs typeface="Calibri" panose="020F0502020204030204" pitchFamily="34" charset="0"/>
            </a:endParaRPr>
          </a:p>
          <a:p>
            <a:pPr lvl="1" eaLnBrk="1" hangingPunct="1">
              <a:buFont typeface="Wingdings" panose="05000000000000000000" pitchFamily="2" charset="2"/>
              <a:buChar char="p"/>
            </a:pPr>
            <a:endParaRPr lang="en-US" altLang="zh-CN" sz="1600" b="1" dirty="0">
              <a:latin typeface="Calibri" panose="020F0502020204030204" pitchFamily="34" charset="0"/>
              <a:ea typeface="微软雅黑" panose="020B0503020204020204" pitchFamily="34" charset="-122"/>
              <a:cs typeface="Calibri" panose="020F0502020204030204" pitchFamily="34" charset="0"/>
            </a:endParaRPr>
          </a:p>
          <a:p>
            <a:pPr lvl="1" eaLnBrk="1" hangingPunct="1">
              <a:buFont typeface="Wingdings" panose="05000000000000000000" pitchFamily="2" charset="2"/>
              <a:buChar char="p"/>
            </a:pPr>
            <a:r>
              <a:rPr lang="zh-CN" altLang="en-US" sz="1800" b="1" dirty="0">
                <a:latin typeface="Calibri" panose="020F0502020204030204" pitchFamily="34" charset="0"/>
                <a:ea typeface="Calibri" panose="020F0502020204030204" pitchFamily="34" charset="0"/>
                <a:cs typeface="Calibri" panose="020F0502020204030204" pitchFamily="34" charset="0"/>
              </a:rPr>
              <a:t>不同</a:t>
            </a:r>
            <a:r>
              <a:rPr lang="en-US" altLang="zh-CN" sz="1800" b="1" dirty="0">
                <a:latin typeface="Calibri" panose="020F0502020204030204" pitchFamily="34" charset="0"/>
                <a:ea typeface="Calibri" panose="020F0502020204030204" pitchFamily="34" charset="0"/>
                <a:cs typeface="Calibri" panose="020F0502020204030204" pitchFamily="34" charset="0"/>
              </a:rPr>
              <a:t>ISA</a:t>
            </a:r>
            <a:r>
              <a:rPr lang="zh-CN" altLang="en-US" sz="1800" b="1" dirty="0">
                <a:latin typeface="Calibri" panose="020F0502020204030204" pitchFamily="34" charset="0"/>
                <a:ea typeface="Calibri" panose="020F0502020204030204" pitchFamily="34" charset="0"/>
                <a:cs typeface="Calibri" panose="020F0502020204030204" pitchFamily="34" charset="0"/>
              </a:rPr>
              <a:t>架构定义有所区别</a:t>
            </a:r>
            <a:endParaRPr lang="en-US" altLang="zh-CN" sz="1800" b="1" dirty="0">
              <a:latin typeface="Calibri" panose="020F0502020204030204" pitchFamily="34" charset="0"/>
              <a:ea typeface="Calibri" panose="020F0502020204030204" pitchFamily="34" charset="0"/>
              <a:cs typeface="Calibri" panose="020F0502020204030204" pitchFamily="34" charset="0"/>
            </a:endParaRPr>
          </a:p>
        </p:txBody>
      </p:sp>
      <p:grpSp>
        <p:nvGrpSpPr>
          <p:cNvPr id="19" name="组合 18">
            <a:extLst>
              <a:ext uri="{FF2B5EF4-FFF2-40B4-BE49-F238E27FC236}">
                <a16:creationId xmlns:a16="http://schemas.microsoft.com/office/drawing/2014/main" id="{A54BFAB2-D041-4442-921C-7D8FE6F46BDB}"/>
              </a:ext>
            </a:extLst>
          </p:cNvPr>
          <p:cNvGrpSpPr/>
          <p:nvPr/>
        </p:nvGrpSpPr>
        <p:grpSpPr>
          <a:xfrm>
            <a:off x="10262587" y="2403839"/>
            <a:ext cx="978024" cy="2101047"/>
            <a:chOff x="9694416" y="1562470"/>
            <a:chExt cx="978024" cy="2101047"/>
          </a:xfrm>
        </p:grpSpPr>
        <p:cxnSp>
          <p:nvCxnSpPr>
            <p:cNvPr id="7" name="直接连接符 6">
              <a:extLst>
                <a:ext uri="{FF2B5EF4-FFF2-40B4-BE49-F238E27FC236}">
                  <a16:creationId xmlns:a16="http://schemas.microsoft.com/office/drawing/2014/main" id="{9C01C3EC-14BC-43C1-8B21-5EDC528CB66A}"/>
                </a:ext>
              </a:extLst>
            </p:cNvPr>
            <p:cNvCxnSpPr>
              <a:cxnSpLocks/>
            </p:cNvCxnSpPr>
            <p:nvPr/>
          </p:nvCxnSpPr>
          <p:spPr bwMode="auto">
            <a:xfrm>
              <a:off x="9694416" y="1562470"/>
              <a:ext cx="0" cy="949911"/>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9" name="直接箭头连接符 8">
              <a:extLst>
                <a:ext uri="{FF2B5EF4-FFF2-40B4-BE49-F238E27FC236}">
                  <a16:creationId xmlns:a16="http://schemas.microsoft.com/office/drawing/2014/main" id="{32F61A9B-FDB9-42C1-8195-FDA34D235D16}"/>
                </a:ext>
              </a:extLst>
            </p:cNvPr>
            <p:cNvCxnSpPr>
              <a:cxnSpLocks/>
            </p:cNvCxnSpPr>
            <p:nvPr/>
          </p:nvCxnSpPr>
          <p:spPr bwMode="auto">
            <a:xfrm flipV="1">
              <a:off x="9712171" y="2041864"/>
              <a:ext cx="942515" cy="470518"/>
            </a:xfrm>
            <a:prstGeom prst="straightConnector1">
              <a:avLst/>
            </a:prstGeom>
            <a:ln>
              <a:solidFill>
                <a:srgbClr val="0000FF"/>
              </a:solidFill>
              <a:headEnd type="none" w="med" len="med"/>
              <a:tailEnd type="triangle"/>
            </a:ln>
          </p:spPr>
          <p:style>
            <a:lnRef idx="2">
              <a:schemeClr val="dk1"/>
            </a:lnRef>
            <a:fillRef idx="0">
              <a:schemeClr val="dk1"/>
            </a:fillRef>
            <a:effectRef idx="1">
              <a:schemeClr val="dk1"/>
            </a:effectRef>
            <a:fontRef idx="minor">
              <a:schemeClr val="tx1"/>
            </a:fontRef>
          </p:style>
        </p:cxnSp>
        <p:cxnSp>
          <p:nvCxnSpPr>
            <p:cNvPr id="10" name="直接连接符 9">
              <a:extLst>
                <a:ext uri="{FF2B5EF4-FFF2-40B4-BE49-F238E27FC236}">
                  <a16:creationId xmlns:a16="http://schemas.microsoft.com/office/drawing/2014/main" id="{206ACF09-E15C-4A18-AA56-F8C9788A5924}"/>
                </a:ext>
              </a:extLst>
            </p:cNvPr>
            <p:cNvCxnSpPr>
              <a:cxnSpLocks/>
            </p:cNvCxnSpPr>
            <p:nvPr/>
          </p:nvCxnSpPr>
          <p:spPr bwMode="auto">
            <a:xfrm>
              <a:off x="10672440" y="2041864"/>
              <a:ext cx="0" cy="1125985"/>
            </a:xfrm>
            <a:prstGeom prst="line">
              <a:avLst/>
            </a:prstGeom>
            <a:ln>
              <a:solidFill>
                <a:srgbClr val="0000FF"/>
              </a:solidFill>
              <a:prstDash val="sysDash"/>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2" name="直接箭头连接符 11">
              <a:extLst>
                <a:ext uri="{FF2B5EF4-FFF2-40B4-BE49-F238E27FC236}">
                  <a16:creationId xmlns:a16="http://schemas.microsoft.com/office/drawing/2014/main" id="{D2833E44-EB85-4968-B03C-E28C32C14D98}"/>
                </a:ext>
              </a:extLst>
            </p:cNvPr>
            <p:cNvCxnSpPr>
              <a:cxnSpLocks/>
            </p:cNvCxnSpPr>
            <p:nvPr/>
          </p:nvCxnSpPr>
          <p:spPr bwMode="auto">
            <a:xfrm flipH="1" flipV="1">
              <a:off x="9712171" y="2823099"/>
              <a:ext cx="960269" cy="347710"/>
            </a:xfrm>
            <a:prstGeom prst="straightConnector1">
              <a:avLst/>
            </a:prstGeom>
            <a:ln>
              <a:solidFill>
                <a:srgbClr val="0000FF"/>
              </a:solidFill>
              <a:headEnd type="none" w="med" len="med"/>
              <a:tailEnd type="triangle"/>
            </a:ln>
          </p:spPr>
          <p:style>
            <a:lnRef idx="2">
              <a:schemeClr val="dk1"/>
            </a:lnRef>
            <a:fillRef idx="0">
              <a:schemeClr val="dk1"/>
            </a:fillRef>
            <a:effectRef idx="1">
              <a:schemeClr val="dk1"/>
            </a:effectRef>
            <a:fontRef idx="minor">
              <a:schemeClr val="tx1"/>
            </a:fontRef>
          </p:style>
        </p:cxnSp>
        <p:cxnSp>
          <p:nvCxnSpPr>
            <p:cNvPr id="17" name="直接箭头连接符 16">
              <a:extLst>
                <a:ext uri="{FF2B5EF4-FFF2-40B4-BE49-F238E27FC236}">
                  <a16:creationId xmlns:a16="http://schemas.microsoft.com/office/drawing/2014/main" id="{6894E36D-621D-4701-BB41-F0D32D62C6A7}"/>
                </a:ext>
              </a:extLst>
            </p:cNvPr>
            <p:cNvCxnSpPr>
              <a:cxnSpLocks/>
            </p:cNvCxnSpPr>
            <p:nvPr/>
          </p:nvCxnSpPr>
          <p:spPr bwMode="auto">
            <a:xfrm flipH="1">
              <a:off x="9721048" y="2823099"/>
              <a:ext cx="1" cy="840418"/>
            </a:xfrm>
            <a:prstGeom prst="straightConnector1">
              <a:avLst/>
            </a:prstGeom>
            <a:ln>
              <a:headEnd type="none" w="med" len="med"/>
              <a:tailEnd type="triangle"/>
            </a:ln>
          </p:spPr>
          <p:style>
            <a:lnRef idx="2">
              <a:schemeClr val="dk1"/>
            </a:lnRef>
            <a:fillRef idx="0">
              <a:schemeClr val="dk1"/>
            </a:fillRef>
            <a:effectRef idx="1">
              <a:schemeClr val="dk1"/>
            </a:effectRef>
            <a:fontRef idx="minor">
              <a:schemeClr val="tx1"/>
            </a:fontRef>
          </p:style>
        </p:cxnSp>
      </p:grpSp>
      <p:sp>
        <p:nvSpPr>
          <p:cNvPr id="20" name="文本框 19">
            <a:extLst>
              <a:ext uri="{FF2B5EF4-FFF2-40B4-BE49-F238E27FC236}">
                <a16:creationId xmlns:a16="http://schemas.microsoft.com/office/drawing/2014/main" id="{46C65696-E479-49C8-809B-8537F472171B}"/>
              </a:ext>
            </a:extLst>
          </p:cNvPr>
          <p:cNvSpPr txBox="1"/>
          <p:nvPr/>
        </p:nvSpPr>
        <p:spPr>
          <a:xfrm>
            <a:off x="9865276" y="2053800"/>
            <a:ext cx="960266" cy="338554"/>
          </a:xfrm>
          <a:prstGeom prst="rect">
            <a:avLst/>
          </a:prstGeom>
          <a:noFill/>
        </p:spPr>
        <p:txBody>
          <a:bodyPr wrap="square" rtlCol="0">
            <a:spAutoFit/>
          </a:bodyPr>
          <a:lstStyle/>
          <a:p>
            <a:r>
              <a:rPr lang="zh-CN" altLang="en-US"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主程序</a:t>
            </a:r>
          </a:p>
        </p:txBody>
      </p:sp>
      <p:sp>
        <p:nvSpPr>
          <p:cNvPr id="21" name="文本框 20">
            <a:extLst>
              <a:ext uri="{FF2B5EF4-FFF2-40B4-BE49-F238E27FC236}">
                <a16:creationId xmlns:a16="http://schemas.microsoft.com/office/drawing/2014/main" id="{3A92707D-F9A3-41D1-AF0E-C7ED91256330}"/>
              </a:ext>
            </a:extLst>
          </p:cNvPr>
          <p:cNvSpPr txBox="1"/>
          <p:nvPr/>
        </p:nvSpPr>
        <p:spPr>
          <a:xfrm>
            <a:off x="10678469" y="2047981"/>
            <a:ext cx="1115265" cy="584775"/>
          </a:xfrm>
          <a:prstGeom prst="rect">
            <a:avLst/>
          </a:prstGeom>
          <a:noFill/>
        </p:spPr>
        <p:txBody>
          <a:bodyPr wrap="square" rtlCol="0">
            <a:spAutoFit/>
          </a:bodyPr>
          <a:lstStyle/>
          <a:p>
            <a:pPr algn="ctr"/>
            <a:r>
              <a:rPr lang="zh-CN" altLang="en-US"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中断服务子程序</a:t>
            </a:r>
          </a:p>
        </p:txBody>
      </p:sp>
      <p:sp>
        <p:nvSpPr>
          <p:cNvPr id="22" name="文本框 21">
            <a:extLst>
              <a:ext uri="{FF2B5EF4-FFF2-40B4-BE49-F238E27FC236}">
                <a16:creationId xmlns:a16="http://schemas.microsoft.com/office/drawing/2014/main" id="{E0C75AC8-6DAC-417F-8958-8DAD630E8E49}"/>
              </a:ext>
            </a:extLst>
          </p:cNvPr>
          <p:cNvSpPr txBox="1"/>
          <p:nvPr/>
        </p:nvSpPr>
        <p:spPr>
          <a:xfrm>
            <a:off x="9559385" y="3558190"/>
            <a:ext cx="960266" cy="307777"/>
          </a:xfrm>
          <a:prstGeom prst="rect">
            <a:avLst/>
          </a:prstGeom>
          <a:noFill/>
        </p:spPr>
        <p:txBody>
          <a:bodyPr wrap="square" rtlCol="0">
            <a:spAutoFit/>
          </a:bodyPr>
          <a:lstStyle/>
          <a:p>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指令</a:t>
            </a:r>
            <a:r>
              <a:rPr lang="en-US" altLang="zh-CN" b="1" dirty="0">
                <a:solidFill>
                  <a:srgbClr val="133984"/>
                </a:solidFill>
                <a:latin typeface="Calibri" panose="020F0502020204030204" pitchFamily="34" charset="0"/>
                <a:ea typeface="微软雅黑" panose="020B0503020204020204" pitchFamily="34" charset="-122"/>
                <a:cs typeface="Calibri" panose="020F0502020204030204" pitchFamily="34" charset="0"/>
              </a:rPr>
              <a:t>i+1</a:t>
            </a:r>
            <a:endPar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23" name="文本框 22">
            <a:extLst>
              <a:ext uri="{FF2B5EF4-FFF2-40B4-BE49-F238E27FC236}">
                <a16:creationId xmlns:a16="http://schemas.microsoft.com/office/drawing/2014/main" id="{109F8353-E709-48BA-816B-F473472F27CD}"/>
              </a:ext>
            </a:extLst>
          </p:cNvPr>
          <p:cNvSpPr txBox="1"/>
          <p:nvPr/>
        </p:nvSpPr>
        <p:spPr>
          <a:xfrm>
            <a:off x="9703292" y="3150149"/>
            <a:ext cx="960266" cy="307777"/>
          </a:xfrm>
          <a:prstGeom prst="rect">
            <a:avLst/>
          </a:prstGeom>
          <a:noFill/>
        </p:spPr>
        <p:txBody>
          <a:bodyPr wrap="square" rtlCol="0">
            <a:spAutoFit/>
          </a:bodyPr>
          <a:lstStyle/>
          <a:p>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指令</a:t>
            </a:r>
            <a:r>
              <a:rPr lang="en-US" altLang="zh-CN" b="1" dirty="0" err="1">
                <a:solidFill>
                  <a:srgbClr val="133984"/>
                </a:solidFill>
                <a:latin typeface="Calibri" panose="020F0502020204030204" pitchFamily="34" charset="0"/>
                <a:ea typeface="微软雅黑" panose="020B0503020204020204" pitchFamily="34" charset="-122"/>
                <a:cs typeface="Calibri" panose="020F0502020204030204" pitchFamily="34" charset="0"/>
              </a:rPr>
              <a:t>i</a:t>
            </a:r>
            <a:endPar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24" name="文本框 23">
            <a:extLst>
              <a:ext uri="{FF2B5EF4-FFF2-40B4-BE49-F238E27FC236}">
                <a16:creationId xmlns:a16="http://schemas.microsoft.com/office/drawing/2014/main" id="{9B745B48-D941-4F02-91B9-ECB08391CF77}"/>
              </a:ext>
            </a:extLst>
          </p:cNvPr>
          <p:cNvSpPr txBox="1"/>
          <p:nvPr/>
        </p:nvSpPr>
        <p:spPr>
          <a:xfrm>
            <a:off x="9976633" y="4755528"/>
            <a:ext cx="1788849" cy="338554"/>
          </a:xfrm>
          <a:prstGeom prst="rect">
            <a:avLst/>
          </a:prstGeom>
          <a:noFill/>
        </p:spPr>
        <p:txBody>
          <a:bodyPr wrap="square" rtlCol="0">
            <a:spAutoFit/>
          </a:bodyPr>
          <a:lstStyle/>
          <a:p>
            <a:r>
              <a:rPr lang="zh-CN" altLang="en-US"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图</a:t>
            </a:r>
            <a:r>
              <a:rPr lang="en-US" altLang="zh-CN"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6.1 </a:t>
            </a:r>
            <a:r>
              <a:rPr lang="zh-CN" altLang="en-US"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中断示意图</a:t>
            </a:r>
          </a:p>
        </p:txBody>
      </p:sp>
      <p:sp>
        <p:nvSpPr>
          <p:cNvPr id="25" name="文本框 24">
            <a:extLst>
              <a:ext uri="{FF2B5EF4-FFF2-40B4-BE49-F238E27FC236}">
                <a16:creationId xmlns:a16="http://schemas.microsoft.com/office/drawing/2014/main" id="{D7682F44-1EB7-4F90-A0FC-DE80AFCEE291}"/>
              </a:ext>
            </a:extLst>
          </p:cNvPr>
          <p:cNvSpPr txBox="1"/>
          <p:nvPr/>
        </p:nvSpPr>
        <p:spPr>
          <a:xfrm>
            <a:off x="10192446" y="3407309"/>
            <a:ext cx="678612" cy="307777"/>
          </a:xfrm>
          <a:prstGeom prst="rect">
            <a:avLst/>
          </a:prstGeom>
          <a:noFill/>
        </p:spPr>
        <p:txBody>
          <a:bodyPr wrap="square" rtlCol="0">
            <a:spAutoFit/>
          </a:bodyPr>
          <a:lstStyle/>
          <a:p>
            <a:r>
              <a:rPr lang="zh-CN" altLang="en-US" b="1" dirty="0">
                <a:solidFill>
                  <a:srgbClr val="C00000"/>
                </a:solidFill>
                <a:latin typeface="Calibri" panose="020F0502020204030204" pitchFamily="34" charset="0"/>
                <a:ea typeface="微软雅黑" panose="020B0503020204020204" pitchFamily="34" charset="-122"/>
                <a:cs typeface="Calibri" panose="020F0502020204030204" pitchFamily="34" charset="0"/>
              </a:rPr>
              <a:t> 断点</a:t>
            </a:r>
          </a:p>
        </p:txBody>
      </p:sp>
    </p:spTree>
    <p:extLst>
      <p:ext uri="{BB962C8B-B14F-4D97-AF65-F5344CB8AC3E}">
        <p14:creationId xmlns:p14="http://schemas.microsoft.com/office/powerpoint/2010/main" val="37297751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C1ED7687-39D9-46C0-B1B8-2B770CBD94B8}"/>
              </a:ext>
            </a:extLst>
          </p:cNvPr>
          <p:cNvSpPr txBox="1"/>
          <p:nvPr/>
        </p:nvSpPr>
        <p:spPr>
          <a:xfrm>
            <a:off x="8373880" y="4996392"/>
            <a:ext cx="2731838" cy="338554"/>
          </a:xfrm>
          <a:prstGeom prst="rect">
            <a:avLst/>
          </a:prstGeom>
          <a:noFill/>
        </p:spPr>
        <p:txBody>
          <a:bodyPr wrap="none" rtlCol="0">
            <a:spAutoFit/>
          </a:bodyPr>
          <a:lstStyle/>
          <a:p>
            <a:r>
              <a:rPr lang="zh-CN" altLang="en-US"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图</a:t>
            </a:r>
            <a:r>
              <a:rPr lang="en-US" altLang="zh-CN"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6.2     </a:t>
            </a:r>
            <a:r>
              <a:rPr lang="zh-CN" altLang="en-US"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根据中断来源的分类</a:t>
            </a:r>
          </a:p>
        </p:txBody>
      </p:sp>
      <p:sp>
        <p:nvSpPr>
          <p:cNvPr id="2" name="标题 1">
            <a:extLst>
              <a:ext uri="{FF2B5EF4-FFF2-40B4-BE49-F238E27FC236}">
                <a16:creationId xmlns:a16="http://schemas.microsoft.com/office/drawing/2014/main" id="{C4B332DC-3A6A-4BE1-8E36-33B473516D6E}"/>
              </a:ext>
            </a:extLst>
          </p:cNvPr>
          <p:cNvSpPr>
            <a:spLocks noGrp="1"/>
          </p:cNvSpPr>
          <p:nvPr>
            <p:ph type="title"/>
          </p:nvPr>
        </p:nvSpPr>
        <p:spPr>
          <a:xfrm>
            <a:off x="457200" y="274997"/>
            <a:ext cx="11277600" cy="688975"/>
          </a:xfrm>
        </p:spPr>
        <p:txBody>
          <a:bodyPr/>
          <a:lstStyle/>
          <a:p>
            <a:r>
              <a:rPr lang="en-US" altLang="zh-CN" dirty="0">
                <a:latin typeface="Calibri" panose="020F0502020204030204" pitchFamily="34" charset="0"/>
                <a:ea typeface="Calibri" panose="020F0502020204030204" pitchFamily="34" charset="0"/>
                <a:cs typeface="Calibri" panose="020F0502020204030204" pitchFamily="34" charset="0"/>
              </a:rPr>
              <a:t>6.7 </a:t>
            </a:r>
            <a:r>
              <a:rPr lang="zh-CN" altLang="en-US" dirty="0">
                <a:latin typeface="Calibri" panose="020F0502020204030204" pitchFamily="34" charset="0"/>
                <a:ea typeface="微软雅黑" panose="020B0503020204020204" pitchFamily="34" charset="-122"/>
                <a:cs typeface="Calibri" panose="020F0502020204030204" pitchFamily="34" charset="0"/>
              </a:rPr>
              <a:t>异常与中断处理</a:t>
            </a:r>
          </a:p>
        </p:txBody>
      </p:sp>
      <p:sp>
        <p:nvSpPr>
          <p:cNvPr id="3" name="内容占位符 2">
            <a:extLst>
              <a:ext uri="{FF2B5EF4-FFF2-40B4-BE49-F238E27FC236}">
                <a16:creationId xmlns:a16="http://schemas.microsoft.com/office/drawing/2014/main" id="{D89B9397-65F6-4720-8B5D-6795A6F8C02B}"/>
              </a:ext>
            </a:extLst>
          </p:cNvPr>
          <p:cNvSpPr>
            <a:spLocks noGrp="1"/>
          </p:cNvSpPr>
          <p:nvPr>
            <p:ph idx="1"/>
          </p:nvPr>
        </p:nvSpPr>
        <p:spPr>
          <a:xfrm>
            <a:off x="457200" y="971764"/>
            <a:ext cx="6573915" cy="5737010"/>
          </a:xfrm>
        </p:spPr>
        <p:txBody>
          <a:bodyPr/>
          <a:lstStyle/>
          <a:p>
            <a:pPr>
              <a:lnSpc>
                <a:spcPct val="130000"/>
              </a:lnSpc>
            </a:pPr>
            <a:r>
              <a:rPr lang="en-US" altLang="zh-CN" b="1" dirty="0">
                <a:latin typeface="Calibri" panose="020F0502020204030204" pitchFamily="34" charset="0"/>
                <a:ea typeface="Calibri" panose="020F0502020204030204" pitchFamily="34" charset="0"/>
                <a:cs typeface="Calibri" panose="020F0502020204030204" pitchFamily="34" charset="0"/>
              </a:rPr>
              <a:t>6.7.2 </a:t>
            </a:r>
            <a:r>
              <a:rPr lang="zh-CN" altLang="en-US" b="1" dirty="0">
                <a:latin typeface="Calibri" panose="020F0502020204030204" pitchFamily="34" charset="0"/>
                <a:ea typeface="微软雅黑" panose="020B0503020204020204" pitchFamily="34" charset="-122"/>
                <a:cs typeface="Calibri" panose="020F0502020204030204" pitchFamily="34" charset="0"/>
              </a:rPr>
              <a:t>中断的基本类型</a:t>
            </a:r>
            <a:r>
              <a:rPr lang="en-US" altLang="zh-CN" b="1" dirty="0">
                <a:latin typeface="Calibri" panose="020F0502020204030204" pitchFamily="34" charset="0"/>
                <a:ea typeface="微软雅黑" panose="020B0503020204020204" pitchFamily="34" charset="-122"/>
                <a:cs typeface="Calibri" panose="020F0502020204030204" pitchFamily="34" charset="0"/>
              </a:rPr>
              <a:t>-</a:t>
            </a:r>
            <a:r>
              <a:rPr lang="zh-CN" altLang="en-US" sz="24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根据中断源分类</a:t>
            </a:r>
            <a:r>
              <a:rPr lang="zh-CN" altLang="en-US" sz="2400" b="1" dirty="0">
                <a:latin typeface="Calibri" panose="020F0502020204030204" pitchFamily="34" charset="0"/>
                <a:ea typeface="微软雅黑" panose="020B0503020204020204" pitchFamily="34" charset="-122"/>
                <a:cs typeface="Calibri" panose="020F0502020204030204" pitchFamily="34" charset="0"/>
              </a:rPr>
              <a:t> </a:t>
            </a:r>
            <a:endParaRPr lang="en-US" altLang="zh-CN" b="1" dirty="0">
              <a:latin typeface="Calibri" panose="020F0502020204030204" pitchFamily="34" charset="0"/>
              <a:ea typeface="微软雅黑" panose="020B0503020204020204" pitchFamily="34" charset="-122"/>
              <a:cs typeface="Calibri" panose="020F0502020204030204" pitchFamily="34" charset="0"/>
            </a:endParaRPr>
          </a:p>
          <a:p>
            <a:pPr lvl="1">
              <a:lnSpc>
                <a:spcPct val="130000"/>
              </a:lnSpc>
              <a:buFont typeface="Wingdings" panose="05000000000000000000" pitchFamily="2" charset="2"/>
              <a:buChar char="p"/>
              <a:tabLst>
                <a:tab pos="808038" algn="l"/>
              </a:tabLst>
            </a:pPr>
            <a:r>
              <a:rPr lang="zh-CN" altLang="en-US" sz="2000" b="1" dirty="0">
                <a:latin typeface="Calibri" panose="020F0502020204030204" pitchFamily="34" charset="0"/>
                <a:ea typeface="微软雅黑" panose="020B0503020204020204" pitchFamily="34" charset="-122"/>
                <a:cs typeface="Calibri" panose="020F0502020204030204" pitchFamily="34" charset="0"/>
              </a:rPr>
              <a:t>内部异常（自愿中断）和外部中断（强迫中断）</a:t>
            </a:r>
            <a:endParaRPr lang="en-US" altLang="zh-CN" sz="2000" b="1" dirty="0">
              <a:latin typeface="Calibri" panose="020F0502020204030204" pitchFamily="34" charset="0"/>
              <a:ea typeface="Calibri" panose="020F0502020204030204" pitchFamily="34" charset="0"/>
              <a:cs typeface="Calibri" panose="020F0502020204030204" pitchFamily="34" charset="0"/>
            </a:endParaRPr>
          </a:p>
          <a:p>
            <a:pPr lvl="2" eaLnBrk="1" hangingPunct="1">
              <a:lnSpc>
                <a:spcPct val="130000"/>
              </a:lnSpc>
              <a:buFont typeface="Wingdings" panose="05000000000000000000" pitchFamily="2" charset="2"/>
              <a:buChar char="n"/>
            </a:pPr>
            <a:r>
              <a:rPr lang="zh-CN" altLang="en-US"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根据中断来源的不同，可以分为</a:t>
            </a:r>
            <a:r>
              <a:rPr lang="zh-CN" altLang="en-US"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内部异常</a:t>
            </a:r>
            <a:r>
              <a:rPr lang="zh-CN" altLang="en-US"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和</a:t>
            </a:r>
            <a:r>
              <a:rPr lang="zh-CN" altLang="en-US"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外部中断（如图</a:t>
            </a:r>
            <a:r>
              <a:rPr lang="en-US" altLang="zh-CN"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6.2</a:t>
            </a:r>
            <a:r>
              <a:rPr lang="zh-CN" altLang="en-US"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所示）</a:t>
            </a:r>
            <a:r>
              <a:rPr lang="en-US" altLang="zh-CN" sz="2000" b="1" dirty="0">
                <a:latin typeface="Calibri" panose="020F0502020204030204" pitchFamily="34" charset="0"/>
                <a:ea typeface="Calibri" panose="020F0502020204030204" pitchFamily="34" charset="0"/>
                <a:cs typeface="Calibri" panose="020F0502020204030204" pitchFamily="34" charset="0"/>
              </a:rPr>
              <a:t> </a:t>
            </a:r>
            <a:r>
              <a:rPr lang="zh-CN" altLang="en-US" sz="2000" b="1" dirty="0">
                <a:latin typeface="Calibri" panose="020F0502020204030204" pitchFamily="34" charset="0"/>
                <a:ea typeface="微软雅黑" panose="020B0503020204020204" pitchFamily="34" charset="-122"/>
                <a:cs typeface="Calibri" panose="020F0502020204030204" pitchFamily="34" charset="0"/>
              </a:rPr>
              <a:t>。</a:t>
            </a:r>
            <a:endParaRPr lang="en-US" altLang="zh-CN" sz="2000" b="1" dirty="0">
              <a:latin typeface="Calibri" panose="020F0502020204030204" pitchFamily="34" charset="0"/>
              <a:ea typeface="Calibri" panose="020F0502020204030204" pitchFamily="34" charset="0"/>
              <a:cs typeface="Calibri" panose="020F0502020204030204" pitchFamily="34" charset="0"/>
            </a:endParaRPr>
          </a:p>
          <a:p>
            <a:pPr lvl="1">
              <a:lnSpc>
                <a:spcPct val="130000"/>
              </a:lnSpc>
              <a:buFont typeface="Wingdings" panose="05000000000000000000" pitchFamily="2" charset="2"/>
              <a:buChar char="p"/>
            </a:pPr>
            <a:r>
              <a:rPr lang="zh-CN" altLang="en-US" sz="2000" b="1" dirty="0">
                <a:latin typeface="Calibri" panose="020F0502020204030204" pitchFamily="34" charset="0"/>
                <a:ea typeface="微软雅黑" panose="020B0503020204020204" pitchFamily="34" charset="-122"/>
                <a:cs typeface="Calibri" panose="020F0502020204030204" pitchFamily="34" charset="0"/>
              </a:rPr>
              <a:t>硬件中断和软件中断</a:t>
            </a:r>
            <a:endParaRPr lang="en-US" altLang="zh-CN" sz="2000" b="1" dirty="0">
              <a:latin typeface="Calibri" panose="020F0502020204030204" pitchFamily="34" charset="0"/>
              <a:ea typeface="Calibri" panose="020F0502020204030204" pitchFamily="34" charset="0"/>
              <a:cs typeface="Calibri" panose="020F0502020204030204" pitchFamily="34" charset="0"/>
            </a:endParaRPr>
          </a:p>
          <a:p>
            <a:pPr lvl="2">
              <a:lnSpc>
                <a:spcPct val="130000"/>
              </a:lnSpc>
              <a:buFont typeface="Wingdings" panose="05000000000000000000" pitchFamily="2" charset="2"/>
              <a:buChar char="n"/>
            </a:pPr>
            <a:r>
              <a:rPr lang="zh-CN" altLang="en-US"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外部中断和内部异常的终止都属于</a:t>
            </a:r>
            <a:r>
              <a:rPr lang="zh-CN" altLang="en-US"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硬件中断</a:t>
            </a:r>
            <a:endParaRPr lang="en-US" altLang="zh-CN"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endParaRPr>
          </a:p>
          <a:p>
            <a:pPr lvl="2">
              <a:lnSpc>
                <a:spcPct val="130000"/>
              </a:lnSpc>
              <a:buFont typeface="Wingdings" panose="05000000000000000000" pitchFamily="2" charset="2"/>
              <a:buChar char="n"/>
            </a:pPr>
            <a:r>
              <a:rPr lang="zh-CN" altLang="en-US"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内部异常的故障和自陷属于</a:t>
            </a:r>
            <a:r>
              <a:rPr lang="zh-CN" altLang="en-US"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软件中断</a:t>
            </a:r>
            <a:endParaRPr lang="en-US" altLang="zh-CN" sz="2000" b="1" dirty="0">
              <a:latin typeface="Calibri" panose="020F0502020204030204" pitchFamily="34" charset="0"/>
              <a:ea typeface="微软雅黑" panose="020B0503020204020204" pitchFamily="34" charset="-122"/>
              <a:cs typeface="Calibri" panose="020F0502020204030204" pitchFamily="34" charset="0"/>
            </a:endParaRPr>
          </a:p>
          <a:p>
            <a:pPr lvl="1" eaLnBrk="1" hangingPunct="1">
              <a:lnSpc>
                <a:spcPct val="130000"/>
              </a:lnSpc>
              <a:buFont typeface="Wingdings" panose="05000000000000000000" pitchFamily="2" charset="2"/>
              <a:buChar char="p"/>
            </a:pPr>
            <a:r>
              <a:rPr lang="zh-CN" altLang="en-US" sz="2000" b="1" dirty="0">
                <a:latin typeface="Calibri" panose="020F0502020204030204" pitchFamily="34" charset="0"/>
                <a:ea typeface="微软雅黑" panose="020B0503020204020204" pitchFamily="34" charset="-122"/>
                <a:cs typeface="Calibri" panose="020F0502020204030204" pitchFamily="34" charset="0"/>
              </a:rPr>
              <a:t>可屏蔽中断和不可屏蔽中断</a:t>
            </a:r>
            <a:endParaRPr lang="en-US" altLang="zh-CN" sz="2000" b="1" dirty="0">
              <a:latin typeface="Calibri" panose="020F0502020204030204" pitchFamily="34" charset="0"/>
              <a:ea typeface="微软雅黑" panose="020B0503020204020204" pitchFamily="34" charset="-122"/>
              <a:cs typeface="Calibri" panose="020F0502020204030204" pitchFamily="34" charset="0"/>
            </a:endParaRPr>
          </a:p>
          <a:p>
            <a:pPr lvl="2" eaLnBrk="1" hangingPunct="1">
              <a:lnSpc>
                <a:spcPct val="130000"/>
              </a:lnSpc>
              <a:buFont typeface="Wingdings" panose="05000000000000000000" pitchFamily="2" charset="2"/>
              <a:buChar char="n"/>
            </a:pPr>
            <a:r>
              <a:rPr lang="zh-CN" altLang="en-US"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可屏蔽中断</a:t>
            </a:r>
            <a:r>
              <a:rPr lang="en-US" altLang="zh-CN"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INTR</a:t>
            </a:r>
            <a:r>
              <a:rPr lang="zh-CN" altLang="en-US"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a:t>
            </a:r>
            <a:r>
              <a:rPr lang="en-US" altLang="zh-CN"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CPU</a:t>
            </a:r>
            <a:r>
              <a:rPr lang="zh-CN" altLang="en-US"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可不予响应</a:t>
            </a:r>
            <a:r>
              <a:rPr lang="zh-CN" altLang="en-US"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，如外部设备发出的中断请求。</a:t>
            </a:r>
            <a:endParaRPr lang="en-US" altLang="zh-CN"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lvl="2" eaLnBrk="1" hangingPunct="1">
              <a:lnSpc>
                <a:spcPct val="130000"/>
              </a:lnSpc>
              <a:buFont typeface="Wingdings" panose="05000000000000000000" pitchFamily="2" charset="2"/>
              <a:buChar char="n"/>
            </a:pPr>
            <a:r>
              <a:rPr lang="zh-CN" altLang="en-US"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不可屏蔽中断</a:t>
            </a:r>
            <a:r>
              <a:rPr lang="en-US" altLang="zh-CN"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NMI</a:t>
            </a:r>
            <a:r>
              <a:rPr lang="zh-CN" altLang="en-US"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a:t>
            </a:r>
            <a:r>
              <a:rPr lang="en-US" altLang="zh-CN"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CPU</a:t>
            </a:r>
            <a:r>
              <a:rPr lang="zh-CN" altLang="en-US"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必须响应，</a:t>
            </a:r>
            <a:r>
              <a:rPr lang="zh-CN" altLang="en-US"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常用于定时器中断、断电中断等情况。</a:t>
            </a:r>
            <a:endParaRPr lang="en-US" altLang="zh-CN"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lvl="2">
              <a:lnSpc>
                <a:spcPct val="130000"/>
              </a:lnSpc>
              <a:buFont typeface="Wingdings" panose="05000000000000000000" pitchFamily="2" charset="2"/>
              <a:buChar char="n"/>
            </a:pPr>
            <a:endParaRPr lang="en-US" altLang="zh-CN" sz="2000" b="1" dirty="0">
              <a:latin typeface="Calibri" panose="020F0502020204030204" pitchFamily="34" charset="0"/>
              <a:ea typeface="Calibri" panose="020F0502020204030204" pitchFamily="34" charset="0"/>
              <a:cs typeface="Calibri" panose="020F0502020204030204" pitchFamily="34" charset="0"/>
            </a:endParaRPr>
          </a:p>
          <a:p>
            <a:pPr marL="628650" lvl="1" indent="0" eaLnBrk="1" hangingPunct="1">
              <a:lnSpc>
                <a:spcPct val="130000"/>
              </a:lnSpc>
              <a:buNone/>
            </a:pPr>
            <a:endParaRPr lang="en-US" altLang="zh-CN" b="1" dirty="0">
              <a:latin typeface="Calibri" panose="020F0502020204030204" pitchFamily="34" charset="0"/>
              <a:ea typeface="Calibri" panose="020F0502020204030204" pitchFamily="34" charset="0"/>
              <a:cs typeface="Calibri" panose="020F0502020204030204" pitchFamily="34" charset="0"/>
            </a:endParaRPr>
          </a:p>
          <a:p>
            <a:pPr lvl="3" eaLnBrk="1" hangingPunct="1">
              <a:lnSpc>
                <a:spcPct val="130000"/>
              </a:lnSpc>
            </a:pPr>
            <a:endParaRPr lang="en-US" altLang="zh-CN" sz="1200" b="1" dirty="0">
              <a:latin typeface="Calibri" panose="020F0502020204030204" pitchFamily="34" charset="0"/>
              <a:ea typeface="Calibri" panose="020F0502020204030204" pitchFamily="34" charset="0"/>
              <a:cs typeface="Calibri" panose="020F0502020204030204" pitchFamily="34" charset="0"/>
            </a:endParaRPr>
          </a:p>
          <a:p>
            <a:pPr lvl="3" eaLnBrk="1" hangingPunct="1">
              <a:lnSpc>
                <a:spcPct val="130000"/>
              </a:lnSpc>
            </a:pPr>
            <a:endParaRPr lang="en-US" altLang="zh-CN" sz="1200" b="1" dirty="0">
              <a:latin typeface="Calibri" panose="020F0502020204030204" pitchFamily="34" charset="0"/>
              <a:ea typeface="Calibri" panose="020F0502020204030204" pitchFamily="34" charset="0"/>
              <a:cs typeface="Calibri" panose="020F0502020204030204" pitchFamily="34" charset="0"/>
            </a:endParaRPr>
          </a:p>
          <a:p>
            <a:pPr lvl="3" eaLnBrk="1" hangingPunct="1">
              <a:lnSpc>
                <a:spcPct val="130000"/>
              </a:lnSpc>
            </a:pPr>
            <a:endParaRPr lang="en-US" altLang="zh-CN" sz="1200" b="1" dirty="0">
              <a:latin typeface="Calibri" panose="020F0502020204030204" pitchFamily="34" charset="0"/>
              <a:ea typeface="Calibri" panose="020F0502020204030204" pitchFamily="34" charset="0"/>
              <a:cs typeface="Calibri" panose="020F0502020204030204" pitchFamily="34" charset="0"/>
            </a:endParaRPr>
          </a:p>
          <a:p>
            <a:pPr lvl="3" eaLnBrk="1" hangingPunct="1">
              <a:lnSpc>
                <a:spcPct val="130000"/>
              </a:lnSpc>
            </a:pPr>
            <a:endParaRPr lang="en-US" altLang="zh-CN" sz="1200" b="1" dirty="0">
              <a:latin typeface="Calibri" panose="020F0502020204030204" pitchFamily="34" charset="0"/>
              <a:ea typeface="Calibri" panose="020F0502020204030204" pitchFamily="34" charset="0"/>
              <a:cs typeface="Calibri" panose="020F0502020204030204" pitchFamily="34" charset="0"/>
            </a:endParaRPr>
          </a:p>
          <a:p>
            <a:pPr lvl="3" eaLnBrk="1" hangingPunct="1">
              <a:lnSpc>
                <a:spcPct val="130000"/>
              </a:lnSpc>
            </a:pPr>
            <a:endParaRPr lang="en-US" altLang="zh-CN" sz="1200" b="1" dirty="0">
              <a:latin typeface="Calibri" panose="020F0502020204030204" pitchFamily="34" charset="0"/>
              <a:ea typeface="Calibri" panose="020F0502020204030204" pitchFamily="34" charset="0"/>
              <a:cs typeface="Calibri" panose="020F0502020204030204" pitchFamily="34" charset="0"/>
            </a:endParaRPr>
          </a:p>
          <a:p>
            <a:pPr lvl="3" eaLnBrk="1" hangingPunct="1">
              <a:lnSpc>
                <a:spcPct val="130000"/>
              </a:lnSpc>
            </a:pPr>
            <a:endParaRPr lang="en-US" altLang="zh-CN" sz="1200" b="1" dirty="0">
              <a:latin typeface="Calibri" panose="020F0502020204030204" pitchFamily="34" charset="0"/>
              <a:ea typeface="Calibri" panose="020F0502020204030204" pitchFamily="34" charset="0"/>
              <a:cs typeface="Calibri" panose="020F0502020204030204" pitchFamily="34" charset="0"/>
            </a:endParaRPr>
          </a:p>
          <a:p>
            <a:pPr lvl="3" eaLnBrk="1" hangingPunct="1">
              <a:lnSpc>
                <a:spcPct val="130000"/>
              </a:lnSpc>
            </a:pPr>
            <a:endParaRPr lang="en-US" altLang="zh-CN" sz="1200" b="1" dirty="0">
              <a:latin typeface="Calibri" panose="020F0502020204030204" pitchFamily="34" charset="0"/>
              <a:ea typeface="Calibri" panose="020F0502020204030204" pitchFamily="34" charset="0"/>
              <a:cs typeface="Calibri" panose="020F0502020204030204" pitchFamily="34" charset="0"/>
            </a:endParaRPr>
          </a:p>
          <a:p>
            <a:pPr lvl="3" eaLnBrk="1" hangingPunct="1">
              <a:lnSpc>
                <a:spcPct val="130000"/>
              </a:lnSpc>
            </a:pPr>
            <a:endParaRPr lang="en-US" altLang="zh-CN" sz="1200" b="1" dirty="0">
              <a:latin typeface="Calibri" panose="020F0502020204030204" pitchFamily="34" charset="0"/>
              <a:ea typeface="Calibri" panose="020F0502020204030204" pitchFamily="34" charset="0"/>
              <a:cs typeface="Calibri" panose="020F0502020204030204" pitchFamily="34" charset="0"/>
            </a:endParaRPr>
          </a:p>
          <a:p>
            <a:pPr lvl="3" eaLnBrk="1" hangingPunct="1">
              <a:lnSpc>
                <a:spcPct val="130000"/>
              </a:lnSpc>
            </a:pPr>
            <a:endParaRPr lang="en-US" altLang="zh-CN" sz="1200" b="1" dirty="0">
              <a:latin typeface="Calibri" panose="020F0502020204030204" pitchFamily="34" charset="0"/>
              <a:ea typeface="Calibri" panose="020F0502020204030204" pitchFamily="34" charset="0"/>
              <a:cs typeface="Calibri" panose="020F0502020204030204" pitchFamily="34" charset="0"/>
            </a:endParaRPr>
          </a:p>
          <a:p>
            <a:pPr lvl="3" eaLnBrk="1" hangingPunct="1">
              <a:lnSpc>
                <a:spcPct val="130000"/>
              </a:lnSpc>
            </a:pPr>
            <a:endParaRPr lang="en-US" altLang="zh-CN" sz="1200" b="1" dirty="0">
              <a:latin typeface="Calibri" panose="020F0502020204030204" pitchFamily="34" charset="0"/>
              <a:ea typeface="Calibri" panose="020F0502020204030204" pitchFamily="34" charset="0"/>
              <a:cs typeface="Calibri" panose="020F0502020204030204" pitchFamily="34" charset="0"/>
            </a:endParaRPr>
          </a:p>
          <a:p>
            <a:pPr lvl="3" eaLnBrk="1" hangingPunct="1">
              <a:lnSpc>
                <a:spcPct val="130000"/>
              </a:lnSpc>
            </a:pPr>
            <a:endParaRPr lang="en-US" altLang="zh-CN" sz="1200" b="1" dirty="0">
              <a:latin typeface="Calibri" panose="020F0502020204030204" pitchFamily="34" charset="0"/>
              <a:ea typeface="Calibri" panose="020F0502020204030204" pitchFamily="34" charset="0"/>
              <a:cs typeface="Calibri" panose="020F0502020204030204" pitchFamily="34" charset="0"/>
            </a:endParaRPr>
          </a:p>
          <a:p>
            <a:pPr lvl="3" eaLnBrk="1" hangingPunct="1">
              <a:lnSpc>
                <a:spcPct val="130000"/>
              </a:lnSpc>
            </a:pPr>
            <a:endParaRPr lang="en-US" altLang="zh-CN" sz="1200" b="1" dirty="0">
              <a:latin typeface="Calibri" panose="020F0502020204030204" pitchFamily="34" charset="0"/>
              <a:ea typeface="Calibri" panose="020F0502020204030204" pitchFamily="34" charset="0"/>
              <a:cs typeface="Calibri" panose="020F0502020204030204" pitchFamily="34" charset="0"/>
            </a:endParaRPr>
          </a:p>
          <a:p>
            <a:pPr lvl="3" eaLnBrk="1" hangingPunct="1">
              <a:lnSpc>
                <a:spcPct val="130000"/>
              </a:lnSpc>
            </a:pPr>
            <a:endParaRPr lang="en-US" altLang="zh-CN" sz="1200" b="1" dirty="0">
              <a:latin typeface="Calibri" panose="020F0502020204030204" pitchFamily="34" charset="0"/>
              <a:ea typeface="Calibri" panose="020F0502020204030204" pitchFamily="34" charset="0"/>
              <a:cs typeface="Calibri" panose="020F0502020204030204" pitchFamily="34" charset="0"/>
            </a:endParaRPr>
          </a:p>
          <a:p>
            <a:pPr lvl="3" eaLnBrk="1" hangingPunct="1">
              <a:lnSpc>
                <a:spcPct val="130000"/>
              </a:lnSpc>
            </a:pPr>
            <a:endParaRPr lang="en-US" altLang="zh-CN" sz="1200" b="1" dirty="0">
              <a:latin typeface="Calibri" panose="020F0502020204030204" pitchFamily="34" charset="0"/>
              <a:ea typeface="Calibri" panose="020F0502020204030204" pitchFamily="34" charset="0"/>
              <a:cs typeface="Calibri" panose="020F0502020204030204" pitchFamily="34" charset="0"/>
            </a:endParaRPr>
          </a:p>
          <a:p>
            <a:pPr lvl="3" eaLnBrk="1" hangingPunct="1">
              <a:lnSpc>
                <a:spcPct val="130000"/>
              </a:lnSpc>
            </a:pPr>
            <a:endParaRPr lang="en-US" altLang="zh-CN" sz="1800" b="1" dirty="0">
              <a:latin typeface="Calibri" panose="020F0502020204030204" pitchFamily="34" charset="0"/>
              <a:ea typeface="Calibri" panose="020F0502020204030204" pitchFamily="34" charset="0"/>
              <a:cs typeface="Calibri" panose="020F0502020204030204" pitchFamily="34" charset="0"/>
            </a:endParaRPr>
          </a:p>
          <a:p>
            <a:pPr lvl="2" eaLnBrk="1" hangingPunct="1">
              <a:lnSpc>
                <a:spcPct val="130000"/>
              </a:lnSpc>
            </a:pPr>
            <a:endParaRPr lang="en-US" altLang="zh-CN" sz="1200" b="1" dirty="0">
              <a:latin typeface="Calibri" panose="020F0502020204030204" pitchFamily="34" charset="0"/>
              <a:ea typeface="Calibri" panose="020F0502020204030204" pitchFamily="34" charset="0"/>
              <a:cs typeface="Calibri" panose="020F0502020204030204" pitchFamily="34" charset="0"/>
            </a:endParaRPr>
          </a:p>
          <a:p>
            <a:pPr>
              <a:lnSpc>
                <a:spcPct val="130000"/>
              </a:lnSpc>
            </a:pPr>
            <a:endParaRPr lang="zh-CN" altLang="en-US" b="1" dirty="0">
              <a:latin typeface="Calibri" panose="020F0502020204030204" pitchFamily="34" charset="0"/>
              <a:ea typeface="微软雅黑" panose="020B0503020204020204" pitchFamily="34" charset="-122"/>
              <a:cs typeface="Calibri" panose="020F0502020204030204" pitchFamily="34" charset="0"/>
            </a:endParaRPr>
          </a:p>
        </p:txBody>
      </p:sp>
      <p:sp>
        <p:nvSpPr>
          <p:cNvPr id="17" name="文本框 16">
            <a:extLst>
              <a:ext uri="{FF2B5EF4-FFF2-40B4-BE49-F238E27FC236}">
                <a16:creationId xmlns:a16="http://schemas.microsoft.com/office/drawing/2014/main" id="{3C131142-CA67-4A44-AA3C-7421D6C8A2A4}"/>
              </a:ext>
            </a:extLst>
          </p:cNvPr>
          <p:cNvSpPr txBox="1"/>
          <p:nvPr/>
        </p:nvSpPr>
        <p:spPr>
          <a:xfrm>
            <a:off x="10715583" y="2337779"/>
            <a:ext cx="1037896" cy="307777"/>
          </a:xfrm>
          <a:prstGeom prst="rect">
            <a:avLst/>
          </a:prstGeom>
          <a:noFill/>
        </p:spPr>
        <p:txBody>
          <a:bodyPr wrap="square" rtlCol="0">
            <a:spAutoFit/>
          </a:bodyPr>
          <a:lstStyle/>
          <a:p>
            <a:r>
              <a:rPr lang="zh-CN" altLang="en-US" b="1" dirty="0">
                <a:solidFill>
                  <a:srgbClr val="C00000"/>
                </a:solidFill>
                <a:latin typeface="微软雅黑" panose="020B0503020204020204" pitchFamily="34" charset="-122"/>
                <a:ea typeface="微软雅黑" panose="020B0503020204020204" pitchFamily="34" charset="-122"/>
              </a:rPr>
              <a:t>软件中断</a:t>
            </a:r>
          </a:p>
        </p:txBody>
      </p:sp>
      <p:grpSp>
        <p:nvGrpSpPr>
          <p:cNvPr id="6" name="组合 5">
            <a:extLst>
              <a:ext uri="{FF2B5EF4-FFF2-40B4-BE49-F238E27FC236}">
                <a16:creationId xmlns:a16="http://schemas.microsoft.com/office/drawing/2014/main" id="{04F6F5A0-98D2-4A18-8705-17F9E90AE8BC}"/>
              </a:ext>
            </a:extLst>
          </p:cNvPr>
          <p:cNvGrpSpPr/>
          <p:nvPr/>
        </p:nvGrpSpPr>
        <p:grpSpPr>
          <a:xfrm>
            <a:off x="7112859" y="2170014"/>
            <a:ext cx="4742282" cy="2328824"/>
            <a:chOff x="7324448" y="1923916"/>
            <a:chExt cx="4742282" cy="2328824"/>
          </a:xfrm>
        </p:grpSpPr>
        <p:sp>
          <p:nvSpPr>
            <p:cNvPr id="4" name="文本框 3">
              <a:extLst>
                <a:ext uri="{FF2B5EF4-FFF2-40B4-BE49-F238E27FC236}">
                  <a16:creationId xmlns:a16="http://schemas.microsoft.com/office/drawing/2014/main" id="{E32DAAC2-5333-4FB2-A7E4-7F8521E2B806}"/>
                </a:ext>
              </a:extLst>
            </p:cNvPr>
            <p:cNvSpPr txBox="1"/>
            <p:nvPr/>
          </p:nvSpPr>
          <p:spPr>
            <a:xfrm>
              <a:off x="7324448" y="3036096"/>
              <a:ext cx="807868" cy="338554"/>
            </a:xfrm>
            <a:prstGeom prst="rect">
              <a:avLst/>
            </a:prstGeom>
            <a:noFill/>
          </p:spPr>
          <p:txBody>
            <a:bodyPr wrap="square" rtlCol="0">
              <a:spAutoFit/>
            </a:bodyPr>
            <a:lstStyle/>
            <a:p>
              <a:r>
                <a:rPr lang="zh-CN" altLang="en-US" sz="1600" b="1" dirty="0">
                  <a:solidFill>
                    <a:srgbClr val="274FA2"/>
                  </a:solidFill>
                  <a:latin typeface="微软雅黑" panose="020B0503020204020204" pitchFamily="34" charset="-122"/>
                  <a:ea typeface="微软雅黑" panose="020B0503020204020204" pitchFamily="34" charset="-122"/>
                </a:rPr>
                <a:t>中断</a:t>
              </a:r>
            </a:p>
          </p:txBody>
        </p:sp>
        <p:sp>
          <p:nvSpPr>
            <p:cNvPr id="10" name="文本框 9">
              <a:extLst>
                <a:ext uri="{FF2B5EF4-FFF2-40B4-BE49-F238E27FC236}">
                  <a16:creationId xmlns:a16="http://schemas.microsoft.com/office/drawing/2014/main" id="{9938B421-3411-4815-B383-114A2307C48E}"/>
                </a:ext>
              </a:extLst>
            </p:cNvPr>
            <p:cNvSpPr txBox="1"/>
            <p:nvPr/>
          </p:nvSpPr>
          <p:spPr>
            <a:xfrm>
              <a:off x="8238333" y="2354802"/>
              <a:ext cx="1238434" cy="307777"/>
            </a:xfrm>
            <a:prstGeom prst="rect">
              <a:avLst/>
            </a:prstGeom>
            <a:noFill/>
          </p:spPr>
          <p:txBody>
            <a:bodyPr wrap="square" rtlCol="0">
              <a:spAutoFit/>
            </a:bodyPr>
            <a:lstStyle/>
            <a:p>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内部异常</a:t>
              </a:r>
            </a:p>
          </p:txBody>
        </p:sp>
        <p:sp>
          <p:nvSpPr>
            <p:cNvPr id="11" name="文本框 10">
              <a:extLst>
                <a:ext uri="{FF2B5EF4-FFF2-40B4-BE49-F238E27FC236}">
                  <a16:creationId xmlns:a16="http://schemas.microsoft.com/office/drawing/2014/main" id="{C7A47130-E8AB-4E9D-887D-FE5C67335CC6}"/>
                </a:ext>
              </a:extLst>
            </p:cNvPr>
            <p:cNvSpPr txBox="1"/>
            <p:nvPr/>
          </p:nvSpPr>
          <p:spPr>
            <a:xfrm>
              <a:off x="8261463" y="3735333"/>
              <a:ext cx="1689925" cy="307777"/>
            </a:xfrm>
            <a:prstGeom prst="rect">
              <a:avLst/>
            </a:prstGeom>
            <a:noFill/>
          </p:spPr>
          <p:txBody>
            <a:bodyPr wrap="square" rtlCol="0">
              <a:spAutoFit/>
            </a:bodyPr>
            <a:lstStyle/>
            <a:p>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外部中断（</a:t>
              </a:r>
              <a:r>
                <a:rPr lang="zh-CN" altLang="en-US" b="1" dirty="0">
                  <a:solidFill>
                    <a:srgbClr val="C00000"/>
                  </a:solidFill>
                  <a:latin typeface="Calibri" panose="020F0502020204030204" pitchFamily="34" charset="0"/>
                  <a:ea typeface="微软雅黑" panose="020B0503020204020204" pitchFamily="34" charset="-122"/>
                  <a:cs typeface="Calibri" panose="020F0502020204030204" pitchFamily="34" charset="0"/>
                </a:rPr>
                <a:t>硬件</a:t>
              </a:r>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p>
          </p:txBody>
        </p:sp>
        <p:sp>
          <p:nvSpPr>
            <p:cNvPr id="12" name="文本框 11">
              <a:extLst>
                <a:ext uri="{FF2B5EF4-FFF2-40B4-BE49-F238E27FC236}">
                  <a16:creationId xmlns:a16="http://schemas.microsoft.com/office/drawing/2014/main" id="{B686E500-0B82-4751-A579-7765705E9248}"/>
                </a:ext>
              </a:extLst>
            </p:cNvPr>
            <p:cNvSpPr txBox="1"/>
            <p:nvPr/>
          </p:nvSpPr>
          <p:spPr>
            <a:xfrm>
              <a:off x="9520274" y="1923916"/>
              <a:ext cx="1689924" cy="1169551"/>
            </a:xfrm>
            <a:prstGeom prst="rect">
              <a:avLst/>
            </a:prstGeom>
            <a:noFill/>
          </p:spPr>
          <p:txBody>
            <a:bodyPr wrap="square" rtlCol="0">
              <a:spAutoFit/>
            </a:bodyPr>
            <a:lstStyle/>
            <a:p>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故障（</a:t>
              </a:r>
              <a:r>
                <a:rPr lang="en-US" altLang="zh-CN" b="1" dirty="0">
                  <a:solidFill>
                    <a:srgbClr val="C00000"/>
                  </a:solidFill>
                  <a:latin typeface="Calibri" panose="020F0502020204030204" pitchFamily="34" charset="0"/>
                  <a:ea typeface="微软雅黑" panose="020B0503020204020204" pitchFamily="34" charset="-122"/>
                  <a:cs typeface="Calibri" panose="020F0502020204030204" pitchFamily="34" charset="0"/>
                </a:rPr>
                <a:t>Fault</a:t>
              </a:r>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endParaRPr lang="en-US" altLang="zh-CN"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endParaRPr lang="en-US" altLang="zh-CN"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自陷（</a:t>
              </a:r>
              <a:r>
                <a:rPr lang="en-US" altLang="zh-CN" b="1" dirty="0">
                  <a:solidFill>
                    <a:srgbClr val="C00000"/>
                  </a:solidFill>
                  <a:latin typeface="Calibri" panose="020F0502020204030204" pitchFamily="34" charset="0"/>
                  <a:ea typeface="微软雅黑" panose="020B0503020204020204" pitchFamily="34" charset="-122"/>
                  <a:cs typeface="Calibri" panose="020F0502020204030204" pitchFamily="34" charset="0"/>
                </a:rPr>
                <a:t>Trap</a:t>
              </a:r>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endParaRPr lang="en-US" altLang="zh-CN"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endParaRPr lang="en-US" altLang="zh-CN"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终止（</a:t>
              </a:r>
              <a:r>
                <a:rPr lang="en-US" altLang="zh-CN" b="1" dirty="0">
                  <a:solidFill>
                    <a:srgbClr val="C00000"/>
                  </a:solidFill>
                  <a:latin typeface="Calibri" panose="020F0502020204030204" pitchFamily="34" charset="0"/>
                  <a:ea typeface="微软雅黑" panose="020B0503020204020204" pitchFamily="34" charset="-122"/>
                  <a:cs typeface="Calibri" panose="020F0502020204030204" pitchFamily="34" charset="0"/>
                </a:rPr>
                <a:t>Abort</a:t>
              </a:r>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p>
          </p:txBody>
        </p:sp>
        <p:sp>
          <p:nvSpPr>
            <p:cNvPr id="13" name="文本框 12">
              <a:extLst>
                <a:ext uri="{FF2B5EF4-FFF2-40B4-BE49-F238E27FC236}">
                  <a16:creationId xmlns:a16="http://schemas.microsoft.com/office/drawing/2014/main" id="{6FDD81A8-AA6E-4F5F-A2ED-395838B0B248}"/>
                </a:ext>
              </a:extLst>
            </p:cNvPr>
            <p:cNvSpPr txBox="1"/>
            <p:nvPr/>
          </p:nvSpPr>
          <p:spPr>
            <a:xfrm>
              <a:off x="10048017" y="3514076"/>
              <a:ext cx="1758310" cy="738664"/>
            </a:xfrm>
            <a:prstGeom prst="rect">
              <a:avLst/>
            </a:prstGeom>
            <a:noFill/>
          </p:spPr>
          <p:txBody>
            <a:bodyPr wrap="square" rtlCol="0">
              <a:spAutoFit/>
            </a:bodyPr>
            <a:lstStyle/>
            <a:p>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可屏蔽中断</a:t>
              </a:r>
              <a:r>
                <a:rPr lang="en-US" altLang="zh-CN" b="1" dirty="0">
                  <a:solidFill>
                    <a:srgbClr val="C00000"/>
                  </a:solidFill>
                  <a:latin typeface="Calibri" panose="020F0502020204030204" pitchFamily="34" charset="0"/>
                  <a:ea typeface="微软雅黑" panose="020B0503020204020204" pitchFamily="34" charset="-122"/>
                  <a:cs typeface="Calibri" panose="020F0502020204030204" pitchFamily="34" charset="0"/>
                </a:rPr>
                <a:t>INTR</a:t>
              </a:r>
            </a:p>
            <a:p>
              <a:endParaRPr lang="en-US" altLang="zh-CN"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不可屏蔽中断</a:t>
              </a:r>
              <a:r>
                <a:rPr lang="en-US" altLang="zh-CN" b="1" dirty="0">
                  <a:solidFill>
                    <a:srgbClr val="C00000"/>
                  </a:solidFill>
                  <a:latin typeface="Calibri" panose="020F0502020204030204" pitchFamily="34" charset="0"/>
                  <a:ea typeface="微软雅黑" panose="020B0503020204020204" pitchFamily="34" charset="-122"/>
                  <a:cs typeface="Calibri" panose="020F0502020204030204" pitchFamily="34" charset="0"/>
                </a:rPr>
                <a:t>NMI</a:t>
              </a:r>
              <a:endParaRPr lang="zh-CN" altLang="en-US" b="1" dirty="0">
                <a:solidFill>
                  <a:srgbClr val="C00000"/>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5" name="左大括号 4">
              <a:extLst>
                <a:ext uri="{FF2B5EF4-FFF2-40B4-BE49-F238E27FC236}">
                  <a16:creationId xmlns:a16="http://schemas.microsoft.com/office/drawing/2014/main" id="{84145DE3-31A2-441D-9541-60BAAEE4C6A9}"/>
                </a:ext>
              </a:extLst>
            </p:cNvPr>
            <p:cNvSpPr/>
            <p:nvPr/>
          </p:nvSpPr>
          <p:spPr bwMode="auto">
            <a:xfrm>
              <a:off x="7975106" y="2521525"/>
              <a:ext cx="239009" cy="1367697"/>
            </a:xfrm>
            <a:prstGeom prst="leftBrace">
              <a:avLst>
                <a:gd name="adj1" fmla="val 0"/>
                <a:gd name="adj2" fmla="val 50000"/>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txBody>
            <a:bodyPr vert="horz" wrap="square" lIns="90000" tIns="46800" rIns="90000" bIns="46800" numCol="1" rtlCol="0" anchor="ctr" anchorCtr="0" compatLnSpc="1">
              <a:sp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2400" b="0" i="0" u="none" strike="noStrike" cap="none" normalizeH="0" baseline="0" dirty="0">
                <a:ln>
                  <a:noFill/>
                </a:ln>
                <a:solidFill>
                  <a:schemeClr val="tx1"/>
                </a:solidFill>
                <a:effectLst/>
                <a:latin typeface="Arial" panose="020B0604020202020204" pitchFamily="34" charset="0"/>
                <a:ea typeface="黑体" panose="02010609060101010101" pitchFamily="2" charset="-122"/>
              </a:endParaRPr>
            </a:p>
          </p:txBody>
        </p:sp>
        <p:sp>
          <p:nvSpPr>
            <p:cNvPr id="14" name="左大括号 13">
              <a:extLst>
                <a:ext uri="{FF2B5EF4-FFF2-40B4-BE49-F238E27FC236}">
                  <a16:creationId xmlns:a16="http://schemas.microsoft.com/office/drawing/2014/main" id="{CB77B897-07D4-473B-9170-A2E2D78C705D}"/>
                </a:ext>
              </a:extLst>
            </p:cNvPr>
            <p:cNvSpPr/>
            <p:nvPr/>
          </p:nvSpPr>
          <p:spPr bwMode="auto">
            <a:xfrm>
              <a:off x="9126802" y="2045484"/>
              <a:ext cx="363614" cy="951508"/>
            </a:xfrm>
            <a:prstGeom prst="leftBrace">
              <a:avLst>
                <a:gd name="adj1" fmla="val 0"/>
                <a:gd name="adj2" fmla="val 52799"/>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txBody>
            <a:bodyPr vert="horz" wrap="square" lIns="90000" tIns="46800" rIns="90000" bIns="46800" numCol="1" rtlCol="0" anchor="ctr" anchorCtr="0" compatLnSpc="1">
              <a:sp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2400" b="0" i="0" u="none" strike="noStrike" cap="none" normalizeH="0" baseline="0" dirty="0">
                <a:ln>
                  <a:noFill/>
                </a:ln>
                <a:solidFill>
                  <a:schemeClr val="tx1"/>
                </a:solidFill>
                <a:effectLst/>
                <a:latin typeface="Arial" panose="020B0604020202020204" pitchFamily="34" charset="0"/>
                <a:ea typeface="黑体" panose="02010609060101010101" pitchFamily="2" charset="-122"/>
              </a:endParaRPr>
            </a:p>
          </p:txBody>
        </p:sp>
        <p:sp>
          <p:nvSpPr>
            <p:cNvPr id="15" name="左大括号 14">
              <a:extLst>
                <a:ext uri="{FF2B5EF4-FFF2-40B4-BE49-F238E27FC236}">
                  <a16:creationId xmlns:a16="http://schemas.microsoft.com/office/drawing/2014/main" id="{93A4012E-4019-4E9B-960C-9C4A5A53F8B1}"/>
                </a:ext>
              </a:extLst>
            </p:cNvPr>
            <p:cNvSpPr/>
            <p:nvPr/>
          </p:nvSpPr>
          <p:spPr bwMode="auto">
            <a:xfrm>
              <a:off x="9675440" y="3591021"/>
              <a:ext cx="384797" cy="584775"/>
            </a:xfrm>
            <a:prstGeom prst="leftBrace">
              <a:avLst>
                <a:gd name="adj1" fmla="val 0"/>
                <a:gd name="adj2" fmla="val 52799"/>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txBody>
            <a:bodyPr vert="horz" wrap="square" lIns="90000" tIns="46800" rIns="90000" bIns="46800" numCol="1" rtlCol="0" anchor="ctr" anchorCtr="0" compatLnSpc="1">
              <a:sp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2400" b="0" i="0" u="none" strike="noStrike" cap="none" normalizeH="0" baseline="0" dirty="0">
                <a:ln>
                  <a:noFill/>
                </a:ln>
                <a:solidFill>
                  <a:schemeClr val="tx1"/>
                </a:solidFill>
                <a:effectLst/>
                <a:latin typeface="Arial" panose="020B0604020202020204" pitchFamily="34" charset="0"/>
                <a:ea typeface="黑体" panose="02010609060101010101" pitchFamily="2" charset="-122"/>
              </a:endParaRPr>
            </a:p>
          </p:txBody>
        </p:sp>
        <p:sp>
          <p:nvSpPr>
            <p:cNvPr id="16" name="左大括号 15">
              <a:extLst>
                <a:ext uri="{FF2B5EF4-FFF2-40B4-BE49-F238E27FC236}">
                  <a16:creationId xmlns:a16="http://schemas.microsoft.com/office/drawing/2014/main" id="{F9F3DB27-9ABF-4095-97F0-EF0FDCA1240B}"/>
                </a:ext>
              </a:extLst>
            </p:cNvPr>
            <p:cNvSpPr/>
            <p:nvPr/>
          </p:nvSpPr>
          <p:spPr bwMode="auto">
            <a:xfrm rot="10800000">
              <a:off x="10634964" y="2045484"/>
              <a:ext cx="331056" cy="476040"/>
            </a:xfrm>
            <a:prstGeom prst="leftBrace">
              <a:avLst>
                <a:gd name="adj1" fmla="val 0"/>
                <a:gd name="adj2" fmla="val 54317"/>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txBody>
            <a:bodyPr vert="horz" wrap="square" lIns="90000" tIns="46800" rIns="90000" bIns="46800" numCol="1" rtlCol="0" anchor="ctr" anchorCtr="0" compatLnSpc="1">
              <a:sp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2400" b="0" i="0" u="none" strike="noStrike" cap="none" normalizeH="0" baseline="0" dirty="0">
                <a:ln>
                  <a:noFill/>
                </a:ln>
                <a:solidFill>
                  <a:schemeClr val="tx1"/>
                </a:solidFill>
                <a:effectLst/>
                <a:latin typeface="Arial" panose="020B0604020202020204" pitchFamily="34" charset="0"/>
                <a:ea typeface="黑体" panose="02010609060101010101" pitchFamily="2" charset="-122"/>
              </a:endParaRPr>
            </a:p>
          </p:txBody>
        </p:sp>
        <p:sp>
          <p:nvSpPr>
            <p:cNvPr id="18" name="文本框 17">
              <a:extLst>
                <a:ext uri="{FF2B5EF4-FFF2-40B4-BE49-F238E27FC236}">
                  <a16:creationId xmlns:a16="http://schemas.microsoft.com/office/drawing/2014/main" id="{D8D47B17-B8EC-46D4-B4D5-4EEFC449ECE1}"/>
                </a:ext>
              </a:extLst>
            </p:cNvPr>
            <p:cNvSpPr txBox="1"/>
            <p:nvPr/>
          </p:nvSpPr>
          <p:spPr>
            <a:xfrm>
              <a:off x="10959795" y="2741682"/>
              <a:ext cx="1106935" cy="307777"/>
            </a:xfrm>
            <a:prstGeom prst="rect">
              <a:avLst/>
            </a:prstGeom>
            <a:noFill/>
          </p:spPr>
          <p:txBody>
            <a:bodyPr wrap="square" rtlCol="0">
              <a:spAutoFit/>
            </a:bodyPr>
            <a:lstStyle/>
            <a:p>
              <a:r>
                <a:rPr lang="zh-CN" altLang="en-US" b="1" dirty="0">
                  <a:solidFill>
                    <a:srgbClr val="C00000"/>
                  </a:solidFill>
                  <a:latin typeface="微软雅黑" panose="020B0503020204020204" pitchFamily="34" charset="-122"/>
                  <a:ea typeface="微软雅黑" panose="020B0503020204020204" pitchFamily="34" charset="-122"/>
                </a:rPr>
                <a:t>硬件中断</a:t>
              </a:r>
            </a:p>
          </p:txBody>
        </p:sp>
      </p:grpSp>
    </p:spTree>
    <p:extLst>
      <p:ext uri="{BB962C8B-B14F-4D97-AF65-F5344CB8AC3E}">
        <p14:creationId xmlns:p14="http://schemas.microsoft.com/office/powerpoint/2010/main" val="37116454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69A58B66-484A-4A8F-B0FB-60A3D86BC9DE}"/>
              </a:ext>
            </a:extLst>
          </p:cNvPr>
          <p:cNvPicPr>
            <a:picLocks noChangeAspect="1"/>
          </p:cNvPicPr>
          <p:nvPr/>
        </p:nvPicPr>
        <p:blipFill>
          <a:blip r:embed="rId3"/>
          <a:stretch>
            <a:fillRect/>
          </a:stretch>
        </p:blipFill>
        <p:spPr>
          <a:xfrm>
            <a:off x="6664218" y="1461640"/>
            <a:ext cx="2667576" cy="3069428"/>
          </a:xfrm>
          <a:prstGeom prst="rect">
            <a:avLst/>
          </a:prstGeom>
        </p:spPr>
      </p:pic>
      <p:sp>
        <p:nvSpPr>
          <p:cNvPr id="2" name="标题 1">
            <a:extLst>
              <a:ext uri="{FF2B5EF4-FFF2-40B4-BE49-F238E27FC236}">
                <a16:creationId xmlns:a16="http://schemas.microsoft.com/office/drawing/2014/main" id="{4AF910C5-EFAA-4549-9569-C844E14C6E8B}"/>
              </a:ext>
            </a:extLst>
          </p:cNvPr>
          <p:cNvSpPr>
            <a:spLocks noGrp="1"/>
          </p:cNvSpPr>
          <p:nvPr>
            <p:ph type="title"/>
          </p:nvPr>
        </p:nvSpPr>
        <p:spPr>
          <a:xfrm>
            <a:off x="1101024" y="280618"/>
            <a:ext cx="10372436" cy="688975"/>
          </a:xfrm>
        </p:spPr>
        <p:txBody>
          <a:bodyPr/>
          <a:lstStyle/>
          <a:p>
            <a:r>
              <a:rPr lang="en-US" altLang="zh-CN" dirty="0">
                <a:latin typeface="Calibri" panose="020F0502020204030204" pitchFamily="34" charset="0"/>
                <a:ea typeface="Calibri" panose="020F0502020204030204" pitchFamily="34" charset="0"/>
                <a:cs typeface="Calibri" panose="020F0502020204030204" pitchFamily="34" charset="0"/>
              </a:rPr>
              <a:t>6.7 </a:t>
            </a:r>
            <a:r>
              <a:rPr lang="zh-CN" altLang="en-US" dirty="0">
                <a:latin typeface="Calibri" panose="020F0502020204030204" pitchFamily="34" charset="0"/>
                <a:ea typeface="微软雅黑" panose="020B0503020204020204" pitchFamily="34" charset="-122"/>
                <a:cs typeface="Calibri" panose="020F0502020204030204" pitchFamily="34" charset="0"/>
              </a:rPr>
              <a:t>异常与中断处理</a:t>
            </a:r>
          </a:p>
        </p:txBody>
      </p:sp>
      <p:sp>
        <p:nvSpPr>
          <p:cNvPr id="3" name="内容占位符 2">
            <a:extLst>
              <a:ext uri="{FF2B5EF4-FFF2-40B4-BE49-F238E27FC236}">
                <a16:creationId xmlns:a16="http://schemas.microsoft.com/office/drawing/2014/main" id="{00BBC5DE-113D-48E4-8AD6-2EE618C10669}"/>
              </a:ext>
            </a:extLst>
          </p:cNvPr>
          <p:cNvSpPr>
            <a:spLocks noGrp="1"/>
          </p:cNvSpPr>
          <p:nvPr>
            <p:ph idx="1"/>
          </p:nvPr>
        </p:nvSpPr>
        <p:spPr>
          <a:xfrm>
            <a:off x="437920" y="854369"/>
            <a:ext cx="6067919" cy="6003631"/>
          </a:xfrm>
        </p:spPr>
        <p:txBody>
          <a:bodyPr/>
          <a:lstStyle/>
          <a:p>
            <a:pPr>
              <a:lnSpc>
                <a:spcPct val="120000"/>
              </a:lnSpc>
            </a:pPr>
            <a:r>
              <a:rPr lang="en-US" altLang="zh-CN" b="1" dirty="0">
                <a:latin typeface="Calibri" panose="020F0502020204030204" pitchFamily="34" charset="0"/>
                <a:ea typeface="Calibri" panose="020F0502020204030204" pitchFamily="34" charset="0"/>
                <a:cs typeface="Calibri" panose="020F0502020204030204" pitchFamily="34" charset="0"/>
              </a:rPr>
              <a:t>6.7.2 </a:t>
            </a:r>
            <a:r>
              <a:rPr lang="zh-CN" altLang="en-US" b="1" dirty="0">
                <a:latin typeface="Calibri" panose="020F0502020204030204" pitchFamily="34" charset="0"/>
                <a:ea typeface="微软雅黑" panose="020B0503020204020204" pitchFamily="34" charset="-122"/>
                <a:cs typeface="Calibri" panose="020F0502020204030204" pitchFamily="34" charset="0"/>
              </a:rPr>
              <a:t>中断的基本类型</a:t>
            </a:r>
            <a:endParaRPr lang="en-US" altLang="zh-CN" b="1" dirty="0">
              <a:latin typeface="Calibri" panose="020F0502020204030204" pitchFamily="34" charset="0"/>
              <a:ea typeface="Calibri" panose="020F0502020204030204" pitchFamily="34" charset="0"/>
              <a:cs typeface="Calibri" panose="020F0502020204030204" pitchFamily="34" charset="0"/>
            </a:endParaRPr>
          </a:p>
          <a:p>
            <a:pPr lvl="1" eaLnBrk="1" hangingPunct="1">
              <a:lnSpc>
                <a:spcPct val="120000"/>
              </a:lnSpc>
              <a:buFont typeface="Wingdings" panose="05000000000000000000" pitchFamily="2" charset="2"/>
              <a:buChar char="p"/>
            </a:pPr>
            <a:r>
              <a:rPr lang="zh-CN" altLang="en-US" b="1" kern="1200" dirty="0">
                <a:latin typeface="Calibri" panose="020F0502020204030204" pitchFamily="34" charset="0"/>
                <a:ea typeface="微软雅黑" panose="020B0503020204020204" pitchFamily="34" charset="-122"/>
                <a:cs typeface="Calibri" panose="020F0502020204030204" pitchFamily="34" charset="0"/>
              </a:rPr>
              <a:t>单级中断和多重中断（</a:t>
            </a:r>
            <a:r>
              <a:rPr lang="zh-CN" altLang="en-US" b="1" kern="1200" dirty="0">
                <a:solidFill>
                  <a:srgbClr val="C00000"/>
                </a:solidFill>
                <a:latin typeface="Calibri" panose="020F0502020204030204" pitchFamily="34" charset="0"/>
                <a:ea typeface="微软雅黑" panose="020B0503020204020204" pitchFamily="34" charset="-122"/>
                <a:cs typeface="Calibri" panose="020F0502020204030204" pitchFamily="34" charset="0"/>
              </a:rPr>
              <a:t>如图</a:t>
            </a:r>
            <a:r>
              <a:rPr lang="en-US" altLang="zh-CN" b="1" kern="1200" dirty="0">
                <a:solidFill>
                  <a:srgbClr val="C00000"/>
                </a:solidFill>
                <a:latin typeface="Calibri" panose="020F0502020204030204" pitchFamily="34" charset="0"/>
                <a:ea typeface="微软雅黑" panose="020B0503020204020204" pitchFamily="34" charset="-122"/>
                <a:cs typeface="Calibri" panose="020F0502020204030204" pitchFamily="34" charset="0"/>
              </a:rPr>
              <a:t>6.3</a:t>
            </a:r>
            <a:r>
              <a:rPr lang="zh-CN" altLang="en-US" b="1" kern="1200" dirty="0">
                <a:solidFill>
                  <a:srgbClr val="C00000"/>
                </a:solidFill>
                <a:latin typeface="Calibri" panose="020F0502020204030204" pitchFamily="34" charset="0"/>
                <a:ea typeface="微软雅黑" panose="020B0503020204020204" pitchFamily="34" charset="-122"/>
                <a:cs typeface="Calibri" panose="020F0502020204030204" pitchFamily="34" charset="0"/>
              </a:rPr>
              <a:t>所示</a:t>
            </a:r>
            <a:r>
              <a:rPr lang="zh-CN" altLang="en-US" sz="2000" b="1" dirty="0">
                <a:solidFill>
                  <a:srgbClr val="274FA2"/>
                </a:solidFill>
                <a:latin typeface="Calibri" panose="020F0502020204030204" pitchFamily="34" charset="0"/>
                <a:ea typeface="微软雅黑" panose="020B0503020204020204" pitchFamily="34" charset="-122"/>
                <a:cs typeface="Calibri" panose="020F0502020204030204" pitchFamily="34" charset="0"/>
              </a:rPr>
              <a:t>）</a:t>
            </a:r>
            <a:endParaRPr lang="en-US" altLang="zh-CN" sz="2000" b="1" dirty="0">
              <a:solidFill>
                <a:srgbClr val="274FA2"/>
              </a:solidFill>
              <a:latin typeface="Calibri" panose="020F0502020204030204" pitchFamily="34" charset="0"/>
              <a:ea typeface="Calibri" panose="020F0502020204030204" pitchFamily="34" charset="0"/>
              <a:cs typeface="Calibri" panose="020F0502020204030204" pitchFamily="34" charset="0"/>
            </a:endParaRPr>
          </a:p>
          <a:p>
            <a:pPr marL="1081088" lvl="2" indent="-277813" eaLnBrk="1" hangingPunct="1">
              <a:lnSpc>
                <a:spcPct val="120000"/>
              </a:lnSpc>
              <a:buFont typeface="Wingdings" panose="05000000000000000000" pitchFamily="2" charset="2"/>
              <a:buChar char="n"/>
              <a:tabLst>
                <a:tab pos="1081088" algn="l"/>
              </a:tabLst>
            </a:pP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单级中断：</a:t>
            </a:r>
            <a:r>
              <a:rPr lang="zh-CN" altLang="en-US" sz="1800" b="1" kern="1200" dirty="0">
                <a:solidFill>
                  <a:srgbClr val="133984"/>
                </a:solidFill>
                <a:latin typeface="Calibri" panose="020F0502020204030204" pitchFamily="34" charset="0"/>
                <a:ea typeface="微软雅黑" panose="020B0503020204020204" pitchFamily="34" charset="-122"/>
                <a:cs typeface="Calibri" panose="020F0502020204030204" pitchFamily="34" charset="0"/>
              </a:rPr>
              <a:t>执行中断服务程序时，不再响应其他中断请求。</a:t>
            </a:r>
            <a:endParaRPr lang="en-US" altLang="zh-CN" sz="2800" b="1" kern="1200"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marL="1074738" lvl="2" indent="-266700" eaLnBrk="1" hangingPunct="1">
              <a:lnSpc>
                <a:spcPct val="120000"/>
              </a:lnSpc>
              <a:buFont typeface="Wingdings" panose="05000000000000000000" pitchFamily="2" charset="2"/>
              <a:buChar char="n"/>
              <a:tabLst>
                <a:tab pos="1081088" algn="l"/>
                <a:tab pos="1255713" algn="l"/>
              </a:tabLst>
            </a:pPr>
            <a:r>
              <a:rPr lang="zh-CN" altLang="en-US" sz="1800" b="1" kern="1200" dirty="0">
                <a:solidFill>
                  <a:srgbClr val="133984"/>
                </a:solidFill>
                <a:latin typeface="Calibri" panose="020F0502020204030204" pitchFamily="34" charset="0"/>
                <a:ea typeface="微软雅黑" panose="020B0503020204020204" pitchFamily="34" charset="-122"/>
                <a:cs typeface="Calibri" panose="020F0502020204030204" pitchFamily="34" charset="0"/>
              </a:rPr>
              <a:t>单级中断属于资源独占，一旦获得资源，直到处理完毕，类似于互斥锁。</a:t>
            </a:r>
            <a:endParaRPr lang="en-US" altLang="zh-CN" sz="1800" b="1" kern="1200"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marL="1482408" lvl="3" indent="-266700" eaLnBrk="1" hangingPunct="1">
              <a:lnSpc>
                <a:spcPct val="120000"/>
              </a:lnSpc>
              <a:buFont typeface="Wingdings" panose="05000000000000000000" pitchFamily="2" charset="2"/>
              <a:buChar char="n"/>
              <a:tabLst>
                <a:tab pos="1081088" algn="l"/>
                <a:tab pos="1255713" algn="l"/>
              </a:tabLst>
            </a:pPr>
            <a:r>
              <a:rPr lang="zh-CN" altLang="en-US" sz="1800" b="1" kern="1200" dirty="0">
                <a:solidFill>
                  <a:srgbClr val="C00000"/>
                </a:solidFill>
                <a:latin typeface="Calibri" panose="020F0502020204030204" pitchFamily="34" charset="0"/>
                <a:ea typeface="微软雅黑" panose="020B0503020204020204" pitchFamily="34" charset="-122"/>
                <a:cs typeface="Calibri" panose="020F0502020204030204" pitchFamily="34" charset="0"/>
              </a:rPr>
              <a:t>优点</a:t>
            </a:r>
            <a:r>
              <a:rPr lang="zh-CN" altLang="en-US" sz="1800" b="1" kern="1200" dirty="0">
                <a:solidFill>
                  <a:srgbClr val="133984"/>
                </a:solidFill>
                <a:latin typeface="Calibri" panose="020F0502020204030204" pitchFamily="34" charset="0"/>
                <a:ea typeface="微软雅黑" panose="020B0503020204020204" pitchFamily="34" charset="-122"/>
                <a:cs typeface="Calibri" panose="020F0502020204030204" pitchFamily="34" charset="0"/>
              </a:rPr>
              <a:t>：有利于单个中断事务的完成</a:t>
            </a:r>
            <a:endParaRPr lang="en-US" altLang="zh-CN" sz="1800" b="1" kern="1200"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marL="1482408" lvl="3" indent="-266700" eaLnBrk="1" hangingPunct="1">
              <a:lnSpc>
                <a:spcPct val="120000"/>
              </a:lnSpc>
              <a:buFont typeface="Wingdings" panose="05000000000000000000" pitchFamily="2" charset="2"/>
              <a:buChar char="n"/>
              <a:tabLst>
                <a:tab pos="1081088" algn="l"/>
                <a:tab pos="1255713" algn="l"/>
              </a:tabLst>
            </a:pPr>
            <a:r>
              <a:rPr lang="zh-CN" altLang="en-US" sz="1800" b="1" kern="1200" dirty="0">
                <a:solidFill>
                  <a:srgbClr val="C00000"/>
                </a:solidFill>
                <a:latin typeface="Calibri" panose="020F0502020204030204" pitchFamily="34" charset="0"/>
                <a:ea typeface="微软雅黑" panose="020B0503020204020204" pitchFamily="34" charset="-122"/>
                <a:cs typeface="Calibri" panose="020F0502020204030204" pitchFamily="34" charset="0"/>
              </a:rPr>
              <a:t>缺点</a:t>
            </a:r>
            <a:r>
              <a:rPr lang="zh-CN" altLang="en-US" sz="1800" b="1" kern="1200" dirty="0">
                <a:solidFill>
                  <a:srgbClr val="133984"/>
                </a:solidFill>
                <a:latin typeface="Calibri" panose="020F0502020204030204" pitchFamily="34" charset="0"/>
                <a:ea typeface="微软雅黑" panose="020B0503020204020204" pitchFamily="34" charset="-122"/>
                <a:cs typeface="Calibri" panose="020F0502020204030204" pitchFamily="34" charset="0"/>
              </a:rPr>
              <a:t>：不利于</a:t>
            </a:r>
            <a:r>
              <a:rPr lang="en-US" altLang="zh-CN" sz="1800" b="1" kern="1200" dirty="0">
                <a:solidFill>
                  <a:srgbClr val="133984"/>
                </a:solidFill>
                <a:latin typeface="Calibri" panose="020F0502020204030204" pitchFamily="34" charset="0"/>
                <a:ea typeface="微软雅黑" panose="020B0503020204020204" pitchFamily="34" charset="-122"/>
                <a:cs typeface="Calibri" panose="020F0502020204030204" pitchFamily="34" charset="0"/>
              </a:rPr>
              <a:t>CPU</a:t>
            </a:r>
            <a:r>
              <a:rPr lang="zh-CN" altLang="en-US" sz="1800" b="1" kern="1200" dirty="0">
                <a:solidFill>
                  <a:srgbClr val="133984"/>
                </a:solidFill>
                <a:latin typeface="Calibri" panose="020F0502020204030204" pitchFamily="34" charset="0"/>
                <a:ea typeface="微软雅黑" panose="020B0503020204020204" pitchFamily="34" charset="-122"/>
                <a:cs typeface="Calibri" panose="020F0502020204030204" pitchFamily="34" charset="0"/>
              </a:rPr>
              <a:t>对于紧急事务的处理</a:t>
            </a:r>
            <a:endParaRPr lang="en-US" altLang="zh-CN" sz="1800" b="1" kern="1200"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marL="1074738" lvl="2" indent="-266700" eaLnBrk="1" hangingPunct="1">
              <a:lnSpc>
                <a:spcPct val="120000"/>
              </a:lnSpc>
              <a:buFont typeface="Wingdings" panose="05000000000000000000" pitchFamily="2" charset="2"/>
              <a:buChar char="n"/>
              <a:tabLst>
                <a:tab pos="1081088" algn="l"/>
                <a:tab pos="1255713" algn="l"/>
              </a:tabLst>
            </a:pP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多重中断：</a:t>
            </a:r>
            <a:r>
              <a:rPr lang="zh-CN" altLang="en-US" sz="1800" b="1" kern="1200" dirty="0">
                <a:solidFill>
                  <a:srgbClr val="133984"/>
                </a:solidFill>
                <a:latin typeface="Calibri" panose="020F0502020204030204" pitchFamily="34" charset="0"/>
                <a:ea typeface="微软雅黑" panose="020B0503020204020204" pitchFamily="34" charset="-122"/>
                <a:cs typeface="Calibri" panose="020F0502020204030204" pitchFamily="34" charset="0"/>
              </a:rPr>
              <a:t>也称为嵌套中断、中断嵌套。中断服务程序可以被更高优先级的中断请求中断。</a:t>
            </a:r>
            <a:endParaRPr lang="en-US" altLang="zh-CN" sz="1800" b="1" kern="1200"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marL="1074738" lvl="2" indent="-266700" eaLnBrk="1" hangingPunct="1">
              <a:lnSpc>
                <a:spcPct val="120000"/>
              </a:lnSpc>
              <a:buFont typeface="Wingdings" panose="05000000000000000000" pitchFamily="2" charset="2"/>
              <a:buChar char="n"/>
              <a:tabLst>
                <a:tab pos="1081088" algn="l"/>
                <a:tab pos="1255713" algn="l"/>
              </a:tabLst>
            </a:pPr>
            <a:r>
              <a:rPr lang="zh-CN" altLang="en-US" sz="1800" b="1" kern="1200" dirty="0">
                <a:solidFill>
                  <a:srgbClr val="133984"/>
                </a:solidFill>
                <a:latin typeface="Calibri" panose="020F0502020204030204" pitchFamily="34" charset="0"/>
                <a:ea typeface="微软雅黑" panose="020B0503020204020204" pitchFamily="34" charset="-122"/>
                <a:cs typeface="Calibri" panose="020F0502020204030204" pitchFamily="34" charset="0"/>
              </a:rPr>
              <a:t>多重中断时，共享处理器资源，获得资源的中断事务，可以被其他中断事务打断，类似于共享锁。</a:t>
            </a:r>
            <a:endParaRPr lang="en-US" altLang="zh-CN" sz="1800" b="1" kern="1200"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marL="1482408" lvl="3" indent="-266700" eaLnBrk="1" hangingPunct="1">
              <a:lnSpc>
                <a:spcPct val="120000"/>
              </a:lnSpc>
              <a:buFont typeface="Wingdings" panose="05000000000000000000" pitchFamily="2" charset="2"/>
              <a:buChar char="n"/>
              <a:tabLst>
                <a:tab pos="1081088" algn="l"/>
                <a:tab pos="1255713" algn="l"/>
              </a:tabLst>
            </a:pPr>
            <a:r>
              <a:rPr lang="zh-CN" altLang="en-US" sz="1800" b="1" kern="1200" dirty="0">
                <a:solidFill>
                  <a:srgbClr val="C00000"/>
                </a:solidFill>
                <a:latin typeface="Calibri" panose="020F0502020204030204" pitchFamily="34" charset="0"/>
                <a:ea typeface="微软雅黑" panose="020B0503020204020204" pitchFamily="34" charset="-122"/>
                <a:cs typeface="Calibri" panose="020F0502020204030204" pitchFamily="34" charset="0"/>
              </a:rPr>
              <a:t>优点</a:t>
            </a:r>
            <a:r>
              <a:rPr lang="zh-CN" altLang="en-US" sz="1800" b="1" kern="1200" dirty="0">
                <a:solidFill>
                  <a:srgbClr val="133984"/>
                </a:solidFill>
                <a:latin typeface="Calibri" panose="020F0502020204030204" pitchFamily="34" charset="0"/>
                <a:ea typeface="微软雅黑" panose="020B0503020204020204" pitchFamily="34" charset="-122"/>
                <a:cs typeface="Calibri" panose="020F0502020204030204" pitchFamily="34" charset="0"/>
              </a:rPr>
              <a:t>：有利于</a:t>
            </a:r>
            <a:r>
              <a:rPr lang="en-US" altLang="zh-CN" sz="1800" b="1" kern="1200" dirty="0">
                <a:solidFill>
                  <a:srgbClr val="133984"/>
                </a:solidFill>
                <a:latin typeface="Calibri" panose="020F0502020204030204" pitchFamily="34" charset="0"/>
                <a:ea typeface="微软雅黑" panose="020B0503020204020204" pitchFamily="34" charset="-122"/>
                <a:cs typeface="Calibri" panose="020F0502020204030204" pitchFamily="34" charset="0"/>
              </a:rPr>
              <a:t>CPU</a:t>
            </a:r>
            <a:r>
              <a:rPr lang="zh-CN" altLang="en-US" sz="1800" b="1" kern="1200" dirty="0">
                <a:solidFill>
                  <a:srgbClr val="133984"/>
                </a:solidFill>
                <a:latin typeface="Calibri" panose="020F0502020204030204" pitchFamily="34" charset="0"/>
                <a:ea typeface="微软雅黑" panose="020B0503020204020204" pitchFamily="34" charset="-122"/>
                <a:cs typeface="Calibri" panose="020F0502020204030204" pitchFamily="34" charset="0"/>
              </a:rPr>
              <a:t>对于更紧急事务的处理</a:t>
            </a:r>
            <a:endParaRPr lang="en-US" altLang="zh-CN" sz="1800" b="1" kern="1200"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marL="1482408" lvl="3" indent="-266700" eaLnBrk="1" hangingPunct="1">
              <a:lnSpc>
                <a:spcPct val="120000"/>
              </a:lnSpc>
              <a:buFont typeface="Wingdings" panose="05000000000000000000" pitchFamily="2" charset="2"/>
              <a:buChar char="n"/>
              <a:tabLst>
                <a:tab pos="1081088" algn="l"/>
                <a:tab pos="1255713" algn="l"/>
              </a:tabLst>
            </a:pPr>
            <a:r>
              <a:rPr lang="zh-CN" altLang="en-US" sz="1800" b="1" kern="1200" dirty="0">
                <a:solidFill>
                  <a:srgbClr val="C00000"/>
                </a:solidFill>
                <a:latin typeface="Calibri" panose="020F0502020204030204" pitchFamily="34" charset="0"/>
                <a:ea typeface="微软雅黑" panose="020B0503020204020204" pitchFamily="34" charset="-122"/>
                <a:cs typeface="Calibri" panose="020F0502020204030204" pitchFamily="34" charset="0"/>
              </a:rPr>
              <a:t>缺点</a:t>
            </a:r>
            <a:r>
              <a:rPr lang="zh-CN" altLang="en-US" sz="1800" b="1" kern="1200" dirty="0">
                <a:solidFill>
                  <a:srgbClr val="133984"/>
                </a:solidFill>
                <a:latin typeface="Calibri" panose="020F0502020204030204" pitchFamily="34" charset="0"/>
                <a:ea typeface="微软雅黑" panose="020B0503020204020204" pitchFamily="34" charset="-122"/>
                <a:cs typeface="Calibri" panose="020F0502020204030204" pitchFamily="34" charset="0"/>
              </a:rPr>
              <a:t>：当前处理的中断事务可能被多次中断而无法顺利完成</a:t>
            </a:r>
            <a:endParaRPr lang="en-US" altLang="zh-CN" sz="1800" b="1" kern="1200"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marL="1094105" lvl="2" indent="0">
              <a:lnSpc>
                <a:spcPct val="120000"/>
              </a:lnSpc>
              <a:buNone/>
            </a:pPr>
            <a:endParaRPr lang="en-US" altLang="zh-CN" sz="2000" b="1" dirty="0">
              <a:latin typeface="Calibri" panose="020F0502020204030204" pitchFamily="34" charset="0"/>
              <a:ea typeface="Calibri" panose="020F0502020204030204" pitchFamily="34" charset="0"/>
              <a:cs typeface="Calibri" panose="020F0502020204030204" pitchFamily="34" charset="0"/>
            </a:endParaRPr>
          </a:p>
          <a:p>
            <a:pPr marL="628650" lvl="1" indent="0">
              <a:lnSpc>
                <a:spcPct val="120000"/>
              </a:lnSpc>
              <a:buNone/>
            </a:pPr>
            <a:endParaRPr lang="zh-CN" altLang="en-US" sz="2000" dirty="0">
              <a:latin typeface="Calibri" panose="020F0502020204030204" pitchFamily="34" charset="0"/>
              <a:cs typeface="Calibri" panose="020F0502020204030204" pitchFamily="34" charset="0"/>
            </a:endParaRPr>
          </a:p>
        </p:txBody>
      </p:sp>
      <p:grpSp>
        <p:nvGrpSpPr>
          <p:cNvPr id="4" name="组合 3">
            <a:extLst>
              <a:ext uri="{FF2B5EF4-FFF2-40B4-BE49-F238E27FC236}">
                <a16:creationId xmlns:a16="http://schemas.microsoft.com/office/drawing/2014/main" id="{D81EBD09-37B0-4AE8-8A82-2297C15F2B2A}"/>
              </a:ext>
            </a:extLst>
          </p:cNvPr>
          <p:cNvGrpSpPr/>
          <p:nvPr/>
        </p:nvGrpSpPr>
        <p:grpSpPr>
          <a:xfrm>
            <a:off x="6971551" y="2081954"/>
            <a:ext cx="4871260" cy="3802218"/>
            <a:chOff x="3117808" y="2636912"/>
            <a:chExt cx="4988129" cy="3802218"/>
          </a:xfrm>
        </p:grpSpPr>
        <p:pic>
          <p:nvPicPr>
            <p:cNvPr id="6" name="图片 5">
              <a:extLst>
                <a:ext uri="{FF2B5EF4-FFF2-40B4-BE49-F238E27FC236}">
                  <a16:creationId xmlns:a16="http://schemas.microsoft.com/office/drawing/2014/main" id="{537FF2F4-5195-42C2-ABBF-251C0B1F86C5}"/>
                </a:ext>
              </a:extLst>
            </p:cNvPr>
            <p:cNvPicPr>
              <a:picLocks noChangeAspect="1"/>
            </p:cNvPicPr>
            <p:nvPr/>
          </p:nvPicPr>
          <p:blipFill>
            <a:blip r:embed="rId4"/>
            <a:stretch>
              <a:fillRect/>
            </a:stretch>
          </p:blipFill>
          <p:spPr>
            <a:xfrm>
              <a:off x="4960029" y="2636912"/>
              <a:ext cx="3145908" cy="2088232"/>
            </a:xfrm>
            <a:prstGeom prst="rect">
              <a:avLst/>
            </a:prstGeom>
          </p:spPr>
        </p:pic>
        <p:sp>
          <p:nvSpPr>
            <p:cNvPr id="7" name="文本框 6">
              <a:extLst>
                <a:ext uri="{FF2B5EF4-FFF2-40B4-BE49-F238E27FC236}">
                  <a16:creationId xmlns:a16="http://schemas.microsoft.com/office/drawing/2014/main" id="{22B42112-1740-4806-ABB5-577420DDF33F}"/>
                </a:ext>
              </a:extLst>
            </p:cNvPr>
            <p:cNvSpPr txBox="1"/>
            <p:nvPr/>
          </p:nvSpPr>
          <p:spPr>
            <a:xfrm>
              <a:off x="3668197" y="6100576"/>
              <a:ext cx="3962815" cy="338554"/>
            </a:xfrm>
            <a:prstGeom prst="rect">
              <a:avLst/>
            </a:prstGeom>
            <a:noFill/>
          </p:spPr>
          <p:txBody>
            <a:bodyPr wrap="none" rtlCol="0">
              <a:spAutoFit/>
            </a:bodyPr>
            <a:lstStyle/>
            <a:p>
              <a:r>
                <a:rPr lang="zh-CN" altLang="en-US"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图</a:t>
              </a:r>
              <a:r>
                <a:rPr lang="en-US" altLang="zh-CN"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6.3  </a:t>
              </a:r>
              <a:r>
                <a:rPr lang="zh-CN" altLang="en-US"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单级中断和多重中断的处理示意图</a:t>
              </a:r>
            </a:p>
          </p:txBody>
        </p:sp>
        <p:sp>
          <p:nvSpPr>
            <p:cNvPr id="8" name="文本框 7">
              <a:extLst>
                <a:ext uri="{FF2B5EF4-FFF2-40B4-BE49-F238E27FC236}">
                  <a16:creationId xmlns:a16="http://schemas.microsoft.com/office/drawing/2014/main" id="{320A7956-1CE0-4114-AA1D-BBFCBE393FDC}"/>
                </a:ext>
              </a:extLst>
            </p:cNvPr>
            <p:cNvSpPr txBox="1"/>
            <p:nvPr/>
          </p:nvSpPr>
          <p:spPr>
            <a:xfrm>
              <a:off x="3117808" y="5270420"/>
              <a:ext cx="2322515" cy="923330"/>
            </a:xfrm>
            <a:prstGeom prst="rect">
              <a:avLst/>
            </a:prstGeom>
            <a:noFill/>
          </p:spPr>
          <p:txBody>
            <a:bodyPr wrap="square" rtlCol="0">
              <a:spAutoFit/>
            </a:bodyPr>
            <a:lstStyle/>
            <a:p>
              <a:r>
                <a:rPr lang="zh-CN" altLang="en-US" b="1" dirty="0">
                  <a:solidFill>
                    <a:srgbClr val="C00000"/>
                  </a:solidFill>
                  <a:latin typeface="Calibri" panose="020F0502020204030204" pitchFamily="34" charset="0"/>
                  <a:ea typeface="微软雅黑" panose="020B0503020204020204" pitchFamily="34" charset="-122"/>
                  <a:cs typeface="Calibri" panose="020F0502020204030204" pitchFamily="34" charset="0"/>
                </a:rPr>
                <a:t>（</a:t>
              </a:r>
              <a:r>
                <a:rPr lang="en-US" altLang="zh-CN" b="1" dirty="0">
                  <a:solidFill>
                    <a:srgbClr val="C00000"/>
                  </a:solidFill>
                  <a:latin typeface="Calibri" panose="020F0502020204030204" pitchFamily="34" charset="0"/>
                  <a:ea typeface="微软雅黑" panose="020B0503020204020204" pitchFamily="34" charset="-122"/>
                  <a:cs typeface="Calibri" panose="020F0502020204030204" pitchFamily="34" charset="0"/>
                </a:rPr>
                <a:t>a</a:t>
              </a:r>
              <a:r>
                <a:rPr lang="zh-CN" altLang="en-US"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）单级中断</a:t>
              </a:r>
              <a:endParaRPr lang="en-US" altLang="zh-CN" b="1" dirty="0">
                <a:solidFill>
                  <a:srgbClr val="C00000"/>
                </a:solidFill>
                <a:latin typeface="Calibri" panose="020F0502020204030204" pitchFamily="34" charset="0"/>
                <a:ea typeface="微软雅黑" panose="020B0503020204020204" pitchFamily="34" charset="-122"/>
                <a:cs typeface="Calibri" panose="020F0502020204030204" pitchFamily="34" charset="0"/>
              </a:endParaRPr>
            </a:p>
            <a:p>
              <a:endParaRPr lang="en-US" altLang="zh-CN" b="1" dirty="0">
                <a:solidFill>
                  <a:srgbClr val="C00000"/>
                </a:solidFill>
                <a:latin typeface="Calibri" panose="020F0502020204030204" pitchFamily="34" charset="0"/>
                <a:ea typeface="微软雅黑" panose="020B0503020204020204" pitchFamily="34" charset="-122"/>
                <a:cs typeface="Calibri" panose="020F0502020204030204" pitchFamily="34" charset="0"/>
              </a:endParaRPr>
            </a:p>
            <a:p>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中断处理顺序 </a:t>
              </a:r>
              <a:r>
                <a:rPr lang="en-US" altLang="zh-CN" b="1" dirty="0">
                  <a:solidFill>
                    <a:srgbClr val="133984"/>
                  </a:solidFill>
                  <a:latin typeface="Calibri" panose="020F0502020204030204" pitchFamily="34" charset="0"/>
                  <a:ea typeface="微软雅黑" panose="020B0503020204020204" pitchFamily="34" charset="-122"/>
                  <a:cs typeface="Calibri" panose="020F0502020204030204" pitchFamily="34" charset="0"/>
                </a:rPr>
                <a:t>  </a:t>
              </a:r>
              <a:r>
                <a:rPr lang="en-US" altLang="zh-CN" b="1" dirty="0">
                  <a:solidFill>
                    <a:srgbClr val="C00000"/>
                  </a:solidFill>
                  <a:latin typeface="Calibri" panose="020F0502020204030204" pitchFamily="34" charset="0"/>
                  <a:ea typeface="微软雅黑" panose="020B0503020204020204" pitchFamily="34" charset="-122"/>
                  <a:cs typeface="Calibri" panose="020F0502020204030204" pitchFamily="34" charset="0"/>
                </a:rPr>
                <a:t>A-&gt;B-&gt;C </a:t>
              </a:r>
            </a:p>
            <a:p>
              <a:endParaRPr lang="zh-CN" altLang="en-US" sz="1200" b="1" dirty="0">
                <a:solidFill>
                  <a:srgbClr val="274FA2"/>
                </a:solidFill>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58592D0D-954A-46F7-AC61-3A8688A79109}"/>
                </a:ext>
              </a:extLst>
            </p:cNvPr>
            <p:cNvSpPr txBox="1"/>
            <p:nvPr/>
          </p:nvSpPr>
          <p:spPr>
            <a:xfrm>
              <a:off x="5792271" y="5228194"/>
              <a:ext cx="1981572" cy="923330"/>
            </a:xfrm>
            <a:prstGeom prst="rect">
              <a:avLst/>
            </a:prstGeom>
            <a:noFill/>
          </p:spPr>
          <p:txBody>
            <a:bodyPr wrap="none" rtlCol="0">
              <a:spAutoFit/>
            </a:bodyPr>
            <a:lstStyle/>
            <a:p>
              <a:r>
                <a:rPr lang="zh-CN" altLang="en-US" b="1" dirty="0">
                  <a:solidFill>
                    <a:srgbClr val="C00000"/>
                  </a:solidFill>
                  <a:latin typeface="Calibri" panose="020F0502020204030204" pitchFamily="34" charset="0"/>
                  <a:ea typeface="微软雅黑" panose="020B0503020204020204" pitchFamily="34" charset="-122"/>
                  <a:cs typeface="Calibri" panose="020F0502020204030204" pitchFamily="34" charset="0"/>
                </a:rPr>
                <a:t>（</a:t>
              </a:r>
              <a:r>
                <a:rPr lang="en-US" altLang="zh-CN" b="1" dirty="0">
                  <a:solidFill>
                    <a:srgbClr val="C00000"/>
                  </a:solidFill>
                  <a:latin typeface="Calibri" panose="020F0502020204030204" pitchFamily="34" charset="0"/>
                  <a:ea typeface="微软雅黑" panose="020B0503020204020204" pitchFamily="34" charset="-122"/>
                  <a:cs typeface="Calibri" panose="020F0502020204030204" pitchFamily="34" charset="0"/>
                </a:rPr>
                <a:t>b</a:t>
              </a:r>
              <a:r>
                <a:rPr lang="zh-CN" altLang="en-US"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）多重中断</a:t>
              </a:r>
              <a:endParaRPr lang="en-US" altLang="zh-CN" b="1" dirty="0">
                <a:solidFill>
                  <a:srgbClr val="C00000"/>
                </a:solidFill>
                <a:latin typeface="Calibri" panose="020F0502020204030204" pitchFamily="34" charset="0"/>
                <a:ea typeface="微软雅黑" panose="020B0503020204020204" pitchFamily="34" charset="-122"/>
                <a:cs typeface="Calibri" panose="020F0502020204030204" pitchFamily="34" charset="0"/>
              </a:endParaRPr>
            </a:p>
            <a:p>
              <a:endParaRPr lang="en-US" altLang="zh-CN" b="1" dirty="0">
                <a:solidFill>
                  <a:srgbClr val="C00000"/>
                </a:solidFill>
                <a:latin typeface="Calibri" panose="020F0502020204030204" pitchFamily="34" charset="0"/>
                <a:ea typeface="微软雅黑" panose="020B0503020204020204" pitchFamily="34" charset="-122"/>
                <a:cs typeface="Calibri" panose="020F0502020204030204" pitchFamily="34" charset="0"/>
              </a:endParaRPr>
            </a:p>
            <a:p>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中断处理顺序</a:t>
              </a:r>
              <a:r>
                <a:rPr lang="en-US" altLang="zh-CN" b="1" dirty="0">
                  <a:solidFill>
                    <a:srgbClr val="133984"/>
                  </a:solidFill>
                  <a:latin typeface="Calibri" panose="020F0502020204030204" pitchFamily="34" charset="0"/>
                  <a:ea typeface="微软雅黑" panose="020B0503020204020204" pitchFamily="34" charset="-122"/>
                  <a:cs typeface="Calibri" panose="020F0502020204030204" pitchFamily="34" charset="0"/>
                </a:rPr>
                <a:t>  </a:t>
              </a:r>
              <a:r>
                <a:rPr lang="en-US" altLang="zh-CN" b="1" dirty="0">
                  <a:solidFill>
                    <a:srgbClr val="C00000"/>
                  </a:solidFill>
                  <a:latin typeface="Calibri" panose="020F0502020204030204" pitchFamily="34" charset="0"/>
                  <a:ea typeface="微软雅黑" panose="020B0503020204020204" pitchFamily="34" charset="-122"/>
                  <a:cs typeface="Calibri" panose="020F0502020204030204" pitchFamily="34" charset="0"/>
                </a:rPr>
                <a:t>C-&gt;B-&gt;A</a:t>
              </a:r>
            </a:p>
            <a:p>
              <a:endParaRPr lang="zh-CN" altLang="en-US" sz="1200" b="1" dirty="0">
                <a:solidFill>
                  <a:srgbClr val="274FA2"/>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37877636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37D0A7-FBF9-4BFA-90AA-DE053ED9DE18}"/>
              </a:ext>
            </a:extLst>
          </p:cNvPr>
          <p:cNvSpPr>
            <a:spLocks noGrp="1"/>
          </p:cNvSpPr>
          <p:nvPr>
            <p:ph type="title"/>
          </p:nvPr>
        </p:nvSpPr>
        <p:spPr/>
        <p:txBody>
          <a:bodyPr/>
          <a:lstStyle/>
          <a:p>
            <a:r>
              <a:rPr lang="zh-CN" altLang="en-US" dirty="0">
                <a:latin typeface="Calibri" panose="020F0502020204030204" pitchFamily="34" charset="0"/>
                <a:ea typeface="Calibri" panose="020F0502020204030204" pitchFamily="34" charset="0"/>
                <a:cs typeface="Calibri" panose="020F0502020204030204" pitchFamily="34" charset="0"/>
              </a:rPr>
              <a:t>小结</a:t>
            </a:r>
            <a:endParaRPr lang="zh-CN" altLang="en-US" dirty="0"/>
          </a:p>
        </p:txBody>
      </p:sp>
      <p:sp>
        <p:nvSpPr>
          <p:cNvPr id="3" name="内容占位符 2">
            <a:extLst>
              <a:ext uri="{FF2B5EF4-FFF2-40B4-BE49-F238E27FC236}">
                <a16:creationId xmlns:a16="http://schemas.microsoft.com/office/drawing/2014/main" id="{E958CF99-3ACE-40D9-9597-D030C397C0D0}"/>
              </a:ext>
            </a:extLst>
          </p:cNvPr>
          <p:cNvSpPr>
            <a:spLocks noGrp="1"/>
          </p:cNvSpPr>
          <p:nvPr>
            <p:ph idx="1"/>
          </p:nvPr>
        </p:nvSpPr>
        <p:spPr>
          <a:xfrm>
            <a:off x="609600" y="1051718"/>
            <a:ext cx="10780450" cy="5500001"/>
          </a:xfrm>
        </p:spPr>
        <p:txBody>
          <a:bodyPr/>
          <a:lstStyle/>
          <a:p>
            <a:pPr marL="630238" indent="-363538">
              <a:lnSpc>
                <a:spcPct val="130000"/>
              </a:lnSpc>
              <a:buFont typeface="Wingdings" panose="05000000000000000000" pitchFamily="2" charset="2"/>
              <a:buChar char="p"/>
            </a:pPr>
            <a:r>
              <a:rPr lang="zh-CN" altLang="en-US" sz="2400" b="1" dirty="0">
                <a:highlight>
                  <a:srgbClr val="FFFFFF"/>
                </a:highlight>
                <a:latin typeface="Calibri" panose="020F0502020204030204" pitchFamily="34" charset="0"/>
                <a:ea typeface="微软雅黑" panose="020B0503020204020204" pitchFamily="34" charset="-122"/>
                <a:cs typeface="Calibri" panose="020F0502020204030204" pitchFamily="34" charset="0"/>
              </a:rPr>
              <a:t>“</a:t>
            </a:r>
            <a:r>
              <a:rPr lang="zh-CN" altLang="en-US" sz="2400" b="1" dirty="0">
                <a:solidFill>
                  <a:srgbClr val="C00000"/>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中断</a:t>
            </a:r>
            <a:r>
              <a:rPr lang="zh-CN" altLang="en-US" sz="2400" b="1" dirty="0">
                <a:highlight>
                  <a:srgbClr val="FFFFFF"/>
                </a:highlight>
                <a:latin typeface="Calibri" panose="020F0502020204030204" pitchFamily="34" charset="0"/>
                <a:ea typeface="微软雅黑" panose="020B0503020204020204" pitchFamily="34" charset="-122"/>
                <a:cs typeface="Calibri" panose="020F0502020204030204" pitchFamily="34" charset="0"/>
              </a:rPr>
              <a:t>”是处理器为了应对突发事件采取的一种“</a:t>
            </a:r>
            <a:r>
              <a:rPr lang="zh-CN" altLang="en-US" sz="2400" b="1" dirty="0">
                <a:solidFill>
                  <a:srgbClr val="C00000"/>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预案</a:t>
            </a:r>
            <a:r>
              <a:rPr lang="zh-CN" altLang="en-US" sz="2400" b="1" dirty="0">
                <a:highlight>
                  <a:srgbClr val="FFFFFF"/>
                </a:highlight>
                <a:latin typeface="Calibri" panose="020F0502020204030204" pitchFamily="34" charset="0"/>
                <a:ea typeface="微软雅黑" panose="020B0503020204020204" pitchFamily="34" charset="-122"/>
                <a:cs typeface="Calibri" panose="020F0502020204030204" pitchFamily="34" charset="0"/>
              </a:rPr>
              <a:t>”，是保证系统功能完备、执行高效、可拓展性的必要手段。体现了“</a:t>
            </a:r>
            <a:r>
              <a:rPr lang="zh-CN" altLang="en-US" sz="2400" b="1" dirty="0">
                <a:solidFill>
                  <a:srgbClr val="C00000"/>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全局</a:t>
            </a:r>
            <a:r>
              <a:rPr lang="zh-CN" altLang="en-US" sz="2400" b="1" dirty="0">
                <a:highlight>
                  <a:srgbClr val="FFFFFF"/>
                </a:highlight>
                <a:latin typeface="Calibri" panose="020F0502020204030204" pitchFamily="34" charset="0"/>
                <a:ea typeface="微软雅黑" panose="020B0503020204020204" pitchFamily="34" charset="-122"/>
                <a:cs typeface="Calibri" panose="020F0502020204030204" pitchFamily="34" charset="0"/>
              </a:rPr>
              <a:t>”与</a:t>
            </a:r>
            <a:r>
              <a:rPr lang="zh-CN" altLang="en-US" sz="2400" b="1" dirty="0">
                <a:solidFill>
                  <a:srgbClr val="C00000"/>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“局部”，“通用”与“专用”</a:t>
            </a:r>
            <a:r>
              <a:rPr lang="zh-CN" altLang="en-US" sz="2400" b="1" dirty="0">
                <a:highlight>
                  <a:srgbClr val="FFFFFF"/>
                </a:highlight>
                <a:latin typeface="Calibri" panose="020F0502020204030204" pitchFamily="34" charset="0"/>
                <a:ea typeface="微软雅黑" panose="020B0503020204020204" pitchFamily="34" charset="-122"/>
                <a:cs typeface="Calibri" panose="020F0502020204030204" pitchFamily="34" charset="0"/>
              </a:rPr>
              <a:t>兼顾的严谨的设计思想。引导我们在面对类似问题时，要建立“</a:t>
            </a:r>
            <a:r>
              <a:rPr lang="zh-CN" altLang="en-US" sz="2400" b="1" dirty="0">
                <a:solidFill>
                  <a:srgbClr val="C00000"/>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全局意识</a:t>
            </a:r>
            <a:r>
              <a:rPr lang="zh-CN" altLang="en-US" sz="2400" b="1" dirty="0">
                <a:highlight>
                  <a:srgbClr val="FFFFFF"/>
                </a:highlight>
                <a:latin typeface="Calibri" panose="020F0502020204030204" pitchFamily="34" charset="0"/>
                <a:ea typeface="微软雅黑" panose="020B0503020204020204" pitchFamily="34" charset="-122"/>
                <a:cs typeface="Calibri" panose="020F0502020204030204" pitchFamily="34" charset="0"/>
              </a:rPr>
              <a:t>”，“</a:t>
            </a:r>
            <a:r>
              <a:rPr lang="zh-CN" altLang="en-US" sz="2400" b="1" dirty="0">
                <a:solidFill>
                  <a:srgbClr val="C00000"/>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未雨绸缪</a:t>
            </a:r>
            <a:r>
              <a:rPr lang="zh-CN" altLang="en-US" sz="2400" b="1" dirty="0">
                <a:highlight>
                  <a:srgbClr val="FFFFFF"/>
                </a:highlight>
                <a:latin typeface="Calibri" panose="020F0502020204030204" pitchFamily="34" charset="0"/>
                <a:ea typeface="微软雅黑" panose="020B0503020204020204" pitchFamily="34" charset="-122"/>
                <a:cs typeface="Calibri" panose="020F0502020204030204" pitchFamily="34" charset="0"/>
              </a:rPr>
              <a:t>”，防患于未然。</a:t>
            </a:r>
            <a:endParaRPr lang="en-US" altLang="zh-CN" sz="2400" b="1" dirty="0">
              <a:highlight>
                <a:srgbClr val="FFFFFF"/>
              </a:highlight>
              <a:latin typeface="Calibri" panose="020F0502020204030204" pitchFamily="34" charset="0"/>
              <a:ea typeface="微软雅黑" panose="020B0503020204020204" pitchFamily="34" charset="-122"/>
              <a:cs typeface="Calibri" panose="020F0502020204030204" pitchFamily="34" charset="0"/>
            </a:endParaRPr>
          </a:p>
          <a:p>
            <a:pPr marL="630238" indent="-363538">
              <a:lnSpc>
                <a:spcPct val="130000"/>
              </a:lnSpc>
              <a:buFont typeface="Wingdings" panose="05000000000000000000" pitchFamily="2" charset="2"/>
              <a:buChar char="p"/>
            </a:pPr>
            <a:r>
              <a:rPr lang="zh-CN" altLang="en-US" sz="2400" b="1" dirty="0">
                <a:highlight>
                  <a:srgbClr val="FFFFFF"/>
                </a:highlight>
                <a:latin typeface="Calibri" panose="020F0502020204030204" pitchFamily="34" charset="0"/>
                <a:ea typeface="微软雅黑" panose="020B0503020204020204" pitchFamily="34" charset="-122"/>
                <a:cs typeface="Calibri" panose="020F0502020204030204" pitchFamily="34" charset="0"/>
              </a:rPr>
              <a:t> 不同的中断类型，来自于不同的应用场景，进而对于技术的设计和实施提出了具体需求和挑战。只有进行充分的</a:t>
            </a:r>
            <a:r>
              <a:rPr lang="zh-CN" altLang="en-US" sz="2400" b="1" dirty="0">
                <a:solidFill>
                  <a:srgbClr val="274FA2"/>
                </a:solidFill>
                <a:highlight>
                  <a:srgbClr val="FFFFFF"/>
                </a:highlight>
                <a:latin typeface="微软雅黑" panose="020B0503020204020204" pitchFamily="34" charset="-122"/>
                <a:ea typeface="微软雅黑" panose="020B0503020204020204" pitchFamily="34" charset="-122"/>
              </a:rPr>
              <a:t>“</a:t>
            </a:r>
            <a:r>
              <a:rPr lang="zh-CN" altLang="en-US" sz="2400" b="1" dirty="0">
                <a:solidFill>
                  <a:srgbClr val="C00000"/>
                </a:solidFill>
                <a:highlight>
                  <a:srgbClr val="FFFFFF"/>
                </a:highlight>
                <a:latin typeface="微软雅黑" panose="020B0503020204020204" pitchFamily="34" charset="-122"/>
                <a:ea typeface="微软雅黑" panose="020B0503020204020204" pitchFamily="34" charset="-122"/>
              </a:rPr>
              <a:t>需求分析</a:t>
            </a:r>
            <a:r>
              <a:rPr lang="zh-CN" altLang="en-US" sz="2400" b="1" dirty="0">
                <a:solidFill>
                  <a:srgbClr val="274FA2"/>
                </a:solidFill>
                <a:highlight>
                  <a:srgbClr val="FFFFFF"/>
                </a:highlight>
                <a:latin typeface="微软雅黑" panose="020B0503020204020204" pitchFamily="34" charset="-122"/>
                <a:ea typeface="微软雅黑" panose="020B0503020204020204" pitchFamily="34" charset="-122"/>
              </a:rPr>
              <a:t>”才可以做到“</a:t>
            </a:r>
            <a:r>
              <a:rPr lang="zh-CN" altLang="en-US" sz="2400" b="1" dirty="0">
                <a:solidFill>
                  <a:srgbClr val="C00000"/>
                </a:solidFill>
                <a:highlight>
                  <a:srgbClr val="FFFFFF"/>
                </a:highlight>
                <a:latin typeface="微软雅黑" panose="020B0503020204020204" pitchFamily="34" charset="-122"/>
                <a:ea typeface="微软雅黑" panose="020B0503020204020204" pitchFamily="34" charset="-122"/>
              </a:rPr>
              <a:t>有的放矢</a:t>
            </a:r>
            <a:r>
              <a:rPr lang="zh-CN" altLang="en-US" sz="2400" b="1" dirty="0">
                <a:solidFill>
                  <a:srgbClr val="274FA2"/>
                </a:solidFill>
                <a:highlight>
                  <a:srgbClr val="FFFFFF"/>
                </a:highlight>
                <a:latin typeface="微软雅黑" panose="020B0503020204020204" pitchFamily="34" charset="-122"/>
                <a:ea typeface="微软雅黑" panose="020B0503020204020204" pitchFamily="34" charset="-122"/>
              </a:rPr>
              <a:t>”</a:t>
            </a:r>
            <a:r>
              <a:rPr lang="zh-CN" altLang="en-US" sz="2400" b="1" dirty="0">
                <a:highlight>
                  <a:srgbClr val="FFFFFF"/>
                </a:highlight>
                <a:latin typeface="Calibri" panose="020F0502020204030204" pitchFamily="34" charset="0"/>
                <a:ea typeface="微软雅黑" panose="020B0503020204020204" pitchFamily="34" charset="-122"/>
                <a:cs typeface="Calibri" panose="020F0502020204030204" pitchFamily="34" charset="0"/>
              </a:rPr>
              <a:t>。在这一点上，需要足够的</a:t>
            </a:r>
            <a:r>
              <a:rPr lang="zh-CN" altLang="en-US" sz="2400" b="1" dirty="0">
                <a:solidFill>
                  <a:srgbClr val="C00000"/>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耐心和细心。</a:t>
            </a:r>
            <a:endParaRPr lang="en-US" altLang="zh-CN" sz="2400" b="1" dirty="0">
              <a:highlight>
                <a:srgbClr val="FFFFFF"/>
              </a:highlight>
              <a:latin typeface="Calibri" panose="020F0502020204030204" pitchFamily="34" charset="0"/>
              <a:ea typeface="微软雅黑" panose="020B0503020204020204" pitchFamily="34" charset="-122"/>
              <a:cs typeface="Calibri" panose="020F0502020204030204" pitchFamily="34" charset="0"/>
            </a:endParaRPr>
          </a:p>
          <a:p>
            <a:pPr marL="630238" indent="-363538">
              <a:lnSpc>
                <a:spcPct val="130000"/>
              </a:lnSpc>
              <a:buFont typeface="Wingdings" panose="05000000000000000000" pitchFamily="2" charset="2"/>
              <a:buChar char="p"/>
            </a:pPr>
            <a:r>
              <a:rPr lang="zh-CN" altLang="en-US" sz="2400" b="1" dirty="0">
                <a:highlight>
                  <a:srgbClr val="FFFFFF"/>
                </a:highlight>
                <a:latin typeface="Calibri" panose="020F0502020204030204" pitchFamily="34" charset="0"/>
                <a:ea typeface="微软雅黑" panose="020B0503020204020204" pitchFamily="34" charset="-122"/>
                <a:cs typeface="Calibri" panose="020F0502020204030204" pitchFamily="34" charset="0"/>
              </a:rPr>
              <a:t>中断嵌套，是保证处理器能够</a:t>
            </a:r>
            <a:r>
              <a:rPr lang="zh-CN" altLang="en-US" sz="2400" b="1" dirty="0">
                <a:solidFill>
                  <a:srgbClr val="C00000"/>
                </a:solidFill>
                <a:highlight>
                  <a:srgbClr val="FFFFFF"/>
                </a:highlight>
                <a:latin typeface="微软雅黑" panose="020B0503020204020204" pitchFamily="34" charset="-122"/>
                <a:ea typeface="微软雅黑" panose="020B0503020204020204" pitchFamily="34" charset="-122"/>
              </a:rPr>
              <a:t>尽早尽快</a:t>
            </a:r>
            <a:r>
              <a:rPr lang="zh-CN" altLang="en-US" sz="2400" b="1" dirty="0">
                <a:highlight>
                  <a:srgbClr val="FFFFFF"/>
                </a:highlight>
                <a:latin typeface="Calibri" panose="020F0502020204030204" pitchFamily="34" charset="0"/>
                <a:ea typeface="微软雅黑" panose="020B0503020204020204" pitchFamily="34" charset="-122"/>
                <a:cs typeface="Calibri" panose="020F0502020204030204" pitchFamily="34" charset="0"/>
              </a:rPr>
              <a:t>响应异常的一种措施。虽然从</a:t>
            </a:r>
            <a:r>
              <a:rPr lang="zh-CN" altLang="en-US" sz="2400" b="1" dirty="0">
                <a:solidFill>
                  <a:srgbClr val="C00000"/>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局部</a:t>
            </a:r>
            <a:r>
              <a:rPr lang="zh-CN" altLang="en-US" sz="2400" b="1" dirty="0">
                <a:highlight>
                  <a:srgbClr val="FFFFFF"/>
                </a:highlight>
                <a:latin typeface="Calibri" panose="020F0502020204030204" pitchFamily="34" charset="0"/>
                <a:ea typeface="微软雅黑" panose="020B0503020204020204" pitchFamily="34" charset="-122"/>
                <a:cs typeface="Calibri" panose="020F0502020204030204" pitchFamily="34" charset="0"/>
              </a:rPr>
              <a:t>看，损害了某个中断事务的利益，但是从</a:t>
            </a:r>
            <a:r>
              <a:rPr lang="zh-CN" altLang="en-US" sz="2400" b="1" dirty="0">
                <a:solidFill>
                  <a:srgbClr val="C00000"/>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大局</a:t>
            </a:r>
            <a:r>
              <a:rPr lang="zh-CN" altLang="en-US" sz="2400" b="1" dirty="0">
                <a:highlight>
                  <a:srgbClr val="FFFFFF"/>
                </a:highlight>
                <a:latin typeface="Calibri" panose="020F0502020204030204" pitchFamily="34" charset="0"/>
                <a:ea typeface="微软雅黑" panose="020B0503020204020204" pitchFamily="34" charset="-122"/>
                <a:cs typeface="Calibri" panose="020F0502020204030204" pitchFamily="34" charset="0"/>
              </a:rPr>
              <a:t>而言（</a:t>
            </a:r>
            <a:r>
              <a:rPr lang="en-US" altLang="zh-CN" sz="2400" b="1" dirty="0">
                <a:highlight>
                  <a:srgbClr val="FFFFFF"/>
                </a:highlight>
                <a:latin typeface="Calibri" panose="020F0502020204030204" pitchFamily="34" charset="0"/>
                <a:ea typeface="微软雅黑" panose="020B0503020204020204" pitchFamily="34" charset="-122"/>
                <a:cs typeface="Calibri" panose="020F0502020204030204" pitchFamily="34" charset="0"/>
              </a:rPr>
              <a:t>CPU</a:t>
            </a:r>
            <a:r>
              <a:rPr lang="zh-CN" altLang="en-US" sz="2400" b="1" dirty="0">
                <a:highlight>
                  <a:srgbClr val="FFFFFF"/>
                </a:highlight>
                <a:latin typeface="Calibri" panose="020F0502020204030204" pitchFamily="34" charset="0"/>
                <a:ea typeface="微软雅黑" panose="020B0503020204020204" pitchFamily="34" charset="-122"/>
                <a:cs typeface="Calibri" panose="020F0502020204030204" pitchFamily="34" charset="0"/>
              </a:rPr>
              <a:t>整体性能），能够避免因小失大，保证整体利益。引导我们在应对类似情况时，要学会</a:t>
            </a:r>
            <a:r>
              <a:rPr lang="zh-CN" altLang="en-US" sz="2400" b="1" dirty="0">
                <a:solidFill>
                  <a:srgbClr val="274FA2"/>
                </a:solidFill>
                <a:highlight>
                  <a:srgbClr val="FFFFFF"/>
                </a:highlight>
                <a:latin typeface="微软雅黑" panose="020B0503020204020204" pitchFamily="34" charset="-122"/>
                <a:ea typeface="微软雅黑" panose="020B0503020204020204" pitchFamily="34" charset="-122"/>
              </a:rPr>
              <a:t>“</a:t>
            </a:r>
            <a:r>
              <a:rPr lang="zh-CN" altLang="en-US" sz="2400" b="1" dirty="0">
                <a:solidFill>
                  <a:srgbClr val="C00000"/>
                </a:solidFill>
                <a:highlight>
                  <a:srgbClr val="FFFFFF"/>
                </a:highlight>
                <a:latin typeface="微软雅黑" panose="020B0503020204020204" pitchFamily="34" charset="-122"/>
                <a:ea typeface="微软雅黑" panose="020B0503020204020204" pitchFamily="34" charset="-122"/>
              </a:rPr>
              <a:t>舍得</a:t>
            </a:r>
            <a:r>
              <a:rPr lang="zh-CN" altLang="en-US" sz="2400" b="1" dirty="0">
                <a:solidFill>
                  <a:srgbClr val="274FA2"/>
                </a:solidFill>
                <a:highlight>
                  <a:srgbClr val="FFFFFF"/>
                </a:highlight>
                <a:latin typeface="微软雅黑" panose="020B0503020204020204" pitchFamily="34" charset="-122"/>
                <a:ea typeface="微软雅黑" panose="020B0503020204020204" pitchFamily="34" charset="-122"/>
              </a:rPr>
              <a:t>”</a:t>
            </a:r>
            <a:r>
              <a:rPr lang="zh-CN" altLang="en-US" sz="2400" b="1" dirty="0">
                <a:highlight>
                  <a:srgbClr val="FFFFFF"/>
                </a:highlight>
                <a:latin typeface="Calibri" panose="020F0502020204030204" pitchFamily="34" charset="0"/>
                <a:ea typeface="微软雅黑" panose="020B0503020204020204" pitchFamily="34" charset="-122"/>
                <a:cs typeface="Calibri" panose="020F0502020204030204" pitchFamily="34" charset="0"/>
              </a:rPr>
              <a:t>，体会有舍才有得的哲学思想。</a:t>
            </a:r>
          </a:p>
          <a:p>
            <a:pPr marL="0" indent="0">
              <a:lnSpc>
                <a:spcPct val="130000"/>
              </a:lnSpc>
              <a:buNone/>
            </a:pPr>
            <a:endParaRPr lang="zh-CN" altLang="en-US" sz="2400" dirty="0"/>
          </a:p>
        </p:txBody>
      </p:sp>
    </p:spTree>
    <p:extLst>
      <p:ext uri="{BB962C8B-B14F-4D97-AF65-F5344CB8AC3E}">
        <p14:creationId xmlns:p14="http://schemas.microsoft.com/office/powerpoint/2010/main" val="28721381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BDF291C2-1549-434E-BB1A-5CF3F15CD530}"/>
              </a:ext>
            </a:extLst>
          </p:cNvPr>
          <p:cNvSpPr>
            <a:spLocks noGrp="1"/>
          </p:cNvSpPr>
          <p:nvPr>
            <p:ph type="title"/>
          </p:nvPr>
        </p:nvSpPr>
        <p:spPr>
          <a:xfrm>
            <a:off x="609600" y="223117"/>
            <a:ext cx="11277600" cy="688975"/>
          </a:xfrm>
        </p:spPr>
        <p:txBody>
          <a:bodyPr/>
          <a:lstStyle/>
          <a:p>
            <a:r>
              <a:rPr lang="en-US" altLang="zh-CN" dirty="0">
                <a:latin typeface="Calibri" panose="020F0502020204030204" pitchFamily="34" charset="0"/>
                <a:ea typeface="Calibri" panose="020F0502020204030204" pitchFamily="34" charset="0"/>
                <a:cs typeface="Calibri" panose="020F0502020204030204" pitchFamily="34" charset="0"/>
              </a:rPr>
              <a:t>6.7 </a:t>
            </a:r>
            <a:r>
              <a:rPr lang="zh-CN" altLang="en-US" dirty="0">
                <a:latin typeface="Calibri" panose="020F0502020204030204" pitchFamily="34" charset="0"/>
                <a:ea typeface="微软雅黑" panose="020B0503020204020204" pitchFamily="34" charset="-122"/>
                <a:cs typeface="Calibri" panose="020F0502020204030204" pitchFamily="34" charset="0"/>
              </a:rPr>
              <a:t>异常与中断处理</a:t>
            </a:r>
          </a:p>
        </p:txBody>
      </p:sp>
      <p:sp>
        <p:nvSpPr>
          <p:cNvPr id="3" name="内容占位符 2">
            <a:extLst>
              <a:ext uri="{FF2B5EF4-FFF2-40B4-BE49-F238E27FC236}">
                <a16:creationId xmlns:a16="http://schemas.microsoft.com/office/drawing/2014/main" id="{EDF78C97-69AC-495A-925B-09DBCCFF3134}"/>
              </a:ext>
            </a:extLst>
          </p:cNvPr>
          <p:cNvSpPr>
            <a:spLocks noGrp="1"/>
          </p:cNvSpPr>
          <p:nvPr>
            <p:ph idx="1"/>
          </p:nvPr>
        </p:nvSpPr>
        <p:spPr>
          <a:xfrm>
            <a:off x="609600" y="1086507"/>
            <a:ext cx="10658764" cy="5154496"/>
          </a:xfrm>
        </p:spPr>
        <p:txBody>
          <a:bodyPr/>
          <a:lstStyle/>
          <a:p>
            <a:pPr marL="220980" indent="0">
              <a:buNone/>
            </a:pPr>
            <a:r>
              <a:rPr lang="en-US" altLang="zh-CN" sz="3200" b="1" dirty="0">
                <a:highlight>
                  <a:srgbClr val="FFFF00"/>
                </a:highlight>
                <a:latin typeface="Calibri" panose="020F0502020204030204" pitchFamily="34" charset="0"/>
                <a:ea typeface="Calibri" panose="020F0502020204030204" pitchFamily="34" charset="0"/>
                <a:cs typeface="Calibri" panose="020F0502020204030204" pitchFamily="34" charset="0"/>
              </a:rPr>
              <a:t>  </a:t>
            </a:r>
          </a:p>
          <a:p>
            <a:endParaRPr lang="zh-CN" altLang="en-US" dirty="0"/>
          </a:p>
        </p:txBody>
      </p:sp>
      <p:sp>
        <p:nvSpPr>
          <p:cNvPr id="6" name="内容占位符 2">
            <a:extLst>
              <a:ext uri="{FF2B5EF4-FFF2-40B4-BE49-F238E27FC236}">
                <a16:creationId xmlns:a16="http://schemas.microsoft.com/office/drawing/2014/main" id="{0F97A32F-89EC-4972-A19B-1A2A377E740B}"/>
              </a:ext>
            </a:extLst>
          </p:cNvPr>
          <p:cNvSpPr txBox="1">
            <a:spLocks/>
          </p:cNvSpPr>
          <p:nvPr/>
        </p:nvSpPr>
        <p:spPr bwMode="auto">
          <a:xfrm>
            <a:off x="609599" y="1032020"/>
            <a:ext cx="10771573" cy="5413168"/>
          </a:xfrm>
          <a:prstGeom prst="rect">
            <a:avLst/>
          </a:prstGeom>
          <a:noFill/>
          <a:ln>
            <a:noFill/>
          </a:ln>
          <a:effectLst/>
        </p:spPr>
        <p:txBody>
          <a:bodyPr vert="horz" wrap="square" lIns="91440" tIns="45720" rIns="91440" bIns="45720" numCol="1" anchor="t" anchorCtr="0" compatLnSpc="1"/>
          <a:lstStyle>
            <a:lvl1pPr marL="449580" indent="-449580" algn="l" rtl="0" eaLnBrk="0" fontAlgn="base" hangingPunct="0">
              <a:lnSpc>
                <a:spcPct val="110000"/>
              </a:lnSpc>
              <a:spcBef>
                <a:spcPct val="20000"/>
              </a:spcBef>
              <a:spcAft>
                <a:spcPct val="0"/>
              </a:spcAft>
              <a:buSzPct val="120000"/>
              <a:buFontTx/>
              <a:buBlip>
                <a:blip r:embed="rId3"/>
              </a:buBlip>
              <a:defRPr lang="zh-CN" altLang="en-US" sz="2800">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000066"/>
              </a:buClr>
              <a:buChar char="•"/>
              <a:defRPr sz="2400">
                <a:solidFill>
                  <a:srgbClr val="133984"/>
                </a:solidFill>
                <a:latin typeface="+mn-lt"/>
                <a:ea typeface="+mn-ea"/>
              </a:defRPr>
            </a:lvl2pPr>
            <a:lvl3pPr marL="1322705" indent="-228600" algn="l" rtl="0" eaLnBrk="0" fontAlgn="base" hangingPunct="0">
              <a:spcBef>
                <a:spcPct val="20000"/>
              </a:spcBef>
              <a:spcAft>
                <a:spcPct val="0"/>
              </a:spcAft>
              <a:buChar char="•"/>
              <a:defRPr sz="2400">
                <a:solidFill>
                  <a:schemeClr val="tx1"/>
                </a:solidFill>
                <a:latin typeface="+mn-lt"/>
                <a:ea typeface="宋体" panose="02010600030101010101" pitchFamily="2" charset="-122"/>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vl6pPr marL="259588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6pPr>
            <a:lvl7pPr marL="305308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7pPr>
            <a:lvl8pPr marL="351028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8pPr>
            <a:lvl9pPr marL="396748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9pPr>
          </a:lstStyle>
          <a:p>
            <a:pPr>
              <a:lnSpc>
                <a:spcPct val="130000"/>
              </a:lnSpc>
            </a:pPr>
            <a:r>
              <a:rPr lang="zh-CN" altLang="en-US" b="1" dirty="0">
                <a:latin typeface="Calibri" panose="020F0502020204030204" pitchFamily="34" charset="0"/>
                <a:ea typeface="微软雅黑" panose="020B0503020204020204" pitchFamily="34" charset="-122"/>
                <a:cs typeface="Calibri" panose="020F0502020204030204" pitchFamily="34" charset="0"/>
              </a:rPr>
              <a:t>技术实现层面的思考</a:t>
            </a:r>
            <a:r>
              <a:rPr lang="zh-CN" altLang="en-US" b="1" kern="0" dirty="0">
                <a:solidFill>
                  <a:srgbClr val="C00000"/>
                </a:solidFill>
                <a:latin typeface="Calibri" panose="020F0502020204030204" pitchFamily="34" charset="0"/>
                <a:ea typeface="Calibri" panose="020F0502020204030204" pitchFamily="34" charset="0"/>
                <a:cs typeface="Calibri" panose="020F0502020204030204" pitchFamily="34" charset="0"/>
              </a:rPr>
              <a:t>（实践</a:t>
            </a:r>
            <a:r>
              <a:rPr lang="en-US" altLang="zh-CN" b="1" kern="0" dirty="0">
                <a:solidFill>
                  <a:srgbClr val="C00000"/>
                </a:solidFill>
                <a:latin typeface="Calibri" panose="020F0502020204030204" pitchFamily="34" charset="0"/>
                <a:ea typeface="Calibri" panose="020F0502020204030204" pitchFamily="34" charset="0"/>
                <a:cs typeface="Calibri" panose="020F0502020204030204" pitchFamily="34" charset="0"/>
              </a:rPr>
              <a:t>-&gt;</a:t>
            </a:r>
            <a:r>
              <a:rPr lang="zh-CN" altLang="en-US" b="1" kern="0" dirty="0">
                <a:solidFill>
                  <a:srgbClr val="C00000"/>
                </a:solidFill>
                <a:latin typeface="Calibri" panose="020F0502020204030204" pitchFamily="34" charset="0"/>
                <a:ea typeface="Calibri" panose="020F0502020204030204" pitchFamily="34" charset="0"/>
                <a:cs typeface="Calibri" panose="020F0502020204030204" pitchFamily="34" charset="0"/>
              </a:rPr>
              <a:t>理论）</a:t>
            </a:r>
            <a:r>
              <a:rPr lang="zh-CN" altLang="en-US" b="1" kern="0" dirty="0">
                <a:latin typeface="Calibri" panose="020F0502020204030204" pitchFamily="34" charset="0"/>
                <a:ea typeface="Calibri" panose="020F0502020204030204" pitchFamily="34" charset="0"/>
                <a:cs typeface="Calibri" panose="020F0502020204030204" pitchFamily="34" charset="0"/>
              </a:rPr>
              <a:t>：</a:t>
            </a:r>
            <a:endParaRPr lang="en-US" altLang="zh-CN" b="1" kern="0" dirty="0">
              <a:latin typeface="Calibri" panose="020F0502020204030204" pitchFamily="34" charset="0"/>
              <a:ea typeface="Calibri" panose="020F0502020204030204" pitchFamily="34" charset="0"/>
              <a:cs typeface="Calibri" panose="020F0502020204030204" pitchFamily="34" charset="0"/>
            </a:endParaRPr>
          </a:p>
          <a:p>
            <a:pPr marL="0" indent="0">
              <a:lnSpc>
                <a:spcPct val="130000"/>
              </a:lnSpc>
              <a:buNone/>
            </a:pPr>
            <a:r>
              <a:rPr lang="en-US" altLang="zh-CN" b="1" kern="0" dirty="0">
                <a:latin typeface="Calibri" panose="020F0502020204030204" pitchFamily="34" charset="0"/>
                <a:ea typeface="Calibri" panose="020F0502020204030204" pitchFamily="34" charset="0"/>
                <a:cs typeface="Calibri" panose="020F0502020204030204" pitchFamily="34" charset="0"/>
              </a:rPr>
              <a:t>     </a:t>
            </a:r>
            <a:r>
              <a:rPr lang="zh-CN" altLang="en-US" sz="2400" b="1" dirty="0">
                <a:latin typeface="Calibri" panose="020F0502020204030204" pitchFamily="34" charset="0"/>
                <a:ea typeface="微软雅黑" panose="020B0503020204020204" pitchFamily="34" charset="-122"/>
                <a:cs typeface="Calibri" panose="020F0502020204030204" pitchFamily="34" charset="0"/>
              </a:rPr>
              <a:t>为应对实际场景中出现的不同的中断类型，需要从系统观角度上思考如何恰当的利用软硬件技术实现中断？并且考虑具体的技术细节，从而保证</a:t>
            </a:r>
            <a:r>
              <a:rPr lang="en-US" altLang="zh-CN" sz="2400" b="1" dirty="0">
                <a:latin typeface="Calibri" panose="020F0502020204030204" pitchFamily="34" charset="0"/>
                <a:ea typeface="微软雅黑" panose="020B0503020204020204" pitchFamily="34" charset="-122"/>
                <a:cs typeface="Calibri" panose="020F0502020204030204" pitchFamily="34" charset="0"/>
              </a:rPr>
              <a:t>CPU</a:t>
            </a:r>
            <a:r>
              <a:rPr lang="zh-CN" altLang="en-US" sz="2400" b="1" dirty="0">
                <a:latin typeface="Calibri" panose="020F0502020204030204" pitchFamily="34" charset="0"/>
                <a:ea typeface="微软雅黑" panose="020B0503020204020204" pitchFamily="34" charset="-122"/>
                <a:cs typeface="Calibri" panose="020F0502020204030204" pitchFamily="34" charset="0"/>
              </a:rPr>
              <a:t>能够及时、正确的完成中断事务的处理，比如</a:t>
            </a:r>
            <a:r>
              <a:rPr lang="zh-CN" altLang="en-US" b="1" dirty="0">
                <a:latin typeface="Calibri" panose="020F0502020204030204" pitchFamily="34" charset="0"/>
                <a:ea typeface="微软雅黑" panose="020B0503020204020204" pitchFamily="34" charset="-122"/>
                <a:cs typeface="Calibri" panose="020F0502020204030204" pitchFamily="34" charset="0"/>
              </a:rPr>
              <a:t>：</a:t>
            </a:r>
            <a:endParaRPr lang="en-US" altLang="zh-CN" b="1" dirty="0">
              <a:latin typeface="Calibri" panose="020F0502020204030204" pitchFamily="34" charset="0"/>
              <a:ea typeface="微软雅黑" panose="020B0503020204020204" pitchFamily="34" charset="-122"/>
              <a:cs typeface="Calibri" panose="020F0502020204030204" pitchFamily="34" charset="0"/>
            </a:endParaRPr>
          </a:p>
          <a:p>
            <a:pPr marL="719138" lvl="2" indent="-177800" defTabSz="720725">
              <a:lnSpc>
                <a:spcPct val="130000"/>
              </a:lnSpc>
              <a:buFont typeface="Wingdings" panose="05000000000000000000" pitchFamily="2" charset="2"/>
              <a:buChar char="n"/>
            </a:pPr>
            <a:r>
              <a:rPr lang="en-US" altLang="zh-CN" sz="2000" b="1" dirty="0">
                <a:latin typeface="Calibri" panose="020F0502020204030204" pitchFamily="34" charset="0"/>
                <a:ea typeface="微软雅黑" panose="020B0503020204020204" pitchFamily="34" charset="-122"/>
                <a:cs typeface="Calibri" panose="020F0502020204030204" pitchFamily="34" charset="0"/>
              </a:rPr>
              <a:t>   </a:t>
            </a:r>
            <a:r>
              <a:rPr lang="zh-CN" altLang="en-US"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各中断源如何向</a:t>
            </a:r>
            <a:r>
              <a:rPr lang="en-US" altLang="zh-CN"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CPU</a:t>
            </a:r>
            <a:r>
              <a:rPr lang="zh-CN" altLang="en-US"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提出请求？</a:t>
            </a:r>
            <a:endParaRPr lang="en-US" altLang="zh-CN"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marL="719138" lvl="2" indent="-177800" defTabSz="720725">
              <a:lnSpc>
                <a:spcPct val="130000"/>
              </a:lnSpc>
              <a:buFont typeface="Wingdings" panose="05000000000000000000" pitchFamily="2" charset="2"/>
              <a:buChar char="n"/>
            </a:pPr>
            <a:r>
              <a:rPr lang="en-US" altLang="zh-CN"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   </a:t>
            </a:r>
            <a:r>
              <a:rPr lang="zh-CN" altLang="en-US"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多个中断源同时提出请求时，如何仲裁？</a:t>
            </a:r>
            <a:endParaRPr lang="en-US" altLang="zh-CN"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marL="1176338" lvl="6" indent="-177800" defTabSz="720725">
              <a:lnSpc>
                <a:spcPct val="130000"/>
              </a:lnSpc>
              <a:buFont typeface="Wingdings" panose="05000000000000000000" pitchFamily="2" charset="2"/>
              <a:buChar char="n"/>
            </a:pPr>
            <a:r>
              <a:rPr lang="en-US" altLang="zh-CN" b="1" dirty="0">
                <a:solidFill>
                  <a:srgbClr val="133984"/>
                </a:solidFill>
                <a:latin typeface="Calibri" panose="020F0502020204030204" pitchFamily="34" charset="0"/>
                <a:ea typeface="微软雅黑" panose="020B0503020204020204" pitchFamily="34" charset="-122"/>
                <a:cs typeface="Calibri" panose="020F0502020204030204" pitchFamily="34" charset="0"/>
              </a:rPr>
              <a:t> </a:t>
            </a:r>
            <a:r>
              <a:rPr lang="zh-CN" altLang="en-US" b="1" dirty="0">
                <a:solidFill>
                  <a:srgbClr val="C00000"/>
                </a:solidFill>
                <a:latin typeface="Calibri" panose="020F0502020204030204" pitchFamily="34" charset="0"/>
                <a:ea typeface="微软雅黑" panose="020B0503020204020204" pitchFamily="34" charset="-122"/>
                <a:cs typeface="Calibri" panose="020F0502020204030204" pitchFamily="34" charset="0"/>
              </a:rPr>
              <a:t>类比</a:t>
            </a:r>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r>
              <a:rPr lang="en-US" altLang="zh-CN" b="1" dirty="0">
                <a:solidFill>
                  <a:srgbClr val="133984"/>
                </a:solidFill>
                <a:latin typeface="Calibri" panose="020F0502020204030204" pitchFamily="34" charset="0"/>
                <a:ea typeface="微软雅黑" panose="020B0503020204020204" pitchFamily="34" charset="-122"/>
                <a:cs typeface="Calibri" panose="020F0502020204030204" pitchFamily="34" charset="0"/>
              </a:rPr>
              <a:t>cache</a:t>
            </a:r>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页面替换，</a:t>
            </a:r>
            <a:r>
              <a:rPr lang="en-US" altLang="zh-CN" b="1" dirty="0">
                <a:solidFill>
                  <a:srgbClr val="133984"/>
                </a:solidFill>
                <a:latin typeface="Calibri" panose="020F0502020204030204" pitchFamily="34" charset="0"/>
                <a:ea typeface="微软雅黑" panose="020B0503020204020204" pitchFamily="34" charset="-122"/>
                <a:cs typeface="Calibri" panose="020F0502020204030204" pitchFamily="34" charset="0"/>
              </a:rPr>
              <a:t>cache</a:t>
            </a:r>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与</a:t>
            </a:r>
            <a:r>
              <a:rPr lang="en-US" altLang="zh-CN" b="1" dirty="0">
                <a:solidFill>
                  <a:srgbClr val="133984"/>
                </a:solidFill>
                <a:latin typeface="Calibri" panose="020F0502020204030204" pitchFamily="34" charset="0"/>
                <a:ea typeface="微软雅黑" panose="020B0503020204020204" pitchFamily="34" charset="-122"/>
                <a:cs typeface="Calibri" panose="020F0502020204030204" pitchFamily="34" charset="0"/>
              </a:rPr>
              <a:t>Mem</a:t>
            </a:r>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的地址映射， 总线的竞争等</a:t>
            </a:r>
            <a:endParaRPr lang="en-US" altLang="zh-CN"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marL="719138" lvl="2" indent="-177800" defTabSz="720725">
              <a:lnSpc>
                <a:spcPct val="130000"/>
              </a:lnSpc>
              <a:buFont typeface="Wingdings" panose="05000000000000000000" pitchFamily="2" charset="2"/>
              <a:buChar char="n"/>
            </a:pPr>
            <a:r>
              <a:rPr lang="en-US" altLang="zh-CN"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  CPU</a:t>
            </a:r>
            <a:r>
              <a:rPr lang="zh-CN" altLang="en-US"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在什么时候，什么条件以什么方式响应中断？如何应对随机事件的不确定性。</a:t>
            </a:r>
            <a:endParaRPr lang="en-US" altLang="zh-CN"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marL="884238" lvl="2" indent="-342900" defTabSz="720725">
              <a:lnSpc>
                <a:spcPct val="130000"/>
              </a:lnSpc>
              <a:buFont typeface="Wingdings" panose="05000000000000000000" pitchFamily="2" charset="2"/>
              <a:buChar char="n"/>
            </a:pPr>
            <a:r>
              <a:rPr lang="en-US" altLang="zh-CN"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CPU</a:t>
            </a:r>
            <a:r>
              <a:rPr lang="zh-CN" altLang="en-US"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如何实现中断嵌套，如何正确返回上一级中断？</a:t>
            </a:r>
            <a:endParaRPr lang="en-US" altLang="zh-CN"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marL="719138" lvl="2" indent="-177800" defTabSz="720725">
              <a:lnSpc>
                <a:spcPct val="130000"/>
              </a:lnSpc>
              <a:buFont typeface="Wingdings" panose="05000000000000000000" pitchFamily="2" charset="2"/>
              <a:buChar char="n"/>
            </a:pPr>
            <a:r>
              <a:rPr lang="en-US" altLang="zh-CN"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  CPU</a:t>
            </a:r>
            <a:r>
              <a:rPr lang="zh-CN" altLang="en-US"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响应中断后，如何保证正确返回原程序而不破坏已有的环境和状态（现场）？</a:t>
            </a:r>
            <a:endParaRPr lang="en-US" altLang="zh-CN"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p:txBody>
      </p:sp>
    </p:spTree>
    <p:extLst>
      <p:ext uri="{BB962C8B-B14F-4D97-AF65-F5344CB8AC3E}">
        <p14:creationId xmlns:p14="http://schemas.microsoft.com/office/powerpoint/2010/main" val="2657368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A500083-9A81-48FC-979B-0E0E7097E69D}"/>
              </a:ext>
            </a:extLst>
          </p:cNvPr>
          <p:cNvSpPr>
            <a:spLocks noGrp="1"/>
          </p:cNvSpPr>
          <p:nvPr>
            <p:ph idx="1"/>
          </p:nvPr>
        </p:nvSpPr>
        <p:spPr>
          <a:xfrm>
            <a:off x="488525" y="932211"/>
            <a:ext cx="4780819" cy="5793903"/>
          </a:xfrm>
        </p:spPr>
        <p:txBody>
          <a:bodyPr/>
          <a:lstStyle/>
          <a:p>
            <a:pPr>
              <a:lnSpc>
                <a:spcPct val="130000"/>
              </a:lnSpc>
            </a:pPr>
            <a:r>
              <a:rPr lang="en-US" altLang="zh-CN" b="1" dirty="0">
                <a:latin typeface="微软雅黑" panose="020B0503020204020204" pitchFamily="34" charset="-122"/>
                <a:ea typeface="微软雅黑" panose="020B0503020204020204" pitchFamily="34" charset="-122"/>
              </a:rPr>
              <a:t>6.7.3 </a:t>
            </a:r>
            <a:r>
              <a:rPr lang="zh-CN" altLang="en-US" b="1" dirty="0">
                <a:latin typeface="微软雅黑" panose="020B0503020204020204" pitchFamily="34" charset="-122"/>
                <a:ea typeface="微软雅黑" panose="020B0503020204020204" pitchFamily="34" charset="-122"/>
              </a:rPr>
              <a:t>中断处理技术</a:t>
            </a:r>
            <a:endParaRPr lang="en-US" altLang="zh-CN" b="1" dirty="0">
              <a:latin typeface="微软雅黑" panose="020B0503020204020204" pitchFamily="34" charset="-122"/>
              <a:ea typeface="微软雅黑" panose="020B0503020204020204" pitchFamily="34" charset="-122"/>
            </a:endParaRPr>
          </a:p>
          <a:p>
            <a:pPr lvl="1">
              <a:lnSpc>
                <a:spcPct val="130000"/>
              </a:lnSpc>
              <a:buFont typeface="Wingdings" panose="05000000000000000000" pitchFamily="2" charset="2"/>
              <a:buChar char="p"/>
            </a:pPr>
            <a:r>
              <a:rPr lang="zh-CN" altLang="en-US" sz="2000" b="1" dirty="0">
                <a:latin typeface="微软雅黑" panose="020B0503020204020204" pitchFamily="34" charset="-122"/>
                <a:ea typeface="微软雅黑" panose="020B0503020204020204" pitchFamily="34" charset="-122"/>
              </a:rPr>
              <a:t>中断是由</a:t>
            </a:r>
            <a:r>
              <a:rPr lang="zh-CN" altLang="en-US" sz="2000" b="1" dirty="0">
                <a:solidFill>
                  <a:srgbClr val="C00000"/>
                </a:solidFill>
                <a:latin typeface="微软雅黑" panose="020B0503020204020204" pitchFamily="34" charset="-122"/>
                <a:ea typeface="微软雅黑" panose="020B0503020204020204" pitchFamily="34" charset="-122"/>
              </a:rPr>
              <a:t>中断系统</a:t>
            </a:r>
            <a:r>
              <a:rPr lang="zh-CN" altLang="en-US" sz="2000" b="1" dirty="0">
                <a:latin typeface="微软雅黑" panose="020B0503020204020204" pitchFamily="34" charset="-122"/>
                <a:ea typeface="微软雅黑" panose="020B0503020204020204" pitchFamily="34" charset="-122"/>
              </a:rPr>
              <a:t>实现的，从系统观角度而言，兼具了</a:t>
            </a:r>
            <a:r>
              <a:rPr lang="zh-CN" altLang="en-US" sz="2000" b="1" dirty="0">
                <a:solidFill>
                  <a:srgbClr val="C00000"/>
                </a:solidFill>
                <a:latin typeface="微软雅黑" panose="020B0503020204020204" pitchFamily="34" charset="-122"/>
                <a:ea typeface="微软雅黑" panose="020B0503020204020204" pitchFamily="34" charset="-122"/>
              </a:rPr>
              <a:t>软硬件技术特色，</a:t>
            </a:r>
            <a:r>
              <a:rPr lang="zh-CN" altLang="en-US" sz="2000" b="1" dirty="0">
                <a:latin typeface="微软雅黑" panose="020B0503020204020204" pitchFamily="34" charset="-122"/>
                <a:ea typeface="微软雅黑" panose="020B0503020204020204" pitchFamily="34" charset="-122"/>
              </a:rPr>
              <a:t>并不是仅仅依靠软件或者硬件就可以实现的。</a:t>
            </a:r>
            <a:endParaRPr lang="en-US" altLang="zh-CN" sz="2000" b="1" dirty="0">
              <a:latin typeface="微软雅黑" panose="020B0503020204020204" pitchFamily="34" charset="-122"/>
              <a:ea typeface="微软雅黑" panose="020B0503020204020204" pitchFamily="34" charset="-122"/>
            </a:endParaRPr>
          </a:p>
          <a:p>
            <a:pPr lvl="1">
              <a:lnSpc>
                <a:spcPct val="130000"/>
              </a:lnSpc>
              <a:buFont typeface="Wingdings" panose="05000000000000000000" pitchFamily="2" charset="2"/>
              <a:buChar char="p"/>
            </a:pPr>
            <a:r>
              <a:rPr lang="zh-CN" altLang="en-US" sz="2000" b="1" dirty="0">
                <a:latin typeface="微软雅黑" panose="020B0503020204020204" pitchFamily="34" charset="-122"/>
                <a:ea typeface="微软雅黑" panose="020B0503020204020204" pitchFamily="34" charset="-122"/>
              </a:rPr>
              <a:t>中断技术的设计围绕着中断处理流程展开（如图</a:t>
            </a:r>
            <a:r>
              <a:rPr lang="en-US" altLang="zh-CN" sz="2000" b="1" dirty="0">
                <a:latin typeface="微软雅黑" panose="020B0503020204020204" pitchFamily="34" charset="-122"/>
                <a:ea typeface="微软雅黑" panose="020B0503020204020204" pitchFamily="34" charset="-122"/>
              </a:rPr>
              <a:t>6.4</a:t>
            </a:r>
            <a:r>
              <a:rPr lang="zh-CN" altLang="en-US" sz="2000" b="1" dirty="0">
                <a:latin typeface="微软雅黑" panose="020B0503020204020204" pitchFamily="34" charset="-122"/>
                <a:ea typeface="微软雅黑" panose="020B0503020204020204" pitchFamily="34" charset="-122"/>
              </a:rPr>
              <a:t>所示）。不同的处理阶段，需要根据需求，综合考量和筛选。</a:t>
            </a:r>
            <a:endParaRPr lang="en-US" altLang="zh-CN" sz="2000" b="1" dirty="0">
              <a:latin typeface="微软雅黑" panose="020B0503020204020204" pitchFamily="34" charset="-122"/>
              <a:ea typeface="微软雅黑" panose="020B0503020204020204" pitchFamily="34" charset="-122"/>
            </a:endParaRPr>
          </a:p>
          <a:p>
            <a:pPr lvl="1">
              <a:lnSpc>
                <a:spcPct val="130000"/>
              </a:lnSpc>
              <a:buFont typeface="Wingdings" panose="05000000000000000000" pitchFamily="2" charset="2"/>
              <a:buChar char="p"/>
            </a:pPr>
            <a:r>
              <a:rPr lang="zh-CN" altLang="en-US" sz="2000" b="1" dirty="0">
                <a:latin typeface="微软雅黑" panose="020B0503020204020204" pitchFamily="34" charset="-122"/>
                <a:ea typeface="微软雅黑" panose="020B0503020204020204" pitchFamily="34" charset="-122"/>
              </a:rPr>
              <a:t>中断与</a:t>
            </a:r>
            <a:r>
              <a:rPr lang="zh-CN" altLang="en-US" sz="2000" b="1" dirty="0">
                <a:solidFill>
                  <a:srgbClr val="C00000"/>
                </a:solidFill>
                <a:latin typeface="微软雅黑" panose="020B0503020204020204" pitchFamily="34" charset="-122"/>
                <a:ea typeface="微软雅黑" panose="020B0503020204020204" pitchFamily="34" charset="-122"/>
              </a:rPr>
              <a:t>子程序</a:t>
            </a:r>
            <a:r>
              <a:rPr lang="zh-CN" altLang="en-US" sz="2000" b="1" dirty="0">
                <a:latin typeface="微软雅黑" panose="020B0503020204020204" pitchFamily="34" charset="-122"/>
                <a:ea typeface="微软雅黑" panose="020B0503020204020204" pitchFamily="34" charset="-122"/>
              </a:rPr>
              <a:t>极其类似，但又有所不同，需要在学习中进一步的思考。</a:t>
            </a:r>
          </a:p>
        </p:txBody>
      </p:sp>
      <p:sp>
        <p:nvSpPr>
          <p:cNvPr id="4" name="标题 1">
            <a:extLst>
              <a:ext uri="{FF2B5EF4-FFF2-40B4-BE49-F238E27FC236}">
                <a16:creationId xmlns:a16="http://schemas.microsoft.com/office/drawing/2014/main" id="{7DFAA92D-C427-4286-B235-2F617A290BE9}"/>
              </a:ext>
            </a:extLst>
          </p:cNvPr>
          <p:cNvSpPr>
            <a:spLocks noGrp="1"/>
          </p:cNvSpPr>
          <p:nvPr>
            <p:ph type="title"/>
          </p:nvPr>
        </p:nvSpPr>
        <p:spPr>
          <a:xfrm>
            <a:off x="609601" y="238256"/>
            <a:ext cx="11277600" cy="688975"/>
          </a:xfrm>
        </p:spPr>
        <p:txBody>
          <a:bodyPr/>
          <a:lstStyle/>
          <a:p>
            <a:r>
              <a:rPr lang="en-US" altLang="zh-CN" dirty="0">
                <a:latin typeface="Calibri" panose="020F0502020204030204" pitchFamily="34" charset="0"/>
                <a:ea typeface="Calibri" panose="020F0502020204030204" pitchFamily="34" charset="0"/>
                <a:cs typeface="Calibri" panose="020F0502020204030204" pitchFamily="34" charset="0"/>
              </a:rPr>
              <a:t>6.7 </a:t>
            </a:r>
            <a:r>
              <a:rPr lang="zh-CN" altLang="en-US" dirty="0">
                <a:latin typeface="Calibri" panose="020F0502020204030204" pitchFamily="34" charset="0"/>
                <a:ea typeface="微软雅黑" panose="020B0503020204020204" pitchFamily="34" charset="-122"/>
                <a:cs typeface="Calibri" panose="020F0502020204030204" pitchFamily="34" charset="0"/>
              </a:rPr>
              <a:t>异常与中断处理</a:t>
            </a:r>
          </a:p>
        </p:txBody>
      </p:sp>
      <p:sp>
        <p:nvSpPr>
          <p:cNvPr id="5" name="矩形 4">
            <a:extLst>
              <a:ext uri="{FF2B5EF4-FFF2-40B4-BE49-F238E27FC236}">
                <a16:creationId xmlns:a16="http://schemas.microsoft.com/office/drawing/2014/main" id="{6979FAA8-310C-4413-A000-59C0C2722604}"/>
              </a:ext>
            </a:extLst>
          </p:cNvPr>
          <p:cNvSpPr/>
          <p:nvPr/>
        </p:nvSpPr>
        <p:spPr bwMode="auto">
          <a:xfrm>
            <a:off x="5855588" y="1595579"/>
            <a:ext cx="2042291" cy="45475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b="1" dirty="0">
                <a:solidFill>
                  <a:srgbClr val="133984"/>
                </a:solidFill>
                <a:latin typeface="微软雅黑" panose="020B0503020204020204" pitchFamily="34" charset="-122"/>
                <a:ea typeface="微软雅黑" panose="020B0503020204020204" pitchFamily="34" charset="-122"/>
              </a:rPr>
              <a:t>第</a:t>
            </a:r>
            <a:r>
              <a:rPr lang="en-US" altLang="zh-CN" sz="1600" b="1" dirty="0">
                <a:solidFill>
                  <a:srgbClr val="133984"/>
                </a:solidFill>
                <a:latin typeface="微软雅黑" panose="020B0503020204020204" pitchFamily="34" charset="-122"/>
                <a:ea typeface="微软雅黑" panose="020B0503020204020204" pitchFamily="34" charset="-122"/>
              </a:rPr>
              <a:t>I</a:t>
            </a:r>
            <a:r>
              <a:rPr lang="zh-CN" altLang="en-US" sz="1600" b="1" dirty="0">
                <a:solidFill>
                  <a:srgbClr val="133984"/>
                </a:solidFill>
                <a:latin typeface="微软雅黑" panose="020B0503020204020204" pitchFamily="34" charset="-122"/>
                <a:ea typeface="微软雅黑" panose="020B0503020204020204" pitchFamily="34" charset="-122"/>
              </a:rPr>
              <a:t>步：</a:t>
            </a:r>
            <a:r>
              <a:rPr lang="zh-CN" altLang="en-US" sz="1600" b="1" dirty="0">
                <a:solidFill>
                  <a:srgbClr val="C00000"/>
                </a:solidFill>
                <a:latin typeface="微软雅黑" panose="020B0503020204020204" pitchFamily="34" charset="-122"/>
                <a:ea typeface="微软雅黑" panose="020B0503020204020204" pitchFamily="34" charset="-122"/>
              </a:rPr>
              <a:t>中断请求</a:t>
            </a:r>
          </a:p>
        </p:txBody>
      </p:sp>
      <p:sp>
        <p:nvSpPr>
          <p:cNvPr id="6" name="矩形 5">
            <a:extLst>
              <a:ext uri="{FF2B5EF4-FFF2-40B4-BE49-F238E27FC236}">
                <a16:creationId xmlns:a16="http://schemas.microsoft.com/office/drawing/2014/main" id="{01C4FE9F-8992-4137-BCC0-7F02C1E1CC76}"/>
              </a:ext>
            </a:extLst>
          </p:cNvPr>
          <p:cNvSpPr/>
          <p:nvPr/>
        </p:nvSpPr>
        <p:spPr bwMode="auto">
          <a:xfrm>
            <a:off x="5948949" y="2603122"/>
            <a:ext cx="2015637" cy="45475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b="1" dirty="0">
                <a:solidFill>
                  <a:srgbClr val="133984"/>
                </a:solidFill>
                <a:latin typeface="微软雅黑" panose="020B0503020204020204" pitchFamily="34" charset="-122"/>
                <a:ea typeface="微软雅黑" panose="020B0503020204020204" pitchFamily="34" charset="-122"/>
              </a:rPr>
              <a:t>第</a:t>
            </a:r>
            <a:r>
              <a:rPr lang="en-US" altLang="zh-CN" sz="1600" b="1" dirty="0">
                <a:solidFill>
                  <a:srgbClr val="133984"/>
                </a:solidFill>
                <a:latin typeface="微软雅黑" panose="020B0503020204020204" pitchFamily="34" charset="-122"/>
                <a:ea typeface="微软雅黑" panose="020B0503020204020204" pitchFamily="34" charset="-122"/>
              </a:rPr>
              <a:t>II</a:t>
            </a:r>
            <a:r>
              <a:rPr lang="zh-CN" altLang="en-US" sz="1600" b="1" dirty="0">
                <a:solidFill>
                  <a:srgbClr val="133984"/>
                </a:solidFill>
                <a:latin typeface="微软雅黑" panose="020B0503020204020204" pitchFamily="34" charset="-122"/>
                <a:ea typeface="微软雅黑" panose="020B0503020204020204" pitchFamily="34" charset="-122"/>
              </a:rPr>
              <a:t>步：</a:t>
            </a:r>
            <a:r>
              <a:rPr lang="zh-CN" altLang="en-US" sz="1600" b="1" dirty="0">
                <a:solidFill>
                  <a:srgbClr val="C00000"/>
                </a:solidFill>
                <a:latin typeface="微软雅黑" panose="020B0503020204020204" pitchFamily="34" charset="-122"/>
                <a:ea typeface="微软雅黑" panose="020B0503020204020204" pitchFamily="34" charset="-122"/>
              </a:rPr>
              <a:t>中断判优</a:t>
            </a:r>
          </a:p>
        </p:txBody>
      </p:sp>
      <p:sp>
        <p:nvSpPr>
          <p:cNvPr id="7" name="矩形 6">
            <a:extLst>
              <a:ext uri="{FF2B5EF4-FFF2-40B4-BE49-F238E27FC236}">
                <a16:creationId xmlns:a16="http://schemas.microsoft.com/office/drawing/2014/main" id="{E692F055-8F5B-4484-B45F-B83E185F023B}"/>
              </a:ext>
            </a:extLst>
          </p:cNvPr>
          <p:cNvSpPr/>
          <p:nvPr/>
        </p:nvSpPr>
        <p:spPr bwMode="auto">
          <a:xfrm>
            <a:off x="5948949" y="3557586"/>
            <a:ext cx="2015637" cy="45475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b="1" dirty="0">
                <a:solidFill>
                  <a:srgbClr val="133984"/>
                </a:solidFill>
                <a:latin typeface="微软雅黑" panose="020B0503020204020204" pitchFamily="34" charset="-122"/>
                <a:ea typeface="微软雅黑" panose="020B0503020204020204" pitchFamily="34" charset="-122"/>
              </a:rPr>
              <a:t>第</a:t>
            </a:r>
            <a:r>
              <a:rPr lang="en-US" altLang="zh-CN" sz="1600" b="1" dirty="0">
                <a:solidFill>
                  <a:srgbClr val="133984"/>
                </a:solidFill>
                <a:latin typeface="微软雅黑" panose="020B0503020204020204" pitchFamily="34" charset="-122"/>
                <a:ea typeface="微软雅黑" panose="020B0503020204020204" pitchFamily="34" charset="-122"/>
              </a:rPr>
              <a:t>III</a:t>
            </a:r>
            <a:r>
              <a:rPr lang="zh-CN" altLang="en-US" sz="1600" b="1" dirty="0">
                <a:solidFill>
                  <a:srgbClr val="133984"/>
                </a:solidFill>
                <a:latin typeface="微软雅黑" panose="020B0503020204020204" pitchFamily="34" charset="-122"/>
                <a:ea typeface="微软雅黑" panose="020B0503020204020204" pitchFamily="34" charset="-122"/>
              </a:rPr>
              <a:t>步：</a:t>
            </a:r>
            <a:r>
              <a:rPr lang="zh-CN" altLang="en-US" sz="1600" b="1" dirty="0">
                <a:solidFill>
                  <a:srgbClr val="C00000"/>
                </a:solidFill>
                <a:latin typeface="微软雅黑" panose="020B0503020204020204" pitchFamily="34" charset="-122"/>
                <a:ea typeface="微软雅黑" panose="020B0503020204020204" pitchFamily="34" charset="-122"/>
              </a:rPr>
              <a:t>中断响应</a:t>
            </a:r>
          </a:p>
        </p:txBody>
      </p:sp>
      <p:sp>
        <p:nvSpPr>
          <p:cNvPr id="8" name="矩形 7">
            <a:extLst>
              <a:ext uri="{FF2B5EF4-FFF2-40B4-BE49-F238E27FC236}">
                <a16:creationId xmlns:a16="http://schemas.microsoft.com/office/drawing/2014/main" id="{19F404BF-FD8A-4FA5-BC23-B60BEC3BAB3D}"/>
              </a:ext>
            </a:extLst>
          </p:cNvPr>
          <p:cNvSpPr/>
          <p:nvPr/>
        </p:nvSpPr>
        <p:spPr bwMode="auto">
          <a:xfrm>
            <a:off x="5932258" y="4501246"/>
            <a:ext cx="2015637" cy="45475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b="1" dirty="0">
                <a:solidFill>
                  <a:srgbClr val="133984"/>
                </a:solidFill>
                <a:latin typeface="微软雅黑" panose="020B0503020204020204" pitchFamily="34" charset="-122"/>
                <a:ea typeface="微软雅黑" panose="020B0503020204020204" pitchFamily="34" charset="-122"/>
              </a:rPr>
              <a:t>第</a:t>
            </a:r>
            <a:r>
              <a:rPr lang="en-US" altLang="zh-CN" sz="1600" b="1" dirty="0">
                <a:solidFill>
                  <a:srgbClr val="133984"/>
                </a:solidFill>
                <a:latin typeface="微软雅黑" panose="020B0503020204020204" pitchFamily="34" charset="-122"/>
                <a:ea typeface="微软雅黑" panose="020B0503020204020204" pitchFamily="34" charset="-122"/>
              </a:rPr>
              <a:t>IV</a:t>
            </a:r>
            <a:r>
              <a:rPr lang="zh-CN" altLang="en-US" sz="1600" b="1" dirty="0">
                <a:solidFill>
                  <a:srgbClr val="133984"/>
                </a:solidFill>
                <a:latin typeface="微软雅黑" panose="020B0503020204020204" pitchFamily="34" charset="-122"/>
                <a:ea typeface="微软雅黑" panose="020B0503020204020204" pitchFamily="34" charset="-122"/>
              </a:rPr>
              <a:t>步：</a:t>
            </a:r>
            <a:r>
              <a:rPr lang="zh-CN" altLang="en-US" sz="1600" b="1" dirty="0">
                <a:solidFill>
                  <a:srgbClr val="C00000"/>
                </a:solidFill>
                <a:latin typeface="微软雅黑" panose="020B0503020204020204" pitchFamily="34" charset="-122"/>
                <a:ea typeface="微软雅黑" panose="020B0503020204020204" pitchFamily="34" charset="-122"/>
              </a:rPr>
              <a:t>中断服务</a:t>
            </a:r>
          </a:p>
        </p:txBody>
      </p:sp>
      <p:sp>
        <p:nvSpPr>
          <p:cNvPr id="9" name="矩形 8">
            <a:extLst>
              <a:ext uri="{FF2B5EF4-FFF2-40B4-BE49-F238E27FC236}">
                <a16:creationId xmlns:a16="http://schemas.microsoft.com/office/drawing/2014/main" id="{0B6AFE32-B6A3-4AF4-B79F-DBECA3C26E76}"/>
              </a:ext>
            </a:extLst>
          </p:cNvPr>
          <p:cNvSpPr/>
          <p:nvPr/>
        </p:nvSpPr>
        <p:spPr bwMode="auto">
          <a:xfrm>
            <a:off x="5936874" y="5443104"/>
            <a:ext cx="2015637" cy="45475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b="1" dirty="0">
                <a:solidFill>
                  <a:srgbClr val="133984"/>
                </a:solidFill>
                <a:latin typeface="微软雅黑" panose="020B0503020204020204" pitchFamily="34" charset="-122"/>
                <a:ea typeface="微软雅黑" panose="020B0503020204020204" pitchFamily="34" charset="-122"/>
              </a:rPr>
              <a:t>第</a:t>
            </a:r>
            <a:r>
              <a:rPr lang="en-US" altLang="zh-CN" sz="1600" b="1" dirty="0">
                <a:solidFill>
                  <a:srgbClr val="133984"/>
                </a:solidFill>
                <a:latin typeface="微软雅黑" panose="020B0503020204020204" pitchFamily="34" charset="-122"/>
                <a:ea typeface="微软雅黑" panose="020B0503020204020204" pitchFamily="34" charset="-122"/>
              </a:rPr>
              <a:t>V</a:t>
            </a:r>
            <a:r>
              <a:rPr lang="zh-CN" altLang="en-US" sz="1600" b="1" dirty="0">
                <a:solidFill>
                  <a:srgbClr val="133984"/>
                </a:solidFill>
                <a:latin typeface="微软雅黑" panose="020B0503020204020204" pitchFamily="34" charset="-122"/>
                <a:ea typeface="微软雅黑" panose="020B0503020204020204" pitchFamily="34" charset="-122"/>
              </a:rPr>
              <a:t>步：</a:t>
            </a:r>
            <a:r>
              <a:rPr lang="zh-CN" altLang="en-US" sz="1600" b="1" dirty="0">
                <a:solidFill>
                  <a:srgbClr val="C00000"/>
                </a:solidFill>
                <a:latin typeface="微软雅黑" panose="020B0503020204020204" pitchFamily="34" charset="-122"/>
                <a:ea typeface="微软雅黑" panose="020B0503020204020204" pitchFamily="34" charset="-122"/>
              </a:rPr>
              <a:t>中断返回</a:t>
            </a:r>
          </a:p>
        </p:txBody>
      </p:sp>
      <p:sp>
        <p:nvSpPr>
          <p:cNvPr id="13" name="箭头: 下 12">
            <a:extLst>
              <a:ext uri="{FF2B5EF4-FFF2-40B4-BE49-F238E27FC236}">
                <a16:creationId xmlns:a16="http://schemas.microsoft.com/office/drawing/2014/main" id="{185F3BC9-FF0A-4C7E-91FE-85FC8D46CC79}"/>
              </a:ext>
            </a:extLst>
          </p:cNvPr>
          <p:cNvSpPr/>
          <p:nvPr/>
        </p:nvSpPr>
        <p:spPr bwMode="auto">
          <a:xfrm>
            <a:off x="6705605" y="2058046"/>
            <a:ext cx="415636" cy="488985"/>
          </a:xfrm>
          <a:prstGeom prst="down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800" b="1" dirty="0">
              <a:solidFill>
                <a:schemeClr val="tx1"/>
              </a:solidFill>
            </a:endParaRPr>
          </a:p>
        </p:txBody>
      </p:sp>
      <p:sp>
        <p:nvSpPr>
          <p:cNvPr id="14" name="箭头: 下 13">
            <a:extLst>
              <a:ext uri="{FF2B5EF4-FFF2-40B4-BE49-F238E27FC236}">
                <a16:creationId xmlns:a16="http://schemas.microsoft.com/office/drawing/2014/main" id="{FBFD2D93-E8CC-4B83-850C-520B2F5A5C80}"/>
              </a:ext>
            </a:extLst>
          </p:cNvPr>
          <p:cNvSpPr/>
          <p:nvPr/>
        </p:nvSpPr>
        <p:spPr bwMode="auto">
          <a:xfrm>
            <a:off x="6748949" y="3106057"/>
            <a:ext cx="415636" cy="436403"/>
          </a:xfrm>
          <a:prstGeom prst="down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800" b="1" dirty="0">
              <a:solidFill>
                <a:schemeClr val="tx1"/>
              </a:solidFill>
            </a:endParaRPr>
          </a:p>
        </p:txBody>
      </p:sp>
      <p:sp>
        <p:nvSpPr>
          <p:cNvPr id="15" name="箭头: 下 14">
            <a:extLst>
              <a:ext uri="{FF2B5EF4-FFF2-40B4-BE49-F238E27FC236}">
                <a16:creationId xmlns:a16="http://schemas.microsoft.com/office/drawing/2014/main" id="{694A011A-C4DD-44A4-8A16-391AB38038C2}"/>
              </a:ext>
            </a:extLst>
          </p:cNvPr>
          <p:cNvSpPr/>
          <p:nvPr/>
        </p:nvSpPr>
        <p:spPr bwMode="auto">
          <a:xfrm>
            <a:off x="6748949" y="4027770"/>
            <a:ext cx="415636" cy="439786"/>
          </a:xfrm>
          <a:prstGeom prst="down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800" b="1" dirty="0">
              <a:solidFill>
                <a:schemeClr val="tx1"/>
              </a:solidFill>
            </a:endParaRPr>
          </a:p>
        </p:txBody>
      </p:sp>
      <p:sp>
        <p:nvSpPr>
          <p:cNvPr id="16" name="箭头: 下 15">
            <a:extLst>
              <a:ext uri="{FF2B5EF4-FFF2-40B4-BE49-F238E27FC236}">
                <a16:creationId xmlns:a16="http://schemas.microsoft.com/office/drawing/2014/main" id="{757D58D0-774D-4A56-9903-D0F2612C3D79}"/>
              </a:ext>
            </a:extLst>
          </p:cNvPr>
          <p:cNvSpPr/>
          <p:nvPr/>
        </p:nvSpPr>
        <p:spPr bwMode="auto">
          <a:xfrm>
            <a:off x="6736875" y="5000400"/>
            <a:ext cx="415636" cy="386613"/>
          </a:xfrm>
          <a:prstGeom prst="down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800" b="1" dirty="0">
              <a:solidFill>
                <a:schemeClr val="tx1"/>
              </a:solidFill>
            </a:endParaRPr>
          </a:p>
        </p:txBody>
      </p:sp>
      <p:sp>
        <p:nvSpPr>
          <p:cNvPr id="17" name="文本框 16">
            <a:extLst>
              <a:ext uri="{FF2B5EF4-FFF2-40B4-BE49-F238E27FC236}">
                <a16:creationId xmlns:a16="http://schemas.microsoft.com/office/drawing/2014/main" id="{9BE771FB-0F42-485A-B0AA-9093C5886A09}"/>
              </a:ext>
            </a:extLst>
          </p:cNvPr>
          <p:cNvSpPr txBox="1"/>
          <p:nvPr/>
        </p:nvSpPr>
        <p:spPr>
          <a:xfrm>
            <a:off x="6922657" y="6191162"/>
            <a:ext cx="2634475" cy="338554"/>
          </a:xfrm>
          <a:prstGeom prst="rect">
            <a:avLst/>
          </a:prstGeom>
          <a:noFill/>
        </p:spPr>
        <p:txBody>
          <a:bodyPr wrap="square" rtlCol="0">
            <a:spAutoFit/>
          </a:bodyPr>
          <a:lstStyle/>
          <a:p>
            <a:r>
              <a:rPr lang="zh-CN" altLang="en-US" sz="1600" b="1" dirty="0">
                <a:solidFill>
                  <a:srgbClr val="133984"/>
                </a:solidFill>
                <a:latin typeface="微软雅黑" panose="020B0503020204020204" pitchFamily="34" charset="-122"/>
                <a:ea typeface="微软雅黑" panose="020B0503020204020204" pitchFamily="34" charset="-122"/>
              </a:rPr>
              <a:t>图 </a:t>
            </a:r>
            <a:r>
              <a:rPr lang="en-US" altLang="zh-CN" sz="1600" b="1" dirty="0">
                <a:solidFill>
                  <a:srgbClr val="133984"/>
                </a:solidFill>
                <a:latin typeface="微软雅黑" panose="020B0503020204020204" pitchFamily="34" charset="-122"/>
                <a:ea typeface="微软雅黑" panose="020B0503020204020204" pitchFamily="34" charset="-122"/>
              </a:rPr>
              <a:t>6.4 </a:t>
            </a:r>
            <a:r>
              <a:rPr lang="zh-CN" altLang="en-US" sz="1600" b="1" dirty="0">
                <a:solidFill>
                  <a:srgbClr val="133984"/>
                </a:solidFill>
                <a:latin typeface="微软雅黑" panose="020B0503020204020204" pitchFamily="34" charset="-122"/>
                <a:ea typeface="微软雅黑" panose="020B0503020204020204" pitchFamily="34" charset="-122"/>
              </a:rPr>
              <a:t>中断处理流程</a:t>
            </a:r>
          </a:p>
        </p:txBody>
      </p:sp>
      <p:sp>
        <p:nvSpPr>
          <p:cNvPr id="18" name="对话气泡: 圆角矩形 17">
            <a:extLst>
              <a:ext uri="{FF2B5EF4-FFF2-40B4-BE49-F238E27FC236}">
                <a16:creationId xmlns:a16="http://schemas.microsoft.com/office/drawing/2014/main" id="{E984729B-57A3-4F96-9572-0F7E5C3A6AE2}"/>
              </a:ext>
            </a:extLst>
          </p:cNvPr>
          <p:cNvSpPr/>
          <p:nvPr/>
        </p:nvSpPr>
        <p:spPr bwMode="auto">
          <a:xfrm>
            <a:off x="8317699" y="1025913"/>
            <a:ext cx="1681020" cy="839613"/>
          </a:xfrm>
          <a:prstGeom prst="wedgeRoundRectCallout">
            <a:avLst>
              <a:gd name="adj1" fmla="val -68222"/>
              <a:gd name="adj2" fmla="val 44852"/>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100" b="1" dirty="0">
                <a:solidFill>
                  <a:schemeClr val="tx1"/>
                </a:solidFill>
              </a:rPr>
              <a:t>外部设备或事件向处理器发出中断请求，请求处理器为其服务</a:t>
            </a:r>
          </a:p>
        </p:txBody>
      </p:sp>
      <p:sp>
        <p:nvSpPr>
          <p:cNvPr id="19" name="对话气泡: 圆角矩形 18">
            <a:extLst>
              <a:ext uri="{FF2B5EF4-FFF2-40B4-BE49-F238E27FC236}">
                <a16:creationId xmlns:a16="http://schemas.microsoft.com/office/drawing/2014/main" id="{7D276136-103C-4739-A02F-42FDDC5EACC4}"/>
              </a:ext>
            </a:extLst>
          </p:cNvPr>
          <p:cNvSpPr/>
          <p:nvPr/>
        </p:nvSpPr>
        <p:spPr bwMode="auto">
          <a:xfrm>
            <a:off x="8310954" y="2012180"/>
            <a:ext cx="1753127" cy="839613"/>
          </a:xfrm>
          <a:prstGeom prst="wedgeRoundRectCallout">
            <a:avLst>
              <a:gd name="adj1" fmla="val -67673"/>
              <a:gd name="adj2" fmla="val 45952"/>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100" b="1" dirty="0">
                <a:solidFill>
                  <a:schemeClr val="tx1"/>
                </a:solidFill>
              </a:rPr>
              <a:t>多个设备或者中断源发出请求，处理器需要采取一定的排队策略，进行冲裁</a:t>
            </a:r>
          </a:p>
        </p:txBody>
      </p:sp>
      <p:sp>
        <p:nvSpPr>
          <p:cNvPr id="20" name="对话气泡: 圆角矩形 19">
            <a:extLst>
              <a:ext uri="{FF2B5EF4-FFF2-40B4-BE49-F238E27FC236}">
                <a16:creationId xmlns:a16="http://schemas.microsoft.com/office/drawing/2014/main" id="{460109A0-969F-4C8E-A70D-877B0C5F4960}"/>
              </a:ext>
            </a:extLst>
          </p:cNvPr>
          <p:cNvSpPr/>
          <p:nvPr/>
        </p:nvSpPr>
        <p:spPr bwMode="auto">
          <a:xfrm>
            <a:off x="8310954" y="3011336"/>
            <a:ext cx="1769824" cy="839613"/>
          </a:xfrm>
          <a:prstGeom prst="wedgeRoundRectCallout">
            <a:avLst>
              <a:gd name="adj1" fmla="val -67673"/>
              <a:gd name="adj2" fmla="val 45952"/>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100" b="1" dirty="0">
                <a:solidFill>
                  <a:schemeClr val="tx1"/>
                </a:solidFill>
              </a:rPr>
              <a:t>一旦某个中断源被响应，则进入中断响应周期，完成断点保护以及中断服务子程序入口地址的识别等工作</a:t>
            </a:r>
          </a:p>
        </p:txBody>
      </p:sp>
      <p:sp>
        <p:nvSpPr>
          <p:cNvPr id="21" name="对话气泡: 圆角矩形 20">
            <a:extLst>
              <a:ext uri="{FF2B5EF4-FFF2-40B4-BE49-F238E27FC236}">
                <a16:creationId xmlns:a16="http://schemas.microsoft.com/office/drawing/2014/main" id="{A81EA1BF-C53E-4BC2-B177-DD19FB729AFE}"/>
              </a:ext>
            </a:extLst>
          </p:cNvPr>
          <p:cNvSpPr/>
          <p:nvPr/>
        </p:nvSpPr>
        <p:spPr bwMode="auto">
          <a:xfrm>
            <a:off x="8321977" y="4010492"/>
            <a:ext cx="1769824" cy="839613"/>
          </a:xfrm>
          <a:prstGeom prst="wedgeRoundRectCallout">
            <a:avLst>
              <a:gd name="adj1" fmla="val -67673"/>
              <a:gd name="adj2" fmla="val 45952"/>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100" b="1" dirty="0">
                <a:solidFill>
                  <a:schemeClr val="tx1"/>
                </a:solidFill>
              </a:rPr>
              <a:t>处理器通过执行中断服务子程序，完成对于中断事务的处理，期间可能涉及中断嵌套</a:t>
            </a:r>
          </a:p>
        </p:txBody>
      </p:sp>
      <p:sp>
        <p:nvSpPr>
          <p:cNvPr id="22" name="对话气泡: 圆角矩形 21">
            <a:extLst>
              <a:ext uri="{FF2B5EF4-FFF2-40B4-BE49-F238E27FC236}">
                <a16:creationId xmlns:a16="http://schemas.microsoft.com/office/drawing/2014/main" id="{450BA51B-C70C-4A1A-BB6D-28280889AF49}"/>
              </a:ext>
            </a:extLst>
          </p:cNvPr>
          <p:cNvSpPr/>
          <p:nvPr/>
        </p:nvSpPr>
        <p:spPr bwMode="auto">
          <a:xfrm>
            <a:off x="8310954" y="5116222"/>
            <a:ext cx="1769824" cy="839613"/>
          </a:xfrm>
          <a:prstGeom prst="wedgeRoundRectCallout">
            <a:avLst>
              <a:gd name="adj1" fmla="val -67673"/>
              <a:gd name="adj2" fmla="val 45952"/>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100" b="1" dirty="0">
                <a:solidFill>
                  <a:schemeClr val="tx1"/>
                </a:solidFill>
              </a:rPr>
              <a:t>完成中断服务，返回断点，继续执行主程序</a:t>
            </a:r>
          </a:p>
        </p:txBody>
      </p:sp>
    </p:spTree>
    <p:extLst>
      <p:ext uri="{BB962C8B-B14F-4D97-AF65-F5344CB8AC3E}">
        <p14:creationId xmlns:p14="http://schemas.microsoft.com/office/powerpoint/2010/main" val="12084058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066271-A094-4A2F-92B6-11865A413D71}"/>
              </a:ext>
            </a:extLst>
          </p:cNvPr>
          <p:cNvSpPr>
            <a:spLocks noGrp="1"/>
          </p:cNvSpPr>
          <p:nvPr>
            <p:ph type="title"/>
          </p:nvPr>
        </p:nvSpPr>
        <p:spPr>
          <a:xfrm>
            <a:off x="302989" y="242914"/>
            <a:ext cx="11277600" cy="688975"/>
          </a:xfrm>
        </p:spPr>
        <p:txBody>
          <a:bodyPr/>
          <a:lstStyle/>
          <a:p>
            <a:r>
              <a:rPr lang="en-US" altLang="zh-CN" dirty="0">
                <a:latin typeface="Calibri" panose="020F0502020204030204" pitchFamily="34" charset="0"/>
                <a:ea typeface="Calibri" panose="020F0502020204030204" pitchFamily="34" charset="0"/>
                <a:cs typeface="Calibri" panose="020F0502020204030204" pitchFamily="34" charset="0"/>
              </a:rPr>
              <a:t>6.7 </a:t>
            </a:r>
            <a:r>
              <a:rPr lang="zh-CN" altLang="en-US" dirty="0">
                <a:latin typeface="Calibri" panose="020F0502020204030204" pitchFamily="34" charset="0"/>
                <a:ea typeface="微软雅黑" panose="020B0503020204020204" pitchFamily="34" charset="-122"/>
                <a:cs typeface="Calibri" panose="020F0502020204030204" pitchFamily="34" charset="0"/>
              </a:rPr>
              <a:t>异常与中断处理</a:t>
            </a:r>
            <a:endParaRPr lang="zh-CN" altLang="en-US" dirty="0"/>
          </a:p>
        </p:txBody>
      </p:sp>
      <p:sp>
        <p:nvSpPr>
          <p:cNvPr id="5" name="内容占位符 4">
            <a:extLst>
              <a:ext uri="{FF2B5EF4-FFF2-40B4-BE49-F238E27FC236}">
                <a16:creationId xmlns:a16="http://schemas.microsoft.com/office/drawing/2014/main" id="{608C3F9B-767C-4039-9A73-BC4B8E0D6F68}"/>
              </a:ext>
            </a:extLst>
          </p:cNvPr>
          <p:cNvSpPr>
            <a:spLocks noGrp="1"/>
          </p:cNvSpPr>
          <p:nvPr>
            <p:ph idx="1"/>
          </p:nvPr>
        </p:nvSpPr>
        <p:spPr>
          <a:xfrm>
            <a:off x="455389" y="967145"/>
            <a:ext cx="10631711" cy="5821582"/>
          </a:xfrm>
        </p:spPr>
        <p:txBody>
          <a:bodyPr/>
          <a:lstStyle/>
          <a:p>
            <a:pPr>
              <a:lnSpc>
                <a:spcPct val="140000"/>
              </a:lnSpc>
            </a:pPr>
            <a:r>
              <a:rPr lang="zh-CN" altLang="en-US" b="1" dirty="0">
                <a:latin typeface="微软雅黑" panose="020B0503020204020204" pitchFamily="34" charset="-122"/>
                <a:ea typeface="微软雅黑" panose="020B0503020204020204" pitchFamily="34" charset="-122"/>
              </a:rPr>
              <a:t>第</a:t>
            </a:r>
            <a:r>
              <a:rPr lang="en-US" altLang="zh-CN" b="1" dirty="0">
                <a:latin typeface="微软雅黑" panose="020B0503020204020204" pitchFamily="34" charset="-122"/>
                <a:ea typeface="微软雅黑" panose="020B0503020204020204" pitchFamily="34" charset="-122"/>
              </a:rPr>
              <a:t>I</a:t>
            </a:r>
            <a:r>
              <a:rPr lang="zh-CN" altLang="en-US" b="1" dirty="0">
                <a:latin typeface="微软雅黑" panose="020B0503020204020204" pitchFamily="34" charset="-122"/>
                <a:ea typeface="微软雅黑" panose="020B0503020204020204" pitchFamily="34" charset="-122"/>
              </a:rPr>
              <a:t>步：中断请求与中断判优</a:t>
            </a:r>
            <a:endParaRPr lang="en-US" altLang="zh-CN" b="1" dirty="0">
              <a:latin typeface="微软雅黑" panose="020B0503020204020204" pitchFamily="34" charset="-122"/>
              <a:ea typeface="微软雅黑" panose="020B0503020204020204" pitchFamily="34" charset="-122"/>
            </a:endParaRPr>
          </a:p>
          <a:p>
            <a:pPr lvl="1">
              <a:lnSpc>
                <a:spcPct val="140000"/>
              </a:lnSpc>
              <a:buFont typeface="Wingdings" panose="05000000000000000000" pitchFamily="2" charset="2"/>
              <a:buChar char="p"/>
            </a:pPr>
            <a:r>
              <a:rPr lang="zh-CN" altLang="en-US" b="1" dirty="0">
                <a:latin typeface="微软雅黑" panose="020B0503020204020204" pitchFamily="34" charset="-122"/>
                <a:ea typeface="微软雅黑" panose="020B0503020204020204" pitchFamily="34" charset="-122"/>
              </a:rPr>
              <a:t>中断请求信号的传达</a:t>
            </a:r>
            <a:endParaRPr lang="en-US" altLang="zh-CN" b="1" dirty="0">
              <a:latin typeface="微软雅黑" panose="020B0503020204020204" pitchFamily="34" charset="-122"/>
              <a:ea typeface="微软雅黑" panose="020B0503020204020204" pitchFamily="34" charset="-122"/>
            </a:endParaRPr>
          </a:p>
          <a:p>
            <a:pPr marL="1163638" lvl="2" indent="-174625" eaLnBrk="1" hangingPunct="1">
              <a:lnSpc>
                <a:spcPct val="140000"/>
              </a:lnSpc>
              <a:buFont typeface="Wingdings" panose="05000000000000000000" pitchFamily="2" charset="2"/>
              <a:buChar char="n"/>
            </a:pPr>
            <a:r>
              <a:rPr lang="zh-CN" altLang="en-US" sz="2000" b="1" dirty="0">
                <a:latin typeface="微软雅黑" panose="020B0503020204020204" pitchFamily="34" charset="-122"/>
                <a:ea typeface="微软雅黑" panose="020B0503020204020204" pitchFamily="34" charset="-122"/>
              </a:rPr>
              <a:t> </a:t>
            </a:r>
            <a:r>
              <a:rPr lang="zh-CN" altLang="en-US" sz="2000" b="1" dirty="0">
                <a:solidFill>
                  <a:srgbClr val="133984"/>
                </a:solidFill>
                <a:latin typeface="微软雅黑" panose="020B0503020204020204" pitchFamily="34" charset="-122"/>
                <a:ea typeface="微软雅黑" panose="020B0503020204020204" pitchFamily="34" charset="-122"/>
              </a:rPr>
              <a:t>多个中断源的中断请求信号与</a:t>
            </a:r>
            <a:r>
              <a:rPr lang="en-US" altLang="zh-CN" sz="2000" b="1" dirty="0">
                <a:solidFill>
                  <a:srgbClr val="133984"/>
                </a:solidFill>
                <a:latin typeface="微软雅黑" panose="020B0503020204020204" pitchFamily="34" charset="-122"/>
                <a:ea typeface="微软雅黑" panose="020B0503020204020204" pitchFamily="34" charset="-122"/>
              </a:rPr>
              <a:t>CPU</a:t>
            </a:r>
            <a:r>
              <a:rPr lang="zh-CN" altLang="en-US" sz="2000" b="1" dirty="0">
                <a:solidFill>
                  <a:srgbClr val="133984"/>
                </a:solidFill>
                <a:latin typeface="微软雅黑" panose="020B0503020204020204" pitchFamily="34" charset="-122"/>
                <a:ea typeface="微软雅黑" panose="020B0503020204020204" pitchFamily="34" charset="-122"/>
              </a:rPr>
              <a:t>的连接方式（传输方式）有</a:t>
            </a:r>
            <a:r>
              <a:rPr lang="en-US" altLang="zh-CN" sz="2000" b="1" dirty="0">
                <a:solidFill>
                  <a:srgbClr val="133984"/>
                </a:solidFill>
                <a:latin typeface="微软雅黑" panose="020B0503020204020204" pitchFamily="34" charset="-122"/>
                <a:ea typeface="微软雅黑" panose="020B0503020204020204" pitchFamily="34" charset="-122"/>
              </a:rPr>
              <a:t>4</a:t>
            </a:r>
            <a:r>
              <a:rPr lang="zh-CN" altLang="en-US" sz="2000" b="1" dirty="0">
                <a:solidFill>
                  <a:srgbClr val="133984"/>
                </a:solidFill>
                <a:latin typeface="微软雅黑" panose="020B0503020204020204" pitchFamily="34" charset="-122"/>
                <a:ea typeface="微软雅黑" panose="020B0503020204020204" pitchFamily="34" charset="-122"/>
              </a:rPr>
              <a:t>种（如图</a:t>
            </a:r>
            <a:r>
              <a:rPr lang="en-US" altLang="zh-CN" sz="2000" b="1" dirty="0">
                <a:solidFill>
                  <a:srgbClr val="133984"/>
                </a:solidFill>
                <a:latin typeface="微软雅黑" panose="020B0503020204020204" pitchFamily="34" charset="-122"/>
                <a:ea typeface="微软雅黑" panose="020B0503020204020204" pitchFamily="34" charset="-122"/>
              </a:rPr>
              <a:t>6.5</a:t>
            </a:r>
            <a:r>
              <a:rPr lang="zh-CN" altLang="en-US" sz="2000" b="1" dirty="0">
                <a:solidFill>
                  <a:srgbClr val="133984"/>
                </a:solidFill>
                <a:latin typeface="微软雅黑" panose="020B0503020204020204" pitchFamily="34" charset="-122"/>
                <a:ea typeface="微软雅黑" panose="020B0503020204020204" pitchFamily="34" charset="-122"/>
              </a:rPr>
              <a:t>所示）：</a:t>
            </a:r>
            <a:endParaRPr lang="en-US" altLang="zh-CN" sz="2000" b="1" dirty="0">
              <a:solidFill>
                <a:srgbClr val="133984"/>
              </a:solidFill>
              <a:latin typeface="微软雅黑" panose="020B0503020204020204" pitchFamily="34" charset="-122"/>
              <a:ea typeface="微软雅黑" panose="020B0503020204020204" pitchFamily="34" charset="-122"/>
            </a:endParaRPr>
          </a:p>
          <a:p>
            <a:pPr marL="1431925" lvl="3" indent="-268288" eaLnBrk="1" hangingPunct="1">
              <a:lnSpc>
                <a:spcPct val="140000"/>
              </a:lnSpc>
              <a:spcBef>
                <a:spcPts val="0"/>
              </a:spcBef>
              <a:buFont typeface="Wingdings" panose="05000000000000000000" pitchFamily="2" charset="2"/>
              <a:buChar char="n"/>
            </a:pPr>
            <a:r>
              <a:rPr lang="zh-CN" altLang="en-US" sz="1800" b="1" dirty="0">
                <a:solidFill>
                  <a:srgbClr val="C00000"/>
                </a:solidFill>
                <a:latin typeface="微软雅黑" panose="020B0503020204020204" pitchFamily="34" charset="-122"/>
                <a:ea typeface="微软雅黑" panose="020B0503020204020204" pitchFamily="34" charset="-122"/>
              </a:rPr>
              <a:t>独立请求方式</a:t>
            </a:r>
            <a:r>
              <a:rPr lang="zh-CN" altLang="en-US" b="1" dirty="0">
                <a:solidFill>
                  <a:srgbClr val="133984"/>
                </a:solidFill>
                <a:latin typeface="微软雅黑" panose="020B0503020204020204" pitchFamily="34" charset="-122"/>
                <a:ea typeface="微软雅黑" panose="020B0503020204020204" pitchFamily="34" charset="-122"/>
              </a:rPr>
              <a:t>：</a:t>
            </a:r>
            <a:r>
              <a:rPr lang="zh-CN" altLang="en-US" sz="1800" b="1" dirty="0">
                <a:solidFill>
                  <a:srgbClr val="133984"/>
                </a:solidFill>
                <a:latin typeface="微软雅黑" panose="020B0503020204020204" pitchFamily="34" charset="-122"/>
                <a:ea typeface="微软雅黑" panose="020B0503020204020204" pitchFamily="34" charset="-122"/>
              </a:rPr>
              <a:t>每个中断源有单独的中断请求线（</a:t>
            </a:r>
            <a:r>
              <a:rPr lang="en-US" altLang="zh-CN" sz="1800" b="1" dirty="0">
                <a:solidFill>
                  <a:srgbClr val="133984"/>
                </a:solidFill>
                <a:latin typeface="微软雅黑" panose="020B0503020204020204" pitchFamily="34" charset="-122"/>
                <a:ea typeface="微软雅黑" panose="020B0503020204020204" pitchFamily="34" charset="-122"/>
              </a:rPr>
              <a:t>INTR</a:t>
            </a:r>
            <a:r>
              <a:rPr lang="zh-CN" altLang="en-US" sz="1800" b="1" dirty="0">
                <a:solidFill>
                  <a:srgbClr val="133984"/>
                </a:solidFill>
                <a:latin typeface="微软雅黑" panose="020B0503020204020204" pitchFamily="34" charset="-122"/>
                <a:ea typeface="微软雅黑" panose="020B0503020204020204" pitchFamily="34" charset="-122"/>
              </a:rPr>
              <a:t>，</a:t>
            </a:r>
            <a:r>
              <a:rPr lang="en-US" altLang="zh-CN" sz="1800" b="1" dirty="0">
                <a:solidFill>
                  <a:srgbClr val="133984"/>
                </a:solidFill>
                <a:latin typeface="微软雅黑" panose="020B0503020204020204" pitchFamily="34" charset="-122"/>
                <a:ea typeface="微软雅黑" panose="020B0503020204020204" pitchFamily="34" charset="-122"/>
              </a:rPr>
              <a:t>Interrupt Request</a:t>
            </a:r>
            <a:r>
              <a:rPr lang="zh-CN" altLang="en-US" sz="1800" b="1" dirty="0">
                <a:solidFill>
                  <a:srgbClr val="133984"/>
                </a:solidFill>
                <a:latin typeface="微软雅黑" panose="020B0503020204020204" pitchFamily="34" charset="-122"/>
                <a:ea typeface="微软雅黑" panose="020B0503020204020204" pitchFamily="34" charset="-122"/>
              </a:rPr>
              <a:t>）和中断应答线（</a:t>
            </a:r>
            <a:r>
              <a:rPr lang="en-US" altLang="zh-CN" sz="1800" b="1" dirty="0">
                <a:solidFill>
                  <a:srgbClr val="133984"/>
                </a:solidFill>
                <a:latin typeface="微软雅黑" panose="020B0503020204020204" pitchFamily="34" charset="-122"/>
                <a:ea typeface="微软雅黑" panose="020B0503020204020204" pitchFamily="34" charset="-122"/>
              </a:rPr>
              <a:t>INTA</a:t>
            </a:r>
            <a:r>
              <a:rPr lang="zh-CN" altLang="en-US" sz="1800" b="1" dirty="0">
                <a:solidFill>
                  <a:srgbClr val="133984"/>
                </a:solidFill>
                <a:latin typeface="微软雅黑" panose="020B0503020204020204" pitchFamily="34" charset="-122"/>
                <a:ea typeface="微软雅黑" panose="020B0503020204020204" pitchFamily="34" charset="-122"/>
              </a:rPr>
              <a:t>，</a:t>
            </a:r>
            <a:r>
              <a:rPr lang="en-US" altLang="zh-CN" sz="1800" b="1" dirty="0">
                <a:solidFill>
                  <a:srgbClr val="133984"/>
                </a:solidFill>
                <a:latin typeface="微软雅黑" panose="020B0503020204020204" pitchFamily="34" charset="-122"/>
                <a:ea typeface="微软雅黑" panose="020B0503020204020204" pitchFamily="34" charset="-122"/>
              </a:rPr>
              <a:t>Interrupt Acknowledge</a:t>
            </a:r>
            <a:r>
              <a:rPr lang="zh-CN" altLang="en-US" sz="1800" b="1" dirty="0">
                <a:solidFill>
                  <a:srgbClr val="133984"/>
                </a:solidFill>
                <a:latin typeface="微软雅黑" panose="020B0503020204020204" pitchFamily="34" charset="-122"/>
                <a:ea typeface="微软雅黑" panose="020B0503020204020204" pitchFamily="34" charset="-122"/>
              </a:rPr>
              <a:t>）。</a:t>
            </a:r>
            <a:r>
              <a:rPr lang="zh-CN" altLang="en-US" sz="1800" b="1" dirty="0">
                <a:latin typeface="微软雅黑" panose="020B0503020204020204" pitchFamily="34" charset="-122"/>
                <a:ea typeface="微软雅黑" panose="020B0503020204020204" pitchFamily="34" charset="-122"/>
              </a:rPr>
              <a:t>（</a:t>
            </a:r>
            <a:r>
              <a:rPr lang="zh-CN" altLang="en-US" sz="1800" b="1" dirty="0">
                <a:solidFill>
                  <a:srgbClr val="C00000"/>
                </a:solidFill>
                <a:latin typeface="微软雅黑" panose="020B0503020204020204" pitchFamily="34" charset="-122"/>
                <a:ea typeface="微软雅黑" panose="020B0503020204020204" pitchFamily="34" charset="-122"/>
              </a:rPr>
              <a:t>手机</a:t>
            </a:r>
            <a:r>
              <a:rPr lang="zh-CN" altLang="en-US" sz="1800" b="1" dirty="0">
                <a:latin typeface="微软雅黑" panose="020B0503020204020204" pitchFamily="34" charset="-122"/>
                <a:ea typeface="微软雅黑" panose="020B0503020204020204" pitchFamily="34" charset="-122"/>
              </a:rPr>
              <a:t>）</a:t>
            </a:r>
            <a:endParaRPr lang="en-US" altLang="zh-CN" sz="1800" b="1" dirty="0">
              <a:latin typeface="微软雅黑" panose="020B0503020204020204" pitchFamily="34" charset="-122"/>
              <a:ea typeface="微软雅黑" panose="020B0503020204020204" pitchFamily="34" charset="-122"/>
            </a:endParaRPr>
          </a:p>
          <a:p>
            <a:pPr marL="1431925" lvl="3" indent="-268288" eaLnBrk="1" hangingPunct="1">
              <a:lnSpc>
                <a:spcPct val="140000"/>
              </a:lnSpc>
              <a:spcBef>
                <a:spcPts val="0"/>
              </a:spcBef>
              <a:buFont typeface="Wingdings" panose="05000000000000000000" pitchFamily="2" charset="2"/>
              <a:buChar char="n"/>
            </a:pPr>
            <a:r>
              <a:rPr lang="zh-CN" altLang="en-US" sz="1800" b="1" dirty="0">
                <a:solidFill>
                  <a:srgbClr val="C00000"/>
                </a:solidFill>
                <a:latin typeface="微软雅黑" panose="020B0503020204020204" pitchFamily="34" charset="-122"/>
                <a:ea typeface="微软雅黑" panose="020B0503020204020204" pitchFamily="34" charset="-122"/>
              </a:rPr>
              <a:t>链式请求方式</a:t>
            </a:r>
            <a:r>
              <a:rPr lang="zh-CN" altLang="en-US" sz="1800" b="1" dirty="0">
                <a:latin typeface="微软雅黑" panose="020B0503020204020204" pitchFamily="34" charset="-122"/>
                <a:ea typeface="微软雅黑" panose="020B0503020204020204" pitchFamily="34" charset="-122"/>
              </a:rPr>
              <a:t>：</a:t>
            </a:r>
            <a:r>
              <a:rPr lang="zh-CN" altLang="en-US" sz="1800" b="1" dirty="0">
                <a:solidFill>
                  <a:srgbClr val="133984"/>
                </a:solidFill>
                <a:latin typeface="微软雅黑" panose="020B0503020204020204" pitchFamily="34" charset="-122"/>
                <a:ea typeface="微软雅黑" panose="020B0503020204020204" pitchFamily="34" charset="-122"/>
              </a:rPr>
              <a:t>多个中断源共用一根公共的中断请求线</a:t>
            </a:r>
            <a:r>
              <a:rPr lang="en-US" altLang="zh-CN" sz="1800" b="1" dirty="0">
                <a:solidFill>
                  <a:srgbClr val="133984"/>
                </a:solidFill>
                <a:latin typeface="微软雅黑" panose="020B0503020204020204" pitchFamily="34" charset="-122"/>
                <a:ea typeface="微软雅黑" panose="020B0503020204020204" pitchFamily="34" charset="-122"/>
              </a:rPr>
              <a:t>INTR</a:t>
            </a:r>
            <a:r>
              <a:rPr lang="zh-CN" altLang="en-US" sz="1800" b="1" dirty="0">
                <a:solidFill>
                  <a:srgbClr val="133984"/>
                </a:solidFill>
                <a:latin typeface="微软雅黑" panose="020B0503020204020204" pitchFamily="34" charset="-122"/>
                <a:ea typeface="微软雅黑" panose="020B0503020204020204" pitchFamily="34" charset="-122"/>
              </a:rPr>
              <a:t>和中断应答线</a:t>
            </a:r>
            <a:r>
              <a:rPr lang="en-US" altLang="zh-CN" sz="1800" b="1" dirty="0">
                <a:solidFill>
                  <a:srgbClr val="133984"/>
                </a:solidFill>
                <a:latin typeface="微软雅黑" panose="020B0503020204020204" pitchFamily="34" charset="-122"/>
                <a:ea typeface="微软雅黑" panose="020B0503020204020204" pitchFamily="34" charset="-122"/>
              </a:rPr>
              <a:t>INTA</a:t>
            </a:r>
            <a:r>
              <a:rPr lang="zh-CN" altLang="en-US" sz="1800" b="1" dirty="0">
                <a:solidFill>
                  <a:srgbClr val="133984"/>
                </a:solidFill>
                <a:latin typeface="微软雅黑" panose="020B0503020204020204" pitchFamily="34" charset="-122"/>
                <a:ea typeface="微软雅黑" panose="020B0503020204020204" pitchFamily="34" charset="-122"/>
              </a:rPr>
              <a:t>；又分为</a:t>
            </a:r>
            <a:r>
              <a:rPr lang="zh-CN" altLang="en-US" sz="1800" b="1" dirty="0">
                <a:solidFill>
                  <a:srgbClr val="C00000"/>
                </a:solidFill>
                <a:latin typeface="微软雅黑" panose="020B0503020204020204" pitchFamily="34" charset="-122"/>
                <a:ea typeface="微软雅黑" panose="020B0503020204020204" pitchFamily="34" charset="-122"/>
              </a:rPr>
              <a:t>硬件查询</a:t>
            </a:r>
            <a:r>
              <a:rPr lang="zh-CN" altLang="en-US" sz="1800" b="1" dirty="0">
                <a:solidFill>
                  <a:srgbClr val="133984"/>
                </a:solidFill>
                <a:latin typeface="微软雅黑" panose="020B0503020204020204" pitchFamily="34" charset="-122"/>
                <a:ea typeface="微软雅黑" panose="020B0503020204020204" pitchFamily="34" charset="-122"/>
              </a:rPr>
              <a:t>法和</a:t>
            </a:r>
            <a:r>
              <a:rPr lang="zh-CN" altLang="en-US" sz="1800" b="1" dirty="0">
                <a:solidFill>
                  <a:srgbClr val="C00000"/>
                </a:solidFill>
                <a:latin typeface="微软雅黑" panose="020B0503020204020204" pitchFamily="34" charset="-122"/>
                <a:ea typeface="微软雅黑" panose="020B0503020204020204" pitchFamily="34" charset="-122"/>
              </a:rPr>
              <a:t>软件查询</a:t>
            </a:r>
            <a:r>
              <a:rPr lang="zh-CN" altLang="en-US" sz="1800" b="1" dirty="0">
                <a:solidFill>
                  <a:srgbClr val="133984"/>
                </a:solidFill>
                <a:latin typeface="微软雅黑" panose="020B0503020204020204" pitchFamily="34" charset="-122"/>
                <a:ea typeface="微软雅黑" panose="020B0503020204020204" pitchFamily="34" charset="-122"/>
              </a:rPr>
              <a:t>法两种方式。</a:t>
            </a:r>
            <a:r>
              <a:rPr lang="zh-CN" altLang="en-US" sz="1600" b="1" dirty="0">
                <a:latin typeface="微软雅黑" panose="020B0503020204020204" pitchFamily="34" charset="-122"/>
                <a:ea typeface="微软雅黑" panose="020B0503020204020204" pitchFamily="34" charset="-122"/>
              </a:rPr>
              <a:t>（</a:t>
            </a:r>
            <a:r>
              <a:rPr lang="zh-CN" altLang="en-US" sz="1800" b="1" dirty="0">
                <a:solidFill>
                  <a:srgbClr val="C00000"/>
                </a:solidFill>
                <a:latin typeface="微软雅黑" panose="020B0503020204020204" pitchFamily="34" charset="-122"/>
                <a:ea typeface="微软雅黑" panose="020B0503020204020204" pitchFamily="34" charset="-122"/>
              </a:rPr>
              <a:t>公用电话）</a:t>
            </a:r>
            <a:endParaRPr lang="en-US" altLang="zh-CN" sz="1800" b="1" dirty="0">
              <a:solidFill>
                <a:srgbClr val="C00000"/>
              </a:solidFill>
              <a:latin typeface="微软雅黑" panose="020B0503020204020204" pitchFamily="34" charset="-122"/>
              <a:ea typeface="微软雅黑" panose="020B0503020204020204" pitchFamily="34" charset="-122"/>
            </a:endParaRPr>
          </a:p>
          <a:p>
            <a:pPr marL="1431925" lvl="3" indent="-268288" eaLnBrk="1" hangingPunct="1">
              <a:lnSpc>
                <a:spcPct val="140000"/>
              </a:lnSpc>
              <a:spcBef>
                <a:spcPts val="0"/>
              </a:spcBef>
              <a:buFont typeface="Wingdings" panose="05000000000000000000" pitchFamily="2" charset="2"/>
              <a:buChar char="n"/>
            </a:pPr>
            <a:r>
              <a:rPr lang="zh-CN" altLang="en-US" sz="1800" b="1" dirty="0">
                <a:solidFill>
                  <a:srgbClr val="C00000"/>
                </a:solidFill>
                <a:latin typeface="微软雅黑" panose="020B0503020204020204" pitchFamily="34" charset="-122"/>
                <a:ea typeface="微软雅黑" panose="020B0503020204020204" pitchFamily="34" charset="-122"/>
              </a:rPr>
              <a:t>分组链式请求方式</a:t>
            </a:r>
            <a:r>
              <a:rPr lang="zh-CN" altLang="en-US" b="1" dirty="0">
                <a:solidFill>
                  <a:srgbClr val="133984"/>
                </a:solidFill>
                <a:latin typeface="微软雅黑" panose="020B0503020204020204" pitchFamily="34" charset="-122"/>
                <a:ea typeface="微软雅黑" panose="020B0503020204020204" pitchFamily="34" charset="-122"/>
              </a:rPr>
              <a:t>：</a:t>
            </a:r>
            <a:r>
              <a:rPr lang="zh-CN" altLang="en-US" sz="1800" b="1" dirty="0">
                <a:solidFill>
                  <a:srgbClr val="133984"/>
                </a:solidFill>
                <a:latin typeface="微软雅黑" panose="020B0503020204020204" pitchFamily="34" charset="-122"/>
                <a:ea typeface="微软雅黑" panose="020B0503020204020204" pitchFamily="34" charset="-122"/>
              </a:rPr>
              <a:t>是独立请求方式与链式请求方式的折中；对于要求快速响应的中断请求采用独立请求方式，对于不要求快速响应的中断请求则采用链式请求方式。</a:t>
            </a:r>
            <a:r>
              <a:rPr lang="zh-CN" altLang="en-US" sz="1800" b="1" dirty="0">
                <a:latin typeface="微软雅黑" panose="020B0503020204020204" pitchFamily="34" charset="-122"/>
                <a:ea typeface="微软雅黑" panose="020B0503020204020204" pitchFamily="34" charset="-122"/>
              </a:rPr>
              <a:t>（</a:t>
            </a:r>
            <a:r>
              <a:rPr lang="zh-CN" altLang="en-US" sz="1800" b="1" dirty="0">
                <a:solidFill>
                  <a:srgbClr val="C00000"/>
                </a:solidFill>
                <a:latin typeface="微软雅黑" panose="020B0503020204020204" pitchFamily="34" charset="-122"/>
                <a:ea typeface="微软雅黑" panose="020B0503020204020204" pitchFamily="34" charset="-122"/>
              </a:rPr>
              <a:t>折中</a:t>
            </a:r>
            <a:r>
              <a:rPr lang="zh-CN" altLang="en-US" sz="1800" b="1" dirty="0">
                <a:latin typeface="微软雅黑" panose="020B0503020204020204" pitchFamily="34" charset="-122"/>
                <a:ea typeface="微软雅黑" panose="020B0503020204020204" pitchFamily="34" charset="-122"/>
              </a:rPr>
              <a:t>）</a:t>
            </a:r>
            <a:endParaRPr lang="en-US" altLang="zh-CN" sz="1800" b="1" dirty="0">
              <a:solidFill>
                <a:srgbClr val="C00000"/>
              </a:solidFill>
              <a:latin typeface="微软雅黑" panose="020B0503020204020204" pitchFamily="34" charset="-122"/>
              <a:ea typeface="微软雅黑" panose="020B0503020204020204" pitchFamily="34" charset="-122"/>
            </a:endParaRPr>
          </a:p>
          <a:p>
            <a:pPr marL="1431925" lvl="3" indent="-268288" eaLnBrk="1" hangingPunct="1">
              <a:lnSpc>
                <a:spcPct val="140000"/>
              </a:lnSpc>
              <a:spcBef>
                <a:spcPts val="0"/>
              </a:spcBef>
              <a:buFont typeface="Wingdings" panose="05000000000000000000" pitchFamily="2" charset="2"/>
              <a:buChar char="n"/>
            </a:pPr>
            <a:r>
              <a:rPr lang="zh-CN" altLang="en-US" sz="1800" b="1" dirty="0">
                <a:solidFill>
                  <a:srgbClr val="C00000"/>
                </a:solidFill>
                <a:latin typeface="微软雅黑" panose="020B0503020204020204" pitchFamily="34" charset="-122"/>
                <a:ea typeface="微软雅黑" panose="020B0503020204020204" pitchFamily="34" charset="-122"/>
              </a:rPr>
              <a:t>中断控制器方式</a:t>
            </a:r>
            <a:r>
              <a:rPr lang="zh-CN" altLang="en-US" b="1" dirty="0">
                <a:solidFill>
                  <a:srgbClr val="133984"/>
                </a:solidFill>
                <a:latin typeface="微软雅黑" panose="020B0503020204020204" pitchFamily="34" charset="-122"/>
                <a:ea typeface="微软雅黑" panose="020B0503020204020204" pitchFamily="34" charset="-122"/>
              </a:rPr>
              <a:t>：</a:t>
            </a:r>
            <a:r>
              <a:rPr lang="zh-CN" altLang="en-US" sz="1800" b="1" dirty="0">
                <a:solidFill>
                  <a:srgbClr val="133984"/>
                </a:solidFill>
                <a:latin typeface="微软雅黑" panose="020B0503020204020204" pitchFamily="34" charset="-122"/>
                <a:ea typeface="微软雅黑" panose="020B0503020204020204" pitchFamily="34" charset="-122"/>
              </a:rPr>
              <a:t>所有中断源通过独立请求方式与中断控制器连接，中断控制器与</a:t>
            </a:r>
            <a:r>
              <a:rPr lang="en-US" altLang="zh-CN" sz="1800" b="1" dirty="0">
                <a:solidFill>
                  <a:srgbClr val="133984"/>
                </a:solidFill>
                <a:latin typeface="微软雅黑" panose="020B0503020204020204" pitchFamily="34" charset="-122"/>
                <a:ea typeface="微软雅黑" panose="020B0503020204020204" pitchFamily="34" charset="-122"/>
              </a:rPr>
              <a:t>CPU</a:t>
            </a:r>
            <a:r>
              <a:rPr lang="zh-CN" altLang="en-US" sz="1800" b="1" dirty="0">
                <a:solidFill>
                  <a:srgbClr val="133984"/>
                </a:solidFill>
                <a:latin typeface="微软雅黑" panose="020B0503020204020204" pitchFamily="34" charset="-122"/>
                <a:ea typeface="微软雅黑" panose="020B0503020204020204" pitchFamily="34" charset="-122"/>
              </a:rPr>
              <a:t>连接，中断控制器分担了</a:t>
            </a:r>
            <a:r>
              <a:rPr lang="en-US" altLang="zh-CN" sz="1800" b="1" dirty="0">
                <a:solidFill>
                  <a:srgbClr val="133984"/>
                </a:solidFill>
                <a:latin typeface="微软雅黑" panose="020B0503020204020204" pitchFamily="34" charset="-122"/>
                <a:ea typeface="微软雅黑" panose="020B0503020204020204" pitchFamily="34" charset="-122"/>
              </a:rPr>
              <a:t>CPU</a:t>
            </a:r>
            <a:r>
              <a:rPr lang="zh-CN" altLang="en-US" sz="1800" b="1" dirty="0">
                <a:solidFill>
                  <a:srgbClr val="133984"/>
                </a:solidFill>
                <a:latin typeface="微软雅黑" panose="020B0503020204020204" pitchFamily="34" charset="-122"/>
                <a:ea typeface="微软雅黑" panose="020B0503020204020204" pitchFamily="34" charset="-122"/>
              </a:rPr>
              <a:t>的中断控制功能，负责实现外部中断的优先级仲裁逻辑与中断识别；如</a:t>
            </a:r>
            <a:r>
              <a:rPr lang="en-US" altLang="zh-CN" sz="1800" b="1" dirty="0">
                <a:solidFill>
                  <a:srgbClr val="133984"/>
                </a:solidFill>
                <a:latin typeface="微软雅黑" panose="020B0503020204020204" pitchFamily="34" charset="-122"/>
                <a:ea typeface="微软雅黑" panose="020B0503020204020204" pitchFamily="34" charset="-122"/>
              </a:rPr>
              <a:t>x86</a:t>
            </a:r>
            <a:r>
              <a:rPr lang="zh-CN" altLang="en-US" sz="1800" b="1" dirty="0">
                <a:solidFill>
                  <a:srgbClr val="133984"/>
                </a:solidFill>
                <a:latin typeface="微软雅黑" panose="020B0503020204020204" pitchFamily="34" charset="-122"/>
                <a:ea typeface="微软雅黑" panose="020B0503020204020204" pitchFamily="34" charset="-122"/>
              </a:rPr>
              <a:t>中的</a:t>
            </a:r>
            <a:r>
              <a:rPr lang="en-US" altLang="zh-CN" sz="1800" b="1" dirty="0">
                <a:solidFill>
                  <a:srgbClr val="C00000"/>
                </a:solidFill>
                <a:latin typeface="微软雅黑" panose="020B0503020204020204" pitchFamily="34" charset="-122"/>
                <a:ea typeface="微软雅黑" panose="020B0503020204020204" pitchFamily="34" charset="-122"/>
              </a:rPr>
              <a:t>Intel 8259</a:t>
            </a:r>
            <a:r>
              <a:rPr lang="zh-CN" altLang="en-US" sz="1800" b="1" dirty="0">
                <a:solidFill>
                  <a:srgbClr val="133984"/>
                </a:solidFill>
                <a:latin typeface="微软雅黑" panose="020B0503020204020204" pitchFamily="34" charset="-122"/>
                <a:ea typeface="微软雅黑" panose="020B0503020204020204" pitchFamily="34" charset="-122"/>
              </a:rPr>
              <a:t>芯片就是中断控制器。</a:t>
            </a:r>
            <a:r>
              <a:rPr lang="zh-CN" altLang="en-US" sz="1800" b="1" dirty="0">
                <a:latin typeface="微软雅黑" panose="020B0503020204020204" pitchFamily="34" charset="-122"/>
                <a:ea typeface="微软雅黑" panose="020B0503020204020204" pitchFamily="34" charset="-122"/>
              </a:rPr>
              <a:t>（</a:t>
            </a:r>
            <a:r>
              <a:rPr lang="zh-CN" altLang="en-US" sz="1800" b="1" dirty="0">
                <a:solidFill>
                  <a:srgbClr val="C00000"/>
                </a:solidFill>
                <a:latin typeface="微软雅黑" panose="020B0503020204020204" pitchFamily="34" charset="-122"/>
                <a:ea typeface="微软雅黑" panose="020B0503020204020204" pitchFamily="34" charset="-122"/>
              </a:rPr>
              <a:t>专门部件</a:t>
            </a:r>
            <a:r>
              <a:rPr lang="zh-CN" altLang="en-US" sz="1800" b="1" dirty="0">
                <a:latin typeface="微软雅黑" panose="020B0503020204020204" pitchFamily="34" charset="-122"/>
                <a:ea typeface="微软雅黑" panose="020B0503020204020204" pitchFamily="34" charset="-122"/>
              </a:rPr>
              <a:t>）</a:t>
            </a:r>
            <a:endParaRPr lang="en-US" altLang="zh-CN" sz="1800" b="1" dirty="0">
              <a:latin typeface="微软雅黑" panose="020B0503020204020204" pitchFamily="34" charset="-122"/>
              <a:ea typeface="微软雅黑" panose="020B0503020204020204" pitchFamily="34" charset="-122"/>
            </a:endParaRPr>
          </a:p>
          <a:p>
            <a:pPr marL="1616075" lvl="3" indent="-268288" eaLnBrk="1" hangingPunct="1">
              <a:lnSpc>
                <a:spcPct val="140000"/>
              </a:lnSpc>
              <a:spcBef>
                <a:spcPts val="0"/>
              </a:spcBef>
              <a:buFont typeface="Wingdings" panose="05000000000000000000" pitchFamily="2" charset="2"/>
              <a:buChar char="n"/>
            </a:pPr>
            <a:endParaRPr lang="en-US" altLang="zh-CN" sz="1600" b="1" dirty="0">
              <a:latin typeface="微软雅黑" panose="020B0503020204020204" pitchFamily="34" charset="-122"/>
              <a:ea typeface="微软雅黑" panose="020B0503020204020204" pitchFamily="34" charset="-122"/>
            </a:endParaRPr>
          </a:p>
          <a:p>
            <a:pPr lvl="1">
              <a:lnSpc>
                <a:spcPct val="140000"/>
              </a:lnSpc>
              <a:buFont typeface="Wingdings" panose="05000000000000000000" pitchFamily="2" charset="2"/>
              <a:buChar char="p"/>
            </a:pPr>
            <a:endParaRPr lang="zh-CN" altLang="en-US" sz="2800" b="1" dirty="0">
              <a:latin typeface="微软雅黑" panose="020B0503020204020204" pitchFamily="34" charset="-122"/>
              <a:ea typeface="微软雅黑" panose="020B0503020204020204" pitchFamily="34" charset="-122"/>
            </a:endParaRPr>
          </a:p>
        </p:txBody>
      </p:sp>
      <p:sp>
        <p:nvSpPr>
          <p:cNvPr id="3" name="对话气泡: 圆角矩形 2">
            <a:extLst>
              <a:ext uri="{FF2B5EF4-FFF2-40B4-BE49-F238E27FC236}">
                <a16:creationId xmlns:a16="http://schemas.microsoft.com/office/drawing/2014/main" id="{B93800A2-0F52-45F0-845A-281159538740}"/>
              </a:ext>
            </a:extLst>
          </p:cNvPr>
          <p:cNvSpPr/>
          <p:nvPr/>
        </p:nvSpPr>
        <p:spPr bwMode="auto">
          <a:xfrm>
            <a:off x="606669" y="3525717"/>
            <a:ext cx="885093" cy="519274"/>
          </a:xfrm>
          <a:prstGeom prst="wedgeRoundRectCallout">
            <a:avLst>
              <a:gd name="adj1" fmla="val 68937"/>
              <a:gd name="adj2" fmla="val 64153"/>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200" b="1" dirty="0">
                <a:solidFill>
                  <a:srgbClr val="C00000"/>
                </a:solidFill>
                <a:latin typeface="微软雅黑" panose="020B0503020204020204" pitchFamily="34" charset="-122"/>
                <a:ea typeface="微软雅黑" panose="020B0503020204020204" pitchFamily="34" charset="-122"/>
              </a:rPr>
              <a:t>为何需要查询？</a:t>
            </a:r>
          </a:p>
        </p:txBody>
      </p:sp>
      <p:sp>
        <p:nvSpPr>
          <p:cNvPr id="6" name="对话气泡: 圆角矩形 5">
            <a:extLst>
              <a:ext uri="{FF2B5EF4-FFF2-40B4-BE49-F238E27FC236}">
                <a16:creationId xmlns:a16="http://schemas.microsoft.com/office/drawing/2014/main" id="{CC0BA56E-DBB9-4755-9A24-FFC0BCF508DC}"/>
              </a:ext>
            </a:extLst>
          </p:cNvPr>
          <p:cNvSpPr/>
          <p:nvPr/>
        </p:nvSpPr>
        <p:spPr bwMode="auto">
          <a:xfrm>
            <a:off x="606668" y="2729178"/>
            <a:ext cx="885093" cy="519274"/>
          </a:xfrm>
          <a:prstGeom prst="wedgeRoundRectCallout">
            <a:avLst>
              <a:gd name="adj1" fmla="val 68937"/>
              <a:gd name="adj2" fmla="val 64153"/>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200" b="1" dirty="0">
                <a:solidFill>
                  <a:srgbClr val="C00000"/>
                </a:solidFill>
                <a:latin typeface="微软雅黑" panose="020B0503020204020204" pitchFamily="34" charset="-122"/>
                <a:ea typeface="微软雅黑" panose="020B0503020204020204" pitchFamily="34" charset="-122"/>
              </a:rPr>
              <a:t>向谁发出请求？</a:t>
            </a:r>
          </a:p>
        </p:txBody>
      </p:sp>
    </p:spTree>
    <p:extLst>
      <p:ext uri="{BB962C8B-B14F-4D97-AF65-F5344CB8AC3E}">
        <p14:creationId xmlns:p14="http://schemas.microsoft.com/office/powerpoint/2010/main" val="23169246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2C99A3-7339-4BBB-8FAA-C1E9E030A065}"/>
              </a:ext>
            </a:extLst>
          </p:cNvPr>
          <p:cNvSpPr>
            <a:spLocks noGrp="1"/>
          </p:cNvSpPr>
          <p:nvPr>
            <p:ph type="title"/>
          </p:nvPr>
        </p:nvSpPr>
        <p:spPr/>
        <p:txBody>
          <a:bodyPr/>
          <a:lstStyle/>
          <a:p>
            <a:r>
              <a:rPr lang="en-US" altLang="zh-CN" dirty="0">
                <a:latin typeface="Calibri" panose="020F0502020204030204" pitchFamily="34" charset="0"/>
                <a:ea typeface="Calibri" panose="020F0502020204030204" pitchFamily="34" charset="0"/>
                <a:cs typeface="Calibri" panose="020F0502020204030204" pitchFamily="34" charset="0"/>
              </a:rPr>
              <a:t>6.7 </a:t>
            </a:r>
            <a:r>
              <a:rPr lang="zh-CN" altLang="en-US" dirty="0">
                <a:latin typeface="Calibri" panose="020F0502020204030204" pitchFamily="34" charset="0"/>
                <a:ea typeface="微软雅黑" panose="020B0503020204020204" pitchFamily="34" charset="-122"/>
                <a:cs typeface="Calibri" panose="020F0502020204030204" pitchFamily="34" charset="0"/>
              </a:rPr>
              <a:t>异常与中断处理</a:t>
            </a:r>
            <a:endParaRPr lang="zh-CN" altLang="en-US" dirty="0"/>
          </a:p>
        </p:txBody>
      </p:sp>
      <p:sp>
        <p:nvSpPr>
          <p:cNvPr id="3" name="内容占位符 2">
            <a:extLst>
              <a:ext uri="{FF2B5EF4-FFF2-40B4-BE49-F238E27FC236}">
                <a16:creationId xmlns:a16="http://schemas.microsoft.com/office/drawing/2014/main" id="{213C6C68-12A5-47BA-8D96-98B7B9A105AD}"/>
              </a:ext>
            </a:extLst>
          </p:cNvPr>
          <p:cNvSpPr>
            <a:spLocks noGrp="1"/>
          </p:cNvSpPr>
          <p:nvPr>
            <p:ph idx="1"/>
          </p:nvPr>
        </p:nvSpPr>
        <p:spPr>
          <a:xfrm>
            <a:off x="611939" y="1051982"/>
            <a:ext cx="4872370" cy="5806018"/>
          </a:xfrm>
        </p:spPr>
        <p:txBody>
          <a:bodyPr/>
          <a:lstStyle/>
          <a:p>
            <a:pPr>
              <a:buSzPct val="100000"/>
              <a:buFont typeface="Wingdings" panose="05000000000000000000" pitchFamily="2" charset="2"/>
              <a:buChar char="p"/>
            </a:pPr>
            <a:r>
              <a:rPr lang="zh-CN" altLang="en-US" b="1" dirty="0">
                <a:latin typeface="微软雅黑" panose="020B0503020204020204" pitchFamily="34" charset="-122"/>
                <a:ea typeface="微软雅黑" panose="020B0503020204020204" pitchFamily="34" charset="-122"/>
              </a:rPr>
              <a:t>中断请求信号的传输方式</a:t>
            </a:r>
            <a:endParaRPr lang="en-US" altLang="zh-CN" b="1" dirty="0">
              <a:latin typeface="微软雅黑" panose="020B0503020204020204" pitchFamily="34" charset="-122"/>
              <a:ea typeface="微软雅黑" panose="020B0503020204020204" pitchFamily="34" charset="-122"/>
            </a:endParaRPr>
          </a:p>
          <a:p>
            <a:pPr lvl="1">
              <a:buSzPct val="100000"/>
              <a:buFont typeface="Wingdings" panose="05000000000000000000" pitchFamily="2" charset="2"/>
              <a:buChar char="n"/>
            </a:pPr>
            <a:r>
              <a:rPr lang="zh-CN" altLang="en-US" sz="2000" b="1" dirty="0">
                <a:solidFill>
                  <a:srgbClr val="C00000"/>
                </a:solidFill>
                <a:latin typeface="微软雅黑" panose="020B0503020204020204" pitchFamily="34" charset="-122"/>
                <a:ea typeface="微软雅黑" panose="020B0503020204020204" pitchFamily="34" charset="-122"/>
              </a:rPr>
              <a:t>独立请求</a:t>
            </a:r>
            <a:endParaRPr lang="en-US" altLang="zh-CN" sz="2000" b="1" dirty="0">
              <a:solidFill>
                <a:srgbClr val="C00000"/>
              </a:solidFill>
              <a:latin typeface="微软雅黑" panose="020B0503020204020204" pitchFamily="34" charset="-122"/>
              <a:ea typeface="微软雅黑" panose="020B0503020204020204" pitchFamily="34" charset="-122"/>
            </a:endParaRPr>
          </a:p>
          <a:p>
            <a:pPr marL="1081088" lvl="2" indent="-185738">
              <a:buSzPct val="100000"/>
              <a:buFont typeface="Wingdings" panose="05000000000000000000" pitchFamily="2" charset="2"/>
              <a:buChar char="n"/>
            </a:pPr>
            <a:r>
              <a:rPr lang="zh-CN" altLang="en-US" sz="2000" b="1" dirty="0">
                <a:latin typeface="微软雅黑" panose="020B0503020204020204" pitchFamily="34" charset="-122"/>
                <a:ea typeface="微软雅黑" panose="020B0503020204020204" pitchFamily="34" charset="-122"/>
              </a:rPr>
              <a:t> </a:t>
            </a:r>
            <a:r>
              <a:rPr lang="zh-CN" altLang="en-US" sz="1800" b="1" dirty="0">
                <a:solidFill>
                  <a:srgbClr val="133984"/>
                </a:solidFill>
                <a:latin typeface="微软雅黑" panose="020B0503020204020204" pitchFamily="34" charset="-122"/>
                <a:ea typeface="微软雅黑" panose="020B0503020204020204" pitchFamily="34" charset="-122"/>
              </a:rPr>
              <a:t>速度快，成本高，线路多</a:t>
            </a:r>
            <a:endParaRPr lang="en-US" altLang="zh-CN" sz="1800" b="1" dirty="0">
              <a:solidFill>
                <a:srgbClr val="133984"/>
              </a:solidFill>
              <a:latin typeface="微软雅黑" panose="020B0503020204020204" pitchFamily="34" charset="-122"/>
              <a:ea typeface="微软雅黑" panose="020B0503020204020204" pitchFamily="34" charset="-122"/>
            </a:endParaRPr>
          </a:p>
          <a:p>
            <a:pPr lvl="1">
              <a:buSzPct val="100000"/>
              <a:buFont typeface="Wingdings" panose="05000000000000000000" pitchFamily="2" charset="2"/>
              <a:buChar char="n"/>
            </a:pPr>
            <a:r>
              <a:rPr lang="zh-CN" altLang="en-US" sz="2000" b="1" dirty="0">
                <a:solidFill>
                  <a:srgbClr val="C00000"/>
                </a:solidFill>
                <a:latin typeface="微软雅黑" panose="020B0503020204020204" pitchFamily="34" charset="-122"/>
                <a:ea typeface="微软雅黑" panose="020B0503020204020204" pitchFamily="34" charset="-122"/>
              </a:rPr>
              <a:t>链式请求</a:t>
            </a:r>
            <a:endParaRPr lang="en-US" altLang="zh-CN" sz="2000" b="1" dirty="0">
              <a:solidFill>
                <a:srgbClr val="C00000"/>
              </a:solidFill>
              <a:latin typeface="微软雅黑" panose="020B0503020204020204" pitchFamily="34" charset="-122"/>
              <a:ea typeface="微软雅黑" panose="020B0503020204020204" pitchFamily="34" charset="-122"/>
            </a:endParaRPr>
          </a:p>
          <a:p>
            <a:pPr marL="1163638" lvl="2" indent="-268288">
              <a:buSzPct val="100000"/>
              <a:buFont typeface="Wingdings" panose="05000000000000000000" pitchFamily="2" charset="2"/>
              <a:buChar char="n"/>
            </a:pPr>
            <a:r>
              <a:rPr lang="zh-CN" altLang="en-US" sz="1800" b="1" dirty="0">
                <a:solidFill>
                  <a:srgbClr val="133984"/>
                </a:solidFill>
                <a:latin typeface="微软雅黑" panose="020B0503020204020204" pitchFamily="34" charset="-122"/>
                <a:ea typeface="微软雅黑" panose="020B0503020204020204" pitchFamily="34" charset="-122"/>
              </a:rPr>
              <a:t>速度慢，线路少</a:t>
            </a:r>
            <a:endParaRPr lang="en-US" altLang="zh-CN" sz="1800" b="1" dirty="0">
              <a:solidFill>
                <a:srgbClr val="133984"/>
              </a:solidFill>
              <a:latin typeface="微软雅黑" panose="020B0503020204020204" pitchFamily="34" charset="-122"/>
              <a:ea typeface="微软雅黑" panose="020B0503020204020204" pitchFamily="34" charset="-122"/>
            </a:endParaRPr>
          </a:p>
          <a:p>
            <a:pPr marL="1163638" lvl="2" indent="-268288">
              <a:buSzPct val="100000"/>
              <a:buFont typeface="Wingdings" panose="05000000000000000000" pitchFamily="2" charset="2"/>
              <a:buChar char="n"/>
            </a:pPr>
            <a:r>
              <a:rPr lang="zh-CN" altLang="en-US" sz="1800" b="1" dirty="0">
                <a:solidFill>
                  <a:srgbClr val="133984"/>
                </a:solidFill>
                <a:latin typeface="微软雅黑" panose="020B0503020204020204" pitchFamily="34" charset="-122"/>
                <a:ea typeface="微软雅黑" panose="020B0503020204020204" pitchFamily="34" charset="-122"/>
              </a:rPr>
              <a:t>中断请求优先级固定，不灵活</a:t>
            </a:r>
            <a:endParaRPr lang="en-US" altLang="zh-CN" sz="1800" b="1" dirty="0">
              <a:solidFill>
                <a:srgbClr val="133984"/>
              </a:solidFill>
              <a:latin typeface="微软雅黑" panose="020B0503020204020204" pitchFamily="34" charset="-122"/>
              <a:ea typeface="微软雅黑" panose="020B0503020204020204" pitchFamily="34" charset="-122"/>
            </a:endParaRPr>
          </a:p>
          <a:p>
            <a:pPr marL="1163638" lvl="2" indent="-268288">
              <a:buSzPct val="100000"/>
              <a:buFont typeface="Wingdings" panose="05000000000000000000" pitchFamily="2" charset="2"/>
              <a:buChar char="n"/>
            </a:pPr>
            <a:r>
              <a:rPr lang="zh-CN" altLang="en-US" sz="1800" b="1" dirty="0">
                <a:solidFill>
                  <a:srgbClr val="133984"/>
                </a:solidFill>
                <a:latin typeface="微软雅黑" panose="020B0503020204020204" pitchFamily="34" charset="-122"/>
                <a:ea typeface="微软雅黑" panose="020B0503020204020204" pitchFamily="34" charset="-122"/>
              </a:rPr>
              <a:t>单点故障易导致整体瘫痪</a:t>
            </a:r>
            <a:endParaRPr lang="en-US" altLang="zh-CN" sz="1800" b="1" dirty="0">
              <a:solidFill>
                <a:srgbClr val="133984"/>
              </a:solidFill>
              <a:latin typeface="微软雅黑" panose="020B0503020204020204" pitchFamily="34" charset="-122"/>
              <a:ea typeface="微软雅黑" panose="020B0503020204020204" pitchFamily="34" charset="-122"/>
            </a:endParaRPr>
          </a:p>
          <a:p>
            <a:pPr lvl="1">
              <a:buSzPct val="100000"/>
              <a:buFont typeface="Wingdings" panose="05000000000000000000" pitchFamily="2" charset="2"/>
              <a:buChar char="n"/>
            </a:pPr>
            <a:r>
              <a:rPr lang="zh-CN" altLang="en-US" sz="2000" b="1" dirty="0">
                <a:solidFill>
                  <a:srgbClr val="C00000"/>
                </a:solidFill>
                <a:latin typeface="微软雅黑" panose="020B0503020204020204" pitchFamily="34" charset="-122"/>
                <a:ea typeface="微软雅黑" panose="020B0503020204020204" pitchFamily="34" charset="-122"/>
              </a:rPr>
              <a:t>分组链式请求</a:t>
            </a:r>
            <a:endParaRPr lang="en-US" altLang="zh-CN" sz="2000" b="1" dirty="0">
              <a:solidFill>
                <a:srgbClr val="C00000"/>
              </a:solidFill>
              <a:latin typeface="微软雅黑" panose="020B0503020204020204" pitchFamily="34" charset="-122"/>
              <a:ea typeface="微软雅黑" panose="020B0503020204020204" pitchFamily="34" charset="-122"/>
            </a:endParaRPr>
          </a:p>
          <a:p>
            <a:pPr marL="1163638" lvl="2" indent="-268288">
              <a:buSzPct val="100000"/>
              <a:buFont typeface="Wingdings" panose="05000000000000000000" pitchFamily="2" charset="2"/>
              <a:buChar char="n"/>
            </a:pPr>
            <a:r>
              <a:rPr lang="zh-CN" altLang="en-US" sz="1800" b="1" dirty="0">
                <a:solidFill>
                  <a:srgbClr val="133984"/>
                </a:solidFill>
                <a:latin typeface="微软雅黑" panose="020B0503020204020204" pitchFamily="34" charset="-122"/>
                <a:ea typeface="微软雅黑" panose="020B0503020204020204" pitchFamily="34" charset="-122"/>
              </a:rPr>
              <a:t>兼具独立请求和链式请求的优势</a:t>
            </a:r>
            <a:endParaRPr lang="en-US" altLang="zh-CN" sz="1800" b="1" dirty="0">
              <a:solidFill>
                <a:srgbClr val="133984"/>
              </a:solidFill>
              <a:latin typeface="微软雅黑" panose="020B0503020204020204" pitchFamily="34" charset="-122"/>
              <a:ea typeface="微软雅黑" panose="020B0503020204020204" pitchFamily="34" charset="-122"/>
            </a:endParaRPr>
          </a:p>
          <a:p>
            <a:pPr marL="1163638" lvl="2" indent="-268288">
              <a:buSzPct val="100000"/>
              <a:buFont typeface="Wingdings" panose="05000000000000000000" pitchFamily="2" charset="2"/>
              <a:buChar char="n"/>
            </a:pPr>
            <a:r>
              <a:rPr lang="zh-CN" altLang="en-US" sz="1800" b="1" dirty="0">
                <a:solidFill>
                  <a:srgbClr val="133984"/>
                </a:solidFill>
                <a:latin typeface="微软雅黑" panose="020B0503020204020204" pitchFamily="34" charset="-122"/>
                <a:ea typeface="微软雅黑" panose="020B0503020204020204" pitchFamily="34" charset="-122"/>
              </a:rPr>
              <a:t>控制复杂</a:t>
            </a:r>
            <a:endParaRPr lang="en-US" altLang="zh-CN" sz="1800" b="1" dirty="0">
              <a:solidFill>
                <a:srgbClr val="133984"/>
              </a:solidFill>
              <a:latin typeface="微软雅黑" panose="020B0503020204020204" pitchFamily="34" charset="-122"/>
              <a:ea typeface="微软雅黑" panose="020B0503020204020204" pitchFamily="34" charset="-122"/>
            </a:endParaRPr>
          </a:p>
          <a:p>
            <a:pPr marL="895350" lvl="2" indent="0">
              <a:buSzPct val="100000"/>
              <a:buNone/>
            </a:pPr>
            <a:endParaRPr lang="en-US" altLang="zh-CN" sz="1800" b="1" dirty="0">
              <a:solidFill>
                <a:srgbClr val="133984"/>
              </a:solidFill>
              <a:latin typeface="微软雅黑" panose="020B0503020204020204" pitchFamily="34" charset="-122"/>
              <a:ea typeface="微软雅黑" panose="020B0503020204020204" pitchFamily="34" charset="-122"/>
            </a:endParaRPr>
          </a:p>
          <a:p>
            <a:pPr lvl="1">
              <a:buSzPct val="100000"/>
              <a:buFont typeface="Wingdings" panose="05000000000000000000" pitchFamily="2" charset="2"/>
              <a:buChar char="n"/>
            </a:pPr>
            <a:r>
              <a:rPr lang="zh-CN" altLang="en-US" sz="2000" b="1" dirty="0">
                <a:solidFill>
                  <a:srgbClr val="C00000"/>
                </a:solidFill>
                <a:latin typeface="微软雅黑" panose="020B0503020204020204" pitchFamily="34" charset="-122"/>
                <a:ea typeface="微软雅黑" panose="020B0503020204020204" pitchFamily="34" charset="-122"/>
              </a:rPr>
              <a:t>中断控制器</a:t>
            </a:r>
            <a:endParaRPr lang="en-US" altLang="zh-CN" sz="2000" b="1" dirty="0">
              <a:solidFill>
                <a:srgbClr val="C00000"/>
              </a:solidFill>
              <a:latin typeface="微软雅黑" panose="020B0503020204020204" pitchFamily="34" charset="-122"/>
              <a:ea typeface="微软雅黑" panose="020B0503020204020204" pitchFamily="34" charset="-122"/>
            </a:endParaRPr>
          </a:p>
          <a:p>
            <a:pPr marL="1163638" lvl="2" indent="-268288">
              <a:buSzPct val="100000"/>
              <a:buFont typeface="Wingdings" panose="05000000000000000000" pitchFamily="2" charset="2"/>
              <a:buChar char="n"/>
            </a:pPr>
            <a:r>
              <a:rPr lang="zh-CN" altLang="en-US" sz="1800" b="1" dirty="0">
                <a:solidFill>
                  <a:srgbClr val="133984"/>
                </a:solidFill>
                <a:latin typeface="微软雅黑" panose="020B0503020204020204" pitchFamily="34" charset="-122"/>
                <a:ea typeface="微软雅黑" panose="020B0503020204020204" pitchFamily="34" charset="-122"/>
              </a:rPr>
              <a:t>无需</a:t>
            </a:r>
            <a:r>
              <a:rPr lang="en-US" altLang="zh-CN" sz="1800" b="1" dirty="0">
                <a:solidFill>
                  <a:srgbClr val="133984"/>
                </a:solidFill>
                <a:latin typeface="微软雅黑" panose="020B0503020204020204" pitchFamily="34" charset="-122"/>
                <a:ea typeface="微软雅黑" panose="020B0503020204020204" pitchFamily="34" charset="-122"/>
              </a:rPr>
              <a:t>CPU</a:t>
            </a:r>
            <a:r>
              <a:rPr lang="zh-CN" altLang="en-US" sz="1800" b="1" dirty="0">
                <a:solidFill>
                  <a:srgbClr val="133984"/>
                </a:solidFill>
                <a:latin typeface="微软雅黑" panose="020B0503020204020204" pitchFamily="34" charset="-122"/>
                <a:ea typeface="微软雅黑" panose="020B0503020204020204" pitchFamily="34" charset="-122"/>
              </a:rPr>
              <a:t>直接干预，独立的接口芯片</a:t>
            </a:r>
            <a:endParaRPr lang="en-US" altLang="zh-CN" sz="1800" b="1" dirty="0">
              <a:solidFill>
                <a:srgbClr val="133984"/>
              </a:solidFill>
              <a:latin typeface="微软雅黑" panose="020B0503020204020204" pitchFamily="34" charset="-122"/>
              <a:ea typeface="微软雅黑" panose="020B0503020204020204" pitchFamily="34" charset="-122"/>
            </a:endParaRPr>
          </a:p>
          <a:p>
            <a:pPr marL="1163638" lvl="2" indent="-268288">
              <a:buSzPct val="100000"/>
              <a:buFont typeface="Wingdings" panose="05000000000000000000" pitchFamily="2" charset="2"/>
              <a:buChar char="n"/>
            </a:pPr>
            <a:r>
              <a:rPr lang="zh-CN" altLang="en-US" sz="1800" b="1" dirty="0">
                <a:solidFill>
                  <a:srgbClr val="133984"/>
                </a:solidFill>
                <a:latin typeface="微软雅黑" panose="020B0503020204020204" pitchFamily="34" charset="-122"/>
                <a:ea typeface="微软雅黑" panose="020B0503020204020204" pitchFamily="34" charset="-122"/>
              </a:rPr>
              <a:t>目前普遍采用的形式</a:t>
            </a:r>
            <a:endParaRPr lang="en-US" altLang="zh-CN" sz="1800" b="1" dirty="0">
              <a:solidFill>
                <a:srgbClr val="133984"/>
              </a:solidFill>
              <a:latin typeface="微软雅黑" panose="020B0503020204020204" pitchFamily="34" charset="-122"/>
              <a:ea typeface="微软雅黑" panose="020B0503020204020204" pitchFamily="34" charset="-122"/>
            </a:endParaRPr>
          </a:p>
          <a:p>
            <a:pPr lvl="1">
              <a:buSzPct val="100000"/>
              <a:buFont typeface="Wingdings" panose="05000000000000000000" pitchFamily="2" charset="2"/>
              <a:buChar char="n"/>
            </a:pPr>
            <a:endParaRPr lang="zh-CN" altLang="en-US" b="1" dirty="0">
              <a:latin typeface="微软雅黑" panose="020B0503020204020204" pitchFamily="34" charset="-122"/>
              <a:ea typeface="微软雅黑" panose="020B0503020204020204" pitchFamily="34" charset="-122"/>
            </a:endParaRPr>
          </a:p>
        </p:txBody>
      </p:sp>
      <p:grpSp>
        <p:nvGrpSpPr>
          <p:cNvPr id="4" name="组合 3">
            <a:extLst>
              <a:ext uri="{FF2B5EF4-FFF2-40B4-BE49-F238E27FC236}">
                <a16:creationId xmlns:a16="http://schemas.microsoft.com/office/drawing/2014/main" id="{1526CD47-E5EE-44C4-8BBA-A5402B51107D}"/>
              </a:ext>
            </a:extLst>
          </p:cNvPr>
          <p:cNvGrpSpPr/>
          <p:nvPr/>
        </p:nvGrpSpPr>
        <p:grpSpPr>
          <a:xfrm>
            <a:off x="5504870" y="1578274"/>
            <a:ext cx="5964363" cy="5002669"/>
            <a:chOff x="5061239" y="2339279"/>
            <a:chExt cx="4686143" cy="4612649"/>
          </a:xfrm>
        </p:grpSpPr>
        <p:pic>
          <p:nvPicPr>
            <p:cNvPr id="5" name="图片 4">
              <a:extLst>
                <a:ext uri="{FF2B5EF4-FFF2-40B4-BE49-F238E27FC236}">
                  <a16:creationId xmlns:a16="http://schemas.microsoft.com/office/drawing/2014/main" id="{61F406C5-8378-4D05-BB3D-6178EE5CD508}"/>
                </a:ext>
              </a:extLst>
            </p:cNvPr>
            <p:cNvPicPr>
              <a:picLocks noChangeAspect="1"/>
            </p:cNvPicPr>
            <p:nvPr/>
          </p:nvPicPr>
          <p:blipFill>
            <a:blip r:embed="rId3"/>
            <a:stretch>
              <a:fillRect/>
            </a:stretch>
          </p:blipFill>
          <p:spPr>
            <a:xfrm>
              <a:off x="5061239" y="2339279"/>
              <a:ext cx="4686143" cy="1527266"/>
            </a:xfrm>
            <a:prstGeom prst="rect">
              <a:avLst/>
            </a:prstGeom>
          </p:spPr>
        </p:pic>
        <p:pic>
          <p:nvPicPr>
            <p:cNvPr id="6" name="图片 5">
              <a:extLst>
                <a:ext uri="{FF2B5EF4-FFF2-40B4-BE49-F238E27FC236}">
                  <a16:creationId xmlns:a16="http://schemas.microsoft.com/office/drawing/2014/main" id="{DDED3DD9-5AAE-4AAE-866D-397527E2A580}"/>
                </a:ext>
              </a:extLst>
            </p:cNvPr>
            <p:cNvPicPr>
              <a:picLocks noChangeAspect="1"/>
            </p:cNvPicPr>
            <p:nvPr/>
          </p:nvPicPr>
          <p:blipFill>
            <a:blip r:embed="rId4"/>
            <a:stretch>
              <a:fillRect/>
            </a:stretch>
          </p:blipFill>
          <p:spPr>
            <a:xfrm>
              <a:off x="5350079" y="4753754"/>
              <a:ext cx="4218210" cy="1688782"/>
            </a:xfrm>
            <a:prstGeom prst="rect">
              <a:avLst/>
            </a:prstGeom>
          </p:spPr>
        </p:pic>
        <p:sp>
          <p:nvSpPr>
            <p:cNvPr id="7" name="文本框 6">
              <a:extLst>
                <a:ext uri="{FF2B5EF4-FFF2-40B4-BE49-F238E27FC236}">
                  <a16:creationId xmlns:a16="http://schemas.microsoft.com/office/drawing/2014/main" id="{F488820E-10B0-47D9-A6A3-B8F67FB724B1}"/>
                </a:ext>
              </a:extLst>
            </p:cNvPr>
            <p:cNvSpPr txBox="1"/>
            <p:nvPr/>
          </p:nvSpPr>
          <p:spPr>
            <a:xfrm>
              <a:off x="6311809" y="6668146"/>
              <a:ext cx="2176606" cy="283782"/>
            </a:xfrm>
            <a:prstGeom prst="rect">
              <a:avLst/>
            </a:prstGeom>
            <a:noFill/>
          </p:spPr>
          <p:txBody>
            <a:bodyPr wrap="none" rtlCol="0">
              <a:spAutoFit/>
            </a:bodyPr>
            <a:lstStyle/>
            <a:p>
              <a:r>
                <a:rPr lang="zh-CN" altLang="en-US" b="1" dirty="0">
                  <a:solidFill>
                    <a:srgbClr val="133984"/>
                  </a:solidFill>
                  <a:latin typeface="微软雅黑" panose="020B0503020204020204" pitchFamily="34" charset="-122"/>
                  <a:ea typeface="微软雅黑" panose="020B0503020204020204" pitchFamily="34" charset="-122"/>
                </a:rPr>
                <a:t>图</a:t>
              </a:r>
              <a:r>
                <a:rPr lang="en-US" altLang="zh-CN" b="1" dirty="0">
                  <a:solidFill>
                    <a:srgbClr val="133984"/>
                  </a:solidFill>
                  <a:latin typeface="微软雅黑" panose="020B0503020204020204" pitchFamily="34" charset="-122"/>
                  <a:ea typeface="微软雅黑" panose="020B0503020204020204" pitchFamily="34" charset="-122"/>
                </a:rPr>
                <a:t>6.5   </a:t>
              </a:r>
              <a:r>
                <a:rPr lang="zh-CN" altLang="en-US" b="1" dirty="0">
                  <a:solidFill>
                    <a:srgbClr val="133984"/>
                  </a:solidFill>
                  <a:latin typeface="微软雅黑" panose="020B0503020204020204" pitchFamily="34" charset="-122"/>
                  <a:ea typeface="微软雅黑" panose="020B0503020204020204" pitchFamily="34" charset="-122"/>
                </a:rPr>
                <a:t>中断请求信号的传输方式</a:t>
              </a:r>
            </a:p>
          </p:txBody>
        </p:sp>
      </p:grpSp>
      <p:sp>
        <p:nvSpPr>
          <p:cNvPr id="8" name="文本框 7">
            <a:extLst>
              <a:ext uri="{FF2B5EF4-FFF2-40B4-BE49-F238E27FC236}">
                <a16:creationId xmlns:a16="http://schemas.microsoft.com/office/drawing/2014/main" id="{F7096AEE-B04D-4E0A-A498-54B89FA850AA}"/>
              </a:ext>
            </a:extLst>
          </p:cNvPr>
          <p:cNvSpPr txBox="1"/>
          <p:nvPr/>
        </p:nvSpPr>
        <p:spPr>
          <a:xfrm>
            <a:off x="6195482" y="3027806"/>
            <a:ext cx="1542473" cy="307777"/>
          </a:xfrm>
          <a:prstGeom prst="rect">
            <a:avLst/>
          </a:prstGeom>
          <a:solidFill>
            <a:schemeClr val="bg1"/>
          </a:solidFill>
        </p:spPr>
        <p:txBody>
          <a:bodyPr wrap="square" rtlCol="0">
            <a:spAutoFit/>
          </a:bodyPr>
          <a:lstStyle/>
          <a:p>
            <a:r>
              <a:rPr lang="en-US" altLang="zh-CN" b="1" dirty="0">
                <a:solidFill>
                  <a:srgbClr val="C00000"/>
                </a:solidFill>
                <a:latin typeface="微软雅黑" panose="020B0503020204020204" pitchFamily="34" charset="-122"/>
                <a:ea typeface="微软雅黑" panose="020B0503020204020204" pitchFamily="34" charset="-122"/>
              </a:rPr>
              <a:t>(a)</a:t>
            </a:r>
            <a:r>
              <a:rPr lang="zh-CN" altLang="en-US" b="1" dirty="0">
                <a:solidFill>
                  <a:srgbClr val="C00000"/>
                </a:solidFill>
                <a:latin typeface="微软雅黑" panose="020B0503020204020204" pitchFamily="34" charset="-122"/>
                <a:ea typeface="微软雅黑" panose="020B0503020204020204" pitchFamily="34" charset="-122"/>
              </a:rPr>
              <a:t>独立请求方式</a:t>
            </a:r>
          </a:p>
        </p:txBody>
      </p:sp>
      <p:sp>
        <p:nvSpPr>
          <p:cNvPr id="9" name="文本框 8">
            <a:extLst>
              <a:ext uri="{FF2B5EF4-FFF2-40B4-BE49-F238E27FC236}">
                <a16:creationId xmlns:a16="http://schemas.microsoft.com/office/drawing/2014/main" id="{5CD46186-C658-4473-A873-CABCB269C21C}"/>
              </a:ext>
            </a:extLst>
          </p:cNvPr>
          <p:cNvSpPr txBox="1"/>
          <p:nvPr/>
        </p:nvSpPr>
        <p:spPr>
          <a:xfrm>
            <a:off x="9135609" y="3055844"/>
            <a:ext cx="1542473" cy="307777"/>
          </a:xfrm>
          <a:prstGeom prst="rect">
            <a:avLst/>
          </a:prstGeom>
          <a:solidFill>
            <a:schemeClr val="bg1"/>
          </a:solidFill>
        </p:spPr>
        <p:txBody>
          <a:bodyPr wrap="square" rtlCol="0">
            <a:spAutoFit/>
          </a:bodyPr>
          <a:lstStyle>
            <a:defPPr>
              <a:defRPr lang="zh-CN"/>
            </a:defPPr>
            <a:lvl1pPr>
              <a:defRPr b="1">
                <a:solidFill>
                  <a:srgbClr val="274FA2"/>
                </a:solidFill>
                <a:latin typeface="微软雅黑" panose="020B0503020204020204" pitchFamily="34" charset="-122"/>
                <a:ea typeface="微软雅黑" panose="020B0503020204020204" pitchFamily="34" charset="-122"/>
              </a:defRPr>
            </a:lvl1pPr>
          </a:lstStyle>
          <a:p>
            <a:r>
              <a:rPr lang="en-US" altLang="zh-CN" dirty="0">
                <a:solidFill>
                  <a:srgbClr val="C00000"/>
                </a:solidFill>
              </a:rPr>
              <a:t>(b)</a:t>
            </a:r>
            <a:r>
              <a:rPr lang="zh-CN" altLang="en-US" dirty="0">
                <a:solidFill>
                  <a:srgbClr val="C00000"/>
                </a:solidFill>
              </a:rPr>
              <a:t>链式请求方式</a:t>
            </a:r>
          </a:p>
        </p:txBody>
      </p:sp>
      <p:sp>
        <p:nvSpPr>
          <p:cNvPr id="10" name="文本框 9">
            <a:extLst>
              <a:ext uri="{FF2B5EF4-FFF2-40B4-BE49-F238E27FC236}">
                <a16:creationId xmlns:a16="http://schemas.microsoft.com/office/drawing/2014/main" id="{342530C2-DB10-449D-BD04-51851952FBB1}"/>
              </a:ext>
            </a:extLst>
          </p:cNvPr>
          <p:cNvSpPr txBox="1"/>
          <p:nvPr/>
        </p:nvSpPr>
        <p:spPr>
          <a:xfrm>
            <a:off x="6490997" y="5803126"/>
            <a:ext cx="1542473" cy="307777"/>
          </a:xfrm>
          <a:prstGeom prst="rect">
            <a:avLst/>
          </a:prstGeom>
          <a:solidFill>
            <a:schemeClr val="bg1"/>
          </a:solidFill>
        </p:spPr>
        <p:txBody>
          <a:bodyPr wrap="square" rtlCol="0">
            <a:spAutoFit/>
          </a:bodyPr>
          <a:lstStyle/>
          <a:p>
            <a:r>
              <a:rPr lang="en-US" altLang="zh-CN" b="1" dirty="0">
                <a:solidFill>
                  <a:srgbClr val="C00000"/>
                </a:solidFill>
                <a:latin typeface="微软雅黑" panose="020B0503020204020204" pitchFamily="34" charset="-122"/>
                <a:ea typeface="微软雅黑" panose="020B0503020204020204" pitchFamily="34" charset="-122"/>
              </a:rPr>
              <a:t>(c)</a:t>
            </a:r>
            <a:r>
              <a:rPr lang="zh-CN" altLang="en-US" b="1" dirty="0">
                <a:solidFill>
                  <a:srgbClr val="C00000"/>
                </a:solidFill>
                <a:latin typeface="微软雅黑" panose="020B0503020204020204" pitchFamily="34" charset="-122"/>
                <a:ea typeface="微软雅黑" panose="020B0503020204020204" pitchFamily="34" charset="-122"/>
              </a:rPr>
              <a:t>中断控制器</a:t>
            </a:r>
          </a:p>
        </p:txBody>
      </p:sp>
      <p:sp>
        <p:nvSpPr>
          <p:cNvPr id="11" name="文本框 10">
            <a:extLst>
              <a:ext uri="{FF2B5EF4-FFF2-40B4-BE49-F238E27FC236}">
                <a16:creationId xmlns:a16="http://schemas.microsoft.com/office/drawing/2014/main" id="{8EBFB34D-E73C-4FA4-8496-2D8A0FFAE85F}"/>
              </a:ext>
            </a:extLst>
          </p:cNvPr>
          <p:cNvSpPr txBox="1"/>
          <p:nvPr/>
        </p:nvSpPr>
        <p:spPr>
          <a:xfrm>
            <a:off x="8927075" y="5812400"/>
            <a:ext cx="1873818" cy="307777"/>
          </a:xfrm>
          <a:prstGeom prst="rect">
            <a:avLst/>
          </a:prstGeom>
          <a:solidFill>
            <a:schemeClr val="bg1"/>
          </a:solidFill>
        </p:spPr>
        <p:txBody>
          <a:bodyPr wrap="square" rtlCol="0">
            <a:spAutoFit/>
          </a:bodyPr>
          <a:lstStyle/>
          <a:p>
            <a:r>
              <a:rPr lang="en-US" altLang="zh-CN" b="1" dirty="0">
                <a:solidFill>
                  <a:srgbClr val="C00000"/>
                </a:solidFill>
                <a:latin typeface="微软雅黑" panose="020B0503020204020204" pitchFamily="34" charset="-122"/>
                <a:ea typeface="微软雅黑" panose="020B0503020204020204" pitchFamily="34" charset="-122"/>
              </a:rPr>
              <a:t>(d)</a:t>
            </a:r>
            <a:r>
              <a:rPr lang="zh-CN" altLang="en-US" b="1" dirty="0">
                <a:solidFill>
                  <a:srgbClr val="C00000"/>
                </a:solidFill>
                <a:latin typeface="微软雅黑" panose="020B0503020204020204" pitchFamily="34" charset="-122"/>
                <a:ea typeface="微软雅黑" panose="020B0503020204020204" pitchFamily="34" charset="-122"/>
              </a:rPr>
              <a:t>分组链式请求方式</a:t>
            </a:r>
          </a:p>
        </p:txBody>
      </p:sp>
      <p:sp>
        <p:nvSpPr>
          <p:cNvPr id="12" name="矩形 11">
            <a:extLst>
              <a:ext uri="{FF2B5EF4-FFF2-40B4-BE49-F238E27FC236}">
                <a16:creationId xmlns:a16="http://schemas.microsoft.com/office/drawing/2014/main" id="{B09EA809-595C-4A7F-8CE7-8619CC7DD2A6}"/>
              </a:ext>
            </a:extLst>
          </p:cNvPr>
          <p:cNvSpPr/>
          <p:nvPr/>
        </p:nvSpPr>
        <p:spPr bwMode="auto">
          <a:xfrm>
            <a:off x="6982692" y="1745588"/>
            <a:ext cx="877454" cy="307777"/>
          </a:xfrm>
          <a:prstGeom prst="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50" b="1" dirty="0">
                <a:solidFill>
                  <a:schemeClr val="tx1"/>
                </a:solidFill>
              </a:rPr>
              <a:t>中断源</a:t>
            </a:r>
            <a:r>
              <a:rPr lang="en-US" altLang="zh-CN" sz="1050" b="1" dirty="0">
                <a:solidFill>
                  <a:schemeClr val="tx1"/>
                </a:solidFill>
              </a:rPr>
              <a:t>1</a:t>
            </a:r>
            <a:endParaRPr lang="zh-CN" altLang="en-US" sz="1050" b="1" dirty="0">
              <a:solidFill>
                <a:schemeClr val="tx1"/>
              </a:solidFill>
            </a:endParaRPr>
          </a:p>
        </p:txBody>
      </p:sp>
      <p:sp>
        <p:nvSpPr>
          <p:cNvPr id="14" name="矩形 13">
            <a:extLst>
              <a:ext uri="{FF2B5EF4-FFF2-40B4-BE49-F238E27FC236}">
                <a16:creationId xmlns:a16="http://schemas.microsoft.com/office/drawing/2014/main" id="{84CD05B6-037E-48B6-871F-E7A623701434}"/>
              </a:ext>
            </a:extLst>
          </p:cNvPr>
          <p:cNvSpPr/>
          <p:nvPr/>
        </p:nvSpPr>
        <p:spPr bwMode="auto">
          <a:xfrm>
            <a:off x="6982692" y="4378058"/>
            <a:ext cx="877454" cy="304800"/>
          </a:xfrm>
          <a:prstGeom prst="rect">
            <a:avLst/>
          </a:prstGeom>
          <a:solidFill>
            <a:srgbClr val="FFC000"/>
          </a:solidFill>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50" b="1" dirty="0">
                <a:solidFill>
                  <a:schemeClr val="tx1"/>
                </a:solidFill>
              </a:rPr>
              <a:t>中断控制器</a:t>
            </a:r>
          </a:p>
        </p:txBody>
      </p:sp>
      <p:sp>
        <p:nvSpPr>
          <p:cNvPr id="15" name="矩形 14">
            <a:extLst>
              <a:ext uri="{FF2B5EF4-FFF2-40B4-BE49-F238E27FC236}">
                <a16:creationId xmlns:a16="http://schemas.microsoft.com/office/drawing/2014/main" id="{2C6F3EF9-0721-494F-BEEC-58A93713402C}"/>
              </a:ext>
            </a:extLst>
          </p:cNvPr>
          <p:cNvSpPr/>
          <p:nvPr/>
        </p:nvSpPr>
        <p:spPr bwMode="auto">
          <a:xfrm>
            <a:off x="6982692" y="2526659"/>
            <a:ext cx="877454" cy="304800"/>
          </a:xfrm>
          <a:prstGeom prst="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50" b="1" dirty="0">
                <a:solidFill>
                  <a:schemeClr val="tx1"/>
                </a:solidFill>
              </a:rPr>
              <a:t>中断源</a:t>
            </a:r>
            <a:r>
              <a:rPr lang="en-US" altLang="zh-CN" sz="1050" b="1" dirty="0">
                <a:solidFill>
                  <a:schemeClr val="tx1"/>
                </a:solidFill>
              </a:rPr>
              <a:t>n</a:t>
            </a:r>
            <a:endParaRPr lang="zh-CN" altLang="en-US" sz="1050" b="1" dirty="0">
              <a:solidFill>
                <a:schemeClr val="tx1"/>
              </a:solidFill>
            </a:endParaRPr>
          </a:p>
        </p:txBody>
      </p:sp>
      <p:sp>
        <p:nvSpPr>
          <p:cNvPr id="16" name="矩形 15">
            <a:extLst>
              <a:ext uri="{FF2B5EF4-FFF2-40B4-BE49-F238E27FC236}">
                <a16:creationId xmlns:a16="http://schemas.microsoft.com/office/drawing/2014/main" id="{BE02C879-6568-425B-B5E0-063BFD8E316E}"/>
              </a:ext>
            </a:extLst>
          </p:cNvPr>
          <p:cNvSpPr/>
          <p:nvPr/>
        </p:nvSpPr>
        <p:spPr bwMode="auto">
          <a:xfrm rot="5400000">
            <a:off x="5205970" y="2016342"/>
            <a:ext cx="1333050" cy="526473"/>
          </a:xfrm>
          <a:prstGeom prst="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b="1" dirty="0">
                <a:solidFill>
                  <a:schemeClr val="tx1"/>
                </a:solidFill>
              </a:rPr>
              <a:t>CPU </a:t>
            </a:r>
            <a:endParaRPr lang="zh-CN" altLang="en-US" sz="1200" b="1" dirty="0">
              <a:solidFill>
                <a:schemeClr val="tx1"/>
              </a:solidFill>
            </a:endParaRPr>
          </a:p>
        </p:txBody>
      </p:sp>
      <p:sp>
        <p:nvSpPr>
          <p:cNvPr id="17" name="矩形 16">
            <a:extLst>
              <a:ext uri="{FF2B5EF4-FFF2-40B4-BE49-F238E27FC236}">
                <a16:creationId xmlns:a16="http://schemas.microsoft.com/office/drawing/2014/main" id="{BFC04782-E148-4B8E-B8C4-87D7340AA7EA}"/>
              </a:ext>
            </a:extLst>
          </p:cNvPr>
          <p:cNvSpPr/>
          <p:nvPr/>
        </p:nvSpPr>
        <p:spPr bwMode="auto">
          <a:xfrm rot="5400000">
            <a:off x="7881132" y="2031816"/>
            <a:ext cx="1333050" cy="526473"/>
          </a:xfrm>
          <a:prstGeom prst="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b="1" dirty="0">
                <a:solidFill>
                  <a:schemeClr val="tx1"/>
                </a:solidFill>
              </a:rPr>
              <a:t>CPU </a:t>
            </a:r>
            <a:endParaRPr lang="zh-CN" altLang="en-US" sz="1200" b="1" dirty="0">
              <a:solidFill>
                <a:schemeClr val="tx1"/>
              </a:solidFill>
            </a:endParaRPr>
          </a:p>
        </p:txBody>
      </p:sp>
      <p:sp>
        <p:nvSpPr>
          <p:cNvPr id="18" name="矩形 17">
            <a:extLst>
              <a:ext uri="{FF2B5EF4-FFF2-40B4-BE49-F238E27FC236}">
                <a16:creationId xmlns:a16="http://schemas.microsoft.com/office/drawing/2014/main" id="{F71990F3-F66E-49C8-B096-41F0B2E8061F}"/>
              </a:ext>
            </a:extLst>
          </p:cNvPr>
          <p:cNvSpPr/>
          <p:nvPr/>
        </p:nvSpPr>
        <p:spPr bwMode="auto">
          <a:xfrm rot="5400000">
            <a:off x="5452437" y="4767050"/>
            <a:ext cx="1486091" cy="526473"/>
          </a:xfrm>
          <a:prstGeom prst="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b="1" dirty="0">
                <a:solidFill>
                  <a:schemeClr val="tx1"/>
                </a:solidFill>
              </a:rPr>
              <a:t>CPU </a:t>
            </a:r>
            <a:endParaRPr lang="zh-CN" altLang="en-US" sz="1200" b="1" dirty="0">
              <a:solidFill>
                <a:schemeClr val="tx1"/>
              </a:solidFill>
            </a:endParaRPr>
          </a:p>
        </p:txBody>
      </p:sp>
      <p:sp>
        <p:nvSpPr>
          <p:cNvPr id="19" name="矩形 18">
            <a:extLst>
              <a:ext uri="{FF2B5EF4-FFF2-40B4-BE49-F238E27FC236}">
                <a16:creationId xmlns:a16="http://schemas.microsoft.com/office/drawing/2014/main" id="{712D20C6-C660-4257-A6EF-9DF0420FA786}"/>
              </a:ext>
            </a:extLst>
          </p:cNvPr>
          <p:cNvSpPr/>
          <p:nvPr/>
        </p:nvSpPr>
        <p:spPr bwMode="auto">
          <a:xfrm rot="5400000">
            <a:off x="7828159" y="4758897"/>
            <a:ext cx="1486091" cy="526473"/>
          </a:xfrm>
          <a:prstGeom prst="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b="1" dirty="0">
                <a:solidFill>
                  <a:schemeClr val="tx1"/>
                </a:solidFill>
              </a:rPr>
              <a:t>CPU </a:t>
            </a:r>
            <a:endParaRPr lang="zh-CN" altLang="en-US" sz="1200" b="1" dirty="0">
              <a:solidFill>
                <a:schemeClr val="tx1"/>
              </a:solidFill>
            </a:endParaRPr>
          </a:p>
        </p:txBody>
      </p:sp>
      <p:sp>
        <p:nvSpPr>
          <p:cNvPr id="20" name="矩形 19">
            <a:extLst>
              <a:ext uri="{FF2B5EF4-FFF2-40B4-BE49-F238E27FC236}">
                <a16:creationId xmlns:a16="http://schemas.microsoft.com/office/drawing/2014/main" id="{5608C6E7-B328-4BE9-ACB7-79E0A7C195F5}"/>
              </a:ext>
            </a:extLst>
          </p:cNvPr>
          <p:cNvSpPr/>
          <p:nvPr/>
        </p:nvSpPr>
        <p:spPr bwMode="auto">
          <a:xfrm rot="5400000">
            <a:off x="6744173" y="5224879"/>
            <a:ext cx="692119" cy="344003"/>
          </a:xfrm>
          <a:prstGeom prst="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00" b="1" dirty="0">
                <a:solidFill>
                  <a:schemeClr val="tx1"/>
                </a:solidFill>
              </a:rPr>
              <a:t>中断源</a:t>
            </a:r>
            <a:r>
              <a:rPr lang="en-US" altLang="zh-CN" sz="1000" b="1" dirty="0">
                <a:solidFill>
                  <a:schemeClr val="tx1"/>
                </a:solidFill>
              </a:rPr>
              <a:t>1</a:t>
            </a:r>
            <a:endParaRPr lang="zh-CN" altLang="en-US" sz="1000" b="1" dirty="0">
              <a:solidFill>
                <a:schemeClr val="tx1"/>
              </a:solidFill>
            </a:endParaRPr>
          </a:p>
        </p:txBody>
      </p:sp>
      <p:sp>
        <p:nvSpPr>
          <p:cNvPr id="21" name="矩形 20">
            <a:extLst>
              <a:ext uri="{FF2B5EF4-FFF2-40B4-BE49-F238E27FC236}">
                <a16:creationId xmlns:a16="http://schemas.microsoft.com/office/drawing/2014/main" id="{CEE6D04A-4B98-4B96-99C4-09CA1C02683F}"/>
              </a:ext>
            </a:extLst>
          </p:cNvPr>
          <p:cNvSpPr/>
          <p:nvPr/>
        </p:nvSpPr>
        <p:spPr bwMode="auto">
          <a:xfrm rot="5400000">
            <a:off x="7368653" y="5242167"/>
            <a:ext cx="682805" cy="344002"/>
          </a:xfrm>
          <a:prstGeom prst="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50" b="1" dirty="0">
                <a:solidFill>
                  <a:schemeClr val="tx1"/>
                </a:solidFill>
              </a:rPr>
              <a:t>中断源</a:t>
            </a:r>
            <a:r>
              <a:rPr lang="en-US" altLang="zh-CN" sz="1050" b="1" dirty="0">
                <a:solidFill>
                  <a:schemeClr val="tx1"/>
                </a:solidFill>
              </a:rPr>
              <a:t>n</a:t>
            </a:r>
            <a:endParaRPr lang="zh-CN" altLang="en-US" sz="1050" b="1" dirty="0">
              <a:solidFill>
                <a:schemeClr val="tx1"/>
              </a:solidFill>
            </a:endParaRPr>
          </a:p>
        </p:txBody>
      </p:sp>
      <p:sp>
        <p:nvSpPr>
          <p:cNvPr id="22" name="矩形 21">
            <a:extLst>
              <a:ext uri="{FF2B5EF4-FFF2-40B4-BE49-F238E27FC236}">
                <a16:creationId xmlns:a16="http://schemas.microsoft.com/office/drawing/2014/main" id="{E1BD7968-4121-40F6-A5EE-50AA8741806E}"/>
              </a:ext>
            </a:extLst>
          </p:cNvPr>
          <p:cNvSpPr/>
          <p:nvPr/>
        </p:nvSpPr>
        <p:spPr bwMode="auto">
          <a:xfrm rot="5400000">
            <a:off x="9242609" y="2397337"/>
            <a:ext cx="692119" cy="344003"/>
          </a:xfrm>
          <a:prstGeom prst="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00" b="1" dirty="0">
                <a:solidFill>
                  <a:schemeClr val="tx1"/>
                </a:solidFill>
              </a:rPr>
              <a:t>中断源</a:t>
            </a:r>
            <a:r>
              <a:rPr lang="en-US" altLang="zh-CN" sz="1000" b="1" dirty="0">
                <a:solidFill>
                  <a:schemeClr val="tx1"/>
                </a:solidFill>
              </a:rPr>
              <a:t>1</a:t>
            </a:r>
            <a:endParaRPr lang="zh-CN" altLang="en-US" sz="1000" b="1" dirty="0">
              <a:solidFill>
                <a:schemeClr val="tx1"/>
              </a:solidFill>
            </a:endParaRPr>
          </a:p>
        </p:txBody>
      </p:sp>
      <p:sp>
        <p:nvSpPr>
          <p:cNvPr id="23" name="矩形 22">
            <a:extLst>
              <a:ext uri="{FF2B5EF4-FFF2-40B4-BE49-F238E27FC236}">
                <a16:creationId xmlns:a16="http://schemas.microsoft.com/office/drawing/2014/main" id="{40C83055-CE0F-499F-BC35-78696E2820C5}"/>
              </a:ext>
            </a:extLst>
          </p:cNvPr>
          <p:cNvSpPr/>
          <p:nvPr/>
        </p:nvSpPr>
        <p:spPr bwMode="auto">
          <a:xfrm rot="5400000">
            <a:off x="9924889" y="2392795"/>
            <a:ext cx="692119" cy="344003"/>
          </a:xfrm>
          <a:prstGeom prst="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00" b="1" dirty="0">
                <a:solidFill>
                  <a:schemeClr val="tx1"/>
                </a:solidFill>
              </a:rPr>
              <a:t>中断源</a:t>
            </a:r>
            <a:r>
              <a:rPr lang="en-US" altLang="zh-CN" sz="1000" b="1" dirty="0">
                <a:solidFill>
                  <a:schemeClr val="tx1"/>
                </a:solidFill>
              </a:rPr>
              <a:t>2</a:t>
            </a:r>
            <a:endParaRPr lang="zh-CN" altLang="en-US" sz="1000" b="1" dirty="0">
              <a:solidFill>
                <a:schemeClr val="tx1"/>
              </a:solidFill>
            </a:endParaRPr>
          </a:p>
        </p:txBody>
      </p:sp>
      <p:sp>
        <p:nvSpPr>
          <p:cNvPr id="24" name="矩形 23">
            <a:extLst>
              <a:ext uri="{FF2B5EF4-FFF2-40B4-BE49-F238E27FC236}">
                <a16:creationId xmlns:a16="http://schemas.microsoft.com/office/drawing/2014/main" id="{41DED54E-7404-498B-B051-0BA83045A362}"/>
              </a:ext>
            </a:extLst>
          </p:cNvPr>
          <p:cNvSpPr/>
          <p:nvPr/>
        </p:nvSpPr>
        <p:spPr bwMode="auto">
          <a:xfrm rot="5400000">
            <a:off x="10825495" y="2398396"/>
            <a:ext cx="692119" cy="344003"/>
          </a:xfrm>
          <a:prstGeom prst="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00" b="1" dirty="0">
                <a:solidFill>
                  <a:schemeClr val="tx1"/>
                </a:solidFill>
              </a:rPr>
              <a:t>中断源</a:t>
            </a:r>
            <a:r>
              <a:rPr lang="en-US" altLang="zh-CN" sz="1000" b="1" dirty="0">
                <a:solidFill>
                  <a:schemeClr val="tx1"/>
                </a:solidFill>
              </a:rPr>
              <a:t>n</a:t>
            </a:r>
            <a:endParaRPr lang="zh-CN" altLang="en-US" sz="1000" b="1" dirty="0">
              <a:solidFill>
                <a:schemeClr val="tx1"/>
              </a:solidFill>
            </a:endParaRPr>
          </a:p>
        </p:txBody>
      </p:sp>
      <p:sp>
        <p:nvSpPr>
          <p:cNvPr id="25" name="矩形 24">
            <a:extLst>
              <a:ext uri="{FF2B5EF4-FFF2-40B4-BE49-F238E27FC236}">
                <a16:creationId xmlns:a16="http://schemas.microsoft.com/office/drawing/2014/main" id="{53C9D7C2-61A1-4835-943B-1778330E7090}"/>
              </a:ext>
            </a:extLst>
          </p:cNvPr>
          <p:cNvSpPr/>
          <p:nvPr/>
        </p:nvSpPr>
        <p:spPr bwMode="auto">
          <a:xfrm rot="5400000">
            <a:off x="9216272" y="5242371"/>
            <a:ext cx="692119" cy="344003"/>
          </a:xfrm>
          <a:prstGeom prst="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00" b="1" dirty="0">
                <a:solidFill>
                  <a:schemeClr val="tx1"/>
                </a:solidFill>
              </a:rPr>
              <a:t>中断源</a:t>
            </a:r>
            <a:r>
              <a:rPr lang="en-US" altLang="zh-CN" sz="1000" b="1" dirty="0">
                <a:solidFill>
                  <a:schemeClr val="tx1"/>
                </a:solidFill>
              </a:rPr>
              <a:t>1</a:t>
            </a:r>
            <a:endParaRPr lang="zh-CN" altLang="en-US" sz="1000" b="1" dirty="0">
              <a:solidFill>
                <a:schemeClr val="tx1"/>
              </a:solidFill>
            </a:endParaRPr>
          </a:p>
        </p:txBody>
      </p:sp>
      <p:sp>
        <p:nvSpPr>
          <p:cNvPr id="26" name="矩形 25">
            <a:extLst>
              <a:ext uri="{FF2B5EF4-FFF2-40B4-BE49-F238E27FC236}">
                <a16:creationId xmlns:a16="http://schemas.microsoft.com/office/drawing/2014/main" id="{2F909CEE-A43D-4462-ADFA-CFD0DDB3A657}"/>
              </a:ext>
            </a:extLst>
          </p:cNvPr>
          <p:cNvSpPr/>
          <p:nvPr/>
        </p:nvSpPr>
        <p:spPr bwMode="auto">
          <a:xfrm rot="5400000">
            <a:off x="9834410" y="5257372"/>
            <a:ext cx="692119" cy="344003"/>
          </a:xfrm>
          <a:prstGeom prst="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00" b="1" dirty="0">
                <a:solidFill>
                  <a:schemeClr val="tx1"/>
                </a:solidFill>
              </a:rPr>
              <a:t>中断源</a:t>
            </a:r>
            <a:r>
              <a:rPr lang="en-US" altLang="zh-CN" sz="1000" b="1" dirty="0">
                <a:solidFill>
                  <a:schemeClr val="tx1"/>
                </a:solidFill>
              </a:rPr>
              <a:t>2</a:t>
            </a:r>
            <a:endParaRPr lang="zh-CN" altLang="en-US" sz="1000" b="1" dirty="0">
              <a:solidFill>
                <a:schemeClr val="tx1"/>
              </a:solidFill>
            </a:endParaRPr>
          </a:p>
        </p:txBody>
      </p:sp>
      <p:sp>
        <p:nvSpPr>
          <p:cNvPr id="27" name="矩形 26">
            <a:extLst>
              <a:ext uri="{FF2B5EF4-FFF2-40B4-BE49-F238E27FC236}">
                <a16:creationId xmlns:a16="http://schemas.microsoft.com/office/drawing/2014/main" id="{91E40DC0-EAFD-446F-B31E-D1700B23FFCD}"/>
              </a:ext>
            </a:extLst>
          </p:cNvPr>
          <p:cNvSpPr/>
          <p:nvPr/>
        </p:nvSpPr>
        <p:spPr bwMode="auto">
          <a:xfrm rot="5400000">
            <a:off x="10700329" y="5248135"/>
            <a:ext cx="692119" cy="344003"/>
          </a:xfrm>
          <a:prstGeom prst="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00" b="1" dirty="0">
                <a:solidFill>
                  <a:schemeClr val="tx1"/>
                </a:solidFill>
              </a:rPr>
              <a:t>中断源</a:t>
            </a:r>
            <a:r>
              <a:rPr lang="en-US" altLang="zh-CN" sz="1000" b="1" dirty="0">
                <a:solidFill>
                  <a:schemeClr val="tx1"/>
                </a:solidFill>
              </a:rPr>
              <a:t>n</a:t>
            </a:r>
            <a:endParaRPr lang="zh-CN" altLang="en-US" sz="1000" b="1" dirty="0">
              <a:solidFill>
                <a:schemeClr val="tx1"/>
              </a:solidFill>
            </a:endParaRPr>
          </a:p>
        </p:txBody>
      </p:sp>
      <p:sp>
        <p:nvSpPr>
          <p:cNvPr id="28" name="矩形 27">
            <a:extLst>
              <a:ext uri="{FF2B5EF4-FFF2-40B4-BE49-F238E27FC236}">
                <a16:creationId xmlns:a16="http://schemas.microsoft.com/office/drawing/2014/main" id="{897B5E23-4F0B-4621-A224-AFAE12B0CA4E}"/>
              </a:ext>
            </a:extLst>
          </p:cNvPr>
          <p:cNvSpPr/>
          <p:nvPr/>
        </p:nvSpPr>
        <p:spPr bwMode="auto">
          <a:xfrm>
            <a:off x="9623396" y="4302242"/>
            <a:ext cx="877454" cy="304800"/>
          </a:xfrm>
          <a:prstGeom prst="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50" b="1" dirty="0">
                <a:solidFill>
                  <a:schemeClr val="tx1"/>
                </a:solidFill>
              </a:rPr>
              <a:t>中断源</a:t>
            </a:r>
            <a:r>
              <a:rPr lang="en-US" altLang="zh-CN" sz="1050" b="1" dirty="0">
                <a:solidFill>
                  <a:schemeClr val="tx1"/>
                </a:solidFill>
              </a:rPr>
              <a:t>n</a:t>
            </a:r>
            <a:endParaRPr lang="zh-CN" altLang="en-US" sz="1050" b="1" dirty="0">
              <a:solidFill>
                <a:schemeClr val="tx1"/>
              </a:solidFill>
            </a:endParaRPr>
          </a:p>
        </p:txBody>
      </p:sp>
      <p:sp>
        <p:nvSpPr>
          <p:cNvPr id="30" name="文本框 29">
            <a:extLst>
              <a:ext uri="{FF2B5EF4-FFF2-40B4-BE49-F238E27FC236}">
                <a16:creationId xmlns:a16="http://schemas.microsoft.com/office/drawing/2014/main" id="{A235308E-77CA-4FF1-BDA7-D164B85ACE60}"/>
              </a:ext>
            </a:extLst>
          </p:cNvPr>
          <p:cNvSpPr txBox="1"/>
          <p:nvPr/>
        </p:nvSpPr>
        <p:spPr>
          <a:xfrm>
            <a:off x="8927075" y="1610158"/>
            <a:ext cx="713898" cy="261610"/>
          </a:xfrm>
          <a:prstGeom prst="rect">
            <a:avLst/>
          </a:prstGeom>
          <a:solidFill>
            <a:schemeClr val="bg1"/>
          </a:solidFill>
        </p:spPr>
        <p:txBody>
          <a:bodyPr wrap="square" rtlCol="0">
            <a:spAutoFit/>
          </a:bodyPr>
          <a:lstStyle/>
          <a:p>
            <a:r>
              <a:rPr lang="en-US" altLang="zh-CN" sz="1100" b="1" dirty="0"/>
              <a:t>INTR</a:t>
            </a:r>
            <a:endParaRPr lang="zh-CN" altLang="en-US" sz="1100" b="1" dirty="0"/>
          </a:p>
        </p:txBody>
      </p:sp>
      <p:sp>
        <p:nvSpPr>
          <p:cNvPr id="31" name="文本框 30">
            <a:extLst>
              <a:ext uri="{FF2B5EF4-FFF2-40B4-BE49-F238E27FC236}">
                <a16:creationId xmlns:a16="http://schemas.microsoft.com/office/drawing/2014/main" id="{9E052A3F-3764-40C5-B7E4-EED47BD4F108}"/>
              </a:ext>
            </a:extLst>
          </p:cNvPr>
          <p:cNvSpPr txBox="1"/>
          <p:nvPr/>
        </p:nvSpPr>
        <p:spPr>
          <a:xfrm>
            <a:off x="8820740" y="2500574"/>
            <a:ext cx="586080" cy="261610"/>
          </a:xfrm>
          <a:prstGeom prst="rect">
            <a:avLst/>
          </a:prstGeom>
          <a:solidFill>
            <a:schemeClr val="bg1"/>
          </a:solidFill>
        </p:spPr>
        <p:txBody>
          <a:bodyPr wrap="square" rtlCol="0">
            <a:spAutoFit/>
          </a:bodyPr>
          <a:lstStyle/>
          <a:p>
            <a:r>
              <a:rPr lang="en-US" altLang="zh-CN" sz="1100" b="1" dirty="0"/>
              <a:t>INTA</a:t>
            </a:r>
            <a:endParaRPr lang="zh-CN" altLang="en-US" sz="1100" b="1" dirty="0"/>
          </a:p>
        </p:txBody>
      </p:sp>
      <p:sp>
        <p:nvSpPr>
          <p:cNvPr id="32" name="对话气泡: 圆角矩形 31">
            <a:extLst>
              <a:ext uri="{FF2B5EF4-FFF2-40B4-BE49-F238E27FC236}">
                <a16:creationId xmlns:a16="http://schemas.microsoft.com/office/drawing/2014/main" id="{40F7CFFA-3365-4226-AD21-DB32DB9D9C7C}"/>
              </a:ext>
            </a:extLst>
          </p:cNvPr>
          <p:cNvSpPr/>
          <p:nvPr/>
        </p:nvSpPr>
        <p:spPr bwMode="auto">
          <a:xfrm>
            <a:off x="169393" y="2240937"/>
            <a:ext cx="806554" cy="519274"/>
          </a:xfrm>
          <a:prstGeom prst="wedgeRoundRectCallout">
            <a:avLst>
              <a:gd name="adj1" fmla="val 27215"/>
              <a:gd name="adj2" fmla="val 136960"/>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b="1" dirty="0">
                <a:solidFill>
                  <a:srgbClr val="C00000"/>
                </a:solidFill>
                <a:latin typeface="微软雅黑" panose="020B0503020204020204" pitchFamily="34" charset="-122"/>
                <a:ea typeface="微软雅黑" panose="020B0503020204020204" pitchFamily="34" charset="-122"/>
              </a:rPr>
              <a:t>CPU</a:t>
            </a:r>
            <a:r>
              <a:rPr lang="zh-CN" altLang="en-US" sz="1200" b="1" dirty="0">
                <a:solidFill>
                  <a:srgbClr val="C00000"/>
                </a:solidFill>
                <a:latin typeface="微软雅黑" panose="020B0503020204020204" pitchFamily="34" charset="-122"/>
                <a:ea typeface="微软雅黑" panose="020B0503020204020204" pitchFamily="34" charset="-122"/>
              </a:rPr>
              <a:t>统一控制</a:t>
            </a:r>
          </a:p>
        </p:txBody>
      </p:sp>
      <p:sp>
        <p:nvSpPr>
          <p:cNvPr id="13" name="左大括号 12">
            <a:extLst>
              <a:ext uri="{FF2B5EF4-FFF2-40B4-BE49-F238E27FC236}">
                <a16:creationId xmlns:a16="http://schemas.microsoft.com/office/drawing/2014/main" id="{39A39547-1E95-43D4-A427-ECA2079F289A}"/>
              </a:ext>
            </a:extLst>
          </p:cNvPr>
          <p:cNvSpPr/>
          <p:nvPr/>
        </p:nvSpPr>
        <p:spPr bwMode="auto">
          <a:xfrm>
            <a:off x="855961" y="1795952"/>
            <a:ext cx="354306" cy="2811090"/>
          </a:xfrm>
          <a:prstGeom prst="leftBrace">
            <a:avLst>
              <a:gd name="adj1" fmla="val 0"/>
              <a:gd name="adj2" fmla="val 50000"/>
            </a:avLst>
          </a:prstGeom>
          <a:ln>
            <a:headEnd type="none" w="med" len="med"/>
            <a:tailEnd type="none" w="med" len="med"/>
          </a:ln>
        </p:spPr>
        <p:style>
          <a:lnRef idx="2">
            <a:schemeClr val="dk1"/>
          </a:lnRef>
          <a:fillRef idx="0">
            <a:schemeClr val="dk1"/>
          </a:fillRef>
          <a:effectRef idx="1">
            <a:schemeClr val="dk1"/>
          </a:effectRef>
          <a:fontRef idx="minor">
            <a:schemeClr val="tx1"/>
          </a:fontRef>
        </p:style>
        <p:txBody>
          <a:bodyPr vert="horz" wrap="square" lIns="90000" tIns="46800" rIns="90000" bIns="46800" numCol="1" rtlCol="0" anchor="ctr" anchorCtr="0" compatLnSpc="1">
            <a:sp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panose="020B0604020202020204" pitchFamily="34" charset="0"/>
              <a:ea typeface="黑体" panose="02010609060101010101" pitchFamily="2" charset="-122"/>
            </a:endParaRPr>
          </a:p>
        </p:txBody>
      </p:sp>
    </p:spTree>
    <p:extLst>
      <p:ext uri="{BB962C8B-B14F-4D97-AF65-F5344CB8AC3E}">
        <p14:creationId xmlns:p14="http://schemas.microsoft.com/office/powerpoint/2010/main" val="22932818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51A5CF-8B07-44CF-A951-50C0339D03A6}"/>
              </a:ext>
            </a:extLst>
          </p:cNvPr>
          <p:cNvSpPr>
            <a:spLocks noGrp="1"/>
          </p:cNvSpPr>
          <p:nvPr>
            <p:ph type="title"/>
          </p:nvPr>
        </p:nvSpPr>
        <p:spPr>
          <a:xfrm>
            <a:off x="420009" y="280050"/>
            <a:ext cx="11277600" cy="688975"/>
          </a:xfrm>
        </p:spPr>
        <p:txBody>
          <a:bodyPr/>
          <a:lstStyle/>
          <a:p>
            <a:r>
              <a:rPr lang="en-US" altLang="zh-CN" dirty="0">
                <a:latin typeface="Calibri" panose="020F0502020204030204" pitchFamily="34" charset="0"/>
                <a:ea typeface="Calibri" panose="020F0502020204030204" pitchFamily="34" charset="0"/>
                <a:cs typeface="Calibri" panose="020F0502020204030204" pitchFamily="34" charset="0"/>
              </a:rPr>
              <a:t>6.7 </a:t>
            </a:r>
            <a:r>
              <a:rPr lang="zh-CN" altLang="en-US" dirty="0">
                <a:latin typeface="Calibri" panose="020F0502020204030204" pitchFamily="34" charset="0"/>
                <a:ea typeface="微软雅黑" panose="020B0503020204020204" pitchFamily="34" charset="-122"/>
                <a:cs typeface="Calibri" panose="020F0502020204030204" pitchFamily="34" charset="0"/>
              </a:rPr>
              <a:t>异常与中断处理</a:t>
            </a:r>
            <a:endParaRPr lang="zh-CN" altLang="en-US" dirty="0"/>
          </a:p>
        </p:txBody>
      </p:sp>
      <p:sp>
        <p:nvSpPr>
          <p:cNvPr id="3" name="内容占位符 2">
            <a:extLst>
              <a:ext uri="{FF2B5EF4-FFF2-40B4-BE49-F238E27FC236}">
                <a16:creationId xmlns:a16="http://schemas.microsoft.com/office/drawing/2014/main" id="{AD97B25C-7927-4DC8-9A9D-76C4AE847CCA}"/>
              </a:ext>
            </a:extLst>
          </p:cNvPr>
          <p:cNvSpPr>
            <a:spLocks noGrp="1"/>
          </p:cNvSpPr>
          <p:nvPr>
            <p:ph idx="1"/>
          </p:nvPr>
        </p:nvSpPr>
        <p:spPr>
          <a:xfrm>
            <a:off x="310108" y="995508"/>
            <a:ext cx="10982287" cy="2853516"/>
          </a:xfrm>
        </p:spPr>
        <p:txBody>
          <a:bodyPr/>
          <a:lstStyle/>
          <a:p>
            <a:pPr lvl="1" eaLnBrk="1" hangingPunct="1">
              <a:lnSpc>
                <a:spcPct val="130000"/>
              </a:lnSpc>
              <a:buFont typeface="Wingdings" panose="05000000000000000000" pitchFamily="2" charset="2"/>
              <a:buChar char="p"/>
            </a:pPr>
            <a:r>
              <a:rPr lang="zh-CN" altLang="en-US" b="1" dirty="0">
                <a:latin typeface="Calibri" panose="020F0502020204030204" pitchFamily="34" charset="0"/>
                <a:ea typeface="微软雅黑" panose="020B0503020204020204" pitchFamily="34" charset="-122"/>
                <a:cs typeface="Calibri" panose="020F0502020204030204" pitchFamily="34" charset="0"/>
              </a:rPr>
              <a:t>中断请求处理相关的</a:t>
            </a:r>
            <a:r>
              <a:rPr lang="zh-CN" altLang="en-US" b="1" dirty="0">
                <a:highlight>
                  <a:srgbClr val="FFFFFF"/>
                </a:highlight>
                <a:latin typeface="Calibri" panose="020F0502020204030204" pitchFamily="34" charset="0"/>
                <a:ea typeface="微软雅黑" panose="020B0503020204020204" pitchFamily="34" charset="-122"/>
                <a:cs typeface="Calibri" panose="020F0502020204030204" pitchFamily="34" charset="0"/>
              </a:rPr>
              <a:t>硬件</a:t>
            </a:r>
            <a:r>
              <a:rPr lang="zh-CN" altLang="en-US" b="1" dirty="0">
                <a:latin typeface="Calibri" panose="020F0502020204030204" pitchFamily="34" charset="0"/>
                <a:ea typeface="微软雅黑" panose="020B0503020204020204" pitchFamily="34" charset="-122"/>
                <a:cs typeface="Calibri" panose="020F0502020204030204" pitchFamily="34" charset="0"/>
              </a:rPr>
              <a:t>支撑（如图</a:t>
            </a:r>
            <a:r>
              <a:rPr lang="en-US" altLang="zh-CN" b="1" dirty="0">
                <a:latin typeface="Calibri" panose="020F0502020204030204" pitchFamily="34" charset="0"/>
                <a:ea typeface="Calibri" panose="020F0502020204030204" pitchFamily="34" charset="0"/>
                <a:cs typeface="Calibri" panose="020F0502020204030204" pitchFamily="34" charset="0"/>
              </a:rPr>
              <a:t>6.6</a:t>
            </a:r>
            <a:r>
              <a:rPr lang="zh-CN" altLang="en-US" b="1" dirty="0">
                <a:latin typeface="Calibri" panose="020F0502020204030204" pitchFamily="34" charset="0"/>
                <a:ea typeface="Calibri" panose="020F0502020204030204" pitchFamily="34" charset="0"/>
                <a:cs typeface="Calibri" panose="020F0502020204030204" pitchFamily="34" charset="0"/>
              </a:rPr>
              <a:t>所示</a:t>
            </a:r>
            <a:r>
              <a:rPr lang="zh-CN" altLang="en-US" b="1" dirty="0">
                <a:latin typeface="Calibri" panose="020F0502020204030204" pitchFamily="34" charset="0"/>
                <a:ea typeface="微软雅黑" panose="020B0503020204020204" pitchFamily="34" charset="-122"/>
                <a:cs typeface="Calibri" panose="020F0502020204030204" pitchFamily="34" charset="0"/>
              </a:rPr>
              <a:t>）</a:t>
            </a:r>
            <a:endParaRPr lang="en-US" altLang="zh-CN" b="1" dirty="0">
              <a:latin typeface="Calibri" panose="020F0502020204030204" pitchFamily="34" charset="0"/>
              <a:ea typeface="Calibri" panose="020F0502020204030204" pitchFamily="34" charset="0"/>
              <a:cs typeface="Calibri" panose="020F0502020204030204" pitchFamily="34" charset="0"/>
            </a:endParaRPr>
          </a:p>
          <a:p>
            <a:pPr marL="1181100" lvl="3" indent="-285750" eaLnBrk="1" hangingPunct="1">
              <a:lnSpc>
                <a:spcPct val="130000"/>
              </a:lnSpc>
              <a:spcBef>
                <a:spcPts val="0"/>
              </a:spcBef>
              <a:buFont typeface="Wingdings" panose="05000000000000000000" pitchFamily="2" charset="2"/>
              <a:buChar char="n"/>
            </a:pP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中断请求寄存器</a:t>
            </a:r>
            <a:r>
              <a:rPr lang="zh-CN" altLang="en-US" sz="1800" b="1" dirty="0">
                <a:solidFill>
                  <a:srgbClr val="133984"/>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a:t>
            </a:r>
            <a:r>
              <a:rPr lang="en-US" altLang="zh-CN" sz="1800" b="1" dirty="0">
                <a:solidFill>
                  <a:srgbClr val="133984"/>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IRR</a:t>
            </a:r>
            <a:r>
              <a:rPr lang="zh-CN" altLang="en-US" sz="1800" b="1" dirty="0">
                <a:solidFill>
                  <a:srgbClr val="133984"/>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a:t>
            </a:r>
            <a:r>
              <a:rPr lang="en-US" altLang="zh-CN" sz="1800" b="1" dirty="0">
                <a:solidFill>
                  <a:srgbClr val="133984"/>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Interrupt Request Register</a:t>
            </a:r>
            <a:r>
              <a:rPr lang="zh-CN" altLang="en-US" sz="1800" b="1" dirty="0">
                <a:solidFill>
                  <a:srgbClr val="133984"/>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a:t>
            </a:r>
            <a:r>
              <a:rPr lang="en-US" altLang="zh-CN" sz="1800" b="1" kern="1200" dirty="0">
                <a:solidFill>
                  <a:srgbClr val="133984"/>
                </a:solidFill>
                <a:latin typeface="微软雅黑" panose="020B0503020204020204" pitchFamily="34" charset="-122"/>
                <a:ea typeface="微软雅黑" panose="020B0503020204020204" pitchFamily="34" charset="-122"/>
                <a:cs typeface="+mn-cs"/>
              </a:rPr>
              <a:t>IRR</a:t>
            </a:r>
            <a:r>
              <a:rPr lang="zh-CN" altLang="en-US" sz="1800" b="1" kern="1200" dirty="0">
                <a:solidFill>
                  <a:srgbClr val="133984"/>
                </a:solidFill>
                <a:latin typeface="微软雅黑" panose="020B0503020204020204" pitchFamily="34" charset="-122"/>
                <a:ea typeface="微软雅黑" panose="020B0503020204020204" pitchFamily="34" charset="-122"/>
                <a:cs typeface="+mn-cs"/>
              </a:rPr>
              <a:t>中的内容称为中断字</a:t>
            </a:r>
            <a:r>
              <a:rPr lang="zh-CN" altLang="en-US" b="1" dirty="0">
                <a:solidFill>
                  <a:srgbClr val="133984"/>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a:t>
            </a:r>
            <a:endParaRPr lang="en-US" altLang="zh-CN" b="1" dirty="0">
              <a:solidFill>
                <a:srgbClr val="133984"/>
              </a:solidFill>
              <a:highlight>
                <a:srgbClr val="FFFFFF"/>
              </a:highlight>
              <a:latin typeface="Calibri" panose="020F0502020204030204" pitchFamily="34" charset="0"/>
              <a:ea typeface="微软雅黑" panose="020B0503020204020204" pitchFamily="34" charset="-122"/>
              <a:cs typeface="Calibri" panose="020F0502020204030204" pitchFamily="34" charset="0"/>
            </a:endParaRPr>
          </a:p>
          <a:p>
            <a:pPr marL="1181100" lvl="3" indent="-285750" eaLnBrk="1" hangingPunct="1">
              <a:lnSpc>
                <a:spcPct val="130000"/>
              </a:lnSpc>
              <a:spcBef>
                <a:spcPts val="0"/>
              </a:spcBef>
              <a:buFont typeface="Wingdings" panose="05000000000000000000" pitchFamily="2" charset="2"/>
              <a:buChar char="n"/>
            </a:pP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中断屏蔽寄存器</a:t>
            </a:r>
            <a:r>
              <a:rPr lang="zh-CN" altLang="en-US" sz="1800" b="1" dirty="0">
                <a:solidFill>
                  <a:srgbClr val="133984"/>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a:t>
            </a:r>
            <a:r>
              <a:rPr lang="en-US" altLang="zh-CN" sz="1800" b="1" dirty="0">
                <a:solidFill>
                  <a:srgbClr val="133984"/>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IMR</a:t>
            </a:r>
            <a:r>
              <a:rPr lang="zh-CN" altLang="en-US" sz="1800" b="1" dirty="0">
                <a:solidFill>
                  <a:srgbClr val="133984"/>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a:t>
            </a:r>
            <a:r>
              <a:rPr lang="en-US" altLang="zh-CN" sz="1800" b="1" dirty="0">
                <a:solidFill>
                  <a:srgbClr val="133984"/>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Interrupt Mask Register</a:t>
            </a:r>
            <a:r>
              <a:rPr lang="zh-CN" altLang="en-US" sz="1800" b="1" dirty="0">
                <a:solidFill>
                  <a:srgbClr val="133984"/>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a:t>
            </a:r>
            <a:r>
              <a:rPr lang="en-US" altLang="zh-CN" sz="1800" b="1" dirty="0">
                <a:solidFill>
                  <a:srgbClr val="C00000"/>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1</a:t>
            </a:r>
            <a:r>
              <a:rPr lang="zh-CN" altLang="en-US" sz="1800" b="1" dirty="0">
                <a:solidFill>
                  <a:srgbClr val="133984"/>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”表示屏蔽，“</a:t>
            </a:r>
            <a:r>
              <a:rPr lang="en-US" altLang="zh-CN" sz="1800" b="1" dirty="0">
                <a:solidFill>
                  <a:srgbClr val="C00000"/>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0</a:t>
            </a:r>
            <a:r>
              <a:rPr lang="zh-CN" altLang="en-US" sz="1800" b="1" dirty="0">
                <a:solidFill>
                  <a:srgbClr val="133984"/>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”时表示允许（不屏蔽）</a:t>
            </a:r>
            <a:r>
              <a:rPr lang="zh-CN" altLang="en-US" sz="1800" b="1" dirty="0">
                <a:latin typeface="Calibri" panose="020F0502020204030204" pitchFamily="34" charset="0"/>
                <a:ea typeface="微软雅黑" panose="020B0503020204020204" pitchFamily="34" charset="-122"/>
                <a:cs typeface="Calibri" panose="020F0502020204030204" pitchFamily="34" charset="0"/>
              </a:rPr>
              <a:t>。</a:t>
            </a:r>
            <a:endParaRPr lang="en-US" altLang="zh-CN" sz="1800" b="1" dirty="0">
              <a:latin typeface="Calibri" panose="020F0502020204030204" pitchFamily="34" charset="0"/>
              <a:ea typeface="Calibri" panose="020F0502020204030204" pitchFamily="34" charset="0"/>
              <a:cs typeface="Calibri" panose="020F0502020204030204" pitchFamily="34" charset="0"/>
            </a:endParaRPr>
          </a:p>
          <a:p>
            <a:pPr marL="1181100" lvl="3" indent="-285750" eaLnBrk="1" hangingPunct="1">
              <a:lnSpc>
                <a:spcPct val="130000"/>
              </a:lnSpc>
              <a:spcBef>
                <a:spcPts val="0"/>
              </a:spcBef>
              <a:buFont typeface="Wingdings" panose="05000000000000000000" pitchFamily="2" charset="2"/>
              <a:buChar char="n"/>
            </a:pP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中断服务寄存器</a:t>
            </a:r>
            <a:r>
              <a:rPr lang="zh-CN" altLang="en-US" sz="1800" b="1" dirty="0">
                <a:solidFill>
                  <a:srgbClr val="133984"/>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a:t>
            </a:r>
            <a:r>
              <a:rPr lang="en-US" altLang="zh-CN" sz="1800" b="1" dirty="0">
                <a:solidFill>
                  <a:srgbClr val="133984"/>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ISR</a:t>
            </a:r>
            <a:r>
              <a:rPr lang="zh-CN" altLang="en-US" sz="1800" b="1" dirty="0">
                <a:solidFill>
                  <a:srgbClr val="133984"/>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a:t>
            </a:r>
            <a:r>
              <a:rPr lang="en-US" altLang="zh-CN" sz="1800" b="1" dirty="0">
                <a:solidFill>
                  <a:srgbClr val="133984"/>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Interrupt Service Register</a:t>
            </a:r>
            <a:r>
              <a:rPr lang="zh-CN" altLang="en-US" sz="1800" b="1" dirty="0">
                <a:solidFill>
                  <a:srgbClr val="133984"/>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，在多重中断中用于存放正在被服务的中断请求</a:t>
            </a:r>
            <a:r>
              <a:rPr lang="zh-CN" altLang="en-US" sz="1800" b="1" dirty="0">
                <a:latin typeface="Calibri" panose="020F0502020204030204" pitchFamily="34" charset="0"/>
                <a:ea typeface="微软雅黑" panose="020B0503020204020204" pitchFamily="34" charset="-122"/>
                <a:cs typeface="Calibri" panose="020F0502020204030204" pitchFamily="34" charset="0"/>
              </a:rPr>
              <a:t>。</a:t>
            </a:r>
            <a:endParaRPr lang="en-US" altLang="zh-CN" sz="1800" b="1" dirty="0">
              <a:latin typeface="Calibri" panose="020F0502020204030204" pitchFamily="34" charset="0"/>
              <a:ea typeface="Calibri" panose="020F0502020204030204" pitchFamily="34" charset="0"/>
              <a:cs typeface="Calibri" panose="020F0502020204030204" pitchFamily="34" charset="0"/>
            </a:endParaRPr>
          </a:p>
          <a:p>
            <a:pPr marL="1181100" lvl="3" indent="-285750" eaLnBrk="1" hangingPunct="1">
              <a:lnSpc>
                <a:spcPct val="130000"/>
              </a:lnSpc>
              <a:spcBef>
                <a:spcPts val="0"/>
              </a:spcBef>
              <a:buFont typeface="Wingdings" panose="05000000000000000000" pitchFamily="2" charset="2"/>
              <a:buChar char="n"/>
            </a:pP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中断允许触发器</a:t>
            </a:r>
            <a:r>
              <a:rPr lang="zh-CN" altLang="en-US" sz="1800" b="1" dirty="0">
                <a:solidFill>
                  <a:srgbClr val="133984"/>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a:t>
            </a:r>
            <a:r>
              <a:rPr lang="en-US" altLang="zh-CN" sz="1800" b="1" dirty="0">
                <a:solidFill>
                  <a:srgbClr val="133984"/>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IE/IF</a:t>
            </a:r>
            <a:r>
              <a:rPr lang="zh-CN" altLang="en-US" sz="1800" b="1" dirty="0">
                <a:solidFill>
                  <a:srgbClr val="133984"/>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a:t>
            </a:r>
            <a:r>
              <a:rPr lang="en-US" altLang="zh-CN" sz="1800" b="1" dirty="0">
                <a:solidFill>
                  <a:srgbClr val="133984"/>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Interrupt Enable/Flag</a:t>
            </a:r>
            <a:r>
              <a:rPr lang="zh-CN" altLang="en-US" sz="1800" b="1" dirty="0">
                <a:solidFill>
                  <a:srgbClr val="133984"/>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，也称中断使能位、中断标志位，用于开（</a:t>
            </a:r>
            <a:r>
              <a:rPr lang="en-US" altLang="zh-CN" sz="1800" b="1" dirty="0">
                <a:solidFill>
                  <a:srgbClr val="C00000"/>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STI</a:t>
            </a:r>
            <a:r>
              <a:rPr lang="zh-CN" altLang="en-US" sz="1800" b="1" dirty="0">
                <a:solidFill>
                  <a:srgbClr val="133984"/>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）、关中断（</a:t>
            </a:r>
            <a:r>
              <a:rPr lang="en-US" altLang="zh-CN" sz="1800" b="1" dirty="0">
                <a:solidFill>
                  <a:srgbClr val="C00000"/>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CLI</a:t>
            </a:r>
            <a:r>
              <a:rPr lang="zh-CN" altLang="en-US" sz="1800" b="1" dirty="0">
                <a:solidFill>
                  <a:srgbClr val="133984"/>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）的控制，“</a:t>
            </a:r>
            <a:r>
              <a:rPr lang="en-US" altLang="zh-CN" sz="1800" b="1" dirty="0">
                <a:solidFill>
                  <a:srgbClr val="C00000"/>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1</a:t>
            </a:r>
            <a:r>
              <a:rPr lang="zh-CN" altLang="en-US" sz="1800" b="1" dirty="0">
                <a:solidFill>
                  <a:srgbClr val="133984"/>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”表示开中断，“</a:t>
            </a:r>
            <a:r>
              <a:rPr lang="en-US" altLang="zh-CN" sz="1800" b="1" dirty="0">
                <a:solidFill>
                  <a:srgbClr val="C00000"/>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0</a:t>
            </a:r>
            <a:r>
              <a:rPr lang="zh-CN" altLang="en-US" sz="1800" b="1" dirty="0">
                <a:solidFill>
                  <a:srgbClr val="133984"/>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”表示关中断；</a:t>
            </a:r>
            <a:r>
              <a:rPr lang="en-US" altLang="zh-CN" sz="1800" b="1" dirty="0">
                <a:solidFill>
                  <a:srgbClr val="133984"/>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IE/IF</a:t>
            </a:r>
            <a:r>
              <a:rPr lang="zh-CN" altLang="en-US" sz="1800" b="1" dirty="0">
                <a:solidFill>
                  <a:srgbClr val="133984"/>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通常设置在</a:t>
            </a:r>
            <a:r>
              <a:rPr lang="en-US" altLang="zh-CN" sz="1800" b="1" dirty="0">
                <a:solidFill>
                  <a:srgbClr val="133984"/>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CPU</a:t>
            </a:r>
            <a:r>
              <a:rPr lang="zh-CN" altLang="en-US" sz="1800" b="1" dirty="0">
                <a:solidFill>
                  <a:srgbClr val="133984"/>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内部。</a:t>
            </a:r>
            <a:endParaRPr lang="en-US" altLang="zh-CN" sz="1800" b="1" dirty="0">
              <a:solidFill>
                <a:srgbClr val="133984"/>
              </a:solidFill>
              <a:highlight>
                <a:srgbClr val="FFFFFF"/>
              </a:highlight>
              <a:latin typeface="Calibri" panose="020F0502020204030204" pitchFamily="34" charset="0"/>
              <a:ea typeface="微软雅黑" panose="020B0503020204020204" pitchFamily="34" charset="-122"/>
              <a:cs typeface="Calibri" panose="020F0502020204030204" pitchFamily="34" charset="0"/>
            </a:endParaRPr>
          </a:p>
          <a:p>
            <a:pPr marL="1181100" lvl="3" indent="-285750" eaLnBrk="1" hangingPunct="1">
              <a:lnSpc>
                <a:spcPct val="130000"/>
              </a:lnSpc>
              <a:spcBef>
                <a:spcPts val="0"/>
              </a:spcBef>
              <a:buFont typeface="Wingdings" panose="05000000000000000000" pitchFamily="2" charset="2"/>
              <a:buChar char="n"/>
            </a:pPr>
            <a:r>
              <a:rPr lang="zh-CN" altLang="en-US" sz="1800" b="1" dirty="0">
                <a:solidFill>
                  <a:srgbClr val="C00000"/>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中断优先级排队电路</a:t>
            </a:r>
            <a:r>
              <a:rPr lang="zh-CN" altLang="en-US" sz="1800" b="1" dirty="0">
                <a:solidFill>
                  <a:srgbClr val="133984"/>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a:t>
            </a:r>
            <a:r>
              <a:rPr lang="en-US" altLang="zh-CN" sz="1800" b="1" dirty="0">
                <a:solidFill>
                  <a:srgbClr val="133984"/>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PR</a:t>
            </a:r>
            <a:r>
              <a:rPr lang="zh-CN" altLang="en-US" sz="1800" b="1" dirty="0">
                <a:solidFill>
                  <a:srgbClr val="133984"/>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a:t>
            </a:r>
            <a:r>
              <a:rPr lang="en-US" altLang="zh-CN" sz="1800" b="1" dirty="0">
                <a:solidFill>
                  <a:srgbClr val="133984"/>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Priority Resolver</a:t>
            </a:r>
            <a:r>
              <a:rPr lang="zh-CN" altLang="en-US" sz="1800" b="1" dirty="0">
                <a:solidFill>
                  <a:srgbClr val="133984"/>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，用于多个外部可屏蔽中断请求的</a:t>
            </a:r>
            <a:r>
              <a:rPr lang="zh-CN" altLang="en-US" sz="1800" b="1" dirty="0">
                <a:solidFill>
                  <a:srgbClr val="C00000"/>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优先级排队</a:t>
            </a:r>
            <a:r>
              <a:rPr lang="zh-CN" altLang="en-US" sz="1800" b="1" dirty="0">
                <a:highlight>
                  <a:srgbClr val="FFFFFF"/>
                </a:highlight>
                <a:latin typeface="Calibri" panose="020F0502020204030204" pitchFamily="34" charset="0"/>
                <a:ea typeface="微软雅黑" panose="020B0503020204020204" pitchFamily="34" charset="-122"/>
                <a:cs typeface="Calibri" panose="020F0502020204030204" pitchFamily="34" charset="0"/>
              </a:rPr>
              <a:t>。</a:t>
            </a:r>
            <a:endParaRPr lang="en-US" altLang="zh-CN" sz="1800" b="1" dirty="0">
              <a:highlight>
                <a:srgbClr val="FFFFFF"/>
              </a:highlight>
              <a:latin typeface="Calibri" panose="020F0502020204030204" pitchFamily="34" charset="0"/>
              <a:ea typeface="Calibri" panose="020F0502020204030204" pitchFamily="34" charset="0"/>
              <a:cs typeface="Calibri" panose="020F0502020204030204" pitchFamily="34" charset="0"/>
            </a:endParaRPr>
          </a:p>
          <a:p>
            <a:pPr marL="1181100" lvl="3" indent="-285750" eaLnBrk="1" hangingPunct="1">
              <a:lnSpc>
                <a:spcPct val="130000"/>
              </a:lnSpc>
              <a:spcBef>
                <a:spcPts val="0"/>
              </a:spcBef>
              <a:buFont typeface="Wingdings" panose="05000000000000000000" pitchFamily="2" charset="2"/>
              <a:buChar char="n"/>
            </a:pPr>
            <a:endParaRPr lang="en-US" altLang="zh-CN" sz="1800" b="1" dirty="0">
              <a:solidFill>
                <a:srgbClr val="133984"/>
              </a:solidFill>
              <a:highlight>
                <a:srgbClr val="FFFFFF"/>
              </a:highlight>
              <a:latin typeface="Calibri" panose="020F0502020204030204" pitchFamily="34" charset="0"/>
              <a:ea typeface="微软雅黑" panose="020B0503020204020204" pitchFamily="34" charset="-122"/>
              <a:cs typeface="Calibri" panose="020F0502020204030204" pitchFamily="34" charset="0"/>
            </a:endParaRPr>
          </a:p>
          <a:p>
            <a:pPr marL="895350" lvl="3" indent="0" eaLnBrk="1" hangingPunct="1">
              <a:lnSpc>
                <a:spcPct val="130000"/>
              </a:lnSpc>
              <a:spcBef>
                <a:spcPts val="0"/>
              </a:spcBef>
              <a:buNone/>
            </a:pPr>
            <a:endParaRPr lang="en-US" altLang="zh-CN" sz="1600" b="1" dirty="0">
              <a:latin typeface="Calibri" panose="020F0502020204030204" pitchFamily="34" charset="0"/>
              <a:ea typeface="Calibri" panose="020F0502020204030204" pitchFamily="34" charset="0"/>
              <a:cs typeface="Calibri" panose="020F0502020204030204" pitchFamily="34" charset="0"/>
            </a:endParaRPr>
          </a:p>
          <a:p>
            <a:pPr marL="0" indent="0">
              <a:lnSpc>
                <a:spcPct val="130000"/>
              </a:lnSpc>
              <a:buNone/>
            </a:pPr>
            <a:endParaRPr lang="zh-CN" altLang="en-US" sz="2400" dirty="0"/>
          </a:p>
        </p:txBody>
      </p:sp>
      <p:grpSp>
        <p:nvGrpSpPr>
          <p:cNvPr id="4" name="组合 3">
            <a:extLst>
              <a:ext uri="{FF2B5EF4-FFF2-40B4-BE49-F238E27FC236}">
                <a16:creationId xmlns:a16="http://schemas.microsoft.com/office/drawing/2014/main" id="{C5BB47A3-E1D2-4A0A-9C88-06F8855641DC}"/>
              </a:ext>
            </a:extLst>
          </p:cNvPr>
          <p:cNvGrpSpPr/>
          <p:nvPr/>
        </p:nvGrpSpPr>
        <p:grpSpPr>
          <a:xfrm>
            <a:off x="2542976" y="3696707"/>
            <a:ext cx="6254793" cy="3161293"/>
            <a:chOff x="1835696" y="3573016"/>
            <a:chExt cx="5836000" cy="3161293"/>
          </a:xfrm>
        </p:grpSpPr>
        <p:pic>
          <p:nvPicPr>
            <p:cNvPr id="5" name="图片 4">
              <a:extLst>
                <a:ext uri="{FF2B5EF4-FFF2-40B4-BE49-F238E27FC236}">
                  <a16:creationId xmlns:a16="http://schemas.microsoft.com/office/drawing/2014/main" id="{63891D6C-F138-41BD-8030-61D359612D9B}"/>
                </a:ext>
              </a:extLst>
            </p:cNvPr>
            <p:cNvPicPr>
              <a:picLocks noChangeAspect="1"/>
            </p:cNvPicPr>
            <p:nvPr/>
          </p:nvPicPr>
          <p:blipFill>
            <a:blip r:embed="rId3"/>
            <a:stretch>
              <a:fillRect/>
            </a:stretch>
          </p:blipFill>
          <p:spPr>
            <a:xfrm>
              <a:off x="1835696" y="3573016"/>
              <a:ext cx="5836000" cy="2736304"/>
            </a:xfrm>
            <a:prstGeom prst="rect">
              <a:avLst/>
            </a:prstGeom>
          </p:spPr>
        </p:pic>
        <p:sp>
          <p:nvSpPr>
            <p:cNvPr id="6" name="文本框 5">
              <a:extLst>
                <a:ext uri="{FF2B5EF4-FFF2-40B4-BE49-F238E27FC236}">
                  <a16:creationId xmlns:a16="http://schemas.microsoft.com/office/drawing/2014/main" id="{89AE4746-344E-40B3-9160-490AF8D1DFED}"/>
                </a:ext>
              </a:extLst>
            </p:cNvPr>
            <p:cNvSpPr txBox="1"/>
            <p:nvPr/>
          </p:nvSpPr>
          <p:spPr>
            <a:xfrm>
              <a:off x="3692464" y="6426532"/>
              <a:ext cx="2200434" cy="307777"/>
            </a:xfrm>
            <a:prstGeom prst="rect">
              <a:avLst/>
            </a:prstGeom>
            <a:noFill/>
          </p:spPr>
          <p:txBody>
            <a:bodyPr wrap="none" rtlCol="0">
              <a:spAutoFit/>
            </a:bodyPr>
            <a:lstStyle/>
            <a:p>
              <a:r>
                <a:rPr lang="zh-CN" altLang="en-US" b="1" dirty="0">
                  <a:solidFill>
                    <a:srgbClr val="133984"/>
                  </a:solidFill>
                  <a:latin typeface="微软雅黑" panose="020B0503020204020204" pitchFamily="34" charset="-122"/>
                  <a:ea typeface="微软雅黑" panose="020B0503020204020204" pitchFamily="34" charset="-122"/>
                </a:rPr>
                <a:t>图</a:t>
              </a:r>
              <a:r>
                <a:rPr lang="en-US" altLang="zh-CN" b="1" dirty="0">
                  <a:solidFill>
                    <a:srgbClr val="133984"/>
                  </a:solidFill>
                  <a:latin typeface="微软雅黑" panose="020B0503020204020204" pitchFamily="34" charset="-122"/>
                  <a:ea typeface="微软雅黑" panose="020B0503020204020204" pitchFamily="34" charset="-122"/>
                </a:rPr>
                <a:t>6.6  </a:t>
              </a:r>
              <a:r>
                <a:rPr lang="zh-CN" altLang="en-US" b="1" dirty="0">
                  <a:solidFill>
                    <a:srgbClr val="133984"/>
                  </a:solidFill>
                  <a:latin typeface="微软雅黑" panose="020B0503020204020204" pitchFamily="34" charset="-122"/>
                  <a:ea typeface="微软雅黑" panose="020B0503020204020204" pitchFamily="34" charset="-122"/>
                </a:rPr>
                <a:t>中断请求的硬件支持</a:t>
              </a:r>
            </a:p>
          </p:txBody>
        </p:sp>
      </p:grpSp>
      <p:sp>
        <p:nvSpPr>
          <p:cNvPr id="7" name="对话气泡: 圆角矩形 6">
            <a:extLst>
              <a:ext uri="{FF2B5EF4-FFF2-40B4-BE49-F238E27FC236}">
                <a16:creationId xmlns:a16="http://schemas.microsoft.com/office/drawing/2014/main" id="{FDBE27C6-D943-4196-8A49-18369ACB8427}"/>
              </a:ext>
            </a:extLst>
          </p:cNvPr>
          <p:cNvSpPr/>
          <p:nvPr/>
        </p:nvSpPr>
        <p:spPr bwMode="auto">
          <a:xfrm>
            <a:off x="131885" y="1902992"/>
            <a:ext cx="1043353" cy="519274"/>
          </a:xfrm>
          <a:prstGeom prst="wedgeRoundRectCallout">
            <a:avLst>
              <a:gd name="adj1" fmla="val 68937"/>
              <a:gd name="adj2" fmla="val 64153"/>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200" b="1" dirty="0">
                <a:solidFill>
                  <a:srgbClr val="C00000"/>
                </a:solidFill>
                <a:latin typeface="微软雅黑" panose="020B0503020204020204" pitchFamily="34" charset="-122"/>
                <a:ea typeface="微软雅黑" panose="020B0503020204020204" pitchFamily="34" charset="-122"/>
              </a:rPr>
              <a:t>为何需要</a:t>
            </a:r>
            <a:r>
              <a:rPr lang="en-US" altLang="zh-CN" sz="1200" b="1" dirty="0">
                <a:solidFill>
                  <a:srgbClr val="C00000"/>
                </a:solidFill>
                <a:latin typeface="微软雅黑" panose="020B0503020204020204" pitchFamily="34" charset="-122"/>
                <a:ea typeface="微软雅黑" panose="020B0503020204020204" pitchFamily="34" charset="-122"/>
              </a:rPr>
              <a:t>ISR</a:t>
            </a:r>
            <a:r>
              <a:rPr lang="zh-CN" altLang="en-US" sz="1200" b="1" dirty="0">
                <a:solidFill>
                  <a:srgbClr val="C00000"/>
                </a:solidFill>
                <a:latin typeface="微软雅黑" panose="020B0503020204020204" pitchFamily="34" charset="-122"/>
                <a:ea typeface="微软雅黑" panose="020B0503020204020204" pitchFamily="34" charset="-122"/>
              </a:rPr>
              <a:t>和</a:t>
            </a:r>
            <a:r>
              <a:rPr lang="en-US" altLang="zh-CN" sz="1200" b="1" dirty="0">
                <a:solidFill>
                  <a:srgbClr val="C00000"/>
                </a:solidFill>
                <a:latin typeface="微软雅黑" panose="020B0503020204020204" pitchFamily="34" charset="-122"/>
                <a:ea typeface="微软雅黑" panose="020B0503020204020204" pitchFamily="34" charset="-122"/>
              </a:rPr>
              <a:t>IF</a:t>
            </a:r>
            <a:r>
              <a:rPr lang="zh-CN" altLang="en-US" sz="1200" b="1" dirty="0">
                <a:solidFill>
                  <a:srgbClr val="C00000"/>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6660721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35F38A-7752-41CE-9420-5F16C4B4EB56}"/>
              </a:ext>
            </a:extLst>
          </p:cNvPr>
          <p:cNvSpPr>
            <a:spLocks noGrp="1"/>
          </p:cNvSpPr>
          <p:nvPr>
            <p:ph type="title"/>
          </p:nvPr>
        </p:nvSpPr>
        <p:spPr/>
        <p:txBody>
          <a:bodyPr/>
          <a:lstStyle/>
          <a:p>
            <a:r>
              <a:rPr lang="zh-CN" altLang="en-US" dirty="0">
                <a:latin typeface="Calibri" panose="020F0502020204030204" pitchFamily="34" charset="0"/>
                <a:ea typeface="Calibri" panose="020F0502020204030204" pitchFamily="34" charset="0"/>
                <a:cs typeface="Calibri" panose="020F0502020204030204" pitchFamily="34" charset="0"/>
              </a:rPr>
              <a:t>小结</a:t>
            </a:r>
            <a:endParaRPr lang="zh-CN" altLang="en-US" dirty="0"/>
          </a:p>
        </p:txBody>
      </p:sp>
      <p:sp>
        <p:nvSpPr>
          <p:cNvPr id="3" name="内容占位符 2">
            <a:extLst>
              <a:ext uri="{FF2B5EF4-FFF2-40B4-BE49-F238E27FC236}">
                <a16:creationId xmlns:a16="http://schemas.microsoft.com/office/drawing/2014/main" id="{F7844584-5BFF-489A-8EA1-4D0201D29D15}"/>
              </a:ext>
            </a:extLst>
          </p:cNvPr>
          <p:cNvSpPr>
            <a:spLocks noGrp="1"/>
          </p:cNvSpPr>
          <p:nvPr>
            <p:ph idx="1"/>
          </p:nvPr>
        </p:nvSpPr>
        <p:spPr>
          <a:xfrm>
            <a:off x="511946" y="954066"/>
            <a:ext cx="10821339" cy="5754708"/>
          </a:xfrm>
        </p:spPr>
        <p:txBody>
          <a:bodyPr/>
          <a:lstStyle/>
          <a:p>
            <a:pPr marL="92075" lvl="1" indent="0">
              <a:lnSpc>
                <a:spcPct val="120000"/>
              </a:lnSpc>
              <a:buSzPct val="100000"/>
              <a:buNone/>
            </a:pPr>
            <a:r>
              <a:rPr lang="en-US" altLang="zh-CN" b="1" dirty="0">
                <a:solidFill>
                  <a:srgbClr val="C00000"/>
                </a:solidFill>
                <a:latin typeface="微软雅黑" panose="020B0503020204020204" pitchFamily="34" charset="-122"/>
                <a:ea typeface="微软雅黑" panose="020B0503020204020204" pitchFamily="34" charset="-122"/>
              </a:rPr>
              <a:t>   </a:t>
            </a:r>
            <a:r>
              <a:rPr lang="zh-CN" altLang="en-US" b="1" dirty="0">
                <a:highlight>
                  <a:srgbClr val="FFFFFF"/>
                </a:highlight>
                <a:latin typeface="微软雅黑" panose="020B0503020204020204" pitchFamily="34" charset="-122"/>
                <a:ea typeface="微软雅黑" panose="020B0503020204020204" pitchFamily="34" charset="-122"/>
              </a:rPr>
              <a:t>中断由中断系统完成，体现了功能需求与硬件设计</a:t>
            </a:r>
            <a:r>
              <a:rPr lang="zh-CN" altLang="en-US" b="1" dirty="0">
                <a:solidFill>
                  <a:srgbClr val="C00000"/>
                </a:solidFill>
                <a:highlight>
                  <a:srgbClr val="FFFFFF"/>
                </a:highlight>
                <a:latin typeface="微软雅黑" panose="020B0503020204020204" pitchFamily="34" charset="-122"/>
                <a:ea typeface="微软雅黑" panose="020B0503020204020204" pitchFamily="34" charset="-122"/>
              </a:rPr>
              <a:t>相辅相成</a:t>
            </a:r>
            <a:r>
              <a:rPr lang="zh-CN" altLang="en-US" b="1" dirty="0">
                <a:highlight>
                  <a:srgbClr val="FFFFFF"/>
                </a:highlight>
                <a:latin typeface="微软雅黑" panose="020B0503020204020204" pitchFamily="34" charset="-122"/>
                <a:ea typeface="微软雅黑" panose="020B0503020204020204" pitchFamily="34" charset="-122"/>
              </a:rPr>
              <a:t>，互为因果，相互依存的关系：</a:t>
            </a:r>
            <a:endParaRPr lang="en-US" altLang="zh-CN" b="1" dirty="0">
              <a:highlight>
                <a:srgbClr val="FFFFFF"/>
              </a:highlight>
              <a:latin typeface="微软雅黑" panose="020B0503020204020204" pitchFamily="34" charset="-122"/>
              <a:ea typeface="微软雅黑" panose="020B0503020204020204" pitchFamily="34" charset="-122"/>
            </a:endParaRPr>
          </a:p>
          <a:p>
            <a:pPr marL="808038" lvl="2" indent="-266700">
              <a:lnSpc>
                <a:spcPct val="120000"/>
              </a:lnSpc>
              <a:buSzPct val="100000"/>
              <a:buFont typeface="Wingdings" panose="05000000000000000000" pitchFamily="2" charset="2"/>
              <a:buChar char="n"/>
            </a:pPr>
            <a:r>
              <a:rPr lang="zh-CN" altLang="en-US" sz="2000" b="1" dirty="0">
                <a:solidFill>
                  <a:srgbClr val="133984"/>
                </a:solidFill>
                <a:highlight>
                  <a:srgbClr val="FFFFFF"/>
                </a:highlight>
                <a:latin typeface="微软雅黑" panose="020B0503020204020204" pitchFamily="34" charset="-122"/>
                <a:ea typeface="微软雅黑" panose="020B0503020204020204" pitchFamily="34" charset="-122"/>
              </a:rPr>
              <a:t>中断控制器</a:t>
            </a:r>
            <a:r>
              <a:rPr lang="en-US" altLang="zh-CN" sz="2000" b="1" dirty="0">
                <a:solidFill>
                  <a:srgbClr val="C00000"/>
                </a:solidFill>
                <a:highlight>
                  <a:srgbClr val="FFFFFF"/>
                </a:highlight>
                <a:latin typeface="微软雅黑" panose="020B0503020204020204" pitchFamily="34" charset="-122"/>
                <a:ea typeface="微软雅黑" panose="020B0503020204020204" pitchFamily="34" charset="-122"/>
              </a:rPr>
              <a:t>8259</a:t>
            </a:r>
            <a:r>
              <a:rPr lang="zh-CN" altLang="en-US" sz="2000" b="1" dirty="0">
                <a:solidFill>
                  <a:srgbClr val="C00000"/>
                </a:solidFill>
                <a:highlight>
                  <a:srgbClr val="FFFFFF"/>
                </a:highlight>
                <a:latin typeface="微软雅黑" panose="020B0503020204020204" pitchFamily="34" charset="-122"/>
                <a:ea typeface="微软雅黑" panose="020B0503020204020204" pitchFamily="34" charset="-122"/>
              </a:rPr>
              <a:t>，协助</a:t>
            </a:r>
            <a:r>
              <a:rPr lang="en-US" altLang="zh-CN" sz="2000" b="1" dirty="0">
                <a:solidFill>
                  <a:srgbClr val="C00000"/>
                </a:solidFill>
                <a:highlight>
                  <a:srgbClr val="FFFFFF"/>
                </a:highlight>
                <a:latin typeface="微软雅黑" panose="020B0503020204020204" pitchFamily="34" charset="-122"/>
                <a:ea typeface="微软雅黑" panose="020B0503020204020204" pitchFamily="34" charset="-122"/>
              </a:rPr>
              <a:t>CPU</a:t>
            </a:r>
            <a:r>
              <a:rPr lang="zh-CN" altLang="en-US" sz="2000" b="1" dirty="0">
                <a:solidFill>
                  <a:srgbClr val="C00000"/>
                </a:solidFill>
                <a:highlight>
                  <a:srgbClr val="FFFFFF"/>
                </a:highlight>
                <a:latin typeface="微软雅黑" panose="020B0503020204020204" pitchFamily="34" charset="-122"/>
                <a:ea typeface="微软雅黑" panose="020B0503020204020204" pitchFamily="34" charset="-122"/>
              </a:rPr>
              <a:t>进行中断控制，有效减轻</a:t>
            </a:r>
            <a:r>
              <a:rPr lang="en-US" altLang="zh-CN" sz="2000" b="1" dirty="0">
                <a:solidFill>
                  <a:srgbClr val="C00000"/>
                </a:solidFill>
                <a:highlight>
                  <a:srgbClr val="FFFFFF"/>
                </a:highlight>
                <a:latin typeface="微软雅黑" panose="020B0503020204020204" pitchFamily="34" charset="-122"/>
                <a:ea typeface="微软雅黑" panose="020B0503020204020204" pitchFamily="34" charset="-122"/>
              </a:rPr>
              <a:t>CPU</a:t>
            </a:r>
            <a:r>
              <a:rPr lang="zh-CN" altLang="en-US" sz="2000" b="1" dirty="0">
                <a:solidFill>
                  <a:srgbClr val="C00000"/>
                </a:solidFill>
                <a:highlight>
                  <a:srgbClr val="FFFFFF"/>
                </a:highlight>
                <a:latin typeface="微软雅黑" panose="020B0503020204020204" pitchFamily="34" charset="-122"/>
                <a:ea typeface="微软雅黑" panose="020B0503020204020204" pitchFamily="34" charset="-122"/>
              </a:rPr>
              <a:t>工作负荷，</a:t>
            </a:r>
            <a:r>
              <a:rPr lang="zh-CN" altLang="en-US" sz="2000" b="1" dirty="0">
                <a:solidFill>
                  <a:srgbClr val="133984"/>
                </a:solidFill>
                <a:highlight>
                  <a:srgbClr val="FFFFFF"/>
                </a:highlight>
                <a:latin typeface="微软雅黑" panose="020B0503020204020204" pitchFamily="34" charset="-122"/>
                <a:ea typeface="微软雅黑" panose="020B0503020204020204" pitchFamily="34" charset="-122"/>
              </a:rPr>
              <a:t>使之</a:t>
            </a:r>
            <a:r>
              <a:rPr lang="zh-CN" altLang="en-US" sz="2000" b="1" dirty="0">
                <a:solidFill>
                  <a:srgbClr val="C00000"/>
                </a:solidFill>
                <a:highlight>
                  <a:srgbClr val="FFFFFF"/>
                </a:highlight>
                <a:latin typeface="微软雅黑" panose="020B0503020204020204" pitchFamily="34" charset="-122"/>
                <a:ea typeface="微软雅黑" panose="020B0503020204020204" pitchFamily="34" charset="-122"/>
              </a:rPr>
              <a:t>专心</a:t>
            </a:r>
            <a:r>
              <a:rPr lang="zh-CN" altLang="en-US" sz="2000" b="1" dirty="0">
                <a:solidFill>
                  <a:srgbClr val="133984"/>
                </a:solidFill>
                <a:highlight>
                  <a:srgbClr val="FFFFFF"/>
                </a:highlight>
                <a:latin typeface="微软雅黑" panose="020B0503020204020204" pitchFamily="34" charset="-122"/>
                <a:ea typeface="微软雅黑" panose="020B0503020204020204" pitchFamily="34" charset="-122"/>
              </a:rPr>
              <a:t>执行指令，显著提高系统性能。</a:t>
            </a:r>
            <a:endParaRPr lang="en-US" altLang="zh-CN" sz="2000" b="1" dirty="0">
              <a:solidFill>
                <a:srgbClr val="133984"/>
              </a:solidFill>
              <a:highlight>
                <a:srgbClr val="FFFFFF"/>
              </a:highlight>
              <a:latin typeface="微软雅黑" panose="020B0503020204020204" pitchFamily="34" charset="-122"/>
              <a:ea typeface="微软雅黑" panose="020B0503020204020204" pitchFamily="34" charset="-122"/>
            </a:endParaRPr>
          </a:p>
          <a:p>
            <a:pPr marL="541338" lvl="2" indent="0">
              <a:lnSpc>
                <a:spcPct val="120000"/>
              </a:lnSpc>
              <a:buSzPct val="100000"/>
              <a:buNone/>
            </a:pPr>
            <a:r>
              <a:rPr lang="zh-CN" altLang="en-US" sz="2000" b="1" dirty="0">
                <a:solidFill>
                  <a:srgbClr val="C00000"/>
                </a:solidFill>
                <a:highlight>
                  <a:srgbClr val="FFFFFF"/>
                </a:highlight>
                <a:latin typeface="微软雅黑" panose="020B0503020204020204" pitchFamily="34" charset="-122"/>
                <a:ea typeface="微软雅黑" panose="020B0503020204020204" pitchFamily="34" charset="-122"/>
              </a:rPr>
              <a:t>面向全局（分清主要矛盾和次要矛盾），集中优势（核心意识），事半功倍（全局意识）</a:t>
            </a:r>
            <a:endParaRPr lang="en-US" altLang="zh-CN" sz="2000" b="1" dirty="0">
              <a:solidFill>
                <a:srgbClr val="C00000"/>
              </a:solidFill>
              <a:highlight>
                <a:srgbClr val="FFFFFF"/>
              </a:highlight>
              <a:latin typeface="微软雅黑" panose="020B0503020204020204" pitchFamily="34" charset="-122"/>
              <a:ea typeface="微软雅黑" panose="020B0503020204020204" pitchFamily="34" charset="-122"/>
            </a:endParaRPr>
          </a:p>
          <a:p>
            <a:pPr marL="808038" lvl="2" indent="-266700" eaLnBrk="1" hangingPunct="1">
              <a:lnSpc>
                <a:spcPct val="150000"/>
              </a:lnSpc>
              <a:spcBef>
                <a:spcPts val="0"/>
              </a:spcBef>
              <a:buFont typeface="Wingdings" panose="05000000000000000000" pitchFamily="2" charset="2"/>
              <a:buChar char="n"/>
            </a:pPr>
            <a:r>
              <a:rPr lang="zh-CN" altLang="en-US" sz="2000" b="1" dirty="0">
                <a:solidFill>
                  <a:srgbClr val="133984"/>
                </a:solidFill>
                <a:highlight>
                  <a:srgbClr val="FFFFFF"/>
                </a:highlight>
                <a:latin typeface="微软雅黑" panose="020B0503020204020204" pitchFamily="34" charset="-122"/>
                <a:ea typeface="微软雅黑" panose="020B0503020204020204" pitchFamily="34" charset="-122"/>
              </a:rPr>
              <a:t>屏蔽寄存器</a:t>
            </a:r>
            <a:r>
              <a:rPr lang="en-US" altLang="zh-CN" sz="2000" b="1" dirty="0">
                <a:solidFill>
                  <a:srgbClr val="C00000"/>
                </a:solidFill>
                <a:highlight>
                  <a:srgbClr val="FFFFFF"/>
                </a:highlight>
                <a:latin typeface="微软雅黑" panose="020B0503020204020204" pitchFamily="34" charset="-122"/>
                <a:ea typeface="微软雅黑" panose="020B0503020204020204" pitchFamily="34" charset="-122"/>
              </a:rPr>
              <a:t>IMR</a:t>
            </a:r>
            <a:r>
              <a:rPr lang="zh-CN" altLang="en-US" sz="2000" b="1" dirty="0">
                <a:solidFill>
                  <a:srgbClr val="133984"/>
                </a:solidFill>
                <a:highlight>
                  <a:srgbClr val="FFFFFF"/>
                </a:highlight>
                <a:latin typeface="微软雅黑" panose="020B0503020204020204" pitchFamily="34" charset="-122"/>
                <a:ea typeface="微软雅黑" panose="020B0503020204020204" pitchFamily="34" charset="-122"/>
              </a:rPr>
              <a:t>的存在，实现了</a:t>
            </a:r>
            <a:r>
              <a:rPr lang="en-US" altLang="zh-CN" sz="2000" b="1" dirty="0">
                <a:solidFill>
                  <a:srgbClr val="133984"/>
                </a:solidFill>
                <a:highlight>
                  <a:srgbClr val="FFFFFF"/>
                </a:highlight>
                <a:latin typeface="微软雅黑" panose="020B0503020204020204" pitchFamily="34" charset="-122"/>
                <a:ea typeface="微软雅黑" panose="020B0503020204020204" pitchFamily="34" charset="-122"/>
              </a:rPr>
              <a:t>CPU</a:t>
            </a:r>
            <a:r>
              <a:rPr lang="zh-CN" altLang="en-US" sz="2000" b="1" dirty="0">
                <a:solidFill>
                  <a:srgbClr val="133984"/>
                </a:solidFill>
                <a:highlight>
                  <a:srgbClr val="FFFFFF"/>
                </a:highlight>
                <a:latin typeface="微软雅黑" panose="020B0503020204020204" pitchFamily="34" charset="-122"/>
                <a:ea typeface="微软雅黑" panose="020B0503020204020204" pitchFamily="34" charset="-122"/>
              </a:rPr>
              <a:t>灵活响应</a:t>
            </a:r>
            <a:r>
              <a:rPr lang="en-US" altLang="zh-CN" sz="2000" b="1" dirty="0">
                <a:solidFill>
                  <a:srgbClr val="133984"/>
                </a:solidFill>
                <a:highlight>
                  <a:srgbClr val="FFFFFF"/>
                </a:highlight>
                <a:latin typeface="微软雅黑" panose="020B0503020204020204" pitchFamily="34" charset="-122"/>
                <a:ea typeface="微软雅黑" panose="020B0503020204020204" pitchFamily="34" charset="-122"/>
              </a:rPr>
              <a:t>INTR</a:t>
            </a:r>
            <a:r>
              <a:rPr lang="zh-CN" altLang="en-US" sz="2000" b="1" dirty="0">
                <a:solidFill>
                  <a:srgbClr val="133984"/>
                </a:solidFill>
                <a:highlight>
                  <a:srgbClr val="FFFFFF"/>
                </a:highlight>
                <a:latin typeface="微软雅黑" panose="020B0503020204020204" pitchFamily="34" charset="-122"/>
                <a:ea typeface="微软雅黑" panose="020B0503020204020204" pitchFamily="34" charset="-122"/>
              </a:rPr>
              <a:t>和</a:t>
            </a:r>
            <a:r>
              <a:rPr lang="en-US" altLang="zh-CN" sz="2000" b="1" dirty="0">
                <a:solidFill>
                  <a:srgbClr val="133984"/>
                </a:solidFill>
                <a:highlight>
                  <a:srgbClr val="FFFFFF"/>
                </a:highlight>
                <a:latin typeface="微软雅黑" panose="020B0503020204020204" pitchFamily="34" charset="-122"/>
                <a:ea typeface="微软雅黑" panose="020B0503020204020204" pitchFamily="34" charset="-122"/>
              </a:rPr>
              <a:t>NMI</a:t>
            </a:r>
            <a:r>
              <a:rPr lang="zh-CN" altLang="en-US" sz="2000" b="1" dirty="0">
                <a:solidFill>
                  <a:srgbClr val="133984"/>
                </a:solidFill>
                <a:highlight>
                  <a:srgbClr val="FFFFFF"/>
                </a:highlight>
                <a:latin typeface="微软雅黑" panose="020B0503020204020204" pitchFamily="34" charset="-122"/>
                <a:ea typeface="微软雅黑" panose="020B0503020204020204" pitchFamily="34" charset="-122"/>
              </a:rPr>
              <a:t>外部中断的目的。</a:t>
            </a:r>
            <a:endParaRPr lang="en-US" altLang="zh-CN" sz="2000" b="1" dirty="0">
              <a:solidFill>
                <a:srgbClr val="133984"/>
              </a:solidFill>
              <a:highlight>
                <a:srgbClr val="FFFFFF"/>
              </a:highlight>
              <a:latin typeface="微软雅黑" panose="020B0503020204020204" pitchFamily="34" charset="-122"/>
              <a:ea typeface="微软雅黑" panose="020B0503020204020204" pitchFamily="34" charset="-122"/>
            </a:endParaRPr>
          </a:p>
          <a:p>
            <a:pPr marL="808038" lvl="2" indent="-266700">
              <a:lnSpc>
                <a:spcPct val="120000"/>
              </a:lnSpc>
              <a:buSzPct val="100000"/>
              <a:buFont typeface="Wingdings" panose="05000000000000000000" pitchFamily="2" charset="2"/>
              <a:buChar char="n"/>
            </a:pPr>
            <a:r>
              <a:rPr lang="zh-CN" altLang="en-US" sz="2000" b="1" dirty="0">
                <a:solidFill>
                  <a:srgbClr val="133984"/>
                </a:solidFill>
                <a:highlight>
                  <a:srgbClr val="FFFFFF"/>
                </a:highlight>
                <a:latin typeface="微软雅黑" panose="020B0503020204020204" pitchFamily="34" charset="-122"/>
                <a:ea typeface="微软雅黑" panose="020B0503020204020204" pitchFamily="34" charset="-122"/>
              </a:rPr>
              <a:t>中断允许触发器</a:t>
            </a:r>
            <a:r>
              <a:rPr lang="en-US" altLang="zh-CN" sz="2000" b="1" dirty="0">
                <a:solidFill>
                  <a:srgbClr val="C00000"/>
                </a:solidFill>
                <a:highlight>
                  <a:srgbClr val="FFFFFF"/>
                </a:highlight>
                <a:latin typeface="微软雅黑" panose="020B0503020204020204" pitchFamily="34" charset="-122"/>
                <a:ea typeface="微软雅黑" panose="020B0503020204020204" pitchFamily="34" charset="-122"/>
              </a:rPr>
              <a:t>IF</a:t>
            </a:r>
            <a:r>
              <a:rPr lang="zh-CN" altLang="en-US" sz="2000" b="1" dirty="0">
                <a:solidFill>
                  <a:srgbClr val="133984"/>
                </a:solidFill>
                <a:highlight>
                  <a:srgbClr val="FFFFFF"/>
                </a:highlight>
                <a:latin typeface="微软雅黑" panose="020B0503020204020204" pitchFamily="34" charset="-122"/>
                <a:ea typeface="微软雅黑" panose="020B0503020204020204" pitchFamily="34" charset="-122"/>
              </a:rPr>
              <a:t>，可灵活的控制是否允许</a:t>
            </a:r>
            <a:r>
              <a:rPr lang="en-US" altLang="zh-CN" sz="2000" b="1" dirty="0">
                <a:solidFill>
                  <a:srgbClr val="133984"/>
                </a:solidFill>
                <a:highlight>
                  <a:srgbClr val="FFFFFF"/>
                </a:highlight>
                <a:latin typeface="微软雅黑" panose="020B0503020204020204" pitchFamily="34" charset="-122"/>
                <a:ea typeface="微软雅黑" panose="020B0503020204020204" pitchFamily="34" charset="-122"/>
              </a:rPr>
              <a:t>CPU</a:t>
            </a:r>
            <a:r>
              <a:rPr lang="zh-CN" altLang="en-US" sz="2000" b="1" dirty="0">
                <a:solidFill>
                  <a:srgbClr val="133984"/>
                </a:solidFill>
                <a:highlight>
                  <a:srgbClr val="FFFFFF"/>
                </a:highlight>
                <a:latin typeface="微软雅黑" panose="020B0503020204020204" pitchFamily="34" charset="-122"/>
                <a:ea typeface="微软雅黑" panose="020B0503020204020204" pitchFamily="34" charset="-122"/>
              </a:rPr>
              <a:t>中断。为现场保护与恢复，多重中断提供硬件支持。</a:t>
            </a:r>
            <a:endParaRPr lang="en-US" altLang="zh-CN" sz="2000" b="1" dirty="0">
              <a:solidFill>
                <a:srgbClr val="133984"/>
              </a:solidFill>
              <a:highlight>
                <a:srgbClr val="FFFFFF"/>
              </a:highlight>
              <a:latin typeface="微软雅黑" panose="020B0503020204020204" pitchFamily="34" charset="-122"/>
              <a:ea typeface="微软雅黑" panose="020B0503020204020204" pitchFamily="34" charset="-122"/>
            </a:endParaRPr>
          </a:p>
          <a:p>
            <a:pPr marL="808038" lvl="2" indent="-266700">
              <a:lnSpc>
                <a:spcPct val="120000"/>
              </a:lnSpc>
              <a:buSzPct val="100000"/>
              <a:buFont typeface="Wingdings" panose="05000000000000000000" pitchFamily="2" charset="2"/>
              <a:buChar char="n"/>
            </a:pPr>
            <a:r>
              <a:rPr lang="zh-CN" altLang="en-US" sz="2000" b="1" dirty="0">
                <a:solidFill>
                  <a:srgbClr val="133984"/>
                </a:solidFill>
                <a:highlight>
                  <a:srgbClr val="FFFFFF"/>
                </a:highlight>
                <a:latin typeface="微软雅黑" panose="020B0503020204020204" pitchFamily="34" charset="-122"/>
                <a:ea typeface="微软雅黑" panose="020B0503020204020204" pitchFamily="34" charset="-122"/>
              </a:rPr>
              <a:t>中断服务寄存器</a:t>
            </a:r>
            <a:r>
              <a:rPr lang="en-US" altLang="zh-CN" sz="2000" b="1" dirty="0">
                <a:solidFill>
                  <a:srgbClr val="C00000"/>
                </a:solidFill>
                <a:highlight>
                  <a:srgbClr val="FFFFFF"/>
                </a:highlight>
                <a:latin typeface="微软雅黑" panose="020B0503020204020204" pitchFamily="34" charset="-122"/>
                <a:ea typeface="微软雅黑" panose="020B0503020204020204" pitchFamily="34" charset="-122"/>
              </a:rPr>
              <a:t>ISR</a:t>
            </a:r>
            <a:r>
              <a:rPr lang="zh-CN" altLang="en-US" sz="2000" b="1" dirty="0">
                <a:solidFill>
                  <a:srgbClr val="133984"/>
                </a:solidFill>
                <a:highlight>
                  <a:srgbClr val="FFFFFF"/>
                </a:highlight>
                <a:latin typeface="微软雅黑" panose="020B0503020204020204" pitchFamily="34" charset="-122"/>
                <a:ea typeface="微软雅黑" panose="020B0503020204020204" pitchFamily="34" charset="-122"/>
              </a:rPr>
              <a:t>的设计，体现了技术上的严谨性，</a:t>
            </a:r>
            <a:r>
              <a:rPr lang="zh-CN" altLang="en-US" sz="2000" b="1" dirty="0">
                <a:solidFill>
                  <a:srgbClr val="C00000"/>
                </a:solidFill>
                <a:highlight>
                  <a:srgbClr val="FFFFFF"/>
                </a:highlight>
                <a:latin typeface="微软雅黑" panose="020B0503020204020204" pitchFamily="34" charset="-122"/>
                <a:ea typeface="微软雅黑" panose="020B0503020204020204" pitchFamily="34" charset="-122"/>
              </a:rPr>
              <a:t>细节决定成败</a:t>
            </a:r>
            <a:r>
              <a:rPr lang="zh-CN" altLang="en-US" sz="2000" b="1" dirty="0">
                <a:solidFill>
                  <a:srgbClr val="133984"/>
                </a:solidFill>
                <a:highlight>
                  <a:srgbClr val="FFFFFF"/>
                </a:highlight>
                <a:latin typeface="微软雅黑" panose="020B0503020204020204" pitchFamily="34" charset="-122"/>
                <a:ea typeface="微软雅黑" panose="020B0503020204020204" pitchFamily="34" charset="-122"/>
              </a:rPr>
              <a:t>。</a:t>
            </a:r>
            <a:endParaRPr lang="en-US" altLang="zh-CN" sz="2000" b="1" dirty="0">
              <a:solidFill>
                <a:srgbClr val="133984"/>
              </a:solidFill>
              <a:highlight>
                <a:srgbClr val="FFFFFF"/>
              </a:highlight>
              <a:latin typeface="微软雅黑" panose="020B0503020204020204" pitchFamily="34" charset="-122"/>
              <a:ea typeface="微软雅黑" panose="020B0503020204020204" pitchFamily="34" charset="-122"/>
            </a:endParaRPr>
          </a:p>
          <a:p>
            <a:pPr marL="808038" lvl="2" indent="-266700">
              <a:lnSpc>
                <a:spcPct val="120000"/>
              </a:lnSpc>
              <a:buSzPct val="100000"/>
              <a:buFont typeface="Wingdings" panose="05000000000000000000" pitchFamily="2" charset="2"/>
              <a:buChar char="n"/>
            </a:pPr>
            <a:r>
              <a:rPr lang="zh-CN" altLang="en-US" sz="2000" b="1" dirty="0">
                <a:solidFill>
                  <a:srgbClr val="C00000"/>
                </a:solidFill>
                <a:highlight>
                  <a:srgbClr val="FFFFFF"/>
                </a:highlight>
                <a:latin typeface="微软雅黑" panose="020B0503020204020204" pitchFamily="34" charset="-122"/>
                <a:ea typeface="微软雅黑" panose="020B0503020204020204" pitchFamily="34" charset="-122"/>
              </a:rPr>
              <a:t>优先级排队电路</a:t>
            </a:r>
            <a:r>
              <a:rPr lang="zh-CN" altLang="en-US" sz="2000" b="1" dirty="0">
                <a:solidFill>
                  <a:srgbClr val="133984"/>
                </a:solidFill>
                <a:highlight>
                  <a:srgbClr val="FFFFFF"/>
                </a:highlight>
                <a:latin typeface="微软雅黑" panose="020B0503020204020204" pitchFamily="34" charset="-122"/>
                <a:ea typeface="微软雅黑" panose="020B0503020204020204" pitchFamily="34" charset="-122"/>
              </a:rPr>
              <a:t>解决了多中断源竞争的问题。</a:t>
            </a:r>
            <a:endParaRPr lang="en-US" altLang="zh-CN" sz="2000" b="1" dirty="0">
              <a:solidFill>
                <a:srgbClr val="133984"/>
              </a:solidFill>
              <a:highlight>
                <a:srgbClr val="FFFFFF"/>
              </a:highlight>
              <a:latin typeface="微软雅黑" panose="020B0503020204020204" pitchFamily="34" charset="-122"/>
              <a:ea typeface="微软雅黑" panose="020B0503020204020204" pitchFamily="34" charset="-122"/>
            </a:endParaRPr>
          </a:p>
          <a:p>
            <a:pPr marL="541338" lvl="1" indent="0">
              <a:lnSpc>
                <a:spcPct val="120000"/>
              </a:lnSpc>
              <a:buSzPct val="100000"/>
              <a:buNone/>
            </a:pPr>
            <a:endParaRPr lang="en-US" altLang="zh-CN" sz="2000" b="1" dirty="0">
              <a:highlight>
                <a:srgbClr val="FFFFFF"/>
              </a:highlight>
              <a:latin typeface="微软雅黑" panose="020B0503020204020204" pitchFamily="34" charset="-122"/>
              <a:ea typeface="微软雅黑" panose="020B0503020204020204" pitchFamily="34" charset="-122"/>
            </a:endParaRPr>
          </a:p>
          <a:p>
            <a:pPr>
              <a:lnSpc>
                <a:spcPct val="120000"/>
              </a:lnSpc>
            </a:pPr>
            <a:endParaRPr lang="zh-CN" altLang="en-US" sz="4000" dirty="0"/>
          </a:p>
        </p:txBody>
      </p:sp>
    </p:spTree>
    <p:extLst>
      <p:ext uri="{BB962C8B-B14F-4D97-AF65-F5344CB8AC3E}">
        <p14:creationId xmlns:p14="http://schemas.microsoft.com/office/powerpoint/2010/main" val="14919171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2F1C32-69FB-41E3-A5C1-DFEB63240F2C}"/>
              </a:ext>
            </a:extLst>
          </p:cNvPr>
          <p:cNvSpPr>
            <a:spLocks noGrp="1"/>
          </p:cNvSpPr>
          <p:nvPr>
            <p:ph type="title"/>
          </p:nvPr>
        </p:nvSpPr>
        <p:spPr>
          <a:xfrm>
            <a:off x="0" y="269299"/>
            <a:ext cx="10972801" cy="688975"/>
          </a:xfrm>
        </p:spPr>
        <p:txBody>
          <a:bodyPr/>
          <a:lstStyle/>
          <a:p>
            <a:r>
              <a:rPr lang="en-US" altLang="zh-CN" dirty="0">
                <a:latin typeface="Calibri" panose="020F0502020204030204" pitchFamily="34" charset="0"/>
                <a:ea typeface="Calibri" panose="020F0502020204030204" pitchFamily="34" charset="0"/>
                <a:cs typeface="Calibri" panose="020F0502020204030204" pitchFamily="34" charset="0"/>
              </a:rPr>
              <a:t>6.7 </a:t>
            </a:r>
            <a:r>
              <a:rPr lang="zh-CN" altLang="en-US" dirty="0">
                <a:latin typeface="Calibri" panose="020F0502020204030204" pitchFamily="34" charset="0"/>
                <a:ea typeface="微软雅黑" panose="020B0503020204020204" pitchFamily="34" charset="-122"/>
                <a:cs typeface="Calibri" panose="020F0502020204030204" pitchFamily="34" charset="0"/>
              </a:rPr>
              <a:t>异常与中断处理</a:t>
            </a:r>
          </a:p>
        </p:txBody>
      </p:sp>
      <p:sp>
        <p:nvSpPr>
          <p:cNvPr id="3" name="内容占位符 2">
            <a:extLst>
              <a:ext uri="{FF2B5EF4-FFF2-40B4-BE49-F238E27FC236}">
                <a16:creationId xmlns:a16="http://schemas.microsoft.com/office/drawing/2014/main" id="{0EFCBAD4-596E-4A44-B71F-86B1D81DA36A}"/>
              </a:ext>
            </a:extLst>
          </p:cNvPr>
          <p:cNvSpPr>
            <a:spLocks noGrp="1"/>
          </p:cNvSpPr>
          <p:nvPr>
            <p:ph idx="1"/>
          </p:nvPr>
        </p:nvSpPr>
        <p:spPr>
          <a:xfrm>
            <a:off x="609600" y="1042840"/>
            <a:ext cx="10972800" cy="5815159"/>
          </a:xfrm>
        </p:spPr>
        <p:txBody>
          <a:bodyPr/>
          <a:lstStyle/>
          <a:p>
            <a:pPr>
              <a:lnSpc>
                <a:spcPct val="120000"/>
              </a:lnSpc>
              <a:buSzPct val="100000"/>
              <a:buFont typeface="Wingdings" panose="05000000000000000000" pitchFamily="2" charset="2"/>
              <a:buChar char="p"/>
            </a:pPr>
            <a:r>
              <a:rPr lang="zh-CN" altLang="en-US" b="1" dirty="0">
                <a:latin typeface="Calibri" panose="020F0502020204030204" pitchFamily="34" charset="0"/>
                <a:ea typeface="微软雅黑" panose="020B0503020204020204" pitchFamily="34" charset="-122"/>
                <a:cs typeface="Calibri" panose="020F0502020204030204" pitchFamily="34" charset="0"/>
              </a:rPr>
              <a:t>中断优先级与中断屏蔽技术</a:t>
            </a:r>
            <a:endParaRPr lang="en-US" altLang="zh-CN" b="1" dirty="0">
              <a:latin typeface="Calibri" panose="020F0502020204030204" pitchFamily="34" charset="0"/>
              <a:ea typeface="Calibri" panose="020F0502020204030204" pitchFamily="34" charset="0"/>
              <a:cs typeface="Calibri" panose="020F0502020204030204" pitchFamily="34" charset="0"/>
            </a:endParaRPr>
          </a:p>
          <a:p>
            <a:pPr lvl="1" eaLnBrk="1" hangingPunct="1">
              <a:lnSpc>
                <a:spcPct val="120000"/>
              </a:lnSpc>
              <a:buFont typeface="Wingdings" panose="05000000000000000000" pitchFamily="2" charset="2"/>
              <a:buChar char="n"/>
            </a:pPr>
            <a:r>
              <a:rPr lang="zh-CN" altLang="en-US" b="1" dirty="0">
                <a:solidFill>
                  <a:srgbClr val="C00000"/>
                </a:solidFill>
                <a:latin typeface="Calibri" panose="020F0502020204030204" pitchFamily="34" charset="0"/>
                <a:ea typeface="微软雅黑" panose="020B0503020204020204" pitchFamily="34" charset="-122"/>
                <a:cs typeface="Calibri" panose="020F0502020204030204" pitchFamily="34" charset="0"/>
              </a:rPr>
              <a:t>中断优先级：</a:t>
            </a:r>
            <a:r>
              <a:rPr lang="zh-CN" altLang="en-US" b="1" dirty="0">
                <a:latin typeface="Calibri" panose="020F0502020204030204" pitchFamily="34" charset="0"/>
                <a:ea typeface="微软雅黑" panose="020B0503020204020204" pitchFamily="34" charset="-122"/>
                <a:cs typeface="Calibri" panose="020F0502020204030204" pitchFamily="34" charset="0"/>
              </a:rPr>
              <a:t>指</a:t>
            </a:r>
            <a:r>
              <a:rPr lang="en-US" altLang="zh-CN" b="1" dirty="0">
                <a:latin typeface="Calibri" panose="020F0502020204030204" pitchFamily="34" charset="0"/>
                <a:ea typeface="Calibri" panose="020F0502020204030204" pitchFamily="34" charset="0"/>
                <a:cs typeface="Calibri" panose="020F0502020204030204" pitchFamily="34" charset="0"/>
              </a:rPr>
              <a:t>CPU</a:t>
            </a:r>
            <a:r>
              <a:rPr lang="zh-CN" altLang="en-US" b="1" dirty="0">
                <a:latin typeface="Calibri" panose="020F0502020204030204" pitchFamily="34" charset="0"/>
                <a:ea typeface="微软雅黑" panose="020B0503020204020204" pitchFamily="34" charset="-122"/>
                <a:cs typeface="Calibri" panose="020F0502020204030204" pitchFamily="34" charset="0"/>
              </a:rPr>
              <a:t>响应并处理中断的先后次序。</a:t>
            </a:r>
            <a:endParaRPr lang="en-US" altLang="zh-CN" b="1" dirty="0">
              <a:latin typeface="Calibri" panose="020F0502020204030204" pitchFamily="34" charset="0"/>
              <a:ea typeface="微软雅黑" panose="020B0503020204020204" pitchFamily="34" charset="-122"/>
              <a:cs typeface="Calibri" panose="020F0502020204030204" pitchFamily="34" charset="0"/>
            </a:endParaRPr>
          </a:p>
          <a:p>
            <a:pPr lvl="1" eaLnBrk="1" hangingPunct="1">
              <a:lnSpc>
                <a:spcPct val="120000"/>
              </a:lnSpc>
              <a:buFont typeface="Wingdings" panose="05000000000000000000" pitchFamily="2" charset="2"/>
              <a:buChar char="n"/>
            </a:pPr>
            <a:r>
              <a:rPr lang="zh-CN" altLang="en-US" b="1" dirty="0">
                <a:latin typeface="Calibri" panose="020F0502020204030204" pitchFamily="34" charset="0"/>
                <a:ea typeface="微软雅黑" panose="020B0503020204020204" pitchFamily="34" charset="-122"/>
                <a:cs typeface="Calibri" panose="020F0502020204030204" pitchFamily="34" charset="0"/>
              </a:rPr>
              <a:t>包含：响应优先级和处理优先级</a:t>
            </a:r>
            <a:r>
              <a:rPr lang="zh-CN" altLang="en-US" sz="2000" b="1" dirty="0">
                <a:latin typeface="Calibri" panose="020F0502020204030204" pitchFamily="34" charset="0"/>
                <a:ea typeface="微软雅黑" panose="020B0503020204020204" pitchFamily="34" charset="-122"/>
                <a:cs typeface="Calibri" panose="020F0502020204030204" pitchFamily="34" charset="0"/>
              </a:rPr>
              <a:t>。</a:t>
            </a:r>
            <a:endParaRPr lang="en-US" altLang="zh-CN" sz="2000" b="1" dirty="0">
              <a:latin typeface="Calibri" panose="020F0502020204030204" pitchFamily="34" charset="0"/>
              <a:ea typeface="Calibri" panose="020F0502020204030204" pitchFamily="34" charset="0"/>
              <a:cs typeface="Calibri" panose="020F0502020204030204" pitchFamily="34" charset="0"/>
            </a:endParaRPr>
          </a:p>
          <a:p>
            <a:pPr lvl="2" eaLnBrk="1" hangingPunct="1">
              <a:lnSpc>
                <a:spcPct val="130000"/>
              </a:lnSpc>
              <a:buFont typeface="Wingdings" panose="05000000000000000000" pitchFamily="2" charset="2"/>
              <a:buChar char="n"/>
            </a:pPr>
            <a:r>
              <a:rPr lang="zh-CN" altLang="en-US"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响应优先级：</a:t>
            </a:r>
            <a:r>
              <a:rPr lang="zh-CN" altLang="en-US"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指</a:t>
            </a:r>
            <a:r>
              <a:rPr lang="en-US" altLang="zh-CN"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CPU</a:t>
            </a:r>
            <a:r>
              <a:rPr lang="zh-CN" altLang="en-US"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对各设备中断请求进行响应的先后次序，其在</a:t>
            </a:r>
            <a:r>
              <a:rPr lang="zh-CN" altLang="en-US"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硬件电路</a:t>
            </a:r>
            <a:r>
              <a:rPr lang="zh-CN" altLang="en-US"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上一般</a:t>
            </a:r>
            <a:r>
              <a:rPr lang="zh-CN" altLang="en-US"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固定</a:t>
            </a:r>
            <a:r>
              <a:rPr lang="zh-CN" altLang="en-US"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，不便于变动；中断响应优先级的一般划分规律如下：</a:t>
            </a:r>
            <a:endParaRPr lang="en-US" altLang="zh-CN"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lvl="3" eaLnBrk="1" hangingPunct="1">
              <a:lnSpc>
                <a:spcPct val="130000"/>
              </a:lnSpc>
              <a:buFont typeface="Wingdings" panose="05000000000000000000" pitchFamily="2" charset="2"/>
              <a:buChar char="n"/>
            </a:pPr>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不可屏蔽中断 </a:t>
            </a:r>
            <a:r>
              <a:rPr lang="en-US" altLang="zh-CN" b="1" dirty="0">
                <a:solidFill>
                  <a:srgbClr val="133984"/>
                </a:solidFill>
                <a:latin typeface="Calibri" panose="020F0502020204030204" pitchFamily="34" charset="0"/>
                <a:ea typeface="微软雅黑" panose="020B0503020204020204" pitchFamily="34" charset="-122"/>
                <a:cs typeface="Calibri" panose="020F0502020204030204" pitchFamily="34" charset="0"/>
              </a:rPr>
              <a:t>&gt; </a:t>
            </a:r>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内部异常 </a:t>
            </a:r>
            <a:r>
              <a:rPr lang="en-US" altLang="zh-CN" b="1" dirty="0">
                <a:solidFill>
                  <a:srgbClr val="133984"/>
                </a:solidFill>
                <a:latin typeface="Calibri" panose="020F0502020204030204" pitchFamily="34" charset="0"/>
                <a:ea typeface="微软雅黑" panose="020B0503020204020204" pitchFamily="34" charset="-122"/>
                <a:cs typeface="Calibri" panose="020F0502020204030204" pitchFamily="34" charset="0"/>
              </a:rPr>
              <a:t>&gt; </a:t>
            </a:r>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可屏蔽中断</a:t>
            </a:r>
            <a:endParaRPr lang="en-US" altLang="zh-CN"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lvl="3" eaLnBrk="1" hangingPunct="1">
              <a:lnSpc>
                <a:spcPct val="130000"/>
              </a:lnSpc>
              <a:buFont typeface="Wingdings" panose="05000000000000000000" pitchFamily="2" charset="2"/>
              <a:buChar char="n"/>
            </a:pPr>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内部异常中：硬件终止（</a:t>
            </a:r>
            <a:r>
              <a:rPr lang="en-US" altLang="zh-CN"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Abort</a:t>
            </a:r>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r>
              <a:rPr lang="en-US" altLang="zh-CN" b="1" dirty="0">
                <a:solidFill>
                  <a:srgbClr val="133984"/>
                </a:solidFill>
                <a:latin typeface="Calibri" panose="020F0502020204030204" pitchFamily="34" charset="0"/>
                <a:ea typeface="微软雅黑" panose="020B0503020204020204" pitchFamily="34" charset="-122"/>
                <a:cs typeface="Calibri" panose="020F0502020204030204" pitchFamily="34" charset="0"/>
              </a:rPr>
              <a:t>&gt; </a:t>
            </a:r>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指令异常或自陷等程序故障（</a:t>
            </a:r>
            <a:r>
              <a:rPr lang="en-US" altLang="zh-CN" b="1" dirty="0">
                <a:solidFill>
                  <a:srgbClr val="133984"/>
                </a:solidFill>
                <a:latin typeface="Calibri" panose="020F0502020204030204" pitchFamily="34" charset="0"/>
                <a:ea typeface="微软雅黑" panose="020B0503020204020204" pitchFamily="34" charset="-122"/>
                <a:cs typeface="Calibri" panose="020F0502020204030204" pitchFamily="34" charset="0"/>
              </a:rPr>
              <a:t>Fault</a:t>
            </a:r>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r>
              <a:rPr lang="en-US" altLang="zh-CN" b="1" dirty="0">
                <a:solidFill>
                  <a:srgbClr val="133984"/>
                </a:solidFill>
                <a:latin typeface="Calibri" panose="020F0502020204030204" pitchFamily="34" charset="0"/>
                <a:ea typeface="微软雅黑" panose="020B0503020204020204" pitchFamily="34" charset="-122"/>
                <a:cs typeface="Calibri" panose="020F0502020204030204" pitchFamily="34" charset="0"/>
              </a:rPr>
              <a:t>Trap</a:t>
            </a:r>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endParaRPr lang="en-US" altLang="zh-CN"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lvl="3" eaLnBrk="1" hangingPunct="1">
              <a:lnSpc>
                <a:spcPct val="130000"/>
              </a:lnSpc>
              <a:buFont typeface="Wingdings" panose="05000000000000000000" pitchFamily="2" charset="2"/>
              <a:buChar char="n"/>
            </a:pPr>
            <a:r>
              <a:rPr lang="en-US" altLang="zh-CN" b="1" dirty="0">
                <a:solidFill>
                  <a:srgbClr val="133984"/>
                </a:solidFill>
                <a:latin typeface="Calibri" panose="020F0502020204030204" pitchFamily="34" charset="0"/>
                <a:ea typeface="微软雅黑" panose="020B0503020204020204" pitchFamily="34" charset="-122"/>
                <a:cs typeface="Calibri" panose="020F0502020204030204" pitchFamily="34" charset="0"/>
              </a:rPr>
              <a:t>DMA</a:t>
            </a:r>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中断 </a:t>
            </a:r>
            <a:r>
              <a:rPr lang="en-US" altLang="zh-CN" b="1" dirty="0">
                <a:solidFill>
                  <a:srgbClr val="133984"/>
                </a:solidFill>
                <a:latin typeface="Calibri" panose="020F0502020204030204" pitchFamily="34" charset="0"/>
                <a:ea typeface="微软雅黑" panose="020B0503020204020204" pitchFamily="34" charset="-122"/>
                <a:cs typeface="Calibri" panose="020F0502020204030204" pitchFamily="34" charset="0"/>
              </a:rPr>
              <a:t>&gt; I/O</a:t>
            </a:r>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中断</a:t>
            </a:r>
            <a:endParaRPr lang="en-US" altLang="zh-CN"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lvl="3" eaLnBrk="1" hangingPunct="1">
              <a:lnSpc>
                <a:spcPct val="130000"/>
              </a:lnSpc>
              <a:buFont typeface="Wingdings" panose="05000000000000000000" pitchFamily="2" charset="2"/>
              <a:buChar char="n"/>
            </a:pPr>
            <a:r>
              <a:rPr lang="en-US" altLang="zh-CN" b="1" dirty="0">
                <a:solidFill>
                  <a:srgbClr val="133984"/>
                </a:solidFill>
                <a:latin typeface="Calibri" panose="020F0502020204030204" pitchFamily="34" charset="0"/>
                <a:ea typeface="微软雅黑" panose="020B0503020204020204" pitchFamily="34" charset="-122"/>
                <a:cs typeface="Calibri" panose="020F0502020204030204" pitchFamily="34" charset="0"/>
              </a:rPr>
              <a:t>I/O</a:t>
            </a:r>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中断中：高速设备 </a:t>
            </a:r>
            <a:r>
              <a:rPr lang="en-US" altLang="zh-CN" b="1" dirty="0">
                <a:solidFill>
                  <a:srgbClr val="133984"/>
                </a:solidFill>
                <a:latin typeface="Calibri" panose="020F0502020204030204" pitchFamily="34" charset="0"/>
                <a:ea typeface="微软雅黑" panose="020B0503020204020204" pitchFamily="34" charset="-122"/>
                <a:cs typeface="Calibri" panose="020F0502020204030204" pitchFamily="34" charset="0"/>
              </a:rPr>
              <a:t>&gt; </a:t>
            </a:r>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低速设备，输入设备 </a:t>
            </a:r>
            <a:r>
              <a:rPr lang="en-US" altLang="zh-CN" b="1" dirty="0">
                <a:solidFill>
                  <a:srgbClr val="133984"/>
                </a:solidFill>
                <a:latin typeface="Calibri" panose="020F0502020204030204" pitchFamily="34" charset="0"/>
                <a:ea typeface="微软雅黑" panose="020B0503020204020204" pitchFamily="34" charset="-122"/>
                <a:cs typeface="Calibri" panose="020F0502020204030204" pitchFamily="34" charset="0"/>
              </a:rPr>
              <a:t>&gt; </a:t>
            </a:r>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输出设备，实时控制 </a:t>
            </a:r>
            <a:r>
              <a:rPr lang="en-US" altLang="zh-CN" b="1" dirty="0">
                <a:solidFill>
                  <a:srgbClr val="133984"/>
                </a:solidFill>
                <a:latin typeface="Calibri" panose="020F0502020204030204" pitchFamily="34" charset="0"/>
                <a:ea typeface="微软雅黑" panose="020B0503020204020204" pitchFamily="34" charset="-122"/>
                <a:cs typeface="Calibri" panose="020F0502020204030204" pitchFamily="34" charset="0"/>
              </a:rPr>
              <a:t>&gt; </a:t>
            </a:r>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普通设备</a:t>
            </a:r>
            <a:endParaRPr lang="en-US" altLang="zh-CN"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lvl="2" eaLnBrk="1" hangingPunct="1">
              <a:lnSpc>
                <a:spcPct val="130000"/>
              </a:lnSpc>
              <a:buFont typeface="Wingdings" panose="05000000000000000000" pitchFamily="2" charset="2"/>
              <a:buChar char="n"/>
            </a:pPr>
            <a:r>
              <a:rPr lang="zh-CN" altLang="en-US"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处理优先级：</a:t>
            </a:r>
            <a:r>
              <a:rPr lang="zh-CN" altLang="en-US"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指中断嵌套的</a:t>
            </a:r>
            <a:r>
              <a:rPr lang="zh-CN" altLang="en-US"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实际优先级处理</a:t>
            </a:r>
            <a:r>
              <a:rPr lang="zh-CN" altLang="en-US"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次序，通常可以利用中断屏蔽技术</a:t>
            </a:r>
            <a:r>
              <a:rPr lang="zh-CN" altLang="en-US"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动态调整</a:t>
            </a:r>
            <a:r>
              <a:rPr lang="zh-CN" altLang="en-US"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，从而使低优先级的中断也可以中断高优先级的中断服务程序。</a:t>
            </a:r>
            <a:endParaRPr lang="en-US" altLang="zh-CN" sz="2000" b="1" dirty="0">
              <a:solidFill>
                <a:srgbClr val="C00000"/>
              </a:solidFill>
              <a:highlight>
                <a:srgbClr val="FFFFFF"/>
              </a:highlight>
              <a:latin typeface="Calibri" panose="020F0502020204030204" pitchFamily="34" charset="0"/>
              <a:ea typeface="Calibri" panose="020F0502020204030204" pitchFamily="34" charset="0"/>
              <a:cs typeface="Calibri" panose="020F0502020204030204" pitchFamily="34" charset="0"/>
            </a:endParaRPr>
          </a:p>
          <a:p>
            <a:pPr lvl="2" eaLnBrk="1" hangingPunct="1">
              <a:lnSpc>
                <a:spcPct val="130000"/>
              </a:lnSpc>
              <a:buFont typeface="Wingdings" panose="05000000000000000000" pitchFamily="2" charset="2"/>
              <a:buChar char="n"/>
            </a:pPr>
            <a:r>
              <a:rPr lang="zh-CN" altLang="en-US"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如果不使用中断屏蔽技术，处理优先级与响应优先级相同</a:t>
            </a:r>
            <a:r>
              <a:rPr lang="zh-CN" altLang="en-US" sz="2000" b="1" dirty="0">
                <a:latin typeface="Calibri" panose="020F0502020204030204" pitchFamily="34" charset="0"/>
                <a:ea typeface="微软雅黑" panose="020B0503020204020204" pitchFamily="34" charset="-122"/>
                <a:cs typeface="Calibri" panose="020F0502020204030204" pitchFamily="34" charset="0"/>
              </a:rPr>
              <a:t>。</a:t>
            </a:r>
            <a:endParaRPr lang="en-US" altLang="zh-CN" sz="2000" b="1" dirty="0">
              <a:latin typeface="Calibri" panose="020F0502020204030204" pitchFamily="34" charset="0"/>
              <a:ea typeface="Calibri" panose="020F0502020204030204" pitchFamily="34" charset="0"/>
              <a:cs typeface="Calibri" panose="020F0502020204030204" pitchFamily="34" charset="0"/>
            </a:endParaRPr>
          </a:p>
          <a:p>
            <a:pPr lvl="2" eaLnBrk="1" hangingPunct="1">
              <a:lnSpc>
                <a:spcPct val="120000"/>
              </a:lnSpc>
            </a:pPr>
            <a:endParaRPr lang="en-US" altLang="zh-CN" sz="1400" b="1" dirty="0"/>
          </a:p>
          <a:p>
            <a:pPr marL="0" indent="0">
              <a:lnSpc>
                <a:spcPct val="120000"/>
              </a:lnSpc>
              <a:buNone/>
            </a:pPr>
            <a:endParaRPr lang="zh-CN" altLang="en-US" sz="3200" dirty="0"/>
          </a:p>
        </p:txBody>
      </p:sp>
    </p:spTree>
    <p:extLst>
      <p:ext uri="{BB962C8B-B14F-4D97-AF65-F5344CB8AC3E}">
        <p14:creationId xmlns:p14="http://schemas.microsoft.com/office/powerpoint/2010/main" val="3942629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16E072-8BA9-43B5-B0E9-5F34C88318D7}"/>
              </a:ext>
            </a:extLst>
          </p:cNvPr>
          <p:cNvSpPr>
            <a:spLocks noGrp="1"/>
          </p:cNvSpPr>
          <p:nvPr>
            <p:ph type="title"/>
          </p:nvPr>
        </p:nvSpPr>
        <p:spPr>
          <a:xfrm>
            <a:off x="304800" y="181147"/>
            <a:ext cx="11277600" cy="688975"/>
          </a:xfrm>
        </p:spPr>
        <p:txBody>
          <a:bodyPr/>
          <a:lstStyle/>
          <a:p>
            <a:r>
              <a:rPr lang="en-US" altLang="zh-CN" dirty="0">
                <a:latin typeface="Calibri" panose="020F0502020204030204" pitchFamily="34" charset="0"/>
                <a:ea typeface="Calibri" panose="020F0502020204030204" pitchFamily="34" charset="0"/>
                <a:cs typeface="Calibri" panose="020F0502020204030204" pitchFamily="34" charset="0"/>
              </a:rPr>
              <a:t>6.7 </a:t>
            </a:r>
            <a:r>
              <a:rPr lang="zh-CN" altLang="en-US" dirty="0">
                <a:latin typeface="Calibri" panose="020F0502020204030204" pitchFamily="34" charset="0"/>
                <a:ea typeface="微软雅黑" panose="020B0503020204020204" pitchFamily="34" charset="-122"/>
                <a:cs typeface="Calibri" panose="020F0502020204030204" pitchFamily="34" charset="0"/>
              </a:rPr>
              <a:t>异常与中断处理</a:t>
            </a:r>
            <a:endParaRPr lang="zh-CN" altLang="en-US" dirty="0"/>
          </a:p>
        </p:txBody>
      </p:sp>
      <p:sp>
        <p:nvSpPr>
          <p:cNvPr id="3" name="内容占位符 2">
            <a:extLst>
              <a:ext uri="{FF2B5EF4-FFF2-40B4-BE49-F238E27FC236}">
                <a16:creationId xmlns:a16="http://schemas.microsoft.com/office/drawing/2014/main" id="{15DD2D85-FF0C-4EF8-AE3D-03530E6CB383}"/>
              </a:ext>
            </a:extLst>
          </p:cNvPr>
          <p:cNvSpPr>
            <a:spLocks noGrp="1"/>
          </p:cNvSpPr>
          <p:nvPr>
            <p:ph idx="1"/>
          </p:nvPr>
        </p:nvSpPr>
        <p:spPr>
          <a:xfrm>
            <a:off x="457200" y="1024010"/>
            <a:ext cx="10972800" cy="2651175"/>
          </a:xfrm>
        </p:spPr>
        <p:txBody>
          <a:bodyPr/>
          <a:lstStyle/>
          <a:p>
            <a:pPr eaLnBrk="1" hangingPunct="1">
              <a:buFont typeface="Wingdings" panose="05000000000000000000" pitchFamily="2" charset="2"/>
              <a:buChar char="n"/>
            </a:pPr>
            <a:r>
              <a:rPr lang="zh-CN" altLang="en-US"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中断屏蔽技术</a:t>
            </a:r>
            <a:r>
              <a:rPr lang="zh-CN" altLang="en-US" sz="2000" b="1" dirty="0">
                <a:latin typeface="Calibri" panose="020F0502020204030204" pitchFamily="34" charset="0"/>
                <a:ea typeface="微软雅黑" panose="020B0503020204020204" pitchFamily="34" charset="-122"/>
                <a:cs typeface="Calibri" panose="020F0502020204030204" pitchFamily="34" charset="0"/>
              </a:rPr>
              <a:t>：在中断控制器中设置</a:t>
            </a:r>
            <a:r>
              <a:rPr lang="zh-CN" altLang="en-US"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中断屏蔽寄存器</a:t>
            </a:r>
            <a:r>
              <a:rPr lang="en-US" altLang="zh-CN" sz="2000" b="1" dirty="0">
                <a:latin typeface="Calibri" panose="020F0502020204030204" pitchFamily="34" charset="0"/>
                <a:ea typeface="Calibri" panose="020F0502020204030204" pitchFamily="34" charset="0"/>
                <a:cs typeface="Calibri" panose="020F0502020204030204" pitchFamily="34" charset="0"/>
              </a:rPr>
              <a:t>IMR</a:t>
            </a:r>
            <a:r>
              <a:rPr lang="zh-CN" altLang="en-US" sz="2000" b="1" dirty="0">
                <a:latin typeface="Calibri" panose="020F0502020204030204" pitchFamily="34" charset="0"/>
                <a:ea typeface="Calibri" panose="020F0502020204030204" pitchFamily="34" charset="0"/>
                <a:cs typeface="Calibri" panose="020F0502020204030204" pitchFamily="34" charset="0"/>
              </a:rPr>
              <a:t>，其</a:t>
            </a:r>
            <a:r>
              <a:rPr lang="zh-CN" altLang="en-US" sz="2000" b="1" dirty="0">
                <a:latin typeface="Calibri" panose="020F0502020204030204" pitchFamily="34" charset="0"/>
                <a:ea typeface="微软雅黑" panose="020B0503020204020204" pitchFamily="34" charset="-122"/>
                <a:cs typeface="Calibri" panose="020F0502020204030204" pitchFamily="34" charset="0"/>
              </a:rPr>
              <a:t>值称为</a:t>
            </a:r>
            <a:r>
              <a:rPr lang="zh-CN" altLang="en-US"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中断屏蔽字</a:t>
            </a:r>
            <a:r>
              <a:rPr lang="zh-CN" altLang="en-US" sz="2000" b="1" dirty="0">
                <a:latin typeface="Calibri" panose="020F0502020204030204" pitchFamily="34" charset="0"/>
                <a:ea typeface="微软雅黑" panose="020B0503020204020204" pitchFamily="34" charset="-122"/>
                <a:cs typeface="Calibri" panose="020F0502020204030204" pitchFamily="34" charset="0"/>
              </a:rPr>
              <a:t>。</a:t>
            </a:r>
            <a:endParaRPr lang="en-US" altLang="zh-CN" sz="2000" b="1" dirty="0">
              <a:latin typeface="Calibri" panose="020F0502020204030204" pitchFamily="34" charset="0"/>
              <a:ea typeface="Calibri" panose="020F0502020204030204" pitchFamily="34" charset="0"/>
              <a:cs typeface="Calibri" panose="020F0502020204030204" pitchFamily="34" charset="0"/>
            </a:endParaRPr>
          </a:p>
          <a:p>
            <a:pPr eaLnBrk="1" hangingPunct="1">
              <a:buFont typeface="Wingdings" panose="05000000000000000000" pitchFamily="2" charset="2"/>
              <a:buChar char="n"/>
            </a:pPr>
            <a:r>
              <a:rPr lang="zh-CN" altLang="en-US" sz="2000" b="1" dirty="0">
                <a:latin typeface="Calibri" panose="020F0502020204030204" pitchFamily="34" charset="0"/>
                <a:ea typeface="微软雅黑" panose="020B0503020204020204" pitchFamily="34" charset="-122"/>
                <a:cs typeface="Calibri" panose="020F0502020204030204" pitchFamily="34" charset="0"/>
              </a:rPr>
              <a:t>中断屏蔽字（如图</a:t>
            </a:r>
            <a:r>
              <a:rPr lang="en-US" altLang="zh-CN" sz="2000" b="1" dirty="0">
                <a:latin typeface="Calibri" panose="020F0502020204030204" pitchFamily="34" charset="0"/>
                <a:ea typeface="Calibri" panose="020F0502020204030204" pitchFamily="34" charset="0"/>
                <a:cs typeface="Calibri" panose="020F0502020204030204" pitchFamily="34" charset="0"/>
              </a:rPr>
              <a:t>6.7</a:t>
            </a:r>
            <a:r>
              <a:rPr lang="zh-CN" altLang="en-US" sz="2000" b="1" dirty="0">
                <a:latin typeface="Calibri" panose="020F0502020204030204" pitchFamily="34" charset="0"/>
                <a:ea typeface="Calibri" panose="020F0502020204030204" pitchFamily="34" charset="0"/>
                <a:cs typeface="Calibri" panose="020F0502020204030204" pitchFamily="34" charset="0"/>
              </a:rPr>
              <a:t>所示</a:t>
            </a:r>
            <a:r>
              <a:rPr lang="zh-CN" altLang="en-US" sz="2000" b="1" dirty="0">
                <a:latin typeface="Calibri" panose="020F0502020204030204" pitchFamily="34" charset="0"/>
                <a:ea typeface="微软雅黑" panose="020B0503020204020204" pitchFamily="34" charset="-122"/>
                <a:cs typeface="Calibri" panose="020F0502020204030204" pitchFamily="34" charset="0"/>
              </a:rPr>
              <a:t>）：</a:t>
            </a:r>
            <a:r>
              <a:rPr lang="en-US" altLang="zh-CN" sz="2000" b="1" dirty="0">
                <a:latin typeface="Calibri" panose="020F0502020204030204" pitchFamily="34" charset="0"/>
                <a:ea typeface="Calibri" panose="020F0502020204030204" pitchFamily="34" charset="0"/>
                <a:cs typeface="Calibri" panose="020F0502020204030204" pitchFamily="34" charset="0"/>
              </a:rPr>
              <a:t>8</a:t>
            </a:r>
            <a:r>
              <a:rPr lang="zh-CN" altLang="en-US" sz="2000" b="1" dirty="0">
                <a:latin typeface="Calibri" panose="020F0502020204030204" pitchFamily="34" charset="0"/>
                <a:ea typeface="微软雅黑" panose="020B0503020204020204" pitchFamily="34" charset="-122"/>
                <a:cs typeface="Calibri" panose="020F0502020204030204" pitchFamily="34" charset="0"/>
              </a:rPr>
              <a:t>个设备，其中</a:t>
            </a:r>
            <a:r>
              <a:rPr lang="en-US" altLang="zh-CN" sz="2000" b="1" dirty="0">
                <a:solidFill>
                  <a:srgbClr val="C00000"/>
                </a:solidFill>
                <a:latin typeface="Calibri" panose="020F0502020204030204" pitchFamily="34" charset="0"/>
                <a:ea typeface="Calibri" panose="020F0502020204030204" pitchFamily="34" charset="0"/>
                <a:cs typeface="Calibri" panose="020F0502020204030204" pitchFamily="34" charset="0"/>
              </a:rPr>
              <a:t>4</a:t>
            </a:r>
            <a:r>
              <a:rPr lang="zh-CN" altLang="en-US"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个被屏蔽</a:t>
            </a:r>
            <a:r>
              <a:rPr lang="zh-CN" altLang="en-US" sz="2000" b="1" dirty="0">
                <a:latin typeface="Calibri" panose="020F0502020204030204" pitchFamily="34" charset="0"/>
                <a:ea typeface="微软雅黑" panose="020B0503020204020204" pitchFamily="34" charset="-122"/>
                <a:cs typeface="Calibri" panose="020F0502020204030204" pitchFamily="34" charset="0"/>
              </a:rPr>
              <a:t>（</a:t>
            </a:r>
            <a:r>
              <a:rPr lang="en-US" altLang="zh-CN" sz="2000" b="1" dirty="0">
                <a:latin typeface="Calibri" panose="020F0502020204030204" pitchFamily="34" charset="0"/>
                <a:ea typeface="Calibri" panose="020F0502020204030204" pitchFamily="34" charset="0"/>
                <a:cs typeface="Calibri" panose="020F0502020204030204" pitchFamily="34" charset="0"/>
              </a:rPr>
              <a:t>A</a:t>
            </a:r>
            <a:r>
              <a:rPr lang="zh-CN" altLang="en-US" sz="2000" b="1" dirty="0">
                <a:latin typeface="Calibri" panose="020F0502020204030204" pitchFamily="34" charset="0"/>
                <a:ea typeface="微软雅黑" panose="020B0503020204020204" pitchFamily="34" charset="-122"/>
                <a:cs typeface="Calibri" panose="020F0502020204030204" pitchFamily="34" charset="0"/>
              </a:rPr>
              <a:t>、</a:t>
            </a:r>
            <a:r>
              <a:rPr lang="en-US" altLang="zh-CN" sz="2000" b="1" dirty="0">
                <a:latin typeface="Calibri" panose="020F0502020204030204" pitchFamily="34" charset="0"/>
                <a:ea typeface="Calibri" panose="020F0502020204030204" pitchFamily="34" charset="0"/>
                <a:cs typeface="Calibri" panose="020F0502020204030204" pitchFamily="34" charset="0"/>
              </a:rPr>
              <a:t>C</a:t>
            </a:r>
            <a:r>
              <a:rPr lang="zh-CN" altLang="en-US" sz="2000" b="1" dirty="0">
                <a:latin typeface="Calibri" panose="020F0502020204030204" pitchFamily="34" charset="0"/>
                <a:ea typeface="微软雅黑" panose="020B0503020204020204" pitchFamily="34" charset="-122"/>
                <a:cs typeface="Calibri" panose="020F0502020204030204" pitchFamily="34" charset="0"/>
              </a:rPr>
              <a:t>、</a:t>
            </a:r>
            <a:r>
              <a:rPr lang="en-US" altLang="zh-CN" sz="2000" b="1" dirty="0">
                <a:latin typeface="Calibri" panose="020F0502020204030204" pitchFamily="34" charset="0"/>
                <a:ea typeface="Calibri" panose="020F0502020204030204" pitchFamily="34" charset="0"/>
                <a:cs typeface="Calibri" panose="020F0502020204030204" pitchFamily="34" charset="0"/>
              </a:rPr>
              <a:t>D</a:t>
            </a:r>
            <a:r>
              <a:rPr lang="zh-CN" altLang="en-US" sz="2000" b="1" dirty="0">
                <a:latin typeface="Calibri" panose="020F0502020204030204" pitchFamily="34" charset="0"/>
                <a:ea typeface="微软雅黑" panose="020B0503020204020204" pitchFamily="34" charset="-122"/>
                <a:cs typeface="Calibri" panose="020F0502020204030204" pitchFamily="34" charset="0"/>
              </a:rPr>
              <a:t>、</a:t>
            </a:r>
            <a:r>
              <a:rPr lang="en-US" altLang="zh-CN" sz="2000" b="1" dirty="0">
                <a:latin typeface="Calibri" panose="020F0502020204030204" pitchFamily="34" charset="0"/>
                <a:ea typeface="Calibri" panose="020F0502020204030204" pitchFamily="34" charset="0"/>
                <a:cs typeface="Calibri" panose="020F0502020204030204" pitchFamily="34" charset="0"/>
              </a:rPr>
              <a:t>G</a:t>
            </a:r>
            <a:r>
              <a:rPr lang="zh-CN" altLang="en-US" sz="2000" b="1" dirty="0">
                <a:latin typeface="Calibri" panose="020F0502020204030204" pitchFamily="34" charset="0"/>
                <a:ea typeface="微软雅黑" panose="020B0503020204020204" pitchFamily="34" charset="-122"/>
                <a:cs typeface="Calibri" panose="020F0502020204030204" pitchFamily="34" charset="0"/>
              </a:rPr>
              <a:t>）。</a:t>
            </a:r>
            <a:endParaRPr lang="en-US" altLang="zh-CN" sz="2000" b="1" dirty="0">
              <a:latin typeface="Calibri" panose="020F0502020204030204" pitchFamily="34" charset="0"/>
              <a:ea typeface="Calibri" panose="020F0502020204030204" pitchFamily="34" charset="0"/>
              <a:cs typeface="Calibri" panose="020F0502020204030204" pitchFamily="34" charset="0"/>
            </a:endParaRPr>
          </a:p>
          <a:p>
            <a:pPr eaLnBrk="1" hangingPunct="1">
              <a:buFont typeface="Wingdings" panose="05000000000000000000" pitchFamily="2" charset="2"/>
              <a:buChar char="n"/>
            </a:pPr>
            <a:r>
              <a:rPr lang="zh-CN" altLang="en-US" sz="2000" b="1" dirty="0">
                <a:latin typeface="Calibri" panose="020F0502020204030204" pitchFamily="34" charset="0"/>
                <a:ea typeface="微软雅黑" panose="020B0503020204020204" pitchFamily="34" charset="-122"/>
                <a:cs typeface="Calibri" panose="020F0502020204030204" pitchFamily="34" charset="0"/>
              </a:rPr>
              <a:t>中断屏蔽技术原理（如图</a:t>
            </a:r>
            <a:r>
              <a:rPr lang="en-US" altLang="zh-CN" sz="2000" b="1" dirty="0">
                <a:latin typeface="Calibri" panose="020F0502020204030204" pitchFamily="34" charset="0"/>
                <a:ea typeface="Calibri" panose="020F0502020204030204" pitchFamily="34" charset="0"/>
                <a:cs typeface="Calibri" panose="020F0502020204030204" pitchFamily="34" charset="0"/>
              </a:rPr>
              <a:t>6.8</a:t>
            </a:r>
            <a:r>
              <a:rPr lang="zh-CN" altLang="en-US" sz="2000" b="1" dirty="0">
                <a:latin typeface="Calibri" panose="020F0502020204030204" pitchFamily="34" charset="0"/>
                <a:ea typeface="Calibri" panose="020F0502020204030204" pitchFamily="34" charset="0"/>
                <a:cs typeface="Calibri" panose="020F0502020204030204" pitchFamily="34" charset="0"/>
              </a:rPr>
              <a:t>所示</a:t>
            </a:r>
            <a:r>
              <a:rPr lang="zh-CN" altLang="en-US" sz="2000" b="1" dirty="0">
                <a:latin typeface="Calibri" panose="020F0502020204030204" pitchFamily="34" charset="0"/>
                <a:ea typeface="微软雅黑" panose="020B0503020204020204" pitchFamily="34" charset="-122"/>
                <a:cs typeface="Calibri" panose="020F0502020204030204" pitchFamily="34" charset="0"/>
              </a:rPr>
              <a:t>）</a:t>
            </a:r>
            <a:r>
              <a:rPr lang="zh-CN" altLang="en-US" sz="2200" b="1" dirty="0">
                <a:latin typeface="Calibri" panose="020F0502020204030204" pitchFamily="34" charset="0"/>
                <a:ea typeface="微软雅黑" panose="020B0503020204020204" pitchFamily="34" charset="-122"/>
                <a:cs typeface="Calibri" panose="020F0502020204030204" pitchFamily="34" charset="0"/>
              </a:rPr>
              <a:t>：</a:t>
            </a:r>
            <a:endParaRPr lang="en-US" altLang="zh-CN" sz="2200" b="1" dirty="0">
              <a:latin typeface="Calibri" panose="020F0502020204030204" pitchFamily="34" charset="0"/>
              <a:ea typeface="Calibri" panose="020F0502020204030204" pitchFamily="34" charset="0"/>
              <a:cs typeface="Calibri" panose="020F0502020204030204" pitchFamily="34" charset="0"/>
            </a:endParaRPr>
          </a:p>
          <a:p>
            <a:pPr marL="772795" lvl="1" eaLnBrk="1" hangingPunct="1">
              <a:buFont typeface="Wingdings" panose="05000000000000000000" pitchFamily="2" charset="2"/>
              <a:buChar char="n"/>
            </a:pP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假设</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4</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个设备的中断优先级是：</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IR0</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最高、</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IR3</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最低。</a:t>
            </a:r>
            <a:endPar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marL="772795" lvl="1" eaLnBrk="1" hangingPunct="1">
              <a:buFont typeface="Wingdings" panose="05000000000000000000" pitchFamily="2" charset="2"/>
              <a:buChar char="n"/>
            </a:pP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如果没有中断屏蔽技术，</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3</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个设备（</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IR1</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IR2</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IR3</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）同时发出中断请求，将</a:t>
            </a: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先处理</a:t>
            </a:r>
            <a:r>
              <a:rPr lang="en-US" altLang="zh-CN"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IR1</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的中断请求。</a:t>
            </a:r>
            <a:endPar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marL="772795" lvl="1" eaLnBrk="1" hangingPunct="1">
              <a:buFont typeface="Wingdings" panose="05000000000000000000" pitchFamily="2" charset="2"/>
              <a:buChar char="n"/>
            </a:pP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如果采用中断屏蔽技术，</a:t>
            </a: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中断屏蔽寄存器</a:t>
            </a:r>
            <a:r>
              <a:rPr lang="en-US" altLang="zh-CN"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IMR</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设置为“</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0 1 0 0</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”，即屏蔽</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IR1</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3</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个设备（</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IR1</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IR2</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IR3</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）同时发出中断请求，</a:t>
            </a: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将先处理</a:t>
            </a:r>
            <a:r>
              <a:rPr lang="en-US" altLang="zh-CN"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IR2</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的中断请求 （</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IR2&gt;IR3</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endPar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endParaRPr lang="zh-CN" altLang="en-US" sz="3600" dirty="0">
              <a:latin typeface="Calibri" panose="020F0502020204030204" pitchFamily="34" charset="0"/>
              <a:ea typeface="微软雅黑" panose="020B0503020204020204" pitchFamily="34" charset="-122"/>
              <a:cs typeface="Calibri" panose="020F0502020204030204" pitchFamily="34" charset="0"/>
            </a:endParaRPr>
          </a:p>
        </p:txBody>
      </p:sp>
      <p:grpSp>
        <p:nvGrpSpPr>
          <p:cNvPr id="4" name="组合 3">
            <a:extLst>
              <a:ext uri="{FF2B5EF4-FFF2-40B4-BE49-F238E27FC236}">
                <a16:creationId xmlns:a16="http://schemas.microsoft.com/office/drawing/2014/main" id="{90BAB3D8-8212-4336-A128-D95B8D40CB6D}"/>
              </a:ext>
            </a:extLst>
          </p:cNvPr>
          <p:cNvGrpSpPr/>
          <p:nvPr/>
        </p:nvGrpSpPr>
        <p:grpSpPr>
          <a:xfrm>
            <a:off x="1188908" y="4135759"/>
            <a:ext cx="4792636" cy="2070661"/>
            <a:chOff x="98681" y="4288296"/>
            <a:chExt cx="4792636" cy="2070661"/>
          </a:xfrm>
        </p:grpSpPr>
        <p:pic>
          <p:nvPicPr>
            <p:cNvPr id="5" name="图片 4">
              <a:extLst>
                <a:ext uri="{FF2B5EF4-FFF2-40B4-BE49-F238E27FC236}">
                  <a16:creationId xmlns:a16="http://schemas.microsoft.com/office/drawing/2014/main" id="{6BD2BB1A-0AD4-4640-B53C-7C1CB851004C}"/>
                </a:ext>
              </a:extLst>
            </p:cNvPr>
            <p:cNvPicPr>
              <a:picLocks noChangeAspect="1"/>
            </p:cNvPicPr>
            <p:nvPr/>
          </p:nvPicPr>
          <p:blipFill>
            <a:blip r:embed="rId3"/>
            <a:stretch>
              <a:fillRect/>
            </a:stretch>
          </p:blipFill>
          <p:spPr>
            <a:xfrm>
              <a:off x="98681" y="4288296"/>
              <a:ext cx="4792636" cy="1589947"/>
            </a:xfrm>
            <a:prstGeom prst="rect">
              <a:avLst/>
            </a:prstGeom>
          </p:spPr>
        </p:pic>
        <p:sp>
          <p:nvSpPr>
            <p:cNvPr id="6" name="文本框 5">
              <a:extLst>
                <a:ext uri="{FF2B5EF4-FFF2-40B4-BE49-F238E27FC236}">
                  <a16:creationId xmlns:a16="http://schemas.microsoft.com/office/drawing/2014/main" id="{E9760D85-A48C-4B59-8EA2-12ABF7736D50}"/>
                </a:ext>
              </a:extLst>
            </p:cNvPr>
            <p:cNvSpPr txBox="1"/>
            <p:nvPr/>
          </p:nvSpPr>
          <p:spPr>
            <a:xfrm>
              <a:off x="1619672" y="6051180"/>
              <a:ext cx="1572866" cy="307777"/>
            </a:xfrm>
            <a:prstGeom prst="rect">
              <a:avLst/>
            </a:prstGeom>
            <a:noFill/>
          </p:spPr>
          <p:txBody>
            <a:bodyPr wrap="none" rtlCol="0">
              <a:spAutoFit/>
            </a:bodyPr>
            <a:lstStyle/>
            <a:p>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图</a:t>
              </a:r>
              <a:r>
                <a:rPr lang="en-US" altLang="zh-CN" b="1" dirty="0">
                  <a:solidFill>
                    <a:srgbClr val="133984"/>
                  </a:solidFill>
                  <a:latin typeface="Calibri" panose="020F0502020204030204" pitchFamily="34" charset="0"/>
                  <a:ea typeface="微软雅黑" panose="020B0503020204020204" pitchFamily="34" charset="-122"/>
                  <a:cs typeface="Calibri" panose="020F0502020204030204" pitchFamily="34" charset="0"/>
                </a:rPr>
                <a:t>6.7  </a:t>
              </a:r>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中断屏蔽字</a:t>
              </a:r>
            </a:p>
          </p:txBody>
        </p:sp>
      </p:grpSp>
      <p:grpSp>
        <p:nvGrpSpPr>
          <p:cNvPr id="7" name="组合 6">
            <a:extLst>
              <a:ext uri="{FF2B5EF4-FFF2-40B4-BE49-F238E27FC236}">
                <a16:creationId xmlns:a16="http://schemas.microsoft.com/office/drawing/2014/main" id="{7C552407-A083-46B7-B762-EC78F7035BB3}"/>
              </a:ext>
            </a:extLst>
          </p:cNvPr>
          <p:cNvGrpSpPr/>
          <p:nvPr/>
        </p:nvGrpSpPr>
        <p:grpSpPr>
          <a:xfrm>
            <a:off x="6762113" y="4070416"/>
            <a:ext cx="4108762" cy="2439276"/>
            <a:chOff x="5183021" y="4298629"/>
            <a:chExt cx="3551082" cy="2202252"/>
          </a:xfrm>
        </p:grpSpPr>
        <p:pic>
          <p:nvPicPr>
            <p:cNvPr id="8" name="图片 7">
              <a:extLst>
                <a:ext uri="{FF2B5EF4-FFF2-40B4-BE49-F238E27FC236}">
                  <a16:creationId xmlns:a16="http://schemas.microsoft.com/office/drawing/2014/main" id="{34305588-AAF3-4B3D-A15F-CF5749D3B8B8}"/>
                </a:ext>
              </a:extLst>
            </p:cNvPr>
            <p:cNvPicPr>
              <a:picLocks noChangeAspect="1"/>
            </p:cNvPicPr>
            <p:nvPr/>
          </p:nvPicPr>
          <p:blipFill>
            <a:blip r:embed="rId4"/>
            <a:stretch>
              <a:fillRect/>
            </a:stretch>
          </p:blipFill>
          <p:spPr>
            <a:xfrm>
              <a:off x="5183021" y="4298629"/>
              <a:ext cx="3551082" cy="1866675"/>
            </a:xfrm>
            <a:prstGeom prst="rect">
              <a:avLst/>
            </a:prstGeom>
          </p:spPr>
        </p:pic>
        <p:sp>
          <p:nvSpPr>
            <p:cNvPr id="9" name="文本框 8">
              <a:extLst>
                <a:ext uri="{FF2B5EF4-FFF2-40B4-BE49-F238E27FC236}">
                  <a16:creationId xmlns:a16="http://schemas.microsoft.com/office/drawing/2014/main" id="{3157C325-03AA-404C-AC1A-DF3A58C7CFA3}"/>
                </a:ext>
              </a:extLst>
            </p:cNvPr>
            <p:cNvSpPr txBox="1"/>
            <p:nvPr/>
          </p:nvSpPr>
          <p:spPr>
            <a:xfrm>
              <a:off x="5947060" y="6223011"/>
              <a:ext cx="1790251" cy="277870"/>
            </a:xfrm>
            <a:prstGeom prst="rect">
              <a:avLst/>
            </a:prstGeom>
            <a:noFill/>
          </p:spPr>
          <p:txBody>
            <a:bodyPr wrap="none" rtlCol="0">
              <a:spAutoFit/>
            </a:bodyPr>
            <a:lstStyle/>
            <a:p>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图</a:t>
              </a:r>
              <a:r>
                <a:rPr lang="en-US" altLang="zh-CN" b="1" dirty="0">
                  <a:solidFill>
                    <a:srgbClr val="133984"/>
                  </a:solidFill>
                  <a:latin typeface="Calibri" panose="020F0502020204030204" pitchFamily="34" charset="0"/>
                  <a:ea typeface="微软雅黑" panose="020B0503020204020204" pitchFamily="34" charset="-122"/>
                  <a:cs typeface="Calibri" panose="020F0502020204030204" pitchFamily="34" charset="0"/>
                </a:rPr>
                <a:t>6.8 </a:t>
              </a:r>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中断屏蔽技术原理</a:t>
              </a:r>
            </a:p>
          </p:txBody>
        </p:sp>
      </p:grpSp>
      <p:sp>
        <p:nvSpPr>
          <p:cNvPr id="10" name="文本框 9">
            <a:extLst>
              <a:ext uri="{FF2B5EF4-FFF2-40B4-BE49-F238E27FC236}">
                <a16:creationId xmlns:a16="http://schemas.microsoft.com/office/drawing/2014/main" id="{2B9D31C0-F951-4C05-9AFE-2E31B7BB254E}"/>
              </a:ext>
            </a:extLst>
          </p:cNvPr>
          <p:cNvSpPr txBox="1"/>
          <p:nvPr/>
        </p:nvSpPr>
        <p:spPr>
          <a:xfrm>
            <a:off x="2600196" y="3916527"/>
            <a:ext cx="2429163" cy="307777"/>
          </a:xfrm>
          <a:prstGeom prst="rect">
            <a:avLst/>
          </a:prstGeom>
          <a:solidFill>
            <a:schemeClr val="bg1"/>
          </a:solidFill>
        </p:spPr>
        <p:txBody>
          <a:bodyPr wrap="square" rtlCol="0">
            <a:spAutoFit/>
          </a:bodyPr>
          <a:lstStyle/>
          <a:p>
            <a:r>
              <a:rPr lang="en-US" altLang="zh-CN" b="1" dirty="0">
                <a:solidFill>
                  <a:srgbClr val="C00000"/>
                </a:solidFill>
                <a:latin typeface="Calibri" panose="020F0502020204030204" pitchFamily="34" charset="0"/>
                <a:ea typeface="微软雅黑" panose="020B0503020204020204" pitchFamily="34" charset="-122"/>
                <a:cs typeface="Calibri" panose="020F0502020204030204" pitchFamily="34" charset="0"/>
              </a:rPr>
              <a:t>IMR</a:t>
            </a:r>
            <a:r>
              <a:rPr lang="zh-CN" altLang="en-US" b="1" dirty="0">
                <a:solidFill>
                  <a:srgbClr val="C00000"/>
                </a:solidFill>
                <a:latin typeface="Calibri" panose="020F0502020204030204" pitchFamily="34" charset="0"/>
                <a:ea typeface="微软雅黑" panose="020B0503020204020204" pitchFamily="34" charset="-122"/>
                <a:cs typeface="Calibri" panose="020F0502020204030204" pitchFamily="34" charset="0"/>
              </a:rPr>
              <a:t>（中断屏蔽寄存器）</a:t>
            </a:r>
          </a:p>
        </p:txBody>
      </p:sp>
      <p:sp>
        <p:nvSpPr>
          <p:cNvPr id="11" name="矩形 10">
            <a:extLst>
              <a:ext uri="{FF2B5EF4-FFF2-40B4-BE49-F238E27FC236}">
                <a16:creationId xmlns:a16="http://schemas.microsoft.com/office/drawing/2014/main" id="{E9BE59C8-CB7D-41B3-B641-607F3747AE53}"/>
              </a:ext>
            </a:extLst>
          </p:cNvPr>
          <p:cNvSpPr/>
          <p:nvPr/>
        </p:nvSpPr>
        <p:spPr bwMode="auto">
          <a:xfrm>
            <a:off x="2238470" y="4373341"/>
            <a:ext cx="464502" cy="2840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b="1" dirty="0">
                <a:solidFill>
                  <a:srgbClr val="C00000"/>
                </a:solidFill>
              </a:rPr>
              <a:t>1</a:t>
            </a:r>
            <a:endParaRPr lang="zh-CN" altLang="en-US" sz="1100" b="1" dirty="0">
              <a:solidFill>
                <a:srgbClr val="C00000"/>
              </a:solidFill>
            </a:endParaRPr>
          </a:p>
        </p:txBody>
      </p:sp>
      <p:sp>
        <p:nvSpPr>
          <p:cNvPr id="12" name="矩形 11">
            <a:extLst>
              <a:ext uri="{FF2B5EF4-FFF2-40B4-BE49-F238E27FC236}">
                <a16:creationId xmlns:a16="http://schemas.microsoft.com/office/drawing/2014/main" id="{648F3652-EE39-4C6E-A255-E3E9A3D0F032}"/>
              </a:ext>
            </a:extLst>
          </p:cNvPr>
          <p:cNvSpPr/>
          <p:nvPr/>
        </p:nvSpPr>
        <p:spPr bwMode="auto">
          <a:xfrm>
            <a:off x="3553474" y="4391190"/>
            <a:ext cx="464502" cy="2840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b="1" dirty="0">
                <a:solidFill>
                  <a:srgbClr val="C00000"/>
                </a:solidFill>
              </a:rPr>
              <a:t>1</a:t>
            </a:r>
            <a:endParaRPr lang="zh-CN" altLang="en-US" sz="1100" b="1" dirty="0">
              <a:solidFill>
                <a:srgbClr val="C00000"/>
              </a:solidFill>
            </a:endParaRPr>
          </a:p>
        </p:txBody>
      </p:sp>
      <p:sp>
        <p:nvSpPr>
          <p:cNvPr id="13" name="矩形 12">
            <a:extLst>
              <a:ext uri="{FF2B5EF4-FFF2-40B4-BE49-F238E27FC236}">
                <a16:creationId xmlns:a16="http://schemas.microsoft.com/office/drawing/2014/main" id="{FDB20A7C-D63A-425B-B4CD-90EAD0B44F00}"/>
              </a:ext>
            </a:extLst>
          </p:cNvPr>
          <p:cNvSpPr/>
          <p:nvPr/>
        </p:nvSpPr>
        <p:spPr bwMode="auto">
          <a:xfrm>
            <a:off x="4015184" y="4390055"/>
            <a:ext cx="464502" cy="2840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b="1" dirty="0">
                <a:solidFill>
                  <a:srgbClr val="C00000"/>
                </a:solidFill>
              </a:rPr>
              <a:t>1</a:t>
            </a:r>
            <a:endParaRPr lang="zh-CN" altLang="en-US" sz="1100" b="1" dirty="0">
              <a:solidFill>
                <a:srgbClr val="C00000"/>
              </a:solidFill>
            </a:endParaRPr>
          </a:p>
        </p:txBody>
      </p:sp>
      <p:sp>
        <p:nvSpPr>
          <p:cNvPr id="14" name="矩形 13">
            <a:extLst>
              <a:ext uri="{FF2B5EF4-FFF2-40B4-BE49-F238E27FC236}">
                <a16:creationId xmlns:a16="http://schemas.microsoft.com/office/drawing/2014/main" id="{6D0B0710-E5D1-4211-B8D4-0FEAD02A23B4}"/>
              </a:ext>
            </a:extLst>
          </p:cNvPr>
          <p:cNvSpPr/>
          <p:nvPr/>
        </p:nvSpPr>
        <p:spPr bwMode="auto">
          <a:xfrm>
            <a:off x="4825686" y="4381515"/>
            <a:ext cx="464502" cy="2840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b="1" dirty="0">
                <a:solidFill>
                  <a:srgbClr val="C00000"/>
                </a:solidFill>
              </a:rPr>
              <a:t>1</a:t>
            </a:r>
            <a:endParaRPr lang="zh-CN" altLang="en-US" sz="1100" b="1" dirty="0">
              <a:solidFill>
                <a:srgbClr val="C00000"/>
              </a:solidFill>
            </a:endParaRPr>
          </a:p>
        </p:txBody>
      </p:sp>
    </p:spTree>
    <p:extLst>
      <p:ext uri="{BB962C8B-B14F-4D97-AF65-F5344CB8AC3E}">
        <p14:creationId xmlns:p14="http://schemas.microsoft.com/office/powerpoint/2010/main" val="26196282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F0842A-1E5F-4CA4-8089-ABFF4732AFA0}"/>
              </a:ext>
            </a:extLst>
          </p:cNvPr>
          <p:cNvSpPr>
            <a:spLocks noGrp="1"/>
          </p:cNvSpPr>
          <p:nvPr>
            <p:ph type="title"/>
          </p:nvPr>
        </p:nvSpPr>
        <p:spPr>
          <a:xfrm>
            <a:off x="526473" y="241589"/>
            <a:ext cx="11277600" cy="688975"/>
          </a:xfrm>
        </p:spPr>
        <p:txBody>
          <a:bodyPr/>
          <a:lstStyle/>
          <a:p>
            <a:r>
              <a:rPr lang="en-US" altLang="zh-CN" dirty="0">
                <a:latin typeface="微软雅黑" panose="020B0503020204020204" pitchFamily="34" charset="-122"/>
                <a:ea typeface="微软雅黑" panose="020B0503020204020204" pitchFamily="34" charset="-122"/>
              </a:rPr>
              <a:t>6.7 </a:t>
            </a:r>
            <a:r>
              <a:rPr lang="zh-CN" altLang="en-US" dirty="0">
                <a:latin typeface="微软雅黑" panose="020B0503020204020204" pitchFamily="34" charset="-122"/>
                <a:ea typeface="微软雅黑" panose="020B0503020204020204" pitchFamily="34" charset="-122"/>
              </a:rPr>
              <a:t>异常与中断处理</a:t>
            </a:r>
          </a:p>
        </p:txBody>
      </p:sp>
      <p:sp>
        <p:nvSpPr>
          <p:cNvPr id="3" name="内容占位符 2">
            <a:extLst>
              <a:ext uri="{FF2B5EF4-FFF2-40B4-BE49-F238E27FC236}">
                <a16:creationId xmlns:a16="http://schemas.microsoft.com/office/drawing/2014/main" id="{C4153954-7870-46E9-98D0-4407F1B07B0D}"/>
              </a:ext>
            </a:extLst>
          </p:cNvPr>
          <p:cNvSpPr>
            <a:spLocks noGrp="1"/>
          </p:cNvSpPr>
          <p:nvPr>
            <p:ph idx="1"/>
          </p:nvPr>
        </p:nvSpPr>
        <p:spPr>
          <a:xfrm>
            <a:off x="424873" y="1154109"/>
            <a:ext cx="10972800" cy="1099455"/>
          </a:xfrm>
        </p:spPr>
        <p:txBody>
          <a:bodyPr/>
          <a:lstStyle/>
          <a:p>
            <a:r>
              <a:rPr lang="zh-CN" altLang="en-US" sz="2000" b="1" dirty="0">
                <a:latin typeface="Calibri" panose="020F0502020204030204" pitchFamily="34" charset="0"/>
                <a:ea typeface="微软雅黑" panose="020B0503020204020204" pitchFamily="34" charset="-122"/>
                <a:cs typeface="Calibri" panose="020F0502020204030204" pitchFamily="34" charset="0"/>
              </a:rPr>
              <a:t>例题</a:t>
            </a:r>
            <a:r>
              <a:rPr lang="en-US" altLang="zh-CN" sz="2000" b="1" dirty="0">
                <a:latin typeface="Calibri" panose="020F0502020204030204" pitchFamily="34" charset="0"/>
                <a:ea typeface="Calibri" panose="020F0502020204030204" pitchFamily="34" charset="0"/>
                <a:cs typeface="Calibri" panose="020F0502020204030204" pitchFamily="34" charset="0"/>
              </a:rPr>
              <a:t>6.1:  </a:t>
            </a:r>
            <a:r>
              <a:rPr lang="zh-CN" altLang="en-US" sz="2000" b="1" dirty="0">
                <a:latin typeface="Calibri" panose="020F0502020204030204" pitchFamily="34" charset="0"/>
                <a:ea typeface="微软雅黑" panose="020B0503020204020204" pitchFamily="34" charset="-122"/>
                <a:cs typeface="Calibri" panose="020F0502020204030204" pitchFamily="34" charset="0"/>
              </a:rPr>
              <a:t>某计算机系统有</a:t>
            </a:r>
            <a:r>
              <a:rPr lang="en-US" altLang="zh-CN" sz="2000" b="1" dirty="0">
                <a:latin typeface="Calibri" panose="020F0502020204030204" pitchFamily="34" charset="0"/>
                <a:ea typeface="Calibri" panose="020F0502020204030204" pitchFamily="34" charset="0"/>
                <a:cs typeface="Calibri" panose="020F0502020204030204" pitchFamily="34" charset="0"/>
              </a:rPr>
              <a:t>A</a:t>
            </a:r>
            <a:r>
              <a:rPr lang="zh-CN" altLang="en-US" sz="2000" b="1" dirty="0">
                <a:latin typeface="Calibri" panose="020F0502020204030204" pitchFamily="34" charset="0"/>
                <a:ea typeface="微软雅黑" panose="020B0503020204020204" pitchFamily="34" charset="-122"/>
                <a:cs typeface="Calibri" panose="020F0502020204030204" pitchFamily="34" charset="0"/>
              </a:rPr>
              <a:t>、</a:t>
            </a:r>
            <a:r>
              <a:rPr lang="en-US" altLang="zh-CN" sz="2000" b="1" dirty="0">
                <a:latin typeface="Calibri" panose="020F0502020204030204" pitchFamily="34" charset="0"/>
                <a:ea typeface="Calibri" panose="020F0502020204030204" pitchFamily="34" charset="0"/>
                <a:cs typeface="Calibri" panose="020F0502020204030204" pitchFamily="34" charset="0"/>
              </a:rPr>
              <a:t>B</a:t>
            </a:r>
            <a:r>
              <a:rPr lang="zh-CN" altLang="en-US" sz="2000" b="1" dirty="0">
                <a:latin typeface="Calibri" panose="020F0502020204030204" pitchFamily="34" charset="0"/>
                <a:ea typeface="微软雅黑" panose="020B0503020204020204" pitchFamily="34" charset="-122"/>
                <a:cs typeface="Calibri" panose="020F0502020204030204" pitchFamily="34" charset="0"/>
              </a:rPr>
              <a:t>、</a:t>
            </a:r>
            <a:r>
              <a:rPr lang="en-US" altLang="zh-CN" sz="2000" b="1" dirty="0">
                <a:latin typeface="Calibri" panose="020F0502020204030204" pitchFamily="34" charset="0"/>
                <a:ea typeface="Calibri" panose="020F0502020204030204" pitchFamily="34" charset="0"/>
                <a:cs typeface="Calibri" panose="020F0502020204030204" pitchFamily="34" charset="0"/>
              </a:rPr>
              <a:t>C</a:t>
            </a:r>
            <a:r>
              <a:rPr lang="zh-CN" altLang="en-US" sz="2000" b="1" dirty="0">
                <a:latin typeface="Calibri" panose="020F0502020204030204" pitchFamily="34" charset="0"/>
                <a:ea typeface="微软雅黑" panose="020B0503020204020204" pitchFamily="34" charset="-122"/>
                <a:cs typeface="Calibri" panose="020F0502020204030204" pitchFamily="34" charset="0"/>
              </a:rPr>
              <a:t>三个外部中断源，中断优先级排队电路中的</a:t>
            </a:r>
            <a:r>
              <a:rPr lang="zh-CN" altLang="en-US" sz="2000" b="1" dirty="0">
                <a:highlight>
                  <a:srgbClr val="FFFF00"/>
                </a:highlight>
                <a:latin typeface="Calibri" panose="020F0502020204030204" pitchFamily="34" charset="0"/>
                <a:ea typeface="微软雅黑" panose="020B0503020204020204" pitchFamily="34" charset="-122"/>
                <a:cs typeface="Calibri" panose="020F0502020204030204" pitchFamily="34" charset="0"/>
              </a:rPr>
              <a:t>响应优先级</a:t>
            </a:r>
            <a:r>
              <a:rPr lang="zh-CN" altLang="en-US" sz="2000" b="1" dirty="0">
                <a:latin typeface="Calibri" panose="020F0502020204030204" pitchFamily="34" charset="0"/>
                <a:ea typeface="微软雅黑" panose="020B0503020204020204" pitchFamily="34" charset="-122"/>
                <a:cs typeface="Calibri" panose="020F0502020204030204" pitchFamily="34" charset="0"/>
              </a:rPr>
              <a:t>次序为：</a:t>
            </a:r>
            <a:r>
              <a:rPr lang="en-US" altLang="zh-CN" sz="2000" b="1" dirty="0">
                <a:latin typeface="Calibri" panose="020F0502020204030204" pitchFamily="34" charset="0"/>
                <a:ea typeface="Calibri" panose="020F0502020204030204" pitchFamily="34" charset="0"/>
                <a:cs typeface="Calibri" panose="020F0502020204030204" pitchFamily="34" charset="0"/>
              </a:rPr>
              <a:t>A &gt; B &gt; C</a:t>
            </a:r>
            <a:r>
              <a:rPr lang="zh-CN" altLang="en-US" sz="2000" b="1" dirty="0">
                <a:latin typeface="Calibri" panose="020F0502020204030204" pitchFamily="34" charset="0"/>
                <a:ea typeface="微软雅黑" panose="020B0503020204020204" pitchFamily="34" charset="-122"/>
                <a:cs typeface="Calibri" panose="020F0502020204030204" pitchFamily="34" charset="0"/>
              </a:rPr>
              <a:t>，支持多重嵌套中断。假设</a:t>
            </a:r>
            <a:r>
              <a:rPr lang="en-US" altLang="zh-CN" sz="2000" b="1" dirty="0">
                <a:latin typeface="Calibri" panose="020F0502020204030204" pitchFamily="34" charset="0"/>
                <a:ea typeface="Calibri" panose="020F0502020204030204" pitchFamily="34" charset="0"/>
                <a:cs typeface="Calibri" panose="020F0502020204030204" pitchFamily="34" charset="0"/>
              </a:rPr>
              <a:t>CPU</a:t>
            </a:r>
            <a:r>
              <a:rPr lang="zh-CN" altLang="en-US" sz="2000" b="1" dirty="0">
                <a:latin typeface="Calibri" panose="020F0502020204030204" pitchFamily="34" charset="0"/>
                <a:ea typeface="微软雅黑" panose="020B0503020204020204" pitchFamily="34" charset="-122"/>
                <a:cs typeface="Calibri" panose="020F0502020204030204" pitchFamily="34" charset="0"/>
              </a:rPr>
              <a:t>在执行主程序时</a:t>
            </a:r>
            <a:r>
              <a:rPr lang="en-US" altLang="zh-CN" sz="2000" b="1" dirty="0">
                <a:latin typeface="Calibri" panose="020F0502020204030204" pitchFamily="34" charset="0"/>
                <a:ea typeface="Calibri" panose="020F0502020204030204" pitchFamily="34" charset="0"/>
                <a:cs typeface="Calibri" panose="020F0502020204030204" pitchFamily="34" charset="0"/>
              </a:rPr>
              <a:t>A</a:t>
            </a:r>
            <a:r>
              <a:rPr lang="zh-CN" altLang="en-US" sz="2000" b="1" dirty="0">
                <a:latin typeface="Calibri" panose="020F0502020204030204" pitchFamily="34" charset="0"/>
                <a:ea typeface="微软雅黑" panose="020B0503020204020204" pitchFamily="34" charset="-122"/>
                <a:cs typeface="Calibri" panose="020F0502020204030204" pitchFamily="34" charset="0"/>
              </a:rPr>
              <a:t>、</a:t>
            </a:r>
            <a:r>
              <a:rPr lang="en-US" altLang="zh-CN" sz="2000" b="1" dirty="0">
                <a:latin typeface="Calibri" panose="020F0502020204030204" pitchFamily="34" charset="0"/>
                <a:ea typeface="Calibri" panose="020F0502020204030204" pitchFamily="34" charset="0"/>
                <a:cs typeface="Calibri" panose="020F0502020204030204" pitchFamily="34" charset="0"/>
              </a:rPr>
              <a:t>B</a:t>
            </a:r>
            <a:r>
              <a:rPr lang="zh-CN" altLang="en-US" sz="2000" b="1" dirty="0">
                <a:latin typeface="Calibri" panose="020F0502020204030204" pitchFamily="34" charset="0"/>
                <a:ea typeface="微软雅黑" panose="020B0503020204020204" pitchFamily="34" charset="-122"/>
                <a:cs typeface="Calibri" panose="020F0502020204030204" pitchFamily="34" charset="0"/>
              </a:rPr>
              <a:t>、</a:t>
            </a:r>
            <a:r>
              <a:rPr lang="en-US" altLang="zh-CN" sz="2000" b="1" dirty="0">
                <a:latin typeface="Calibri" panose="020F0502020204030204" pitchFamily="34" charset="0"/>
                <a:ea typeface="Calibri" panose="020F0502020204030204" pitchFamily="34" charset="0"/>
                <a:cs typeface="Calibri" panose="020F0502020204030204" pitchFamily="34" charset="0"/>
              </a:rPr>
              <a:t>C</a:t>
            </a:r>
            <a:r>
              <a:rPr lang="zh-CN" altLang="en-US" sz="2000" b="1" dirty="0">
                <a:latin typeface="Calibri" panose="020F0502020204030204" pitchFamily="34" charset="0"/>
                <a:ea typeface="微软雅黑" panose="020B0503020204020204" pitchFamily="34" charset="-122"/>
                <a:cs typeface="Calibri" panose="020F0502020204030204" pitchFamily="34" charset="0"/>
              </a:rPr>
              <a:t>三个设备的中断请求在同一时刻产生，请分别给出表</a:t>
            </a:r>
            <a:r>
              <a:rPr lang="en-US" altLang="zh-CN" sz="2000" b="1" dirty="0">
                <a:latin typeface="Calibri" panose="020F0502020204030204" pitchFamily="34" charset="0"/>
                <a:ea typeface="Calibri" panose="020F0502020204030204" pitchFamily="34" charset="0"/>
                <a:cs typeface="Calibri" panose="020F0502020204030204" pitchFamily="34" charset="0"/>
              </a:rPr>
              <a:t>6.1</a:t>
            </a:r>
            <a:r>
              <a:rPr lang="zh-CN" altLang="en-US" sz="2000" b="1" dirty="0">
                <a:latin typeface="Calibri" panose="020F0502020204030204" pitchFamily="34" charset="0"/>
                <a:ea typeface="微软雅黑" panose="020B0503020204020204" pitchFamily="34" charset="-122"/>
                <a:cs typeface="Calibri" panose="020F0502020204030204" pitchFamily="34" charset="0"/>
              </a:rPr>
              <a:t>所示的</a:t>
            </a:r>
            <a:r>
              <a:rPr lang="zh-CN" altLang="en-US" sz="2000" b="1" dirty="0">
                <a:highlight>
                  <a:srgbClr val="FFFF00"/>
                </a:highlight>
                <a:latin typeface="Calibri" panose="020F0502020204030204" pitchFamily="34" charset="0"/>
                <a:ea typeface="微软雅黑" panose="020B0503020204020204" pitchFamily="34" charset="-122"/>
                <a:cs typeface="Calibri" panose="020F0502020204030204" pitchFamily="34" charset="0"/>
              </a:rPr>
              <a:t>左右两种屏蔽字</a:t>
            </a:r>
            <a:r>
              <a:rPr lang="zh-CN" altLang="en-US" sz="2000" b="1" dirty="0">
                <a:latin typeface="Calibri" panose="020F0502020204030204" pitchFamily="34" charset="0"/>
                <a:ea typeface="微软雅黑" panose="020B0503020204020204" pitchFamily="34" charset="-122"/>
                <a:cs typeface="Calibri" panose="020F0502020204030204" pitchFamily="34" charset="0"/>
              </a:rPr>
              <a:t>的情况下，</a:t>
            </a:r>
            <a:r>
              <a:rPr lang="en-US" altLang="zh-CN" sz="2000" b="1" dirty="0">
                <a:latin typeface="Calibri" panose="020F0502020204030204" pitchFamily="34" charset="0"/>
                <a:ea typeface="Calibri" panose="020F0502020204030204" pitchFamily="34" charset="0"/>
                <a:cs typeface="Calibri" panose="020F0502020204030204" pitchFamily="34" charset="0"/>
              </a:rPr>
              <a:t>CPU</a:t>
            </a:r>
            <a:r>
              <a:rPr lang="zh-CN" altLang="en-US" sz="2000" b="1" dirty="0">
                <a:latin typeface="Calibri" panose="020F0502020204030204" pitchFamily="34" charset="0"/>
                <a:ea typeface="微软雅黑" panose="020B0503020204020204" pitchFamily="34" charset="-122"/>
                <a:cs typeface="Calibri" panose="020F0502020204030204" pitchFamily="34" charset="0"/>
              </a:rPr>
              <a:t>运行的轨迹图。</a:t>
            </a:r>
            <a:endParaRPr lang="en-US" altLang="zh-CN" sz="2000" b="1" dirty="0">
              <a:latin typeface="Calibri" panose="020F0502020204030204" pitchFamily="34" charset="0"/>
              <a:ea typeface="Calibri" panose="020F0502020204030204" pitchFamily="34" charset="0"/>
              <a:cs typeface="Calibri" panose="020F0502020204030204" pitchFamily="34" charset="0"/>
            </a:endParaRPr>
          </a:p>
          <a:p>
            <a:endParaRPr lang="zh-CN" altLang="en-US" sz="2000" dirty="0">
              <a:latin typeface="Calibri" panose="020F0502020204030204" pitchFamily="34" charset="0"/>
              <a:ea typeface="微软雅黑" panose="020B0503020204020204" pitchFamily="34" charset="-122"/>
              <a:cs typeface="Calibri" panose="020F0502020204030204" pitchFamily="34" charset="0"/>
            </a:endParaRPr>
          </a:p>
        </p:txBody>
      </p:sp>
      <p:graphicFrame>
        <p:nvGraphicFramePr>
          <p:cNvPr id="4" name="表格 4">
            <a:extLst>
              <a:ext uri="{FF2B5EF4-FFF2-40B4-BE49-F238E27FC236}">
                <a16:creationId xmlns:a16="http://schemas.microsoft.com/office/drawing/2014/main" id="{FB8D6161-8AD1-4F5D-A5AC-AAF5A7DFEADE}"/>
              </a:ext>
            </a:extLst>
          </p:cNvPr>
          <p:cNvGraphicFramePr>
            <a:graphicFrameLocks noGrp="1"/>
          </p:cNvGraphicFramePr>
          <p:nvPr>
            <p:extLst>
              <p:ext uri="{D42A27DB-BD31-4B8C-83A1-F6EECF244321}">
                <p14:modId xmlns:p14="http://schemas.microsoft.com/office/powerpoint/2010/main" val="398744068"/>
              </p:ext>
            </p:extLst>
          </p:nvPr>
        </p:nvGraphicFramePr>
        <p:xfrm>
          <a:off x="2934637" y="2755287"/>
          <a:ext cx="2872508" cy="1562225"/>
        </p:xfrm>
        <a:graphic>
          <a:graphicData uri="http://schemas.openxmlformats.org/drawingml/2006/table">
            <a:tbl>
              <a:tblPr firstRow="1" bandRow="1">
                <a:tableStyleId>{21E4AEA4-8DFA-4A89-87EB-49C32662AFE0}</a:tableStyleId>
              </a:tblPr>
              <a:tblGrid>
                <a:gridCol w="718127">
                  <a:extLst>
                    <a:ext uri="{9D8B030D-6E8A-4147-A177-3AD203B41FA5}">
                      <a16:colId xmlns:a16="http://schemas.microsoft.com/office/drawing/2014/main" val="1206414134"/>
                    </a:ext>
                  </a:extLst>
                </a:gridCol>
                <a:gridCol w="718127">
                  <a:extLst>
                    <a:ext uri="{9D8B030D-6E8A-4147-A177-3AD203B41FA5}">
                      <a16:colId xmlns:a16="http://schemas.microsoft.com/office/drawing/2014/main" val="3709275138"/>
                    </a:ext>
                  </a:extLst>
                </a:gridCol>
                <a:gridCol w="718127">
                  <a:extLst>
                    <a:ext uri="{9D8B030D-6E8A-4147-A177-3AD203B41FA5}">
                      <a16:colId xmlns:a16="http://schemas.microsoft.com/office/drawing/2014/main" val="2840372308"/>
                    </a:ext>
                  </a:extLst>
                </a:gridCol>
                <a:gridCol w="718127">
                  <a:extLst>
                    <a:ext uri="{9D8B030D-6E8A-4147-A177-3AD203B41FA5}">
                      <a16:colId xmlns:a16="http://schemas.microsoft.com/office/drawing/2014/main" val="747365125"/>
                    </a:ext>
                  </a:extLst>
                </a:gridCol>
              </a:tblGrid>
              <a:tr h="296334">
                <a:tc rowSpan="2">
                  <a:txBody>
                    <a:bodyPr/>
                    <a:lstStyle/>
                    <a:p>
                      <a:r>
                        <a:rPr lang="zh-CN" altLang="en-US" sz="1200" b="1" dirty="0"/>
                        <a:t>设备名</a:t>
                      </a:r>
                    </a:p>
                  </a:txBody>
                  <a:tcPr anchor="ctr" anchorCtr="1"/>
                </a:tc>
                <a:tc gridSpan="3">
                  <a:txBody>
                    <a:bodyPr/>
                    <a:lstStyle/>
                    <a:p>
                      <a:r>
                        <a:rPr lang="zh-CN" altLang="en-US" sz="1200" b="1" dirty="0"/>
                        <a:t>原始屏蔽字</a:t>
                      </a:r>
                    </a:p>
                  </a:txBody>
                  <a:tcPr anchor="ctr" anchorCtr="1"/>
                </a:tc>
                <a:tc hMerge="1">
                  <a:txBody>
                    <a:bodyPr/>
                    <a:lstStyle/>
                    <a:p>
                      <a:endParaRPr lang="zh-CN" altLang="en-US" dirty="0"/>
                    </a:p>
                  </a:txBody>
                  <a:tcPr/>
                </a:tc>
                <a:tc hMerge="1">
                  <a:txBody>
                    <a:bodyPr/>
                    <a:lstStyle/>
                    <a:p>
                      <a:endParaRPr lang="zh-CN" altLang="en-US" dirty="0"/>
                    </a:p>
                  </a:txBody>
                  <a:tcPr/>
                </a:tc>
                <a:extLst>
                  <a:ext uri="{0D108BD9-81ED-4DB2-BD59-A6C34878D82A}">
                    <a16:rowId xmlns:a16="http://schemas.microsoft.com/office/drawing/2014/main" val="1952133820"/>
                  </a:ext>
                </a:extLst>
              </a:tr>
              <a:tr h="296334">
                <a:tc vMerge="1">
                  <a:txBody>
                    <a:bodyPr/>
                    <a:lstStyle/>
                    <a:p>
                      <a:endParaRPr lang="zh-CN" altLang="en-US" dirty="0"/>
                    </a:p>
                  </a:txBody>
                  <a:tcPr/>
                </a:tc>
                <a:tc>
                  <a:txBody>
                    <a:bodyPr/>
                    <a:lstStyle/>
                    <a:p>
                      <a:r>
                        <a:rPr lang="en-US" altLang="zh-CN" sz="1200" b="1" dirty="0"/>
                        <a:t>A</a:t>
                      </a:r>
                      <a:endParaRPr lang="zh-CN" altLang="en-US" sz="1200" b="1" dirty="0"/>
                    </a:p>
                  </a:txBody>
                  <a:tcPr anchor="ctr" anchorCtr="1"/>
                </a:tc>
                <a:tc>
                  <a:txBody>
                    <a:bodyPr/>
                    <a:lstStyle/>
                    <a:p>
                      <a:r>
                        <a:rPr lang="en-US" altLang="zh-CN" sz="1200" b="1" dirty="0"/>
                        <a:t>B</a:t>
                      </a:r>
                      <a:endParaRPr lang="zh-CN" altLang="en-US" sz="1200" b="1" dirty="0"/>
                    </a:p>
                  </a:txBody>
                  <a:tcPr anchor="ctr" anchorCtr="1"/>
                </a:tc>
                <a:tc>
                  <a:txBody>
                    <a:bodyPr/>
                    <a:lstStyle/>
                    <a:p>
                      <a:r>
                        <a:rPr lang="en-US" altLang="zh-CN" sz="1200" b="1" dirty="0"/>
                        <a:t>C</a:t>
                      </a:r>
                      <a:endParaRPr lang="zh-CN" altLang="en-US" sz="1200" b="1" dirty="0"/>
                    </a:p>
                  </a:txBody>
                  <a:tcPr anchor="ctr" anchorCtr="1"/>
                </a:tc>
                <a:extLst>
                  <a:ext uri="{0D108BD9-81ED-4DB2-BD59-A6C34878D82A}">
                    <a16:rowId xmlns:a16="http://schemas.microsoft.com/office/drawing/2014/main" val="2140523231"/>
                  </a:ext>
                </a:extLst>
              </a:tr>
              <a:tr h="376889">
                <a:tc>
                  <a:txBody>
                    <a:bodyPr/>
                    <a:lstStyle/>
                    <a:p>
                      <a:r>
                        <a:rPr lang="en-US" altLang="zh-CN" sz="1200" b="1" dirty="0"/>
                        <a:t>A</a:t>
                      </a:r>
                      <a:endParaRPr lang="zh-CN" altLang="en-US" sz="1200" b="1" dirty="0"/>
                    </a:p>
                  </a:txBody>
                  <a:tcPr anchor="ctr" anchorCtr="1"/>
                </a:tc>
                <a:tc>
                  <a:txBody>
                    <a:bodyPr/>
                    <a:lstStyle/>
                    <a:p>
                      <a:r>
                        <a:rPr lang="en-US" altLang="zh-CN" sz="1200" b="1" dirty="0"/>
                        <a:t>1</a:t>
                      </a:r>
                      <a:endParaRPr lang="zh-CN" altLang="en-US" sz="1200" b="1" dirty="0"/>
                    </a:p>
                  </a:txBody>
                  <a:tcPr anchor="ctr" anchorCtr="1"/>
                </a:tc>
                <a:tc>
                  <a:txBody>
                    <a:bodyPr/>
                    <a:lstStyle/>
                    <a:p>
                      <a:r>
                        <a:rPr lang="en-US" altLang="zh-CN" sz="1200" b="1" dirty="0"/>
                        <a:t>1</a:t>
                      </a:r>
                      <a:endParaRPr lang="zh-CN" altLang="en-US" sz="1200" b="1" dirty="0"/>
                    </a:p>
                  </a:txBody>
                  <a:tcPr anchor="ctr" anchorCtr="1"/>
                </a:tc>
                <a:tc>
                  <a:txBody>
                    <a:bodyPr/>
                    <a:lstStyle/>
                    <a:p>
                      <a:r>
                        <a:rPr lang="en-US" altLang="zh-CN" sz="1200" b="1" dirty="0"/>
                        <a:t>1</a:t>
                      </a:r>
                      <a:endParaRPr lang="zh-CN" altLang="en-US" sz="1200" b="1" dirty="0"/>
                    </a:p>
                  </a:txBody>
                  <a:tcPr anchor="ctr" anchorCtr="1"/>
                </a:tc>
                <a:extLst>
                  <a:ext uri="{0D108BD9-81ED-4DB2-BD59-A6C34878D82A}">
                    <a16:rowId xmlns:a16="http://schemas.microsoft.com/office/drawing/2014/main" val="1334078814"/>
                  </a:ext>
                </a:extLst>
              </a:tr>
              <a:tr h="296334">
                <a:tc>
                  <a:txBody>
                    <a:bodyPr/>
                    <a:lstStyle/>
                    <a:p>
                      <a:r>
                        <a:rPr lang="en-US" altLang="zh-CN" sz="1200" b="1" dirty="0"/>
                        <a:t>B</a:t>
                      </a:r>
                      <a:endParaRPr lang="zh-CN" altLang="en-US" sz="1200" b="1" dirty="0"/>
                    </a:p>
                  </a:txBody>
                  <a:tcPr anchor="ctr" anchorCtr="1"/>
                </a:tc>
                <a:tc>
                  <a:txBody>
                    <a:bodyPr/>
                    <a:lstStyle/>
                    <a:p>
                      <a:r>
                        <a:rPr lang="en-US" altLang="zh-CN" sz="1200" b="1" dirty="0"/>
                        <a:t>0</a:t>
                      </a:r>
                      <a:endParaRPr lang="zh-CN" altLang="en-US" sz="1200" b="1" dirty="0"/>
                    </a:p>
                  </a:txBody>
                  <a:tcPr anchor="ctr" anchorCtr="1"/>
                </a:tc>
                <a:tc>
                  <a:txBody>
                    <a:bodyPr/>
                    <a:lstStyle/>
                    <a:p>
                      <a:r>
                        <a:rPr lang="en-US" altLang="zh-CN" sz="1200" b="1" dirty="0"/>
                        <a:t>1</a:t>
                      </a:r>
                      <a:endParaRPr lang="zh-CN" altLang="en-US" sz="1200" b="1" dirty="0"/>
                    </a:p>
                  </a:txBody>
                  <a:tcPr anchor="ctr" anchorCtr="1"/>
                </a:tc>
                <a:tc>
                  <a:txBody>
                    <a:bodyPr/>
                    <a:lstStyle/>
                    <a:p>
                      <a:r>
                        <a:rPr lang="en-US" altLang="zh-CN" sz="1200" b="1" dirty="0"/>
                        <a:t>1</a:t>
                      </a:r>
                      <a:endParaRPr lang="zh-CN" altLang="en-US" sz="1200" b="1" dirty="0"/>
                    </a:p>
                  </a:txBody>
                  <a:tcPr anchor="ctr" anchorCtr="1"/>
                </a:tc>
                <a:extLst>
                  <a:ext uri="{0D108BD9-81ED-4DB2-BD59-A6C34878D82A}">
                    <a16:rowId xmlns:a16="http://schemas.microsoft.com/office/drawing/2014/main" val="2405017089"/>
                  </a:ext>
                </a:extLst>
              </a:tr>
              <a:tr h="296334">
                <a:tc>
                  <a:txBody>
                    <a:bodyPr/>
                    <a:lstStyle/>
                    <a:p>
                      <a:r>
                        <a:rPr lang="en-US" altLang="zh-CN" sz="1200" b="1" dirty="0"/>
                        <a:t>C</a:t>
                      </a:r>
                      <a:endParaRPr lang="zh-CN" altLang="en-US" sz="1200" b="1" dirty="0"/>
                    </a:p>
                  </a:txBody>
                  <a:tcPr anchor="ctr" anchorCtr="1"/>
                </a:tc>
                <a:tc>
                  <a:txBody>
                    <a:bodyPr/>
                    <a:lstStyle/>
                    <a:p>
                      <a:r>
                        <a:rPr lang="en-US" altLang="zh-CN" sz="1200" b="1" dirty="0"/>
                        <a:t>0</a:t>
                      </a:r>
                      <a:endParaRPr lang="zh-CN" altLang="en-US" sz="1200" b="1" dirty="0"/>
                    </a:p>
                  </a:txBody>
                  <a:tcPr anchor="ctr" anchorCtr="1"/>
                </a:tc>
                <a:tc>
                  <a:txBody>
                    <a:bodyPr/>
                    <a:lstStyle/>
                    <a:p>
                      <a:r>
                        <a:rPr lang="en-US" altLang="zh-CN" sz="1200" b="1" dirty="0"/>
                        <a:t>0</a:t>
                      </a:r>
                      <a:endParaRPr lang="zh-CN" altLang="en-US" sz="1200" b="1" dirty="0"/>
                    </a:p>
                  </a:txBody>
                  <a:tcPr anchor="ctr" anchorCtr="1"/>
                </a:tc>
                <a:tc>
                  <a:txBody>
                    <a:bodyPr/>
                    <a:lstStyle/>
                    <a:p>
                      <a:r>
                        <a:rPr lang="en-US" altLang="zh-CN" sz="1200" b="1" dirty="0"/>
                        <a:t>1</a:t>
                      </a:r>
                      <a:endParaRPr lang="zh-CN" altLang="en-US" sz="1200" b="1" dirty="0"/>
                    </a:p>
                  </a:txBody>
                  <a:tcPr anchor="ctr" anchorCtr="1"/>
                </a:tc>
                <a:extLst>
                  <a:ext uri="{0D108BD9-81ED-4DB2-BD59-A6C34878D82A}">
                    <a16:rowId xmlns:a16="http://schemas.microsoft.com/office/drawing/2014/main" val="1036071032"/>
                  </a:ext>
                </a:extLst>
              </a:tr>
            </a:tbl>
          </a:graphicData>
        </a:graphic>
      </p:graphicFrame>
      <p:graphicFrame>
        <p:nvGraphicFramePr>
          <p:cNvPr id="5" name="表格 4">
            <a:extLst>
              <a:ext uri="{FF2B5EF4-FFF2-40B4-BE49-F238E27FC236}">
                <a16:creationId xmlns:a16="http://schemas.microsoft.com/office/drawing/2014/main" id="{A6C14FDF-F644-44DF-BFC8-F90B3A70EB70}"/>
              </a:ext>
            </a:extLst>
          </p:cNvPr>
          <p:cNvGraphicFramePr>
            <a:graphicFrameLocks noGrp="1"/>
          </p:cNvGraphicFramePr>
          <p:nvPr>
            <p:extLst>
              <p:ext uri="{D42A27DB-BD31-4B8C-83A1-F6EECF244321}">
                <p14:modId xmlns:p14="http://schemas.microsoft.com/office/powerpoint/2010/main" val="1034226462"/>
              </p:ext>
            </p:extLst>
          </p:nvPr>
        </p:nvGraphicFramePr>
        <p:xfrm>
          <a:off x="6550911" y="2775318"/>
          <a:ext cx="2872508" cy="1562705"/>
        </p:xfrm>
        <a:graphic>
          <a:graphicData uri="http://schemas.openxmlformats.org/drawingml/2006/table">
            <a:tbl>
              <a:tblPr firstRow="1" bandRow="1">
                <a:tableStyleId>{21E4AEA4-8DFA-4A89-87EB-49C32662AFE0}</a:tableStyleId>
              </a:tblPr>
              <a:tblGrid>
                <a:gridCol w="718127">
                  <a:extLst>
                    <a:ext uri="{9D8B030D-6E8A-4147-A177-3AD203B41FA5}">
                      <a16:colId xmlns:a16="http://schemas.microsoft.com/office/drawing/2014/main" val="1206414134"/>
                    </a:ext>
                  </a:extLst>
                </a:gridCol>
                <a:gridCol w="718127">
                  <a:extLst>
                    <a:ext uri="{9D8B030D-6E8A-4147-A177-3AD203B41FA5}">
                      <a16:colId xmlns:a16="http://schemas.microsoft.com/office/drawing/2014/main" val="3709275138"/>
                    </a:ext>
                  </a:extLst>
                </a:gridCol>
                <a:gridCol w="718127">
                  <a:extLst>
                    <a:ext uri="{9D8B030D-6E8A-4147-A177-3AD203B41FA5}">
                      <a16:colId xmlns:a16="http://schemas.microsoft.com/office/drawing/2014/main" val="2840372308"/>
                    </a:ext>
                  </a:extLst>
                </a:gridCol>
                <a:gridCol w="718127">
                  <a:extLst>
                    <a:ext uri="{9D8B030D-6E8A-4147-A177-3AD203B41FA5}">
                      <a16:colId xmlns:a16="http://schemas.microsoft.com/office/drawing/2014/main" val="747365125"/>
                    </a:ext>
                  </a:extLst>
                </a:gridCol>
              </a:tblGrid>
              <a:tr h="312541">
                <a:tc rowSpan="2">
                  <a:txBody>
                    <a:bodyPr/>
                    <a:lstStyle/>
                    <a:p>
                      <a:r>
                        <a:rPr lang="zh-CN" altLang="en-US" sz="1200" b="1" dirty="0"/>
                        <a:t>设备名</a:t>
                      </a:r>
                    </a:p>
                  </a:txBody>
                  <a:tcPr anchor="ctr" anchorCtr="1"/>
                </a:tc>
                <a:tc gridSpan="3">
                  <a:txBody>
                    <a:bodyPr/>
                    <a:lstStyle/>
                    <a:p>
                      <a:r>
                        <a:rPr lang="zh-CN" altLang="en-US" sz="1200" b="1" dirty="0"/>
                        <a:t>修改后的屏蔽字</a:t>
                      </a:r>
                    </a:p>
                  </a:txBody>
                  <a:tcPr anchor="ctr" anchorCtr="1"/>
                </a:tc>
                <a:tc hMerge="1">
                  <a:txBody>
                    <a:bodyPr/>
                    <a:lstStyle/>
                    <a:p>
                      <a:endParaRPr lang="zh-CN" altLang="en-US" dirty="0"/>
                    </a:p>
                  </a:txBody>
                  <a:tcPr/>
                </a:tc>
                <a:tc hMerge="1">
                  <a:txBody>
                    <a:bodyPr/>
                    <a:lstStyle/>
                    <a:p>
                      <a:endParaRPr lang="zh-CN" altLang="en-US" dirty="0"/>
                    </a:p>
                  </a:txBody>
                  <a:tcPr/>
                </a:tc>
                <a:extLst>
                  <a:ext uri="{0D108BD9-81ED-4DB2-BD59-A6C34878D82A}">
                    <a16:rowId xmlns:a16="http://schemas.microsoft.com/office/drawing/2014/main" val="1952133820"/>
                  </a:ext>
                </a:extLst>
              </a:tr>
              <a:tr h="312541">
                <a:tc vMerge="1">
                  <a:txBody>
                    <a:bodyPr/>
                    <a:lstStyle/>
                    <a:p>
                      <a:endParaRPr lang="zh-CN" altLang="en-US" dirty="0"/>
                    </a:p>
                  </a:txBody>
                  <a:tcPr/>
                </a:tc>
                <a:tc>
                  <a:txBody>
                    <a:bodyPr/>
                    <a:lstStyle/>
                    <a:p>
                      <a:r>
                        <a:rPr lang="en-US" altLang="zh-CN" sz="1200" b="1" dirty="0"/>
                        <a:t>A</a:t>
                      </a:r>
                      <a:endParaRPr lang="zh-CN" altLang="en-US" sz="1200" b="1" dirty="0"/>
                    </a:p>
                  </a:txBody>
                  <a:tcPr anchor="ctr" anchorCtr="1"/>
                </a:tc>
                <a:tc>
                  <a:txBody>
                    <a:bodyPr/>
                    <a:lstStyle/>
                    <a:p>
                      <a:r>
                        <a:rPr lang="en-US" altLang="zh-CN" sz="1200" b="1" dirty="0"/>
                        <a:t>B</a:t>
                      </a:r>
                      <a:endParaRPr lang="zh-CN" altLang="en-US" sz="1200" b="1" dirty="0"/>
                    </a:p>
                  </a:txBody>
                  <a:tcPr anchor="ctr" anchorCtr="1"/>
                </a:tc>
                <a:tc>
                  <a:txBody>
                    <a:bodyPr/>
                    <a:lstStyle/>
                    <a:p>
                      <a:r>
                        <a:rPr lang="en-US" altLang="zh-CN" sz="1200" b="1" dirty="0"/>
                        <a:t>C</a:t>
                      </a:r>
                      <a:endParaRPr lang="zh-CN" altLang="en-US" sz="1200" b="1" dirty="0"/>
                    </a:p>
                  </a:txBody>
                  <a:tcPr anchor="ctr" anchorCtr="1"/>
                </a:tc>
                <a:extLst>
                  <a:ext uri="{0D108BD9-81ED-4DB2-BD59-A6C34878D82A}">
                    <a16:rowId xmlns:a16="http://schemas.microsoft.com/office/drawing/2014/main" val="2140523231"/>
                  </a:ext>
                </a:extLst>
              </a:tr>
              <a:tr h="312541">
                <a:tc>
                  <a:txBody>
                    <a:bodyPr/>
                    <a:lstStyle/>
                    <a:p>
                      <a:r>
                        <a:rPr lang="en-US" altLang="zh-CN" sz="1200" b="1" dirty="0"/>
                        <a:t>A</a:t>
                      </a:r>
                      <a:endParaRPr lang="zh-CN" altLang="en-US" sz="1200" b="1" dirty="0"/>
                    </a:p>
                  </a:txBody>
                  <a:tcPr anchor="ctr" anchorCtr="1"/>
                </a:tc>
                <a:tc>
                  <a:txBody>
                    <a:bodyPr/>
                    <a:lstStyle/>
                    <a:p>
                      <a:r>
                        <a:rPr lang="en-US" altLang="zh-CN" sz="1200" b="1" dirty="0"/>
                        <a:t>1</a:t>
                      </a:r>
                      <a:endParaRPr lang="zh-CN" altLang="en-US" sz="1200" b="1" dirty="0"/>
                    </a:p>
                  </a:txBody>
                  <a:tcPr anchor="ctr" anchorCtr="1"/>
                </a:tc>
                <a:tc>
                  <a:txBody>
                    <a:bodyPr/>
                    <a:lstStyle/>
                    <a:p>
                      <a:r>
                        <a:rPr lang="en-US" altLang="zh-CN" sz="1200" b="1" dirty="0"/>
                        <a:t>0</a:t>
                      </a:r>
                      <a:endParaRPr lang="zh-CN" altLang="en-US" sz="1200" b="1" dirty="0"/>
                    </a:p>
                  </a:txBody>
                  <a:tcPr anchor="ctr" anchorCtr="1"/>
                </a:tc>
                <a:tc>
                  <a:txBody>
                    <a:bodyPr/>
                    <a:lstStyle/>
                    <a:p>
                      <a:r>
                        <a:rPr lang="en-US" altLang="zh-CN" sz="1200" b="1" dirty="0"/>
                        <a:t>0</a:t>
                      </a:r>
                      <a:endParaRPr lang="zh-CN" altLang="en-US" sz="1200" b="1" dirty="0"/>
                    </a:p>
                  </a:txBody>
                  <a:tcPr anchor="ctr" anchorCtr="1"/>
                </a:tc>
                <a:extLst>
                  <a:ext uri="{0D108BD9-81ED-4DB2-BD59-A6C34878D82A}">
                    <a16:rowId xmlns:a16="http://schemas.microsoft.com/office/drawing/2014/main" val="1334078814"/>
                  </a:ext>
                </a:extLst>
              </a:tr>
              <a:tr h="312541">
                <a:tc>
                  <a:txBody>
                    <a:bodyPr/>
                    <a:lstStyle/>
                    <a:p>
                      <a:r>
                        <a:rPr lang="en-US" altLang="zh-CN" sz="1200" b="1" dirty="0"/>
                        <a:t>B</a:t>
                      </a:r>
                      <a:endParaRPr lang="zh-CN" altLang="en-US" sz="1200" b="1" dirty="0"/>
                    </a:p>
                  </a:txBody>
                  <a:tcPr anchor="ctr" anchorCtr="1"/>
                </a:tc>
                <a:tc>
                  <a:txBody>
                    <a:bodyPr/>
                    <a:lstStyle/>
                    <a:p>
                      <a:r>
                        <a:rPr lang="en-US" altLang="zh-CN" sz="1200" b="1" dirty="0"/>
                        <a:t>1</a:t>
                      </a:r>
                      <a:endParaRPr lang="zh-CN" altLang="en-US" sz="1200" b="1" dirty="0"/>
                    </a:p>
                  </a:txBody>
                  <a:tcPr anchor="ctr" anchorCtr="1"/>
                </a:tc>
                <a:tc>
                  <a:txBody>
                    <a:bodyPr/>
                    <a:lstStyle/>
                    <a:p>
                      <a:r>
                        <a:rPr lang="en-US" altLang="zh-CN" sz="1200" b="1" dirty="0"/>
                        <a:t>1</a:t>
                      </a:r>
                      <a:endParaRPr lang="zh-CN" altLang="en-US" sz="1200" b="1" dirty="0"/>
                    </a:p>
                  </a:txBody>
                  <a:tcPr anchor="ctr" anchorCtr="1"/>
                </a:tc>
                <a:tc>
                  <a:txBody>
                    <a:bodyPr/>
                    <a:lstStyle/>
                    <a:p>
                      <a:r>
                        <a:rPr lang="en-US" altLang="zh-CN" sz="1200" b="1" dirty="0"/>
                        <a:t>0</a:t>
                      </a:r>
                      <a:endParaRPr lang="zh-CN" altLang="en-US" sz="1200" b="1" dirty="0"/>
                    </a:p>
                  </a:txBody>
                  <a:tcPr anchor="ctr" anchorCtr="1"/>
                </a:tc>
                <a:extLst>
                  <a:ext uri="{0D108BD9-81ED-4DB2-BD59-A6C34878D82A}">
                    <a16:rowId xmlns:a16="http://schemas.microsoft.com/office/drawing/2014/main" val="2405017089"/>
                  </a:ext>
                </a:extLst>
              </a:tr>
              <a:tr h="312541">
                <a:tc>
                  <a:txBody>
                    <a:bodyPr/>
                    <a:lstStyle/>
                    <a:p>
                      <a:r>
                        <a:rPr lang="en-US" altLang="zh-CN" sz="1200" b="1" dirty="0"/>
                        <a:t>C</a:t>
                      </a:r>
                      <a:endParaRPr lang="zh-CN" altLang="en-US" sz="1200" b="1" dirty="0"/>
                    </a:p>
                  </a:txBody>
                  <a:tcPr anchor="ctr" anchorCtr="1"/>
                </a:tc>
                <a:tc>
                  <a:txBody>
                    <a:bodyPr/>
                    <a:lstStyle/>
                    <a:p>
                      <a:r>
                        <a:rPr lang="en-US" altLang="zh-CN" sz="1200" b="1" dirty="0"/>
                        <a:t>1</a:t>
                      </a:r>
                      <a:endParaRPr lang="zh-CN" altLang="en-US" sz="1200" b="1" dirty="0"/>
                    </a:p>
                  </a:txBody>
                  <a:tcPr anchor="ctr" anchorCtr="1"/>
                </a:tc>
                <a:tc>
                  <a:txBody>
                    <a:bodyPr/>
                    <a:lstStyle/>
                    <a:p>
                      <a:r>
                        <a:rPr lang="en-US" altLang="zh-CN" sz="1200" b="1" dirty="0"/>
                        <a:t>1</a:t>
                      </a:r>
                      <a:endParaRPr lang="zh-CN" altLang="en-US" sz="1200" b="1" dirty="0"/>
                    </a:p>
                  </a:txBody>
                  <a:tcPr anchor="ctr" anchorCtr="1"/>
                </a:tc>
                <a:tc>
                  <a:txBody>
                    <a:bodyPr/>
                    <a:lstStyle/>
                    <a:p>
                      <a:r>
                        <a:rPr lang="en-US" altLang="zh-CN" sz="1200" b="1" dirty="0"/>
                        <a:t>1</a:t>
                      </a:r>
                      <a:endParaRPr lang="zh-CN" altLang="en-US" sz="1200" b="1" dirty="0"/>
                    </a:p>
                  </a:txBody>
                  <a:tcPr anchor="ctr" anchorCtr="1"/>
                </a:tc>
                <a:extLst>
                  <a:ext uri="{0D108BD9-81ED-4DB2-BD59-A6C34878D82A}">
                    <a16:rowId xmlns:a16="http://schemas.microsoft.com/office/drawing/2014/main" val="1036071032"/>
                  </a:ext>
                </a:extLst>
              </a:tr>
            </a:tbl>
          </a:graphicData>
        </a:graphic>
      </p:graphicFrame>
      <p:sp>
        <p:nvSpPr>
          <p:cNvPr id="6" name="文本框 5">
            <a:extLst>
              <a:ext uri="{FF2B5EF4-FFF2-40B4-BE49-F238E27FC236}">
                <a16:creationId xmlns:a16="http://schemas.microsoft.com/office/drawing/2014/main" id="{BA8E0278-66A4-408F-89BD-D27132AEDDCF}"/>
              </a:ext>
            </a:extLst>
          </p:cNvPr>
          <p:cNvSpPr txBox="1"/>
          <p:nvPr/>
        </p:nvSpPr>
        <p:spPr>
          <a:xfrm>
            <a:off x="4647946" y="2324462"/>
            <a:ext cx="2433680" cy="338554"/>
          </a:xfrm>
          <a:prstGeom prst="rect">
            <a:avLst/>
          </a:prstGeom>
          <a:noFill/>
        </p:spPr>
        <p:txBody>
          <a:bodyPr wrap="none" rtlCol="0">
            <a:spAutoFit/>
          </a:bodyPr>
          <a:lstStyle/>
          <a:p>
            <a:r>
              <a:rPr lang="zh-CN" altLang="en-US"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表</a:t>
            </a:r>
            <a:r>
              <a:rPr lang="en-US" altLang="zh-CN"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6.1   </a:t>
            </a:r>
            <a:r>
              <a:rPr lang="zh-CN" altLang="en-US"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各设备中断屏蔽字</a:t>
            </a:r>
          </a:p>
        </p:txBody>
      </p:sp>
      <p:sp>
        <p:nvSpPr>
          <p:cNvPr id="8" name="矩形 7">
            <a:extLst>
              <a:ext uri="{FF2B5EF4-FFF2-40B4-BE49-F238E27FC236}">
                <a16:creationId xmlns:a16="http://schemas.microsoft.com/office/drawing/2014/main" id="{436EA0F6-C205-4A14-BD3E-197D5C398CB5}"/>
              </a:ext>
            </a:extLst>
          </p:cNvPr>
          <p:cNvSpPr/>
          <p:nvPr/>
        </p:nvSpPr>
        <p:spPr>
          <a:xfrm>
            <a:off x="668784" y="4689034"/>
            <a:ext cx="6353449" cy="2062103"/>
          </a:xfrm>
          <a:prstGeom prst="rect">
            <a:avLst/>
          </a:prstGeom>
        </p:spPr>
        <p:txBody>
          <a:bodyPr wrap="square">
            <a:spAutoFit/>
          </a:bodyPr>
          <a:lstStyle/>
          <a:p>
            <a:r>
              <a:rPr lang="zh-CN" altLang="en-US"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解答：</a:t>
            </a:r>
            <a:endParaRPr lang="en-US" altLang="zh-CN"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endParaRPr>
          </a:p>
          <a:p>
            <a:pPr marL="742950" lvl="1" indent="-285750">
              <a:buFont typeface="Wingdings" panose="05000000000000000000" pitchFamily="2" charset="2"/>
              <a:buChar char="n"/>
            </a:pP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采用原始屏蔽字，其</a:t>
            </a: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处理优先级与响应优先级相同</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，即：</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 &gt; B &gt; C</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；相当于没有屏蔽；其</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CPU</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运行轨迹如图</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6.9a</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所示。</a:t>
            </a:r>
            <a:endPar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marL="742950" lvl="1" indent="-285750">
              <a:buFont typeface="Wingdings" panose="05000000000000000000" pitchFamily="2" charset="2"/>
              <a:buChar char="n"/>
            </a:pP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图中的</a:t>
            </a: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两个箭头表示</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CPU</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执行完中断服务程序后，返回到主程序执行完一条指令后，才能转去执行另一个中断服务程序。</a:t>
            </a:r>
            <a:endPar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p:txBody>
      </p:sp>
      <p:grpSp>
        <p:nvGrpSpPr>
          <p:cNvPr id="9" name="组合 8">
            <a:extLst>
              <a:ext uri="{FF2B5EF4-FFF2-40B4-BE49-F238E27FC236}">
                <a16:creationId xmlns:a16="http://schemas.microsoft.com/office/drawing/2014/main" id="{DCDE0A2F-E29B-43C4-B9EE-CB4A1A3E87E3}"/>
              </a:ext>
            </a:extLst>
          </p:cNvPr>
          <p:cNvGrpSpPr/>
          <p:nvPr/>
        </p:nvGrpSpPr>
        <p:grpSpPr>
          <a:xfrm>
            <a:off x="7528028" y="4604436"/>
            <a:ext cx="3476958" cy="2011975"/>
            <a:chOff x="2771800" y="4437112"/>
            <a:chExt cx="3476958" cy="2011975"/>
          </a:xfrm>
        </p:grpSpPr>
        <p:grpSp>
          <p:nvGrpSpPr>
            <p:cNvPr id="10" name="组合 9">
              <a:extLst>
                <a:ext uri="{FF2B5EF4-FFF2-40B4-BE49-F238E27FC236}">
                  <a16:creationId xmlns:a16="http://schemas.microsoft.com/office/drawing/2014/main" id="{26C046D1-8975-480B-9FEB-21128A9764E2}"/>
                </a:ext>
              </a:extLst>
            </p:cNvPr>
            <p:cNvGrpSpPr/>
            <p:nvPr/>
          </p:nvGrpSpPr>
          <p:grpSpPr>
            <a:xfrm>
              <a:off x="2771800" y="4437112"/>
              <a:ext cx="3476958" cy="1692188"/>
              <a:chOff x="2771800" y="4437112"/>
              <a:chExt cx="3476958" cy="1692188"/>
            </a:xfrm>
          </p:grpSpPr>
          <p:pic>
            <p:nvPicPr>
              <p:cNvPr id="12" name="图片 11">
                <a:extLst>
                  <a:ext uri="{FF2B5EF4-FFF2-40B4-BE49-F238E27FC236}">
                    <a16:creationId xmlns:a16="http://schemas.microsoft.com/office/drawing/2014/main" id="{585DD9C3-13E5-4EF1-9D1E-208111193E99}"/>
                  </a:ext>
                </a:extLst>
              </p:cNvPr>
              <p:cNvPicPr>
                <a:picLocks noChangeAspect="1"/>
              </p:cNvPicPr>
              <p:nvPr/>
            </p:nvPicPr>
            <p:blipFill>
              <a:blip r:embed="rId3"/>
              <a:stretch>
                <a:fillRect/>
              </a:stretch>
            </p:blipFill>
            <p:spPr>
              <a:xfrm>
                <a:off x="2771800" y="4437112"/>
                <a:ext cx="3476958" cy="1656184"/>
              </a:xfrm>
              <a:prstGeom prst="rect">
                <a:avLst/>
              </a:prstGeom>
            </p:spPr>
          </p:pic>
          <p:cxnSp>
            <p:nvCxnSpPr>
              <p:cNvPr id="13" name="直接箭头连接符 12">
                <a:extLst>
                  <a:ext uri="{FF2B5EF4-FFF2-40B4-BE49-F238E27FC236}">
                    <a16:creationId xmlns:a16="http://schemas.microsoft.com/office/drawing/2014/main" id="{89A9EA89-7250-41CD-BDD3-ACC5B8CDAE7E}"/>
                  </a:ext>
                </a:extLst>
              </p:cNvPr>
              <p:cNvCxnSpPr>
                <a:cxnSpLocks/>
              </p:cNvCxnSpPr>
              <p:nvPr/>
            </p:nvCxnSpPr>
            <p:spPr>
              <a:xfrm flipV="1">
                <a:off x="4266607" y="5949280"/>
                <a:ext cx="0" cy="18002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519FB890-D198-4F5C-9AA9-8078EEFF931E}"/>
                  </a:ext>
                </a:extLst>
              </p:cNvPr>
              <p:cNvCxnSpPr>
                <a:cxnSpLocks/>
              </p:cNvCxnSpPr>
              <p:nvPr/>
            </p:nvCxnSpPr>
            <p:spPr>
              <a:xfrm flipV="1">
                <a:off x="4894754" y="5949281"/>
                <a:ext cx="0" cy="18001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11" name="文本框 10">
              <a:extLst>
                <a:ext uri="{FF2B5EF4-FFF2-40B4-BE49-F238E27FC236}">
                  <a16:creationId xmlns:a16="http://schemas.microsoft.com/office/drawing/2014/main" id="{2E6A0EE1-C5F0-451B-A9E8-0D2E0048FE55}"/>
                </a:ext>
              </a:extLst>
            </p:cNvPr>
            <p:cNvSpPr txBox="1"/>
            <p:nvPr/>
          </p:nvSpPr>
          <p:spPr>
            <a:xfrm>
              <a:off x="3398130" y="6172088"/>
              <a:ext cx="2496196" cy="276999"/>
            </a:xfrm>
            <a:prstGeom prst="rect">
              <a:avLst/>
            </a:prstGeom>
            <a:noFill/>
          </p:spPr>
          <p:txBody>
            <a:bodyPr wrap="none" rtlCol="0">
              <a:spAutoFit/>
            </a:bodyPr>
            <a:lstStyle/>
            <a:p>
              <a:r>
                <a:rPr lang="zh-CN" altLang="en-US" sz="1200" b="1" dirty="0">
                  <a:solidFill>
                    <a:srgbClr val="C00000"/>
                  </a:solidFill>
                  <a:latin typeface="微软雅黑" panose="020B0503020204020204" pitchFamily="34" charset="-122"/>
                  <a:ea typeface="微软雅黑" panose="020B0503020204020204" pitchFamily="34" charset="-122"/>
                </a:rPr>
                <a:t>图</a:t>
              </a:r>
              <a:r>
                <a:rPr lang="en-US" altLang="zh-CN" sz="1200" b="1" dirty="0">
                  <a:solidFill>
                    <a:srgbClr val="C00000"/>
                  </a:solidFill>
                  <a:latin typeface="微软雅黑" panose="020B0503020204020204" pitchFamily="34" charset="-122"/>
                  <a:ea typeface="微软雅黑" panose="020B0503020204020204" pitchFamily="34" charset="-122"/>
                </a:rPr>
                <a:t>6.9a    </a:t>
              </a:r>
              <a:r>
                <a:rPr lang="zh-CN" altLang="en-US" sz="1200" b="1" dirty="0">
                  <a:solidFill>
                    <a:srgbClr val="C00000"/>
                  </a:solidFill>
                  <a:latin typeface="微软雅黑" panose="020B0503020204020204" pitchFamily="34" charset="-122"/>
                  <a:ea typeface="微软雅黑" panose="020B0503020204020204" pitchFamily="34" charset="-122"/>
                </a:rPr>
                <a:t>无屏蔽时</a:t>
              </a:r>
              <a:r>
                <a:rPr lang="en-US" altLang="zh-CN" sz="1200" b="1" dirty="0">
                  <a:solidFill>
                    <a:srgbClr val="C00000"/>
                  </a:solidFill>
                  <a:latin typeface="微软雅黑" panose="020B0503020204020204" pitchFamily="34" charset="-122"/>
                  <a:ea typeface="微软雅黑" panose="020B0503020204020204" pitchFamily="34" charset="-122"/>
                </a:rPr>
                <a:t>CPU</a:t>
              </a:r>
              <a:r>
                <a:rPr lang="zh-CN" altLang="en-US" sz="1200" b="1" dirty="0">
                  <a:solidFill>
                    <a:srgbClr val="C00000"/>
                  </a:solidFill>
                  <a:latin typeface="微软雅黑" panose="020B0503020204020204" pitchFamily="34" charset="-122"/>
                  <a:ea typeface="微软雅黑" panose="020B0503020204020204" pitchFamily="34" charset="-122"/>
                </a:rPr>
                <a:t>运行轨迹</a:t>
              </a:r>
            </a:p>
          </p:txBody>
        </p:sp>
      </p:grpSp>
    </p:spTree>
    <p:extLst>
      <p:ext uri="{BB962C8B-B14F-4D97-AF65-F5344CB8AC3E}">
        <p14:creationId xmlns:p14="http://schemas.microsoft.com/office/powerpoint/2010/main" val="18466882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a:extLst>
              <a:ext uri="{FF2B5EF4-FFF2-40B4-BE49-F238E27FC236}">
                <a16:creationId xmlns:a16="http://schemas.microsoft.com/office/drawing/2014/main" id="{F79F6DB3-4B8B-40DF-9B6F-4BD40AE31153}"/>
              </a:ext>
            </a:extLst>
          </p:cNvPr>
          <p:cNvGrpSpPr/>
          <p:nvPr/>
        </p:nvGrpSpPr>
        <p:grpSpPr>
          <a:xfrm>
            <a:off x="5387364" y="4051613"/>
            <a:ext cx="4025538" cy="2185684"/>
            <a:chOff x="2330783" y="4509120"/>
            <a:chExt cx="4025538" cy="2185684"/>
          </a:xfrm>
        </p:grpSpPr>
        <p:grpSp>
          <p:nvGrpSpPr>
            <p:cNvPr id="15" name="组合 14">
              <a:extLst>
                <a:ext uri="{FF2B5EF4-FFF2-40B4-BE49-F238E27FC236}">
                  <a16:creationId xmlns:a16="http://schemas.microsoft.com/office/drawing/2014/main" id="{5E97A007-4EC7-4A0A-8AFE-7D7D868C1901}"/>
                </a:ext>
              </a:extLst>
            </p:cNvPr>
            <p:cNvGrpSpPr/>
            <p:nvPr/>
          </p:nvGrpSpPr>
          <p:grpSpPr>
            <a:xfrm>
              <a:off x="2330783" y="4509120"/>
              <a:ext cx="4025538" cy="1849348"/>
              <a:chOff x="2330783" y="4642595"/>
              <a:chExt cx="4025538" cy="1849348"/>
            </a:xfrm>
          </p:grpSpPr>
          <p:pic>
            <p:nvPicPr>
              <p:cNvPr id="17" name="图片 16">
                <a:extLst>
                  <a:ext uri="{FF2B5EF4-FFF2-40B4-BE49-F238E27FC236}">
                    <a16:creationId xmlns:a16="http://schemas.microsoft.com/office/drawing/2014/main" id="{B3004ECD-3FAA-43B7-A724-B2BC339C7AC7}"/>
                  </a:ext>
                </a:extLst>
              </p:cNvPr>
              <p:cNvPicPr>
                <a:picLocks noChangeAspect="1"/>
              </p:cNvPicPr>
              <p:nvPr/>
            </p:nvPicPr>
            <p:blipFill>
              <a:blip r:embed="rId3"/>
              <a:stretch>
                <a:fillRect/>
              </a:stretch>
            </p:blipFill>
            <p:spPr>
              <a:xfrm>
                <a:off x="2330783" y="4642595"/>
                <a:ext cx="4025538" cy="1849348"/>
              </a:xfrm>
              <a:prstGeom prst="rect">
                <a:avLst/>
              </a:prstGeom>
            </p:spPr>
          </p:pic>
          <p:cxnSp>
            <p:nvCxnSpPr>
              <p:cNvPr id="18" name="直接箭头连接符 17">
                <a:extLst>
                  <a:ext uri="{FF2B5EF4-FFF2-40B4-BE49-F238E27FC236}">
                    <a16:creationId xmlns:a16="http://schemas.microsoft.com/office/drawing/2014/main" id="{1D474109-F2FA-4448-BE68-FE1EB21EBC4D}"/>
                  </a:ext>
                </a:extLst>
              </p:cNvPr>
              <p:cNvCxnSpPr>
                <a:cxnSpLocks/>
              </p:cNvCxnSpPr>
              <p:nvPr/>
            </p:nvCxnSpPr>
            <p:spPr>
              <a:xfrm>
                <a:off x="3376799" y="5491520"/>
                <a:ext cx="0" cy="36004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07DA4CC4-C414-4315-8E1D-C05A95385A63}"/>
                  </a:ext>
                </a:extLst>
              </p:cNvPr>
              <p:cNvCxnSpPr>
                <a:cxnSpLocks/>
              </p:cNvCxnSpPr>
              <p:nvPr/>
            </p:nvCxnSpPr>
            <p:spPr>
              <a:xfrm>
                <a:off x="3529199" y="4995815"/>
                <a:ext cx="0" cy="36004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16" name="文本框 15">
              <a:extLst>
                <a:ext uri="{FF2B5EF4-FFF2-40B4-BE49-F238E27FC236}">
                  <a16:creationId xmlns:a16="http://schemas.microsoft.com/office/drawing/2014/main" id="{2EF42273-56A8-4882-A095-11CD9C5830D3}"/>
                </a:ext>
              </a:extLst>
            </p:cNvPr>
            <p:cNvSpPr txBox="1"/>
            <p:nvPr/>
          </p:nvSpPr>
          <p:spPr>
            <a:xfrm>
              <a:off x="3090569" y="6417805"/>
              <a:ext cx="2664512" cy="276999"/>
            </a:xfrm>
            <a:prstGeom prst="rect">
              <a:avLst/>
            </a:prstGeom>
            <a:noFill/>
          </p:spPr>
          <p:txBody>
            <a:bodyPr wrap="none" rtlCol="0">
              <a:spAutoFit/>
            </a:bodyPr>
            <a:lstStyle/>
            <a:p>
              <a:r>
                <a:rPr lang="zh-CN" altLang="en-US" sz="1200" b="1" dirty="0">
                  <a:solidFill>
                    <a:srgbClr val="C00000"/>
                  </a:solidFill>
                  <a:latin typeface="微软雅黑" panose="020B0503020204020204" pitchFamily="34" charset="-122"/>
                  <a:ea typeface="微软雅黑" panose="020B0503020204020204" pitchFamily="34" charset="-122"/>
                </a:rPr>
                <a:t>图</a:t>
              </a:r>
              <a:r>
                <a:rPr lang="en-US" altLang="zh-CN" sz="1200" b="1" dirty="0">
                  <a:solidFill>
                    <a:srgbClr val="C00000"/>
                  </a:solidFill>
                  <a:latin typeface="微软雅黑" panose="020B0503020204020204" pitchFamily="34" charset="-122"/>
                  <a:ea typeface="微软雅黑" panose="020B0503020204020204" pitchFamily="34" charset="-122"/>
                </a:rPr>
                <a:t>6.9b    </a:t>
              </a:r>
              <a:r>
                <a:rPr lang="zh-CN" altLang="en-US" sz="1200" b="1" dirty="0">
                  <a:solidFill>
                    <a:srgbClr val="C00000"/>
                  </a:solidFill>
                  <a:latin typeface="微软雅黑" panose="020B0503020204020204" pitchFamily="34" charset="-122"/>
                  <a:ea typeface="微软雅黑" panose="020B0503020204020204" pitchFamily="34" charset="-122"/>
                </a:rPr>
                <a:t>中断屏蔽时</a:t>
              </a:r>
              <a:r>
                <a:rPr lang="en-US" altLang="zh-CN" sz="1200" b="1" dirty="0">
                  <a:solidFill>
                    <a:srgbClr val="C00000"/>
                  </a:solidFill>
                  <a:latin typeface="微软雅黑" panose="020B0503020204020204" pitchFamily="34" charset="-122"/>
                  <a:ea typeface="微软雅黑" panose="020B0503020204020204" pitchFamily="34" charset="-122"/>
                </a:rPr>
                <a:t>CPU</a:t>
              </a:r>
              <a:r>
                <a:rPr lang="zh-CN" altLang="en-US" sz="1200" b="1" dirty="0">
                  <a:solidFill>
                    <a:srgbClr val="C00000"/>
                  </a:solidFill>
                  <a:latin typeface="微软雅黑" panose="020B0503020204020204" pitchFamily="34" charset="-122"/>
                  <a:ea typeface="微软雅黑" panose="020B0503020204020204" pitchFamily="34" charset="-122"/>
                </a:rPr>
                <a:t>运行轨迹</a:t>
              </a:r>
            </a:p>
          </p:txBody>
        </p:sp>
      </p:grpSp>
      <p:sp>
        <p:nvSpPr>
          <p:cNvPr id="2" name="标题 1">
            <a:extLst>
              <a:ext uri="{FF2B5EF4-FFF2-40B4-BE49-F238E27FC236}">
                <a16:creationId xmlns:a16="http://schemas.microsoft.com/office/drawing/2014/main" id="{44F0842A-1E5F-4CA4-8089-ABFF4732AFA0}"/>
              </a:ext>
            </a:extLst>
          </p:cNvPr>
          <p:cNvSpPr>
            <a:spLocks noGrp="1"/>
          </p:cNvSpPr>
          <p:nvPr>
            <p:ph type="title"/>
          </p:nvPr>
        </p:nvSpPr>
        <p:spPr>
          <a:xfrm>
            <a:off x="526473" y="241589"/>
            <a:ext cx="11277600" cy="688975"/>
          </a:xfrm>
        </p:spPr>
        <p:txBody>
          <a:bodyPr/>
          <a:lstStyle/>
          <a:p>
            <a:r>
              <a:rPr lang="en-US" altLang="zh-CN" dirty="0">
                <a:latin typeface="微软雅黑" panose="020B0503020204020204" pitchFamily="34" charset="-122"/>
                <a:ea typeface="微软雅黑" panose="020B0503020204020204" pitchFamily="34" charset="-122"/>
              </a:rPr>
              <a:t>6.7 </a:t>
            </a:r>
            <a:r>
              <a:rPr lang="zh-CN" altLang="en-US" dirty="0">
                <a:latin typeface="微软雅黑" panose="020B0503020204020204" pitchFamily="34" charset="-122"/>
                <a:ea typeface="微软雅黑" panose="020B0503020204020204" pitchFamily="34" charset="-122"/>
              </a:rPr>
              <a:t>异常与中断处理</a:t>
            </a:r>
          </a:p>
        </p:txBody>
      </p:sp>
      <p:sp>
        <p:nvSpPr>
          <p:cNvPr id="3" name="内容占位符 2">
            <a:extLst>
              <a:ext uri="{FF2B5EF4-FFF2-40B4-BE49-F238E27FC236}">
                <a16:creationId xmlns:a16="http://schemas.microsoft.com/office/drawing/2014/main" id="{C4153954-7870-46E9-98D0-4407F1B07B0D}"/>
              </a:ext>
            </a:extLst>
          </p:cNvPr>
          <p:cNvSpPr>
            <a:spLocks noGrp="1"/>
          </p:cNvSpPr>
          <p:nvPr>
            <p:ph idx="1"/>
          </p:nvPr>
        </p:nvSpPr>
        <p:spPr>
          <a:xfrm>
            <a:off x="526473" y="1062298"/>
            <a:ext cx="10765923" cy="2230537"/>
          </a:xfrm>
        </p:spPr>
        <p:txBody>
          <a:bodyPr/>
          <a:lstStyle/>
          <a:p>
            <a:r>
              <a:rPr lang="zh-CN" altLang="en-US" sz="2400" b="1" dirty="0">
                <a:latin typeface="Calibri" panose="020F0502020204030204" pitchFamily="34" charset="0"/>
                <a:ea typeface="微软雅黑" panose="020B0503020204020204" pitchFamily="34" charset="-122"/>
                <a:cs typeface="Calibri" panose="020F0502020204030204" pitchFamily="34" charset="0"/>
              </a:rPr>
              <a:t>例题</a:t>
            </a:r>
            <a:r>
              <a:rPr lang="en-US" altLang="zh-CN" sz="2400" b="1" dirty="0">
                <a:latin typeface="Calibri" panose="020F0502020204030204" pitchFamily="34" charset="0"/>
                <a:ea typeface="Calibri" panose="020F0502020204030204" pitchFamily="34" charset="0"/>
                <a:cs typeface="Calibri" panose="020F0502020204030204" pitchFamily="34" charset="0"/>
              </a:rPr>
              <a:t>6.1 </a:t>
            </a:r>
            <a:r>
              <a:rPr lang="zh-CN" altLang="en-US" sz="2400" b="1" dirty="0">
                <a:solidFill>
                  <a:srgbClr val="C00000"/>
                </a:solidFill>
                <a:latin typeface="Calibri" panose="020F0502020204030204" pitchFamily="34" charset="0"/>
                <a:ea typeface="Calibri" panose="020F0502020204030204" pitchFamily="34" charset="0"/>
                <a:cs typeface="Calibri" panose="020F0502020204030204" pitchFamily="34" charset="0"/>
              </a:rPr>
              <a:t>解答</a:t>
            </a:r>
            <a:endParaRPr lang="en-US" altLang="zh-CN" sz="2400" b="1" dirty="0">
              <a:solidFill>
                <a:srgbClr val="C00000"/>
              </a:solidFill>
              <a:latin typeface="微软雅黑" panose="020B0503020204020204" pitchFamily="34" charset="-122"/>
              <a:ea typeface="微软雅黑" panose="020B0503020204020204" pitchFamily="34" charset="-122"/>
            </a:endParaRPr>
          </a:p>
          <a:p>
            <a:pPr lvl="1">
              <a:buFont typeface="Wingdings" panose="05000000000000000000" pitchFamily="2" charset="2"/>
              <a:buChar char="n"/>
            </a:pPr>
            <a:r>
              <a:rPr lang="zh-CN" altLang="en-US" sz="2000" b="1" kern="1200" dirty="0">
                <a:latin typeface="Calibri" panose="020F0502020204030204" pitchFamily="34" charset="0"/>
                <a:ea typeface="微软雅黑" panose="020B0503020204020204" pitchFamily="34" charset="-122"/>
                <a:cs typeface="Calibri" panose="020F0502020204030204" pitchFamily="34" charset="0"/>
              </a:rPr>
              <a:t>采用修改后的屏蔽字，其处理优先级为：</a:t>
            </a:r>
            <a:r>
              <a:rPr lang="en-US" altLang="zh-CN" sz="2000" b="1" kern="1200" dirty="0">
                <a:latin typeface="Calibri" panose="020F0502020204030204" pitchFamily="34" charset="0"/>
                <a:ea typeface="微软雅黑" panose="020B0503020204020204" pitchFamily="34" charset="-122"/>
                <a:cs typeface="Calibri" panose="020F0502020204030204" pitchFamily="34" charset="0"/>
              </a:rPr>
              <a:t>C &gt; B &gt; A</a:t>
            </a:r>
            <a:r>
              <a:rPr lang="zh-CN" altLang="en-US" sz="2000" b="1" kern="1200" dirty="0">
                <a:latin typeface="Calibri" panose="020F0502020204030204" pitchFamily="34" charset="0"/>
                <a:ea typeface="微软雅黑" panose="020B0503020204020204" pitchFamily="34" charset="-122"/>
                <a:cs typeface="Calibri" panose="020F0502020204030204" pitchFamily="34" charset="0"/>
              </a:rPr>
              <a:t>；响应优先级为：</a:t>
            </a:r>
            <a:r>
              <a:rPr lang="en-US" altLang="zh-CN" sz="2000" b="1" kern="1200" dirty="0">
                <a:latin typeface="Calibri" panose="020F0502020204030204" pitchFamily="34" charset="0"/>
                <a:ea typeface="微软雅黑" panose="020B0503020204020204" pitchFamily="34" charset="-122"/>
                <a:cs typeface="Calibri" panose="020F0502020204030204" pitchFamily="34" charset="0"/>
              </a:rPr>
              <a:t>A &gt; B &gt; C</a:t>
            </a:r>
            <a:r>
              <a:rPr lang="zh-CN" altLang="en-US" sz="2000" b="1" kern="1200" dirty="0">
                <a:latin typeface="Calibri" panose="020F0502020204030204" pitchFamily="34" charset="0"/>
                <a:ea typeface="微软雅黑" panose="020B0503020204020204" pitchFamily="34" charset="-122"/>
                <a:cs typeface="Calibri" panose="020F0502020204030204" pitchFamily="34" charset="0"/>
              </a:rPr>
              <a:t>；其</a:t>
            </a:r>
            <a:r>
              <a:rPr lang="en-US" altLang="zh-CN" sz="2000" b="1" kern="1200" dirty="0">
                <a:latin typeface="Calibri" panose="020F0502020204030204" pitchFamily="34" charset="0"/>
                <a:ea typeface="微软雅黑" panose="020B0503020204020204" pitchFamily="34" charset="-122"/>
                <a:cs typeface="Calibri" panose="020F0502020204030204" pitchFamily="34" charset="0"/>
              </a:rPr>
              <a:t>CPU</a:t>
            </a:r>
            <a:r>
              <a:rPr lang="zh-CN" altLang="en-US" sz="2000" b="1" kern="1200" dirty="0">
                <a:latin typeface="Calibri" panose="020F0502020204030204" pitchFamily="34" charset="0"/>
                <a:ea typeface="微软雅黑" panose="020B0503020204020204" pitchFamily="34" charset="-122"/>
                <a:cs typeface="Calibri" panose="020F0502020204030204" pitchFamily="34" charset="0"/>
              </a:rPr>
              <a:t>运行轨迹如图</a:t>
            </a:r>
            <a:r>
              <a:rPr lang="en-US" altLang="zh-CN" sz="2000" b="1" kern="1200" dirty="0">
                <a:latin typeface="Calibri" panose="020F0502020204030204" pitchFamily="34" charset="0"/>
                <a:ea typeface="微软雅黑" panose="020B0503020204020204" pitchFamily="34" charset="-122"/>
                <a:cs typeface="Calibri" panose="020F0502020204030204" pitchFamily="34" charset="0"/>
              </a:rPr>
              <a:t>6.9 b</a:t>
            </a:r>
            <a:r>
              <a:rPr lang="zh-CN" altLang="en-US" sz="2000" b="1" kern="1200" dirty="0">
                <a:latin typeface="Calibri" panose="020F0502020204030204" pitchFamily="34" charset="0"/>
                <a:ea typeface="微软雅黑" panose="020B0503020204020204" pitchFamily="34" charset="-122"/>
                <a:cs typeface="Calibri" panose="020F0502020204030204" pitchFamily="34" charset="0"/>
              </a:rPr>
              <a:t>所示。</a:t>
            </a:r>
            <a:r>
              <a:rPr lang="zh-CN" altLang="en-US" sz="2000" b="1" kern="1200" dirty="0">
                <a:solidFill>
                  <a:srgbClr val="C00000"/>
                </a:solidFill>
                <a:latin typeface="Calibri" panose="020F0502020204030204" pitchFamily="34" charset="0"/>
                <a:ea typeface="微软雅黑" panose="020B0503020204020204" pitchFamily="34" charset="-122"/>
                <a:cs typeface="Calibri" panose="020F0502020204030204" pitchFamily="34" charset="0"/>
              </a:rPr>
              <a:t>响应顺序：</a:t>
            </a:r>
            <a:r>
              <a:rPr lang="en-US" altLang="zh-CN" sz="2000" b="1" kern="1200" dirty="0">
                <a:solidFill>
                  <a:srgbClr val="C00000"/>
                </a:solidFill>
                <a:latin typeface="Calibri" panose="020F0502020204030204" pitchFamily="34" charset="0"/>
                <a:ea typeface="微软雅黑" panose="020B0503020204020204" pitchFamily="34" charset="-122"/>
                <a:cs typeface="Calibri" panose="020F0502020204030204" pitchFamily="34" charset="0"/>
              </a:rPr>
              <a:t>A-&gt;B-&gt;C   </a:t>
            </a:r>
            <a:r>
              <a:rPr lang="zh-CN" altLang="en-US" sz="2000" b="1" kern="1200" dirty="0">
                <a:solidFill>
                  <a:srgbClr val="C00000"/>
                </a:solidFill>
                <a:latin typeface="Calibri" panose="020F0502020204030204" pitchFamily="34" charset="0"/>
                <a:ea typeface="微软雅黑" panose="020B0503020204020204" pitchFamily="34" charset="-122"/>
                <a:cs typeface="Calibri" panose="020F0502020204030204" pitchFamily="34" charset="0"/>
              </a:rPr>
              <a:t>中断服务顺序：</a:t>
            </a:r>
            <a:r>
              <a:rPr lang="en-US" altLang="zh-CN" sz="2000" b="1" kern="1200" dirty="0">
                <a:solidFill>
                  <a:srgbClr val="C00000"/>
                </a:solidFill>
                <a:latin typeface="Calibri" panose="020F0502020204030204" pitchFamily="34" charset="0"/>
                <a:ea typeface="微软雅黑" panose="020B0503020204020204" pitchFamily="34" charset="-122"/>
                <a:cs typeface="Calibri" panose="020F0502020204030204" pitchFamily="34" charset="0"/>
              </a:rPr>
              <a:t>C-&gt;B-&gt;A</a:t>
            </a:r>
          </a:p>
          <a:p>
            <a:pPr lvl="1">
              <a:buFont typeface="Wingdings" panose="05000000000000000000" pitchFamily="2" charset="2"/>
              <a:buChar char="n"/>
            </a:pPr>
            <a:r>
              <a:rPr lang="zh-CN" altLang="en-US" sz="2000" b="1" kern="1200" dirty="0">
                <a:latin typeface="Calibri" panose="020F0502020204030204" pitchFamily="34" charset="0"/>
                <a:ea typeface="微软雅黑" panose="020B0503020204020204" pitchFamily="34" charset="-122"/>
                <a:cs typeface="Calibri" panose="020F0502020204030204" pitchFamily="34" charset="0"/>
              </a:rPr>
              <a:t>图中的第一个箭头表示：</a:t>
            </a:r>
            <a:r>
              <a:rPr lang="en-US" altLang="zh-CN" sz="2000" b="1" kern="1200" dirty="0">
                <a:latin typeface="Calibri" panose="020F0502020204030204" pitchFamily="34" charset="0"/>
                <a:ea typeface="微软雅黑" panose="020B0503020204020204" pitchFamily="34" charset="-122"/>
                <a:cs typeface="Calibri" panose="020F0502020204030204" pitchFamily="34" charset="0"/>
              </a:rPr>
              <a:t>CPU</a:t>
            </a:r>
            <a:r>
              <a:rPr lang="zh-CN" altLang="en-US" sz="2000" b="1" kern="1200" dirty="0">
                <a:latin typeface="Calibri" panose="020F0502020204030204" pitchFamily="34" charset="0"/>
                <a:ea typeface="微软雅黑" panose="020B0503020204020204" pitchFamily="34" charset="-122"/>
                <a:cs typeface="Calibri" panose="020F0502020204030204" pitchFamily="34" charset="0"/>
              </a:rPr>
              <a:t>响应</a:t>
            </a:r>
            <a:r>
              <a:rPr lang="en-US" altLang="zh-CN" sz="2000" b="1" kern="1200" dirty="0">
                <a:latin typeface="Calibri" panose="020F0502020204030204" pitchFamily="34" charset="0"/>
                <a:ea typeface="微软雅黑" panose="020B0503020204020204" pitchFamily="34" charset="-122"/>
                <a:cs typeface="Calibri" panose="020F0502020204030204" pitchFamily="34" charset="0"/>
              </a:rPr>
              <a:t>A</a:t>
            </a:r>
            <a:r>
              <a:rPr lang="zh-CN" altLang="en-US" sz="2000" b="1" kern="1200" dirty="0">
                <a:latin typeface="Calibri" panose="020F0502020204030204" pitchFamily="34" charset="0"/>
                <a:ea typeface="微软雅黑" panose="020B0503020204020204" pitchFamily="34" charset="-122"/>
                <a:cs typeface="Calibri" panose="020F0502020204030204" pitchFamily="34" charset="0"/>
              </a:rPr>
              <a:t>设备的中断请求（因为</a:t>
            </a:r>
            <a:r>
              <a:rPr lang="en-US" altLang="zh-CN" sz="2000" b="1" kern="1200" dirty="0">
                <a:latin typeface="Calibri" panose="020F0502020204030204" pitchFamily="34" charset="0"/>
                <a:ea typeface="微软雅黑" panose="020B0503020204020204" pitchFamily="34" charset="-122"/>
                <a:cs typeface="Calibri" panose="020F0502020204030204" pitchFamily="34" charset="0"/>
              </a:rPr>
              <a:t>A</a:t>
            </a:r>
            <a:r>
              <a:rPr lang="zh-CN" altLang="en-US" sz="2000" b="1" kern="1200" dirty="0">
                <a:latin typeface="Calibri" panose="020F0502020204030204" pitchFamily="34" charset="0"/>
                <a:ea typeface="微软雅黑" panose="020B0503020204020204" pitchFamily="34" charset="-122"/>
                <a:cs typeface="Calibri" panose="020F0502020204030204" pitchFamily="34" charset="0"/>
              </a:rPr>
              <a:t>设备的响应优先级最高）；图中的第二个箭头表示：</a:t>
            </a:r>
            <a:r>
              <a:rPr lang="en-US" altLang="zh-CN" sz="2000" b="1" kern="1200" dirty="0">
                <a:latin typeface="Calibri" panose="020F0502020204030204" pitchFamily="34" charset="0"/>
                <a:ea typeface="微软雅黑" panose="020B0503020204020204" pitchFamily="34" charset="-122"/>
                <a:cs typeface="Calibri" panose="020F0502020204030204" pitchFamily="34" charset="0"/>
              </a:rPr>
              <a:t>CPU</a:t>
            </a:r>
            <a:r>
              <a:rPr lang="zh-CN" altLang="en-US" sz="2000" b="1" kern="1200" dirty="0">
                <a:latin typeface="Calibri" panose="020F0502020204030204" pitchFamily="34" charset="0"/>
                <a:ea typeface="微软雅黑" panose="020B0503020204020204" pitchFamily="34" charset="-122"/>
                <a:cs typeface="Calibri" panose="020F0502020204030204" pitchFamily="34" charset="0"/>
              </a:rPr>
              <a:t>响应</a:t>
            </a:r>
            <a:r>
              <a:rPr lang="en-US" altLang="zh-CN" sz="2000" b="1" kern="1200" dirty="0">
                <a:latin typeface="Calibri" panose="020F0502020204030204" pitchFamily="34" charset="0"/>
                <a:ea typeface="微软雅黑" panose="020B0503020204020204" pitchFamily="34" charset="-122"/>
                <a:cs typeface="Calibri" panose="020F0502020204030204" pitchFamily="34" charset="0"/>
              </a:rPr>
              <a:t>B</a:t>
            </a:r>
            <a:r>
              <a:rPr lang="zh-CN" altLang="en-US" sz="2000" b="1" kern="1200" dirty="0">
                <a:latin typeface="Calibri" panose="020F0502020204030204" pitchFamily="34" charset="0"/>
                <a:ea typeface="微软雅黑" panose="020B0503020204020204" pitchFamily="34" charset="-122"/>
                <a:cs typeface="Calibri" panose="020F0502020204030204" pitchFamily="34" charset="0"/>
              </a:rPr>
              <a:t>设备的中断请求（因为</a:t>
            </a:r>
            <a:r>
              <a:rPr lang="en-US" altLang="zh-CN" sz="2000" b="1" kern="1200" dirty="0">
                <a:latin typeface="Calibri" panose="020F0502020204030204" pitchFamily="34" charset="0"/>
                <a:ea typeface="微软雅黑" panose="020B0503020204020204" pitchFamily="34" charset="-122"/>
                <a:cs typeface="Calibri" panose="020F0502020204030204" pitchFamily="34" charset="0"/>
              </a:rPr>
              <a:t>B</a:t>
            </a:r>
            <a:r>
              <a:rPr lang="zh-CN" altLang="en-US" sz="2000" b="1" kern="1200" dirty="0">
                <a:latin typeface="Calibri" panose="020F0502020204030204" pitchFamily="34" charset="0"/>
                <a:ea typeface="微软雅黑" panose="020B0503020204020204" pitchFamily="34" charset="-122"/>
                <a:cs typeface="Calibri" panose="020F0502020204030204" pitchFamily="34" charset="0"/>
              </a:rPr>
              <a:t>设备的响应优先级比</a:t>
            </a:r>
            <a:r>
              <a:rPr lang="en-US" altLang="zh-CN" sz="2000" b="1" kern="1200" dirty="0">
                <a:latin typeface="Calibri" panose="020F0502020204030204" pitchFamily="34" charset="0"/>
                <a:ea typeface="微软雅黑" panose="020B0503020204020204" pitchFamily="34" charset="-122"/>
                <a:cs typeface="Calibri" panose="020F0502020204030204" pitchFamily="34" charset="0"/>
              </a:rPr>
              <a:t>C</a:t>
            </a:r>
            <a:r>
              <a:rPr lang="zh-CN" altLang="en-US" sz="2000" b="1" kern="1200" dirty="0">
                <a:latin typeface="Calibri" panose="020F0502020204030204" pitchFamily="34" charset="0"/>
                <a:ea typeface="微软雅黑" panose="020B0503020204020204" pitchFamily="34" charset="-122"/>
                <a:cs typeface="Calibri" panose="020F0502020204030204" pitchFamily="34" charset="0"/>
              </a:rPr>
              <a:t>设备高）</a:t>
            </a:r>
            <a:r>
              <a:rPr lang="zh-CN" altLang="en-US" sz="2000" b="1" dirty="0">
                <a:latin typeface="Calibri" panose="020F0502020204030204" pitchFamily="34" charset="0"/>
                <a:ea typeface="微软雅黑" panose="020B0503020204020204" pitchFamily="34" charset="-122"/>
                <a:cs typeface="Calibri" panose="020F0502020204030204" pitchFamily="34" charset="0"/>
              </a:rPr>
              <a:t>。</a:t>
            </a:r>
            <a:endParaRPr lang="en-US" altLang="zh-CN" sz="2000" b="1" dirty="0">
              <a:latin typeface="Calibri" panose="020F0502020204030204" pitchFamily="34" charset="0"/>
              <a:ea typeface="Calibri" panose="020F0502020204030204" pitchFamily="34" charset="0"/>
              <a:cs typeface="Calibri" panose="020F0502020204030204" pitchFamily="34" charset="0"/>
            </a:endParaRPr>
          </a:p>
          <a:p>
            <a:pPr lvl="1">
              <a:buFont typeface="Wingdings" panose="05000000000000000000" pitchFamily="2" charset="2"/>
              <a:buChar char="p"/>
            </a:pPr>
            <a:endParaRPr lang="zh-CN" altLang="en-US" sz="1800" b="1" dirty="0">
              <a:solidFill>
                <a:srgbClr val="274FA2"/>
              </a:solidFill>
              <a:latin typeface="微软雅黑" panose="020B0503020204020204" pitchFamily="34" charset="-122"/>
              <a:ea typeface="微软雅黑" panose="020B0503020204020204" pitchFamily="34" charset="-122"/>
            </a:endParaRPr>
          </a:p>
          <a:p>
            <a:pPr lvl="1">
              <a:buFont typeface="Wingdings" panose="05000000000000000000" pitchFamily="2" charset="2"/>
              <a:buChar char="p"/>
            </a:pPr>
            <a:endParaRPr lang="en-US" altLang="zh-CN" sz="1800" b="1" dirty="0">
              <a:solidFill>
                <a:srgbClr val="274FA2"/>
              </a:solidFill>
              <a:latin typeface="微软雅黑" panose="020B0503020204020204" pitchFamily="34" charset="-122"/>
              <a:ea typeface="微软雅黑" panose="020B0503020204020204" pitchFamily="34" charset="-122"/>
            </a:endParaRPr>
          </a:p>
          <a:p>
            <a:pPr lvl="1">
              <a:buFont typeface="Wingdings" panose="05000000000000000000" pitchFamily="2" charset="2"/>
              <a:buChar char="p"/>
            </a:pPr>
            <a:endParaRPr lang="en-US" altLang="zh-CN" sz="1800" b="1" dirty="0">
              <a:solidFill>
                <a:srgbClr val="274FA2"/>
              </a:solidFill>
              <a:latin typeface="微软雅黑" panose="020B0503020204020204" pitchFamily="34" charset="-122"/>
              <a:ea typeface="微软雅黑" panose="020B0503020204020204" pitchFamily="34" charset="-122"/>
            </a:endParaRPr>
          </a:p>
          <a:p>
            <a:pPr marL="0" indent="0">
              <a:buNone/>
            </a:pPr>
            <a:endParaRPr lang="en-US" altLang="zh-CN" sz="2400" b="1" dirty="0">
              <a:latin typeface="Calibri" panose="020F0502020204030204" pitchFamily="34" charset="0"/>
              <a:ea typeface="Calibri" panose="020F0502020204030204" pitchFamily="34" charset="0"/>
              <a:cs typeface="Calibri" panose="020F0502020204030204" pitchFamily="34" charset="0"/>
            </a:endParaRPr>
          </a:p>
          <a:p>
            <a:endParaRPr lang="zh-CN" altLang="en-US" sz="2400" dirty="0">
              <a:latin typeface="Calibri" panose="020F0502020204030204" pitchFamily="34" charset="0"/>
              <a:ea typeface="微软雅黑" panose="020B0503020204020204" pitchFamily="34" charset="-122"/>
              <a:cs typeface="Calibri" panose="020F0502020204030204" pitchFamily="34" charset="0"/>
            </a:endParaRPr>
          </a:p>
        </p:txBody>
      </p:sp>
      <p:graphicFrame>
        <p:nvGraphicFramePr>
          <p:cNvPr id="5" name="表格 4">
            <a:extLst>
              <a:ext uri="{FF2B5EF4-FFF2-40B4-BE49-F238E27FC236}">
                <a16:creationId xmlns:a16="http://schemas.microsoft.com/office/drawing/2014/main" id="{A6C14FDF-F644-44DF-BFC8-F90B3A70EB70}"/>
              </a:ext>
            </a:extLst>
          </p:cNvPr>
          <p:cNvGraphicFramePr>
            <a:graphicFrameLocks noGrp="1"/>
          </p:cNvGraphicFramePr>
          <p:nvPr>
            <p:extLst>
              <p:ext uri="{D42A27DB-BD31-4B8C-83A1-F6EECF244321}">
                <p14:modId xmlns:p14="http://schemas.microsoft.com/office/powerpoint/2010/main" val="2585738651"/>
              </p:ext>
            </p:extLst>
          </p:nvPr>
        </p:nvGraphicFramePr>
        <p:xfrm>
          <a:off x="1572768" y="3904488"/>
          <a:ext cx="2708216" cy="1371600"/>
        </p:xfrm>
        <a:graphic>
          <a:graphicData uri="http://schemas.openxmlformats.org/drawingml/2006/table">
            <a:tbl>
              <a:tblPr firstRow="1" bandRow="1">
                <a:tableStyleId>{21E4AEA4-8DFA-4A89-87EB-49C32662AFE0}</a:tableStyleId>
              </a:tblPr>
              <a:tblGrid>
                <a:gridCol w="690770">
                  <a:extLst>
                    <a:ext uri="{9D8B030D-6E8A-4147-A177-3AD203B41FA5}">
                      <a16:colId xmlns:a16="http://schemas.microsoft.com/office/drawing/2014/main" val="1206414134"/>
                    </a:ext>
                  </a:extLst>
                </a:gridCol>
                <a:gridCol w="672482">
                  <a:extLst>
                    <a:ext uri="{9D8B030D-6E8A-4147-A177-3AD203B41FA5}">
                      <a16:colId xmlns:a16="http://schemas.microsoft.com/office/drawing/2014/main" val="3709275138"/>
                    </a:ext>
                  </a:extLst>
                </a:gridCol>
                <a:gridCol w="672482">
                  <a:extLst>
                    <a:ext uri="{9D8B030D-6E8A-4147-A177-3AD203B41FA5}">
                      <a16:colId xmlns:a16="http://schemas.microsoft.com/office/drawing/2014/main" val="2840372308"/>
                    </a:ext>
                  </a:extLst>
                </a:gridCol>
                <a:gridCol w="672482">
                  <a:extLst>
                    <a:ext uri="{9D8B030D-6E8A-4147-A177-3AD203B41FA5}">
                      <a16:colId xmlns:a16="http://schemas.microsoft.com/office/drawing/2014/main" val="747365125"/>
                    </a:ext>
                  </a:extLst>
                </a:gridCol>
              </a:tblGrid>
              <a:tr h="265225">
                <a:tc rowSpan="2">
                  <a:txBody>
                    <a:bodyPr/>
                    <a:lstStyle/>
                    <a:p>
                      <a:r>
                        <a:rPr lang="zh-CN" altLang="en-US" sz="1200" b="1" dirty="0"/>
                        <a:t>设备名</a:t>
                      </a:r>
                    </a:p>
                  </a:txBody>
                  <a:tcPr anchor="ctr" anchorCtr="1"/>
                </a:tc>
                <a:tc gridSpan="3">
                  <a:txBody>
                    <a:bodyPr/>
                    <a:lstStyle/>
                    <a:p>
                      <a:r>
                        <a:rPr lang="zh-CN" altLang="en-US" sz="1200" b="1" dirty="0"/>
                        <a:t>修改后的屏蔽字</a:t>
                      </a:r>
                    </a:p>
                  </a:txBody>
                  <a:tcPr anchor="ctr" anchorCtr="1"/>
                </a:tc>
                <a:tc hMerge="1">
                  <a:txBody>
                    <a:bodyPr/>
                    <a:lstStyle/>
                    <a:p>
                      <a:endParaRPr lang="zh-CN" altLang="en-US" dirty="0"/>
                    </a:p>
                  </a:txBody>
                  <a:tcPr/>
                </a:tc>
                <a:tc hMerge="1">
                  <a:txBody>
                    <a:bodyPr/>
                    <a:lstStyle/>
                    <a:p>
                      <a:endParaRPr lang="zh-CN" altLang="en-US" dirty="0"/>
                    </a:p>
                  </a:txBody>
                  <a:tcPr/>
                </a:tc>
                <a:extLst>
                  <a:ext uri="{0D108BD9-81ED-4DB2-BD59-A6C34878D82A}">
                    <a16:rowId xmlns:a16="http://schemas.microsoft.com/office/drawing/2014/main" val="1952133820"/>
                  </a:ext>
                </a:extLst>
              </a:tr>
              <a:tr h="265225">
                <a:tc vMerge="1">
                  <a:txBody>
                    <a:bodyPr/>
                    <a:lstStyle/>
                    <a:p>
                      <a:endParaRPr lang="zh-CN" altLang="en-US" dirty="0"/>
                    </a:p>
                  </a:txBody>
                  <a:tcPr/>
                </a:tc>
                <a:tc>
                  <a:txBody>
                    <a:bodyPr/>
                    <a:lstStyle/>
                    <a:p>
                      <a:r>
                        <a:rPr lang="en-US" altLang="zh-CN" sz="1200" b="1" dirty="0"/>
                        <a:t>A</a:t>
                      </a:r>
                      <a:endParaRPr lang="zh-CN" altLang="en-US" sz="1200" b="1" dirty="0"/>
                    </a:p>
                  </a:txBody>
                  <a:tcPr anchor="ctr" anchorCtr="1"/>
                </a:tc>
                <a:tc>
                  <a:txBody>
                    <a:bodyPr/>
                    <a:lstStyle/>
                    <a:p>
                      <a:r>
                        <a:rPr lang="en-US" altLang="zh-CN" sz="1200" b="1" dirty="0"/>
                        <a:t>B</a:t>
                      </a:r>
                      <a:endParaRPr lang="zh-CN" altLang="en-US" sz="1200" b="1" dirty="0"/>
                    </a:p>
                  </a:txBody>
                  <a:tcPr anchor="ctr" anchorCtr="1"/>
                </a:tc>
                <a:tc>
                  <a:txBody>
                    <a:bodyPr/>
                    <a:lstStyle/>
                    <a:p>
                      <a:r>
                        <a:rPr lang="en-US" altLang="zh-CN" sz="1200" b="1" dirty="0"/>
                        <a:t>C</a:t>
                      </a:r>
                      <a:endParaRPr lang="zh-CN" altLang="en-US" sz="1200" b="1" dirty="0"/>
                    </a:p>
                  </a:txBody>
                  <a:tcPr anchor="ctr" anchorCtr="1"/>
                </a:tc>
                <a:extLst>
                  <a:ext uri="{0D108BD9-81ED-4DB2-BD59-A6C34878D82A}">
                    <a16:rowId xmlns:a16="http://schemas.microsoft.com/office/drawing/2014/main" val="2140523231"/>
                  </a:ext>
                </a:extLst>
              </a:tr>
              <a:tr h="265225">
                <a:tc>
                  <a:txBody>
                    <a:bodyPr/>
                    <a:lstStyle/>
                    <a:p>
                      <a:r>
                        <a:rPr lang="en-US" altLang="zh-CN" sz="1100" b="1" dirty="0"/>
                        <a:t>A</a:t>
                      </a:r>
                      <a:endParaRPr lang="zh-CN" altLang="en-US" sz="1100" b="1" dirty="0"/>
                    </a:p>
                  </a:txBody>
                  <a:tcPr anchor="ctr" anchorCtr="1"/>
                </a:tc>
                <a:tc>
                  <a:txBody>
                    <a:bodyPr/>
                    <a:lstStyle/>
                    <a:p>
                      <a:r>
                        <a:rPr lang="en-US" altLang="zh-CN" sz="1200" b="1" dirty="0"/>
                        <a:t>1</a:t>
                      </a:r>
                      <a:endParaRPr lang="zh-CN" altLang="en-US" sz="1200" b="1" dirty="0"/>
                    </a:p>
                  </a:txBody>
                  <a:tcPr anchor="ctr" anchorCtr="1"/>
                </a:tc>
                <a:tc>
                  <a:txBody>
                    <a:bodyPr/>
                    <a:lstStyle/>
                    <a:p>
                      <a:r>
                        <a:rPr lang="en-US" altLang="zh-CN" sz="1200" b="1" dirty="0"/>
                        <a:t>0</a:t>
                      </a:r>
                      <a:endParaRPr lang="zh-CN" altLang="en-US" sz="1200" b="1" dirty="0"/>
                    </a:p>
                  </a:txBody>
                  <a:tcPr anchor="ctr" anchorCtr="1"/>
                </a:tc>
                <a:tc>
                  <a:txBody>
                    <a:bodyPr/>
                    <a:lstStyle/>
                    <a:p>
                      <a:r>
                        <a:rPr lang="en-US" altLang="zh-CN" sz="1200" b="1" dirty="0"/>
                        <a:t>0</a:t>
                      </a:r>
                      <a:endParaRPr lang="zh-CN" altLang="en-US" sz="1200" b="1" dirty="0"/>
                    </a:p>
                  </a:txBody>
                  <a:tcPr anchor="ctr" anchorCtr="1"/>
                </a:tc>
                <a:extLst>
                  <a:ext uri="{0D108BD9-81ED-4DB2-BD59-A6C34878D82A}">
                    <a16:rowId xmlns:a16="http://schemas.microsoft.com/office/drawing/2014/main" val="1334078814"/>
                  </a:ext>
                </a:extLst>
              </a:tr>
              <a:tr h="265225">
                <a:tc>
                  <a:txBody>
                    <a:bodyPr/>
                    <a:lstStyle/>
                    <a:p>
                      <a:r>
                        <a:rPr lang="en-US" altLang="zh-CN" sz="1100" b="1" dirty="0"/>
                        <a:t>B</a:t>
                      </a:r>
                      <a:endParaRPr lang="zh-CN" altLang="en-US" sz="1100" b="1" dirty="0"/>
                    </a:p>
                  </a:txBody>
                  <a:tcPr anchor="ctr" anchorCtr="1"/>
                </a:tc>
                <a:tc>
                  <a:txBody>
                    <a:bodyPr/>
                    <a:lstStyle/>
                    <a:p>
                      <a:r>
                        <a:rPr lang="en-US" altLang="zh-CN" sz="1200" b="1" dirty="0"/>
                        <a:t>1</a:t>
                      </a:r>
                      <a:endParaRPr lang="zh-CN" altLang="en-US" sz="1200" b="1" dirty="0"/>
                    </a:p>
                  </a:txBody>
                  <a:tcPr anchor="ctr" anchorCtr="1"/>
                </a:tc>
                <a:tc>
                  <a:txBody>
                    <a:bodyPr/>
                    <a:lstStyle/>
                    <a:p>
                      <a:r>
                        <a:rPr lang="en-US" altLang="zh-CN" sz="1200" b="1" dirty="0"/>
                        <a:t>1</a:t>
                      </a:r>
                      <a:endParaRPr lang="zh-CN" altLang="en-US" sz="1200" b="1" dirty="0"/>
                    </a:p>
                  </a:txBody>
                  <a:tcPr anchor="ctr" anchorCtr="1"/>
                </a:tc>
                <a:tc>
                  <a:txBody>
                    <a:bodyPr/>
                    <a:lstStyle/>
                    <a:p>
                      <a:r>
                        <a:rPr lang="en-US" altLang="zh-CN" sz="1200" b="1" dirty="0"/>
                        <a:t>0</a:t>
                      </a:r>
                      <a:endParaRPr lang="zh-CN" altLang="en-US" sz="1200" b="1" dirty="0"/>
                    </a:p>
                  </a:txBody>
                  <a:tcPr anchor="ctr" anchorCtr="1"/>
                </a:tc>
                <a:extLst>
                  <a:ext uri="{0D108BD9-81ED-4DB2-BD59-A6C34878D82A}">
                    <a16:rowId xmlns:a16="http://schemas.microsoft.com/office/drawing/2014/main" val="2405017089"/>
                  </a:ext>
                </a:extLst>
              </a:tr>
              <a:tr h="265225">
                <a:tc>
                  <a:txBody>
                    <a:bodyPr/>
                    <a:lstStyle/>
                    <a:p>
                      <a:r>
                        <a:rPr lang="en-US" altLang="zh-CN" sz="1100" b="1" dirty="0"/>
                        <a:t>C</a:t>
                      </a:r>
                      <a:endParaRPr lang="zh-CN" altLang="en-US" sz="1100" b="1" dirty="0"/>
                    </a:p>
                  </a:txBody>
                  <a:tcPr anchor="ctr" anchorCtr="1"/>
                </a:tc>
                <a:tc>
                  <a:txBody>
                    <a:bodyPr/>
                    <a:lstStyle/>
                    <a:p>
                      <a:r>
                        <a:rPr lang="en-US" altLang="zh-CN" sz="1200" b="1" dirty="0"/>
                        <a:t>1</a:t>
                      </a:r>
                      <a:endParaRPr lang="zh-CN" altLang="en-US" sz="1200" b="1" dirty="0"/>
                    </a:p>
                  </a:txBody>
                  <a:tcPr anchor="ctr" anchorCtr="1"/>
                </a:tc>
                <a:tc>
                  <a:txBody>
                    <a:bodyPr/>
                    <a:lstStyle/>
                    <a:p>
                      <a:r>
                        <a:rPr lang="en-US" altLang="zh-CN" sz="1200" b="1" dirty="0"/>
                        <a:t>1</a:t>
                      </a:r>
                      <a:endParaRPr lang="zh-CN" altLang="en-US" sz="1200" b="1" dirty="0"/>
                    </a:p>
                  </a:txBody>
                  <a:tcPr anchor="ctr" anchorCtr="1"/>
                </a:tc>
                <a:tc>
                  <a:txBody>
                    <a:bodyPr/>
                    <a:lstStyle/>
                    <a:p>
                      <a:r>
                        <a:rPr lang="en-US" altLang="zh-CN" sz="1200" b="1" dirty="0"/>
                        <a:t>1</a:t>
                      </a:r>
                      <a:endParaRPr lang="zh-CN" altLang="en-US" sz="1200" b="1" dirty="0"/>
                    </a:p>
                  </a:txBody>
                  <a:tcPr anchor="ctr" anchorCtr="1"/>
                </a:tc>
                <a:extLst>
                  <a:ext uri="{0D108BD9-81ED-4DB2-BD59-A6C34878D82A}">
                    <a16:rowId xmlns:a16="http://schemas.microsoft.com/office/drawing/2014/main" val="1036071032"/>
                  </a:ext>
                </a:extLst>
              </a:tr>
            </a:tbl>
          </a:graphicData>
        </a:graphic>
      </p:graphicFrame>
      <p:sp>
        <p:nvSpPr>
          <p:cNvPr id="20" name="对话气泡: 圆角矩形 19">
            <a:extLst>
              <a:ext uri="{FF2B5EF4-FFF2-40B4-BE49-F238E27FC236}">
                <a16:creationId xmlns:a16="http://schemas.microsoft.com/office/drawing/2014/main" id="{7E040C41-A18D-4D36-91F0-CE61C21C5AE6}"/>
              </a:ext>
            </a:extLst>
          </p:cNvPr>
          <p:cNvSpPr/>
          <p:nvPr/>
        </p:nvSpPr>
        <p:spPr>
          <a:xfrm>
            <a:off x="7140724" y="3565165"/>
            <a:ext cx="1131372" cy="427111"/>
          </a:xfrm>
          <a:prstGeom prst="wedgeRoundRectCallout">
            <a:avLst>
              <a:gd name="adj1" fmla="val -63162"/>
              <a:gd name="adj2" fmla="val 99263"/>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400" b="1" i="1" dirty="0">
                <a:solidFill>
                  <a:srgbClr val="3D3DED"/>
                </a:solidFill>
              </a:rPr>
              <a:t>C</a:t>
            </a:r>
            <a:r>
              <a:rPr lang="zh-CN" altLang="en-US" sz="1400" b="1" i="1" dirty="0">
                <a:solidFill>
                  <a:srgbClr val="3D3DED"/>
                </a:solidFill>
              </a:rPr>
              <a:t> 做完</a:t>
            </a:r>
          </a:p>
        </p:txBody>
      </p:sp>
      <p:sp>
        <p:nvSpPr>
          <p:cNvPr id="21" name="对话气泡: 圆角矩形 20">
            <a:extLst>
              <a:ext uri="{FF2B5EF4-FFF2-40B4-BE49-F238E27FC236}">
                <a16:creationId xmlns:a16="http://schemas.microsoft.com/office/drawing/2014/main" id="{97E16A9E-8586-4392-AB8F-791BEE966F4D}"/>
              </a:ext>
            </a:extLst>
          </p:cNvPr>
          <p:cNvSpPr/>
          <p:nvPr/>
        </p:nvSpPr>
        <p:spPr>
          <a:xfrm>
            <a:off x="7706410" y="4051613"/>
            <a:ext cx="1131372" cy="427111"/>
          </a:xfrm>
          <a:prstGeom prst="wedgeRoundRectCallout">
            <a:avLst>
              <a:gd name="adj1" fmla="val -63162"/>
              <a:gd name="adj2" fmla="val 99263"/>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400" b="1" i="1" dirty="0">
                <a:solidFill>
                  <a:srgbClr val="3D3DED"/>
                </a:solidFill>
              </a:rPr>
              <a:t>B</a:t>
            </a:r>
            <a:r>
              <a:rPr lang="zh-CN" altLang="en-US" sz="1400" b="1" i="1" dirty="0">
                <a:solidFill>
                  <a:srgbClr val="3D3DED"/>
                </a:solidFill>
              </a:rPr>
              <a:t> 做完</a:t>
            </a:r>
          </a:p>
        </p:txBody>
      </p:sp>
      <p:sp>
        <p:nvSpPr>
          <p:cNvPr id="22" name="对话气泡: 圆角矩形 21">
            <a:extLst>
              <a:ext uri="{FF2B5EF4-FFF2-40B4-BE49-F238E27FC236}">
                <a16:creationId xmlns:a16="http://schemas.microsoft.com/office/drawing/2014/main" id="{4BFFDE60-0F0C-4AB5-915B-3CA931BC47C8}"/>
              </a:ext>
            </a:extLst>
          </p:cNvPr>
          <p:cNvSpPr/>
          <p:nvPr/>
        </p:nvSpPr>
        <p:spPr>
          <a:xfrm>
            <a:off x="8062320" y="4584853"/>
            <a:ext cx="1131372" cy="427111"/>
          </a:xfrm>
          <a:prstGeom prst="wedgeRoundRectCallout">
            <a:avLst>
              <a:gd name="adj1" fmla="val -63162"/>
              <a:gd name="adj2" fmla="val 99263"/>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400" b="1" i="1" dirty="0">
                <a:solidFill>
                  <a:srgbClr val="3D3DED"/>
                </a:solidFill>
              </a:rPr>
              <a:t>A</a:t>
            </a:r>
            <a:r>
              <a:rPr lang="zh-CN" altLang="en-US" sz="1400" b="1" i="1" dirty="0">
                <a:solidFill>
                  <a:srgbClr val="3D3DED"/>
                </a:solidFill>
              </a:rPr>
              <a:t> 做完</a:t>
            </a:r>
          </a:p>
        </p:txBody>
      </p:sp>
    </p:spTree>
    <p:extLst>
      <p:ext uri="{BB962C8B-B14F-4D97-AF65-F5344CB8AC3E}">
        <p14:creationId xmlns:p14="http://schemas.microsoft.com/office/powerpoint/2010/main" val="11420897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BF053B-9BD0-4623-A2E0-89333F03B8A6}"/>
              </a:ext>
            </a:extLst>
          </p:cNvPr>
          <p:cNvSpPr>
            <a:spLocks noGrp="1"/>
          </p:cNvSpPr>
          <p:nvPr>
            <p:ph type="title"/>
          </p:nvPr>
        </p:nvSpPr>
        <p:spPr>
          <a:xfrm>
            <a:off x="203200" y="270379"/>
            <a:ext cx="11277600" cy="688975"/>
          </a:xfrm>
        </p:spPr>
        <p:txBody>
          <a:bodyPr/>
          <a:lstStyle/>
          <a:p>
            <a:r>
              <a:rPr lang="en-US" altLang="zh-CN" dirty="0">
                <a:latin typeface="微软雅黑" panose="020B0503020204020204" pitchFamily="34" charset="-122"/>
                <a:ea typeface="微软雅黑" panose="020B0503020204020204" pitchFamily="34" charset="-122"/>
              </a:rPr>
              <a:t>6.7 </a:t>
            </a:r>
            <a:r>
              <a:rPr lang="zh-CN" altLang="en-US" dirty="0">
                <a:latin typeface="微软雅黑" panose="020B0503020204020204" pitchFamily="34" charset="-122"/>
                <a:ea typeface="微软雅黑" panose="020B0503020204020204" pitchFamily="34" charset="-122"/>
              </a:rPr>
              <a:t>异常与中断处理</a:t>
            </a:r>
          </a:p>
        </p:txBody>
      </p:sp>
      <p:sp>
        <p:nvSpPr>
          <p:cNvPr id="3" name="内容占位符 2">
            <a:extLst>
              <a:ext uri="{FF2B5EF4-FFF2-40B4-BE49-F238E27FC236}">
                <a16:creationId xmlns:a16="http://schemas.microsoft.com/office/drawing/2014/main" id="{CCB08004-CDF6-4A64-987E-5038F216EEC8}"/>
              </a:ext>
            </a:extLst>
          </p:cNvPr>
          <p:cNvSpPr>
            <a:spLocks noGrp="1"/>
          </p:cNvSpPr>
          <p:nvPr>
            <p:ph idx="1"/>
          </p:nvPr>
        </p:nvSpPr>
        <p:spPr>
          <a:xfrm>
            <a:off x="609600" y="959354"/>
            <a:ext cx="10972800" cy="5898646"/>
          </a:xfrm>
        </p:spPr>
        <p:txBody>
          <a:bodyPr/>
          <a:lstStyle/>
          <a:p>
            <a:r>
              <a:rPr lang="zh-CN" altLang="en-US" b="1" dirty="0">
                <a:latin typeface="Calibri" panose="020F0502020204030204" pitchFamily="34" charset="0"/>
                <a:ea typeface="微软雅黑" panose="020B0503020204020204" pitchFamily="34" charset="-122"/>
                <a:cs typeface="Calibri" panose="020F0502020204030204" pitchFamily="34" charset="0"/>
              </a:rPr>
              <a:t>第</a:t>
            </a:r>
            <a:r>
              <a:rPr lang="en-US" altLang="zh-CN" b="1" dirty="0">
                <a:latin typeface="Calibri" panose="020F0502020204030204" pitchFamily="34" charset="0"/>
                <a:ea typeface="微软雅黑" panose="020B0503020204020204" pitchFamily="34" charset="-122"/>
                <a:cs typeface="Calibri" panose="020F0502020204030204" pitchFamily="34" charset="0"/>
              </a:rPr>
              <a:t>II</a:t>
            </a:r>
            <a:r>
              <a:rPr lang="zh-CN" altLang="en-US" b="1" dirty="0">
                <a:latin typeface="Calibri" panose="020F0502020204030204" pitchFamily="34" charset="0"/>
                <a:ea typeface="微软雅黑" panose="020B0503020204020204" pitchFamily="34" charset="-122"/>
                <a:cs typeface="Calibri" panose="020F0502020204030204" pitchFamily="34" charset="0"/>
              </a:rPr>
              <a:t>步：中断响应</a:t>
            </a:r>
            <a:endParaRPr lang="en-US" altLang="zh-CN" b="1" dirty="0">
              <a:latin typeface="Calibri" panose="020F0502020204030204" pitchFamily="34" charset="0"/>
              <a:ea typeface="微软雅黑" panose="020B0503020204020204" pitchFamily="34" charset="-122"/>
              <a:cs typeface="Calibri" panose="020F0502020204030204" pitchFamily="34" charset="0"/>
            </a:endParaRPr>
          </a:p>
          <a:p>
            <a:pPr lvl="1" eaLnBrk="1" hangingPunct="1">
              <a:buFont typeface="Wingdings" panose="05000000000000000000" pitchFamily="2" charset="2"/>
              <a:buChar char="p"/>
            </a:pPr>
            <a:r>
              <a:rPr lang="zh-CN" altLang="en-US" sz="2000" b="1" dirty="0">
                <a:latin typeface="Calibri" panose="020F0502020204030204" pitchFamily="34" charset="0"/>
                <a:ea typeface="微软雅黑" panose="020B0503020204020204" pitchFamily="34" charset="-122"/>
                <a:cs typeface="Calibri" panose="020F0502020204030204" pitchFamily="34" charset="0"/>
              </a:rPr>
              <a:t>中断响应条件</a:t>
            </a:r>
            <a:endParaRPr lang="en-US" altLang="zh-CN" sz="2000" b="1" dirty="0">
              <a:latin typeface="Calibri" panose="020F0502020204030204" pitchFamily="34" charset="0"/>
              <a:ea typeface="Calibri" panose="020F0502020204030204" pitchFamily="34" charset="0"/>
              <a:cs typeface="Calibri" panose="020F0502020204030204" pitchFamily="34" charset="0"/>
            </a:endParaRPr>
          </a:p>
          <a:p>
            <a:pPr lvl="2" eaLnBrk="1" hangingPunct="1">
              <a:buFont typeface="Wingdings" panose="05000000000000000000" pitchFamily="2" charset="2"/>
              <a:buChar char="n"/>
            </a:pP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对应的中断请求未被屏蔽：</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IMR[</a:t>
            </a:r>
            <a:r>
              <a:rPr lang="en-US" altLang="zh-CN" sz="1800" b="1" dirty="0" err="1">
                <a:solidFill>
                  <a:srgbClr val="133984"/>
                </a:solidFill>
                <a:latin typeface="Calibri" panose="020F0502020204030204" pitchFamily="34" charset="0"/>
                <a:ea typeface="微软雅黑" panose="020B0503020204020204" pitchFamily="34" charset="-122"/>
                <a:cs typeface="Calibri" panose="020F0502020204030204" pitchFamily="34" charset="0"/>
              </a:rPr>
              <a:t>i</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]=0</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endPar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lvl="2" eaLnBrk="1" hangingPunct="1">
              <a:buFont typeface="Wingdings" panose="05000000000000000000" pitchFamily="2" charset="2"/>
              <a:buChar char="n"/>
            </a:pP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当前没有更高优先级的其他中断请求：</a:t>
            </a:r>
            <a:r>
              <a:rPr lang="en-US" altLang="zh-CN" sz="1800" b="1" dirty="0" err="1">
                <a:solidFill>
                  <a:srgbClr val="133984"/>
                </a:solidFill>
                <a:latin typeface="Calibri" panose="020F0502020204030204" pitchFamily="34" charset="0"/>
                <a:ea typeface="微软雅黑" panose="020B0503020204020204" pitchFamily="34" charset="-122"/>
                <a:cs typeface="Calibri" panose="020F0502020204030204" pitchFamily="34" charset="0"/>
              </a:rPr>
              <a:t>i</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 &gt; ISR</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endPar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lvl="2" eaLnBrk="1" hangingPunct="1">
              <a:buFont typeface="Wingdings" panose="05000000000000000000" pitchFamily="2" charset="2"/>
              <a:buChar char="n"/>
            </a:pP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如果</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CPU</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正在执行中断服务，则中断请求应符合嵌套条件。</a:t>
            </a:r>
            <a:endPar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lvl="2" eaLnBrk="1" hangingPunct="1">
              <a:buFont typeface="Wingdings" panose="05000000000000000000" pitchFamily="2" charset="2"/>
              <a:buChar char="n"/>
            </a:pP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中断使能位处于使能状态，也就是开中断状态：</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IE/IF=1</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；内部异常和不可屏蔽中断不受此限制。</a:t>
            </a:r>
            <a:endPar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lvl="2" eaLnBrk="1" hangingPunct="1">
              <a:buFont typeface="Wingdings" panose="05000000000000000000" pitchFamily="2" charset="2"/>
              <a:buChar char="n"/>
            </a:pPr>
            <a:r>
              <a:rPr lang="en-US" altLang="zh-CN"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CPU</a:t>
            </a: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已经执行完一条指令的最后一个状态周期</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中断时机</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endPar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lvl="1" eaLnBrk="1" hangingPunct="1">
              <a:buFont typeface="Wingdings" panose="05000000000000000000" pitchFamily="2" charset="2"/>
              <a:buChar char="n"/>
            </a:pPr>
            <a:r>
              <a:rPr lang="zh-CN" altLang="en-US" sz="2000" b="1" dirty="0">
                <a:latin typeface="Calibri" panose="020F0502020204030204" pitchFamily="34" charset="0"/>
                <a:ea typeface="微软雅黑" panose="020B0503020204020204" pitchFamily="34" charset="-122"/>
                <a:cs typeface="Calibri" panose="020F0502020204030204" pitchFamily="34" charset="0"/>
              </a:rPr>
              <a:t>中断响应过程（</a:t>
            </a:r>
            <a:r>
              <a:rPr lang="zh-CN" altLang="en-US"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硬件实现</a:t>
            </a:r>
            <a:r>
              <a:rPr lang="zh-CN" altLang="en-US" sz="2000" b="1" dirty="0">
                <a:latin typeface="Calibri" panose="020F0502020204030204" pitchFamily="34" charset="0"/>
                <a:ea typeface="微软雅黑" panose="020B0503020204020204" pitchFamily="34" charset="-122"/>
                <a:cs typeface="Calibri" panose="020F0502020204030204" pitchFamily="34" charset="0"/>
              </a:rPr>
              <a:t>）</a:t>
            </a:r>
            <a:endParaRPr lang="en-US" altLang="zh-CN" sz="2000" b="1" dirty="0">
              <a:latin typeface="Calibri" panose="020F0502020204030204" pitchFamily="34" charset="0"/>
              <a:ea typeface="Calibri" panose="020F0502020204030204" pitchFamily="34" charset="0"/>
              <a:cs typeface="Calibri" panose="020F0502020204030204" pitchFamily="34" charset="0"/>
            </a:endParaRPr>
          </a:p>
          <a:p>
            <a:pPr lvl="2" eaLnBrk="1" hangingPunct="1">
              <a:buFont typeface="Wingdings" panose="05000000000000000000" pitchFamily="2" charset="2"/>
              <a:buChar char="n"/>
            </a:pP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CPU</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的中断响应周期要完成以下工作</a:t>
            </a:r>
            <a:endPar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marL="1527175" lvl="3" eaLnBrk="1" hangingPunct="1">
              <a:buFont typeface="Wingdings" panose="05000000000000000000" pitchFamily="2" charset="2"/>
              <a:buChar char="n"/>
            </a:pPr>
            <a:r>
              <a:rPr lang="zh-CN" altLang="en-US" sz="16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关中断</a:t>
            </a:r>
            <a:r>
              <a:rPr lang="zh-CN" altLang="en-US"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：关中断的目的是</a:t>
            </a:r>
            <a:r>
              <a:rPr lang="zh-CN" altLang="en-US" sz="16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临时禁止新</a:t>
            </a:r>
            <a:r>
              <a:rPr lang="zh-CN" altLang="en-US"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的中断请求，是为了在中断响应周期以及中断服务程序中保护现场操作的完整性，只有这样才能保证中断服务程序执行完成后，能返回断点正确执行。</a:t>
            </a:r>
            <a:endParaRPr lang="en-US" altLang="zh-CN"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marL="1527175" lvl="3" eaLnBrk="1" hangingPunct="1">
              <a:buFont typeface="Wingdings" panose="05000000000000000000" pitchFamily="2" charset="2"/>
              <a:buChar char="n"/>
            </a:pPr>
            <a:r>
              <a:rPr lang="zh-CN" altLang="en-US" sz="16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保存断点</a:t>
            </a:r>
            <a:r>
              <a:rPr lang="zh-CN" altLang="en-US"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：保存断点就是保存将来返回被中断程序的位置；对于已经执行完毕的指令，</a:t>
            </a:r>
            <a:r>
              <a:rPr lang="zh-CN" altLang="en-US" sz="16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断点是下一条指令的位置</a:t>
            </a:r>
            <a:r>
              <a:rPr lang="zh-CN" altLang="en-US"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；对于缺页故障、段错等执行指令引起的故障异常，由于指令并没有执行，</a:t>
            </a:r>
            <a:r>
              <a:rPr lang="zh-CN" altLang="en-US" sz="16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断点就是异常指令的</a:t>
            </a:r>
            <a:r>
              <a:rPr lang="en-US" altLang="zh-CN" sz="16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PC</a:t>
            </a:r>
            <a:r>
              <a:rPr lang="zh-CN" altLang="en-US" sz="16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值。</a:t>
            </a:r>
            <a:endParaRPr lang="en-US" altLang="zh-CN" sz="1600" b="1" dirty="0">
              <a:solidFill>
                <a:srgbClr val="C00000"/>
              </a:solidFill>
              <a:latin typeface="Calibri" panose="020F0502020204030204" pitchFamily="34" charset="0"/>
              <a:ea typeface="微软雅黑" panose="020B0503020204020204" pitchFamily="34" charset="-122"/>
              <a:cs typeface="Calibri" panose="020F0502020204030204" pitchFamily="34" charset="0"/>
            </a:endParaRPr>
          </a:p>
          <a:p>
            <a:pPr marL="1527175" lvl="3" eaLnBrk="1" hangingPunct="1">
              <a:buFont typeface="Wingdings" panose="05000000000000000000" pitchFamily="2" charset="2"/>
              <a:buChar char="n"/>
            </a:pPr>
            <a:r>
              <a:rPr lang="zh-CN" altLang="en-US" sz="16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中断识别</a:t>
            </a:r>
            <a:r>
              <a:rPr lang="zh-CN" altLang="en-US"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：中断识别的主要任务就是根据当前的中断请求识别中断来源，将中断服务程序入口地址送入程序计数器</a:t>
            </a:r>
            <a:r>
              <a:rPr lang="en-US" altLang="zh-CN"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PC</a:t>
            </a:r>
            <a:r>
              <a:rPr lang="zh-CN" altLang="en-US" sz="1600" b="1" dirty="0">
                <a:latin typeface="Calibri" panose="020F0502020204030204" pitchFamily="34" charset="0"/>
                <a:ea typeface="微软雅黑" panose="020B0503020204020204" pitchFamily="34" charset="-122"/>
                <a:cs typeface="Calibri" panose="020F0502020204030204" pitchFamily="34" charset="0"/>
              </a:rPr>
              <a:t>。</a:t>
            </a:r>
            <a:endParaRPr lang="en-US" altLang="zh-CN" sz="1600" b="1" dirty="0">
              <a:latin typeface="Calibri" panose="020F0502020204030204" pitchFamily="34" charset="0"/>
              <a:ea typeface="Calibri" panose="020F0502020204030204" pitchFamily="34" charset="0"/>
              <a:cs typeface="Calibri" panose="020F0502020204030204" pitchFamily="34" charset="0"/>
            </a:endParaRPr>
          </a:p>
          <a:p>
            <a:pPr lvl="2" eaLnBrk="1" hangingPunct="1">
              <a:buFont typeface="Wingdings" panose="05000000000000000000" pitchFamily="2" charset="2"/>
              <a:buChar char="n"/>
            </a:pP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由于中断响应过程中</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CPU</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不能执行其他任务，因此中断响应过程由</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CPU</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执行</a:t>
            </a: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中断隐指令</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完成的。</a:t>
            </a:r>
            <a:endPar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marL="1094105" lvl="2" indent="0" eaLnBrk="1" hangingPunct="1">
              <a:buNone/>
            </a:pPr>
            <a:endParaRPr lang="zh-CN" altLang="en-US" sz="2800" dirty="0">
              <a:latin typeface="Calibri" panose="020F0502020204030204" pitchFamily="34" charset="0"/>
              <a:ea typeface="微软雅黑" panose="020B0503020204020204" pitchFamily="34" charset="-122"/>
              <a:cs typeface="Calibri" panose="020F0502020204030204" pitchFamily="34" charset="0"/>
            </a:endParaRPr>
          </a:p>
        </p:txBody>
      </p:sp>
    </p:spTree>
    <p:extLst>
      <p:ext uri="{BB962C8B-B14F-4D97-AF65-F5344CB8AC3E}">
        <p14:creationId xmlns:p14="http://schemas.microsoft.com/office/powerpoint/2010/main" val="3463036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281ED3-03DB-4D1C-A649-27057885348E}"/>
              </a:ext>
            </a:extLst>
          </p:cNvPr>
          <p:cNvSpPr>
            <a:spLocks noGrp="1"/>
          </p:cNvSpPr>
          <p:nvPr>
            <p:ph type="title"/>
          </p:nvPr>
        </p:nvSpPr>
        <p:spPr>
          <a:xfrm>
            <a:off x="304800" y="233434"/>
            <a:ext cx="11277600" cy="688975"/>
          </a:xfrm>
        </p:spPr>
        <p:txBody>
          <a:bodyPr/>
          <a:lstStyle/>
          <a:p>
            <a:r>
              <a:rPr lang="en-US" altLang="zh-CN" dirty="0">
                <a:latin typeface="微软雅黑" panose="020B0503020204020204" pitchFamily="34" charset="-122"/>
                <a:ea typeface="微软雅黑" panose="020B0503020204020204" pitchFamily="34" charset="-122"/>
              </a:rPr>
              <a:t>6.7 </a:t>
            </a:r>
            <a:r>
              <a:rPr lang="zh-CN" altLang="en-US" dirty="0">
                <a:latin typeface="微软雅黑" panose="020B0503020204020204" pitchFamily="34" charset="-122"/>
                <a:ea typeface="微软雅黑" panose="020B0503020204020204" pitchFamily="34" charset="-122"/>
              </a:rPr>
              <a:t>异常与中断处理</a:t>
            </a:r>
          </a:p>
        </p:txBody>
      </p:sp>
      <p:sp>
        <p:nvSpPr>
          <p:cNvPr id="3" name="内容占位符 2">
            <a:extLst>
              <a:ext uri="{FF2B5EF4-FFF2-40B4-BE49-F238E27FC236}">
                <a16:creationId xmlns:a16="http://schemas.microsoft.com/office/drawing/2014/main" id="{5E021115-B4F8-4E0B-9439-11664D7355DB}"/>
              </a:ext>
            </a:extLst>
          </p:cNvPr>
          <p:cNvSpPr>
            <a:spLocks noGrp="1"/>
          </p:cNvSpPr>
          <p:nvPr>
            <p:ph idx="1"/>
          </p:nvPr>
        </p:nvSpPr>
        <p:spPr>
          <a:xfrm>
            <a:off x="457199" y="922410"/>
            <a:ext cx="10950607" cy="3649590"/>
          </a:xfrm>
        </p:spPr>
        <p:txBody>
          <a:bodyPr/>
          <a:lstStyle/>
          <a:p>
            <a:r>
              <a:rPr lang="zh-CN" altLang="en-US" b="1" dirty="0">
                <a:latin typeface="微软雅黑" panose="020B0503020204020204" pitchFamily="34" charset="-122"/>
                <a:ea typeface="微软雅黑" panose="020B0503020204020204" pitchFamily="34" charset="-122"/>
                <a:cs typeface="Calibri" panose="020F0502020204030204" pitchFamily="34" charset="0"/>
              </a:rPr>
              <a:t>第</a:t>
            </a:r>
            <a:r>
              <a:rPr lang="en-US" altLang="zh-CN" b="1" dirty="0">
                <a:latin typeface="微软雅黑" panose="020B0503020204020204" pitchFamily="34" charset="-122"/>
                <a:ea typeface="微软雅黑" panose="020B0503020204020204" pitchFamily="34" charset="-122"/>
                <a:cs typeface="Calibri" panose="020F0502020204030204" pitchFamily="34" charset="0"/>
              </a:rPr>
              <a:t>III</a:t>
            </a:r>
            <a:r>
              <a:rPr lang="zh-CN" altLang="en-US" b="1" dirty="0">
                <a:latin typeface="微软雅黑" panose="020B0503020204020204" pitchFamily="34" charset="-122"/>
                <a:ea typeface="微软雅黑" panose="020B0503020204020204" pitchFamily="34" charset="-122"/>
                <a:cs typeface="Calibri" panose="020F0502020204030204" pitchFamily="34" charset="0"/>
              </a:rPr>
              <a:t>步：中断识别</a:t>
            </a:r>
            <a:endParaRPr lang="en-US" altLang="zh-CN" b="1" dirty="0">
              <a:latin typeface="微软雅黑" panose="020B0503020204020204" pitchFamily="34" charset="-122"/>
              <a:ea typeface="微软雅黑" panose="020B0503020204020204" pitchFamily="34" charset="-122"/>
              <a:cs typeface="Calibri" panose="020F0502020204030204" pitchFamily="34" charset="0"/>
            </a:endParaRPr>
          </a:p>
          <a:p>
            <a:pPr lvl="1" eaLnBrk="1" hangingPunct="1">
              <a:buFont typeface="Wingdings" panose="05000000000000000000" pitchFamily="2" charset="2"/>
              <a:buChar char="p"/>
            </a:pPr>
            <a:r>
              <a:rPr lang="zh-CN" altLang="en-US" sz="1800" b="1" dirty="0">
                <a:latin typeface="Calibri" panose="020F0502020204030204" pitchFamily="34" charset="0"/>
                <a:ea typeface="微软雅黑" panose="020B0503020204020204" pitchFamily="34" charset="-122"/>
                <a:cs typeface="Calibri" panose="020F0502020204030204" pitchFamily="34" charset="0"/>
              </a:rPr>
              <a:t>中断识别的任务是确定中断是由哪个中断源发出的，并获取中断服务程序入口地址；中断识别分为</a:t>
            </a: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非向量中断</a:t>
            </a:r>
            <a:r>
              <a:rPr lang="zh-CN" altLang="en-US" sz="1800" b="1" dirty="0">
                <a:latin typeface="Calibri" panose="020F0502020204030204" pitchFamily="34" charset="0"/>
                <a:ea typeface="微软雅黑" panose="020B0503020204020204" pitchFamily="34" charset="-122"/>
                <a:cs typeface="Calibri" panose="020F0502020204030204" pitchFamily="34" charset="0"/>
              </a:rPr>
              <a:t>和</a:t>
            </a: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向量中断</a:t>
            </a:r>
            <a:r>
              <a:rPr lang="zh-CN" altLang="en-US" sz="1800" b="1" dirty="0">
                <a:latin typeface="Calibri" panose="020F0502020204030204" pitchFamily="34" charset="0"/>
                <a:ea typeface="微软雅黑" panose="020B0503020204020204" pitchFamily="34" charset="-122"/>
                <a:cs typeface="Calibri" panose="020F0502020204030204" pitchFamily="34" charset="0"/>
              </a:rPr>
              <a:t>两种。</a:t>
            </a:r>
            <a:endParaRPr lang="en-US" altLang="zh-CN" sz="1800" b="1" dirty="0">
              <a:latin typeface="Calibri" panose="020F0502020204030204" pitchFamily="34" charset="0"/>
              <a:ea typeface="Calibri" panose="020F0502020204030204" pitchFamily="34" charset="0"/>
              <a:cs typeface="Calibri" panose="020F0502020204030204" pitchFamily="34" charset="0"/>
            </a:endParaRPr>
          </a:p>
          <a:p>
            <a:pPr lvl="1" eaLnBrk="1" hangingPunct="1">
              <a:buFont typeface="Wingdings" panose="05000000000000000000" pitchFamily="2" charset="2"/>
              <a:buChar char="p"/>
            </a:pP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非向量中断</a:t>
            </a:r>
            <a:r>
              <a:rPr lang="zh-CN" altLang="en-US" sz="1800" b="1" dirty="0">
                <a:latin typeface="Calibri" panose="020F0502020204030204" pitchFamily="34" charset="0"/>
                <a:ea typeface="微软雅黑" panose="020B0503020204020204" pitchFamily="34" charset="-122"/>
                <a:cs typeface="Calibri" panose="020F0502020204030204" pitchFamily="34" charset="0"/>
              </a:rPr>
              <a:t>属于共享中断请求信号的软件查询法；</a:t>
            </a:r>
            <a:r>
              <a:rPr lang="en-US" altLang="zh-CN" sz="1800" b="1" dirty="0">
                <a:latin typeface="Calibri" panose="020F0502020204030204" pitchFamily="34" charset="0"/>
                <a:ea typeface="Calibri" panose="020F0502020204030204" pitchFamily="34" charset="0"/>
                <a:cs typeface="Calibri" panose="020F0502020204030204" pitchFamily="34" charset="0"/>
              </a:rPr>
              <a:t>CPU</a:t>
            </a:r>
            <a:r>
              <a:rPr lang="zh-CN" altLang="en-US" sz="1800" b="1" dirty="0">
                <a:latin typeface="Calibri" panose="020F0502020204030204" pitchFamily="34" charset="0"/>
                <a:ea typeface="微软雅黑" panose="020B0503020204020204" pitchFamily="34" charset="-122"/>
                <a:cs typeface="Calibri" panose="020F0502020204030204" pitchFamily="34" charset="0"/>
              </a:rPr>
              <a:t>响应中断后，跳转到固定地址去执行</a:t>
            </a: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中断查询程序</a:t>
            </a:r>
            <a:r>
              <a:rPr lang="zh-CN" altLang="en-US" sz="1800" b="1" dirty="0">
                <a:latin typeface="Calibri" panose="020F0502020204030204" pitchFamily="34" charset="0"/>
                <a:ea typeface="微软雅黑" panose="020B0503020204020204" pitchFamily="34" charset="-122"/>
                <a:cs typeface="Calibri" panose="020F0502020204030204" pitchFamily="34" charset="0"/>
              </a:rPr>
              <a:t>，由</a:t>
            </a: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中断查询程序</a:t>
            </a:r>
            <a:r>
              <a:rPr lang="zh-CN" altLang="en-US" sz="1800" b="1" dirty="0">
                <a:latin typeface="Calibri" panose="020F0502020204030204" pitchFamily="34" charset="0"/>
                <a:ea typeface="微软雅黑" panose="020B0503020204020204" pitchFamily="34" charset="-122"/>
                <a:cs typeface="Calibri" panose="020F0502020204030204" pitchFamily="34" charset="0"/>
              </a:rPr>
              <a:t>确定是哪一个设备申请中断，并获取中断服务程序入口地址。</a:t>
            </a:r>
            <a:endParaRPr lang="en-US" altLang="zh-CN" sz="1800" b="1" dirty="0">
              <a:latin typeface="Calibri" panose="020F0502020204030204" pitchFamily="34" charset="0"/>
              <a:ea typeface="Calibri" panose="020F0502020204030204" pitchFamily="34" charset="0"/>
              <a:cs typeface="Calibri" panose="020F0502020204030204" pitchFamily="34" charset="0"/>
            </a:endParaRPr>
          </a:p>
          <a:p>
            <a:pPr lvl="1" eaLnBrk="1" hangingPunct="1">
              <a:buFont typeface="Wingdings" panose="05000000000000000000" pitchFamily="2" charset="2"/>
              <a:buChar char="p"/>
            </a:pP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向量中断</a:t>
            </a:r>
            <a:endParaRPr lang="en-US" altLang="zh-CN"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endParaRPr>
          </a:p>
          <a:p>
            <a:pPr lvl="2" eaLnBrk="1" hangingPunct="1">
              <a:buFont typeface="Wingdings" panose="05000000000000000000" pitchFamily="2" charset="2"/>
              <a:buChar char="n"/>
            </a:pPr>
            <a:r>
              <a:rPr lang="zh-CN" altLang="en-US" sz="1800" b="1" dirty="0">
                <a:solidFill>
                  <a:srgbClr val="274FA2"/>
                </a:solidFill>
                <a:latin typeface="Calibri" panose="020F0502020204030204" pitchFamily="34" charset="0"/>
                <a:ea typeface="微软雅黑" panose="020B0503020204020204" pitchFamily="34" charset="-122"/>
                <a:cs typeface="Calibri" panose="020F0502020204030204" pitchFamily="34" charset="0"/>
              </a:rPr>
              <a:t>向量中断</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中每一个设备的中断源都有一个唯一的中断编号，称为</a:t>
            </a: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中断号</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CPU</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根据中断号快速查找中断服务程序入口地址的方法称为</a:t>
            </a: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向量中断法</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endPar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lvl="2" eaLnBrk="1" hangingPunct="1">
              <a:buFont typeface="Wingdings" panose="05000000000000000000" pitchFamily="2" charset="2"/>
              <a:buChar char="n"/>
            </a:pP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中断号是由计算机系统统一分配，通常是固定不变的；</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x86</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计算机共有</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256</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个中断号（</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0</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255</a:t>
            </a:r>
            <a:r>
              <a:rPr lang="zh-CN" altLang="en-US" sz="1800" b="1" dirty="0">
                <a:latin typeface="Calibri" panose="020F0502020204030204" pitchFamily="34" charset="0"/>
                <a:ea typeface="微软雅黑" panose="020B0503020204020204" pitchFamily="34" charset="-122"/>
                <a:cs typeface="Calibri" panose="020F0502020204030204" pitchFamily="34" charset="0"/>
              </a:rPr>
              <a:t>）      </a:t>
            </a:r>
            <a:endParaRPr lang="en-US" altLang="zh-CN" sz="1800" b="1" dirty="0">
              <a:latin typeface="Calibri" panose="020F0502020204030204" pitchFamily="34" charset="0"/>
              <a:ea typeface="微软雅黑" panose="020B0503020204020204" pitchFamily="34" charset="-122"/>
              <a:cs typeface="Calibri" panose="020F0502020204030204" pitchFamily="34" charset="0"/>
            </a:endParaRPr>
          </a:p>
          <a:p>
            <a:pPr marL="1094105" lvl="2" indent="0" eaLnBrk="1" hangingPunct="1">
              <a:buNone/>
            </a:pPr>
            <a:r>
              <a:rPr lang="zh-CN" altLang="en-US" sz="1400" b="1" dirty="0">
                <a:latin typeface="Calibri" panose="020F0502020204030204" pitchFamily="34" charset="0"/>
                <a:ea typeface="微软雅黑" panose="020B0503020204020204" pitchFamily="34" charset="-122"/>
                <a:cs typeface="Calibri" panose="020F0502020204030204" pitchFamily="34" charset="0"/>
              </a:rPr>
              <a:t>                                                                      </a:t>
            </a:r>
            <a:r>
              <a:rPr lang="en-US" altLang="zh-CN" sz="1400" b="1" dirty="0">
                <a:latin typeface="Calibri" panose="020F0502020204030204" pitchFamily="34" charset="0"/>
                <a:ea typeface="微软雅黑" panose="020B0503020204020204" pitchFamily="34" charset="-122"/>
                <a:cs typeface="Calibri" panose="020F0502020204030204" pitchFamily="34" charset="0"/>
              </a:rPr>
              <a:t> </a:t>
            </a:r>
            <a:r>
              <a:rPr lang="en-US" altLang="zh-CN" sz="14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    </a:t>
            </a:r>
          </a:p>
          <a:p>
            <a:pPr marL="1094105" lvl="2" indent="0" eaLnBrk="1" hangingPunct="1">
              <a:buNone/>
            </a:pPr>
            <a:r>
              <a:rPr lang="en-US" altLang="zh-CN" sz="14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                                                                              </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表</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6.2</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 </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8086</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中断号分配</a:t>
            </a:r>
            <a:endParaRPr lang="en-US" altLang="zh-CN"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marL="0" indent="0">
              <a:buNone/>
            </a:pPr>
            <a:endParaRPr lang="zh-CN" altLang="en-US" dirty="0">
              <a:latin typeface="Calibri" panose="020F0502020204030204" pitchFamily="34" charset="0"/>
              <a:ea typeface="微软雅黑" panose="020B0503020204020204" pitchFamily="34" charset="-122"/>
              <a:cs typeface="Calibri" panose="020F0502020204030204" pitchFamily="34" charset="0"/>
            </a:endParaRPr>
          </a:p>
        </p:txBody>
      </p:sp>
      <p:pic>
        <p:nvPicPr>
          <p:cNvPr id="4" name="图片 3">
            <a:extLst>
              <a:ext uri="{FF2B5EF4-FFF2-40B4-BE49-F238E27FC236}">
                <a16:creationId xmlns:a16="http://schemas.microsoft.com/office/drawing/2014/main" id="{1FA55B2B-0058-4541-8B1A-8694E31F1254}"/>
              </a:ext>
            </a:extLst>
          </p:cNvPr>
          <p:cNvPicPr>
            <a:picLocks noChangeAspect="1"/>
          </p:cNvPicPr>
          <p:nvPr/>
        </p:nvPicPr>
        <p:blipFill>
          <a:blip r:embed="rId2"/>
          <a:stretch>
            <a:fillRect/>
          </a:stretch>
        </p:blipFill>
        <p:spPr>
          <a:xfrm>
            <a:off x="2384322" y="4614478"/>
            <a:ext cx="7096359" cy="2243522"/>
          </a:xfrm>
          <a:prstGeom prst="rect">
            <a:avLst/>
          </a:prstGeom>
        </p:spPr>
      </p:pic>
    </p:spTree>
    <p:extLst>
      <p:ext uri="{BB962C8B-B14F-4D97-AF65-F5344CB8AC3E}">
        <p14:creationId xmlns:p14="http://schemas.microsoft.com/office/powerpoint/2010/main" val="2964043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0E9AA8-FAFD-48B1-9C4A-6C541592F803}"/>
              </a:ext>
            </a:extLst>
          </p:cNvPr>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6.7 </a:t>
            </a:r>
            <a:r>
              <a:rPr lang="zh-CN" altLang="en-US" dirty="0">
                <a:latin typeface="微软雅黑" panose="020B0503020204020204" pitchFamily="34" charset="-122"/>
                <a:ea typeface="微软雅黑" panose="020B0503020204020204" pitchFamily="34" charset="-122"/>
              </a:rPr>
              <a:t>异常与中断处理</a:t>
            </a:r>
          </a:p>
        </p:txBody>
      </p:sp>
      <p:sp>
        <p:nvSpPr>
          <p:cNvPr id="3" name="内容占位符 2">
            <a:extLst>
              <a:ext uri="{FF2B5EF4-FFF2-40B4-BE49-F238E27FC236}">
                <a16:creationId xmlns:a16="http://schemas.microsoft.com/office/drawing/2014/main" id="{F04DEB50-C559-470E-9959-70C344E70B7E}"/>
              </a:ext>
            </a:extLst>
          </p:cNvPr>
          <p:cNvSpPr>
            <a:spLocks noGrp="1"/>
          </p:cNvSpPr>
          <p:nvPr>
            <p:ph idx="1"/>
          </p:nvPr>
        </p:nvSpPr>
        <p:spPr>
          <a:xfrm>
            <a:off x="526472" y="922468"/>
            <a:ext cx="6487769" cy="5786305"/>
          </a:xfrm>
        </p:spPr>
        <p:txBody>
          <a:bodyPr/>
          <a:lstStyle/>
          <a:p>
            <a:pPr marL="355600" indent="-266700" eaLnBrk="1" hangingPunct="1">
              <a:buFont typeface="Wingdings" panose="05000000000000000000" pitchFamily="2" charset="2"/>
              <a:buChar char="n"/>
            </a:pPr>
            <a:r>
              <a:rPr lang="zh-CN" altLang="en-US" sz="2400" b="1" dirty="0">
                <a:latin typeface="Calibri" panose="020F0502020204030204" pitchFamily="34" charset="0"/>
                <a:ea typeface="微软雅黑" panose="020B0503020204020204" pitchFamily="34" charset="-122"/>
                <a:cs typeface="Calibri" panose="020F0502020204030204" pitchFamily="34" charset="0"/>
              </a:rPr>
              <a:t>向量中断法</a:t>
            </a:r>
            <a:endParaRPr lang="en-US" altLang="zh-CN" sz="2400" b="1" dirty="0">
              <a:latin typeface="Calibri" panose="020F0502020204030204" pitchFamily="34" charset="0"/>
              <a:ea typeface="微软雅黑" panose="020B0503020204020204" pitchFamily="34" charset="-122"/>
              <a:cs typeface="Calibri" panose="020F0502020204030204" pitchFamily="34" charset="0"/>
            </a:endParaRPr>
          </a:p>
          <a:p>
            <a:pPr marL="719138" lvl="1" indent="-274638" defTabSz="719138" eaLnBrk="1" hangingPunct="1">
              <a:buFont typeface="Wingdings" panose="05000000000000000000" pitchFamily="2" charset="2"/>
              <a:buChar char="n"/>
            </a:pPr>
            <a:r>
              <a:rPr lang="zh-CN" altLang="en-US" sz="1800" b="1" dirty="0">
                <a:latin typeface="Calibri" panose="020F0502020204030204" pitchFamily="34" charset="0"/>
                <a:ea typeface="微软雅黑" panose="020B0503020204020204" pitchFamily="34" charset="-122"/>
                <a:cs typeface="Calibri" panose="020F0502020204030204" pitchFamily="34" charset="0"/>
              </a:rPr>
              <a:t>根据中断号，在</a:t>
            </a: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中断向量表</a:t>
            </a:r>
            <a:r>
              <a:rPr lang="zh-CN" altLang="en-US" sz="1800" b="1" dirty="0">
                <a:latin typeface="Calibri" panose="020F0502020204030204" pitchFamily="34" charset="0"/>
                <a:ea typeface="微软雅黑" panose="020B0503020204020204" pitchFamily="34" charset="-122"/>
                <a:cs typeface="Calibri" panose="020F0502020204030204" pitchFamily="34" charset="0"/>
              </a:rPr>
              <a:t>中，可以查找得到</a:t>
            </a: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中断服务程序入口地址</a:t>
            </a:r>
            <a:r>
              <a:rPr lang="zh-CN" altLang="en-US" sz="1800" b="1" dirty="0">
                <a:latin typeface="Calibri" panose="020F0502020204030204" pitchFamily="34" charset="0"/>
                <a:ea typeface="微软雅黑" panose="020B0503020204020204" pitchFamily="34" charset="-122"/>
                <a:cs typeface="Calibri" panose="020F0502020204030204" pitchFamily="34" charset="0"/>
              </a:rPr>
              <a:t>。</a:t>
            </a:r>
            <a:endParaRPr lang="en-US" altLang="zh-CN" sz="1800" b="1" dirty="0">
              <a:latin typeface="Calibri" panose="020F0502020204030204" pitchFamily="34" charset="0"/>
              <a:ea typeface="Calibri" panose="020F0502020204030204" pitchFamily="34" charset="0"/>
              <a:cs typeface="Calibri" panose="020F0502020204030204" pitchFamily="34" charset="0"/>
            </a:endParaRPr>
          </a:p>
          <a:p>
            <a:pPr marL="719138" lvl="1" indent="-274638" defTabSz="719138" eaLnBrk="1" hangingPunct="1">
              <a:buFont typeface="Wingdings" panose="05000000000000000000" pitchFamily="2" charset="2"/>
              <a:buChar char="n"/>
            </a:pPr>
            <a:r>
              <a:rPr lang="zh-CN" altLang="en-US" sz="1800" b="1" dirty="0">
                <a:latin typeface="Calibri" panose="020F0502020204030204" pitchFamily="34" charset="0"/>
                <a:ea typeface="微软雅黑" panose="020B0503020204020204" pitchFamily="34" charset="-122"/>
                <a:cs typeface="Calibri" panose="020F0502020204030204" pitchFamily="34" charset="0"/>
              </a:rPr>
              <a:t>中断向量表通常存放在内存中，中断向量表中存放的内容称为</a:t>
            </a: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中断向量</a:t>
            </a:r>
            <a:r>
              <a:rPr lang="zh-CN" altLang="en-US" sz="1800" b="1" dirty="0">
                <a:latin typeface="Calibri" panose="020F0502020204030204" pitchFamily="34" charset="0"/>
                <a:ea typeface="微软雅黑" panose="020B0503020204020204" pitchFamily="34" charset="-122"/>
                <a:cs typeface="Calibri" panose="020F0502020204030204" pitchFamily="34" charset="0"/>
              </a:rPr>
              <a:t>，即中断服务程序入口地址；有些计算机将中断服务程序入口地址和程序状态字合在一起称为中断向量。</a:t>
            </a:r>
            <a:endParaRPr lang="en-US" altLang="zh-CN" sz="1800" b="1" dirty="0">
              <a:latin typeface="Calibri" panose="020F0502020204030204" pitchFamily="34" charset="0"/>
              <a:ea typeface="Calibri" panose="020F0502020204030204" pitchFamily="34" charset="0"/>
              <a:cs typeface="Calibri" panose="020F0502020204030204" pitchFamily="34" charset="0"/>
            </a:endParaRPr>
          </a:p>
          <a:p>
            <a:pPr marL="719138" lvl="1" indent="-274638" defTabSz="719138" eaLnBrk="1" hangingPunct="1">
              <a:buFont typeface="Wingdings" panose="05000000000000000000" pitchFamily="2" charset="2"/>
              <a:buChar char="n"/>
            </a:pPr>
            <a:r>
              <a:rPr lang="zh-CN" altLang="en-US" sz="1800" b="1" dirty="0">
                <a:latin typeface="Calibri" panose="020F0502020204030204" pitchFamily="34" charset="0"/>
                <a:ea typeface="微软雅黑" panose="020B0503020204020204" pitchFamily="34" charset="-122"/>
                <a:cs typeface="Calibri" panose="020F0502020204030204" pitchFamily="34" charset="0"/>
              </a:rPr>
              <a:t>中断向量在中断向量表中的地址称为</a:t>
            </a: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向量地址</a:t>
            </a:r>
            <a:r>
              <a:rPr lang="zh-CN" altLang="en-US" sz="1800" b="1" dirty="0">
                <a:latin typeface="Calibri" panose="020F0502020204030204" pitchFamily="34" charset="0"/>
                <a:ea typeface="微软雅黑" panose="020B0503020204020204" pitchFamily="34" charset="-122"/>
                <a:cs typeface="Calibri" panose="020F0502020204030204" pitchFamily="34" charset="0"/>
              </a:rPr>
              <a:t>。</a:t>
            </a:r>
            <a:endParaRPr lang="en-US" altLang="zh-CN" sz="1800" b="1" dirty="0">
              <a:latin typeface="Calibri" panose="020F0502020204030204" pitchFamily="34" charset="0"/>
              <a:ea typeface="Calibri" panose="020F0502020204030204" pitchFamily="34" charset="0"/>
              <a:cs typeface="Calibri" panose="020F0502020204030204" pitchFamily="34" charset="0"/>
            </a:endParaRPr>
          </a:p>
          <a:p>
            <a:pPr marL="719138" lvl="1" indent="-274638" defTabSz="719138" eaLnBrk="1" hangingPunct="1">
              <a:buFont typeface="Wingdings" panose="05000000000000000000" pitchFamily="2" charset="2"/>
              <a:buChar char="n"/>
            </a:pPr>
            <a:r>
              <a:rPr lang="zh-CN" altLang="en-US" sz="1800" b="1" dirty="0">
                <a:latin typeface="Calibri" panose="020F0502020204030204" pitchFamily="34" charset="0"/>
                <a:ea typeface="微软雅黑" panose="020B0503020204020204" pitchFamily="34" charset="-122"/>
                <a:cs typeface="Calibri" panose="020F0502020204030204" pitchFamily="34" charset="0"/>
              </a:rPr>
              <a:t>图</a:t>
            </a:r>
            <a:r>
              <a:rPr lang="en-US" altLang="zh-CN" sz="1800" b="1" dirty="0">
                <a:latin typeface="Calibri" panose="020F0502020204030204" pitchFamily="34" charset="0"/>
                <a:ea typeface="Calibri" panose="020F0502020204030204" pitchFamily="34" charset="0"/>
                <a:cs typeface="Calibri" panose="020F0502020204030204" pitchFamily="34" charset="0"/>
              </a:rPr>
              <a:t>6.10</a:t>
            </a:r>
            <a:r>
              <a:rPr lang="zh-CN" altLang="en-US" sz="1800" b="1" dirty="0">
                <a:latin typeface="Calibri" panose="020F0502020204030204" pitchFamily="34" charset="0"/>
                <a:ea typeface="微软雅黑" panose="020B0503020204020204" pitchFamily="34" charset="-122"/>
                <a:cs typeface="Calibri" panose="020F0502020204030204" pitchFamily="34" charset="0"/>
              </a:rPr>
              <a:t>为</a:t>
            </a: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中断向量表、中断向量、向量地址</a:t>
            </a:r>
            <a:r>
              <a:rPr lang="zh-CN" altLang="en-US" sz="1800" b="1" dirty="0">
                <a:latin typeface="Calibri" panose="020F0502020204030204" pitchFamily="34" charset="0"/>
                <a:ea typeface="微软雅黑" panose="020B0503020204020204" pitchFamily="34" charset="-122"/>
                <a:cs typeface="Calibri" panose="020F0502020204030204" pitchFamily="34" charset="0"/>
              </a:rPr>
              <a:t>之间的关系；其中</a:t>
            </a:r>
            <a:r>
              <a:rPr lang="en-US" altLang="zh-CN" sz="1800" b="1" dirty="0" err="1">
                <a:solidFill>
                  <a:srgbClr val="C00000"/>
                </a:solidFill>
                <a:latin typeface="Calibri" panose="020F0502020204030204" pitchFamily="34" charset="0"/>
                <a:ea typeface="Calibri" panose="020F0502020204030204" pitchFamily="34" charset="0"/>
                <a:cs typeface="Calibri" panose="020F0502020204030204" pitchFamily="34" charset="0"/>
              </a:rPr>
              <a:t>PCi</a:t>
            </a: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和</a:t>
            </a:r>
            <a:r>
              <a:rPr lang="en-US" altLang="zh-CN" sz="1800" b="1" dirty="0" err="1">
                <a:solidFill>
                  <a:srgbClr val="C00000"/>
                </a:solidFill>
                <a:latin typeface="Calibri" panose="020F0502020204030204" pitchFamily="34" charset="0"/>
                <a:ea typeface="Calibri" panose="020F0502020204030204" pitchFamily="34" charset="0"/>
                <a:cs typeface="Calibri" panose="020F0502020204030204" pitchFamily="34" charset="0"/>
              </a:rPr>
              <a:t>PSWi</a:t>
            </a:r>
            <a:r>
              <a:rPr lang="zh-CN" altLang="en-US" sz="1800" b="1" dirty="0">
                <a:latin typeface="Calibri" panose="020F0502020204030204" pitchFamily="34" charset="0"/>
                <a:ea typeface="微软雅黑" panose="020B0503020204020204" pitchFamily="34" charset="-122"/>
                <a:cs typeface="Calibri" panose="020F0502020204030204" pitchFamily="34" charset="0"/>
              </a:rPr>
              <a:t>为第</a:t>
            </a:r>
            <a:r>
              <a:rPr lang="en-US" altLang="zh-CN" sz="1800" b="1" dirty="0" err="1">
                <a:latin typeface="Calibri" panose="020F0502020204030204" pitchFamily="34" charset="0"/>
                <a:ea typeface="Calibri" panose="020F0502020204030204" pitchFamily="34" charset="0"/>
                <a:cs typeface="Calibri" panose="020F0502020204030204" pitchFamily="34" charset="0"/>
              </a:rPr>
              <a:t>i</a:t>
            </a:r>
            <a:r>
              <a:rPr lang="zh-CN" altLang="en-US" sz="1800" b="1" dirty="0">
                <a:latin typeface="Calibri" panose="020F0502020204030204" pitchFamily="34" charset="0"/>
                <a:ea typeface="微软雅黑" panose="020B0503020204020204" pitchFamily="34" charset="-122"/>
                <a:cs typeface="Calibri" panose="020F0502020204030204" pitchFamily="34" charset="0"/>
              </a:rPr>
              <a:t>个中断源的中断服务程序入口地址和程序状态字。</a:t>
            </a:r>
            <a:endParaRPr lang="en-US" altLang="zh-CN" sz="1800" b="1" dirty="0">
              <a:latin typeface="Calibri" panose="020F0502020204030204" pitchFamily="34" charset="0"/>
              <a:ea typeface="Calibri" panose="020F0502020204030204" pitchFamily="34" charset="0"/>
              <a:cs typeface="Calibri" panose="020F0502020204030204" pitchFamily="34" charset="0"/>
            </a:endParaRPr>
          </a:p>
          <a:p>
            <a:pPr marL="719138" lvl="1" indent="-274638" defTabSz="719138" eaLnBrk="1" hangingPunct="1">
              <a:buFont typeface="Wingdings" panose="05000000000000000000" pitchFamily="2" charset="2"/>
              <a:buChar char="n"/>
            </a:pPr>
            <a:r>
              <a:rPr lang="zh-CN" altLang="en-US" sz="1800" b="1" dirty="0">
                <a:latin typeface="Calibri" panose="020F0502020204030204" pitchFamily="34" charset="0"/>
                <a:ea typeface="微软雅黑" panose="020B0503020204020204" pitchFamily="34" charset="-122"/>
                <a:cs typeface="Calibri" panose="020F0502020204030204" pitchFamily="34" charset="0"/>
              </a:rPr>
              <a:t>图</a:t>
            </a:r>
            <a:r>
              <a:rPr lang="en-US" altLang="zh-CN" sz="1800" b="1" dirty="0">
                <a:latin typeface="Calibri" panose="020F0502020204030204" pitchFamily="34" charset="0"/>
                <a:ea typeface="Calibri" panose="020F0502020204030204" pitchFamily="34" charset="0"/>
                <a:cs typeface="Calibri" panose="020F0502020204030204" pitchFamily="34" charset="0"/>
              </a:rPr>
              <a:t>6.11</a:t>
            </a:r>
            <a:r>
              <a:rPr lang="zh-CN" altLang="en-US" sz="1800" b="1" dirty="0">
                <a:latin typeface="Calibri" panose="020F0502020204030204" pitchFamily="34" charset="0"/>
                <a:ea typeface="微软雅黑" panose="020B0503020204020204" pitchFamily="34" charset="-122"/>
                <a:cs typeface="Calibri" panose="020F0502020204030204" pitchFamily="34" charset="0"/>
              </a:rPr>
              <a:t>为</a:t>
            </a:r>
            <a:r>
              <a:rPr lang="en-US" altLang="zh-CN" sz="1800" b="1" dirty="0">
                <a:latin typeface="Calibri" panose="020F0502020204030204" pitchFamily="34" charset="0"/>
                <a:ea typeface="Calibri" panose="020F0502020204030204" pitchFamily="34" charset="0"/>
                <a:cs typeface="Calibri" panose="020F0502020204030204" pitchFamily="34" charset="0"/>
              </a:rPr>
              <a:t>8086</a:t>
            </a:r>
            <a:r>
              <a:rPr lang="zh-CN" altLang="en-US" sz="1800" b="1" dirty="0">
                <a:latin typeface="Calibri" panose="020F0502020204030204" pitchFamily="34" charset="0"/>
                <a:ea typeface="微软雅黑" panose="020B0503020204020204" pitchFamily="34" charset="-122"/>
                <a:cs typeface="Calibri" panose="020F0502020204030204" pitchFamily="34" charset="0"/>
              </a:rPr>
              <a:t>计算机的</a:t>
            </a: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中断向量表</a:t>
            </a:r>
            <a:endParaRPr lang="en-US" altLang="zh-CN"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endParaRPr>
          </a:p>
          <a:p>
            <a:pPr marL="1127443" lvl="2" indent="-274638" defTabSz="719138" eaLnBrk="1" hangingPunct="1">
              <a:buFont typeface="Wingdings" panose="05000000000000000000" pitchFamily="2" charset="2"/>
              <a:buChar char="n"/>
            </a:pP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每个中断向量占</a:t>
            </a:r>
            <a:r>
              <a:rPr lang="en-US" altLang="zh-CN"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4</a:t>
            </a: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个字节</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（段地址</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CS=16</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位、段内偏移地址</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IP=16</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位），</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256</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个中断号，共</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256x4=1024=1K</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字节，存放在主存地址为</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0000H</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03FFH</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单元中</a:t>
            </a:r>
            <a:endPar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marL="1127443" lvl="2" indent="-274638" defTabSz="719138" eaLnBrk="1" hangingPunct="1">
              <a:buFont typeface="Wingdings" panose="05000000000000000000" pitchFamily="2" charset="2"/>
              <a:buChar char="n"/>
            </a:pP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假设中断号为</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n</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，则</a:t>
            </a: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向量地址 </a:t>
            </a:r>
            <a:r>
              <a:rPr lang="en-US" altLang="zh-CN"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 nx4</a:t>
            </a:r>
          </a:p>
          <a:p>
            <a:pPr lvl="2" eaLnBrk="1" hangingPunct="1"/>
            <a:endPar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marL="0" indent="0">
              <a:buNone/>
            </a:pPr>
            <a:endParaRPr lang="zh-CN" altLang="en-US" sz="1600" dirty="0">
              <a:latin typeface="Calibri" panose="020F0502020204030204" pitchFamily="34" charset="0"/>
              <a:ea typeface="微软雅黑" panose="020B0503020204020204" pitchFamily="34" charset="-122"/>
              <a:cs typeface="Calibri" panose="020F0502020204030204" pitchFamily="34" charset="0"/>
            </a:endParaRPr>
          </a:p>
        </p:txBody>
      </p:sp>
      <p:grpSp>
        <p:nvGrpSpPr>
          <p:cNvPr id="4" name="组合 3">
            <a:extLst>
              <a:ext uri="{FF2B5EF4-FFF2-40B4-BE49-F238E27FC236}">
                <a16:creationId xmlns:a16="http://schemas.microsoft.com/office/drawing/2014/main" id="{5EDD5221-40D5-4B5B-975E-4C7AF4759BDB}"/>
              </a:ext>
            </a:extLst>
          </p:cNvPr>
          <p:cNvGrpSpPr/>
          <p:nvPr/>
        </p:nvGrpSpPr>
        <p:grpSpPr>
          <a:xfrm>
            <a:off x="7005338" y="1125063"/>
            <a:ext cx="4397359" cy="2829267"/>
            <a:chOff x="735866" y="4296800"/>
            <a:chExt cx="3183832" cy="2311694"/>
          </a:xfrm>
        </p:grpSpPr>
        <p:pic>
          <p:nvPicPr>
            <p:cNvPr id="5" name="图片 4">
              <a:extLst>
                <a:ext uri="{FF2B5EF4-FFF2-40B4-BE49-F238E27FC236}">
                  <a16:creationId xmlns:a16="http://schemas.microsoft.com/office/drawing/2014/main" id="{9413838E-1717-4BBD-94EE-A89906AE6637}"/>
                </a:ext>
              </a:extLst>
            </p:cNvPr>
            <p:cNvPicPr>
              <a:picLocks noChangeAspect="1"/>
            </p:cNvPicPr>
            <p:nvPr/>
          </p:nvPicPr>
          <p:blipFill>
            <a:blip r:embed="rId2"/>
            <a:stretch>
              <a:fillRect/>
            </a:stretch>
          </p:blipFill>
          <p:spPr>
            <a:xfrm>
              <a:off x="1045457" y="4296800"/>
              <a:ext cx="2254884" cy="2050484"/>
            </a:xfrm>
            <a:prstGeom prst="rect">
              <a:avLst/>
            </a:prstGeom>
          </p:spPr>
        </p:pic>
        <p:sp>
          <p:nvSpPr>
            <p:cNvPr id="6" name="文本框 5">
              <a:extLst>
                <a:ext uri="{FF2B5EF4-FFF2-40B4-BE49-F238E27FC236}">
                  <a16:creationId xmlns:a16="http://schemas.microsoft.com/office/drawing/2014/main" id="{E12485A1-1C83-49F3-8898-360A2EF41877}"/>
                </a:ext>
              </a:extLst>
            </p:cNvPr>
            <p:cNvSpPr txBox="1"/>
            <p:nvPr/>
          </p:nvSpPr>
          <p:spPr>
            <a:xfrm>
              <a:off x="735866" y="6357020"/>
              <a:ext cx="3183832" cy="251474"/>
            </a:xfrm>
            <a:prstGeom prst="rect">
              <a:avLst/>
            </a:prstGeom>
            <a:noFill/>
          </p:spPr>
          <p:txBody>
            <a:bodyPr wrap="none" rtlCol="0">
              <a:spAutoFit/>
            </a:bodyPr>
            <a:lstStyle/>
            <a:p>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图</a:t>
              </a:r>
              <a:r>
                <a:rPr lang="en-US" altLang="zh-CN" b="1" dirty="0">
                  <a:solidFill>
                    <a:srgbClr val="133984"/>
                  </a:solidFill>
                  <a:latin typeface="Calibri" panose="020F0502020204030204" pitchFamily="34" charset="0"/>
                  <a:ea typeface="微软雅黑" panose="020B0503020204020204" pitchFamily="34" charset="-122"/>
                  <a:cs typeface="Calibri" panose="020F0502020204030204" pitchFamily="34" charset="0"/>
                </a:rPr>
                <a:t>6.10   </a:t>
              </a:r>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中断向量表、中断向量、向量地址之间的关系</a:t>
              </a:r>
            </a:p>
          </p:txBody>
        </p:sp>
      </p:grpSp>
      <p:grpSp>
        <p:nvGrpSpPr>
          <p:cNvPr id="7" name="组合 6">
            <a:extLst>
              <a:ext uri="{FF2B5EF4-FFF2-40B4-BE49-F238E27FC236}">
                <a16:creationId xmlns:a16="http://schemas.microsoft.com/office/drawing/2014/main" id="{6F74B3E8-60B4-4E57-8FF2-73C4973A7470}"/>
              </a:ext>
            </a:extLst>
          </p:cNvPr>
          <p:cNvGrpSpPr/>
          <p:nvPr/>
        </p:nvGrpSpPr>
        <p:grpSpPr>
          <a:xfrm>
            <a:off x="7710563" y="3899686"/>
            <a:ext cx="2986907" cy="2938705"/>
            <a:chOff x="5481284" y="4417733"/>
            <a:chExt cx="1975189" cy="2296138"/>
          </a:xfrm>
        </p:grpSpPr>
        <p:pic>
          <p:nvPicPr>
            <p:cNvPr id="8" name="图片 7">
              <a:extLst>
                <a:ext uri="{FF2B5EF4-FFF2-40B4-BE49-F238E27FC236}">
                  <a16:creationId xmlns:a16="http://schemas.microsoft.com/office/drawing/2014/main" id="{F14A8838-8A33-4815-B3A7-0EF49302E475}"/>
                </a:ext>
              </a:extLst>
            </p:cNvPr>
            <p:cNvPicPr>
              <a:picLocks noChangeAspect="1"/>
            </p:cNvPicPr>
            <p:nvPr/>
          </p:nvPicPr>
          <p:blipFill>
            <a:blip r:embed="rId3"/>
            <a:stretch>
              <a:fillRect/>
            </a:stretch>
          </p:blipFill>
          <p:spPr>
            <a:xfrm>
              <a:off x="5481284" y="4417733"/>
              <a:ext cx="1975189" cy="2161060"/>
            </a:xfrm>
            <a:prstGeom prst="rect">
              <a:avLst/>
            </a:prstGeom>
          </p:spPr>
        </p:pic>
        <p:sp>
          <p:nvSpPr>
            <p:cNvPr id="9" name="文本框 8">
              <a:extLst>
                <a:ext uri="{FF2B5EF4-FFF2-40B4-BE49-F238E27FC236}">
                  <a16:creationId xmlns:a16="http://schemas.microsoft.com/office/drawing/2014/main" id="{16D12489-E155-4E2E-88A2-96833FFDCC38}"/>
                </a:ext>
              </a:extLst>
            </p:cNvPr>
            <p:cNvSpPr txBox="1"/>
            <p:nvPr/>
          </p:nvSpPr>
          <p:spPr>
            <a:xfrm>
              <a:off x="6005531" y="6492290"/>
              <a:ext cx="1174070" cy="221581"/>
            </a:xfrm>
            <a:prstGeom prst="rect">
              <a:avLst/>
            </a:prstGeom>
            <a:noFill/>
          </p:spPr>
          <p:txBody>
            <a:bodyPr wrap="none" rtlCol="0">
              <a:spAutoFit/>
            </a:bodyPr>
            <a:lstStyle/>
            <a:p>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图</a:t>
              </a:r>
              <a:r>
                <a:rPr lang="en-US" altLang="zh-CN" b="1" dirty="0">
                  <a:solidFill>
                    <a:srgbClr val="133984"/>
                  </a:solidFill>
                  <a:latin typeface="Calibri" panose="020F0502020204030204" pitchFamily="34" charset="0"/>
                  <a:ea typeface="微软雅黑" panose="020B0503020204020204" pitchFamily="34" charset="-122"/>
                  <a:cs typeface="Calibri" panose="020F0502020204030204" pitchFamily="34" charset="0"/>
                </a:rPr>
                <a:t>6.11   8086</a:t>
              </a:r>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中断向量表</a:t>
              </a:r>
            </a:p>
          </p:txBody>
        </p:sp>
      </p:grpSp>
      <p:sp>
        <p:nvSpPr>
          <p:cNvPr id="10" name="文本框 9">
            <a:extLst>
              <a:ext uri="{FF2B5EF4-FFF2-40B4-BE49-F238E27FC236}">
                <a16:creationId xmlns:a16="http://schemas.microsoft.com/office/drawing/2014/main" id="{2FF1606C-2649-42DA-A3BF-4F3A27682A94}"/>
              </a:ext>
            </a:extLst>
          </p:cNvPr>
          <p:cNvSpPr txBox="1"/>
          <p:nvPr/>
        </p:nvSpPr>
        <p:spPr>
          <a:xfrm>
            <a:off x="9611634" y="1678729"/>
            <a:ext cx="939529" cy="307777"/>
          </a:xfrm>
          <a:prstGeom prst="rect">
            <a:avLst/>
          </a:prstGeom>
          <a:solidFill>
            <a:schemeClr val="bg1"/>
          </a:solidFill>
        </p:spPr>
        <p:txBody>
          <a:bodyPr wrap="square" rtlCol="0">
            <a:spAutoFit/>
          </a:bodyPr>
          <a:lstStyle/>
          <a:p>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中断向量</a:t>
            </a:r>
          </a:p>
        </p:txBody>
      </p:sp>
      <p:sp>
        <p:nvSpPr>
          <p:cNvPr id="11" name="文本框 10">
            <a:extLst>
              <a:ext uri="{FF2B5EF4-FFF2-40B4-BE49-F238E27FC236}">
                <a16:creationId xmlns:a16="http://schemas.microsoft.com/office/drawing/2014/main" id="{AD9E981B-295F-4198-A3A4-3F74CD598080}"/>
              </a:ext>
            </a:extLst>
          </p:cNvPr>
          <p:cNvSpPr txBox="1"/>
          <p:nvPr/>
        </p:nvSpPr>
        <p:spPr>
          <a:xfrm>
            <a:off x="9611634" y="2740985"/>
            <a:ext cx="939529" cy="307777"/>
          </a:xfrm>
          <a:prstGeom prst="rect">
            <a:avLst/>
          </a:prstGeom>
          <a:solidFill>
            <a:schemeClr val="bg1"/>
          </a:solidFill>
        </p:spPr>
        <p:txBody>
          <a:bodyPr wrap="square" rtlCol="0">
            <a:spAutoFit/>
          </a:bodyPr>
          <a:lstStyle/>
          <a:p>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中断向量</a:t>
            </a:r>
          </a:p>
        </p:txBody>
      </p:sp>
      <p:sp>
        <p:nvSpPr>
          <p:cNvPr id="12" name="文本框 11">
            <a:extLst>
              <a:ext uri="{FF2B5EF4-FFF2-40B4-BE49-F238E27FC236}">
                <a16:creationId xmlns:a16="http://schemas.microsoft.com/office/drawing/2014/main" id="{3787E1FB-3036-4570-AC2D-9BEA39A2E4A6}"/>
              </a:ext>
            </a:extLst>
          </p:cNvPr>
          <p:cNvSpPr txBox="1"/>
          <p:nvPr/>
        </p:nvSpPr>
        <p:spPr>
          <a:xfrm>
            <a:off x="7344404" y="2197257"/>
            <a:ext cx="939529" cy="307777"/>
          </a:xfrm>
          <a:prstGeom prst="rect">
            <a:avLst/>
          </a:prstGeom>
          <a:solidFill>
            <a:schemeClr val="bg1"/>
          </a:solidFill>
        </p:spPr>
        <p:txBody>
          <a:bodyPr wrap="square" rtlCol="0">
            <a:spAutoFit/>
          </a:bodyPr>
          <a:lstStyle/>
          <a:p>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向量地址</a:t>
            </a:r>
          </a:p>
        </p:txBody>
      </p:sp>
      <p:sp>
        <p:nvSpPr>
          <p:cNvPr id="13" name="文本框 12">
            <a:extLst>
              <a:ext uri="{FF2B5EF4-FFF2-40B4-BE49-F238E27FC236}">
                <a16:creationId xmlns:a16="http://schemas.microsoft.com/office/drawing/2014/main" id="{19815259-AC4A-4C67-9DF5-BDF9C1854810}"/>
              </a:ext>
            </a:extLst>
          </p:cNvPr>
          <p:cNvSpPr txBox="1"/>
          <p:nvPr/>
        </p:nvSpPr>
        <p:spPr>
          <a:xfrm>
            <a:off x="7507223" y="1199488"/>
            <a:ext cx="939529" cy="307777"/>
          </a:xfrm>
          <a:prstGeom prst="rect">
            <a:avLst/>
          </a:prstGeom>
          <a:solidFill>
            <a:schemeClr val="bg1"/>
          </a:solidFill>
        </p:spPr>
        <p:txBody>
          <a:bodyPr wrap="square" rtlCol="0">
            <a:spAutoFit/>
          </a:bodyPr>
          <a:lstStyle/>
          <a:p>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主存地址</a:t>
            </a:r>
          </a:p>
        </p:txBody>
      </p:sp>
      <p:sp>
        <p:nvSpPr>
          <p:cNvPr id="14" name="文本框 13">
            <a:extLst>
              <a:ext uri="{FF2B5EF4-FFF2-40B4-BE49-F238E27FC236}">
                <a16:creationId xmlns:a16="http://schemas.microsoft.com/office/drawing/2014/main" id="{75D091DD-7955-48F6-8FE9-951B63F0715F}"/>
              </a:ext>
            </a:extLst>
          </p:cNvPr>
          <p:cNvSpPr txBox="1"/>
          <p:nvPr/>
        </p:nvSpPr>
        <p:spPr>
          <a:xfrm>
            <a:off x="8627593" y="1130718"/>
            <a:ext cx="939529" cy="307777"/>
          </a:xfrm>
          <a:prstGeom prst="rect">
            <a:avLst/>
          </a:prstGeom>
          <a:solidFill>
            <a:schemeClr val="bg1"/>
          </a:solidFill>
        </p:spPr>
        <p:txBody>
          <a:bodyPr wrap="square" rtlCol="0">
            <a:spAutoFit/>
          </a:bodyPr>
          <a:lstStyle/>
          <a:p>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主存单元</a:t>
            </a:r>
          </a:p>
        </p:txBody>
      </p:sp>
      <p:sp>
        <p:nvSpPr>
          <p:cNvPr id="15" name="文本框 14">
            <a:extLst>
              <a:ext uri="{FF2B5EF4-FFF2-40B4-BE49-F238E27FC236}">
                <a16:creationId xmlns:a16="http://schemas.microsoft.com/office/drawing/2014/main" id="{558A0A18-7660-4E87-939B-ECBFA5E51588}"/>
              </a:ext>
            </a:extLst>
          </p:cNvPr>
          <p:cNvSpPr txBox="1"/>
          <p:nvPr/>
        </p:nvSpPr>
        <p:spPr>
          <a:xfrm>
            <a:off x="8446752" y="3241667"/>
            <a:ext cx="1281750" cy="307777"/>
          </a:xfrm>
          <a:prstGeom prst="rect">
            <a:avLst/>
          </a:prstGeom>
          <a:solidFill>
            <a:schemeClr val="bg1"/>
          </a:solidFill>
        </p:spPr>
        <p:txBody>
          <a:bodyPr wrap="square" rtlCol="0">
            <a:spAutoFit/>
          </a:bodyPr>
          <a:lstStyle/>
          <a:p>
            <a:r>
              <a:rPr lang="zh-CN" altLang="en-US" b="1" dirty="0">
                <a:solidFill>
                  <a:srgbClr val="C00000"/>
                </a:solidFill>
                <a:latin typeface="微软雅黑" panose="020B0503020204020204" pitchFamily="34" charset="-122"/>
                <a:ea typeface="微软雅黑" panose="020B0503020204020204" pitchFamily="34" charset="-122"/>
              </a:rPr>
              <a:t>中断向量表</a:t>
            </a:r>
          </a:p>
        </p:txBody>
      </p:sp>
      <p:sp>
        <p:nvSpPr>
          <p:cNvPr id="17" name="对话气泡: 圆角矩形 16">
            <a:extLst>
              <a:ext uri="{FF2B5EF4-FFF2-40B4-BE49-F238E27FC236}">
                <a16:creationId xmlns:a16="http://schemas.microsoft.com/office/drawing/2014/main" id="{F35230FC-B54D-4DBC-ABAA-293037E3B6A5}"/>
              </a:ext>
            </a:extLst>
          </p:cNvPr>
          <p:cNvSpPr/>
          <p:nvPr/>
        </p:nvSpPr>
        <p:spPr bwMode="auto">
          <a:xfrm>
            <a:off x="196309" y="4992152"/>
            <a:ext cx="949569" cy="862248"/>
          </a:xfrm>
          <a:prstGeom prst="wedgeRoundRectCallout">
            <a:avLst>
              <a:gd name="adj1" fmla="val 71963"/>
              <a:gd name="adj2" fmla="val -24885"/>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50" b="1" dirty="0">
                <a:solidFill>
                  <a:srgbClr val="C00000"/>
                </a:solidFill>
              </a:rPr>
              <a:t>联想一下汇编语言中的查表操作</a:t>
            </a:r>
            <a:r>
              <a:rPr lang="en-US" altLang="zh-CN" sz="1050" b="1" dirty="0">
                <a:solidFill>
                  <a:srgbClr val="C00000"/>
                </a:solidFill>
              </a:rPr>
              <a:t>XLAT</a:t>
            </a:r>
            <a:endParaRPr lang="zh-CN" altLang="en-US" sz="1050" b="1" dirty="0">
              <a:solidFill>
                <a:srgbClr val="C00000"/>
              </a:solidFill>
            </a:endParaRPr>
          </a:p>
        </p:txBody>
      </p:sp>
    </p:spTree>
    <p:extLst>
      <p:ext uri="{BB962C8B-B14F-4D97-AF65-F5344CB8AC3E}">
        <p14:creationId xmlns:p14="http://schemas.microsoft.com/office/powerpoint/2010/main" val="30754405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B1EE24-A2F3-4E3B-9680-45AC975D7549}"/>
              </a:ext>
            </a:extLst>
          </p:cNvPr>
          <p:cNvSpPr>
            <a:spLocks noGrp="1"/>
          </p:cNvSpPr>
          <p:nvPr>
            <p:ph type="title"/>
          </p:nvPr>
        </p:nvSpPr>
        <p:spPr>
          <a:xfrm>
            <a:off x="304800" y="230910"/>
            <a:ext cx="11277600" cy="688975"/>
          </a:xfrm>
        </p:spPr>
        <p:txBody>
          <a:bodyPr/>
          <a:lstStyle/>
          <a:p>
            <a:r>
              <a:rPr lang="en-US" altLang="zh-CN" dirty="0">
                <a:latin typeface="微软雅黑" panose="020B0503020204020204" pitchFamily="34" charset="-122"/>
                <a:ea typeface="微软雅黑" panose="020B0503020204020204" pitchFamily="34" charset="-122"/>
              </a:rPr>
              <a:t>6.7 </a:t>
            </a:r>
            <a:r>
              <a:rPr lang="zh-CN" altLang="en-US" dirty="0">
                <a:latin typeface="微软雅黑" panose="020B0503020204020204" pitchFamily="34" charset="-122"/>
                <a:ea typeface="微软雅黑" panose="020B0503020204020204" pitchFamily="34" charset="-122"/>
              </a:rPr>
              <a:t>异常与中断处理</a:t>
            </a:r>
          </a:p>
        </p:txBody>
      </p:sp>
      <p:sp>
        <p:nvSpPr>
          <p:cNvPr id="3" name="内容占位符 2">
            <a:extLst>
              <a:ext uri="{FF2B5EF4-FFF2-40B4-BE49-F238E27FC236}">
                <a16:creationId xmlns:a16="http://schemas.microsoft.com/office/drawing/2014/main" id="{600ED051-6FFE-48AC-9166-A077D986CC2F}"/>
              </a:ext>
            </a:extLst>
          </p:cNvPr>
          <p:cNvSpPr>
            <a:spLocks noGrp="1"/>
          </p:cNvSpPr>
          <p:nvPr>
            <p:ph idx="1"/>
          </p:nvPr>
        </p:nvSpPr>
        <p:spPr>
          <a:xfrm>
            <a:off x="609600" y="996301"/>
            <a:ext cx="10972800" cy="5732973"/>
          </a:xfrm>
        </p:spPr>
        <p:txBody>
          <a:bodyPr/>
          <a:lstStyle/>
          <a:p>
            <a:pPr>
              <a:lnSpc>
                <a:spcPct val="130000"/>
              </a:lnSpc>
            </a:pPr>
            <a:r>
              <a:rPr lang="zh-CN" altLang="en-US" b="1" dirty="0">
                <a:latin typeface="Calibri" panose="020F0502020204030204" pitchFamily="34" charset="0"/>
                <a:ea typeface="微软雅黑" panose="020B0503020204020204" pitchFamily="34" charset="-122"/>
                <a:cs typeface="Calibri" panose="020F0502020204030204" pitchFamily="34" charset="0"/>
              </a:rPr>
              <a:t>第</a:t>
            </a:r>
            <a:r>
              <a:rPr lang="en-US" altLang="zh-CN" b="1" dirty="0">
                <a:latin typeface="Calibri" panose="020F0502020204030204" pitchFamily="34" charset="0"/>
                <a:ea typeface="微软雅黑" panose="020B0503020204020204" pitchFamily="34" charset="-122"/>
                <a:cs typeface="Calibri" panose="020F0502020204030204" pitchFamily="34" charset="0"/>
              </a:rPr>
              <a:t>IV</a:t>
            </a:r>
            <a:r>
              <a:rPr lang="zh-CN" altLang="en-US" b="1" dirty="0">
                <a:latin typeface="Calibri" panose="020F0502020204030204" pitchFamily="34" charset="0"/>
                <a:ea typeface="微软雅黑" panose="020B0503020204020204" pitchFamily="34" charset="-122"/>
                <a:cs typeface="Calibri" panose="020F0502020204030204" pitchFamily="34" charset="0"/>
              </a:rPr>
              <a:t>步：中断处理（</a:t>
            </a:r>
            <a:r>
              <a:rPr lang="zh-CN" altLang="en-US" b="1" dirty="0">
                <a:solidFill>
                  <a:srgbClr val="C00000"/>
                </a:solidFill>
                <a:latin typeface="Calibri" panose="020F0502020204030204" pitchFamily="34" charset="0"/>
                <a:ea typeface="微软雅黑" panose="020B0503020204020204" pitchFamily="34" charset="-122"/>
                <a:cs typeface="Calibri" panose="020F0502020204030204" pitchFamily="34" charset="0"/>
              </a:rPr>
              <a:t>软件实现</a:t>
            </a:r>
            <a:r>
              <a:rPr lang="zh-CN" altLang="en-US" b="1" dirty="0">
                <a:latin typeface="Calibri" panose="020F0502020204030204" pitchFamily="34" charset="0"/>
                <a:ea typeface="微软雅黑" panose="020B0503020204020204" pitchFamily="34" charset="-122"/>
                <a:cs typeface="Calibri" panose="020F0502020204030204" pitchFamily="34" charset="0"/>
              </a:rPr>
              <a:t>）</a:t>
            </a:r>
            <a:endParaRPr lang="en-US" altLang="zh-CN" b="1" dirty="0">
              <a:latin typeface="Calibri" panose="020F0502020204030204" pitchFamily="34" charset="0"/>
              <a:ea typeface="微软雅黑" panose="020B0503020204020204" pitchFamily="34" charset="-122"/>
              <a:cs typeface="Calibri" panose="020F0502020204030204" pitchFamily="34" charset="0"/>
            </a:endParaRPr>
          </a:p>
          <a:p>
            <a:pPr lvl="1">
              <a:lnSpc>
                <a:spcPct val="130000"/>
              </a:lnSpc>
              <a:buFont typeface="Wingdings" panose="05000000000000000000" pitchFamily="2" charset="2"/>
              <a:buChar char="p"/>
            </a:pPr>
            <a:r>
              <a:rPr lang="zh-CN" altLang="en-US" b="1" dirty="0">
                <a:latin typeface="Calibri" panose="020F0502020204030204" pitchFamily="34" charset="0"/>
                <a:ea typeface="微软雅黑" panose="020B0503020204020204" pitchFamily="34" charset="-122"/>
                <a:cs typeface="Calibri" panose="020F0502020204030204" pitchFamily="34" charset="0"/>
              </a:rPr>
              <a:t>理解单级中断与多重中断处理流程的差异（如图</a:t>
            </a:r>
            <a:r>
              <a:rPr lang="en-US" altLang="zh-CN" b="1" dirty="0">
                <a:latin typeface="Calibri" panose="020F0502020204030204" pitchFamily="34" charset="0"/>
                <a:ea typeface="微软雅黑" panose="020B0503020204020204" pitchFamily="34" charset="-122"/>
                <a:cs typeface="Calibri" panose="020F0502020204030204" pitchFamily="34" charset="0"/>
              </a:rPr>
              <a:t>6.12</a:t>
            </a:r>
            <a:r>
              <a:rPr lang="zh-CN" altLang="en-US" b="1" dirty="0">
                <a:latin typeface="Calibri" panose="020F0502020204030204" pitchFamily="34" charset="0"/>
                <a:ea typeface="微软雅黑" panose="020B0503020204020204" pitchFamily="34" charset="-122"/>
                <a:cs typeface="Calibri" panose="020F0502020204030204" pitchFamily="34" charset="0"/>
              </a:rPr>
              <a:t>所示）</a:t>
            </a:r>
            <a:endParaRPr lang="en-US" altLang="zh-CN" b="1" dirty="0">
              <a:latin typeface="Calibri" panose="020F0502020204030204" pitchFamily="34" charset="0"/>
              <a:ea typeface="Calibri" panose="020F0502020204030204" pitchFamily="34" charset="0"/>
              <a:cs typeface="Calibri" panose="020F0502020204030204" pitchFamily="34" charset="0"/>
            </a:endParaRPr>
          </a:p>
          <a:p>
            <a:pPr marL="989013" lvl="2" indent="0" eaLnBrk="1" hangingPunct="1">
              <a:lnSpc>
                <a:spcPct val="130000"/>
              </a:lnSpc>
              <a:spcBef>
                <a:spcPts val="0"/>
              </a:spcBef>
              <a:buNone/>
            </a:pPr>
            <a:endParaRPr lang="en-US" altLang="zh-CN" sz="1800" b="1" dirty="0">
              <a:latin typeface="Calibri" panose="020F0502020204030204" pitchFamily="34" charset="0"/>
              <a:ea typeface="微软雅黑" panose="020B0503020204020204" pitchFamily="34" charset="-122"/>
              <a:cs typeface="Calibri" panose="020F0502020204030204" pitchFamily="34" charset="0"/>
            </a:endParaRPr>
          </a:p>
          <a:p>
            <a:pPr>
              <a:lnSpc>
                <a:spcPct val="130000"/>
              </a:lnSpc>
            </a:pPr>
            <a:endParaRPr lang="zh-CN" altLang="en-US" dirty="0">
              <a:latin typeface="Calibri" panose="020F0502020204030204" pitchFamily="34" charset="0"/>
              <a:ea typeface="微软雅黑" panose="020B0503020204020204" pitchFamily="34" charset="-122"/>
              <a:cs typeface="Calibri" panose="020F0502020204030204" pitchFamily="34" charset="0"/>
            </a:endParaRPr>
          </a:p>
        </p:txBody>
      </p:sp>
      <p:grpSp>
        <p:nvGrpSpPr>
          <p:cNvPr id="4" name="组合 3">
            <a:extLst>
              <a:ext uri="{FF2B5EF4-FFF2-40B4-BE49-F238E27FC236}">
                <a16:creationId xmlns:a16="http://schemas.microsoft.com/office/drawing/2014/main" id="{836E2683-8B15-4927-BA55-990C92C609B6}"/>
              </a:ext>
            </a:extLst>
          </p:cNvPr>
          <p:cNvGrpSpPr/>
          <p:nvPr/>
        </p:nvGrpSpPr>
        <p:grpSpPr>
          <a:xfrm>
            <a:off x="2123647" y="2330587"/>
            <a:ext cx="2518692" cy="4252604"/>
            <a:chOff x="5386924" y="1844824"/>
            <a:chExt cx="2588893" cy="4678822"/>
          </a:xfrm>
        </p:grpSpPr>
        <p:pic>
          <p:nvPicPr>
            <p:cNvPr id="5" name="图片 4">
              <a:extLst>
                <a:ext uri="{FF2B5EF4-FFF2-40B4-BE49-F238E27FC236}">
                  <a16:creationId xmlns:a16="http://schemas.microsoft.com/office/drawing/2014/main" id="{2E6220C7-0339-4860-A651-86303FE64AC7}"/>
                </a:ext>
              </a:extLst>
            </p:cNvPr>
            <p:cNvPicPr>
              <a:picLocks noChangeAspect="1"/>
            </p:cNvPicPr>
            <p:nvPr/>
          </p:nvPicPr>
          <p:blipFill>
            <a:blip r:embed="rId3"/>
            <a:stretch>
              <a:fillRect/>
            </a:stretch>
          </p:blipFill>
          <p:spPr>
            <a:xfrm>
              <a:off x="5386924" y="1844824"/>
              <a:ext cx="2588893" cy="4231923"/>
            </a:xfrm>
            <a:prstGeom prst="rect">
              <a:avLst/>
            </a:prstGeom>
          </p:spPr>
        </p:pic>
        <p:sp>
          <p:nvSpPr>
            <p:cNvPr id="6" name="文本框 5">
              <a:extLst>
                <a:ext uri="{FF2B5EF4-FFF2-40B4-BE49-F238E27FC236}">
                  <a16:creationId xmlns:a16="http://schemas.microsoft.com/office/drawing/2014/main" id="{D51E46CA-439B-4B80-8FD7-4BEA5F124CAB}"/>
                </a:ext>
              </a:extLst>
            </p:cNvPr>
            <p:cNvSpPr txBox="1"/>
            <p:nvPr/>
          </p:nvSpPr>
          <p:spPr>
            <a:xfrm>
              <a:off x="5548815" y="6261412"/>
              <a:ext cx="1845097" cy="262234"/>
            </a:xfrm>
            <a:prstGeom prst="rect">
              <a:avLst/>
            </a:prstGeom>
            <a:noFill/>
          </p:spPr>
          <p:txBody>
            <a:bodyPr wrap="none" rtlCol="0">
              <a:spAutoFit/>
            </a:bodyPr>
            <a:lstStyle/>
            <a:p>
              <a:r>
                <a:rPr lang="zh-CN" altLang="en-US" sz="1200" b="1" dirty="0">
                  <a:solidFill>
                    <a:srgbClr val="274FA2"/>
                  </a:solidFill>
                  <a:latin typeface="微软雅黑" panose="020B0503020204020204" pitchFamily="34" charset="-122"/>
                  <a:ea typeface="微软雅黑" panose="020B0503020204020204" pitchFamily="34" charset="-122"/>
                </a:rPr>
                <a:t>图</a:t>
              </a:r>
              <a:r>
                <a:rPr lang="en-US" altLang="zh-CN" sz="1200" b="1" dirty="0">
                  <a:solidFill>
                    <a:srgbClr val="274FA2"/>
                  </a:solidFill>
                  <a:latin typeface="微软雅黑" panose="020B0503020204020204" pitchFamily="34" charset="-122"/>
                  <a:ea typeface="微软雅黑" panose="020B0503020204020204" pitchFamily="34" charset="-122"/>
                </a:rPr>
                <a:t>6.12a    </a:t>
              </a:r>
              <a:r>
                <a:rPr lang="zh-CN" altLang="en-US" sz="1200" b="1" dirty="0">
                  <a:solidFill>
                    <a:srgbClr val="274FA2"/>
                  </a:solidFill>
                  <a:latin typeface="微软雅黑" panose="020B0503020204020204" pitchFamily="34" charset="-122"/>
                  <a:ea typeface="微软雅黑" panose="020B0503020204020204" pitchFamily="34" charset="-122"/>
                </a:rPr>
                <a:t>单级中断处理流程</a:t>
              </a:r>
            </a:p>
          </p:txBody>
        </p:sp>
      </p:grpSp>
      <p:grpSp>
        <p:nvGrpSpPr>
          <p:cNvPr id="7" name="组合 6">
            <a:extLst>
              <a:ext uri="{FF2B5EF4-FFF2-40B4-BE49-F238E27FC236}">
                <a16:creationId xmlns:a16="http://schemas.microsoft.com/office/drawing/2014/main" id="{72F7FB66-E920-4C11-9F63-DDCEC90C099F}"/>
              </a:ext>
            </a:extLst>
          </p:cNvPr>
          <p:cNvGrpSpPr/>
          <p:nvPr/>
        </p:nvGrpSpPr>
        <p:grpSpPr>
          <a:xfrm>
            <a:off x="5928904" y="2156895"/>
            <a:ext cx="2088791" cy="4460204"/>
            <a:chOff x="5796136" y="1606827"/>
            <a:chExt cx="2537745" cy="4960904"/>
          </a:xfrm>
        </p:grpSpPr>
        <p:pic>
          <p:nvPicPr>
            <p:cNvPr id="8" name="图片 7">
              <a:extLst>
                <a:ext uri="{FF2B5EF4-FFF2-40B4-BE49-F238E27FC236}">
                  <a16:creationId xmlns:a16="http://schemas.microsoft.com/office/drawing/2014/main" id="{2319C8EC-EAD0-4EDD-8699-F24490DE536A}"/>
                </a:ext>
              </a:extLst>
            </p:cNvPr>
            <p:cNvPicPr>
              <a:picLocks noChangeAspect="1"/>
            </p:cNvPicPr>
            <p:nvPr/>
          </p:nvPicPr>
          <p:blipFill>
            <a:blip r:embed="rId4"/>
            <a:stretch>
              <a:fillRect/>
            </a:stretch>
          </p:blipFill>
          <p:spPr>
            <a:xfrm>
              <a:off x="5796136" y="1606827"/>
              <a:ext cx="2537745" cy="4575998"/>
            </a:xfrm>
            <a:prstGeom prst="rect">
              <a:avLst/>
            </a:prstGeom>
          </p:spPr>
        </p:pic>
        <p:sp>
          <p:nvSpPr>
            <p:cNvPr id="9" name="文本框 8">
              <a:extLst>
                <a:ext uri="{FF2B5EF4-FFF2-40B4-BE49-F238E27FC236}">
                  <a16:creationId xmlns:a16="http://schemas.microsoft.com/office/drawing/2014/main" id="{BC36CAB9-7050-4011-AFC0-B93F58DE9BED}"/>
                </a:ext>
              </a:extLst>
            </p:cNvPr>
            <p:cNvSpPr txBox="1"/>
            <p:nvPr/>
          </p:nvSpPr>
          <p:spPr>
            <a:xfrm>
              <a:off x="5813991" y="6309240"/>
              <a:ext cx="1860780" cy="258491"/>
            </a:xfrm>
            <a:prstGeom prst="rect">
              <a:avLst/>
            </a:prstGeom>
            <a:noFill/>
          </p:spPr>
          <p:txBody>
            <a:bodyPr wrap="none" rtlCol="0">
              <a:spAutoFit/>
            </a:bodyPr>
            <a:lstStyle/>
            <a:p>
              <a:r>
                <a:rPr lang="zh-CN" altLang="en-US" sz="1200" b="1" dirty="0">
                  <a:solidFill>
                    <a:srgbClr val="274FA2"/>
                  </a:solidFill>
                  <a:latin typeface="微软雅黑" panose="020B0503020204020204" pitchFamily="34" charset="-122"/>
                  <a:ea typeface="微软雅黑" panose="020B0503020204020204" pitchFamily="34" charset="-122"/>
                </a:rPr>
                <a:t>图</a:t>
              </a:r>
              <a:r>
                <a:rPr lang="en-US" altLang="zh-CN" sz="1200" b="1" dirty="0">
                  <a:solidFill>
                    <a:srgbClr val="274FA2"/>
                  </a:solidFill>
                  <a:latin typeface="微软雅黑" panose="020B0503020204020204" pitchFamily="34" charset="-122"/>
                  <a:ea typeface="微软雅黑" panose="020B0503020204020204" pitchFamily="34" charset="-122"/>
                </a:rPr>
                <a:t>6.12b    </a:t>
              </a:r>
              <a:r>
                <a:rPr lang="zh-CN" altLang="en-US" sz="1200" b="1" dirty="0">
                  <a:solidFill>
                    <a:srgbClr val="274FA2"/>
                  </a:solidFill>
                  <a:latin typeface="微软雅黑" panose="020B0503020204020204" pitchFamily="34" charset="-122"/>
                  <a:ea typeface="微软雅黑" panose="020B0503020204020204" pitchFamily="34" charset="-122"/>
                </a:rPr>
                <a:t>多重中断处理流程</a:t>
              </a:r>
            </a:p>
          </p:txBody>
        </p:sp>
      </p:grpSp>
    </p:spTree>
    <p:extLst>
      <p:ext uri="{BB962C8B-B14F-4D97-AF65-F5344CB8AC3E}">
        <p14:creationId xmlns:p14="http://schemas.microsoft.com/office/powerpoint/2010/main" val="13293418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F1A409-4E53-4649-8D0A-5F425D04BBC3}"/>
              </a:ext>
            </a:extLst>
          </p:cNvPr>
          <p:cNvSpPr>
            <a:spLocks noGrp="1"/>
          </p:cNvSpPr>
          <p:nvPr>
            <p:ph type="title"/>
          </p:nvPr>
        </p:nvSpPr>
        <p:spPr>
          <a:xfrm>
            <a:off x="378691" y="244190"/>
            <a:ext cx="11277600" cy="688975"/>
          </a:xfrm>
        </p:spPr>
        <p:txBody>
          <a:bodyPr/>
          <a:lstStyle/>
          <a:p>
            <a:r>
              <a:rPr lang="en-US" altLang="zh-CN" dirty="0">
                <a:latin typeface="Calibri" panose="020F0502020204030204" pitchFamily="34" charset="0"/>
                <a:ea typeface="Calibri" panose="020F0502020204030204" pitchFamily="34" charset="0"/>
                <a:cs typeface="Calibri" panose="020F0502020204030204" pitchFamily="34" charset="0"/>
              </a:rPr>
              <a:t>6.7 </a:t>
            </a:r>
            <a:r>
              <a:rPr lang="zh-CN" altLang="en-US" dirty="0">
                <a:latin typeface="Calibri" panose="020F0502020204030204" pitchFamily="34" charset="0"/>
                <a:ea typeface="微软雅黑" panose="020B0503020204020204" pitchFamily="34" charset="-122"/>
                <a:cs typeface="Calibri" panose="020F0502020204030204" pitchFamily="34" charset="0"/>
              </a:rPr>
              <a:t>异常与中断处理</a:t>
            </a:r>
          </a:p>
        </p:txBody>
      </p:sp>
      <p:sp>
        <p:nvSpPr>
          <p:cNvPr id="3" name="内容占位符 2">
            <a:extLst>
              <a:ext uri="{FF2B5EF4-FFF2-40B4-BE49-F238E27FC236}">
                <a16:creationId xmlns:a16="http://schemas.microsoft.com/office/drawing/2014/main" id="{A227AA07-E32A-4FAE-ADB3-1F54B6E4CD1D}"/>
              </a:ext>
            </a:extLst>
          </p:cNvPr>
          <p:cNvSpPr>
            <a:spLocks noGrp="1"/>
          </p:cNvSpPr>
          <p:nvPr>
            <p:ph idx="1"/>
          </p:nvPr>
        </p:nvSpPr>
        <p:spPr>
          <a:xfrm>
            <a:off x="609600" y="1051719"/>
            <a:ext cx="7327037" cy="5686432"/>
          </a:xfrm>
        </p:spPr>
        <p:txBody>
          <a:bodyPr/>
          <a:lstStyle/>
          <a:p>
            <a:pPr>
              <a:lnSpc>
                <a:spcPct val="130000"/>
              </a:lnSpc>
              <a:buSzPct val="100000"/>
              <a:buFont typeface="Wingdings" panose="05000000000000000000" pitchFamily="2" charset="2"/>
              <a:buChar char="p"/>
            </a:pPr>
            <a:r>
              <a:rPr lang="zh-CN" altLang="en-US" sz="2400" b="1" dirty="0">
                <a:latin typeface="微软雅黑" panose="020B0503020204020204" pitchFamily="34" charset="-122"/>
                <a:ea typeface="微软雅黑" panose="020B0503020204020204" pitchFamily="34" charset="-122"/>
                <a:cs typeface="Calibri" panose="020F0502020204030204" pitchFamily="34" charset="0"/>
              </a:rPr>
              <a:t>单级中断处理流程</a:t>
            </a:r>
            <a:endParaRPr lang="en-US" altLang="zh-CN" sz="2400" b="1" dirty="0">
              <a:latin typeface="微软雅黑" panose="020B0503020204020204" pitchFamily="34" charset="-122"/>
              <a:ea typeface="微软雅黑" panose="020B0503020204020204" pitchFamily="34" charset="-122"/>
              <a:cs typeface="Calibri" panose="020F0502020204030204" pitchFamily="34" charset="0"/>
            </a:endParaRPr>
          </a:p>
          <a:p>
            <a:pPr marL="750570" lvl="1">
              <a:lnSpc>
                <a:spcPct val="130000"/>
              </a:lnSpc>
              <a:buFont typeface="Wingdings" panose="05000000000000000000" pitchFamily="2" charset="2"/>
              <a:buChar char="n"/>
            </a:pP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中断响应</a:t>
            </a:r>
            <a:r>
              <a:rPr lang="zh-CN" altLang="en-US" sz="1800" b="1" dirty="0">
                <a:latin typeface="Calibri" panose="020F0502020204030204" pitchFamily="34" charset="0"/>
                <a:ea typeface="微软雅黑" panose="020B0503020204020204" pitchFamily="34" charset="-122"/>
                <a:cs typeface="Calibri" panose="020F0502020204030204" pitchFamily="34" charset="0"/>
              </a:rPr>
              <a:t>：由硬件自动完成，即所谓的中断隐指令；包括</a:t>
            </a: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关中断、保存断点、中断识别</a:t>
            </a:r>
            <a:r>
              <a:rPr lang="zh-CN" altLang="en-US" sz="1800" b="1" dirty="0">
                <a:latin typeface="Calibri" panose="020F0502020204030204" pitchFamily="34" charset="0"/>
                <a:ea typeface="微软雅黑" panose="020B0503020204020204" pitchFamily="34" charset="-122"/>
                <a:cs typeface="Calibri" panose="020F0502020204030204" pitchFamily="34" charset="0"/>
              </a:rPr>
              <a:t>等</a:t>
            </a:r>
            <a:r>
              <a:rPr lang="en-US" altLang="zh-CN" sz="1800" b="1" dirty="0">
                <a:latin typeface="Calibri" panose="020F0502020204030204" pitchFamily="34" charset="0"/>
                <a:ea typeface="Calibri" panose="020F0502020204030204" pitchFamily="34" charset="0"/>
                <a:cs typeface="Calibri" panose="020F0502020204030204" pitchFamily="34" charset="0"/>
              </a:rPr>
              <a:t>3</a:t>
            </a:r>
            <a:r>
              <a:rPr lang="zh-CN" altLang="en-US" sz="1800" b="1" dirty="0">
                <a:latin typeface="Calibri" panose="020F0502020204030204" pitchFamily="34" charset="0"/>
                <a:ea typeface="微软雅黑" panose="020B0503020204020204" pitchFamily="34" charset="-122"/>
                <a:cs typeface="Calibri" panose="020F0502020204030204" pitchFamily="34" charset="0"/>
              </a:rPr>
              <a:t>个工作。</a:t>
            </a:r>
            <a:endParaRPr lang="en-US" altLang="zh-CN" sz="1800" b="1" dirty="0">
              <a:latin typeface="Calibri" panose="020F0502020204030204" pitchFamily="34" charset="0"/>
              <a:ea typeface="Calibri" panose="020F0502020204030204" pitchFamily="34" charset="0"/>
              <a:cs typeface="Calibri" panose="020F0502020204030204" pitchFamily="34" charset="0"/>
            </a:endParaRPr>
          </a:p>
          <a:p>
            <a:pPr marL="750570" lvl="1">
              <a:lnSpc>
                <a:spcPct val="130000"/>
              </a:lnSpc>
              <a:buFont typeface="Wingdings" panose="05000000000000000000" pitchFamily="2" charset="2"/>
              <a:buChar char="n"/>
            </a:pP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保护现场</a:t>
            </a:r>
            <a:r>
              <a:rPr lang="zh-CN" altLang="en-US" sz="1800" b="1" dirty="0">
                <a:latin typeface="Calibri" panose="020F0502020204030204" pitchFamily="34" charset="0"/>
                <a:ea typeface="微软雅黑" panose="020B0503020204020204" pitchFamily="34" charset="-122"/>
                <a:cs typeface="Calibri" panose="020F0502020204030204" pitchFamily="34" charset="0"/>
              </a:rPr>
              <a:t>：主要是保存中断服务程序中用到的（会被修改的）寄存器，通常用压栈指令（</a:t>
            </a:r>
            <a:r>
              <a:rPr lang="en-US" altLang="zh-CN" sz="1800" b="1" dirty="0">
                <a:highlight>
                  <a:srgbClr val="FFFF00"/>
                </a:highlight>
                <a:latin typeface="Calibri" panose="020F0502020204030204" pitchFamily="34" charset="0"/>
                <a:ea typeface="Calibri" panose="020F0502020204030204" pitchFamily="34" charset="0"/>
                <a:cs typeface="Calibri" panose="020F0502020204030204" pitchFamily="34" charset="0"/>
              </a:rPr>
              <a:t>push</a:t>
            </a:r>
            <a:r>
              <a:rPr lang="zh-CN" altLang="en-US" sz="1800" b="1" dirty="0">
                <a:latin typeface="Calibri" panose="020F0502020204030204" pitchFamily="34" charset="0"/>
                <a:ea typeface="微软雅黑" panose="020B0503020204020204" pitchFamily="34" charset="-122"/>
                <a:cs typeface="Calibri" panose="020F0502020204030204" pitchFamily="34" charset="0"/>
              </a:rPr>
              <a:t>）实现。</a:t>
            </a:r>
            <a:endParaRPr lang="en-US" altLang="zh-CN" sz="1800" b="1" dirty="0">
              <a:latin typeface="Calibri" panose="020F0502020204030204" pitchFamily="34" charset="0"/>
              <a:ea typeface="Calibri" panose="020F0502020204030204" pitchFamily="34" charset="0"/>
              <a:cs typeface="Calibri" panose="020F0502020204030204" pitchFamily="34" charset="0"/>
            </a:endParaRPr>
          </a:p>
          <a:p>
            <a:pPr marL="750570" lvl="1">
              <a:lnSpc>
                <a:spcPct val="130000"/>
              </a:lnSpc>
              <a:buFont typeface="Wingdings" panose="05000000000000000000" pitchFamily="2" charset="2"/>
              <a:buChar char="n"/>
            </a:pP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中断服务</a:t>
            </a:r>
            <a:r>
              <a:rPr lang="zh-CN" altLang="en-US" sz="1800" b="1" dirty="0">
                <a:latin typeface="Calibri" panose="020F0502020204030204" pitchFamily="34" charset="0"/>
                <a:ea typeface="微软雅黑" panose="020B0503020204020204" pitchFamily="34" charset="-122"/>
                <a:cs typeface="Calibri" panose="020F0502020204030204" pitchFamily="34" charset="0"/>
              </a:rPr>
              <a:t>：进行实际的中断事务处理，如数据传输、唤醒等待进程等操作。</a:t>
            </a:r>
            <a:endParaRPr lang="en-US" altLang="zh-CN" sz="1800" b="1" dirty="0">
              <a:latin typeface="Calibri" panose="020F0502020204030204" pitchFamily="34" charset="0"/>
              <a:ea typeface="Calibri" panose="020F0502020204030204" pitchFamily="34" charset="0"/>
              <a:cs typeface="Calibri" panose="020F0502020204030204" pitchFamily="34" charset="0"/>
            </a:endParaRPr>
          </a:p>
          <a:p>
            <a:pPr marL="750570" lvl="1">
              <a:lnSpc>
                <a:spcPct val="130000"/>
              </a:lnSpc>
              <a:buFont typeface="Wingdings" panose="05000000000000000000" pitchFamily="2" charset="2"/>
              <a:buChar char="n"/>
            </a:pP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恢复现场</a:t>
            </a:r>
            <a:r>
              <a:rPr lang="zh-CN" altLang="en-US" sz="1800" b="1" dirty="0">
                <a:latin typeface="Calibri" panose="020F0502020204030204" pitchFamily="34" charset="0"/>
                <a:ea typeface="微软雅黑" panose="020B0503020204020204" pitchFamily="34" charset="-122"/>
                <a:cs typeface="Calibri" panose="020F0502020204030204" pitchFamily="34" charset="0"/>
              </a:rPr>
              <a:t>：就是将保护现场中保存的寄存器释放出来，通常用出栈指令（</a:t>
            </a:r>
            <a:r>
              <a:rPr lang="en-US" altLang="zh-CN" sz="1800" b="1" dirty="0">
                <a:highlight>
                  <a:srgbClr val="FFFF00"/>
                </a:highlight>
                <a:latin typeface="Calibri" panose="020F0502020204030204" pitchFamily="34" charset="0"/>
                <a:ea typeface="Calibri" panose="020F0502020204030204" pitchFamily="34" charset="0"/>
                <a:cs typeface="Calibri" panose="020F0502020204030204" pitchFamily="34" charset="0"/>
              </a:rPr>
              <a:t>pop</a:t>
            </a:r>
            <a:r>
              <a:rPr lang="zh-CN" altLang="en-US" sz="1800" b="1" dirty="0">
                <a:latin typeface="Calibri" panose="020F0502020204030204" pitchFamily="34" charset="0"/>
                <a:ea typeface="微软雅黑" panose="020B0503020204020204" pitchFamily="34" charset="-122"/>
                <a:cs typeface="Calibri" panose="020F0502020204030204" pitchFamily="34" charset="0"/>
              </a:rPr>
              <a:t>）实现，需要注意的是出栈指令的顺序必须与压栈指令的顺序相反（先进后出）。</a:t>
            </a:r>
            <a:endParaRPr lang="en-US" altLang="zh-CN" sz="1800" b="1" dirty="0">
              <a:latin typeface="Calibri" panose="020F0502020204030204" pitchFamily="34" charset="0"/>
              <a:ea typeface="Calibri" panose="020F0502020204030204" pitchFamily="34" charset="0"/>
              <a:cs typeface="Calibri" panose="020F0502020204030204" pitchFamily="34" charset="0"/>
            </a:endParaRPr>
          </a:p>
          <a:p>
            <a:pPr marL="750570" lvl="1">
              <a:lnSpc>
                <a:spcPct val="130000"/>
              </a:lnSpc>
              <a:buFont typeface="Wingdings" panose="05000000000000000000" pitchFamily="2" charset="2"/>
              <a:buChar char="n"/>
            </a:pP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开中断</a:t>
            </a:r>
            <a:r>
              <a:rPr lang="zh-CN" altLang="en-US" sz="1800" b="1" dirty="0">
                <a:latin typeface="Calibri" panose="020F0502020204030204" pitchFamily="34" charset="0"/>
                <a:ea typeface="微软雅黑" panose="020B0503020204020204" pitchFamily="34" charset="-122"/>
                <a:cs typeface="Calibri" panose="020F0502020204030204" pitchFamily="34" charset="0"/>
              </a:rPr>
              <a:t>：通过执行开中断指令（如</a:t>
            </a:r>
            <a:r>
              <a:rPr lang="en-US" altLang="zh-CN" sz="1800" b="1" dirty="0">
                <a:latin typeface="Calibri" panose="020F0502020204030204" pitchFamily="34" charset="0"/>
                <a:ea typeface="Calibri" panose="020F0502020204030204" pitchFamily="34" charset="0"/>
                <a:cs typeface="Calibri" panose="020F0502020204030204" pitchFamily="34" charset="0"/>
              </a:rPr>
              <a:t>x86</a:t>
            </a:r>
            <a:r>
              <a:rPr lang="zh-CN" altLang="en-US" sz="1800" b="1" dirty="0">
                <a:latin typeface="Calibri" panose="020F0502020204030204" pitchFamily="34" charset="0"/>
                <a:ea typeface="微软雅黑" panose="020B0503020204020204" pitchFamily="34" charset="-122"/>
                <a:cs typeface="Calibri" panose="020F0502020204030204" pitchFamily="34" charset="0"/>
              </a:rPr>
              <a:t>的</a:t>
            </a:r>
            <a:r>
              <a:rPr lang="en-US" altLang="zh-CN" sz="1800" b="1" dirty="0" err="1">
                <a:latin typeface="Calibri" panose="020F0502020204030204" pitchFamily="34" charset="0"/>
                <a:ea typeface="Calibri" panose="020F0502020204030204" pitchFamily="34" charset="0"/>
                <a:cs typeface="Calibri" panose="020F0502020204030204" pitchFamily="34" charset="0"/>
              </a:rPr>
              <a:t>sti</a:t>
            </a:r>
            <a:r>
              <a:rPr lang="zh-CN" altLang="en-US" sz="1800" b="1" dirty="0">
                <a:latin typeface="Calibri" panose="020F0502020204030204" pitchFamily="34" charset="0"/>
                <a:ea typeface="微软雅黑" panose="020B0503020204020204" pitchFamily="34" charset="-122"/>
                <a:cs typeface="Calibri" panose="020F0502020204030204" pitchFamily="34" charset="0"/>
              </a:rPr>
              <a:t>指令），将中断允许触发器</a:t>
            </a:r>
            <a:r>
              <a:rPr lang="en-US" altLang="zh-CN" sz="1800" b="1" dirty="0">
                <a:latin typeface="Calibri" panose="020F0502020204030204" pitchFamily="34" charset="0"/>
                <a:ea typeface="Calibri" panose="020F0502020204030204" pitchFamily="34" charset="0"/>
                <a:cs typeface="Calibri" panose="020F0502020204030204" pitchFamily="34" charset="0"/>
              </a:rPr>
              <a:t>IE/IF</a:t>
            </a:r>
            <a:r>
              <a:rPr lang="zh-CN" altLang="en-US" sz="1800" b="1" dirty="0">
                <a:latin typeface="Calibri" panose="020F0502020204030204" pitchFamily="34" charset="0"/>
                <a:ea typeface="微软雅黑" panose="020B0503020204020204" pitchFamily="34" charset="-122"/>
                <a:cs typeface="Calibri" panose="020F0502020204030204" pitchFamily="34" charset="0"/>
              </a:rPr>
              <a:t>设置为“</a:t>
            </a:r>
            <a:r>
              <a:rPr lang="en-US" altLang="zh-CN" sz="1800" b="1" dirty="0">
                <a:latin typeface="Calibri" panose="020F0502020204030204" pitchFamily="34" charset="0"/>
                <a:ea typeface="Calibri" panose="020F0502020204030204" pitchFamily="34" charset="0"/>
                <a:cs typeface="Calibri" panose="020F0502020204030204" pitchFamily="34" charset="0"/>
              </a:rPr>
              <a:t>1</a:t>
            </a:r>
            <a:r>
              <a:rPr lang="zh-CN" altLang="en-US" sz="1800" b="1" dirty="0">
                <a:latin typeface="Calibri" panose="020F0502020204030204" pitchFamily="34" charset="0"/>
                <a:ea typeface="微软雅黑" panose="020B0503020204020204" pitchFamily="34" charset="-122"/>
                <a:cs typeface="Calibri" panose="020F0502020204030204" pitchFamily="34" charset="0"/>
              </a:rPr>
              <a:t>”，使</a:t>
            </a:r>
            <a:r>
              <a:rPr lang="en-US" altLang="zh-CN" sz="1800" b="1" dirty="0">
                <a:latin typeface="Calibri" panose="020F0502020204030204" pitchFamily="34" charset="0"/>
                <a:ea typeface="Calibri" panose="020F0502020204030204" pitchFamily="34" charset="0"/>
                <a:cs typeface="Calibri" panose="020F0502020204030204" pitchFamily="34" charset="0"/>
              </a:rPr>
              <a:t>CPU</a:t>
            </a:r>
            <a:r>
              <a:rPr lang="zh-CN" altLang="en-US" sz="1800" b="1" dirty="0">
                <a:latin typeface="Calibri" panose="020F0502020204030204" pitchFamily="34" charset="0"/>
                <a:ea typeface="微软雅黑" panose="020B0503020204020204" pitchFamily="34" charset="-122"/>
                <a:cs typeface="Calibri" panose="020F0502020204030204" pitchFamily="34" charset="0"/>
              </a:rPr>
              <a:t>可以接收新的中断请求。</a:t>
            </a:r>
            <a:endParaRPr lang="en-US" altLang="zh-CN" sz="1800" b="1" dirty="0">
              <a:latin typeface="Calibri" panose="020F0502020204030204" pitchFamily="34" charset="0"/>
              <a:ea typeface="Calibri" panose="020F0502020204030204" pitchFamily="34" charset="0"/>
              <a:cs typeface="Calibri" panose="020F0502020204030204" pitchFamily="34" charset="0"/>
            </a:endParaRPr>
          </a:p>
          <a:p>
            <a:pPr marL="750570" lvl="1">
              <a:lnSpc>
                <a:spcPct val="130000"/>
              </a:lnSpc>
              <a:buFont typeface="Wingdings" panose="05000000000000000000" pitchFamily="2" charset="2"/>
              <a:buChar char="n"/>
            </a:pP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中断返回</a:t>
            </a:r>
            <a:r>
              <a:rPr lang="zh-CN" altLang="en-US" sz="1800" b="1" dirty="0">
                <a:latin typeface="Calibri" panose="020F0502020204030204" pitchFamily="34" charset="0"/>
                <a:ea typeface="微软雅黑" panose="020B0503020204020204" pitchFamily="34" charset="-122"/>
                <a:cs typeface="Calibri" panose="020F0502020204030204" pitchFamily="34" charset="0"/>
              </a:rPr>
              <a:t>：中断服务程序的最后一条指令是中断返回指令（</a:t>
            </a:r>
            <a:r>
              <a:rPr lang="en-US" altLang="zh-CN" sz="1800" b="1" dirty="0">
                <a:latin typeface="Calibri" panose="020F0502020204030204" pitchFamily="34" charset="0"/>
                <a:ea typeface="Calibri" panose="020F0502020204030204" pitchFamily="34" charset="0"/>
                <a:cs typeface="Calibri" panose="020F0502020204030204" pitchFamily="34" charset="0"/>
              </a:rPr>
              <a:t> x86</a:t>
            </a:r>
            <a:r>
              <a:rPr lang="zh-CN" altLang="en-US" sz="1800" b="1" dirty="0">
                <a:latin typeface="Calibri" panose="020F0502020204030204" pitchFamily="34" charset="0"/>
                <a:ea typeface="微软雅黑" panose="020B0503020204020204" pitchFamily="34" charset="-122"/>
                <a:cs typeface="Calibri" panose="020F0502020204030204" pitchFamily="34" charset="0"/>
              </a:rPr>
              <a:t>的</a:t>
            </a:r>
            <a:r>
              <a:rPr lang="en-US" altLang="zh-CN" sz="1800" b="1" dirty="0" err="1">
                <a:latin typeface="Calibri" panose="020F0502020204030204" pitchFamily="34" charset="0"/>
                <a:ea typeface="Calibri" panose="020F0502020204030204" pitchFamily="34" charset="0"/>
                <a:cs typeface="Calibri" panose="020F0502020204030204" pitchFamily="34" charset="0"/>
              </a:rPr>
              <a:t>iret</a:t>
            </a:r>
            <a:r>
              <a:rPr lang="zh-CN" altLang="en-US" sz="1800" b="1" dirty="0">
                <a:latin typeface="Calibri" panose="020F0502020204030204" pitchFamily="34" charset="0"/>
                <a:ea typeface="微软雅黑" panose="020B0503020204020204" pitchFamily="34" charset="-122"/>
                <a:cs typeface="Calibri" panose="020F0502020204030204" pitchFamily="34" charset="0"/>
              </a:rPr>
              <a:t>，</a:t>
            </a:r>
            <a:r>
              <a:rPr lang="en-US" altLang="zh-CN" sz="1800" b="1" dirty="0">
                <a:latin typeface="Calibri" panose="020F0502020204030204" pitchFamily="34" charset="0"/>
                <a:ea typeface="Calibri" panose="020F0502020204030204" pitchFamily="34" charset="0"/>
                <a:cs typeface="Calibri" panose="020F0502020204030204" pitchFamily="34" charset="0"/>
              </a:rPr>
              <a:t>MIPS</a:t>
            </a:r>
            <a:r>
              <a:rPr lang="zh-CN" altLang="en-US" sz="1800" b="1" dirty="0">
                <a:latin typeface="Calibri" panose="020F0502020204030204" pitchFamily="34" charset="0"/>
                <a:ea typeface="微软雅黑" panose="020B0503020204020204" pitchFamily="34" charset="-122"/>
                <a:cs typeface="Calibri" panose="020F0502020204030204" pitchFamily="34" charset="0"/>
              </a:rPr>
              <a:t>的</a:t>
            </a:r>
            <a:r>
              <a:rPr lang="en-US" altLang="zh-CN" sz="1800" b="1" dirty="0" err="1">
                <a:latin typeface="Calibri" panose="020F0502020204030204" pitchFamily="34" charset="0"/>
                <a:ea typeface="Calibri" panose="020F0502020204030204" pitchFamily="34" charset="0"/>
                <a:cs typeface="Calibri" panose="020F0502020204030204" pitchFamily="34" charset="0"/>
              </a:rPr>
              <a:t>eret</a:t>
            </a:r>
            <a:r>
              <a:rPr lang="zh-CN" altLang="en-US" sz="1800" b="1" dirty="0">
                <a:latin typeface="Calibri" panose="020F0502020204030204" pitchFamily="34" charset="0"/>
                <a:ea typeface="微软雅黑" panose="020B0503020204020204" pitchFamily="34" charset="-122"/>
                <a:cs typeface="Calibri" panose="020F0502020204030204" pitchFamily="34" charset="0"/>
              </a:rPr>
              <a:t>），将程序返回到主程序的断点处继续执行</a:t>
            </a:r>
          </a:p>
          <a:p>
            <a:pPr>
              <a:lnSpc>
                <a:spcPct val="130000"/>
              </a:lnSpc>
            </a:pPr>
            <a:endParaRPr lang="zh-CN" altLang="en-US" dirty="0">
              <a:latin typeface="Calibri" panose="020F0502020204030204" pitchFamily="34" charset="0"/>
              <a:ea typeface="微软雅黑" panose="020B0503020204020204" pitchFamily="34" charset="-122"/>
              <a:cs typeface="Calibri" panose="020F0502020204030204" pitchFamily="34" charset="0"/>
            </a:endParaRPr>
          </a:p>
        </p:txBody>
      </p:sp>
      <p:grpSp>
        <p:nvGrpSpPr>
          <p:cNvPr id="4" name="组合 3">
            <a:extLst>
              <a:ext uri="{FF2B5EF4-FFF2-40B4-BE49-F238E27FC236}">
                <a16:creationId xmlns:a16="http://schemas.microsoft.com/office/drawing/2014/main" id="{AF151BD0-F297-42B2-9C8C-086080A7352F}"/>
              </a:ext>
            </a:extLst>
          </p:cNvPr>
          <p:cNvGrpSpPr/>
          <p:nvPr/>
        </p:nvGrpSpPr>
        <p:grpSpPr>
          <a:xfrm>
            <a:off x="8102415" y="1281260"/>
            <a:ext cx="3045875" cy="4781344"/>
            <a:chOff x="5386924" y="1844824"/>
            <a:chExt cx="2588893" cy="4526487"/>
          </a:xfrm>
        </p:grpSpPr>
        <p:pic>
          <p:nvPicPr>
            <p:cNvPr id="5" name="图片 4">
              <a:extLst>
                <a:ext uri="{FF2B5EF4-FFF2-40B4-BE49-F238E27FC236}">
                  <a16:creationId xmlns:a16="http://schemas.microsoft.com/office/drawing/2014/main" id="{DAE4134E-4414-49EB-AFB6-73AF7C3259C8}"/>
                </a:ext>
              </a:extLst>
            </p:cNvPr>
            <p:cNvPicPr>
              <a:picLocks noChangeAspect="1"/>
            </p:cNvPicPr>
            <p:nvPr/>
          </p:nvPicPr>
          <p:blipFill>
            <a:blip r:embed="rId2"/>
            <a:stretch>
              <a:fillRect/>
            </a:stretch>
          </p:blipFill>
          <p:spPr>
            <a:xfrm>
              <a:off x="5386924" y="1844824"/>
              <a:ext cx="2588893" cy="4231923"/>
            </a:xfrm>
            <a:prstGeom prst="rect">
              <a:avLst/>
            </a:prstGeom>
          </p:spPr>
        </p:pic>
        <p:sp>
          <p:nvSpPr>
            <p:cNvPr id="6" name="文本框 5">
              <a:extLst>
                <a:ext uri="{FF2B5EF4-FFF2-40B4-BE49-F238E27FC236}">
                  <a16:creationId xmlns:a16="http://schemas.microsoft.com/office/drawing/2014/main" id="{7FF51051-A6BF-49F6-B42C-02ACEF1A9DF3}"/>
                </a:ext>
              </a:extLst>
            </p:cNvPr>
            <p:cNvSpPr txBox="1"/>
            <p:nvPr/>
          </p:nvSpPr>
          <p:spPr>
            <a:xfrm>
              <a:off x="5936094" y="6109077"/>
              <a:ext cx="1845097" cy="262234"/>
            </a:xfrm>
            <a:prstGeom prst="rect">
              <a:avLst/>
            </a:prstGeom>
            <a:noFill/>
          </p:spPr>
          <p:txBody>
            <a:bodyPr wrap="none" rtlCol="0">
              <a:spAutoFit/>
            </a:bodyPr>
            <a:lstStyle/>
            <a:p>
              <a:r>
                <a:rPr lang="zh-CN" altLang="en-US" sz="1200" b="1" dirty="0">
                  <a:solidFill>
                    <a:srgbClr val="274FA2"/>
                  </a:solidFill>
                  <a:latin typeface="微软雅黑" panose="020B0503020204020204" pitchFamily="34" charset="-122"/>
                  <a:ea typeface="微软雅黑" panose="020B0503020204020204" pitchFamily="34" charset="-122"/>
                </a:rPr>
                <a:t>图</a:t>
              </a:r>
              <a:r>
                <a:rPr lang="en-US" altLang="zh-CN" sz="1200" b="1" dirty="0">
                  <a:solidFill>
                    <a:srgbClr val="274FA2"/>
                  </a:solidFill>
                  <a:latin typeface="微软雅黑" panose="020B0503020204020204" pitchFamily="34" charset="-122"/>
                  <a:ea typeface="微软雅黑" panose="020B0503020204020204" pitchFamily="34" charset="-122"/>
                </a:rPr>
                <a:t>6.12a    </a:t>
              </a:r>
              <a:r>
                <a:rPr lang="zh-CN" altLang="en-US" sz="1200" b="1" dirty="0">
                  <a:solidFill>
                    <a:srgbClr val="274FA2"/>
                  </a:solidFill>
                  <a:latin typeface="微软雅黑" panose="020B0503020204020204" pitchFamily="34" charset="-122"/>
                  <a:ea typeface="微软雅黑" panose="020B0503020204020204" pitchFamily="34" charset="-122"/>
                </a:rPr>
                <a:t>单级中断处理流程</a:t>
              </a:r>
            </a:p>
          </p:txBody>
        </p:sp>
      </p:grpSp>
    </p:spTree>
    <p:extLst>
      <p:ext uri="{BB962C8B-B14F-4D97-AF65-F5344CB8AC3E}">
        <p14:creationId xmlns:p14="http://schemas.microsoft.com/office/powerpoint/2010/main" val="23423213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178838-A8BC-4333-A678-C6B471938BA3}"/>
              </a:ext>
            </a:extLst>
          </p:cNvPr>
          <p:cNvSpPr>
            <a:spLocks noGrp="1"/>
          </p:cNvSpPr>
          <p:nvPr>
            <p:ph type="title"/>
          </p:nvPr>
        </p:nvSpPr>
        <p:spPr/>
        <p:txBody>
          <a:bodyPr/>
          <a:lstStyle/>
          <a:p>
            <a:r>
              <a:rPr lang="en-US" altLang="zh-CN" dirty="0">
                <a:latin typeface="Calibri" panose="020F0502020204030204" pitchFamily="34" charset="0"/>
                <a:ea typeface="Calibri" panose="020F0502020204030204" pitchFamily="34" charset="0"/>
                <a:cs typeface="Calibri" panose="020F0502020204030204" pitchFamily="34" charset="0"/>
              </a:rPr>
              <a:t>6.7 </a:t>
            </a:r>
            <a:r>
              <a:rPr lang="zh-CN" altLang="en-US" dirty="0">
                <a:latin typeface="Calibri" panose="020F0502020204030204" pitchFamily="34" charset="0"/>
                <a:ea typeface="微软雅黑" panose="020B0503020204020204" pitchFamily="34" charset="-122"/>
                <a:cs typeface="Calibri" panose="020F0502020204030204" pitchFamily="34" charset="0"/>
              </a:rPr>
              <a:t>异常与中断处理</a:t>
            </a:r>
            <a:endParaRPr lang="zh-CN" altLang="en-US" dirty="0"/>
          </a:p>
        </p:txBody>
      </p:sp>
      <p:sp>
        <p:nvSpPr>
          <p:cNvPr id="3" name="内容占位符 2">
            <a:extLst>
              <a:ext uri="{FF2B5EF4-FFF2-40B4-BE49-F238E27FC236}">
                <a16:creationId xmlns:a16="http://schemas.microsoft.com/office/drawing/2014/main" id="{6BFE573C-9267-41C6-8FD7-E6A66A0F099A}"/>
              </a:ext>
            </a:extLst>
          </p:cNvPr>
          <p:cNvSpPr>
            <a:spLocks noGrp="1"/>
          </p:cNvSpPr>
          <p:nvPr>
            <p:ph idx="1"/>
          </p:nvPr>
        </p:nvSpPr>
        <p:spPr>
          <a:xfrm>
            <a:off x="609600" y="946341"/>
            <a:ext cx="7841673" cy="5762433"/>
          </a:xfrm>
        </p:spPr>
        <p:txBody>
          <a:bodyPr/>
          <a:lstStyle/>
          <a:p>
            <a:pPr>
              <a:buSzPct val="100000"/>
              <a:buFont typeface="Wingdings" panose="05000000000000000000" pitchFamily="2" charset="2"/>
              <a:buChar char="p"/>
            </a:pPr>
            <a:r>
              <a:rPr lang="zh-CN" altLang="en-US" sz="2400" b="1" dirty="0">
                <a:latin typeface="微软雅黑" panose="020B0503020204020204" pitchFamily="34" charset="-122"/>
                <a:ea typeface="微软雅黑" panose="020B0503020204020204" pitchFamily="34" charset="-122"/>
                <a:cs typeface="Calibri" panose="020F0502020204030204" pitchFamily="34" charset="0"/>
              </a:rPr>
              <a:t>多重中断处理流程</a:t>
            </a:r>
            <a:endParaRPr lang="en-US" altLang="zh-CN" sz="2400" b="1" dirty="0">
              <a:latin typeface="微软雅黑" panose="020B0503020204020204" pitchFamily="34" charset="-122"/>
              <a:ea typeface="微软雅黑" panose="020B0503020204020204" pitchFamily="34" charset="-122"/>
              <a:cs typeface="Calibri" panose="020F0502020204030204" pitchFamily="34" charset="0"/>
            </a:endParaRPr>
          </a:p>
          <a:p>
            <a:pPr lvl="1">
              <a:buFont typeface="Wingdings" panose="05000000000000000000" pitchFamily="2" charset="2"/>
              <a:buChar char="n"/>
            </a:pPr>
            <a:r>
              <a:rPr lang="zh-CN" altLang="en-US" sz="1800" b="1" dirty="0">
                <a:highlight>
                  <a:srgbClr val="FFFFFF"/>
                </a:highlight>
                <a:latin typeface="Calibri" panose="020F0502020204030204" pitchFamily="34" charset="0"/>
                <a:ea typeface="微软雅黑" panose="020B0503020204020204" pitchFamily="34" charset="-122"/>
                <a:cs typeface="Calibri" panose="020F0502020204030204" pitchFamily="34" charset="0"/>
              </a:rPr>
              <a:t>中断响应：与单级中断相同。</a:t>
            </a:r>
            <a:endParaRPr lang="en-US" altLang="zh-CN" sz="1800" b="1" dirty="0">
              <a:highlight>
                <a:srgbClr val="FFFFFF"/>
              </a:highlight>
              <a:latin typeface="Calibri" panose="020F0502020204030204" pitchFamily="34" charset="0"/>
              <a:ea typeface="Calibri" panose="020F0502020204030204" pitchFamily="34" charset="0"/>
              <a:cs typeface="Calibri" panose="020F0502020204030204" pitchFamily="34" charset="0"/>
            </a:endParaRPr>
          </a:p>
          <a:p>
            <a:pPr lvl="1">
              <a:buFont typeface="Wingdings" panose="05000000000000000000" pitchFamily="2" charset="2"/>
              <a:buChar char="n"/>
            </a:pPr>
            <a:r>
              <a:rPr lang="zh-CN" altLang="en-US" sz="1800" b="1" dirty="0">
                <a:solidFill>
                  <a:srgbClr val="C00000"/>
                </a:solidFill>
                <a:effectLst>
                  <a:outerShdw blurRad="38100" dist="38100" dir="2700000" algn="tl">
                    <a:srgbClr val="000000">
                      <a:alpha val="43137"/>
                    </a:srgbClr>
                  </a:outerShdw>
                </a:effectLst>
                <a:latin typeface="Calibri" panose="020F0502020204030204" pitchFamily="34" charset="0"/>
                <a:ea typeface="微软雅黑" panose="020B0503020204020204" pitchFamily="34" charset="-122"/>
                <a:cs typeface="Calibri" panose="020F0502020204030204" pitchFamily="34" charset="0"/>
              </a:rPr>
              <a:t>保护现场、设置屏蔽字</a:t>
            </a:r>
            <a:r>
              <a:rPr lang="zh-CN" altLang="en-US" sz="1800" b="1" dirty="0">
                <a:latin typeface="Calibri" panose="020F0502020204030204" pitchFamily="34" charset="0"/>
                <a:ea typeface="微软雅黑" panose="020B0503020204020204" pitchFamily="34" charset="-122"/>
                <a:cs typeface="Calibri" panose="020F0502020204030204" pitchFamily="34" charset="0"/>
              </a:rPr>
              <a:t>：这里除了要保护现场（寄存器）外，还要保护中断屏蔽字；并要设置新的屏蔽字，从而改变中断处理的优先级，实现多重中断（中断嵌套）。</a:t>
            </a:r>
            <a:endParaRPr lang="en-US" altLang="zh-CN" sz="1800" b="1" dirty="0">
              <a:latin typeface="Calibri" panose="020F0502020204030204" pitchFamily="34" charset="0"/>
              <a:ea typeface="Calibri" panose="020F0502020204030204" pitchFamily="34" charset="0"/>
              <a:cs typeface="Calibri" panose="020F0502020204030204" pitchFamily="34" charset="0"/>
            </a:endParaRPr>
          </a:p>
          <a:p>
            <a:pPr lvl="1">
              <a:buFont typeface="Wingdings" panose="05000000000000000000" pitchFamily="2" charset="2"/>
              <a:buChar char="n"/>
            </a:pPr>
            <a:r>
              <a:rPr lang="zh-CN" altLang="en-US" sz="1800" b="1" dirty="0">
                <a:solidFill>
                  <a:srgbClr val="C00000"/>
                </a:solidFill>
                <a:effectLst>
                  <a:outerShdw blurRad="38100" dist="38100" dir="2700000" algn="tl">
                    <a:srgbClr val="000000">
                      <a:alpha val="43137"/>
                    </a:srgbClr>
                  </a:outerShdw>
                </a:effectLst>
                <a:latin typeface="Calibri" panose="020F0502020204030204" pitchFamily="34" charset="0"/>
                <a:ea typeface="微软雅黑" panose="020B0503020204020204" pitchFamily="34" charset="-122"/>
                <a:cs typeface="Calibri" panose="020F0502020204030204" pitchFamily="34" charset="0"/>
              </a:rPr>
              <a:t>开中断</a:t>
            </a:r>
            <a:r>
              <a:rPr lang="zh-CN" altLang="en-US" sz="1800" b="1" dirty="0">
                <a:latin typeface="Calibri" panose="020F0502020204030204" pitchFamily="34" charset="0"/>
                <a:ea typeface="微软雅黑" panose="020B0503020204020204" pitchFamily="34" charset="-122"/>
                <a:cs typeface="Calibri" panose="020F0502020204030204" pitchFamily="34" charset="0"/>
              </a:rPr>
              <a:t>：目的是使优先级更高的中断服务程序，可以中断当前的中断服务程序。</a:t>
            </a:r>
            <a:endParaRPr lang="en-US" altLang="zh-CN" sz="1800" b="1" dirty="0">
              <a:latin typeface="Calibri" panose="020F0502020204030204" pitchFamily="34" charset="0"/>
              <a:ea typeface="Calibri" panose="020F0502020204030204" pitchFamily="34" charset="0"/>
              <a:cs typeface="Calibri" panose="020F0502020204030204" pitchFamily="34" charset="0"/>
            </a:endParaRPr>
          </a:p>
          <a:p>
            <a:pPr lvl="1">
              <a:buFont typeface="Wingdings" panose="05000000000000000000" pitchFamily="2" charset="2"/>
              <a:buChar char="n"/>
            </a:pPr>
            <a:r>
              <a:rPr lang="zh-CN" altLang="en-US" sz="1800" b="1" dirty="0">
                <a:highlight>
                  <a:srgbClr val="FFFFFF"/>
                </a:highlight>
                <a:latin typeface="Calibri" panose="020F0502020204030204" pitchFamily="34" charset="0"/>
                <a:ea typeface="微软雅黑" panose="020B0503020204020204" pitchFamily="34" charset="-122"/>
                <a:cs typeface="Calibri" panose="020F0502020204030204" pitchFamily="34" charset="0"/>
              </a:rPr>
              <a:t>中断服务：与单级中断相同。</a:t>
            </a:r>
            <a:endParaRPr lang="en-US" altLang="zh-CN" sz="1800" b="1" dirty="0">
              <a:highlight>
                <a:srgbClr val="FFFFFF"/>
              </a:highlight>
              <a:latin typeface="Calibri" panose="020F0502020204030204" pitchFamily="34" charset="0"/>
              <a:ea typeface="Calibri" panose="020F0502020204030204" pitchFamily="34" charset="0"/>
              <a:cs typeface="Calibri" panose="020F0502020204030204" pitchFamily="34" charset="0"/>
            </a:endParaRPr>
          </a:p>
          <a:p>
            <a:pPr lvl="1">
              <a:buFont typeface="Wingdings" panose="05000000000000000000" pitchFamily="2" charset="2"/>
              <a:buChar char="n"/>
            </a:pPr>
            <a:r>
              <a:rPr lang="zh-CN" altLang="en-US" sz="1800" b="1" dirty="0">
                <a:solidFill>
                  <a:srgbClr val="C00000"/>
                </a:solidFill>
                <a:effectLst>
                  <a:outerShdw blurRad="38100" dist="38100" dir="2700000" algn="tl">
                    <a:srgbClr val="000000">
                      <a:alpha val="43137"/>
                    </a:srgbClr>
                  </a:outerShdw>
                </a:effectLst>
                <a:latin typeface="Calibri" panose="020F0502020204030204" pitchFamily="34" charset="0"/>
                <a:ea typeface="微软雅黑" panose="020B0503020204020204" pitchFamily="34" charset="-122"/>
                <a:cs typeface="Calibri" panose="020F0502020204030204" pitchFamily="34" charset="0"/>
              </a:rPr>
              <a:t>关中断</a:t>
            </a:r>
            <a:r>
              <a:rPr lang="zh-CN" altLang="en-US" sz="1800" b="1" dirty="0">
                <a:latin typeface="Calibri" panose="020F0502020204030204" pitchFamily="34" charset="0"/>
                <a:ea typeface="微软雅黑" panose="020B0503020204020204" pitchFamily="34" charset="-122"/>
                <a:cs typeface="Calibri" panose="020F0502020204030204" pitchFamily="34" charset="0"/>
              </a:rPr>
              <a:t>：利用关中断指令（如</a:t>
            </a:r>
            <a:r>
              <a:rPr lang="en-US" altLang="zh-CN" sz="1800" b="1" dirty="0">
                <a:latin typeface="Calibri" panose="020F0502020204030204" pitchFamily="34" charset="0"/>
                <a:ea typeface="Calibri" panose="020F0502020204030204" pitchFamily="34" charset="0"/>
                <a:cs typeface="Calibri" panose="020F0502020204030204" pitchFamily="34" charset="0"/>
              </a:rPr>
              <a:t>x86</a:t>
            </a:r>
            <a:r>
              <a:rPr lang="zh-CN" altLang="en-US" sz="1800" b="1" dirty="0">
                <a:latin typeface="Calibri" panose="020F0502020204030204" pitchFamily="34" charset="0"/>
                <a:ea typeface="微软雅黑" panose="020B0503020204020204" pitchFamily="34" charset="-122"/>
                <a:cs typeface="Calibri" panose="020F0502020204030204" pitchFamily="34" charset="0"/>
              </a:rPr>
              <a:t>的</a:t>
            </a:r>
            <a:r>
              <a:rPr lang="en-US" altLang="zh-CN" sz="1800" b="1" dirty="0">
                <a:latin typeface="Calibri" panose="020F0502020204030204" pitchFamily="34" charset="0"/>
                <a:ea typeface="Calibri" panose="020F0502020204030204" pitchFamily="34" charset="0"/>
                <a:cs typeface="Calibri" panose="020F0502020204030204" pitchFamily="34" charset="0"/>
              </a:rPr>
              <a:t>cli</a:t>
            </a:r>
            <a:r>
              <a:rPr lang="zh-CN" altLang="en-US" sz="1800" b="1" dirty="0">
                <a:latin typeface="Calibri" panose="020F0502020204030204" pitchFamily="34" charset="0"/>
                <a:ea typeface="微软雅黑" panose="020B0503020204020204" pitchFamily="34" charset="-122"/>
                <a:cs typeface="Calibri" panose="020F0502020204030204" pitchFamily="34" charset="0"/>
              </a:rPr>
              <a:t>指令）关中断，保证恢复现场任务的完整性。</a:t>
            </a:r>
            <a:endParaRPr lang="en-US" altLang="zh-CN" sz="1800" b="1" dirty="0">
              <a:latin typeface="Calibri" panose="020F0502020204030204" pitchFamily="34" charset="0"/>
              <a:ea typeface="Calibri" panose="020F0502020204030204" pitchFamily="34" charset="0"/>
              <a:cs typeface="Calibri" panose="020F0502020204030204" pitchFamily="34" charset="0"/>
            </a:endParaRPr>
          </a:p>
          <a:p>
            <a:pPr lvl="1">
              <a:buFont typeface="Wingdings" panose="05000000000000000000" pitchFamily="2" charset="2"/>
              <a:buChar char="n"/>
            </a:pPr>
            <a:r>
              <a:rPr lang="zh-CN" altLang="en-US" sz="1800" b="1" dirty="0">
                <a:solidFill>
                  <a:srgbClr val="C00000"/>
                </a:solidFill>
                <a:effectLst>
                  <a:outerShdw blurRad="38100" dist="38100" dir="2700000" algn="tl">
                    <a:srgbClr val="000000">
                      <a:alpha val="43137"/>
                    </a:srgbClr>
                  </a:outerShdw>
                </a:effectLst>
                <a:latin typeface="Calibri" panose="020F0502020204030204" pitchFamily="34" charset="0"/>
                <a:ea typeface="微软雅黑" panose="020B0503020204020204" pitchFamily="34" charset="-122"/>
                <a:cs typeface="Calibri" panose="020F0502020204030204" pitchFamily="34" charset="0"/>
              </a:rPr>
              <a:t>恢复现场和屏蔽字</a:t>
            </a:r>
            <a:r>
              <a:rPr lang="zh-CN" altLang="en-US" sz="1800" b="1" dirty="0">
                <a:latin typeface="Calibri" panose="020F0502020204030204" pitchFamily="34" charset="0"/>
                <a:ea typeface="微软雅黑" panose="020B0503020204020204" pitchFamily="34" charset="-122"/>
                <a:cs typeface="Calibri" panose="020F0502020204030204" pitchFamily="34" charset="0"/>
              </a:rPr>
              <a:t>：这里除了恢复现场（寄存器）外，还要恢复中断屏蔽字。</a:t>
            </a:r>
            <a:endParaRPr lang="en-US" altLang="zh-CN" sz="1800" b="1" dirty="0">
              <a:latin typeface="Calibri" panose="020F0502020204030204" pitchFamily="34" charset="0"/>
              <a:ea typeface="Calibri" panose="020F0502020204030204" pitchFamily="34" charset="0"/>
              <a:cs typeface="Calibri" panose="020F0502020204030204" pitchFamily="34" charset="0"/>
            </a:endParaRPr>
          </a:p>
          <a:p>
            <a:pPr lvl="1">
              <a:buFont typeface="Wingdings" panose="05000000000000000000" pitchFamily="2" charset="2"/>
              <a:buChar char="n"/>
            </a:pPr>
            <a:r>
              <a:rPr lang="zh-CN" altLang="en-US" sz="1800" b="1" dirty="0">
                <a:solidFill>
                  <a:srgbClr val="C00000"/>
                </a:solidFill>
                <a:effectLst>
                  <a:outerShdw blurRad="38100" dist="38100" dir="2700000" algn="tl">
                    <a:srgbClr val="000000">
                      <a:alpha val="43137"/>
                    </a:srgbClr>
                  </a:outerShdw>
                </a:effectLst>
                <a:latin typeface="Calibri" panose="020F0502020204030204" pitchFamily="34" charset="0"/>
                <a:ea typeface="微软雅黑" panose="020B0503020204020204" pitchFamily="34" charset="-122"/>
                <a:cs typeface="Calibri" panose="020F0502020204030204" pitchFamily="34" charset="0"/>
              </a:rPr>
              <a:t>发送中断结束命令</a:t>
            </a:r>
            <a:r>
              <a:rPr lang="zh-CN" altLang="en-US" sz="1800" b="1" dirty="0">
                <a:latin typeface="Calibri" panose="020F0502020204030204" pitchFamily="34" charset="0"/>
                <a:ea typeface="微软雅黑" panose="020B0503020204020204" pitchFamily="34" charset="-122"/>
                <a:cs typeface="Calibri" panose="020F0502020204030204" pitchFamily="34" charset="0"/>
              </a:rPr>
              <a:t>：</a:t>
            </a:r>
            <a:r>
              <a:rPr lang="en-US" altLang="zh-CN" sz="1800" b="1" dirty="0">
                <a:latin typeface="Calibri" panose="020F0502020204030204" pitchFamily="34" charset="0"/>
                <a:ea typeface="Calibri" panose="020F0502020204030204" pitchFamily="34" charset="0"/>
                <a:cs typeface="Calibri" panose="020F0502020204030204" pitchFamily="34" charset="0"/>
              </a:rPr>
              <a:t>CPU</a:t>
            </a:r>
            <a:r>
              <a:rPr lang="zh-CN" altLang="en-US" sz="1800" b="1" dirty="0">
                <a:latin typeface="Calibri" panose="020F0502020204030204" pitchFamily="34" charset="0"/>
                <a:ea typeface="微软雅黑" panose="020B0503020204020204" pitchFamily="34" charset="-122"/>
                <a:cs typeface="Calibri" panose="020F0502020204030204" pitchFamily="34" charset="0"/>
              </a:rPr>
              <a:t>向中断控制器发送中断结束命令</a:t>
            </a:r>
            <a:r>
              <a:rPr lang="en-US" altLang="zh-CN" sz="1800" b="1" dirty="0">
                <a:highlight>
                  <a:srgbClr val="FFFF00"/>
                </a:highlight>
                <a:latin typeface="Calibri" panose="020F0502020204030204" pitchFamily="34" charset="0"/>
                <a:ea typeface="Calibri" panose="020F0502020204030204" pitchFamily="34" charset="0"/>
                <a:cs typeface="Calibri" panose="020F0502020204030204" pitchFamily="34" charset="0"/>
              </a:rPr>
              <a:t>EOI</a:t>
            </a:r>
            <a:r>
              <a:rPr lang="zh-CN" altLang="en-US" sz="1800" b="1" dirty="0">
                <a:latin typeface="Calibri" panose="020F0502020204030204" pitchFamily="34" charset="0"/>
                <a:ea typeface="微软雅黑" panose="020B0503020204020204" pitchFamily="34" charset="-122"/>
                <a:cs typeface="Calibri" panose="020F0502020204030204" pitchFamily="34" charset="0"/>
              </a:rPr>
              <a:t>（</a:t>
            </a:r>
            <a:r>
              <a:rPr lang="en-US" altLang="zh-CN" sz="1800" b="1" dirty="0">
                <a:latin typeface="Calibri" panose="020F0502020204030204" pitchFamily="34" charset="0"/>
                <a:ea typeface="Calibri" panose="020F0502020204030204" pitchFamily="34" charset="0"/>
                <a:cs typeface="Calibri" panose="020F0502020204030204" pitchFamily="34" charset="0"/>
              </a:rPr>
              <a:t>End Of Interrupt</a:t>
            </a:r>
            <a:r>
              <a:rPr lang="zh-CN" altLang="en-US" sz="1800" b="1" dirty="0">
                <a:latin typeface="Calibri" panose="020F0502020204030204" pitchFamily="34" charset="0"/>
                <a:ea typeface="微软雅黑" panose="020B0503020204020204" pitchFamily="34" charset="-122"/>
                <a:cs typeface="Calibri" panose="020F0502020204030204" pitchFamily="34" charset="0"/>
              </a:rPr>
              <a:t>），通知中断控制器当前中断处理完毕，请求中断控制器清除中断服务寄存器</a:t>
            </a:r>
            <a:r>
              <a:rPr lang="en-US" altLang="zh-CN" sz="1800" b="1" dirty="0">
                <a:latin typeface="Calibri" panose="020F0502020204030204" pitchFamily="34" charset="0"/>
                <a:ea typeface="Calibri" panose="020F0502020204030204" pitchFamily="34" charset="0"/>
                <a:cs typeface="Calibri" panose="020F0502020204030204" pitchFamily="34" charset="0"/>
              </a:rPr>
              <a:t>ISR</a:t>
            </a:r>
            <a:r>
              <a:rPr lang="zh-CN" altLang="en-US" sz="1800" b="1" dirty="0">
                <a:latin typeface="Calibri" panose="020F0502020204030204" pitchFamily="34" charset="0"/>
                <a:ea typeface="微软雅黑" panose="020B0503020204020204" pitchFamily="34" charset="-122"/>
                <a:cs typeface="Calibri" panose="020F0502020204030204" pitchFamily="34" charset="0"/>
              </a:rPr>
              <a:t>中最高优先级的中断位。</a:t>
            </a:r>
            <a:endParaRPr lang="en-US" altLang="zh-CN" sz="1800" b="1" dirty="0">
              <a:latin typeface="Calibri" panose="020F0502020204030204" pitchFamily="34" charset="0"/>
              <a:ea typeface="Calibri" panose="020F0502020204030204" pitchFamily="34" charset="0"/>
              <a:cs typeface="Calibri" panose="020F0502020204030204" pitchFamily="34" charset="0"/>
            </a:endParaRPr>
          </a:p>
          <a:p>
            <a:pPr lvl="1">
              <a:buFont typeface="Wingdings" panose="05000000000000000000" pitchFamily="2" charset="2"/>
              <a:buChar char="n"/>
            </a:pPr>
            <a:r>
              <a:rPr lang="zh-CN" altLang="en-US" sz="1800" b="1" dirty="0">
                <a:highlight>
                  <a:srgbClr val="FFFFFF"/>
                </a:highlight>
                <a:latin typeface="Calibri" panose="020F0502020204030204" pitchFamily="34" charset="0"/>
                <a:ea typeface="微软雅黑" panose="020B0503020204020204" pitchFamily="34" charset="-122"/>
                <a:cs typeface="Calibri" panose="020F0502020204030204" pitchFamily="34" charset="0"/>
              </a:rPr>
              <a:t>开中断：与单级中断相同。</a:t>
            </a:r>
            <a:endParaRPr lang="en-US" altLang="zh-CN" sz="1800" b="1" dirty="0">
              <a:highlight>
                <a:srgbClr val="FFFFFF"/>
              </a:highlight>
              <a:latin typeface="Calibri" panose="020F0502020204030204" pitchFamily="34" charset="0"/>
              <a:ea typeface="Calibri" panose="020F0502020204030204" pitchFamily="34" charset="0"/>
              <a:cs typeface="Calibri" panose="020F0502020204030204" pitchFamily="34" charset="0"/>
            </a:endParaRPr>
          </a:p>
          <a:p>
            <a:pPr lvl="1">
              <a:buFont typeface="Wingdings" panose="05000000000000000000" pitchFamily="2" charset="2"/>
              <a:buChar char="n"/>
            </a:pPr>
            <a:r>
              <a:rPr lang="zh-CN" altLang="en-US" sz="1800" b="1" dirty="0">
                <a:highlight>
                  <a:srgbClr val="FFFFFF"/>
                </a:highlight>
                <a:latin typeface="Calibri" panose="020F0502020204030204" pitchFamily="34" charset="0"/>
                <a:ea typeface="微软雅黑" panose="020B0503020204020204" pitchFamily="34" charset="-122"/>
                <a:cs typeface="Calibri" panose="020F0502020204030204" pitchFamily="34" charset="0"/>
              </a:rPr>
              <a:t>中断返回：与单级中断相同。</a:t>
            </a:r>
          </a:p>
          <a:p>
            <a:endParaRPr lang="zh-CN" altLang="en-US" dirty="0">
              <a:latin typeface="Calibri" panose="020F0502020204030204" pitchFamily="34" charset="0"/>
              <a:ea typeface="微软雅黑" panose="020B0503020204020204" pitchFamily="34" charset="-122"/>
              <a:cs typeface="Calibri" panose="020F0502020204030204" pitchFamily="34" charset="0"/>
            </a:endParaRPr>
          </a:p>
        </p:txBody>
      </p:sp>
      <p:grpSp>
        <p:nvGrpSpPr>
          <p:cNvPr id="4" name="组合 3">
            <a:extLst>
              <a:ext uri="{FF2B5EF4-FFF2-40B4-BE49-F238E27FC236}">
                <a16:creationId xmlns:a16="http://schemas.microsoft.com/office/drawing/2014/main" id="{AEAFB323-D8F6-425C-9BA3-D18B0747E714}"/>
              </a:ext>
            </a:extLst>
          </p:cNvPr>
          <p:cNvGrpSpPr/>
          <p:nvPr/>
        </p:nvGrpSpPr>
        <p:grpSpPr>
          <a:xfrm>
            <a:off x="8576279" y="1099129"/>
            <a:ext cx="2980210" cy="5328021"/>
            <a:chOff x="5796136" y="1606827"/>
            <a:chExt cx="2537745" cy="4972017"/>
          </a:xfrm>
        </p:grpSpPr>
        <p:pic>
          <p:nvPicPr>
            <p:cNvPr id="5" name="图片 4">
              <a:extLst>
                <a:ext uri="{FF2B5EF4-FFF2-40B4-BE49-F238E27FC236}">
                  <a16:creationId xmlns:a16="http://schemas.microsoft.com/office/drawing/2014/main" id="{79BE6007-8E7D-476F-A9CD-F34834355670}"/>
                </a:ext>
              </a:extLst>
            </p:cNvPr>
            <p:cNvPicPr>
              <a:picLocks noChangeAspect="1"/>
            </p:cNvPicPr>
            <p:nvPr/>
          </p:nvPicPr>
          <p:blipFill>
            <a:blip r:embed="rId2"/>
            <a:stretch>
              <a:fillRect/>
            </a:stretch>
          </p:blipFill>
          <p:spPr>
            <a:xfrm>
              <a:off x="5796136" y="1606827"/>
              <a:ext cx="2537745" cy="4575998"/>
            </a:xfrm>
            <a:prstGeom prst="rect">
              <a:avLst/>
            </a:prstGeom>
          </p:spPr>
        </p:pic>
        <p:sp>
          <p:nvSpPr>
            <p:cNvPr id="6" name="文本框 5">
              <a:extLst>
                <a:ext uri="{FF2B5EF4-FFF2-40B4-BE49-F238E27FC236}">
                  <a16:creationId xmlns:a16="http://schemas.microsoft.com/office/drawing/2014/main" id="{94B4DE6D-FDC6-484C-922D-2B44C44F8E1E}"/>
                </a:ext>
              </a:extLst>
            </p:cNvPr>
            <p:cNvSpPr txBox="1"/>
            <p:nvPr/>
          </p:nvSpPr>
          <p:spPr>
            <a:xfrm>
              <a:off x="6084168" y="6320353"/>
              <a:ext cx="1860780" cy="258491"/>
            </a:xfrm>
            <a:prstGeom prst="rect">
              <a:avLst/>
            </a:prstGeom>
            <a:noFill/>
          </p:spPr>
          <p:txBody>
            <a:bodyPr wrap="none" rtlCol="0">
              <a:spAutoFit/>
            </a:bodyPr>
            <a:lstStyle/>
            <a:p>
              <a:r>
                <a:rPr lang="zh-CN" altLang="en-US" sz="1200" b="1" dirty="0">
                  <a:solidFill>
                    <a:srgbClr val="274FA2"/>
                  </a:solidFill>
                  <a:latin typeface="微软雅黑" panose="020B0503020204020204" pitchFamily="34" charset="-122"/>
                  <a:ea typeface="微软雅黑" panose="020B0503020204020204" pitchFamily="34" charset="-122"/>
                </a:rPr>
                <a:t>图</a:t>
              </a:r>
              <a:r>
                <a:rPr lang="en-US" altLang="zh-CN" sz="1200" b="1" dirty="0">
                  <a:solidFill>
                    <a:srgbClr val="274FA2"/>
                  </a:solidFill>
                  <a:latin typeface="微软雅黑" panose="020B0503020204020204" pitchFamily="34" charset="-122"/>
                  <a:ea typeface="微软雅黑" panose="020B0503020204020204" pitchFamily="34" charset="-122"/>
                </a:rPr>
                <a:t>6.12b    </a:t>
              </a:r>
              <a:r>
                <a:rPr lang="zh-CN" altLang="en-US" sz="1200" b="1" dirty="0">
                  <a:solidFill>
                    <a:srgbClr val="274FA2"/>
                  </a:solidFill>
                  <a:latin typeface="微软雅黑" panose="020B0503020204020204" pitchFamily="34" charset="-122"/>
                  <a:ea typeface="微软雅黑" panose="020B0503020204020204" pitchFamily="34" charset="-122"/>
                </a:rPr>
                <a:t>多重中断处理流程</a:t>
              </a:r>
            </a:p>
          </p:txBody>
        </p:sp>
      </p:grpSp>
    </p:spTree>
    <p:extLst>
      <p:ext uri="{BB962C8B-B14F-4D97-AF65-F5344CB8AC3E}">
        <p14:creationId xmlns:p14="http://schemas.microsoft.com/office/powerpoint/2010/main" val="32320567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382B0F-045A-41A1-9288-9AF701D170B0}"/>
              </a:ext>
            </a:extLst>
          </p:cNvPr>
          <p:cNvSpPr>
            <a:spLocks noGrp="1"/>
          </p:cNvSpPr>
          <p:nvPr>
            <p:ph type="title"/>
          </p:nvPr>
        </p:nvSpPr>
        <p:spPr/>
        <p:txBody>
          <a:bodyPr/>
          <a:lstStyle/>
          <a:p>
            <a:r>
              <a:rPr lang="en-US" altLang="zh-CN" dirty="0">
                <a:latin typeface="Calibri" panose="020F0502020204030204" pitchFamily="34" charset="0"/>
                <a:ea typeface="Calibri" panose="020F0502020204030204" pitchFamily="34" charset="0"/>
                <a:cs typeface="Calibri" panose="020F0502020204030204" pitchFamily="34" charset="0"/>
              </a:rPr>
              <a:t>6.7 </a:t>
            </a:r>
            <a:r>
              <a:rPr lang="zh-CN" altLang="en-US" dirty="0">
                <a:latin typeface="Calibri" panose="020F0502020204030204" pitchFamily="34" charset="0"/>
                <a:ea typeface="微软雅黑" panose="020B0503020204020204" pitchFamily="34" charset="-122"/>
                <a:cs typeface="Calibri" panose="020F0502020204030204" pitchFamily="34" charset="0"/>
              </a:rPr>
              <a:t>异常与中断处理</a:t>
            </a:r>
            <a:endParaRPr lang="zh-CN" altLang="en-US" dirty="0"/>
          </a:p>
        </p:txBody>
      </p:sp>
      <p:sp>
        <p:nvSpPr>
          <p:cNvPr id="3" name="内容占位符 2">
            <a:extLst>
              <a:ext uri="{FF2B5EF4-FFF2-40B4-BE49-F238E27FC236}">
                <a16:creationId xmlns:a16="http://schemas.microsoft.com/office/drawing/2014/main" id="{B99E5CD2-5FB6-4422-940B-C2E54FB0F030}"/>
              </a:ext>
            </a:extLst>
          </p:cNvPr>
          <p:cNvSpPr>
            <a:spLocks noGrp="1"/>
          </p:cNvSpPr>
          <p:nvPr>
            <p:ph idx="1"/>
          </p:nvPr>
        </p:nvSpPr>
        <p:spPr>
          <a:xfrm>
            <a:off x="461818" y="902494"/>
            <a:ext cx="10769600" cy="5886234"/>
          </a:xfrm>
        </p:spPr>
        <p:txBody>
          <a:bodyPr/>
          <a:lstStyle/>
          <a:p>
            <a:r>
              <a:rPr lang="zh-CN" altLang="en-US" sz="2400" b="1" dirty="0">
                <a:latin typeface="Calibri" panose="020F0502020204030204" pitchFamily="34" charset="0"/>
                <a:ea typeface="微软雅黑" panose="020B0503020204020204" pitchFamily="34" charset="-122"/>
                <a:cs typeface="Calibri" panose="020F0502020204030204" pitchFamily="34" charset="0"/>
              </a:rPr>
              <a:t>多重中断对应的服务程序汇编代码</a:t>
            </a:r>
            <a:endParaRPr lang="en-US" altLang="zh-CN" b="1" dirty="0">
              <a:latin typeface="Calibri" panose="020F0502020204030204" pitchFamily="34" charset="0"/>
              <a:ea typeface="Calibri" panose="020F0502020204030204" pitchFamily="34" charset="0"/>
              <a:cs typeface="Calibri" panose="020F0502020204030204" pitchFamily="34" charset="0"/>
            </a:endParaRPr>
          </a:p>
          <a:p>
            <a:pPr marL="0" indent="0">
              <a:lnSpc>
                <a:spcPct val="100000"/>
              </a:lnSpc>
              <a:spcBef>
                <a:spcPts val="0"/>
              </a:spcBef>
              <a:buNone/>
            </a:pPr>
            <a:r>
              <a:rPr lang="en-US" altLang="zh-CN" b="1" dirty="0">
                <a:latin typeface="Calibri" panose="020F0502020204030204" pitchFamily="34" charset="0"/>
                <a:ea typeface="Calibri" panose="020F0502020204030204" pitchFamily="34" charset="0"/>
                <a:cs typeface="Calibri" panose="020F0502020204030204" pitchFamily="34" charset="0"/>
              </a:rPr>
              <a:t>             </a:t>
            </a:r>
            <a:r>
              <a:rPr lang="zh-CN" altLang="en-US" sz="2000" b="1" dirty="0">
                <a:latin typeface="Calibri" panose="020F0502020204030204" pitchFamily="34" charset="0"/>
                <a:ea typeface="微软雅黑" panose="020B0503020204020204" pitchFamily="34" charset="-122"/>
                <a:cs typeface="Calibri" panose="020F0502020204030204" pitchFamily="34" charset="0"/>
              </a:rPr>
              <a:t>代码</a:t>
            </a:r>
            <a:r>
              <a:rPr lang="en-US" altLang="zh-CN" sz="2000" b="1" dirty="0">
                <a:latin typeface="Calibri" panose="020F0502020204030204" pitchFamily="34" charset="0"/>
                <a:ea typeface="Calibri" panose="020F0502020204030204" pitchFamily="34" charset="0"/>
                <a:cs typeface="Calibri" panose="020F0502020204030204" pitchFamily="34" charset="0"/>
              </a:rPr>
              <a:t>		                 #</a:t>
            </a:r>
            <a:r>
              <a:rPr lang="zh-CN" altLang="en-US" sz="2000" b="1" dirty="0">
                <a:latin typeface="Calibri" panose="020F0502020204030204" pitchFamily="34" charset="0"/>
                <a:ea typeface="微软雅黑" panose="020B0503020204020204" pitchFamily="34" charset="-122"/>
                <a:cs typeface="Calibri" panose="020F0502020204030204" pitchFamily="34" charset="0"/>
              </a:rPr>
              <a:t>功能说明</a:t>
            </a:r>
            <a:endParaRPr lang="en-US" altLang="zh-CN" b="1" dirty="0">
              <a:latin typeface="Calibri" panose="020F0502020204030204" pitchFamily="34" charset="0"/>
              <a:ea typeface="Calibri" panose="020F0502020204030204" pitchFamily="34" charset="0"/>
              <a:cs typeface="Calibri" panose="020F0502020204030204" pitchFamily="34" charset="0"/>
            </a:endParaRPr>
          </a:p>
          <a:p>
            <a:pPr marL="1036955" lvl="2" indent="0">
              <a:spcBef>
                <a:spcPts val="0"/>
              </a:spcBef>
              <a:buNone/>
            </a:pPr>
            <a:r>
              <a:rPr lang="en-US" altLang="zh-CN" sz="1500" b="1" i="1" dirty="0">
                <a:latin typeface="Calibri" panose="020F0502020204030204" pitchFamily="34" charset="0"/>
                <a:ea typeface="Calibri" panose="020F0502020204030204" pitchFamily="34" charset="0"/>
                <a:cs typeface="Calibri" panose="020F0502020204030204" pitchFamily="34" charset="0"/>
              </a:rPr>
              <a:t>PUSH  AX</a:t>
            </a:r>
            <a:r>
              <a:rPr lang="zh-CN" altLang="en-US" sz="1500" b="1" i="1" dirty="0">
                <a:latin typeface="Calibri" panose="020F0502020204030204" pitchFamily="34" charset="0"/>
                <a:ea typeface="微软雅黑" panose="020B0503020204020204" pitchFamily="34" charset="-122"/>
                <a:cs typeface="Calibri" panose="020F0502020204030204" pitchFamily="34" charset="0"/>
              </a:rPr>
              <a:t>	</a:t>
            </a:r>
            <a:r>
              <a:rPr lang="en-US" altLang="zh-CN" sz="1500" b="1" i="1" dirty="0">
                <a:latin typeface="Calibri" panose="020F0502020204030204" pitchFamily="34" charset="0"/>
                <a:ea typeface="Calibri" panose="020F0502020204030204" pitchFamily="34" charset="0"/>
                <a:cs typeface="Calibri" panose="020F0502020204030204" pitchFamily="34" charset="0"/>
              </a:rPr>
              <a:t>	                            </a:t>
            </a:r>
            <a:r>
              <a:rPr lang="zh-CN" altLang="en-US" sz="1500" b="1" i="1" dirty="0">
                <a:latin typeface="Calibri" panose="020F0502020204030204" pitchFamily="34" charset="0"/>
                <a:ea typeface="微软雅黑" panose="020B0503020204020204" pitchFamily="34" charset="-122"/>
                <a:cs typeface="Calibri" panose="020F0502020204030204" pitchFamily="34" charset="0"/>
              </a:rPr>
              <a:t>#保护现场</a:t>
            </a:r>
            <a:endParaRPr lang="en-US" altLang="zh-CN" sz="1500" b="1" i="1" dirty="0">
              <a:latin typeface="Calibri" panose="020F0502020204030204" pitchFamily="34" charset="0"/>
              <a:ea typeface="Calibri" panose="020F0502020204030204" pitchFamily="34" charset="0"/>
              <a:cs typeface="Calibri" panose="020F0502020204030204" pitchFamily="34" charset="0"/>
            </a:endParaRPr>
          </a:p>
          <a:p>
            <a:pPr marL="1036955" lvl="2" indent="0">
              <a:spcBef>
                <a:spcPts val="0"/>
              </a:spcBef>
              <a:buNone/>
            </a:pPr>
            <a:r>
              <a:rPr lang="en-US" altLang="zh-CN" sz="1500" b="1" i="1" dirty="0">
                <a:latin typeface="Calibri" panose="020F0502020204030204" pitchFamily="34" charset="0"/>
                <a:ea typeface="Calibri" panose="020F0502020204030204" pitchFamily="34" charset="0"/>
                <a:cs typeface="Calibri" panose="020F0502020204030204" pitchFamily="34" charset="0"/>
              </a:rPr>
              <a:t>……</a:t>
            </a:r>
          </a:p>
          <a:p>
            <a:pPr marL="1036955" lvl="2" indent="0">
              <a:spcBef>
                <a:spcPts val="0"/>
              </a:spcBef>
              <a:buNone/>
            </a:pPr>
            <a:r>
              <a:rPr lang="en-US" altLang="zh-CN" sz="1500" b="1" i="1" dirty="0">
                <a:latin typeface="Calibri" panose="020F0502020204030204" pitchFamily="34" charset="0"/>
                <a:ea typeface="Calibri" panose="020F0502020204030204" pitchFamily="34" charset="0"/>
                <a:cs typeface="Calibri" panose="020F0502020204030204" pitchFamily="34" charset="0"/>
              </a:rPr>
              <a:t>PUSH  DX		                            #</a:t>
            </a:r>
            <a:r>
              <a:rPr lang="zh-CN" altLang="en-US" sz="1500" b="1" i="1" dirty="0">
                <a:latin typeface="Calibri" panose="020F0502020204030204" pitchFamily="34" charset="0"/>
                <a:ea typeface="微软雅黑" panose="020B0503020204020204" pitchFamily="34" charset="-122"/>
                <a:cs typeface="Calibri" panose="020F0502020204030204" pitchFamily="34" charset="0"/>
              </a:rPr>
              <a:t>保护现场</a:t>
            </a:r>
            <a:endParaRPr lang="en-US" altLang="zh-CN" sz="1500" b="1" i="1" dirty="0">
              <a:latin typeface="Calibri" panose="020F0502020204030204" pitchFamily="34" charset="0"/>
              <a:ea typeface="Calibri" panose="020F0502020204030204" pitchFamily="34" charset="0"/>
              <a:cs typeface="Calibri" panose="020F0502020204030204" pitchFamily="34" charset="0"/>
            </a:endParaRPr>
          </a:p>
          <a:p>
            <a:pPr marL="1036955" lvl="2" indent="0">
              <a:spcBef>
                <a:spcPts val="0"/>
              </a:spcBef>
              <a:buNone/>
            </a:pPr>
            <a:r>
              <a:rPr lang="en-US" altLang="zh-CN" sz="1500" b="1" i="1" dirty="0">
                <a:solidFill>
                  <a:srgbClr val="C00000"/>
                </a:solidFill>
                <a:latin typeface="Calibri" panose="020F0502020204030204" pitchFamily="34" charset="0"/>
                <a:ea typeface="Calibri" panose="020F0502020204030204" pitchFamily="34" charset="0"/>
                <a:cs typeface="Calibri" panose="020F0502020204030204" pitchFamily="34" charset="0"/>
              </a:rPr>
              <a:t>IN  AL, 8259_IMR_PORT   	     #</a:t>
            </a:r>
            <a:r>
              <a:rPr lang="zh-CN" altLang="en-US" sz="1500" b="1" i="1" dirty="0">
                <a:solidFill>
                  <a:srgbClr val="C00000"/>
                </a:solidFill>
                <a:latin typeface="Calibri" panose="020F0502020204030204" pitchFamily="34" charset="0"/>
                <a:ea typeface="微软雅黑" panose="020B0503020204020204" pitchFamily="34" charset="-122"/>
                <a:cs typeface="Calibri" panose="020F0502020204030204" pitchFamily="34" charset="0"/>
              </a:rPr>
              <a:t>访问</a:t>
            </a:r>
            <a:r>
              <a:rPr lang="en-US" altLang="zh-CN" sz="1500" b="1" i="1" dirty="0">
                <a:solidFill>
                  <a:srgbClr val="C00000"/>
                </a:solidFill>
                <a:latin typeface="Calibri" panose="020F0502020204030204" pitchFamily="34" charset="0"/>
                <a:ea typeface="Calibri" panose="020F0502020204030204" pitchFamily="34" charset="0"/>
                <a:cs typeface="Calibri" panose="020F0502020204030204" pitchFamily="34" charset="0"/>
              </a:rPr>
              <a:t>8259</a:t>
            </a:r>
            <a:r>
              <a:rPr lang="zh-CN" altLang="en-US" sz="1500" b="1" i="1" dirty="0">
                <a:solidFill>
                  <a:srgbClr val="C00000"/>
                </a:solidFill>
                <a:latin typeface="Calibri" panose="020F0502020204030204" pitchFamily="34" charset="0"/>
                <a:ea typeface="微软雅黑" panose="020B0503020204020204" pitchFamily="34" charset="-122"/>
                <a:cs typeface="Calibri" panose="020F0502020204030204" pitchFamily="34" charset="0"/>
              </a:rPr>
              <a:t>（中断控制器）的中断屏蔽寄存器</a:t>
            </a:r>
            <a:r>
              <a:rPr lang="en-US" altLang="zh-CN" sz="1500" b="1" i="1" dirty="0">
                <a:solidFill>
                  <a:srgbClr val="C00000"/>
                </a:solidFill>
                <a:latin typeface="Calibri" panose="020F0502020204030204" pitchFamily="34" charset="0"/>
                <a:ea typeface="Calibri" panose="020F0502020204030204" pitchFamily="34" charset="0"/>
                <a:cs typeface="Calibri" panose="020F0502020204030204" pitchFamily="34" charset="0"/>
              </a:rPr>
              <a:t>IMR</a:t>
            </a:r>
          </a:p>
          <a:p>
            <a:pPr marL="1036955" lvl="2" indent="0">
              <a:spcBef>
                <a:spcPts val="0"/>
              </a:spcBef>
              <a:buNone/>
            </a:pPr>
            <a:r>
              <a:rPr lang="en-US" altLang="zh-CN" sz="1500" b="1" i="1" dirty="0">
                <a:solidFill>
                  <a:srgbClr val="C00000"/>
                </a:solidFill>
                <a:latin typeface="Calibri" panose="020F0502020204030204" pitchFamily="34" charset="0"/>
                <a:ea typeface="Calibri" panose="020F0502020204030204" pitchFamily="34" charset="0"/>
                <a:cs typeface="Calibri" panose="020F0502020204030204" pitchFamily="34" charset="0"/>
              </a:rPr>
              <a:t>PUSH  AX		                            #</a:t>
            </a:r>
            <a:r>
              <a:rPr lang="zh-CN" altLang="en-US" sz="1500" b="1" i="1" dirty="0">
                <a:solidFill>
                  <a:srgbClr val="C00000"/>
                </a:solidFill>
                <a:latin typeface="Calibri" panose="020F0502020204030204" pitchFamily="34" charset="0"/>
                <a:ea typeface="微软雅黑" panose="020B0503020204020204" pitchFamily="34" charset="-122"/>
                <a:cs typeface="Calibri" panose="020F0502020204030204" pitchFamily="34" charset="0"/>
              </a:rPr>
              <a:t>保护中断屏蔽寄存器的内容</a:t>
            </a:r>
            <a:endParaRPr lang="en-US" altLang="zh-CN" sz="1500" b="1" i="1" dirty="0">
              <a:solidFill>
                <a:srgbClr val="C00000"/>
              </a:solidFill>
              <a:latin typeface="Calibri" panose="020F0502020204030204" pitchFamily="34" charset="0"/>
              <a:ea typeface="Calibri" panose="020F0502020204030204" pitchFamily="34" charset="0"/>
              <a:cs typeface="Calibri" panose="020F0502020204030204" pitchFamily="34" charset="0"/>
            </a:endParaRPr>
          </a:p>
          <a:p>
            <a:pPr marL="1036955" lvl="2" indent="0">
              <a:spcBef>
                <a:spcPts val="0"/>
              </a:spcBef>
              <a:buNone/>
            </a:pPr>
            <a:r>
              <a:rPr lang="en-US" altLang="zh-CN" sz="1500" b="1" i="1" dirty="0">
                <a:solidFill>
                  <a:srgbClr val="C00000"/>
                </a:solidFill>
                <a:latin typeface="Calibri" panose="020F0502020204030204" pitchFamily="34" charset="0"/>
                <a:ea typeface="Calibri" panose="020F0502020204030204" pitchFamily="34" charset="0"/>
                <a:cs typeface="Calibri" panose="020F0502020204030204" pitchFamily="34" charset="0"/>
              </a:rPr>
              <a:t>MOV  AL, </a:t>
            </a:r>
            <a:r>
              <a:rPr lang="en-US" altLang="zh-CN" sz="1500" b="1" i="1" dirty="0" err="1">
                <a:solidFill>
                  <a:srgbClr val="C00000"/>
                </a:solidFill>
                <a:latin typeface="Calibri" panose="020F0502020204030204" pitchFamily="34" charset="0"/>
                <a:ea typeface="Calibri" panose="020F0502020204030204" pitchFamily="34" charset="0"/>
                <a:cs typeface="Calibri" panose="020F0502020204030204" pitchFamily="34" charset="0"/>
              </a:rPr>
              <a:t>Curr_Dev_IMR</a:t>
            </a:r>
            <a:r>
              <a:rPr lang="en-US" altLang="zh-CN" sz="1500" b="1" i="1" dirty="0">
                <a:solidFill>
                  <a:srgbClr val="C00000"/>
                </a:solidFill>
                <a:latin typeface="Calibri" panose="020F0502020204030204" pitchFamily="34" charset="0"/>
                <a:ea typeface="Calibri" panose="020F0502020204030204" pitchFamily="34" charset="0"/>
                <a:cs typeface="Calibri" panose="020F0502020204030204" pitchFamily="34" charset="0"/>
              </a:rPr>
              <a:t>                         #</a:t>
            </a:r>
            <a:r>
              <a:rPr lang="zh-CN" altLang="en-US" sz="1500" b="1" i="1" dirty="0">
                <a:solidFill>
                  <a:srgbClr val="C00000"/>
                </a:solidFill>
                <a:latin typeface="Calibri" panose="020F0502020204030204" pitchFamily="34" charset="0"/>
                <a:ea typeface="微软雅黑" panose="020B0503020204020204" pitchFamily="34" charset="-122"/>
                <a:cs typeface="Calibri" panose="020F0502020204030204" pitchFamily="34" charset="0"/>
              </a:rPr>
              <a:t>设置新的中断屏蔽字</a:t>
            </a:r>
            <a:endParaRPr lang="en-US" altLang="zh-CN" sz="1500" b="1" i="1" dirty="0">
              <a:solidFill>
                <a:srgbClr val="C00000"/>
              </a:solidFill>
              <a:latin typeface="Calibri" panose="020F0502020204030204" pitchFamily="34" charset="0"/>
              <a:ea typeface="Calibri" panose="020F0502020204030204" pitchFamily="34" charset="0"/>
              <a:cs typeface="Calibri" panose="020F0502020204030204" pitchFamily="34" charset="0"/>
            </a:endParaRPr>
          </a:p>
          <a:p>
            <a:pPr marL="1036955" lvl="2" indent="0">
              <a:spcBef>
                <a:spcPts val="0"/>
              </a:spcBef>
              <a:buNone/>
            </a:pPr>
            <a:r>
              <a:rPr lang="en-US" altLang="zh-CN" sz="1500" b="1" i="1" dirty="0">
                <a:solidFill>
                  <a:srgbClr val="C00000"/>
                </a:solidFill>
                <a:latin typeface="Calibri" panose="020F0502020204030204" pitchFamily="34" charset="0"/>
                <a:ea typeface="Calibri" panose="020F0502020204030204" pitchFamily="34" charset="0"/>
                <a:cs typeface="Calibri" panose="020F0502020204030204" pitchFamily="34" charset="0"/>
              </a:rPr>
              <a:t>OUT 8259_IMR_PORT, AL	     #</a:t>
            </a:r>
            <a:r>
              <a:rPr lang="zh-CN" altLang="en-US" sz="1500" b="1" i="1" dirty="0">
                <a:solidFill>
                  <a:srgbClr val="C00000"/>
                </a:solidFill>
                <a:latin typeface="Calibri" panose="020F0502020204030204" pitchFamily="34" charset="0"/>
                <a:ea typeface="微软雅黑" panose="020B0503020204020204" pitchFamily="34" charset="-122"/>
                <a:cs typeface="Calibri" panose="020F0502020204030204" pitchFamily="34" charset="0"/>
              </a:rPr>
              <a:t>输出新的中断屏蔽字到</a:t>
            </a:r>
            <a:r>
              <a:rPr lang="en-US" altLang="zh-CN" sz="1500" b="1" i="1" dirty="0">
                <a:solidFill>
                  <a:srgbClr val="C00000"/>
                </a:solidFill>
                <a:latin typeface="Calibri" panose="020F0502020204030204" pitchFamily="34" charset="0"/>
                <a:ea typeface="Calibri" panose="020F0502020204030204" pitchFamily="34" charset="0"/>
                <a:cs typeface="Calibri" panose="020F0502020204030204" pitchFamily="34" charset="0"/>
              </a:rPr>
              <a:t>8259</a:t>
            </a:r>
            <a:r>
              <a:rPr lang="zh-CN" altLang="en-US" sz="1500" b="1" i="1" dirty="0">
                <a:solidFill>
                  <a:srgbClr val="C00000"/>
                </a:solidFill>
                <a:latin typeface="Calibri" panose="020F0502020204030204" pitchFamily="34" charset="0"/>
                <a:ea typeface="微软雅黑" panose="020B0503020204020204" pitchFamily="34" charset="-122"/>
                <a:cs typeface="Calibri" panose="020F0502020204030204" pitchFamily="34" charset="0"/>
              </a:rPr>
              <a:t>的</a:t>
            </a:r>
            <a:r>
              <a:rPr lang="en-US" altLang="zh-CN" sz="1500" b="1" i="1" dirty="0">
                <a:solidFill>
                  <a:srgbClr val="C00000"/>
                </a:solidFill>
                <a:latin typeface="Calibri" panose="020F0502020204030204" pitchFamily="34" charset="0"/>
                <a:ea typeface="Calibri" panose="020F0502020204030204" pitchFamily="34" charset="0"/>
                <a:cs typeface="Calibri" panose="020F0502020204030204" pitchFamily="34" charset="0"/>
              </a:rPr>
              <a:t>IMR</a:t>
            </a:r>
          </a:p>
          <a:p>
            <a:pPr marL="1036955" lvl="2" indent="0">
              <a:spcBef>
                <a:spcPts val="0"/>
              </a:spcBef>
              <a:buNone/>
            </a:pPr>
            <a:r>
              <a:rPr lang="en-US" altLang="zh-CN" sz="1500" b="1" i="1" dirty="0">
                <a:latin typeface="Calibri" panose="020F0502020204030204" pitchFamily="34" charset="0"/>
                <a:ea typeface="Calibri" panose="020F0502020204030204" pitchFamily="34" charset="0"/>
                <a:cs typeface="Calibri" panose="020F0502020204030204" pitchFamily="34" charset="0"/>
              </a:rPr>
              <a:t>STI		                           #</a:t>
            </a:r>
            <a:r>
              <a:rPr lang="zh-CN" altLang="en-US" sz="1500" b="1" i="1" dirty="0">
                <a:latin typeface="Calibri" panose="020F0502020204030204" pitchFamily="34" charset="0"/>
                <a:ea typeface="微软雅黑" panose="020B0503020204020204" pitchFamily="34" charset="-122"/>
                <a:cs typeface="Calibri" panose="020F0502020204030204" pitchFamily="34" charset="0"/>
              </a:rPr>
              <a:t>开中断</a:t>
            </a:r>
            <a:endParaRPr lang="en-US" altLang="zh-CN" sz="1500" b="1" i="1" dirty="0">
              <a:latin typeface="Calibri" panose="020F0502020204030204" pitchFamily="34" charset="0"/>
              <a:ea typeface="Calibri" panose="020F0502020204030204" pitchFamily="34" charset="0"/>
              <a:cs typeface="Calibri" panose="020F0502020204030204" pitchFamily="34" charset="0"/>
            </a:endParaRPr>
          </a:p>
          <a:p>
            <a:pPr marL="1036955" lvl="2" indent="0">
              <a:spcBef>
                <a:spcPts val="0"/>
              </a:spcBef>
              <a:buNone/>
            </a:pPr>
            <a:endParaRPr lang="en-US" altLang="zh-CN" sz="1500" b="1" i="1" dirty="0">
              <a:latin typeface="Calibri" panose="020F0502020204030204" pitchFamily="34" charset="0"/>
              <a:ea typeface="Calibri" panose="020F0502020204030204" pitchFamily="34" charset="0"/>
              <a:cs typeface="Calibri" panose="020F0502020204030204" pitchFamily="34" charset="0"/>
            </a:endParaRPr>
          </a:p>
          <a:p>
            <a:pPr marL="1036955" lvl="2" indent="0">
              <a:spcBef>
                <a:spcPts val="0"/>
              </a:spcBef>
              <a:buNone/>
            </a:pPr>
            <a:r>
              <a:rPr lang="en-US" altLang="zh-CN" sz="1500" b="1" i="1" dirty="0">
                <a:latin typeface="Calibri" panose="020F0502020204030204" pitchFamily="34" charset="0"/>
                <a:ea typeface="Calibri" panose="020F0502020204030204" pitchFamily="34" charset="0"/>
                <a:cs typeface="Calibri" panose="020F0502020204030204" pitchFamily="34" charset="0"/>
              </a:rPr>
              <a:t>……		                           #</a:t>
            </a:r>
            <a:r>
              <a:rPr lang="zh-CN" altLang="en-US" sz="1500" b="1" i="1" dirty="0">
                <a:latin typeface="Calibri" panose="020F0502020204030204" pitchFamily="34" charset="0"/>
                <a:ea typeface="微软雅黑" panose="020B0503020204020204" pitchFamily="34" charset="-122"/>
                <a:cs typeface="Calibri" panose="020F0502020204030204" pitchFamily="34" charset="0"/>
              </a:rPr>
              <a:t>中断服务</a:t>
            </a:r>
            <a:endParaRPr lang="en-US" altLang="zh-CN" sz="1500" b="1" i="1" dirty="0">
              <a:latin typeface="Calibri" panose="020F0502020204030204" pitchFamily="34" charset="0"/>
              <a:ea typeface="Calibri" panose="020F0502020204030204" pitchFamily="34" charset="0"/>
              <a:cs typeface="Calibri" panose="020F0502020204030204" pitchFamily="34" charset="0"/>
            </a:endParaRPr>
          </a:p>
          <a:p>
            <a:pPr marL="1036955" lvl="2" indent="0">
              <a:spcBef>
                <a:spcPts val="0"/>
              </a:spcBef>
              <a:buNone/>
            </a:pPr>
            <a:endParaRPr lang="en-US" altLang="zh-CN" sz="1500" b="1" i="1" dirty="0">
              <a:latin typeface="Calibri" panose="020F0502020204030204" pitchFamily="34" charset="0"/>
              <a:ea typeface="Calibri" panose="020F0502020204030204" pitchFamily="34" charset="0"/>
              <a:cs typeface="Calibri" panose="020F0502020204030204" pitchFamily="34" charset="0"/>
            </a:endParaRPr>
          </a:p>
          <a:p>
            <a:pPr marL="1036955" lvl="2" indent="0">
              <a:spcBef>
                <a:spcPts val="0"/>
              </a:spcBef>
              <a:buNone/>
            </a:pPr>
            <a:r>
              <a:rPr lang="en-US" altLang="zh-CN" sz="1500" b="1" i="1" dirty="0">
                <a:latin typeface="Calibri" panose="020F0502020204030204" pitchFamily="34" charset="0"/>
                <a:ea typeface="Calibri" panose="020F0502020204030204" pitchFamily="34" charset="0"/>
                <a:cs typeface="Calibri" panose="020F0502020204030204" pitchFamily="34" charset="0"/>
              </a:rPr>
              <a:t>CLI		                           #</a:t>
            </a:r>
            <a:r>
              <a:rPr lang="zh-CN" altLang="en-US" sz="1500" b="1" i="1" dirty="0">
                <a:latin typeface="Calibri" panose="020F0502020204030204" pitchFamily="34" charset="0"/>
                <a:ea typeface="微软雅黑" panose="020B0503020204020204" pitchFamily="34" charset="-122"/>
                <a:cs typeface="Calibri" panose="020F0502020204030204" pitchFamily="34" charset="0"/>
              </a:rPr>
              <a:t>关中断</a:t>
            </a:r>
            <a:endParaRPr lang="en-US" altLang="zh-CN" sz="1500" b="1" i="1" dirty="0">
              <a:latin typeface="Calibri" panose="020F0502020204030204" pitchFamily="34" charset="0"/>
              <a:ea typeface="Calibri" panose="020F0502020204030204" pitchFamily="34" charset="0"/>
              <a:cs typeface="Calibri" panose="020F0502020204030204" pitchFamily="34" charset="0"/>
            </a:endParaRPr>
          </a:p>
          <a:p>
            <a:pPr marL="1036955" lvl="2" indent="0">
              <a:spcBef>
                <a:spcPts val="0"/>
              </a:spcBef>
              <a:buNone/>
            </a:pPr>
            <a:r>
              <a:rPr lang="en-US" altLang="zh-CN" sz="1500" b="1" i="1" dirty="0">
                <a:solidFill>
                  <a:srgbClr val="C00000"/>
                </a:solidFill>
                <a:latin typeface="Calibri" panose="020F0502020204030204" pitchFamily="34" charset="0"/>
                <a:ea typeface="Calibri" panose="020F0502020204030204" pitchFamily="34" charset="0"/>
                <a:cs typeface="Calibri" panose="020F0502020204030204" pitchFamily="34" charset="0"/>
              </a:rPr>
              <a:t>POP  AX	                        	   #</a:t>
            </a:r>
            <a:r>
              <a:rPr lang="zh-CN" altLang="en-US" sz="1500" b="1" i="1" dirty="0">
                <a:solidFill>
                  <a:srgbClr val="C00000"/>
                </a:solidFill>
                <a:latin typeface="Calibri" panose="020F0502020204030204" pitchFamily="34" charset="0"/>
                <a:ea typeface="微软雅黑" panose="020B0503020204020204" pitchFamily="34" charset="-122"/>
                <a:cs typeface="Calibri" panose="020F0502020204030204" pitchFamily="34" charset="0"/>
              </a:rPr>
              <a:t>恢复中断屏蔽字</a:t>
            </a:r>
            <a:endParaRPr lang="en-US" altLang="zh-CN" sz="1500" b="1" i="1" dirty="0">
              <a:solidFill>
                <a:srgbClr val="C00000"/>
              </a:solidFill>
              <a:latin typeface="Calibri" panose="020F0502020204030204" pitchFamily="34" charset="0"/>
              <a:ea typeface="Calibri" panose="020F0502020204030204" pitchFamily="34" charset="0"/>
              <a:cs typeface="Calibri" panose="020F0502020204030204" pitchFamily="34" charset="0"/>
            </a:endParaRPr>
          </a:p>
          <a:p>
            <a:pPr marL="1036955" lvl="2" indent="0">
              <a:spcBef>
                <a:spcPts val="0"/>
              </a:spcBef>
              <a:buNone/>
            </a:pPr>
            <a:r>
              <a:rPr lang="en-US" altLang="zh-CN" sz="1500" b="1" i="1" dirty="0">
                <a:solidFill>
                  <a:srgbClr val="C00000"/>
                </a:solidFill>
                <a:latin typeface="Calibri" panose="020F0502020204030204" pitchFamily="34" charset="0"/>
                <a:ea typeface="Calibri" panose="020F0502020204030204" pitchFamily="34" charset="0"/>
                <a:cs typeface="Calibri" panose="020F0502020204030204" pitchFamily="34" charset="0"/>
              </a:rPr>
              <a:t>OUT  8259_IMR_PORT, AL	   #</a:t>
            </a:r>
            <a:r>
              <a:rPr lang="zh-CN" altLang="en-US" sz="1500" b="1" i="1" dirty="0">
                <a:solidFill>
                  <a:srgbClr val="C00000"/>
                </a:solidFill>
                <a:latin typeface="Calibri" panose="020F0502020204030204" pitchFamily="34" charset="0"/>
                <a:ea typeface="微软雅黑" panose="020B0503020204020204" pitchFamily="34" charset="-122"/>
                <a:cs typeface="Calibri" panose="020F0502020204030204" pitchFamily="34" charset="0"/>
              </a:rPr>
              <a:t>恢复中断屏蔽字</a:t>
            </a:r>
            <a:endParaRPr lang="en-US" altLang="zh-CN" sz="1500" b="1" i="1" dirty="0">
              <a:solidFill>
                <a:srgbClr val="C00000"/>
              </a:solidFill>
              <a:latin typeface="Calibri" panose="020F0502020204030204" pitchFamily="34" charset="0"/>
              <a:ea typeface="Calibri" panose="020F0502020204030204" pitchFamily="34" charset="0"/>
              <a:cs typeface="Calibri" panose="020F0502020204030204" pitchFamily="34" charset="0"/>
            </a:endParaRPr>
          </a:p>
          <a:p>
            <a:pPr marL="1036955" lvl="2" indent="0">
              <a:spcBef>
                <a:spcPts val="0"/>
              </a:spcBef>
              <a:buNone/>
            </a:pPr>
            <a:r>
              <a:rPr lang="en-US" altLang="zh-CN" sz="1500" b="1" i="1" dirty="0">
                <a:latin typeface="Calibri" panose="020F0502020204030204" pitchFamily="34" charset="0"/>
                <a:ea typeface="Calibri" panose="020F0502020204030204" pitchFamily="34" charset="0"/>
                <a:cs typeface="Calibri" panose="020F0502020204030204" pitchFamily="34" charset="0"/>
              </a:rPr>
              <a:t>POP DX		                          #</a:t>
            </a:r>
            <a:r>
              <a:rPr lang="zh-CN" altLang="en-US" sz="1500" b="1" i="1" dirty="0">
                <a:latin typeface="Calibri" panose="020F0502020204030204" pitchFamily="34" charset="0"/>
                <a:ea typeface="微软雅黑" panose="020B0503020204020204" pitchFamily="34" charset="-122"/>
                <a:cs typeface="Calibri" panose="020F0502020204030204" pitchFamily="34" charset="0"/>
              </a:rPr>
              <a:t>恢复现场</a:t>
            </a:r>
            <a:endParaRPr lang="en-US" altLang="zh-CN" sz="1500" b="1" i="1" dirty="0">
              <a:latin typeface="Calibri" panose="020F0502020204030204" pitchFamily="34" charset="0"/>
              <a:ea typeface="Calibri" panose="020F0502020204030204" pitchFamily="34" charset="0"/>
              <a:cs typeface="Calibri" panose="020F0502020204030204" pitchFamily="34" charset="0"/>
            </a:endParaRPr>
          </a:p>
          <a:p>
            <a:pPr marL="1036955" lvl="2" indent="0">
              <a:spcBef>
                <a:spcPts val="0"/>
              </a:spcBef>
              <a:buNone/>
            </a:pPr>
            <a:r>
              <a:rPr lang="en-US" altLang="zh-CN" sz="1500" b="1" i="1" dirty="0">
                <a:latin typeface="Calibri" panose="020F0502020204030204" pitchFamily="34" charset="0"/>
                <a:ea typeface="Calibri" panose="020F0502020204030204" pitchFamily="34" charset="0"/>
                <a:cs typeface="Calibri" panose="020F0502020204030204" pitchFamily="34" charset="0"/>
              </a:rPr>
              <a:t>……</a:t>
            </a:r>
          </a:p>
          <a:p>
            <a:pPr marL="1036955" lvl="2" indent="0">
              <a:spcBef>
                <a:spcPts val="0"/>
              </a:spcBef>
              <a:buNone/>
            </a:pPr>
            <a:r>
              <a:rPr lang="en-US" altLang="zh-CN" sz="1500" b="1" i="1" dirty="0">
                <a:latin typeface="Calibri" panose="020F0502020204030204" pitchFamily="34" charset="0"/>
                <a:ea typeface="Calibri" panose="020F0502020204030204" pitchFamily="34" charset="0"/>
                <a:cs typeface="Calibri" panose="020F0502020204030204" pitchFamily="34" charset="0"/>
              </a:rPr>
              <a:t>POP  AX		                          #</a:t>
            </a:r>
            <a:r>
              <a:rPr lang="zh-CN" altLang="en-US" sz="1500" b="1" i="1" dirty="0">
                <a:latin typeface="Calibri" panose="020F0502020204030204" pitchFamily="34" charset="0"/>
                <a:ea typeface="微软雅黑" panose="020B0503020204020204" pitchFamily="34" charset="-122"/>
                <a:cs typeface="Calibri" panose="020F0502020204030204" pitchFamily="34" charset="0"/>
              </a:rPr>
              <a:t>恢复现场</a:t>
            </a:r>
            <a:endParaRPr lang="en-US" altLang="zh-CN" sz="1500" b="1" i="1" dirty="0">
              <a:latin typeface="Calibri" panose="020F0502020204030204" pitchFamily="34" charset="0"/>
              <a:ea typeface="Calibri" panose="020F0502020204030204" pitchFamily="34" charset="0"/>
              <a:cs typeface="Calibri" panose="020F0502020204030204" pitchFamily="34" charset="0"/>
            </a:endParaRPr>
          </a:p>
          <a:p>
            <a:pPr marL="1036955" lvl="2" indent="0">
              <a:spcBef>
                <a:spcPts val="0"/>
              </a:spcBef>
              <a:buNone/>
            </a:pPr>
            <a:r>
              <a:rPr lang="en-US" altLang="zh-CN" sz="1500" b="1" i="1" dirty="0">
                <a:solidFill>
                  <a:srgbClr val="C00000"/>
                </a:solidFill>
                <a:latin typeface="Calibri" panose="020F0502020204030204" pitchFamily="34" charset="0"/>
                <a:ea typeface="Calibri" panose="020F0502020204030204" pitchFamily="34" charset="0"/>
                <a:cs typeface="Calibri" panose="020F0502020204030204" pitchFamily="34" charset="0"/>
              </a:rPr>
              <a:t>MOV AL, 20H		  #</a:t>
            </a:r>
            <a:r>
              <a:rPr lang="zh-CN" altLang="en-US" sz="1500" b="1" i="1" dirty="0">
                <a:solidFill>
                  <a:srgbClr val="C00000"/>
                </a:solidFill>
                <a:latin typeface="Calibri" panose="020F0502020204030204" pitchFamily="34" charset="0"/>
                <a:ea typeface="微软雅黑" panose="020B0503020204020204" pitchFamily="34" charset="-122"/>
                <a:cs typeface="Calibri" panose="020F0502020204030204" pitchFamily="34" charset="0"/>
              </a:rPr>
              <a:t>发送</a:t>
            </a:r>
            <a:r>
              <a:rPr lang="en-US" altLang="zh-CN" sz="1500" b="1" i="1" dirty="0">
                <a:solidFill>
                  <a:srgbClr val="C00000"/>
                </a:solidFill>
                <a:latin typeface="Calibri" panose="020F0502020204030204" pitchFamily="34" charset="0"/>
                <a:ea typeface="Calibri" panose="020F0502020204030204" pitchFamily="34" charset="0"/>
                <a:cs typeface="Calibri" panose="020F0502020204030204" pitchFamily="34" charset="0"/>
              </a:rPr>
              <a:t>EOI</a:t>
            </a:r>
            <a:r>
              <a:rPr lang="zh-CN" altLang="en-US" sz="1500" b="1" i="1" dirty="0">
                <a:solidFill>
                  <a:srgbClr val="C00000"/>
                </a:solidFill>
                <a:latin typeface="Calibri" panose="020F0502020204030204" pitchFamily="34" charset="0"/>
                <a:ea typeface="微软雅黑" panose="020B0503020204020204" pitchFamily="34" charset="-122"/>
                <a:cs typeface="Calibri" panose="020F0502020204030204" pitchFamily="34" charset="0"/>
              </a:rPr>
              <a:t>命令</a:t>
            </a:r>
            <a:endParaRPr lang="en-US" altLang="zh-CN" sz="1500" b="1" i="1" dirty="0">
              <a:solidFill>
                <a:srgbClr val="C00000"/>
              </a:solidFill>
              <a:latin typeface="Calibri" panose="020F0502020204030204" pitchFamily="34" charset="0"/>
              <a:ea typeface="Calibri" panose="020F0502020204030204" pitchFamily="34" charset="0"/>
              <a:cs typeface="Calibri" panose="020F0502020204030204" pitchFamily="34" charset="0"/>
            </a:endParaRPr>
          </a:p>
          <a:p>
            <a:pPr marL="1036955" lvl="2" indent="0">
              <a:spcBef>
                <a:spcPts val="0"/>
              </a:spcBef>
              <a:buNone/>
            </a:pPr>
            <a:r>
              <a:rPr lang="en-US" altLang="zh-CN" sz="1500" b="1" i="1" dirty="0">
                <a:solidFill>
                  <a:srgbClr val="C00000"/>
                </a:solidFill>
                <a:latin typeface="Calibri" panose="020F0502020204030204" pitchFamily="34" charset="0"/>
                <a:ea typeface="Calibri" panose="020F0502020204030204" pitchFamily="34" charset="0"/>
                <a:cs typeface="Calibri" panose="020F0502020204030204" pitchFamily="34" charset="0"/>
              </a:rPr>
              <a:t>OUT 8259_CMD_PORT, AL	  #</a:t>
            </a:r>
            <a:r>
              <a:rPr lang="zh-CN" altLang="en-US" sz="1500" b="1" i="1" dirty="0">
                <a:solidFill>
                  <a:srgbClr val="C00000"/>
                </a:solidFill>
                <a:latin typeface="Calibri" panose="020F0502020204030204" pitchFamily="34" charset="0"/>
                <a:ea typeface="微软雅黑" panose="020B0503020204020204" pitchFamily="34" charset="-122"/>
                <a:cs typeface="Calibri" panose="020F0502020204030204" pitchFamily="34" charset="0"/>
              </a:rPr>
              <a:t>发送</a:t>
            </a:r>
            <a:r>
              <a:rPr lang="en-US" altLang="zh-CN" sz="1500" b="1" i="1" dirty="0">
                <a:solidFill>
                  <a:srgbClr val="C00000"/>
                </a:solidFill>
                <a:latin typeface="Calibri" panose="020F0502020204030204" pitchFamily="34" charset="0"/>
                <a:ea typeface="Calibri" panose="020F0502020204030204" pitchFamily="34" charset="0"/>
                <a:cs typeface="Calibri" panose="020F0502020204030204" pitchFamily="34" charset="0"/>
              </a:rPr>
              <a:t>EOI</a:t>
            </a:r>
            <a:r>
              <a:rPr lang="zh-CN" altLang="en-US" sz="1500" b="1" i="1" dirty="0">
                <a:solidFill>
                  <a:srgbClr val="C00000"/>
                </a:solidFill>
                <a:latin typeface="Calibri" panose="020F0502020204030204" pitchFamily="34" charset="0"/>
                <a:ea typeface="微软雅黑" panose="020B0503020204020204" pitchFamily="34" charset="-122"/>
                <a:cs typeface="Calibri" panose="020F0502020204030204" pitchFamily="34" charset="0"/>
              </a:rPr>
              <a:t>命令到</a:t>
            </a:r>
            <a:r>
              <a:rPr lang="en-US" altLang="zh-CN" sz="1500" b="1" i="1" dirty="0">
                <a:solidFill>
                  <a:srgbClr val="C00000"/>
                </a:solidFill>
                <a:latin typeface="Calibri" panose="020F0502020204030204" pitchFamily="34" charset="0"/>
                <a:ea typeface="Calibri" panose="020F0502020204030204" pitchFamily="34" charset="0"/>
                <a:cs typeface="Calibri" panose="020F0502020204030204" pitchFamily="34" charset="0"/>
              </a:rPr>
              <a:t>8259</a:t>
            </a:r>
            <a:r>
              <a:rPr lang="zh-CN" altLang="en-US" sz="1500" b="1" i="1" dirty="0">
                <a:solidFill>
                  <a:srgbClr val="C00000"/>
                </a:solidFill>
                <a:latin typeface="Calibri" panose="020F0502020204030204" pitchFamily="34" charset="0"/>
                <a:ea typeface="微软雅黑" panose="020B0503020204020204" pitchFamily="34" charset="-122"/>
                <a:cs typeface="Calibri" panose="020F0502020204030204" pitchFamily="34" charset="0"/>
              </a:rPr>
              <a:t>的命令口</a:t>
            </a:r>
            <a:endParaRPr lang="en-US" altLang="zh-CN" sz="1500" b="1" i="1" dirty="0">
              <a:solidFill>
                <a:srgbClr val="C00000"/>
              </a:solidFill>
              <a:latin typeface="Calibri" panose="020F0502020204030204" pitchFamily="34" charset="0"/>
              <a:ea typeface="Calibri" panose="020F0502020204030204" pitchFamily="34" charset="0"/>
              <a:cs typeface="Calibri" panose="020F0502020204030204" pitchFamily="34" charset="0"/>
            </a:endParaRPr>
          </a:p>
          <a:p>
            <a:pPr marL="1036955" lvl="2" indent="0">
              <a:spcBef>
                <a:spcPts val="0"/>
              </a:spcBef>
              <a:buNone/>
            </a:pPr>
            <a:r>
              <a:rPr lang="en-US" altLang="zh-CN" sz="1500" b="1" i="1" dirty="0">
                <a:latin typeface="Calibri" panose="020F0502020204030204" pitchFamily="34" charset="0"/>
                <a:ea typeface="Calibri" panose="020F0502020204030204" pitchFamily="34" charset="0"/>
                <a:cs typeface="Calibri" panose="020F0502020204030204" pitchFamily="34" charset="0"/>
              </a:rPr>
              <a:t>STI		                         #</a:t>
            </a:r>
            <a:r>
              <a:rPr lang="zh-CN" altLang="en-US" sz="1500" b="1" i="1" dirty="0">
                <a:latin typeface="Calibri" panose="020F0502020204030204" pitchFamily="34" charset="0"/>
                <a:ea typeface="微软雅黑" panose="020B0503020204020204" pitchFamily="34" charset="-122"/>
                <a:cs typeface="Calibri" panose="020F0502020204030204" pitchFamily="34" charset="0"/>
              </a:rPr>
              <a:t>开中断</a:t>
            </a:r>
            <a:endParaRPr lang="en-US" altLang="zh-CN" sz="1500" b="1" i="1" dirty="0">
              <a:latin typeface="Calibri" panose="020F0502020204030204" pitchFamily="34" charset="0"/>
              <a:ea typeface="Calibri" panose="020F0502020204030204" pitchFamily="34" charset="0"/>
              <a:cs typeface="Calibri" panose="020F0502020204030204" pitchFamily="34" charset="0"/>
            </a:endParaRPr>
          </a:p>
          <a:p>
            <a:pPr marL="1036955" lvl="2" indent="0">
              <a:spcBef>
                <a:spcPts val="0"/>
              </a:spcBef>
              <a:buNone/>
            </a:pPr>
            <a:r>
              <a:rPr lang="en-US" altLang="zh-CN" sz="1500" b="1" i="1" dirty="0">
                <a:latin typeface="Calibri" panose="020F0502020204030204" pitchFamily="34" charset="0"/>
                <a:ea typeface="Calibri" panose="020F0502020204030204" pitchFamily="34" charset="0"/>
                <a:cs typeface="Calibri" panose="020F0502020204030204" pitchFamily="34" charset="0"/>
              </a:rPr>
              <a:t>IRET		</a:t>
            </a:r>
            <a:r>
              <a:rPr lang="en-US" altLang="zh-CN" sz="1500" b="1" dirty="0">
                <a:latin typeface="Calibri" panose="020F0502020204030204" pitchFamily="34" charset="0"/>
                <a:ea typeface="Calibri" panose="020F0502020204030204" pitchFamily="34" charset="0"/>
                <a:cs typeface="Calibri" panose="020F0502020204030204" pitchFamily="34" charset="0"/>
              </a:rPr>
              <a:t>                         </a:t>
            </a:r>
            <a:r>
              <a:rPr lang="en-US" altLang="zh-CN" sz="1500" b="1" i="1" dirty="0">
                <a:latin typeface="Calibri" panose="020F0502020204030204" pitchFamily="34" charset="0"/>
                <a:ea typeface="Calibri" panose="020F0502020204030204" pitchFamily="34" charset="0"/>
                <a:cs typeface="Calibri" panose="020F0502020204030204" pitchFamily="34" charset="0"/>
              </a:rPr>
              <a:t>#</a:t>
            </a:r>
            <a:r>
              <a:rPr lang="zh-CN" altLang="en-US" sz="1500" b="1" i="1" dirty="0">
                <a:latin typeface="Calibri" panose="020F0502020204030204" pitchFamily="34" charset="0"/>
                <a:ea typeface="微软雅黑" panose="020B0503020204020204" pitchFamily="34" charset="-122"/>
                <a:cs typeface="Calibri" panose="020F0502020204030204" pitchFamily="34" charset="0"/>
              </a:rPr>
              <a:t>中断返回</a:t>
            </a:r>
            <a:endParaRPr lang="en-US" altLang="zh-CN" sz="1500" b="1" i="1" dirty="0">
              <a:latin typeface="Calibri" panose="020F0502020204030204" pitchFamily="34" charset="0"/>
              <a:ea typeface="Calibri" panose="020F0502020204030204" pitchFamily="34" charset="0"/>
              <a:cs typeface="Calibri" panose="020F0502020204030204" pitchFamily="34" charset="0"/>
            </a:endParaRPr>
          </a:p>
          <a:p>
            <a:endParaRPr lang="zh-CN" altLang="en-US" b="1" dirty="0">
              <a:latin typeface="Calibri" panose="020F0502020204030204" pitchFamily="34" charset="0"/>
              <a:ea typeface="微软雅黑" panose="020B0503020204020204" pitchFamily="34" charset="-122"/>
              <a:cs typeface="Calibri" panose="020F0502020204030204" pitchFamily="34" charset="0"/>
            </a:endParaRPr>
          </a:p>
        </p:txBody>
      </p:sp>
    </p:spTree>
    <p:extLst>
      <p:ext uri="{BB962C8B-B14F-4D97-AF65-F5344CB8AC3E}">
        <p14:creationId xmlns:p14="http://schemas.microsoft.com/office/powerpoint/2010/main" val="21991221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B1EE24-A2F3-4E3B-9680-45AC975D7549}"/>
              </a:ext>
            </a:extLst>
          </p:cNvPr>
          <p:cNvSpPr>
            <a:spLocks noGrp="1"/>
          </p:cNvSpPr>
          <p:nvPr>
            <p:ph type="title"/>
          </p:nvPr>
        </p:nvSpPr>
        <p:spPr>
          <a:xfrm>
            <a:off x="304800" y="230910"/>
            <a:ext cx="11277600" cy="688975"/>
          </a:xfrm>
        </p:spPr>
        <p:txBody>
          <a:bodyPr/>
          <a:lstStyle/>
          <a:p>
            <a:r>
              <a:rPr lang="en-US" altLang="zh-CN" dirty="0">
                <a:latin typeface="微软雅黑" panose="020B0503020204020204" pitchFamily="34" charset="-122"/>
                <a:ea typeface="微软雅黑" panose="020B0503020204020204" pitchFamily="34" charset="-122"/>
              </a:rPr>
              <a:t>6.7 </a:t>
            </a:r>
            <a:r>
              <a:rPr lang="zh-CN" altLang="en-US" dirty="0">
                <a:latin typeface="微软雅黑" panose="020B0503020204020204" pitchFamily="34" charset="-122"/>
                <a:ea typeface="微软雅黑" panose="020B0503020204020204" pitchFamily="34" charset="-122"/>
              </a:rPr>
              <a:t>异常与中断处理</a:t>
            </a:r>
          </a:p>
        </p:txBody>
      </p:sp>
      <p:sp>
        <p:nvSpPr>
          <p:cNvPr id="3" name="内容占位符 2">
            <a:extLst>
              <a:ext uri="{FF2B5EF4-FFF2-40B4-BE49-F238E27FC236}">
                <a16:creationId xmlns:a16="http://schemas.microsoft.com/office/drawing/2014/main" id="{600ED051-6FFE-48AC-9166-A077D986CC2F}"/>
              </a:ext>
            </a:extLst>
          </p:cNvPr>
          <p:cNvSpPr>
            <a:spLocks noGrp="1"/>
          </p:cNvSpPr>
          <p:nvPr>
            <p:ph idx="1"/>
          </p:nvPr>
        </p:nvSpPr>
        <p:spPr>
          <a:xfrm>
            <a:off x="609600" y="996301"/>
            <a:ext cx="10767646" cy="5732973"/>
          </a:xfrm>
        </p:spPr>
        <p:txBody>
          <a:bodyPr/>
          <a:lstStyle/>
          <a:p>
            <a:pPr>
              <a:lnSpc>
                <a:spcPct val="130000"/>
              </a:lnSpc>
            </a:pPr>
            <a:r>
              <a:rPr lang="zh-CN" altLang="en-US" b="1" dirty="0">
                <a:latin typeface="Calibri" panose="020F0502020204030204" pitchFamily="34" charset="0"/>
                <a:ea typeface="微软雅黑" panose="020B0503020204020204" pitchFamily="34" charset="-122"/>
                <a:cs typeface="Calibri" panose="020F0502020204030204" pitchFamily="34" charset="0"/>
              </a:rPr>
              <a:t>第</a:t>
            </a:r>
            <a:r>
              <a:rPr lang="en-US" altLang="zh-CN" b="1" dirty="0">
                <a:latin typeface="Calibri" panose="020F0502020204030204" pitchFamily="34" charset="0"/>
                <a:ea typeface="微软雅黑" panose="020B0503020204020204" pitchFamily="34" charset="-122"/>
                <a:cs typeface="Calibri" panose="020F0502020204030204" pitchFamily="34" charset="0"/>
              </a:rPr>
              <a:t>IV</a:t>
            </a:r>
            <a:r>
              <a:rPr lang="zh-CN" altLang="en-US" b="1" dirty="0">
                <a:latin typeface="Calibri" panose="020F0502020204030204" pitchFamily="34" charset="0"/>
                <a:ea typeface="微软雅黑" panose="020B0503020204020204" pitchFamily="34" charset="-122"/>
                <a:cs typeface="Calibri" panose="020F0502020204030204" pitchFamily="34" charset="0"/>
              </a:rPr>
              <a:t>步：中断处理（</a:t>
            </a:r>
            <a:r>
              <a:rPr lang="zh-CN" altLang="en-US" b="1" dirty="0">
                <a:solidFill>
                  <a:srgbClr val="C00000"/>
                </a:solidFill>
                <a:latin typeface="Calibri" panose="020F0502020204030204" pitchFamily="34" charset="0"/>
                <a:ea typeface="微软雅黑" panose="020B0503020204020204" pitchFamily="34" charset="-122"/>
                <a:cs typeface="Calibri" panose="020F0502020204030204" pitchFamily="34" charset="0"/>
              </a:rPr>
              <a:t>软件实现</a:t>
            </a:r>
            <a:r>
              <a:rPr lang="zh-CN" altLang="en-US" b="1" dirty="0">
                <a:latin typeface="Calibri" panose="020F0502020204030204" pitchFamily="34" charset="0"/>
                <a:ea typeface="微软雅黑" panose="020B0503020204020204" pitchFamily="34" charset="-122"/>
                <a:cs typeface="Calibri" panose="020F0502020204030204" pitchFamily="34" charset="0"/>
              </a:rPr>
              <a:t>）</a:t>
            </a:r>
            <a:endParaRPr lang="en-US" altLang="zh-CN" b="1" dirty="0">
              <a:latin typeface="Calibri" panose="020F0502020204030204" pitchFamily="34" charset="0"/>
              <a:ea typeface="微软雅黑" panose="020B0503020204020204" pitchFamily="34" charset="-122"/>
              <a:cs typeface="Calibri" panose="020F0502020204030204" pitchFamily="34" charset="0"/>
            </a:endParaRPr>
          </a:p>
          <a:p>
            <a:pPr lvl="1" eaLnBrk="1" hangingPunct="1">
              <a:lnSpc>
                <a:spcPct val="100000"/>
              </a:lnSpc>
              <a:buFont typeface="Wingdings" panose="05000000000000000000" pitchFamily="2" charset="2"/>
              <a:buChar char="p"/>
            </a:pPr>
            <a:r>
              <a:rPr lang="zh-CN" altLang="en-US" b="1" dirty="0">
                <a:latin typeface="Calibri" panose="020F0502020204030204" pitchFamily="34" charset="0"/>
                <a:ea typeface="微软雅黑" panose="020B0503020204020204" pitchFamily="34" charset="-122"/>
                <a:cs typeface="Calibri" panose="020F0502020204030204" pitchFamily="34" charset="0"/>
              </a:rPr>
              <a:t>辨别中断服务程序与子程序的差异</a:t>
            </a:r>
            <a:endParaRPr lang="en-US" altLang="zh-CN" b="1" dirty="0">
              <a:latin typeface="Calibri" panose="020F0502020204030204" pitchFamily="34" charset="0"/>
              <a:ea typeface="Calibri" panose="020F0502020204030204" pitchFamily="34" charset="0"/>
              <a:cs typeface="Calibri" panose="020F0502020204030204" pitchFamily="34" charset="0"/>
            </a:endParaRPr>
          </a:p>
          <a:p>
            <a:pPr marL="1436688" lvl="2" indent="-447675" eaLnBrk="1" hangingPunct="1">
              <a:lnSpc>
                <a:spcPct val="130000"/>
              </a:lnSpc>
              <a:spcBef>
                <a:spcPts val="0"/>
              </a:spcBef>
              <a:buFont typeface="Wingdings" panose="05000000000000000000" pitchFamily="2" charset="2"/>
              <a:buChar char="n"/>
            </a:pPr>
            <a:r>
              <a:rPr lang="zh-CN" altLang="en-US"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调用方式不一样</a:t>
            </a:r>
            <a:r>
              <a:rPr lang="zh-CN" altLang="en-US"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：子程序（子函数）在程序中显式调用（</a:t>
            </a:r>
            <a:r>
              <a:rPr lang="en-US" altLang="zh-CN"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x86</a:t>
            </a:r>
            <a:r>
              <a:rPr lang="zh-CN" altLang="en-US"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为</a:t>
            </a:r>
            <a:r>
              <a:rPr lang="en-US" altLang="zh-CN"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call</a:t>
            </a:r>
            <a:r>
              <a:rPr lang="zh-CN" altLang="en-US"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指令，</a:t>
            </a:r>
            <a:r>
              <a:rPr lang="en-US" altLang="zh-CN"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MIPS</a:t>
            </a:r>
            <a:r>
              <a:rPr lang="zh-CN" altLang="en-US"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为</a:t>
            </a:r>
            <a:r>
              <a:rPr lang="en-US" altLang="zh-CN" sz="2000" b="1" dirty="0" err="1">
                <a:solidFill>
                  <a:srgbClr val="133984"/>
                </a:solidFill>
                <a:latin typeface="Calibri" panose="020F0502020204030204" pitchFamily="34" charset="0"/>
                <a:ea typeface="微软雅黑" panose="020B0503020204020204" pitchFamily="34" charset="-122"/>
                <a:cs typeface="Calibri" panose="020F0502020204030204" pitchFamily="34" charset="0"/>
              </a:rPr>
              <a:t>jal</a:t>
            </a:r>
            <a:r>
              <a:rPr lang="zh-CN" altLang="en-US"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指令），而中断服务程序大多是随机调用的。</a:t>
            </a:r>
            <a:endParaRPr lang="en-US" altLang="zh-CN"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marL="1436688" lvl="2" indent="-447675" eaLnBrk="1" hangingPunct="1">
              <a:lnSpc>
                <a:spcPct val="130000"/>
              </a:lnSpc>
              <a:spcBef>
                <a:spcPts val="0"/>
              </a:spcBef>
              <a:buFont typeface="Wingdings" panose="05000000000000000000" pitchFamily="2" charset="2"/>
              <a:buChar char="n"/>
            </a:pPr>
            <a:r>
              <a:rPr lang="zh-CN" altLang="en-US"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保存并修改</a:t>
            </a:r>
            <a:r>
              <a:rPr lang="en-US" altLang="zh-CN"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PC</a:t>
            </a:r>
            <a:r>
              <a:rPr lang="zh-CN" altLang="en-US"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和子程序入口地址的方式不同：</a:t>
            </a:r>
            <a:r>
              <a:rPr lang="zh-CN" altLang="en-US"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中断服务程序保存并修改</a:t>
            </a:r>
            <a:r>
              <a:rPr lang="en-US" altLang="zh-CN"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PC</a:t>
            </a:r>
            <a:r>
              <a:rPr lang="zh-CN" altLang="en-US"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以及入口地址是由中断隐指令完成的，而子函数保存并修改</a:t>
            </a:r>
            <a:r>
              <a:rPr lang="en-US" altLang="zh-CN"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PC</a:t>
            </a:r>
            <a:r>
              <a:rPr lang="zh-CN" altLang="en-US"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是由调用指令（</a:t>
            </a:r>
            <a:r>
              <a:rPr lang="en-US" altLang="zh-CN"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call</a:t>
            </a:r>
            <a:r>
              <a:rPr lang="zh-CN" altLang="en-US"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指令，</a:t>
            </a:r>
            <a:r>
              <a:rPr lang="en-US" altLang="zh-CN" sz="2000" b="1" dirty="0" err="1">
                <a:solidFill>
                  <a:srgbClr val="133984"/>
                </a:solidFill>
                <a:latin typeface="Calibri" panose="020F0502020204030204" pitchFamily="34" charset="0"/>
                <a:ea typeface="微软雅黑" panose="020B0503020204020204" pitchFamily="34" charset="-122"/>
                <a:cs typeface="Calibri" panose="020F0502020204030204" pitchFamily="34" charset="0"/>
              </a:rPr>
              <a:t>jal</a:t>
            </a:r>
            <a:r>
              <a:rPr lang="zh-CN" altLang="en-US"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指令）实现的。</a:t>
            </a:r>
            <a:endParaRPr lang="en-US" altLang="zh-CN"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marL="1436688" lvl="2" indent="-447675" eaLnBrk="1" hangingPunct="1">
              <a:lnSpc>
                <a:spcPct val="130000"/>
              </a:lnSpc>
              <a:spcBef>
                <a:spcPts val="0"/>
              </a:spcBef>
              <a:buFont typeface="Wingdings" panose="05000000000000000000" pitchFamily="2" charset="2"/>
              <a:buChar char="n"/>
            </a:pPr>
            <a:r>
              <a:rPr lang="zh-CN" altLang="en-US"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现场的内容不同：</a:t>
            </a:r>
            <a:r>
              <a:rPr lang="zh-CN" altLang="en-US"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因为中断服务程序没有调用者，所以需要保存</a:t>
            </a:r>
            <a:r>
              <a:rPr lang="en-US" altLang="zh-CN"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ABI</a:t>
            </a:r>
            <a:r>
              <a:rPr lang="zh-CN" altLang="en-US"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r>
              <a:rPr lang="en-US" altLang="zh-CN"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Application Binary Interface</a:t>
            </a:r>
            <a:r>
              <a:rPr lang="zh-CN" altLang="en-US"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）中约定的由调用者函数保存的寄存器，因此中断服务程序的现场包含的寄存器更多；而子函数只需要保存可能被改写的被调用者保存的寄存器。</a:t>
            </a:r>
            <a:endParaRPr lang="en-US" altLang="zh-CN"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marL="1436688" lvl="2" indent="-447675" eaLnBrk="1" hangingPunct="1">
              <a:lnSpc>
                <a:spcPct val="130000"/>
              </a:lnSpc>
              <a:spcBef>
                <a:spcPts val="0"/>
              </a:spcBef>
              <a:buFont typeface="Wingdings" panose="05000000000000000000" pitchFamily="2" charset="2"/>
              <a:buChar char="n"/>
            </a:pPr>
            <a:r>
              <a:rPr lang="zh-CN" altLang="en-US"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返回主程序的方式不同：</a:t>
            </a:r>
            <a:r>
              <a:rPr lang="en-US" altLang="zh-CN"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x86</a:t>
            </a:r>
            <a:r>
              <a:rPr lang="zh-CN" altLang="en-US"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中，子函数返回指令为</a:t>
            </a:r>
            <a:r>
              <a:rPr lang="en-US" altLang="zh-CN"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ret</a:t>
            </a:r>
            <a:r>
              <a:rPr lang="zh-CN" altLang="en-US"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，而中断返回指令为</a:t>
            </a:r>
            <a:r>
              <a:rPr lang="en-US" altLang="zh-CN" sz="2000" b="1" dirty="0" err="1">
                <a:solidFill>
                  <a:srgbClr val="C00000"/>
                </a:solidFill>
                <a:latin typeface="Calibri" panose="020F0502020204030204" pitchFamily="34" charset="0"/>
                <a:ea typeface="微软雅黑" panose="020B0503020204020204" pitchFamily="34" charset="-122"/>
                <a:cs typeface="Calibri" panose="020F0502020204030204" pitchFamily="34" charset="0"/>
              </a:rPr>
              <a:t>iret</a:t>
            </a:r>
            <a:r>
              <a:rPr lang="zh-CN" altLang="en-US"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r>
              <a:rPr lang="en-US" altLang="zh-CN"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MIPS</a:t>
            </a:r>
            <a:r>
              <a:rPr lang="zh-CN" altLang="en-US"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中子函数返回指令为</a:t>
            </a:r>
            <a:r>
              <a:rPr lang="en-US" altLang="zh-CN" sz="2000" b="1" dirty="0" err="1">
                <a:solidFill>
                  <a:srgbClr val="C00000"/>
                </a:solidFill>
                <a:latin typeface="Calibri" panose="020F0502020204030204" pitchFamily="34" charset="0"/>
                <a:ea typeface="微软雅黑" panose="020B0503020204020204" pitchFamily="34" charset="-122"/>
                <a:cs typeface="Calibri" panose="020F0502020204030204" pitchFamily="34" charset="0"/>
              </a:rPr>
              <a:t>jr</a:t>
            </a:r>
            <a:r>
              <a:rPr lang="en-US" altLang="zh-CN"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 $ra</a:t>
            </a:r>
            <a:r>
              <a:rPr lang="zh-CN" altLang="en-US"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，而中断返回指令为</a:t>
            </a:r>
            <a:r>
              <a:rPr lang="en-US" altLang="zh-CN" sz="2000" b="1" dirty="0" err="1">
                <a:solidFill>
                  <a:srgbClr val="C00000"/>
                </a:solidFill>
                <a:latin typeface="Calibri" panose="020F0502020204030204" pitchFamily="34" charset="0"/>
                <a:ea typeface="微软雅黑" panose="020B0503020204020204" pitchFamily="34" charset="-122"/>
                <a:cs typeface="Calibri" panose="020F0502020204030204" pitchFamily="34" charset="0"/>
              </a:rPr>
              <a:t>eret</a:t>
            </a:r>
            <a:r>
              <a:rPr lang="zh-CN" altLang="en-US"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endParaRPr lang="en-US" altLang="zh-CN" sz="20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marL="1436688" lvl="2" indent="-447675" eaLnBrk="1" hangingPunct="1">
              <a:lnSpc>
                <a:spcPct val="130000"/>
              </a:lnSpc>
              <a:spcBef>
                <a:spcPts val="0"/>
              </a:spcBef>
              <a:buFont typeface="Wingdings" panose="05000000000000000000" pitchFamily="2" charset="2"/>
              <a:buChar char="n"/>
            </a:pPr>
            <a:endParaRPr lang="en-US" altLang="zh-CN" sz="1800" b="1" dirty="0">
              <a:latin typeface="Calibri" panose="020F0502020204030204" pitchFamily="34" charset="0"/>
              <a:ea typeface="微软雅黑" panose="020B0503020204020204" pitchFamily="34" charset="-122"/>
              <a:cs typeface="Calibri" panose="020F0502020204030204" pitchFamily="34" charset="0"/>
            </a:endParaRPr>
          </a:p>
          <a:p>
            <a:pPr>
              <a:lnSpc>
                <a:spcPct val="130000"/>
              </a:lnSpc>
            </a:pPr>
            <a:endParaRPr lang="zh-CN" altLang="en-US" dirty="0">
              <a:latin typeface="Calibri" panose="020F0502020204030204" pitchFamily="34" charset="0"/>
              <a:ea typeface="微软雅黑" panose="020B0503020204020204" pitchFamily="34" charset="-122"/>
              <a:cs typeface="Calibri" panose="020F0502020204030204" pitchFamily="34" charset="0"/>
            </a:endParaRPr>
          </a:p>
        </p:txBody>
      </p:sp>
    </p:spTree>
    <p:extLst>
      <p:ext uri="{BB962C8B-B14F-4D97-AF65-F5344CB8AC3E}">
        <p14:creationId xmlns:p14="http://schemas.microsoft.com/office/powerpoint/2010/main" val="42416278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BF1D3E-6150-4266-9331-452072713D69}"/>
              </a:ext>
            </a:extLst>
          </p:cNvPr>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6.7 </a:t>
            </a:r>
            <a:r>
              <a:rPr lang="zh-CN" altLang="en-US" dirty="0">
                <a:latin typeface="微软雅黑" panose="020B0503020204020204" pitchFamily="34" charset="-122"/>
                <a:ea typeface="微软雅黑" panose="020B0503020204020204" pitchFamily="34" charset="-122"/>
              </a:rPr>
              <a:t>异常与中断处理</a:t>
            </a:r>
          </a:p>
        </p:txBody>
      </p:sp>
      <p:sp>
        <p:nvSpPr>
          <p:cNvPr id="3" name="内容占位符 2">
            <a:extLst>
              <a:ext uri="{FF2B5EF4-FFF2-40B4-BE49-F238E27FC236}">
                <a16:creationId xmlns:a16="http://schemas.microsoft.com/office/drawing/2014/main" id="{C4DEDA7C-55DF-4C11-862F-FA81BDDCF05E}"/>
              </a:ext>
            </a:extLst>
          </p:cNvPr>
          <p:cNvSpPr>
            <a:spLocks noGrp="1"/>
          </p:cNvSpPr>
          <p:nvPr>
            <p:ph idx="1"/>
          </p:nvPr>
        </p:nvSpPr>
        <p:spPr>
          <a:xfrm>
            <a:off x="609600" y="928896"/>
            <a:ext cx="10972800" cy="5779878"/>
          </a:xfrm>
        </p:spPr>
        <p:txBody>
          <a:bodyPr/>
          <a:lstStyle/>
          <a:p>
            <a:pPr marL="0" indent="0">
              <a:buNone/>
            </a:pPr>
            <a:r>
              <a:rPr lang="zh-CN" altLang="en-US" sz="2000" b="1" dirty="0">
                <a:latin typeface="Calibri" panose="020F0502020204030204" pitchFamily="34" charset="0"/>
                <a:ea typeface="微软雅黑" panose="020B0503020204020204" pitchFamily="34" charset="-122"/>
                <a:cs typeface="Calibri" panose="020F0502020204030204" pitchFamily="34" charset="0"/>
              </a:rPr>
              <a:t>例</a:t>
            </a:r>
            <a:r>
              <a:rPr lang="en-US" altLang="zh-CN" sz="2000" b="1" dirty="0">
                <a:latin typeface="Calibri" panose="020F0502020204030204" pitchFamily="34" charset="0"/>
                <a:ea typeface="Calibri" panose="020F0502020204030204" pitchFamily="34" charset="0"/>
                <a:cs typeface="Calibri" panose="020F0502020204030204" pitchFamily="34" charset="0"/>
              </a:rPr>
              <a:t>6.2</a:t>
            </a:r>
            <a:r>
              <a:rPr lang="zh-CN" altLang="en-US" sz="1200" b="1" dirty="0">
                <a:latin typeface="Calibri" panose="020F0502020204030204" pitchFamily="34" charset="0"/>
                <a:ea typeface="微软雅黑" panose="020B0503020204020204" pitchFamily="34" charset="-122"/>
                <a:cs typeface="Calibri" panose="020F0502020204030204" pitchFamily="34" charset="0"/>
              </a:rPr>
              <a:t>：</a:t>
            </a:r>
            <a:r>
              <a:rPr lang="zh-CN" altLang="en-US" sz="2000" b="1" dirty="0">
                <a:latin typeface="Calibri" panose="020F0502020204030204" pitchFamily="34" charset="0"/>
                <a:ea typeface="微软雅黑" panose="020B0503020204020204" pitchFamily="34" charset="-122"/>
                <a:cs typeface="Calibri" panose="020F0502020204030204" pitchFamily="34" charset="0"/>
              </a:rPr>
              <a:t>假设某计算机系统采用中断驱动方式进行输入输出，</a:t>
            </a:r>
            <a:r>
              <a:rPr lang="en-US" altLang="zh-CN" sz="2000" b="1" dirty="0">
                <a:latin typeface="Calibri" panose="020F0502020204030204" pitchFamily="34" charset="0"/>
                <a:ea typeface="Calibri" panose="020F0502020204030204" pitchFamily="34" charset="0"/>
                <a:cs typeface="Calibri" panose="020F0502020204030204" pitchFamily="34" charset="0"/>
              </a:rPr>
              <a:t>CPU</a:t>
            </a:r>
            <a:r>
              <a:rPr lang="zh-CN" altLang="en-US" sz="2000" b="1" dirty="0">
                <a:latin typeface="Calibri" panose="020F0502020204030204" pitchFamily="34" charset="0"/>
                <a:ea typeface="微软雅黑" panose="020B0503020204020204" pitchFamily="34" charset="-122"/>
                <a:cs typeface="Calibri" panose="020F0502020204030204" pitchFamily="34" charset="0"/>
              </a:rPr>
              <a:t>的时钟频率为</a:t>
            </a:r>
            <a:r>
              <a:rPr lang="en-US" altLang="zh-CN" sz="2000" b="1" dirty="0">
                <a:solidFill>
                  <a:srgbClr val="C00000"/>
                </a:solidFill>
                <a:latin typeface="Calibri" panose="020F0502020204030204" pitchFamily="34" charset="0"/>
                <a:ea typeface="Calibri" panose="020F0502020204030204" pitchFamily="34" charset="0"/>
                <a:cs typeface="Calibri" panose="020F0502020204030204" pitchFamily="34" charset="0"/>
              </a:rPr>
              <a:t>200MHz</a:t>
            </a:r>
            <a:r>
              <a:rPr lang="zh-CN" altLang="en-US" sz="2000" b="1" dirty="0">
                <a:latin typeface="Calibri" panose="020F0502020204030204" pitchFamily="34" charset="0"/>
                <a:ea typeface="微软雅黑" panose="020B0503020204020204" pitchFamily="34" charset="-122"/>
                <a:cs typeface="Calibri" panose="020F0502020204030204" pitchFamily="34" charset="0"/>
              </a:rPr>
              <a:t>，硬盘以</a:t>
            </a:r>
            <a:r>
              <a:rPr lang="en-US" altLang="zh-CN" sz="2000" b="1" dirty="0">
                <a:solidFill>
                  <a:srgbClr val="C00000"/>
                </a:solidFill>
                <a:latin typeface="Calibri" panose="020F0502020204030204" pitchFamily="34" charset="0"/>
                <a:ea typeface="Calibri" panose="020F0502020204030204" pitchFamily="34" charset="0"/>
                <a:cs typeface="Calibri" panose="020F0502020204030204" pitchFamily="34" charset="0"/>
              </a:rPr>
              <a:t>512</a:t>
            </a:r>
            <a:r>
              <a:rPr lang="zh-CN" altLang="en-US" sz="2000" b="1" dirty="0">
                <a:latin typeface="Calibri" panose="020F0502020204030204" pitchFamily="34" charset="0"/>
                <a:ea typeface="微软雅黑" panose="020B0503020204020204" pitchFamily="34" charset="-122"/>
                <a:cs typeface="Calibri" panose="020F0502020204030204" pitchFamily="34" charset="0"/>
              </a:rPr>
              <a:t>字节大小的扇区为单位传输数据，启动阶段发送命令和参数需要</a:t>
            </a:r>
            <a:r>
              <a:rPr lang="en-US" altLang="zh-CN" sz="2000" b="1" dirty="0">
                <a:solidFill>
                  <a:srgbClr val="C00000"/>
                </a:solidFill>
                <a:latin typeface="Calibri" panose="020F0502020204030204" pitchFamily="34" charset="0"/>
                <a:ea typeface="Calibri" panose="020F0502020204030204" pitchFamily="34" charset="0"/>
                <a:cs typeface="Calibri" panose="020F0502020204030204" pitchFamily="34" charset="0"/>
              </a:rPr>
              <a:t>90</a:t>
            </a:r>
            <a:r>
              <a:rPr lang="zh-CN" altLang="en-US" sz="2000" b="1" dirty="0">
                <a:latin typeface="Calibri" panose="020F0502020204030204" pitchFamily="34" charset="0"/>
                <a:ea typeface="微软雅黑" panose="020B0503020204020204" pitchFamily="34" charset="-122"/>
                <a:cs typeface="Calibri" panose="020F0502020204030204" pitchFamily="34" charset="0"/>
              </a:rPr>
              <a:t>个时钟周期，每次中断服务的开销为</a:t>
            </a:r>
            <a:r>
              <a:rPr lang="en-US" altLang="zh-CN" sz="2000" b="1" dirty="0">
                <a:solidFill>
                  <a:srgbClr val="C00000"/>
                </a:solidFill>
                <a:latin typeface="Calibri" panose="020F0502020204030204" pitchFamily="34" charset="0"/>
                <a:ea typeface="Calibri" panose="020F0502020204030204" pitchFamily="34" charset="0"/>
                <a:cs typeface="Calibri" panose="020F0502020204030204" pitchFamily="34" charset="0"/>
              </a:rPr>
              <a:t>400</a:t>
            </a:r>
            <a:r>
              <a:rPr lang="zh-CN" altLang="en-US"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个</a:t>
            </a:r>
            <a:r>
              <a:rPr lang="zh-CN" altLang="en-US" sz="2000" b="1" dirty="0">
                <a:latin typeface="Calibri" panose="020F0502020204030204" pitchFamily="34" charset="0"/>
                <a:ea typeface="微软雅黑" panose="020B0503020204020204" pitchFamily="34" charset="-122"/>
                <a:cs typeface="Calibri" panose="020F0502020204030204" pitchFamily="34" charset="0"/>
              </a:rPr>
              <a:t>时钟周期（包括中断响应、中断处理，不包括数据传输），实际传输阶段需要</a:t>
            </a:r>
            <a:r>
              <a:rPr lang="en-US" altLang="zh-CN" sz="2000" b="1" dirty="0">
                <a:solidFill>
                  <a:srgbClr val="C00000"/>
                </a:solidFill>
                <a:latin typeface="Calibri" panose="020F0502020204030204" pitchFamily="34" charset="0"/>
                <a:ea typeface="Calibri" panose="020F0502020204030204" pitchFamily="34" charset="0"/>
                <a:cs typeface="Calibri" panose="020F0502020204030204" pitchFamily="34" charset="0"/>
              </a:rPr>
              <a:t>1555</a:t>
            </a:r>
            <a:r>
              <a:rPr lang="zh-CN" altLang="en-US" sz="2000" b="1" dirty="0">
                <a:latin typeface="Calibri" panose="020F0502020204030204" pitchFamily="34" charset="0"/>
                <a:ea typeface="微软雅黑" panose="020B0503020204020204" pitchFamily="34" charset="-122"/>
                <a:cs typeface="Calibri" panose="020F0502020204030204" pitchFamily="34" charset="0"/>
              </a:rPr>
              <a:t>个时钟周期，</a:t>
            </a:r>
            <a:r>
              <a:rPr lang="en-US" altLang="zh-CN" sz="2000" b="1" dirty="0">
                <a:latin typeface="Calibri" panose="020F0502020204030204" pitchFamily="34" charset="0"/>
                <a:ea typeface="Calibri" panose="020F0502020204030204" pitchFamily="34" charset="0"/>
                <a:cs typeface="Calibri" panose="020F0502020204030204" pitchFamily="34" charset="0"/>
              </a:rPr>
              <a:t>CPU</a:t>
            </a:r>
            <a:r>
              <a:rPr lang="zh-CN" altLang="en-US" sz="2000" b="1" dirty="0">
                <a:latin typeface="Calibri" panose="020F0502020204030204" pitchFamily="34" charset="0"/>
                <a:ea typeface="微软雅黑" panose="020B0503020204020204" pitchFamily="34" charset="-122"/>
                <a:cs typeface="Calibri" panose="020F0502020204030204" pitchFamily="34" charset="0"/>
              </a:rPr>
              <a:t>访问硬盘的速率为</a:t>
            </a:r>
            <a:r>
              <a:rPr lang="en-US" altLang="zh-CN" sz="2000" b="1" dirty="0">
                <a:solidFill>
                  <a:srgbClr val="C00000"/>
                </a:solidFill>
                <a:latin typeface="Calibri" panose="020F0502020204030204" pitchFamily="34" charset="0"/>
                <a:ea typeface="Calibri" panose="020F0502020204030204" pitchFamily="34" charset="0"/>
                <a:cs typeface="Calibri" panose="020F0502020204030204" pitchFamily="34" charset="0"/>
              </a:rPr>
              <a:t>20MB/s</a:t>
            </a:r>
            <a:r>
              <a:rPr lang="zh-CN" altLang="en-US" sz="2000" b="1" dirty="0">
                <a:latin typeface="Calibri" panose="020F0502020204030204" pitchFamily="34" charset="0"/>
                <a:ea typeface="微软雅黑" panose="020B0503020204020204" pitchFamily="34" charset="-122"/>
                <a:cs typeface="Calibri" panose="020F0502020204030204" pitchFamily="34" charset="0"/>
              </a:rPr>
              <a:t>。</a:t>
            </a:r>
            <a:endParaRPr lang="en-US" altLang="zh-CN" sz="2000" b="1" dirty="0">
              <a:latin typeface="Calibri" panose="020F0502020204030204" pitchFamily="34" charset="0"/>
              <a:ea typeface="Calibri" panose="020F0502020204030204" pitchFamily="34" charset="0"/>
              <a:cs typeface="Calibri" panose="020F0502020204030204" pitchFamily="34" charset="0"/>
            </a:endParaRPr>
          </a:p>
          <a:p>
            <a:pPr marL="803275" lvl="1" indent="-442913">
              <a:buFont typeface="+mj-ea"/>
              <a:buAutoNum type="circleNumDbPlain"/>
            </a:pPr>
            <a:r>
              <a:rPr lang="zh-CN" altLang="en-US" sz="1800" b="1" dirty="0">
                <a:latin typeface="Calibri" panose="020F0502020204030204" pitchFamily="34" charset="0"/>
                <a:ea typeface="微软雅黑" panose="020B0503020204020204" pitchFamily="34" charset="-122"/>
                <a:cs typeface="Calibri" panose="020F0502020204030204" pitchFamily="34" charset="0"/>
              </a:rPr>
              <a:t>求中断驱动</a:t>
            </a:r>
            <a:r>
              <a:rPr lang="en-US" altLang="zh-CN" sz="1800" b="1" dirty="0">
                <a:latin typeface="Calibri" panose="020F0502020204030204" pitchFamily="34" charset="0"/>
                <a:ea typeface="Calibri" panose="020F0502020204030204" pitchFamily="34" charset="0"/>
                <a:cs typeface="Calibri" panose="020F0502020204030204" pitchFamily="34" charset="0"/>
              </a:rPr>
              <a:t>I/O</a:t>
            </a:r>
            <a:r>
              <a:rPr lang="zh-CN" altLang="en-US" sz="1800" b="1" dirty="0">
                <a:latin typeface="Calibri" panose="020F0502020204030204" pitchFamily="34" charset="0"/>
                <a:ea typeface="微软雅黑" panose="020B0503020204020204" pitchFamily="34" charset="-122"/>
                <a:cs typeface="Calibri" panose="020F0502020204030204" pitchFamily="34" charset="0"/>
              </a:rPr>
              <a:t>方式中的</a:t>
            </a:r>
            <a:r>
              <a:rPr lang="en-US" altLang="zh-CN" sz="1800" b="1" dirty="0">
                <a:solidFill>
                  <a:srgbClr val="C00000"/>
                </a:solidFill>
                <a:latin typeface="Calibri" panose="020F0502020204030204" pitchFamily="34" charset="0"/>
                <a:ea typeface="Calibri" panose="020F0502020204030204" pitchFamily="34" charset="0"/>
                <a:cs typeface="Calibri" panose="020F0502020204030204" pitchFamily="34" charset="0"/>
              </a:rPr>
              <a:t>CPU</a:t>
            </a: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占用率</a:t>
            </a:r>
            <a:r>
              <a:rPr lang="zh-CN" altLang="en-US" sz="1800" b="1" dirty="0">
                <a:latin typeface="Calibri" panose="020F0502020204030204" pitchFamily="34" charset="0"/>
                <a:ea typeface="微软雅黑" panose="020B0503020204020204" pitchFamily="34" charset="-122"/>
                <a:cs typeface="Calibri" panose="020F0502020204030204" pitchFamily="34" charset="0"/>
              </a:rPr>
              <a:t>。</a:t>
            </a:r>
            <a:endParaRPr lang="en-US" altLang="zh-CN" sz="1800" b="1" dirty="0">
              <a:latin typeface="Calibri" panose="020F0502020204030204" pitchFamily="34" charset="0"/>
              <a:ea typeface="Calibri" panose="020F0502020204030204" pitchFamily="34" charset="0"/>
              <a:cs typeface="Calibri" panose="020F0502020204030204" pitchFamily="34" charset="0"/>
            </a:endParaRPr>
          </a:p>
          <a:p>
            <a:pPr marL="803275" lvl="1" indent="-442913">
              <a:buFont typeface="+mj-ea"/>
              <a:buAutoNum type="circleNumDbPlain"/>
            </a:pPr>
            <a:r>
              <a:rPr lang="zh-CN" altLang="en-US" sz="1800" b="1" dirty="0">
                <a:latin typeface="Calibri" panose="020F0502020204030204" pitchFamily="34" charset="0"/>
                <a:ea typeface="微软雅黑" panose="020B0503020204020204" pitchFamily="34" charset="-122"/>
                <a:cs typeface="Calibri" panose="020F0502020204030204" pitchFamily="34" charset="0"/>
              </a:rPr>
              <a:t>如果硬盘速率提高到</a:t>
            </a:r>
            <a:r>
              <a:rPr lang="en-US" altLang="zh-CN" sz="1800" b="1" dirty="0">
                <a:solidFill>
                  <a:srgbClr val="C00000"/>
                </a:solidFill>
                <a:latin typeface="Calibri" panose="020F0502020204030204" pitchFamily="34" charset="0"/>
                <a:ea typeface="Calibri" panose="020F0502020204030204" pitchFamily="34" charset="0"/>
                <a:cs typeface="Calibri" panose="020F0502020204030204" pitchFamily="34" charset="0"/>
              </a:rPr>
              <a:t>60MB/s</a:t>
            </a:r>
            <a:r>
              <a:rPr lang="zh-CN" altLang="en-US" sz="1800" b="1" dirty="0">
                <a:latin typeface="Calibri" panose="020F0502020204030204" pitchFamily="34" charset="0"/>
                <a:ea typeface="微软雅黑" panose="020B0503020204020204" pitchFamily="34" charset="-122"/>
                <a:cs typeface="Calibri" panose="020F0502020204030204" pitchFamily="34" charset="0"/>
              </a:rPr>
              <a:t>，会发生什么情况？</a:t>
            </a:r>
            <a:endParaRPr lang="en-US" altLang="zh-CN" sz="1800" b="1" dirty="0">
              <a:latin typeface="Calibri" panose="020F0502020204030204" pitchFamily="34" charset="0"/>
              <a:ea typeface="微软雅黑" panose="020B0503020204020204" pitchFamily="34" charset="-122"/>
              <a:cs typeface="Calibri" panose="020F0502020204030204" pitchFamily="34" charset="0"/>
            </a:endParaRPr>
          </a:p>
          <a:p>
            <a:pPr marL="360363" lvl="1" indent="-268288">
              <a:buNone/>
            </a:pPr>
            <a:endParaRPr lang="en-US" altLang="zh-CN" sz="1800" b="1" dirty="0">
              <a:highlight>
                <a:srgbClr val="FFFFFF"/>
              </a:highlight>
              <a:latin typeface="Calibri" panose="020F0502020204030204" pitchFamily="34" charset="0"/>
              <a:ea typeface="微软雅黑" panose="020B0503020204020204" pitchFamily="34" charset="-122"/>
              <a:cs typeface="Calibri" panose="020F0502020204030204" pitchFamily="34" charset="0"/>
            </a:endParaRPr>
          </a:p>
          <a:p>
            <a:pPr marL="360363" lvl="1" indent="-268288">
              <a:buNone/>
            </a:pPr>
            <a:r>
              <a:rPr lang="zh-CN" altLang="en-US" sz="1800" b="1" dirty="0">
                <a:solidFill>
                  <a:srgbClr val="C00000"/>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解</a:t>
            </a: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答</a:t>
            </a:r>
            <a:r>
              <a:rPr lang="zh-CN" altLang="en-US" sz="1800" b="1" dirty="0">
                <a:latin typeface="Calibri" panose="020F0502020204030204" pitchFamily="34" charset="0"/>
                <a:ea typeface="微软雅黑" panose="020B0503020204020204" pitchFamily="34" charset="-122"/>
                <a:cs typeface="Calibri" panose="020F0502020204030204" pitchFamily="34" charset="0"/>
              </a:rPr>
              <a:t>：</a:t>
            </a:r>
            <a:r>
              <a:rPr lang="en-US" altLang="zh-CN" sz="1800" b="1" dirty="0">
                <a:latin typeface="Calibri" panose="020F0502020204030204" pitchFamily="34" charset="0"/>
                <a:ea typeface="微软雅黑" panose="020B0503020204020204" pitchFamily="34" charset="-122"/>
                <a:cs typeface="Calibri" panose="020F0502020204030204" pitchFamily="34" charset="0"/>
              </a:rPr>
              <a:t>CPU</a:t>
            </a:r>
            <a:r>
              <a:rPr lang="zh-CN" altLang="en-US" sz="1800" b="1" dirty="0">
                <a:latin typeface="Calibri" panose="020F0502020204030204" pitchFamily="34" charset="0"/>
                <a:ea typeface="微软雅黑" panose="020B0503020204020204" pitchFamily="34" charset="-122"/>
                <a:cs typeface="Calibri" panose="020F0502020204030204" pitchFamily="34" charset="0"/>
              </a:rPr>
              <a:t>占用率指的是时间占比，也即</a:t>
            </a:r>
            <a:r>
              <a:rPr lang="en-US" altLang="zh-CN" sz="1800" b="1" dirty="0">
                <a:latin typeface="Calibri" panose="020F0502020204030204" pitchFamily="34" charset="0"/>
                <a:ea typeface="微软雅黑" panose="020B0503020204020204" pitchFamily="34" charset="-122"/>
                <a:cs typeface="Calibri" panose="020F0502020204030204" pitchFamily="34" charset="0"/>
              </a:rPr>
              <a:t>CPU</a:t>
            </a:r>
            <a:r>
              <a:rPr lang="zh-CN" altLang="en-US" sz="1800" b="1" dirty="0">
                <a:latin typeface="Calibri" panose="020F0502020204030204" pitchFamily="34" charset="0"/>
                <a:ea typeface="微软雅黑" panose="020B0503020204020204" pitchFamily="34" charset="-122"/>
                <a:cs typeface="Calibri" panose="020F0502020204030204" pitchFamily="34" charset="0"/>
              </a:rPr>
              <a:t>要拿出多少时间用于处理中断事务。故而该题目的关键是计算在当下硬盘传输率下，完成中断多少次，时间消耗是多少？</a:t>
            </a:r>
            <a:endParaRPr lang="en-US" altLang="zh-CN" sz="1800" b="1" dirty="0">
              <a:latin typeface="Calibri" panose="020F0502020204030204" pitchFamily="34" charset="0"/>
              <a:ea typeface="微软雅黑" panose="020B0503020204020204" pitchFamily="34" charset="-122"/>
              <a:cs typeface="Calibri" panose="020F0502020204030204" pitchFamily="34" charset="0"/>
            </a:endParaRPr>
          </a:p>
          <a:p>
            <a:pPr marL="820737" lvl="2" indent="-285750">
              <a:buFont typeface="Wingdings" panose="05000000000000000000" pitchFamily="2" charset="2"/>
              <a:buChar char="n"/>
            </a:pP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时钟周期</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T=1/200MHz</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；硬盘每个扇区（</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512</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个字节）传输的开销为：</a:t>
            </a:r>
            <a:endPar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marL="817562" lvl="5" indent="0">
              <a:buNone/>
            </a:pPr>
            <a:r>
              <a:rPr lang="zh-CN" altLang="en-US"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启动开销</a:t>
            </a:r>
            <a:r>
              <a:rPr lang="en-US" altLang="zh-CN"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=90T</a:t>
            </a:r>
          </a:p>
          <a:p>
            <a:pPr marL="817562" lvl="5" indent="0">
              <a:buNone/>
            </a:pPr>
            <a:r>
              <a:rPr lang="zh-CN" altLang="en-US"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中断服务开销</a:t>
            </a:r>
            <a:r>
              <a:rPr lang="en-US" altLang="zh-CN"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=400T</a:t>
            </a:r>
          </a:p>
          <a:p>
            <a:pPr marL="817562" lvl="5" indent="0">
              <a:buNone/>
            </a:pPr>
            <a:r>
              <a:rPr lang="zh-CN" altLang="en-US"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数据传输开销</a:t>
            </a:r>
            <a:r>
              <a:rPr lang="en-US" altLang="zh-CN"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=1555T</a:t>
            </a:r>
          </a:p>
          <a:p>
            <a:pPr marL="817562" lvl="5" indent="0">
              <a:buNone/>
            </a:pPr>
            <a:r>
              <a:rPr lang="zh-CN" altLang="en-US"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合计：</a:t>
            </a:r>
            <a:r>
              <a:rPr lang="en-US" altLang="zh-CN"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2045T</a:t>
            </a:r>
          </a:p>
          <a:p>
            <a:pPr marL="803275" lvl="3" indent="-268288">
              <a:buFont typeface="Wingdings" panose="05000000000000000000" pitchFamily="2" charset="2"/>
              <a:buChar char="n"/>
            </a:pP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CPU</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访问硬盘的速率为</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20MB/s</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，则每秒传输的次数为（每次传输</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512</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字节）：</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20MB/512B = 39062.5</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次</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/s</a:t>
            </a:r>
          </a:p>
          <a:p>
            <a:pPr marL="803275" lvl="3" indent="-268288">
              <a:buFont typeface="Wingdings" panose="05000000000000000000" pitchFamily="2" charset="2"/>
              <a:buChar char="n"/>
            </a:pP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中断方式硬盘传输数据占用</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CPU</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的时间比例（</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CPU</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占用率）为：</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2045T x 39062.5 / 1s = 2045 x (1/200) x 10-6 x 39062.5 = 39.94 %</a:t>
            </a:r>
          </a:p>
          <a:p>
            <a:pPr marL="0" indent="0">
              <a:buNone/>
            </a:pPr>
            <a:endParaRPr lang="zh-CN" altLang="en-US" dirty="0">
              <a:latin typeface="Calibri" panose="020F0502020204030204" pitchFamily="34" charset="0"/>
              <a:ea typeface="微软雅黑" panose="020B0503020204020204" pitchFamily="34" charset="-122"/>
              <a:cs typeface="Calibri" panose="020F0502020204030204" pitchFamily="34" charset="0"/>
            </a:endParaRPr>
          </a:p>
        </p:txBody>
      </p:sp>
    </p:spTree>
    <p:extLst>
      <p:ext uri="{BB962C8B-B14F-4D97-AF65-F5344CB8AC3E}">
        <p14:creationId xmlns:p14="http://schemas.microsoft.com/office/powerpoint/2010/main" val="8957187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BF1D3E-6150-4266-9331-452072713D69}"/>
              </a:ext>
            </a:extLst>
          </p:cNvPr>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6.7 </a:t>
            </a:r>
            <a:r>
              <a:rPr lang="zh-CN" altLang="en-US" dirty="0">
                <a:latin typeface="微软雅黑" panose="020B0503020204020204" pitchFamily="34" charset="-122"/>
                <a:ea typeface="微软雅黑" panose="020B0503020204020204" pitchFamily="34" charset="-122"/>
              </a:rPr>
              <a:t>异常与中断处理</a:t>
            </a:r>
          </a:p>
        </p:txBody>
      </p:sp>
      <p:sp>
        <p:nvSpPr>
          <p:cNvPr id="3" name="内容占位符 2">
            <a:extLst>
              <a:ext uri="{FF2B5EF4-FFF2-40B4-BE49-F238E27FC236}">
                <a16:creationId xmlns:a16="http://schemas.microsoft.com/office/drawing/2014/main" id="{C4DEDA7C-55DF-4C11-862F-FA81BDDCF05E}"/>
              </a:ext>
            </a:extLst>
          </p:cNvPr>
          <p:cNvSpPr>
            <a:spLocks noGrp="1"/>
          </p:cNvSpPr>
          <p:nvPr>
            <p:ph idx="1"/>
          </p:nvPr>
        </p:nvSpPr>
        <p:spPr>
          <a:xfrm>
            <a:off x="526832" y="958272"/>
            <a:ext cx="10972800" cy="5750502"/>
          </a:xfrm>
        </p:spPr>
        <p:txBody>
          <a:bodyPr/>
          <a:lstStyle/>
          <a:p>
            <a:pPr marL="0" indent="0">
              <a:buNone/>
            </a:pPr>
            <a:r>
              <a:rPr lang="zh-CN" altLang="en-US" sz="2000" b="1" dirty="0">
                <a:latin typeface="Calibri" panose="020F0502020204030204" pitchFamily="34" charset="0"/>
                <a:ea typeface="微软雅黑" panose="020B0503020204020204" pitchFamily="34" charset="-122"/>
                <a:cs typeface="Calibri" panose="020F0502020204030204" pitchFamily="34" charset="0"/>
              </a:rPr>
              <a:t>例</a:t>
            </a:r>
            <a:r>
              <a:rPr lang="en-US" altLang="zh-CN" sz="2000" b="1" dirty="0">
                <a:latin typeface="Calibri" panose="020F0502020204030204" pitchFamily="34" charset="0"/>
                <a:ea typeface="Calibri" panose="020F0502020204030204" pitchFamily="34" charset="0"/>
                <a:cs typeface="Calibri" panose="020F0502020204030204" pitchFamily="34" charset="0"/>
              </a:rPr>
              <a:t>6.2</a:t>
            </a:r>
            <a:r>
              <a:rPr lang="zh-CN" altLang="en-US" sz="1200" b="1" dirty="0">
                <a:latin typeface="Calibri" panose="020F0502020204030204" pitchFamily="34" charset="0"/>
                <a:ea typeface="微软雅黑" panose="020B0503020204020204" pitchFamily="34" charset="-122"/>
                <a:cs typeface="Calibri" panose="020F0502020204030204" pitchFamily="34" charset="0"/>
              </a:rPr>
              <a:t>：</a:t>
            </a:r>
            <a:r>
              <a:rPr lang="zh-CN" altLang="en-US" sz="2000" b="1" dirty="0">
                <a:latin typeface="Calibri" panose="020F0502020204030204" pitchFamily="34" charset="0"/>
                <a:ea typeface="微软雅黑" panose="020B0503020204020204" pitchFamily="34" charset="-122"/>
                <a:cs typeface="Calibri" panose="020F0502020204030204" pitchFamily="34" charset="0"/>
              </a:rPr>
              <a:t>假设某计算机系统采用中断驱动方式进行输入输出，</a:t>
            </a:r>
            <a:r>
              <a:rPr lang="en-US" altLang="zh-CN" sz="2000" b="1" dirty="0">
                <a:latin typeface="Calibri" panose="020F0502020204030204" pitchFamily="34" charset="0"/>
                <a:ea typeface="Calibri" panose="020F0502020204030204" pitchFamily="34" charset="0"/>
                <a:cs typeface="Calibri" panose="020F0502020204030204" pitchFamily="34" charset="0"/>
              </a:rPr>
              <a:t>CPU</a:t>
            </a:r>
            <a:r>
              <a:rPr lang="zh-CN" altLang="en-US" sz="2000" b="1" dirty="0">
                <a:latin typeface="Calibri" panose="020F0502020204030204" pitchFamily="34" charset="0"/>
                <a:ea typeface="微软雅黑" panose="020B0503020204020204" pitchFamily="34" charset="-122"/>
                <a:cs typeface="Calibri" panose="020F0502020204030204" pitchFamily="34" charset="0"/>
              </a:rPr>
              <a:t>的时钟频率为</a:t>
            </a:r>
            <a:r>
              <a:rPr lang="en-US" altLang="zh-CN" sz="2000" b="1" dirty="0">
                <a:solidFill>
                  <a:srgbClr val="C00000"/>
                </a:solidFill>
                <a:latin typeface="Calibri" panose="020F0502020204030204" pitchFamily="34" charset="0"/>
                <a:ea typeface="Calibri" panose="020F0502020204030204" pitchFamily="34" charset="0"/>
                <a:cs typeface="Calibri" panose="020F0502020204030204" pitchFamily="34" charset="0"/>
              </a:rPr>
              <a:t>200MHz</a:t>
            </a:r>
            <a:r>
              <a:rPr lang="zh-CN" altLang="en-US" sz="2000" b="1" dirty="0">
                <a:latin typeface="Calibri" panose="020F0502020204030204" pitchFamily="34" charset="0"/>
                <a:ea typeface="微软雅黑" panose="020B0503020204020204" pitchFamily="34" charset="-122"/>
                <a:cs typeface="Calibri" panose="020F0502020204030204" pitchFamily="34" charset="0"/>
              </a:rPr>
              <a:t>，硬盘以</a:t>
            </a:r>
            <a:r>
              <a:rPr lang="en-US" altLang="zh-CN" sz="2000" b="1" dirty="0">
                <a:solidFill>
                  <a:srgbClr val="C00000"/>
                </a:solidFill>
                <a:latin typeface="Calibri" panose="020F0502020204030204" pitchFamily="34" charset="0"/>
                <a:ea typeface="Calibri" panose="020F0502020204030204" pitchFamily="34" charset="0"/>
                <a:cs typeface="Calibri" panose="020F0502020204030204" pitchFamily="34" charset="0"/>
              </a:rPr>
              <a:t>512</a:t>
            </a:r>
            <a:r>
              <a:rPr lang="zh-CN" altLang="en-US" sz="2000" b="1" dirty="0">
                <a:latin typeface="Calibri" panose="020F0502020204030204" pitchFamily="34" charset="0"/>
                <a:ea typeface="微软雅黑" panose="020B0503020204020204" pitchFamily="34" charset="-122"/>
                <a:cs typeface="Calibri" panose="020F0502020204030204" pitchFamily="34" charset="0"/>
              </a:rPr>
              <a:t>字节大小的扇区为单位传输数据，启动阶段发送命令和参数需要</a:t>
            </a:r>
            <a:r>
              <a:rPr lang="en-US" altLang="zh-CN" sz="2000" b="1" dirty="0">
                <a:solidFill>
                  <a:srgbClr val="C00000"/>
                </a:solidFill>
                <a:latin typeface="Calibri" panose="020F0502020204030204" pitchFamily="34" charset="0"/>
                <a:ea typeface="Calibri" panose="020F0502020204030204" pitchFamily="34" charset="0"/>
                <a:cs typeface="Calibri" panose="020F0502020204030204" pitchFamily="34" charset="0"/>
              </a:rPr>
              <a:t>90</a:t>
            </a:r>
            <a:r>
              <a:rPr lang="zh-CN" altLang="en-US" sz="2000" b="1" dirty="0">
                <a:latin typeface="Calibri" panose="020F0502020204030204" pitchFamily="34" charset="0"/>
                <a:ea typeface="微软雅黑" panose="020B0503020204020204" pitchFamily="34" charset="-122"/>
                <a:cs typeface="Calibri" panose="020F0502020204030204" pitchFamily="34" charset="0"/>
              </a:rPr>
              <a:t>个时钟周期，每次中断服务的开销为</a:t>
            </a:r>
            <a:r>
              <a:rPr lang="en-US" altLang="zh-CN" sz="2000" b="1" dirty="0">
                <a:solidFill>
                  <a:srgbClr val="C00000"/>
                </a:solidFill>
                <a:latin typeface="Calibri" panose="020F0502020204030204" pitchFamily="34" charset="0"/>
                <a:ea typeface="Calibri" panose="020F0502020204030204" pitchFamily="34" charset="0"/>
                <a:cs typeface="Calibri" panose="020F0502020204030204" pitchFamily="34" charset="0"/>
              </a:rPr>
              <a:t>400</a:t>
            </a:r>
            <a:r>
              <a:rPr lang="zh-CN" altLang="en-US"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个</a:t>
            </a:r>
            <a:r>
              <a:rPr lang="zh-CN" altLang="en-US" sz="2000" b="1" dirty="0">
                <a:latin typeface="Calibri" panose="020F0502020204030204" pitchFamily="34" charset="0"/>
                <a:ea typeface="微软雅黑" panose="020B0503020204020204" pitchFamily="34" charset="-122"/>
                <a:cs typeface="Calibri" panose="020F0502020204030204" pitchFamily="34" charset="0"/>
              </a:rPr>
              <a:t>时钟周期（包括中断响应、中断处理，不包括数据传输），实际传输阶段需要</a:t>
            </a:r>
            <a:r>
              <a:rPr lang="en-US" altLang="zh-CN" sz="2000" b="1" dirty="0">
                <a:solidFill>
                  <a:srgbClr val="C00000"/>
                </a:solidFill>
                <a:latin typeface="Calibri" panose="020F0502020204030204" pitchFamily="34" charset="0"/>
                <a:ea typeface="Calibri" panose="020F0502020204030204" pitchFamily="34" charset="0"/>
                <a:cs typeface="Calibri" panose="020F0502020204030204" pitchFamily="34" charset="0"/>
              </a:rPr>
              <a:t>1555</a:t>
            </a:r>
            <a:r>
              <a:rPr lang="zh-CN" altLang="en-US" sz="2000" b="1" dirty="0">
                <a:latin typeface="Calibri" panose="020F0502020204030204" pitchFamily="34" charset="0"/>
                <a:ea typeface="微软雅黑" panose="020B0503020204020204" pitchFamily="34" charset="-122"/>
                <a:cs typeface="Calibri" panose="020F0502020204030204" pitchFamily="34" charset="0"/>
              </a:rPr>
              <a:t>个时钟周期，</a:t>
            </a:r>
            <a:r>
              <a:rPr lang="en-US" altLang="zh-CN" sz="2000" b="1" dirty="0">
                <a:latin typeface="Calibri" panose="020F0502020204030204" pitchFamily="34" charset="0"/>
                <a:ea typeface="Calibri" panose="020F0502020204030204" pitchFamily="34" charset="0"/>
                <a:cs typeface="Calibri" panose="020F0502020204030204" pitchFamily="34" charset="0"/>
              </a:rPr>
              <a:t>CPU</a:t>
            </a:r>
            <a:r>
              <a:rPr lang="zh-CN" altLang="en-US" sz="2000" b="1" dirty="0">
                <a:latin typeface="Calibri" panose="020F0502020204030204" pitchFamily="34" charset="0"/>
                <a:ea typeface="微软雅黑" panose="020B0503020204020204" pitchFamily="34" charset="-122"/>
                <a:cs typeface="Calibri" panose="020F0502020204030204" pitchFamily="34" charset="0"/>
              </a:rPr>
              <a:t>访问硬盘的速率为</a:t>
            </a:r>
            <a:r>
              <a:rPr lang="en-US" altLang="zh-CN" sz="2000" b="1" dirty="0">
                <a:solidFill>
                  <a:srgbClr val="C00000"/>
                </a:solidFill>
                <a:latin typeface="Calibri" panose="020F0502020204030204" pitchFamily="34" charset="0"/>
                <a:ea typeface="Calibri" panose="020F0502020204030204" pitchFamily="34" charset="0"/>
                <a:cs typeface="Calibri" panose="020F0502020204030204" pitchFamily="34" charset="0"/>
              </a:rPr>
              <a:t>20MB/s</a:t>
            </a:r>
            <a:r>
              <a:rPr lang="zh-CN" altLang="en-US" sz="2000" b="1" dirty="0">
                <a:latin typeface="Calibri" panose="020F0502020204030204" pitchFamily="34" charset="0"/>
                <a:ea typeface="微软雅黑" panose="020B0503020204020204" pitchFamily="34" charset="-122"/>
                <a:cs typeface="Calibri" panose="020F0502020204030204" pitchFamily="34" charset="0"/>
              </a:rPr>
              <a:t>。</a:t>
            </a:r>
            <a:endParaRPr lang="en-US" altLang="zh-CN" sz="2000" b="1" dirty="0">
              <a:latin typeface="Calibri" panose="020F0502020204030204" pitchFamily="34" charset="0"/>
              <a:ea typeface="Calibri" panose="020F0502020204030204" pitchFamily="34" charset="0"/>
              <a:cs typeface="Calibri" panose="020F0502020204030204" pitchFamily="34" charset="0"/>
            </a:endParaRPr>
          </a:p>
          <a:p>
            <a:pPr marL="971550" lvl="1" indent="-342900">
              <a:buFont typeface="+mj-ea"/>
              <a:buAutoNum type="circleNumDbPlain"/>
            </a:pPr>
            <a:r>
              <a:rPr lang="zh-CN" altLang="en-US" sz="1800" b="1" dirty="0">
                <a:latin typeface="Calibri" panose="020F0502020204030204" pitchFamily="34" charset="0"/>
                <a:ea typeface="微软雅黑" panose="020B0503020204020204" pitchFamily="34" charset="-122"/>
                <a:cs typeface="Calibri" panose="020F0502020204030204" pitchFamily="34" charset="0"/>
              </a:rPr>
              <a:t>求中断驱动</a:t>
            </a:r>
            <a:r>
              <a:rPr lang="en-US" altLang="zh-CN" sz="1800" b="1" dirty="0">
                <a:latin typeface="Calibri" panose="020F0502020204030204" pitchFamily="34" charset="0"/>
                <a:ea typeface="Calibri" panose="020F0502020204030204" pitchFamily="34" charset="0"/>
                <a:cs typeface="Calibri" panose="020F0502020204030204" pitchFamily="34" charset="0"/>
              </a:rPr>
              <a:t>I/O</a:t>
            </a:r>
            <a:r>
              <a:rPr lang="zh-CN" altLang="en-US" sz="1800" b="1" dirty="0">
                <a:latin typeface="Calibri" panose="020F0502020204030204" pitchFamily="34" charset="0"/>
                <a:ea typeface="微软雅黑" panose="020B0503020204020204" pitchFamily="34" charset="-122"/>
                <a:cs typeface="Calibri" panose="020F0502020204030204" pitchFamily="34" charset="0"/>
              </a:rPr>
              <a:t>方式中的</a:t>
            </a:r>
            <a:r>
              <a:rPr lang="en-US" altLang="zh-CN" sz="1800" b="1" dirty="0">
                <a:solidFill>
                  <a:srgbClr val="C00000"/>
                </a:solidFill>
                <a:latin typeface="Calibri" panose="020F0502020204030204" pitchFamily="34" charset="0"/>
                <a:ea typeface="Calibri" panose="020F0502020204030204" pitchFamily="34" charset="0"/>
                <a:cs typeface="Calibri" panose="020F0502020204030204" pitchFamily="34" charset="0"/>
              </a:rPr>
              <a:t>CPU</a:t>
            </a: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占用率</a:t>
            </a:r>
            <a:r>
              <a:rPr lang="zh-CN" altLang="en-US" sz="1800" b="1" dirty="0">
                <a:latin typeface="Calibri" panose="020F0502020204030204" pitchFamily="34" charset="0"/>
                <a:ea typeface="微软雅黑" panose="020B0503020204020204" pitchFamily="34" charset="-122"/>
                <a:cs typeface="Calibri" panose="020F0502020204030204" pitchFamily="34" charset="0"/>
              </a:rPr>
              <a:t>。</a:t>
            </a:r>
            <a:endParaRPr lang="en-US" altLang="zh-CN" sz="1800" b="1" dirty="0">
              <a:latin typeface="Calibri" panose="020F0502020204030204" pitchFamily="34" charset="0"/>
              <a:ea typeface="Calibri" panose="020F0502020204030204" pitchFamily="34" charset="0"/>
              <a:cs typeface="Calibri" panose="020F0502020204030204" pitchFamily="34" charset="0"/>
            </a:endParaRPr>
          </a:p>
          <a:p>
            <a:pPr marL="971550" lvl="1" indent="-342900">
              <a:buFont typeface="+mj-ea"/>
              <a:buAutoNum type="circleNumDbPlain"/>
            </a:pPr>
            <a:r>
              <a:rPr lang="zh-CN" altLang="en-US" sz="1800" b="1" dirty="0">
                <a:latin typeface="Calibri" panose="020F0502020204030204" pitchFamily="34" charset="0"/>
                <a:ea typeface="微软雅黑" panose="020B0503020204020204" pitchFamily="34" charset="-122"/>
                <a:cs typeface="Calibri" panose="020F0502020204030204" pitchFamily="34" charset="0"/>
              </a:rPr>
              <a:t>如果硬盘速率提高到</a:t>
            </a:r>
            <a:r>
              <a:rPr lang="en-US" altLang="zh-CN" sz="1800" b="1" dirty="0">
                <a:solidFill>
                  <a:srgbClr val="C00000"/>
                </a:solidFill>
                <a:latin typeface="Calibri" panose="020F0502020204030204" pitchFamily="34" charset="0"/>
                <a:ea typeface="Calibri" panose="020F0502020204030204" pitchFamily="34" charset="0"/>
                <a:cs typeface="Calibri" panose="020F0502020204030204" pitchFamily="34" charset="0"/>
              </a:rPr>
              <a:t>60MB/s</a:t>
            </a:r>
            <a:r>
              <a:rPr lang="zh-CN" altLang="en-US" sz="1800" b="1" dirty="0">
                <a:latin typeface="Calibri" panose="020F0502020204030204" pitchFamily="34" charset="0"/>
                <a:ea typeface="微软雅黑" panose="020B0503020204020204" pitchFamily="34" charset="-122"/>
                <a:cs typeface="Calibri" panose="020F0502020204030204" pitchFamily="34" charset="0"/>
              </a:rPr>
              <a:t>，会发生什么情况？</a:t>
            </a:r>
            <a:endParaRPr lang="en-US" altLang="zh-CN" sz="1800" b="1" dirty="0">
              <a:latin typeface="Calibri" panose="020F0502020204030204" pitchFamily="34" charset="0"/>
              <a:ea typeface="微软雅黑" panose="020B0503020204020204" pitchFamily="34" charset="-122"/>
              <a:cs typeface="Calibri" panose="020F0502020204030204" pitchFamily="34" charset="0"/>
            </a:endParaRPr>
          </a:p>
          <a:p>
            <a:pPr marL="360363" lvl="1" indent="-268288">
              <a:buNone/>
            </a:pPr>
            <a:endParaRPr lang="en-US" altLang="zh-CN" sz="1800" b="1" dirty="0">
              <a:latin typeface="Calibri" panose="020F0502020204030204" pitchFamily="34" charset="0"/>
              <a:ea typeface="微软雅黑" panose="020B0503020204020204" pitchFamily="34" charset="-122"/>
              <a:cs typeface="Calibri" panose="020F0502020204030204" pitchFamily="34" charset="0"/>
            </a:endParaRPr>
          </a:p>
          <a:p>
            <a:pPr marL="360363" lvl="1" indent="-268288">
              <a:buNone/>
            </a:pP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解答</a:t>
            </a:r>
            <a:r>
              <a:rPr lang="zh-CN" altLang="en-US" sz="1800" b="1" dirty="0">
                <a:latin typeface="Calibri" panose="020F0502020204030204" pitchFamily="34" charset="0"/>
                <a:ea typeface="微软雅黑" panose="020B0503020204020204" pitchFamily="34" charset="-122"/>
                <a:cs typeface="Calibri" panose="020F0502020204030204" pitchFamily="34" charset="0"/>
              </a:rPr>
              <a:t>：</a:t>
            </a:r>
            <a:r>
              <a:rPr lang="en-US" altLang="zh-CN" sz="1800" b="1" dirty="0">
                <a:latin typeface="Calibri" panose="020F0502020204030204" pitchFamily="34" charset="0"/>
                <a:ea typeface="微软雅黑" panose="020B0503020204020204" pitchFamily="34" charset="-122"/>
                <a:cs typeface="Calibri" panose="020F0502020204030204" pitchFamily="34" charset="0"/>
              </a:rPr>
              <a:t>CPU</a:t>
            </a:r>
            <a:r>
              <a:rPr lang="zh-CN" altLang="en-US" sz="1800" b="1" dirty="0">
                <a:latin typeface="Calibri" panose="020F0502020204030204" pitchFamily="34" charset="0"/>
                <a:ea typeface="微软雅黑" panose="020B0503020204020204" pitchFamily="34" charset="-122"/>
                <a:cs typeface="Calibri" panose="020F0502020204030204" pitchFamily="34" charset="0"/>
              </a:rPr>
              <a:t>占用率指的是时间比例，也即</a:t>
            </a:r>
            <a:r>
              <a:rPr lang="en-US" altLang="zh-CN" sz="1800" b="1" dirty="0">
                <a:latin typeface="Calibri" panose="020F0502020204030204" pitchFamily="34" charset="0"/>
                <a:ea typeface="微软雅黑" panose="020B0503020204020204" pitchFamily="34" charset="-122"/>
                <a:cs typeface="Calibri" panose="020F0502020204030204" pitchFamily="34" charset="0"/>
              </a:rPr>
              <a:t>CPU</a:t>
            </a:r>
            <a:r>
              <a:rPr lang="zh-CN" altLang="en-US" sz="1800" b="1" dirty="0">
                <a:latin typeface="Calibri" panose="020F0502020204030204" pitchFamily="34" charset="0"/>
                <a:ea typeface="微软雅黑" panose="020B0503020204020204" pitchFamily="34" charset="-122"/>
                <a:cs typeface="Calibri" panose="020F0502020204030204" pitchFamily="34" charset="0"/>
              </a:rPr>
              <a:t>要拿出多少时间比例用于处理中断事务，故而该题目的关键是计算在当下硬盘传输率下，完成中断多少次，时间消耗是多少？</a:t>
            </a:r>
            <a:endParaRPr lang="en-US" altLang="zh-CN" sz="1800" b="1" dirty="0">
              <a:latin typeface="Calibri" panose="020F0502020204030204" pitchFamily="34" charset="0"/>
              <a:ea typeface="微软雅黑" panose="020B0503020204020204" pitchFamily="34" charset="-122"/>
              <a:cs typeface="Calibri" panose="020F0502020204030204" pitchFamily="34" charset="0"/>
            </a:endParaRPr>
          </a:p>
          <a:p>
            <a:pPr marL="628650" lvl="2" indent="-268288">
              <a:buFont typeface="Wingdings" panose="05000000000000000000" pitchFamily="2" charset="2"/>
              <a:buChar char="n"/>
            </a:pP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如果硬盘速率提高到</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60MB/s</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，中断方式硬盘传输数据占用</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CPU</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的时间比例（</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CPU</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占用率）为：</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(60/20) x 39.94 % = 119.82 %</a:t>
            </a:r>
          </a:p>
          <a:p>
            <a:pPr marL="646112" lvl="3" indent="-285750">
              <a:buFont typeface="Wingdings" panose="05000000000000000000" pitchFamily="2" charset="2"/>
              <a:buChar char="n"/>
            </a:pP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这意味着，即使</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CPU</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完全服务于硬盘，硬盘的速率也达不到</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60MB/s</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，最高只能达到：</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(100/ 119.82) x 60MB/s = 50.07 MB/s</a:t>
            </a:r>
          </a:p>
          <a:p>
            <a:pPr marL="646112" lvl="3" indent="-285750">
              <a:buFont typeface="Wingdings" panose="05000000000000000000" pitchFamily="2" charset="2"/>
              <a:buChar char="n"/>
            </a:pP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如果采用忙等待的程序查询方式，可以省去中断服务的开销，此时，</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CPU</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的占用率 </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 (90T+1555T) x (60MB/512B) / 1s = 96.38%</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，勉强可以实现</a:t>
            </a:r>
            <a:endPar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marL="646112" lvl="3" indent="-285750">
              <a:buFont typeface="Wingdings" panose="05000000000000000000" pitchFamily="2" charset="2"/>
              <a:buChar char="n"/>
            </a:pPr>
            <a:endParaRPr lang="en-US" altLang="zh-CN" sz="1800" b="1" dirty="0">
              <a:solidFill>
                <a:srgbClr val="274FA2"/>
              </a:solidFill>
              <a:latin typeface="Calibri" panose="020F0502020204030204" pitchFamily="34" charset="0"/>
              <a:ea typeface="微软雅黑" panose="020B0503020204020204" pitchFamily="34" charset="-122"/>
              <a:cs typeface="Calibri" panose="020F0502020204030204" pitchFamily="34" charset="0"/>
            </a:endParaRPr>
          </a:p>
          <a:p>
            <a:pPr marL="0" indent="0">
              <a:buNone/>
            </a:pPr>
            <a:endParaRPr lang="zh-CN" altLang="en-US" sz="3200" dirty="0">
              <a:latin typeface="Calibri" panose="020F0502020204030204" pitchFamily="34" charset="0"/>
              <a:ea typeface="微软雅黑" panose="020B0503020204020204" pitchFamily="34" charset="-122"/>
              <a:cs typeface="Calibri" panose="020F0502020204030204" pitchFamily="34" charset="0"/>
            </a:endParaRPr>
          </a:p>
        </p:txBody>
      </p:sp>
    </p:spTree>
    <p:extLst>
      <p:ext uri="{BB962C8B-B14F-4D97-AF65-F5344CB8AC3E}">
        <p14:creationId xmlns:p14="http://schemas.microsoft.com/office/powerpoint/2010/main" val="32776080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C79A19-3643-4A5E-8648-66B0A96EE00E}"/>
              </a:ext>
            </a:extLst>
          </p:cNvPr>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6.7 </a:t>
            </a:r>
            <a:r>
              <a:rPr lang="zh-CN" altLang="en-US" dirty="0">
                <a:latin typeface="微软雅黑" panose="020B0503020204020204" pitchFamily="34" charset="-122"/>
                <a:ea typeface="微软雅黑" panose="020B0503020204020204" pitchFamily="34" charset="-122"/>
              </a:rPr>
              <a:t>异常与中断处理</a:t>
            </a:r>
            <a:endParaRPr lang="zh-CN" altLang="en-US" dirty="0"/>
          </a:p>
        </p:txBody>
      </p:sp>
      <p:sp>
        <p:nvSpPr>
          <p:cNvPr id="3" name="内容占位符 2">
            <a:extLst>
              <a:ext uri="{FF2B5EF4-FFF2-40B4-BE49-F238E27FC236}">
                <a16:creationId xmlns:a16="http://schemas.microsoft.com/office/drawing/2014/main" id="{887A5936-95B7-4B0C-9CD0-AC97961CCE63}"/>
              </a:ext>
            </a:extLst>
          </p:cNvPr>
          <p:cNvSpPr>
            <a:spLocks noGrp="1"/>
          </p:cNvSpPr>
          <p:nvPr>
            <p:ph idx="1"/>
          </p:nvPr>
        </p:nvSpPr>
        <p:spPr>
          <a:xfrm>
            <a:off x="503418" y="1051718"/>
            <a:ext cx="10972800" cy="5657055"/>
          </a:xfrm>
        </p:spPr>
        <p:txBody>
          <a:bodyPr/>
          <a:lstStyle/>
          <a:p>
            <a:r>
              <a:rPr lang="en-US" altLang="zh-CN" b="1" dirty="0">
                <a:latin typeface="微软雅黑" panose="020B0503020204020204" pitchFamily="34" charset="-122"/>
                <a:ea typeface="微软雅黑" panose="020B0503020204020204" pitchFamily="34" charset="-122"/>
              </a:rPr>
              <a:t>6.7.4 </a:t>
            </a:r>
            <a:r>
              <a:rPr lang="zh-CN" altLang="en-US" b="1" dirty="0">
                <a:latin typeface="微软雅黑" panose="020B0503020204020204" pitchFamily="34" charset="-122"/>
                <a:ea typeface="微软雅黑" panose="020B0503020204020204" pitchFamily="34" charset="-122"/>
              </a:rPr>
              <a:t>支持中断的</a:t>
            </a:r>
            <a:r>
              <a:rPr lang="en-US" altLang="zh-CN" b="1" dirty="0">
                <a:latin typeface="微软雅黑" panose="020B0503020204020204" pitchFamily="34" charset="-122"/>
                <a:ea typeface="微软雅黑" panose="020B0503020204020204" pitchFamily="34" charset="-122"/>
              </a:rPr>
              <a:t>CPU</a:t>
            </a:r>
            <a:r>
              <a:rPr lang="zh-CN" altLang="en-US" b="1" dirty="0">
                <a:latin typeface="微软雅黑" panose="020B0503020204020204" pitchFamily="34" charset="-122"/>
                <a:ea typeface="微软雅黑" panose="020B0503020204020204" pitchFamily="34" charset="-122"/>
              </a:rPr>
              <a:t>设计</a:t>
            </a:r>
            <a:endParaRPr lang="en-US" altLang="zh-CN" b="1" dirty="0">
              <a:latin typeface="微软雅黑" panose="020B0503020204020204" pitchFamily="34" charset="-122"/>
              <a:ea typeface="微软雅黑" panose="020B0503020204020204" pitchFamily="34" charset="-122"/>
            </a:endParaRPr>
          </a:p>
          <a:p>
            <a:pPr lvl="1">
              <a:buFont typeface="Wingdings" panose="05000000000000000000" pitchFamily="2" charset="2"/>
              <a:buChar char="p"/>
            </a:pPr>
            <a:r>
              <a:rPr lang="zh-CN" altLang="en-US" b="1" dirty="0">
                <a:latin typeface="微软雅黑" panose="020B0503020204020204" pitchFamily="34" charset="-122"/>
                <a:ea typeface="微软雅黑" panose="020B0503020204020204" pitchFamily="34" charset="-122"/>
              </a:rPr>
              <a:t> 该部分工作是</a:t>
            </a:r>
            <a:r>
              <a:rPr lang="zh-CN" altLang="en-US" b="1" dirty="0">
                <a:highlight>
                  <a:srgbClr val="FFFFFF"/>
                </a:highlight>
                <a:latin typeface="微软雅黑" panose="020B0503020204020204" pitchFamily="34" charset="-122"/>
                <a:ea typeface="微软雅黑" panose="020B0503020204020204" pitchFamily="34" charset="-122"/>
              </a:rPr>
              <a:t>理论到设计</a:t>
            </a:r>
            <a:r>
              <a:rPr lang="zh-CN" altLang="en-US" b="1" dirty="0">
                <a:latin typeface="微软雅黑" panose="020B0503020204020204" pitchFamily="34" charset="-122"/>
                <a:ea typeface="微软雅黑" panose="020B0503020204020204" pitchFamily="34" charset="-122"/>
              </a:rPr>
              <a:t>的环节，在前序章节的基础之上，要使得</a:t>
            </a:r>
            <a:r>
              <a:rPr lang="en-US" altLang="zh-CN" b="1" dirty="0">
                <a:latin typeface="微软雅黑" panose="020B0503020204020204" pitchFamily="34" charset="-122"/>
                <a:ea typeface="微软雅黑" panose="020B0503020204020204" pitchFamily="34" charset="-122"/>
              </a:rPr>
              <a:t>CPU</a:t>
            </a:r>
            <a:r>
              <a:rPr lang="zh-CN" altLang="en-US" b="1" dirty="0">
                <a:latin typeface="微软雅黑" panose="020B0503020204020204" pitchFamily="34" charset="-122"/>
                <a:ea typeface="微软雅黑" panose="020B0503020204020204" pitchFamily="34" charset="-122"/>
              </a:rPr>
              <a:t>可以支持中断功能，需要在结合中断处理过程的前提下，思考完成下述工作：</a:t>
            </a:r>
            <a:endParaRPr lang="en-US" altLang="zh-CN" b="1" dirty="0">
              <a:latin typeface="微软雅黑" panose="020B0503020204020204" pitchFamily="34" charset="-122"/>
              <a:ea typeface="微软雅黑" panose="020B0503020204020204" pitchFamily="34" charset="-122"/>
            </a:endParaRPr>
          </a:p>
          <a:p>
            <a:pPr marL="1527175" lvl="2" indent="-433388">
              <a:buFont typeface="Wingdings" panose="05000000000000000000" pitchFamily="2" charset="2"/>
              <a:buChar char="n"/>
            </a:pPr>
            <a:r>
              <a:rPr lang="zh-CN" altLang="en-US" sz="2000" b="1" dirty="0">
                <a:solidFill>
                  <a:srgbClr val="C00000"/>
                </a:solidFill>
                <a:latin typeface="微软雅黑" panose="020B0503020204020204" pitchFamily="34" charset="-122"/>
                <a:ea typeface="微软雅黑" panose="020B0503020204020204" pitchFamily="34" charset="-122"/>
              </a:rPr>
              <a:t>数据通路上增加相关寄存器、中断控制逻辑</a:t>
            </a:r>
            <a:endParaRPr lang="en-US" altLang="zh-CN" sz="2000" b="1" dirty="0">
              <a:solidFill>
                <a:srgbClr val="C00000"/>
              </a:solidFill>
              <a:latin typeface="微软雅黑" panose="020B0503020204020204" pitchFamily="34" charset="-122"/>
              <a:ea typeface="微软雅黑" panose="020B0503020204020204" pitchFamily="34" charset="-122"/>
            </a:endParaRPr>
          </a:p>
          <a:p>
            <a:pPr marL="1934845" lvl="3" indent="-433388">
              <a:buFont typeface="Wingdings" panose="05000000000000000000" pitchFamily="2" charset="2"/>
              <a:buChar char="n"/>
            </a:pPr>
            <a:r>
              <a:rPr lang="zh-CN" altLang="en-US" b="1" dirty="0">
                <a:solidFill>
                  <a:srgbClr val="133984"/>
                </a:solidFill>
                <a:latin typeface="微软雅黑" panose="020B0503020204020204" pitchFamily="34" charset="-122"/>
                <a:ea typeface="微软雅黑" panose="020B0503020204020204" pitchFamily="34" charset="-122"/>
              </a:rPr>
              <a:t>寄存器存放断点以及中断使能标志</a:t>
            </a:r>
            <a:r>
              <a:rPr lang="en-US" altLang="zh-CN" b="1" dirty="0">
                <a:solidFill>
                  <a:srgbClr val="133984"/>
                </a:solidFill>
                <a:latin typeface="微软雅黑" panose="020B0503020204020204" pitchFamily="34" charset="-122"/>
                <a:ea typeface="微软雅黑" panose="020B0503020204020204" pitchFamily="34" charset="-122"/>
              </a:rPr>
              <a:t>IE</a:t>
            </a:r>
          </a:p>
          <a:p>
            <a:pPr marL="1934845" lvl="3" indent="-433388">
              <a:buFont typeface="Wingdings" panose="05000000000000000000" pitchFamily="2" charset="2"/>
              <a:buChar char="n"/>
            </a:pPr>
            <a:r>
              <a:rPr lang="zh-CN" altLang="en-US" b="1" dirty="0">
                <a:solidFill>
                  <a:srgbClr val="133984"/>
                </a:solidFill>
                <a:latin typeface="微软雅黑" panose="020B0503020204020204" pitchFamily="34" charset="-122"/>
                <a:ea typeface="微软雅黑" panose="020B0503020204020204" pitchFamily="34" charset="-122"/>
              </a:rPr>
              <a:t>中断控制逻辑用于中断判优、生成中断请求信号、中断识别 </a:t>
            </a:r>
            <a:endParaRPr lang="en-US" altLang="zh-CN" b="1" dirty="0">
              <a:solidFill>
                <a:srgbClr val="133984"/>
              </a:solidFill>
              <a:latin typeface="微软雅黑" panose="020B0503020204020204" pitchFamily="34" charset="-122"/>
              <a:ea typeface="微软雅黑" panose="020B0503020204020204" pitchFamily="34" charset="-122"/>
            </a:endParaRPr>
          </a:p>
          <a:p>
            <a:pPr marL="1527175" lvl="2" indent="-433388">
              <a:buFont typeface="Wingdings" panose="05000000000000000000" pitchFamily="2" charset="2"/>
              <a:buChar char="n"/>
            </a:pPr>
            <a:r>
              <a:rPr lang="zh-CN" altLang="en-US" sz="2000" b="1" dirty="0">
                <a:solidFill>
                  <a:srgbClr val="C00000"/>
                </a:solidFill>
                <a:latin typeface="微软雅黑" panose="020B0503020204020204" pitchFamily="34" charset="-122"/>
                <a:ea typeface="微软雅黑" panose="020B0503020204020204" pitchFamily="34" charset="-122"/>
              </a:rPr>
              <a:t>操作控制器升级（与前序内容对应） </a:t>
            </a:r>
            <a:endParaRPr lang="en-US" altLang="zh-CN" sz="2000" b="1" dirty="0">
              <a:solidFill>
                <a:srgbClr val="C00000"/>
              </a:solidFill>
              <a:latin typeface="微软雅黑" panose="020B0503020204020204" pitchFamily="34" charset="-122"/>
              <a:ea typeface="微软雅黑" panose="020B0503020204020204" pitchFamily="34" charset="-122"/>
            </a:endParaRPr>
          </a:p>
          <a:p>
            <a:pPr marL="1934845" lvl="3" indent="-433388">
              <a:buFont typeface="Wingdings" panose="05000000000000000000" pitchFamily="2" charset="2"/>
              <a:buChar char="n"/>
            </a:pPr>
            <a:r>
              <a:rPr lang="zh-CN" altLang="en-US" b="1" dirty="0">
                <a:solidFill>
                  <a:srgbClr val="133984"/>
                </a:solidFill>
                <a:latin typeface="微软雅黑" panose="020B0503020204020204" pitchFamily="34" charset="-122"/>
                <a:ea typeface="微软雅黑" panose="020B0503020204020204" pitchFamily="34" charset="-122"/>
              </a:rPr>
              <a:t>三级时序硬布线控制器 </a:t>
            </a:r>
            <a:endParaRPr lang="en-US" altLang="zh-CN" b="1" dirty="0">
              <a:solidFill>
                <a:srgbClr val="133984"/>
              </a:solidFill>
              <a:latin typeface="微软雅黑" panose="020B0503020204020204" pitchFamily="34" charset="-122"/>
              <a:ea typeface="微软雅黑" panose="020B0503020204020204" pitchFamily="34" charset="-122"/>
            </a:endParaRPr>
          </a:p>
          <a:p>
            <a:pPr marL="1934845" lvl="3" indent="-433388">
              <a:buFont typeface="Wingdings" panose="05000000000000000000" pitchFamily="2" charset="2"/>
              <a:buChar char="n"/>
            </a:pPr>
            <a:r>
              <a:rPr lang="zh-CN" altLang="en-US" b="1" dirty="0">
                <a:solidFill>
                  <a:srgbClr val="133984"/>
                </a:solidFill>
                <a:latin typeface="微软雅黑" panose="020B0503020204020204" pitchFamily="34" charset="-122"/>
                <a:ea typeface="微软雅黑" panose="020B0503020204020204" pitchFamily="34" charset="-122"/>
              </a:rPr>
              <a:t>现代时序硬布线控制器 </a:t>
            </a:r>
            <a:endParaRPr lang="en-US" altLang="zh-CN" b="1" dirty="0">
              <a:solidFill>
                <a:srgbClr val="133984"/>
              </a:solidFill>
              <a:latin typeface="微软雅黑" panose="020B0503020204020204" pitchFamily="34" charset="-122"/>
              <a:ea typeface="微软雅黑" panose="020B0503020204020204" pitchFamily="34" charset="-122"/>
            </a:endParaRPr>
          </a:p>
          <a:p>
            <a:pPr marL="1934845" lvl="3" indent="-433388">
              <a:buFont typeface="Wingdings" panose="05000000000000000000" pitchFamily="2" charset="2"/>
              <a:buChar char="n"/>
            </a:pPr>
            <a:r>
              <a:rPr lang="zh-CN" altLang="en-US" b="1" dirty="0">
                <a:solidFill>
                  <a:srgbClr val="133984"/>
                </a:solidFill>
                <a:latin typeface="微软雅黑" panose="020B0503020204020204" pitchFamily="34" charset="-122"/>
                <a:ea typeface="微软雅黑" panose="020B0503020204020204" pitchFamily="34" charset="-122"/>
              </a:rPr>
              <a:t>微程序控制器 </a:t>
            </a:r>
            <a:endParaRPr lang="en-US" altLang="zh-CN" b="1" dirty="0">
              <a:solidFill>
                <a:srgbClr val="133984"/>
              </a:solidFill>
              <a:latin typeface="微软雅黑" panose="020B0503020204020204" pitchFamily="34" charset="-122"/>
              <a:ea typeface="微软雅黑" panose="020B0503020204020204" pitchFamily="34" charset="-122"/>
            </a:endParaRPr>
          </a:p>
          <a:p>
            <a:pPr marL="266700" lvl="2" indent="0">
              <a:buNone/>
            </a:pPr>
            <a:endParaRPr lang="en-US" altLang="zh-CN" sz="2000" b="1" dirty="0">
              <a:highlight>
                <a:srgbClr val="FFFF00"/>
              </a:highlight>
              <a:latin typeface="微软雅黑" panose="020B0503020204020204" pitchFamily="34" charset="-122"/>
              <a:ea typeface="微软雅黑" panose="020B0503020204020204" pitchFamily="34" charset="-122"/>
            </a:endParaRPr>
          </a:p>
          <a:p>
            <a:pPr marL="266700" lvl="2" indent="0">
              <a:buNone/>
            </a:pPr>
            <a:r>
              <a:rPr lang="zh-CN" altLang="en-US" sz="2000" b="1" dirty="0">
                <a:solidFill>
                  <a:srgbClr val="C00000"/>
                </a:solidFill>
                <a:highlight>
                  <a:srgbClr val="FFFFFF"/>
                </a:highlight>
                <a:latin typeface="微软雅黑" panose="020B0503020204020204" pitchFamily="34" charset="-122"/>
                <a:ea typeface="微软雅黑" panose="020B0503020204020204" pitchFamily="34" charset="-122"/>
              </a:rPr>
              <a:t>启发</a:t>
            </a:r>
            <a:r>
              <a:rPr lang="zh-CN" altLang="en-US" sz="2000" b="1" dirty="0">
                <a:latin typeface="微软雅黑" panose="020B0503020204020204" pitchFamily="34" charset="-122"/>
                <a:ea typeface="微软雅黑" panose="020B0503020204020204" pitchFamily="34" charset="-122"/>
              </a:rPr>
              <a:t>：</a:t>
            </a:r>
            <a:r>
              <a:rPr lang="en-US" altLang="zh-CN" sz="2000" b="1" dirty="0">
                <a:solidFill>
                  <a:srgbClr val="133984"/>
                </a:solidFill>
                <a:latin typeface="微软雅黑" panose="020B0503020204020204" pitchFamily="34" charset="-122"/>
                <a:ea typeface="微软雅黑" panose="020B0503020204020204" pitchFamily="34" charset="-122"/>
              </a:rPr>
              <a:t>CPU</a:t>
            </a:r>
            <a:r>
              <a:rPr lang="zh-CN" altLang="en-US" sz="2000" b="1" dirty="0">
                <a:solidFill>
                  <a:srgbClr val="133984"/>
                </a:solidFill>
                <a:latin typeface="微软雅黑" panose="020B0503020204020204" pitchFamily="34" charset="-122"/>
                <a:ea typeface="微软雅黑" panose="020B0503020204020204" pitchFamily="34" charset="-122"/>
              </a:rPr>
              <a:t>设计需要结合实际需求，既要完成中断功能，又要综合考量可行性，可操作性，以及简洁性。该项工作，对于训练学生缜密思考，科学验证，动手实操能力具有示范作用。</a:t>
            </a:r>
            <a:endParaRPr lang="en-US" altLang="zh-CN" sz="2000" b="1" dirty="0">
              <a:solidFill>
                <a:srgbClr val="133984"/>
              </a:solidFill>
              <a:latin typeface="微软雅黑" panose="020B0503020204020204" pitchFamily="34" charset="-122"/>
              <a:ea typeface="微软雅黑" panose="020B0503020204020204" pitchFamily="34" charset="-122"/>
            </a:endParaRPr>
          </a:p>
          <a:p>
            <a:pPr lvl="1">
              <a:buFont typeface="Wingdings" panose="05000000000000000000" pitchFamily="2" charset="2"/>
              <a:buChar char="p"/>
            </a:pPr>
            <a:endParaRPr lang="en-US" altLang="zh-CN" b="1" dirty="0">
              <a:latin typeface="微软雅黑" panose="020B0503020204020204" pitchFamily="34" charset="-122"/>
              <a:ea typeface="微软雅黑" panose="020B0503020204020204" pitchFamily="34" charset="-122"/>
            </a:endParaRPr>
          </a:p>
          <a:p>
            <a:endParaRPr lang="zh-CN" altLang="en-US"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096380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EFF9E2-6F08-4AB5-AF45-EE75953E6571}"/>
              </a:ext>
            </a:extLst>
          </p:cNvPr>
          <p:cNvSpPr>
            <a:spLocks noGrp="1"/>
          </p:cNvSpPr>
          <p:nvPr>
            <p:ph type="title"/>
          </p:nvPr>
        </p:nvSpPr>
        <p:spPr/>
        <p:txBody>
          <a:bodyPr/>
          <a:lstStyle/>
          <a:p>
            <a:r>
              <a:rPr lang="zh-CN" altLang="en-US" dirty="0"/>
              <a:t>小结</a:t>
            </a:r>
          </a:p>
        </p:txBody>
      </p:sp>
      <p:sp>
        <p:nvSpPr>
          <p:cNvPr id="3" name="内容占位符 2">
            <a:extLst>
              <a:ext uri="{FF2B5EF4-FFF2-40B4-BE49-F238E27FC236}">
                <a16:creationId xmlns:a16="http://schemas.microsoft.com/office/drawing/2014/main" id="{B748006F-C4E3-423C-8193-CA8AD29ECB00}"/>
              </a:ext>
            </a:extLst>
          </p:cNvPr>
          <p:cNvSpPr>
            <a:spLocks noGrp="1"/>
          </p:cNvSpPr>
          <p:nvPr>
            <p:ph idx="1"/>
          </p:nvPr>
        </p:nvSpPr>
        <p:spPr>
          <a:xfrm>
            <a:off x="609600" y="1051718"/>
            <a:ext cx="10972800" cy="5454589"/>
          </a:xfrm>
        </p:spPr>
        <p:txBody>
          <a:bodyPr/>
          <a:lstStyle/>
          <a:p>
            <a:pPr>
              <a:buFont typeface="Wingdings" panose="05000000000000000000" pitchFamily="2" charset="2"/>
              <a:buChar char="n"/>
            </a:pPr>
            <a:r>
              <a:rPr lang="zh-CN" altLang="en-US" sz="24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不同的中断环节，采用了不同的软硬件技术</a:t>
            </a:r>
            <a:r>
              <a:rPr lang="zh-CN" altLang="en-US" sz="2400" b="1" dirty="0">
                <a:latin typeface="Calibri" panose="020F0502020204030204" pitchFamily="34" charset="0"/>
                <a:ea typeface="微软雅黑" panose="020B0503020204020204" pitchFamily="34" charset="-122"/>
                <a:cs typeface="Calibri" panose="020F0502020204030204" pitchFamily="34" charset="0"/>
              </a:rPr>
              <a:t>，面向具体的需求，要综合考量时间、成本等因素：</a:t>
            </a:r>
            <a:endParaRPr lang="en-US" altLang="zh-CN" sz="2400" b="1" dirty="0">
              <a:latin typeface="Calibri" panose="020F0502020204030204" pitchFamily="34" charset="0"/>
              <a:ea typeface="微软雅黑" panose="020B0503020204020204" pitchFamily="34" charset="-122"/>
              <a:cs typeface="Calibri" panose="020F0502020204030204" pitchFamily="34" charset="0"/>
            </a:endParaRPr>
          </a:p>
          <a:p>
            <a:pPr lvl="1">
              <a:buFont typeface="Wingdings" panose="05000000000000000000" pitchFamily="2" charset="2"/>
              <a:buChar char="n"/>
            </a:pPr>
            <a:r>
              <a:rPr lang="zh-CN" altLang="en-US" sz="2000" b="1" dirty="0">
                <a:latin typeface="Calibri" panose="020F0502020204030204" pitchFamily="34" charset="0"/>
                <a:ea typeface="微软雅黑" panose="020B0503020204020204" pitchFamily="34" charset="-122"/>
                <a:cs typeface="Calibri" panose="020F0502020204030204" pitchFamily="34" charset="0"/>
              </a:rPr>
              <a:t>中断响应过程由硬件完成 </a:t>
            </a:r>
            <a:endParaRPr lang="en-US" altLang="zh-CN" sz="2000" b="1" dirty="0">
              <a:latin typeface="Calibri" panose="020F0502020204030204" pitchFamily="34" charset="0"/>
              <a:ea typeface="微软雅黑" panose="020B0503020204020204" pitchFamily="34" charset="-122"/>
              <a:cs typeface="Calibri" panose="020F0502020204030204" pitchFamily="34" charset="0"/>
            </a:endParaRPr>
          </a:p>
          <a:p>
            <a:pPr lvl="1">
              <a:buFont typeface="Wingdings" panose="05000000000000000000" pitchFamily="2" charset="2"/>
              <a:buChar char="n"/>
            </a:pPr>
            <a:r>
              <a:rPr lang="zh-CN" altLang="en-US" sz="2000" b="1" dirty="0">
                <a:latin typeface="Calibri" panose="020F0502020204030204" pitchFamily="34" charset="0"/>
                <a:ea typeface="微软雅黑" panose="020B0503020204020204" pitchFamily="34" charset="-122"/>
                <a:cs typeface="Calibri" panose="020F0502020204030204" pitchFamily="34" charset="0"/>
              </a:rPr>
              <a:t>中断服务过程由软件完成</a:t>
            </a:r>
            <a:endParaRPr lang="en-US" altLang="zh-CN" sz="2000" b="1" dirty="0">
              <a:latin typeface="Calibri" panose="020F0502020204030204" pitchFamily="34" charset="0"/>
              <a:ea typeface="微软雅黑" panose="020B0503020204020204" pitchFamily="34" charset="-122"/>
              <a:cs typeface="Calibri" panose="020F0502020204030204" pitchFamily="34" charset="0"/>
            </a:endParaRPr>
          </a:p>
          <a:p>
            <a:pPr>
              <a:buFont typeface="Wingdings" panose="05000000000000000000" pitchFamily="2" charset="2"/>
              <a:buChar char="n"/>
            </a:pPr>
            <a:r>
              <a:rPr lang="zh-CN" altLang="en-US" sz="24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同样的需求，既可以采用软件技术也可以采用硬件技术</a:t>
            </a:r>
            <a:r>
              <a:rPr lang="zh-CN" altLang="en-US" sz="2400" b="1" dirty="0">
                <a:latin typeface="Calibri" panose="020F0502020204030204" pitchFamily="34" charset="0"/>
                <a:ea typeface="微软雅黑" panose="020B0503020204020204" pitchFamily="34" charset="-122"/>
                <a:cs typeface="Calibri" panose="020F0502020204030204" pitchFamily="34" charset="0"/>
              </a:rPr>
              <a:t>：</a:t>
            </a:r>
            <a:endParaRPr lang="en-US" altLang="zh-CN" sz="2400" b="1" dirty="0">
              <a:latin typeface="Calibri" panose="020F0502020204030204" pitchFamily="34" charset="0"/>
              <a:ea typeface="微软雅黑" panose="020B0503020204020204" pitchFamily="34" charset="-122"/>
              <a:cs typeface="Calibri" panose="020F0502020204030204" pitchFamily="34" charset="0"/>
            </a:endParaRPr>
          </a:p>
          <a:p>
            <a:pPr lvl="1">
              <a:buFont typeface="Wingdings" panose="05000000000000000000" pitchFamily="2" charset="2"/>
              <a:buChar char="n"/>
            </a:pPr>
            <a:r>
              <a:rPr lang="zh-CN" altLang="en-US" sz="2000" b="1" dirty="0">
                <a:latin typeface="Calibri" panose="020F0502020204030204" pitchFamily="34" charset="0"/>
                <a:ea typeface="微软雅黑" panose="020B0503020204020204" pitchFamily="34" charset="-122"/>
                <a:cs typeface="Calibri" panose="020F0502020204030204" pitchFamily="34" charset="0"/>
              </a:rPr>
              <a:t>中断判优：可以设计硬件排队电路和软件查询程序</a:t>
            </a:r>
            <a:endParaRPr lang="en-US" altLang="zh-CN" sz="2000" b="1" dirty="0">
              <a:latin typeface="Calibri" panose="020F0502020204030204" pitchFamily="34" charset="0"/>
              <a:ea typeface="微软雅黑" panose="020B0503020204020204" pitchFamily="34" charset="-122"/>
              <a:cs typeface="Calibri" panose="020F0502020204030204" pitchFamily="34" charset="0"/>
            </a:endParaRPr>
          </a:p>
          <a:p>
            <a:pPr lvl="1">
              <a:buFont typeface="Wingdings" panose="05000000000000000000" pitchFamily="2" charset="2"/>
              <a:buChar char="n"/>
            </a:pPr>
            <a:r>
              <a:rPr lang="zh-CN" altLang="en-US" sz="2000" b="1" dirty="0">
                <a:latin typeface="Calibri" panose="020F0502020204030204" pitchFamily="34" charset="0"/>
                <a:ea typeface="微软雅黑" panose="020B0503020204020204" pitchFamily="34" charset="-122"/>
                <a:cs typeface="Calibri" panose="020F0502020204030204" pitchFamily="34" charset="0"/>
              </a:rPr>
              <a:t>中断识别：向量中断与非向量中断</a:t>
            </a:r>
            <a:endParaRPr lang="en-US" altLang="zh-CN" sz="2000" b="1" dirty="0">
              <a:latin typeface="Calibri" panose="020F0502020204030204" pitchFamily="34" charset="0"/>
              <a:ea typeface="微软雅黑" panose="020B0503020204020204" pitchFamily="34" charset="-122"/>
              <a:cs typeface="Calibri" panose="020F0502020204030204" pitchFamily="34" charset="0"/>
            </a:endParaRPr>
          </a:p>
          <a:p>
            <a:pPr>
              <a:buFont typeface="Wingdings" panose="05000000000000000000" pitchFamily="2" charset="2"/>
              <a:buChar char="n"/>
            </a:pPr>
            <a:r>
              <a:rPr lang="zh-CN" altLang="en-US" sz="24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软硬件协同</a:t>
            </a:r>
            <a:endParaRPr lang="en-US" altLang="zh-CN" sz="2400" b="1" dirty="0">
              <a:solidFill>
                <a:srgbClr val="C00000"/>
              </a:solidFill>
              <a:latin typeface="Calibri" panose="020F0502020204030204" pitchFamily="34" charset="0"/>
              <a:ea typeface="微软雅黑" panose="020B0503020204020204" pitchFamily="34" charset="-122"/>
              <a:cs typeface="Calibri" panose="020F0502020204030204" pitchFamily="34" charset="0"/>
            </a:endParaRPr>
          </a:p>
          <a:p>
            <a:pPr lvl="1">
              <a:buFont typeface="Wingdings" panose="05000000000000000000" pitchFamily="2" charset="2"/>
              <a:buChar char="n"/>
            </a:pPr>
            <a:r>
              <a:rPr lang="zh-CN" altLang="en-US" sz="2000" b="1" dirty="0">
                <a:latin typeface="Calibri" panose="020F0502020204030204" pitchFamily="34" charset="0"/>
                <a:ea typeface="微软雅黑" panose="020B0503020204020204" pitchFamily="34" charset="-122"/>
                <a:cs typeface="Calibri" panose="020F0502020204030204" pitchFamily="34" charset="0"/>
              </a:rPr>
              <a:t>中断屏蔽字：弥补了硬件排队电路固定优先级的不足，更为灵活的处理外部中断。</a:t>
            </a:r>
            <a:endParaRPr lang="en-US" altLang="zh-CN" sz="2000" b="1" dirty="0">
              <a:latin typeface="Calibri" panose="020F0502020204030204" pitchFamily="34" charset="0"/>
              <a:ea typeface="微软雅黑" panose="020B0503020204020204" pitchFamily="34" charset="-122"/>
              <a:cs typeface="Calibri" panose="020F0502020204030204" pitchFamily="34" charset="0"/>
            </a:endParaRPr>
          </a:p>
          <a:p>
            <a:pPr>
              <a:buFont typeface="Wingdings" panose="05000000000000000000" pitchFamily="2" charset="2"/>
              <a:buChar char="n"/>
            </a:pPr>
            <a:r>
              <a:rPr lang="zh-CN" altLang="en-US" sz="2400" b="1" dirty="0">
                <a:latin typeface="Calibri" panose="020F0502020204030204" pitchFamily="34" charset="0"/>
                <a:ea typeface="微软雅黑" panose="020B0503020204020204" pitchFamily="34" charset="-122"/>
                <a:cs typeface="Calibri" panose="020F0502020204030204" pitchFamily="34" charset="0"/>
              </a:rPr>
              <a:t>通过</a:t>
            </a:r>
            <a:r>
              <a:rPr lang="zh-CN" altLang="en-US" sz="24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量化分析</a:t>
            </a:r>
            <a:r>
              <a:rPr lang="zh-CN" altLang="en-US" sz="2400" b="1" dirty="0">
                <a:latin typeface="Calibri" panose="020F0502020204030204" pitchFamily="34" charset="0"/>
                <a:ea typeface="微软雅黑" panose="020B0503020204020204" pitchFamily="34" charset="-122"/>
                <a:cs typeface="Calibri" panose="020F0502020204030204" pitchFamily="34" charset="0"/>
              </a:rPr>
              <a:t>，可知，中断技术虽然将</a:t>
            </a:r>
            <a:r>
              <a:rPr lang="en-US" altLang="zh-CN" sz="2400" b="1" dirty="0">
                <a:latin typeface="Calibri" panose="020F0502020204030204" pitchFamily="34" charset="0"/>
                <a:ea typeface="微软雅黑" panose="020B0503020204020204" pitchFamily="34" charset="-122"/>
                <a:cs typeface="Calibri" panose="020F0502020204030204" pitchFamily="34" charset="0"/>
              </a:rPr>
              <a:t>CPU</a:t>
            </a:r>
            <a:r>
              <a:rPr lang="zh-CN" altLang="en-US" sz="2400" b="1" dirty="0">
                <a:latin typeface="Calibri" panose="020F0502020204030204" pitchFamily="34" charset="0"/>
                <a:ea typeface="微软雅黑" panose="020B0503020204020204" pitchFamily="34" charset="-122"/>
                <a:cs typeface="Calibri" panose="020F0502020204030204" pitchFamily="34" charset="0"/>
              </a:rPr>
              <a:t>与外设的工作方式由早期的</a:t>
            </a:r>
            <a:r>
              <a:rPr lang="zh-CN" altLang="en-US" sz="24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串行</a:t>
            </a:r>
            <a:r>
              <a:rPr lang="zh-CN" altLang="en-US" sz="2400" b="1" dirty="0">
                <a:latin typeface="Calibri" panose="020F0502020204030204" pitchFamily="34" charset="0"/>
                <a:ea typeface="微软雅黑" panose="020B0503020204020204" pitchFamily="34" charset="-122"/>
                <a:cs typeface="Calibri" panose="020F0502020204030204" pitchFamily="34" charset="0"/>
              </a:rPr>
              <a:t>方式改进为</a:t>
            </a:r>
            <a:r>
              <a:rPr lang="zh-CN" altLang="en-US" sz="24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并行</a:t>
            </a:r>
            <a:r>
              <a:rPr lang="zh-CN" altLang="en-US" sz="2400" b="1" dirty="0">
                <a:latin typeface="Calibri" panose="020F0502020204030204" pitchFamily="34" charset="0"/>
                <a:ea typeface="微软雅黑" panose="020B0503020204020204" pitchFamily="34" charset="-122"/>
                <a:cs typeface="Calibri" panose="020F0502020204030204" pitchFamily="34" charset="0"/>
              </a:rPr>
              <a:t>方式，但是，从实际需求而言，其过大的时间开销，限制了外设的传输率。因而，并行是否一定优于串行，是个</a:t>
            </a:r>
            <a:r>
              <a:rPr lang="zh-CN" altLang="en-US" sz="24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辩证</a:t>
            </a:r>
            <a:r>
              <a:rPr lang="zh-CN" altLang="en-US" sz="2400" b="1" dirty="0">
                <a:latin typeface="Calibri" panose="020F0502020204030204" pitchFamily="34" charset="0"/>
                <a:ea typeface="微软雅黑" panose="020B0503020204020204" pitchFamily="34" charset="-122"/>
                <a:cs typeface="Calibri" panose="020F0502020204030204" pitchFamily="34" charset="0"/>
              </a:rPr>
              <a:t>问题。</a:t>
            </a:r>
            <a:endParaRPr lang="en-US" altLang="zh-CN" sz="2400" b="1" dirty="0">
              <a:latin typeface="Calibri" panose="020F0502020204030204" pitchFamily="34" charset="0"/>
              <a:ea typeface="微软雅黑" panose="020B0503020204020204" pitchFamily="34" charset="-122"/>
              <a:cs typeface="Calibri" panose="020F0502020204030204" pitchFamily="34" charset="0"/>
            </a:endParaRPr>
          </a:p>
          <a:p>
            <a:pPr>
              <a:buFont typeface="Wingdings" panose="05000000000000000000" pitchFamily="2" charset="2"/>
              <a:buChar char="n"/>
            </a:pPr>
            <a:endParaRPr lang="en-US" altLang="zh-CN" sz="2400" b="1" dirty="0">
              <a:latin typeface="Calibri" panose="020F0502020204030204" pitchFamily="34" charset="0"/>
              <a:ea typeface="微软雅黑" panose="020B0503020204020204" pitchFamily="34" charset="-122"/>
              <a:cs typeface="Calibri" panose="020F0502020204030204" pitchFamily="34" charset="0"/>
            </a:endParaRPr>
          </a:p>
          <a:p>
            <a:pPr lvl="1">
              <a:buFont typeface="Wingdings" panose="05000000000000000000" pitchFamily="2" charset="2"/>
              <a:buChar char="n"/>
            </a:pPr>
            <a:endParaRPr lang="zh-CN" altLang="en-US" sz="2000" b="1" dirty="0">
              <a:latin typeface="Calibri" panose="020F0502020204030204" pitchFamily="34" charset="0"/>
              <a:ea typeface="微软雅黑" panose="020B0503020204020204" pitchFamily="34" charset="-122"/>
              <a:cs typeface="Calibri" panose="020F0502020204030204" pitchFamily="34" charset="0"/>
            </a:endParaRPr>
          </a:p>
        </p:txBody>
      </p:sp>
    </p:spTree>
    <p:extLst>
      <p:ext uri="{BB962C8B-B14F-4D97-AF65-F5344CB8AC3E}">
        <p14:creationId xmlns:p14="http://schemas.microsoft.com/office/powerpoint/2010/main" val="25385049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C3E461-2C23-425E-924B-C7870A9F9A76}"/>
              </a:ext>
            </a:extLst>
          </p:cNvPr>
          <p:cNvSpPr>
            <a:spLocks noGrp="1"/>
          </p:cNvSpPr>
          <p:nvPr>
            <p:ph type="title"/>
          </p:nvPr>
        </p:nvSpPr>
        <p:spPr>
          <a:xfrm>
            <a:off x="738909" y="266547"/>
            <a:ext cx="10843491" cy="564266"/>
          </a:xfrm>
        </p:spPr>
        <p:txBody>
          <a:bodyPr/>
          <a:lstStyle/>
          <a:p>
            <a:r>
              <a:rPr lang="en-US" altLang="zh-CN" dirty="0">
                <a:latin typeface="微软雅黑" panose="020B0503020204020204" pitchFamily="34" charset="-122"/>
                <a:ea typeface="微软雅黑" panose="020B0503020204020204" pitchFamily="34" charset="-122"/>
              </a:rPr>
              <a:t>6.7 </a:t>
            </a:r>
            <a:r>
              <a:rPr lang="zh-CN" altLang="en-US" dirty="0">
                <a:latin typeface="微软雅黑" panose="020B0503020204020204" pitchFamily="34" charset="-122"/>
                <a:ea typeface="微软雅黑" panose="020B0503020204020204" pitchFamily="34" charset="-122"/>
              </a:rPr>
              <a:t>异常与中断处理</a:t>
            </a:r>
          </a:p>
        </p:txBody>
      </p:sp>
      <p:sp>
        <p:nvSpPr>
          <p:cNvPr id="6" name="内容占位符 2">
            <a:extLst>
              <a:ext uri="{FF2B5EF4-FFF2-40B4-BE49-F238E27FC236}">
                <a16:creationId xmlns:a16="http://schemas.microsoft.com/office/drawing/2014/main" id="{AE0BA04D-BF63-44EB-B00C-AA88B596EFF3}"/>
              </a:ext>
            </a:extLst>
          </p:cNvPr>
          <p:cNvSpPr>
            <a:spLocks noGrp="1"/>
          </p:cNvSpPr>
          <p:nvPr>
            <p:ph idx="1"/>
          </p:nvPr>
        </p:nvSpPr>
        <p:spPr>
          <a:xfrm>
            <a:off x="609600" y="1063285"/>
            <a:ext cx="6314983" cy="5639356"/>
          </a:xfrm>
        </p:spPr>
        <p:txBody>
          <a:bodyPr rtlCol="0">
            <a:normAutofit fontScale="85000" lnSpcReduction="10000"/>
          </a:bodyPr>
          <a:lstStyle/>
          <a:p>
            <a:pPr>
              <a:defRPr/>
            </a:pPr>
            <a:r>
              <a:rPr lang="en-US" altLang="zh-CN" sz="3200" b="1" dirty="0">
                <a:latin typeface="Calibri" panose="020F0502020204030204" pitchFamily="34" charset="0"/>
                <a:ea typeface="Calibri" panose="020F0502020204030204" pitchFamily="34" charset="0"/>
                <a:cs typeface="Calibri" panose="020F0502020204030204" pitchFamily="34" charset="0"/>
              </a:rPr>
              <a:t>6.7.4  </a:t>
            </a:r>
            <a:r>
              <a:rPr lang="zh-CN" altLang="en-US" b="1" dirty="0">
                <a:latin typeface="Calibri" panose="020F0502020204030204" pitchFamily="34" charset="0"/>
                <a:ea typeface="微软雅黑" panose="020B0503020204020204" pitchFamily="34" charset="-122"/>
                <a:cs typeface="Calibri" panose="020F0502020204030204" pitchFamily="34" charset="0"/>
              </a:rPr>
              <a:t>支持中断的</a:t>
            </a:r>
            <a:r>
              <a:rPr lang="en-US" altLang="zh-CN" b="1" dirty="0">
                <a:latin typeface="Calibri" panose="020F0502020204030204" pitchFamily="34" charset="0"/>
                <a:ea typeface="Calibri" panose="020F0502020204030204" pitchFamily="34" charset="0"/>
                <a:cs typeface="Calibri" panose="020F0502020204030204" pitchFamily="34" charset="0"/>
              </a:rPr>
              <a:t>CPU</a:t>
            </a:r>
            <a:r>
              <a:rPr lang="zh-CN" altLang="en-US" b="1" dirty="0">
                <a:latin typeface="Calibri" panose="020F0502020204030204" pitchFamily="34" charset="0"/>
                <a:ea typeface="微软雅黑" panose="020B0503020204020204" pitchFamily="34" charset="-122"/>
                <a:cs typeface="Calibri" panose="020F0502020204030204" pitchFamily="34" charset="0"/>
              </a:rPr>
              <a:t>设计（</a:t>
            </a:r>
            <a:r>
              <a:rPr lang="zh-CN" altLang="en-US" b="1" dirty="0">
                <a:solidFill>
                  <a:srgbClr val="C00000"/>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理论</a:t>
            </a:r>
            <a:r>
              <a:rPr lang="en-US" altLang="zh-CN" b="1" dirty="0">
                <a:solidFill>
                  <a:srgbClr val="C00000"/>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-&gt;</a:t>
            </a:r>
            <a:r>
              <a:rPr lang="zh-CN" altLang="en-US" b="1" dirty="0">
                <a:solidFill>
                  <a:srgbClr val="C00000"/>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实践</a:t>
            </a:r>
            <a:r>
              <a:rPr lang="zh-CN" altLang="en-US" b="1" dirty="0">
                <a:latin typeface="Calibri" panose="020F0502020204030204" pitchFamily="34" charset="0"/>
                <a:ea typeface="微软雅黑" panose="020B0503020204020204" pitchFamily="34" charset="-122"/>
                <a:cs typeface="Calibri" panose="020F0502020204030204" pitchFamily="34" charset="0"/>
              </a:rPr>
              <a:t>）</a:t>
            </a:r>
            <a:endParaRPr lang="en-US" altLang="zh-CN" sz="1800" b="1" dirty="0">
              <a:latin typeface="Calibri" panose="020F0502020204030204" pitchFamily="34" charset="0"/>
              <a:ea typeface="Calibri" panose="020F0502020204030204" pitchFamily="34" charset="0"/>
              <a:cs typeface="Calibri" panose="020F0502020204030204" pitchFamily="34" charset="0"/>
            </a:endParaRPr>
          </a:p>
          <a:p>
            <a:pPr marL="628650" lvl="1" indent="0" eaLnBrk="1" hangingPunct="1">
              <a:buNone/>
            </a:pPr>
            <a:endParaRPr lang="en-US" altLang="zh-CN" sz="800" b="1" dirty="0">
              <a:latin typeface="Calibri" panose="020F0502020204030204" pitchFamily="34" charset="0"/>
              <a:ea typeface="Calibri" panose="020F0502020204030204" pitchFamily="34" charset="0"/>
              <a:cs typeface="Calibri" panose="020F0502020204030204" pitchFamily="34" charset="0"/>
            </a:endParaRPr>
          </a:p>
          <a:p>
            <a:pPr lvl="1" eaLnBrk="1" hangingPunct="1">
              <a:buFont typeface="Wingdings" panose="05000000000000000000" pitchFamily="2" charset="2"/>
              <a:buChar char="p"/>
            </a:pPr>
            <a:r>
              <a:rPr lang="zh-CN" altLang="en-US" b="1" dirty="0">
                <a:latin typeface="Calibri" panose="020F0502020204030204" pitchFamily="34" charset="0"/>
                <a:ea typeface="微软雅黑" panose="020B0503020204020204" pitchFamily="34" charset="-122"/>
                <a:cs typeface="Calibri" panose="020F0502020204030204" pitchFamily="34" charset="0"/>
              </a:rPr>
              <a:t>数据通路升级</a:t>
            </a:r>
            <a:endParaRPr lang="en-US" altLang="zh-CN" b="1" dirty="0">
              <a:latin typeface="Calibri" panose="020F0502020204030204" pitchFamily="34" charset="0"/>
              <a:ea typeface="Calibri" panose="020F0502020204030204" pitchFamily="34" charset="0"/>
              <a:cs typeface="Calibri" panose="020F0502020204030204" pitchFamily="34" charset="0"/>
            </a:endParaRPr>
          </a:p>
          <a:p>
            <a:pPr lvl="1" eaLnBrk="1" hangingPunct="1"/>
            <a:endParaRPr lang="en-US" altLang="zh-CN" sz="800" b="1" dirty="0">
              <a:latin typeface="Calibri" panose="020F0502020204030204" pitchFamily="34" charset="0"/>
              <a:ea typeface="Calibri" panose="020F0502020204030204" pitchFamily="34" charset="0"/>
              <a:cs typeface="Calibri" panose="020F0502020204030204" pitchFamily="34" charset="0"/>
            </a:endParaRPr>
          </a:p>
          <a:p>
            <a:pPr marL="1252538" lvl="2" indent="-266700" eaLnBrk="1" hangingPunct="1">
              <a:lnSpc>
                <a:spcPct val="120000"/>
              </a:lnSpc>
              <a:buFont typeface="Wingdings" panose="05000000000000000000" pitchFamily="2" charset="2"/>
              <a:buChar char="n"/>
            </a:pPr>
            <a:r>
              <a:rPr lang="zh-CN" altLang="en-US" sz="21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图</a:t>
            </a:r>
            <a:r>
              <a:rPr lang="en-US" altLang="zh-CN" sz="21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6.64</a:t>
            </a:r>
            <a:r>
              <a:rPr lang="zh-CN" altLang="en-US" sz="21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为支持中断的</a:t>
            </a:r>
            <a:r>
              <a:rPr lang="zh-CN" altLang="en-US" sz="19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单总线</a:t>
            </a:r>
            <a:r>
              <a:rPr lang="zh-CN" altLang="en-US" sz="19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结构的计算机框图（图中没有画出</a:t>
            </a:r>
            <a:r>
              <a:rPr lang="en-US" altLang="zh-CN" sz="19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ALU</a:t>
            </a:r>
            <a:r>
              <a:rPr lang="zh-CN" altLang="en-US" sz="19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和寄存器堆）；与图</a:t>
            </a:r>
            <a:r>
              <a:rPr lang="en-US" altLang="zh-CN" sz="19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6.4</a:t>
            </a:r>
            <a:r>
              <a:rPr lang="zh-CN" altLang="en-US" sz="19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相比，增加了：</a:t>
            </a:r>
            <a:endParaRPr lang="en-US" altLang="zh-CN" sz="21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marL="1527175" lvl="3" indent="-274638" eaLnBrk="1" hangingPunct="1">
              <a:lnSpc>
                <a:spcPct val="120000"/>
              </a:lnSpc>
              <a:buFont typeface="Wingdings" panose="05000000000000000000" pitchFamily="2" charset="2"/>
              <a:buChar char="n"/>
            </a:pPr>
            <a:r>
              <a:rPr lang="en-US" altLang="zh-CN" sz="1900" b="1" dirty="0">
                <a:solidFill>
                  <a:srgbClr val="C00000"/>
                </a:solidFill>
                <a:latin typeface="Calibri" panose="020F0502020204030204" pitchFamily="34" charset="0"/>
                <a:ea typeface="Calibri" panose="020F0502020204030204" pitchFamily="34" charset="0"/>
                <a:cs typeface="Calibri" panose="020F0502020204030204" pitchFamily="34" charset="0"/>
              </a:rPr>
              <a:t>EPC</a:t>
            </a:r>
            <a:r>
              <a:rPr lang="zh-CN" altLang="en-US" sz="1700" b="1" dirty="0">
                <a:latin typeface="Calibri" panose="020F0502020204030204" pitchFamily="34" charset="0"/>
                <a:ea typeface="微软雅黑" panose="020B0503020204020204" pitchFamily="34" charset="-122"/>
                <a:cs typeface="Calibri" panose="020F0502020204030204" pitchFamily="34" charset="0"/>
              </a:rPr>
              <a:t>：</a:t>
            </a:r>
            <a:r>
              <a:rPr lang="en-US" altLang="zh-CN" sz="19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Exception Program Counter</a:t>
            </a:r>
            <a:r>
              <a:rPr lang="zh-CN" altLang="en-US" sz="1700" b="1" dirty="0">
                <a:solidFill>
                  <a:srgbClr val="333333"/>
                </a:solidFill>
                <a:latin typeface="Calibri" panose="020F0502020204030204" pitchFamily="34" charset="0"/>
                <a:ea typeface="微软雅黑" panose="020B0503020204020204" pitchFamily="34" charset="-122"/>
                <a:cs typeface="Calibri" panose="020F0502020204030204" pitchFamily="34" charset="0"/>
              </a:rPr>
              <a:t>，</a:t>
            </a:r>
            <a:r>
              <a:rPr lang="zh-CN" altLang="en-US" sz="19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异常程序计数器</a:t>
            </a:r>
            <a:r>
              <a:rPr lang="zh-CN" altLang="en-US" sz="1700" b="1" dirty="0">
                <a:solidFill>
                  <a:srgbClr val="333333"/>
                </a:solidFill>
                <a:latin typeface="Calibri" panose="020F0502020204030204" pitchFamily="34" charset="0"/>
                <a:ea typeface="微软雅黑" panose="020B0503020204020204" pitchFamily="34" charset="-122"/>
                <a:cs typeface="Calibri" panose="020F0502020204030204" pitchFamily="34" charset="0"/>
              </a:rPr>
              <a:t>，</a:t>
            </a:r>
            <a:r>
              <a:rPr lang="zh-CN" altLang="en-US" sz="19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用于保存断点；有</a:t>
            </a:r>
            <a:r>
              <a:rPr lang="en-US" altLang="zh-CN" sz="19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2</a:t>
            </a:r>
            <a:r>
              <a:rPr lang="zh-CN" altLang="en-US" sz="19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个控制信号：</a:t>
            </a:r>
            <a:r>
              <a:rPr lang="en-US" altLang="zh-CN" sz="1900" b="1" dirty="0" err="1">
                <a:solidFill>
                  <a:srgbClr val="C00000"/>
                </a:solidFill>
                <a:highlight>
                  <a:srgbClr val="FFFFFF"/>
                </a:highlight>
                <a:latin typeface="Calibri" panose="020F0502020204030204" pitchFamily="34" charset="0"/>
                <a:ea typeface="Calibri" panose="020F0502020204030204" pitchFamily="34" charset="0"/>
                <a:cs typeface="Calibri" panose="020F0502020204030204" pitchFamily="34" charset="0"/>
              </a:rPr>
              <a:t>EPC</a:t>
            </a:r>
            <a:r>
              <a:rPr lang="en-US" altLang="zh-CN" sz="1900" b="1" baseline="-25000" dirty="0" err="1">
                <a:solidFill>
                  <a:srgbClr val="C00000"/>
                </a:solidFill>
                <a:highlight>
                  <a:srgbClr val="FFFFFF"/>
                </a:highlight>
                <a:latin typeface="Calibri" panose="020F0502020204030204" pitchFamily="34" charset="0"/>
                <a:ea typeface="Calibri" panose="020F0502020204030204" pitchFamily="34" charset="0"/>
                <a:cs typeface="Calibri" panose="020F0502020204030204" pitchFamily="34" charset="0"/>
              </a:rPr>
              <a:t>in</a:t>
            </a:r>
            <a:r>
              <a:rPr lang="zh-CN" altLang="en-US" sz="1900" b="1" dirty="0">
                <a:solidFill>
                  <a:srgbClr val="C00000"/>
                </a:solidFill>
                <a:highlight>
                  <a:srgbClr val="FFFFFF"/>
                </a:highlight>
                <a:latin typeface="Calibri" panose="020F0502020204030204" pitchFamily="34" charset="0"/>
                <a:ea typeface="微软雅黑" panose="020B0503020204020204" pitchFamily="34" charset="-122"/>
                <a:cs typeface="Calibri" panose="020F0502020204030204" pitchFamily="34" charset="0"/>
              </a:rPr>
              <a:t>、</a:t>
            </a:r>
            <a:r>
              <a:rPr lang="en-US" altLang="zh-CN" sz="1900" b="1" dirty="0" err="1">
                <a:solidFill>
                  <a:srgbClr val="C00000"/>
                </a:solidFill>
                <a:highlight>
                  <a:srgbClr val="FFFFFF"/>
                </a:highlight>
                <a:latin typeface="Calibri" panose="020F0502020204030204" pitchFamily="34" charset="0"/>
                <a:ea typeface="Calibri" panose="020F0502020204030204" pitchFamily="34" charset="0"/>
                <a:cs typeface="Calibri" panose="020F0502020204030204" pitchFamily="34" charset="0"/>
              </a:rPr>
              <a:t>EPC</a:t>
            </a:r>
            <a:r>
              <a:rPr lang="en-US" altLang="zh-CN" sz="1900" b="1" baseline="-25000" dirty="0" err="1">
                <a:solidFill>
                  <a:srgbClr val="C00000"/>
                </a:solidFill>
                <a:highlight>
                  <a:srgbClr val="FFFFFF"/>
                </a:highlight>
                <a:latin typeface="Calibri" panose="020F0502020204030204" pitchFamily="34" charset="0"/>
                <a:ea typeface="Calibri" panose="020F0502020204030204" pitchFamily="34" charset="0"/>
                <a:cs typeface="Calibri" panose="020F0502020204030204" pitchFamily="34" charset="0"/>
              </a:rPr>
              <a:t>out</a:t>
            </a:r>
            <a:r>
              <a:rPr lang="zh-CN" altLang="en-US" sz="1700" b="1" dirty="0">
                <a:solidFill>
                  <a:srgbClr val="333333"/>
                </a:solidFill>
                <a:latin typeface="Calibri" panose="020F0502020204030204" pitchFamily="34" charset="0"/>
                <a:ea typeface="微软雅黑" panose="020B0503020204020204" pitchFamily="34" charset="-122"/>
                <a:cs typeface="Calibri" panose="020F0502020204030204" pitchFamily="34" charset="0"/>
              </a:rPr>
              <a:t>。</a:t>
            </a:r>
            <a:endParaRPr lang="en-US" altLang="zh-CN" sz="1700" b="1" dirty="0">
              <a:solidFill>
                <a:srgbClr val="333333"/>
              </a:solidFill>
              <a:latin typeface="Calibri" panose="020F0502020204030204" pitchFamily="34" charset="0"/>
              <a:ea typeface="Calibri" panose="020F0502020204030204" pitchFamily="34" charset="0"/>
              <a:cs typeface="Calibri" panose="020F0502020204030204" pitchFamily="34" charset="0"/>
            </a:endParaRPr>
          </a:p>
          <a:p>
            <a:pPr marL="1527175" lvl="3" indent="-274638" eaLnBrk="1" hangingPunct="1">
              <a:lnSpc>
                <a:spcPct val="120000"/>
              </a:lnSpc>
              <a:buFont typeface="Wingdings" panose="05000000000000000000" pitchFamily="2" charset="2"/>
              <a:buChar char="n"/>
            </a:pPr>
            <a:r>
              <a:rPr lang="en-US" altLang="zh-CN" sz="19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IE</a:t>
            </a:r>
            <a:r>
              <a:rPr lang="zh-CN" altLang="en-US" sz="19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r>
              <a:rPr lang="en-US" altLang="zh-CN" sz="19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Interrupt Enable</a:t>
            </a:r>
            <a:r>
              <a:rPr lang="zh-CN" altLang="en-US" sz="19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，中断使能位</a:t>
            </a:r>
            <a:r>
              <a:rPr lang="zh-CN" altLang="en-US" sz="1700" b="1" dirty="0">
                <a:solidFill>
                  <a:srgbClr val="333333"/>
                </a:solidFill>
                <a:latin typeface="Calibri" panose="020F0502020204030204" pitchFamily="34" charset="0"/>
                <a:ea typeface="微软雅黑" panose="020B0503020204020204" pitchFamily="34" charset="-122"/>
                <a:cs typeface="Calibri" panose="020F0502020204030204" pitchFamily="34" charset="0"/>
              </a:rPr>
              <a:t>（</a:t>
            </a:r>
            <a:r>
              <a:rPr lang="zh-CN" altLang="en-US" sz="17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中断使能触发器</a:t>
            </a:r>
            <a:r>
              <a:rPr lang="en-US" altLang="zh-CN" sz="1700" b="1" dirty="0">
                <a:solidFill>
                  <a:srgbClr val="C00000"/>
                </a:solidFill>
                <a:latin typeface="Calibri" panose="020F0502020204030204" pitchFamily="34" charset="0"/>
                <a:ea typeface="Calibri" panose="020F0502020204030204" pitchFamily="34" charset="0"/>
                <a:cs typeface="Calibri" panose="020F0502020204030204" pitchFamily="34" charset="0"/>
              </a:rPr>
              <a:t>/</a:t>
            </a:r>
            <a:r>
              <a:rPr lang="zh-CN" altLang="en-US" sz="17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寄存器</a:t>
            </a:r>
            <a:r>
              <a:rPr lang="zh-CN" altLang="en-US" sz="19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），有</a:t>
            </a:r>
            <a:r>
              <a:rPr lang="en-US" altLang="zh-CN" sz="19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2</a:t>
            </a:r>
            <a:r>
              <a:rPr lang="zh-CN" altLang="en-US" sz="19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个控制信号：开中断</a:t>
            </a:r>
            <a:r>
              <a:rPr lang="en-US" altLang="zh-CN" sz="19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STI</a:t>
            </a:r>
            <a:r>
              <a:rPr lang="zh-CN" altLang="en-US" sz="19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、关中断</a:t>
            </a:r>
            <a:r>
              <a:rPr lang="en-US" altLang="zh-CN" sz="19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CLI</a:t>
            </a:r>
            <a:r>
              <a:rPr lang="zh-CN" altLang="en-US" sz="19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endParaRPr lang="en-US" altLang="zh-CN" sz="19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marL="1527175" lvl="3" indent="-274638" eaLnBrk="1" hangingPunct="1">
              <a:lnSpc>
                <a:spcPct val="120000"/>
              </a:lnSpc>
              <a:buFont typeface="Wingdings" panose="05000000000000000000" pitchFamily="2" charset="2"/>
              <a:buChar char="n"/>
            </a:pPr>
            <a:r>
              <a:rPr lang="zh-CN" altLang="en-US" sz="17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中断控制</a:t>
            </a:r>
            <a:r>
              <a:rPr lang="zh-CN" altLang="en-US" sz="1700" b="1" dirty="0">
                <a:solidFill>
                  <a:srgbClr val="333333"/>
                </a:solidFill>
                <a:latin typeface="Calibri" panose="020F0502020204030204" pitchFamily="34" charset="0"/>
                <a:ea typeface="微软雅黑" panose="020B0503020204020204" pitchFamily="34" charset="-122"/>
                <a:cs typeface="Calibri" panose="020F0502020204030204" pitchFamily="34" charset="0"/>
              </a:rPr>
              <a:t>（</a:t>
            </a:r>
            <a:r>
              <a:rPr lang="zh-CN" altLang="en-US" sz="17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中断控制逻辑</a:t>
            </a:r>
            <a:r>
              <a:rPr lang="zh-CN" altLang="en-US" sz="1700" b="1" dirty="0">
                <a:solidFill>
                  <a:srgbClr val="333333"/>
                </a:solidFill>
                <a:latin typeface="Calibri" panose="020F0502020204030204" pitchFamily="34" charset="0"/>
                <a:ea typeface="微软雅黑" panose="020B0503020204020204" pitchFamily="34" charset="-122"/>
                <a:cs typeface="Calibri" panose="020F0502020204030204" pitchFamily="34" charset="0"/>
              </a:rPr>
              <a:t>）</a:t>
            </a:r>
            <a:r>
              <a:rPr lang="zh-CN" altLang="en-US" sz="19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：用于进行中断优先级排队；假设有</a:t>
            </a:r>
            <a:r>
              <a:rPr lang="en-US" altLang="zh-CN" sz="19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4</a:t>
            </a:r>
            <a:r>
              <a:rPr lang="zh-CN" altLang="en-US" sz="19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个外部中断请求信号</a:t>
            </a:r>
            <a:r>
              <a:rPr lang="en-US" altLang="zh-CN" sz="19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a:t>
            </a:r>
            <a:r>
              <a:rPr lang="zh-CN" altLang="en-US" sz="19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r>
              <a:rPr lang="en-US" altLang="zh-CN" sz="19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B</a:t>
            </a:r>
            <a:r>
              <a:rPr lang="zh-CN" altLang="en-US" sz="19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r>
              <a:rPr lang="en-US" altLang="zh-CN" sz="19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C</a:t>
            </a:r>
            <a:r>
              <a:rPr lang="zh-CN" altLang="en-US" sz="19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r>
              <a:rPr lang="en-US" altLang="zh-CN" sz="19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D</a:t>
            </a:r>
            <a:r>
              <a:rPr lang="zh-CN" altLang="en-US" sz="19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，中断控制逻辑对</a:t>
            </a:r>
            <a:r>
              <a:rPr lang="en-US" altLang="zh-CN" sz="19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4</a:t>
            </a:r>
            <a:r>
              <a:rPr lang="zh-CN" altLang="en-US" sz="19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个中断请求进行优先级排队，输出优先级最高的中断号，并发出中断请求信号，控制信号</a:t>
            </a:r>
            <a:r>
              <a:rPr lang="en-US" altLang="zh-CN" sz="1900" b="1" dirty="0" err="1">
                <a:solidFill>
                  <a:srgbClr val="C00000"/>
                </a:solidFill>
                <a:latin typeface="Calibri" panose="020F0502020204030204" pitchFamily="34" charset="0"/>
                <a:ea typeface="微软雅黑" panose="020B0503020204020204" pitchFamily="34" charset="-122"/>
                <a:cs typeface="Calibri" panose="020F0502020204030204" pitchFamily="34" charset="0"/>
              </a:rPr>
              <a:t>ClrInt</a:t>
            </a:r>
            <a:r>
              <a:rPr lang="zh-CN" altLang="en-US" sz="19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用于清除当前正在响应的中断请求。</a:t>
            </a:r>
            <a:endParaRPr lang="en-US" altLang="zh-CN" sz="19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marL="1527175" lvl="3" indent="-274638" eaLnBrk="1" hangingPunct="1">
              <a:lnSpc>
                <a:spcPct val="120000"/>
              </a:lnSpc>
              <a:buFont typeface="Wingdings" panose="05000000000000000000" pitchFamily="2" charset="2"/>
              <a:buChar char="n"/>
            </a:pPr>
            <a:r>
              <a:rPr lang="zh-CN" altLang="en-US" sz="19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多路选择器</a:t>
            </a:r>
            <a:r>
              <a:rPr lang="en-US" altLang="zh-CN" sz="19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MUX</a:t>
            </a:r>
            <a:r>
              <a:rPr lang="zh-CN" altLang="en-US" sz="19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：根据中断号，将对应的中断服务程序入口地址（</a:t>
            </a:r>
            <a:r>
              <a:rPr lang="en-US" altLang="zh-CN" sz="19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a:t>
            </a:r>
            <a:r>
              <a:rPr lang="zh-CN" altLang="en-US" sz="19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中断入口、</a:t>
            </a:r>
            <a:r>
              <a:rPr lang="en-US" altLang="zh-CN" sz="19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B</a:t>
            </a:r>
            <a:r>
              <a:rPr lang="zh-CN" altLang="en-US" sz="19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中断入口、</a:t>
            </a:r>
            <a:r>
              <a:rPr lang="en-US" altLang="zh-CN" sz="19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C</a:t>
            </a:r>
            <a:r>
              <a:rPr lang="zh-CN" altLang="en-US" sz="19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中断入口、</a:t>
            </a:r>
            <a:r>
              <a:rPr lang="en-US" altLang="zh-CN" sz="19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D</a:t>
            </a:r>
            <a:r>
              <a:rPr lang="zh-CN" altLang="en-US" sz="19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中断入口）通过内总线送程序计数器</a:t>
            </a:r>
            <a:r>
              <a:rPr lang="en-US" altLang="zh-CN" sz="19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PC</a:t>
            </a:r>
            <a:r>
              <a:rPr lang="zh-CN" altLang="en-US" sz="19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，控制信号为</a:t>
            </a:r>
            <a:r>
              <a:rPr lang="en-US" altLang="zh-CN" sz="1900" b="1" dirty="0" err="1">
                <a:solidFill>
                  <a:srgbClr val="C00000"/>
                </a:solidFill>
                <a:latin typeface="Calibri" panose="020F0502020204030204" pitchFamily="34" charset="0"/>
                <a:ea typeface="微软雅黑" panose="020B0503020204020204" pitchFamily="34" charset="-122"/>
                <a:cs typeface="Calibri" panose="020F0502020204030204" pitchFamily="34" charset="0"/>
              </a:rPr>
              <a:t>IntAout</a:t>
            </a:r>
            <a:r>
              <a:rPr lang="zh-CN" altLang="en-US" sz="19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endParaRPr lang="en-US" altLang="zh-CN" sz="19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lvl="2" eaLnBrk="1" hangingPunct="1"/>
            <a:endParaRPr lang="en-US" altLang="zh-CN" sz="900" b="1" dirty="0">
              <a:latin typeface="Calibri" panose="020F0502020204030204" pitchFamily="34" charset="0"/>
              <a:ea typeface="Calibri" panose="020F0502020204030204" pitchFamily="34" charset="0"/>
              <a:cs typeface="Calibri" panose="020F0502020204030204" pitchFamily="34" charset="0"/>
            </a:endParaRPr>
          </a:p>
          <a:p>
            <a:pPr marL="914400" lvl="2" indent="0">
              <a:buNone/>
            </a:pPr>
            <a:endParaRPr lang="en-US" altLang="zh-CN" sz="900" b="1" dirty="0">
              <a:latin typeface="Calibri" panose="020F0502020204030204" pitchFamily="34" charset="0"/>
              <a:ea typeface="Calibri" panose="020F0502020204030204" pitchFamily="34" charset="0"/>
              <a:cs typeface="Calibri" panose="020F0502020204030204" pitchFamily="34" charset="0"/>
            </a:endParaRPr>
          </a:p>
        </p:txBody>
      </p:sp>
      <p:grpSp>
        <p:nvGrpSpPr>
          <p:cNvPr id="4" name="组合 3">
            <a:extLst>
              <a:ext uri="{FF2B5EF4-FFF2-40B4-BE49-F238E27FC236}">
                <a16:creationId xmlns:a16="http://schemas.microsoft.com/office/drawing/2014/main" id="{11B03EAF-C352-0C0D-2C57-ACA25821646A}"/>
              </a:ext>
            </a:extLst>
          </p:cNvPr>
          <p:cNvGrpSpPr/>
          <p:nvPr/>
        </p:nvGrpSpPr>
        <p:grpSpPr>
          <a:xfrm>
            <a:off x="6924583" y="1675745"/>
            <a:ext cx="5201847" cy="4246807"/>
            <a:chOff x="1133769" y="3685611"/>
            <a:chExt cx="4022687" cy="3095399"/>
          </a:xfrm>
        </p:grpSpPr>
        <p:pic>
          <p:nvPicPr>
            <p:cNvPr id="3" name="图片 2">
              <a:extLst>
                <a:ext uri="{FF2B5EF4-FFF2-40B4-BE49-F238E27FC236}">
                  <a16:creationId xmlns:a16="http://schemas.microsoft.com/office/drawing/2014/main" id="{D98D941D-3F61-DFBB-501D-05290ED32D4F}"/>
                </a:ext>
              </a:extLst>
            </p:cNvPr>
            <p:cNvPicPr>
              <a:picLocks noChangeAspect="1"/>
            </p:cNvPicPr>
            <p:nvPr/>
          </p:nvPicPr>
          <p:blipFill>
            <a:blip r:embed="rId2"/>
            <a:stretch>
              <a:fillRect/>
            </a:stretch>
          </p:blipFill>
          <p:spPr>
            <a:xfrm>
              <a:off x="1133769" y="3685611"/>
              <a:ext cx="3737779" cy="2695718"/>
            </a:xfrm>
            <a:prstGeom prst="rect">
              <a:avLst/>
            </a:prstGeom>
          </p:spPr>
        </p:pic>
        <p:sp>
          <p:nvSpPr>
            <p:cNvPr id="7" name="文本框 6">
              <a:extLst>
                <a:ext uri="{FF2B5EF4-FFF2-40B4-BE49-F238E27FC236}">
                  <a16:creationId xmlns:a16="http://schemas.microsoft.com/office/drawing/2014/main" id="{F55B81A7-F7DB-6925-BAAA-02644D7FDDB8}"/>
                </a:ext>
              </a:extLst>
            </p:cNvPr>
            <p:cNvSpPr txBox="1"/>
            <p:nvPr/>
          </p:nvSpPr>
          <p:spPr>
            <a:xfrm>
              <a:off x="1259632" y="6534246"/>
              <a:ext cx="3896824" cy="246764"/>
            </a:xfrm>
            <a:prstGeom prst="rect">
              <a:avLst/>
            </a:prstGeom>
            <a:noFill/>
          </p:spPr>
          <p:txBody>
            <a:bodyPr wrap="square" rtlCol="0">
              <a:spAutoFit/>
            </a:bodyPr>
            <a:lstStyle/>
            <a:p>
              <a:pPr algn="ctr"/>
              <a:r>
                <a:rPr lang="zh-CN" altLang="en-US"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图</a:t>
              </a:r>
              <a:r>
                <a:rPr lang="en-US" altLang="zh-CN"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6.64    </a:t>
              </a:r>
              <a:r>
                <a:rPr lang="zh-CN" altLang="en-US"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支持中断的单总线结构计算机框图</a:t>
              </a:r>
            </a:p>
          </p:txBody>
        </p:sp>
      </p:grpSp>
      <p:sp>
        <p:nvSpPr>
          <p:cNvPr id="10" name="矩形 9">
            <a:extLst>
              <a:ext uri="{FF2B5EF4-FFF2-40B4-BE49-F238E27FC236}">
                <a16:creationId xmlns:a16="http://schemas.microsoft.com/office/drawing/2014/main" id="{C74B74F1-B168-40F9-AB1D-FBACB5F0D018}"/>
              </a:ext>
            </a:extLst>
          </p:cNvPr>
          <p:cNvSpPr/>
          <p:nvPr/>
        </p:nvSpPr>
        <p:spPr bwMode="auto">
          <a:xfrm>
            <a:off x="7856738" y="3675355"/>
            <a:ext cx="3725662" cy="1606859"/>
          </a:xfrm>
          <a:prstGeom prst="rect">
            <a:avLst/>
          </a:prstGeom>
          <a:noFill/>
          <a:ln w="38100">
            <a:solidFill>
              <a:srgbClr val="0000FF"/>
            </a:solidFill>
          </a:ln>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sz="800" b="1" dirty="0">
              <a:solidFill>
                <a:schemeClr val="tx1"/>
              </a:solidFill>
            </a:endParaRPr>
          </a:p>
        </p:txBody>
      </p:sp>
      <p:sp>
        <p:nvSpPr>
          <p:cNvPr id="11" name="对话气泡: 圆角矩形 10">
            <a:extLst>
              <a:ext uri="{FF2B5EF4-FFF2-40B4-BE49-F238E27FC236}">
                <a16:creationId xmlns:a16="http://schemas.microsoft.com/office/drawing/2014/main" id="{61CC7C58-3B3C-491D-8160-2E4D15A25AD2}"/>
              </a:ext>
            </a:extLst>
          </p:cNvPr>
          <p:cNvSpPr/>
          <p:nvPr/>
        </p:nvSpPr>
        <p:spPr bwMode="auto">
          <a:xfrm>
            <a:off x="6924583" y="3808522"/>
            <a:ext cx="853267" cy="852256"/>
          </a:xfrm>
          <a:prstGeom prst="wedgeRoundRectCallout">
            <a:avLst>
              <a:gd name="adj1" fmla="val 63971"/>
              <a:gd name="adj2" fmla="val 25000"/>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100" b="1" dirty="0">
                <a:solidFill>
                  <a:srgbClr val="C00000"/>
                </a:solidFill>
              </a:rPr>
              <a:t>数据通路中为支持中断而增加的部分</a:t>
            </a:r>
          </a:p>
        </p:txBody>
      </p:sp>
      <p:sp>
        <p:nvSpPr>
          <p:cNvPr id="12" name="矩形 11">
            <a:extLst>
              <a:ext uri="{FF2B5EF4-FFF2-40B4-BE49-F238E27FC236}">
                <a16:creationId xmlns:a16="http://schemas.microsoft.com/office/drawing/2014/main" id="{222A39CC-CE5F-4A73-B97A-04AEB7BD427A}"/>
              </a:ext>
            </a:extLst>
          </p:cNvPr>
          <p:cNvSpPr/>
          <p:nvPr/>
        </p:nvSpPr>
        <p:spPr bwMode="auto">
          <a:xfrm>
            <a:off x="10813003" y="2041864"/>
            <a:ext cx="701335" cy="257453"/>
          </a:xfrm>
          <a:prstGeom prst="rect">
            <a:avLst/>
          </a:prstGeom>
          <a:noFill/>
          <a:ln w="38100">
            <a:solidFill>
              <a:srgbClr val="0000FF"/>
            </a:solidFill>
          </a:ln>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sz="800" b="1" dirty="0">
              <a:solidFill>
                <a:schemeClr val="tx1"/>
              </a:solidFill>
            </a:endParaRPr>
          </a:p>
        </p:txBody>
      </p:sp>
    </p:spTree>
    <p:extLst>
      <p:ext uri="{BB962C8B-B14F-4D97-AF65-F5344CB8AC3E}">
        <p14:creationId xmlns:p14="http://schemas.microsoft.com/office/powerpoint/2010/main" val="57146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6F6C02-BE7E-4D11-AA24-48BC7E9D5F94}"/>
              </a:ext>
            </a:extLst>
          </p:cNvPr>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6.7 </a:t>
            </a:r>
            <a:r>
              <a:rPr lang="zh-CN" altLang="en-US" dirty="0">
                <a:latin typeface="微软雅黑" panose="020B0503020204020204" pitchFamily="34" charset="-122"/>
                <a:ea typeface="微软雅黑" panose="020B0503020204020204" pitchFamily="34" charset="-122"/>
              </a:rPr>
              <a:t>异常与中断处理</a:t>
            </a:r>
            <a:endParaRPr lang="zh-CN" altLang="en-US" dirty="0"/>
          </a:p>
        </p:txBody>
      </p:sp>
      <p:sp>
        <p:nvSpPr>
          <p:cNvPr id="3" name="内容占位符 2">
            <a:extLst>
              <a:ext uri="{FF2B5EF4-FFF2-40B4-BE49-F238E27FC236}">
                <a16:creationId xmlns:a16="http://schemas.microsoft.com/office/drawing/2014/main" id="{60ECA98C-9120-40B5-A1BA-5363E370B7AE}"/>
              </a:ext>
            </a:extLst>
          </p:cNvPr>
          <p:cNvSpPr>
            <a:spLocks noGrp="1"/>
          </p:cNvSpPr>
          <p:nvPr>
            <p:ph idx="1"/>
          </p:nvPr>
        </p:nvSpPr>
        <p:spPr>
          <a:xfrm>
            <a:off x="457200" y="909676"/>
            <a:ext cx="6494016" cy="5799098"/>
          </a:xfrm>
        </p:spPr>
        <p:txBody>
          <a:bodyPr/>
          <a:lstStyle/>
          <a:p>
            <a:pPr>
              <a:defRPr/>
            </a:pPr>
            <a:r>
              <a:rPr lang="en-US" altLang="zh-CN" b="1" dirty="0">
                <a:latin typeface="Calibri" panose="020F0502020204030204" pitchFamily="34" charset="0"/>
                <a:ea typeface="Calibri" panose="020F0502020204030204" pitchFamily="34" charset="0"/>
                <a:cs typeface="Calibri" panose="020F0502020204030204" pitchFamily="34" charset="0"/>
              </a:rPr>
              <a:t>6.7.4  </a:t>
            </a:r>
            <a:r>
              <a:rPr lang="zh-CN" altLang="en-US" sz="2400" b="1" dirty="0">
                <a:latin typeface="Calibri" panose="020F0502020204030204" pitchFamily="34" charset="0"/>
                <a:ea typeface="微软雅黑" panose="020B0503020204020204" pitchFamily="34" charset="-122"/>
                <a:cs typeface="Calibri" panose="020F0502020204030204" pitchFamily="34" charset="0"/>
              </a:rPr>
              <a:t>支持中断的</a:t>
            </a:r>
            <a:r>
              <a:rPr lang="en-US" altLang="zh-CN" sz="2400" b="1" dirty="0">
                <a:latin typeface="Calibri" panose="020F0502020204030204" pitchFamily="34" charset="0"/>
                <a:ea typeface="Calibri" panose="020F0502020204030204" pitchFamily="34" charset="0"/>
                <a:cs typeface="Calibri" panose="020F0502020204030204" pitchFamily="34" charset="0"/>
              </a:rPr>
              <a:t>CPU</a:t>
            </a:r>
            <a:r>
              <a:rPr lang="zh-CN" altLang="en-US" sz="2400" b="1" dirty="0">
                <a:latin typeface="Calibri" panose="020F0502020204030204" pitchFamily="34" charset="0"/>
                <a:ea typeface="微软雅黑" panose="020B0503020204020204" pitchFamily="34" charset="-122"/>
                <a:cs typeface="Calibri" panose="020F0502020204030204" pitchFamily="34" charset="0"/>
              </a:rPr>
              <a:t>设计（</a:t>
            </a:r>
            <a:r>
              <a:rPr lang="zh-CN" altLang="en-US" sz="2400" b="1" dirty="0">
                <a:highlight>
                  <a:srgbClr val="FFFF00"/>
                </a:highlight>
                <a:latin typeface="Calibri" panose="020F0502020204030204" pitchFamily="34" charset="0"/>
                <a:ea typeface="微软雅黑" panose="020B0503020204020204" pitchFamily="34" charset="-122"/>
                <a:cs typeface="Calibri" panose="020F0502020204030204" pitchFamily="34" charset="0"/>
              </a:rPr>
              <a:t>理论</a:t>
            </a:r>
            <a:r>
              <a:rPr lang="en-US" altLang="zh-CN" sz="2400" b="1" dirty="0">
                <a:highlight>
                  <a:srgbClr val="FFFF00"/>
                </a:highlight>
                <a:latin typeface="Calibri" panose="020F0502020204030204" pitchFamily="34" charset="0"/>
                <a:ea typeface="微软雅黑" panose="020B0503020204020204" pitchFamily="34" charset="-122"/>
                <a:cs typeface="Calibri" panose="020F0502020204030204" pitchFamily="34" charset="0"/>
              </a:rPr>
              <a:t>-&gt;</a:t>
            </a:r>
            <a:r>
              <a:rPr lang="zh-CN" altLang="en-US" sz="2400" b="1" dirty="0">
                <a:highlight>
                  <a:srgbClr val="FFFF00"/>
                </a:highlight>
                <a:latin typeface="Calibri" panose="020F0502020204030204" pitchFamily="34" charset="0"/>
                <a:ea typeface="微软雅黑" panose="020B0503020204020204" pitchFamily="34" charset="-122"/>
                <a:cs typeface="Calibri" panose="020F0502020204030204" pitchFamily="34" charset="0"/>
              </a:rPr>
              <a:t>实践</a:t>
            </a:r>
            <a:r>
              <a:rPr lang="zh-CN" altLang="en-US" sz="2400" b="1" dirty="0">
                <a:latin typeface="Calibri" panose="020F0502020204030204" pitchFamily="34" charset="0"/>
                <a:ea typeface="微软雅黑" panose="020B0503020204020204" pitchFamily="34" charset="-122"/>
                <a:cs typeface="Calibri" panose="020F0502020204030204" pitchFamily="34" charset="0"/>
              </a:rPr>
              <a:t>）</a:t>
            </a:r>
            <a:endParaRPr lang="en-US" altLang="zh-CN" sz="1600" b="1" dirty="0">
              <a:latin typeface="Calibri" panose="020F0502020204030204" pitchFamily="34" charset="0"/>
              <a:ea typeface="Calibri" panose="020F0502020204030204" pitchFamily="34" charset="0"/>
              <a:cs typeface="Calibri" panose="020F0502020204030204" pitchFamily="34" charset="0"/>
            </a:endParaRPr>
          </a:p>
          <a:p>
            <a:pPr marL="628650" lvl="1" indent="0" eaLnBrk="1" hangingPunct="1">
              <a:buNone/>
            </a:pPr>
            <a:endParaRPr lang="en-US" altLang="zh-CN" sz="700" b="1" dirty="0">
              <a:latin typeface="Calibri" panose="020F0502020204030204" pitchFamily="34" charset="0"/>
              <a:ea typeface="Calibri" panose="020F0502020204030204" pitchFamily="34" charset="0"/>
              <a:cs typeface="Calibri" panose="020F0502020204030204" pitchFamily="34" charset="0"/>
            </a:endParaRPr>
          </a:p>
          <a:p>
            <a:pPr lvl="1" eaLnBrk="1" hangingPunct="1">
              <a:buFont typeface="Wingdings" panose="05000000000000000000" pitchFamily="2" charset="2"/>
              <a:buChar char="p"/>
            </a:pPr>
            <a:r>
              <a:rPr lang="zh-CN" altLang="en-US" sz="2200" b="1" dirty="0">
                <a:latin typeface="Calibri" panose="020F0502020204030204" pitchFamily="34" charset="0"/>
                <a:ea typeface="微软雅黑" panose="020B0503020204020204" pitchFamily="34" charset="-122"/>
                <a:cs typeface="Calibri" panose="020F0502020204030204" pitchFamily="34" charset="0"/>
              </a:rPr>
              <a:t>数据通路升级</a:t>
            </a:r>
            <a:endParaRPr lang="en-US" altLang="zh-CN" sz="2200" b="1" dirty="0">
              <a:latin typeface="Calibri" panose="020F0502020204030204" pitchFamily="34" charset="0"/>
              <a:ea typeface="微软雅黑" panose="020B0503020204020204" pitchFamily="34" charset="-122"/>
              <a:cs typeface="Calibri" panose="020F0502020204030204" pitchFamily="34" charset="0"/>
            </a:endParaRPr>
          </a:p>
          <a:p>
            <a:pPr lvl="2" eaLnBrk="1" hangingPunct="1">
              <a:buFont typeface="Wingdings" panose="05000000000000000000" pitchFamily="2" charset="2"/>
              <a:buChar char="n"/>
            </a:pP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针对数据通路增加的部分，需要补充下述控制信号，如表</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6.3</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所示：</a:t>
            </a:r>
            <a:endPar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marL="1616075" lvl="4" eaLnBrk="1" hangingPunct="1">
              <a:buFont typeface="Wingdings" panose="05000000000000000000" pitchFamily="2" charset="2"/>
              <a:buChar char="n"/>
            </a:pPr>
            <a:r>
              <a:rPr lang="en-US" altLang="zh-CN" sz="16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EPC</a:t>
            </a:r>
            <a:r>
              <a:rPr lang="zh-CN" altLang="en-US" sz="16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保存断点</a:t>
            </a:r>
            <a:r>
              <a:rPr lang="zh-CN" altLang="en-US"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，当进入中断响应周期时，需要中断隐指令将断点写入</a:t>
            </a:r>
            <a:r>
              <a:rPr lang="en-US" altLang="zh-CN"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EPC</a:t>
            </a:r>
            <a:r>
              <a:rPr lang="zh-CN" altLang="en-US"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，当中断返回时，需要将其值送入总线，从而保证中断正确的返回。</a:t>
            </a:r>
            <a:endParaRPr lang="en-US" altLang="zh-CN"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marL="1616075" lvl="4" eaLnBrk="1" hangingPunct="1">
              <a:buFont typeface="Wingdings" panose="05000000000000000000" pitchFamily="2" charset="2"/>
              <a:buChar char="n"/>
            </a:pPr>
            <a:r>
              <a:rPr lang="en-US" altLang="zh-CN" sz="16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STI</a:t>
            </a:r>
            <a:r>
              <a:rPr lang="zh-CN" altLang="en-US" sz="16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a:t>
            </a:r>
            <a:r>
              <a:rPr lang="en-US" altLang="zh-CN" sz="16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CLI</a:t>
            </a:r>
            <a:r>
              <a:rPr lang="zh-CN" altLang="en-US" sz="16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用于控制</a:t>
            </a:r>
            <a:r>
              <a:rPr lang="en-US" altLang="zh-CN" sz="16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IE</a:t>
            </a:r>
            <a:r>
              <a:rPr lang="zh-CN" altLang="en-US"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，即是否允许</a:t>
            </a:r>
            <a:r>
              <a:rPr lang="en-US" altLang="zh-CN"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CPU</a:t>
            </a:r>
            <a:r>
              <a:rPr lang="zh-CN" altLang="en-US"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响应中断，其是实现中断现场保护以及中断嵌套的技术保证。</a:t>
            </a:r>
            <a:endParaRPr lang="en-US" altLang="zh-CN"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marL="1616075" lvl="4" eaLnBrk="1" hangingPunct="1">
              <a:buFont typeface="Wingdings" panose="05000000000000000000" pitchFamily="2" charset="2"/>
              <a:buChar char="n"/>
            </a:pPr>
            <a:r>
              <a:rPr lang="en-US" altLang="zh-CN" sz="1600" b="1" dirty="0" err="1">
                <a:solidFill>
                  <a:srgbClr val="C00000"/>
                </a:solidFill>
                <a:latin typeface="Calibri" panose="020F0502020204030204" pitchFamily="34" charset="0"/>
                <a:ea typeface="微软雅黑" panose="020B0503020204020204" pitchFamily="34" charset="-122"/>
                <a:cs typeface="Calibri" panose="020F0502020204030204" pitchFamily="34" charset="0"/>
              </a:rPr>
              <a:t>IntAout</a:t>
            </a:r>
            <a:r>
              <a:rPr lang="zh-CN" altLang="en-US" sz="16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 </a:t>
            </a:r>
            <a:r>
              <a:rPr lang="zh-CN" altLang="en-US"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控制将中断判优胜出的中断源入口地址送入总线，进而送入</a:t>
            </a:r>
            <a:r>
              <a:rPr lang="en-US" altLang="zh-CN"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PC</a:t>
            </a:r>
          </a:p>
          <a:p>
            <a:pPr marL="1616075" lvl="4" eaLnBrk="1" hangingPunct="1">
              <a:buFont typeface="Wingdings" panose="05000000000000000000" pitchFamily="2" charset="2"/>
              <a:buChar char="n"/>
            </a:pPr>
            <a:r>
              <a:rPr lang="en-US" altLang="zh-CN" sz="1600" b="1" dirty="0" err="1">
                <a:solidFill>
                  <a:srgbClr val="C00000"/>
                </a:solidFill>
                <a:latin typeface="Calibri" panose="020F0502020204030204" pitchFamily="34" charset="0"/>
                <a:ea typeface="微软雅黑" panose="020B0503020204020204" pitchFamily="34" charset="-122"/>
                <a:cs typeface="Calibri" panose="020F0502020204030204" pitchFamily="34" charset="0"/>
              </a:rPr>
              <a:t>Ctrlint</a:t>
            </a:r>
            <a:r>
              <a:rPr lang="en-US" altLang="zh-CN"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 </a:t>
            </a:r>
            <a:r>
              <a:rPr lang="zh-CN" altLang="en-US"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用于清除当前正在响应的中断请求，从而允许新的中断请求发出</a:t>
            </a:r>
            <a:endParaRPr lang="en-US" altLang="zh-CN"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marL="1387475" lvl="4" indent="0" eaLnBrk="1" hangingPunct="1">
              <a:buNone/>
            </a:pPr>
            <a:endParaRPr lang="en-US" altLang="zh-CN" sz="1600" b="1" dirty="0">
              <a:latin typeface="Calibri" panose="020F0502020204030204" pitchFamily="34" charset="0"/>
              <a:ea typeface="Calibri" panose="020F0502020204030204" pitchFamily="34" charset="0"/>
              <a:cs typeface="Calibri" panose="020F0502020204030204" pitchFamily="34" charset="0"/>
            </a:endParaRPr>
          </a:p>
          <a:p>
            <a:pPr marL="571500" lvl="2" indent="0" eaLnBrk="1" hangingPunct="1">
              <a:buNone/>
            </a:pPr>
            <a:r>
              <a:rPr lang="zh-CN" altLang="en-US" sz="1600" b="1" dirty="0">
                <a:solidFill>
                  <a:srgbClr val="C00000"/>
                </a:solidFill>
                <a:highlight>
                  <a:srgbClr val="FFFFFF"/>
                </a:highlight>
                <a:latin typeface="Calibri" panose="020F0502020204030204" pitchFamily="34" charset="0"/>
                <a:ea typeface="Calibri" panose="020F0502020204030204" pitchFamily="34" charset="0"/>
                <a:cs typeface="Calibri" panose="020F0502020204030204" pitchFamily="34" charset="0"/>
              </a:rPr>
              <a:t>启发</a:t>
            </a:r>
            <a:r>
              <a:rPr lang="zh-CN" altLang="en-US" sz="1600" b="1" dirty="0">
                <a:latin typeface="Calibri" panose="020F0502020204030204" pitchFamily="34" charset="0"/>
                <a:ea typeface="Calibri" panose="020F0502020204030204" pitchFamily="34" charset="0"/>
                <a:cs typeface="Calibri" panose="020F0502020204030204" pitchFamily="34" charset="0"/>
              </a:rPr>
              <a:t>：</a:t>
            </a:r>
            <a:r>
              <a:rPr lang="zh-CN" altLang="en-US"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每个控制信号的设计都以是否能支持中断顺利完成为目的，</a:t>
            </a:r>
            <a:r>
              <a:rPr lang="zh-CN" altLang="en-US" sz="16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存在即合理</a:t>
            </a:r>
            <a:r>
              <a:rPr lang="zh-CN" altLang="en-US"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endParaRPr lang="en-US" altLang="zh-CN"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marL="571500" lvl="2" indent="0" eaLnBrk="1" hangingPunct="1">
              <a:buNone/>
            </a:pPr>
            <a:r>
              <a:rPr lang="en-US" altLang="zh-CN"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       </a:t>
            </a:r>
            <a:r>
              <a:rPr lang="zh-CN" altLang="en-US"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比如：</a:t>
            </a:r>
            <a:r>
              <a:rPr lang="en-US" altLang="zh-CN" sz="1600" b="1" dirty="0" err="1">
                <a:solidFill>
                  <a:srgbClr val="C00000"/>
                </a:solidFill>
                <a:latin typeface="Calibri" panose="020F0502020204030204" pitchFamily="34" charset="0"/>
                <a:ea typeface="微软雅黑" panose="020B0503020204020204" pitchFamily="34" charset="-122"/>
                <a:cs typeface="Calibri" panose="020F0502020204030204" pitchFamily="34" charset="0"/>
              </a:rPr>
              <a:t>Ctrlint</a:t>
            </a:r>
            <a:r>
              <a:rPr lang="zh-CN" altLang="en-US"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信号。若没有该信号，</a:t>
            </a:r>
            <a:r>
              <a:rPr lang="en-US" altLang="zh-CN"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CPU</a:t>
            </a:r>
            <a:r>
              <a:rPr lang="zh-CN" altLang="en-US"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就无法响应新的中断请求，这是严重的</a:t>
            </a:r>
            <a:r>
              <a:rPr lang="en-US" altLang="zh-CN"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bug</a:t>
            </a:r>
            <a:r>
              <a:rPr lang="zh-CN" altLang="en-US"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。通过该案例，引导我们在设计</a:t>
            </a:r>
            <a:r>
              <a:rPr lang="en-US" altLang="zh-CN"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CPU</a:t>
            </a:r>
            <a:r>
              <a:rPr lang="zh-CN" altLang="en-US" sz="16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时，要秉承科学的严谨性</a:t>
            </a:r>
            <a:r>
              <a:rPr lang="zh-CN" altLang="en-US" sz="1600" b="1" dirty="0">
                <a:solidFill>
                  <a:srgbClr val="274FA2"/>
                </a:solidFill>
                <a:latin typeface="Calibri" panose="020F0502020204030204" pitchFamily="34" charset="0"/>
                <a:ea typeface="Calibri" panose="020F0502020204030204" pitchFamily="34" charset="0"/>
                <a:cs typeface="Calibri" panose="020F0502020204030204" pitchFamily="34" charset="0"/>
              </a:rPr>
              <a:t>。</a:t>
            </a:r>
            <a:endParaRPr lang="en-US" altLang="zh-CN" sz="1600" b="1" dirty="0">
              <a:solidFill>
                <a:srgbClr val="274FA2"/>
              </a:solidFill>
              <a:latin typeface="Calibri" panose="020F0502020204030204" pitchFamily="34" charset="0"/>
              <a:ea typeface="Calibri" panose="020F0502020204030204" pitchFamily="34" charset="0"/>
              <a:cs typeface="Calibri" panose="020F0502020204030204" pitchFamily="34" charset="0"/>
            </a:endParaRPr>
          </a:p>
          <a:p>
            <a:pPr lvl="3" eaLnBrk="1" hangingPunct="1">
              <a:buFont typeface="Wingdings" panose="05000000000000000000" pitchFamily="2" charset="2"/>
              <a:buChar char="n"/>
            </a:pPr>
            <a:endParaRPr lang="en-US" altLang="zh-CN" sz="1800" b="1" dirty="0">
              <a:solidFill>
                <a:srgbClr val="274FA2"/>
              </a:solidFill>
              <a:latin typeface="Calibri" panose="020F0502020204030204" pitchFamily="34" charset="0"/>
              <a:ea typeface="Calibri" panose="020F0502020204030204" pitchFamily="34" charset="0"/>
              <a:cs typeface="Calibri" panose="020F0502020204030204" pitchFamily="34" charset="0"/>
            </a:endParaRPr>
          </a:p>
          <a:p>
            <a:pPr lvl="3" eaLnBrk="1" hangingPunct="1">
              <a:buFont typeface="Wingdings" panose="05000000000000000000" pitchFamily="2" charset="2"/>
              <a:buChar char="n"/>
            </a:pPr>
            <a:endParaRPr lang="en-US" altLang="zh-CN" sz="1800" b="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altLang="zh-CN" dirty="0"/>
          </a:p>
          <a:p>
            <a:endParaRPr lang="zh-CN" altLang="en-US" dirty="0"/>
          </a:p>
        </p:txBody>
      </p:sp>
      <p:grpSp>
        <p:nvGrpSpPr>
          <p:cNvPr id="4" name="组合 3">
            <a:extLst>
              <a:ext uri="{FF2B5EF4-FFF2-40B4-BE49-F238E27FC236}">
                <a16:creationId xmlns:a16="http://schemas.microsoft.com/office/drawing/2014/main" id="{9368B8C4-6E44-4840-8805-A1A78F8E30A6}"/>
              </a:ext>
            </a:extLst>
          </p:cNvPr>
          <p:cNvGrpSpPr/>
          <p:nvPr/>
        </p:nvGrpSpPr>
        <p:grpSpPr>
          <a:xfrm>
            <a:off x="6804736" y="1530826"/>
            <a:ext cx="4930064" cy="2676693"/>
            <a:chOff x="4304572" y="3777845"/>
            <a:chExt cx="3896824" cy="2322825"/>
          </a:xfrm>
        </p:grpSpPr>
        <p:graphicFrame>
          <p:nvGraphicFramePr>
            <p:cNvPr id="5" name="表格 4">
              <a:extLst>
                <a:ext uri="{FF2B5EF4-FFF2-40B4-BE49-F238E27FC236}">
                  <a16:creationId xmlns:a16="http://schemas.microsoft.com/office/drawing/2014/main" id="{AECD3203-B8BF-4FC4-8D63-05C8184F9E11}"/>
                </a:ext>
              </a:extLst>
            </p:cNvPr>
            <p:cNvGraphicFramePr>
              <a:graphicFrameLocks/>
            </p:cNvGraphicFramePr>
            <p:nvPr>
              <p:extLst>
                <p:ext uri="{D42A27DB-BD31-4B8C-83A1-F6EECF244321}">
                  <p14:modId xmlns:p14="http://schemas.microsoft.com/office/powerpoint/2010/main" val="4003873236"/>
                </p:ext>
              </p:extLst>
            </p:nvPr>
          </p:nvGraphicFramePr>
          <p:xfrm>
            <a:off x="4753093" y="4073489"/>
            <a:ext cx="3248914" cy="2027181"/>
          </p:xfrm>
          <a:graphic>
            <a:graphicData uri="http://schemas.openxmlformats.org/drawingml/2006/table">
              <a:tbl>
                <a:tblPr firstRow="1" bandRow="1">
                  <a:tableStyleId>{21E4AEA4-8DFA-4A89-87EB-49C32662AFE0}</a:tableStyleId>
                </a:tblPr>
                <a:tblGrid>
                  <a:gridCol w="576000">
                    <a:extLst>
                      <a:ext uri="{9D8B030D-6E8A-4147-A177-3AD203B41FA5}">
                        <a16:colId xmlns:a16="http://schemas.microsoft.com/office/drawing/2014/main" val="3061639222"/>
                      </a:ext>
                    </a:extLst>
                  </a:gridCol>
                  <a:gridCol w="838486">
                    <a:extLst>
                      <a:ext uri="{9D8B030D-6E8A-4147-A177-3AD203B41FA5}">
                        <a16:colId xmlns:a16="http://schemas.microsoft.com/office/drawing/2014/main" val="3562933882"/>
                      </a:ext>
                    </a:extLst>
                  </a:gridCol>
                  <a:gridCol w="2695875">
                    <a:extLst>
                      <a:ext uri="{9D8B030D-6E8A-4147-A177-3AD203B41FA5}">
                        <a16:colId xmlns:a16="http://schemas.microsoft.com/office/drawing/2014/main" val="2200243117"/>
                      </a:ext>
                    </a:extLst>
                  </a:gridCol>
                </a:tblGrid>
                <a:tr h="330598">
                  <a:tc>
                    <a:txBody>
                      <a:bodyPr/>
                      <a:lstStyle/>
                      <a:p>
                        <a:pPr algn="ctr"/>
                        <a:r>
                          <a:rPr lang="zh-CN" altLang="en-US" sz="1000" dirty="0"/>
                          <a:t>序号</a:t>
                        </a:r>
                        <a:endParaRPr lang="zh-CN" altLang="en-US" sz="1000" b="1" dirty="0"/>
                      </a:p>
                    </a:txBody>
                    <a:tcPr anchor="ctr"/>
                  </a:tc>
                  <a:tc>
                    <a:txBody>
                      <a:bodyPr/>
                      <a:lstStyle/>
                      <a:p>
                        <a:pPr algn="ctr"/>
                        <a:r>
                          <a:rPr lang="zh-CN" altLang="en-US" sz="1000" dirty="0"/>
                          <a:t>控制信号</a:t>
                        </a:r>
                        <a:endParaRPr lang="zh-CN" altLang="en-US" sz="1000" b="1" dirty="0"/>
                      </a:p>
                    </a:txBody>
                    <a:tcPr anchor="ctr"/>
                  </a:tc>
                  <a:tc>
                    <a:txBody>
                      <a:bodyPr/>
                      <a:lstStyle/>
                      <a:p>
                        <a:pPr algn="ctr"/>
                        <a:r>
                          <a:rPr lang="zh-CN" altLang="en-US" sz="1000" dirty="0"/>
                          <a:t>作用说明</a:t>
                        </a:r>
                        <a:endParaRPr lang="zh-CN" altLang="en-US" sz="1000" b="1" dirty="0"/>
                      </a:p>
                    </a:txBody>
                    <a:tcPr anchor="ctr"/>
                  </a:tc>
                  <a:extLst>
                    <a:ext uri="{0D108BD9-81ED-4DB2-BD59-A6C34878D82A}">
                      <a16:rowId xmlns:a16="http://schemas.microsoft.com/office/drawing/2014/main" val="3914967767"/>
                    </a:ext>
                  </a:extLst>
                </a:tr>
                <a:tr h="420106">
                  <a:tc>
                    <a:txBody>
                      <a:bodyPr/>
                      <a:lstStyle/>
                      <a:p>
                        <a:pPr algn="ctr"/>
                        <a:r>
                          <a:rPr lang="en-US" altLang="zh-CN" sz="1000" b="1" dirty="0"/>
                          <a:t>1</a:t>
                        </a:r>
                        <a:endParaRPr lang="zh-CN" altLang="en-US" sz="1000" b="1" dirty="0"/>
                      </a:p>
                    </a:txBody>
                    <a:tcPr anchor="ctr"/>
                  </a:tc>
                  <a:tc>
                    <a:txBody>
                      <a:bodyPr/>
                      <a:lstStyle/>
                      <a:p>
                        <a:r>
                          <a:rPr lang="en-US" altLang="zh-CN" sz="1000" b="1" dirty="0" err="1"/>
                          <a:t>EPC</a:t>
                        </a:r>
                        <a:r>
                          <a:rPr lang="en-US" altLang="zh-CN" sz="1000" b="1" baseline="-25000" dirty="0" err="1"/>
                          <a:t>in</a:t>
                        </a:r>
                        <a:endParaRPr lang="zh-CN" altLang="en-US" sz="1000" b="1" baseline="-25000" dirty="0"/>
                      </a:p>
                    </a:txBody>
                    <a:tcPr anchor="ctr"/>
                  </a:tc>
                  <a:tc>
                    <a:txBody>
                      <a:bodyPr/>
                      <a:lstStyle/>
                      <a:p>
                        <a:r>
                          <a:rPr lang="zh-CN" altLang="en-US" sz="1050" b="1" dirty="0">
                            <a:highlight>
                              <a:srgbClr val="FFFF00"/>
                            </a:highlight>
                          </a:rPr>
                          <a:t>控制</a:t>
                        </a:r>
                        <a:r>
                          <a:rPr lang="en-US" altLang="zh-CN" sz="1000" b="1" dirty="0">
                            <a:highlight>
                              <a:srgbClr val="FFFF00"/>
                            </a:highlight>
                          </a:rPr>
                          <a:t>EPC</a:t>
                        </a:r>
                        <a:r>
                          <a:rPr lang="zh-CN" altLang="en-US" sz="1000" b="1" dirty="0">
                            <a:highlight>
                              <a:srgbClr val="FFFF00"/>
                            </a:highlight>
                          </a:rPr>
                          <a:t>接收来自内总线的数据，需配合时钟控制</a:t>
                        </a:r>
                      </a:p>
                    </a:txBody>
                    <a:tcPr anchor="ctr"/>
                  </a:tc>
                  <a:extLst>
                    <a:ext uri="{0D108BD9-81ED-4DB2-BD59-A6C34878D82A}">
                      <a16:rowId xmlns:a16="http://schemas.microsoft.com/office/drawing/2014/main" val="985981060"/>
                    </a:ext>
                  </a:extLst>
                </a:tr>
                <a:tr h="253649">
                  <a:tc>
                    <a:txBody>
                      <a:bodyPr/>
                      <a:lstStyle/>
                      <a:p>
                        <a:pPr algn="ctr"/>
                        <a:r>
                          <a:rPr lang="en-US" altLang="zh-CN" sz="1000" b="1" dirty="0"/>
                          <a:t>2</a:t>
                        </a:r>
                        <a:endParaRPr lang="zh-CN" altLang="en-US" sz="1000" b="1" dirty="0"/>
                      </a:p>
                    </a:txBody>
                    <a:tcPr anchor="ctr"/>
                  </a:tc>
                  <a:tc>
                    <a:txBody>
                      <a:bodyPr/>
                      <a:lstStyle/>
                      <a:p>
                        <a:r>
                          <a:rPr lang="en-US" altLang="zh-CN" sz="1000" b="1" dirty="0" err="1"/>
                          <a:t>EPC</a:t>
                        </a:r>
                        <a:r>
                          <a:rPr lang="en-US" altLang="zh-CN" sz="1000" b="1" baseline="-25000" dirty="0" err="1"/>
                          <a:t>out</a:t>
                        </a:r>
                        <a:endParaRPr lang="zh-CN" altLang="en-US" sz="1000" b="1" dirty="0"/>
                      </a:p>
                    </a:txBody>
                    <a:tcPr anchor="ctr"/>
                  </a:tc>
                  <a:tc>
                    <a:txBody>
                      <a:bodyPr/>
                      <a:lstStyle/>
                      <a:p>
                        <a:r>
                          <a:rPr lang="zh-CN" altLang="en-US" sz="1000" b="1" dirty="0">
                            <a:highlight>
                              <a:srgbClr val="FFFF00"/>
                            </a:highlight>
                          </a:rPr>
                          <a:t>控制</a:t>
                        </a:r>
                        <a:r>
                          <a:rPr lang="en-US" altLang="zh-CN" sz="1000" b="1" dirty="0">
                            <a:highlight>
                              <a:srgbClr val="FFFF00"/>
                            </a:highlight>
                          </a:rPr>
                          <a:t>EPC</a:t>
                        </a:r>
                        <a:r>
                          <a:rPr lang="zh-CN" altLang="en-US" sz="1000" b="1" dirty="0">
                            <a:highlight>
                              <a:srgbClr val="FFFF00"/>
                            </a:highlight>
                          </a:rPr>
                          <a:t>向内总线输出数据</a:t>
                        </a:r>
                      </a:p>
                    </a:txBody>
                    <a:tcPr anchor="ctr"/>
                  </a:tc>
                  <a:extLst>
                    <a:ext uri="{0D108BD9-81ED-4DB2-BD59-A6C34878D82A}">
                      <a16:rowId xmlns:a16="http://schemas.microsoft.com/office/drawing/2014/main" val="3622888656"/>
                    </a:ext>
                  </a:extLst>
                </a:tr>
                <a:tr h="412179">
                  <a:tc>
                    <a:txBody>
                      <a:bodyPr/>
                      <a:lstStyle/>
                      <a:p>
                        <a:pPr algn="ctr"/>
                        <a:r>
                          <a:rPr lang="en-US" altLang="zh-CN" sz="1000" b="1" dirty="0"/>
                          <a:t>3</a:t>
                        </a:r>
                        <a:endParaRPr lang="zh-CN" altLang="en-US" sz="1000" b="1" dirty="0"/>
                      </a:p>
                    </a:txBody>
                    <a:tcPr anchor="ctr"/>
                  </a:tc>
                  <a:tc>
                    <a:txBody>
                      <a:bodyPr/>
                      <a:lstStyle/>
                      <a:p>
                        <a:r>
                          <a:rPr lang="en-US" altLang="zh-CN" sz="1000" b="1" dirty="0"/>
                          <a:t>STI</a:t>
                        </a:r>
                        <a:endParaRPr lang="zh-CN" altLang="en-US" sz="1000" b="1" dirty="0"/>
                      </a:p>
                    </a:txBody>
                    <a:tcPr anchor="ctr"/>
                  </a:tc>
                  <a:tc>
                    <a:txBody>
                      <a:bodyPr/>
                      <a:lstStyle/>
                      <a:p>
                        <a:r>
                          <a:rPr lang="zh-CN" altLang="en-US" sz="1000" b="1" dirty="0"/>
                          <a:t>开中断，将中断使能寄存器置</a:t>
                        </a:r>
                        <a:r>
                          <a:rPr lang="en-US" altLang="zh-CN" sz="1000" b="1" dirty="0"/>
                          <a:t>1</a:t>
                        </a:r>
                        <a:r>
                          <a:rPr lang="zh-CN" altLang="en-US" sz="1000" b="1" dirty="0"/>
                          <a:t>，操作控制器可以接收中断请求</a:t>
                        </a:r>
                      </a:p>
                    </a:txBody>
                    <a:tcPr anchor="ctr"/>
                  </a:tc>
                  <a:extLst>
                    <a:ext uri="{0D108BD9-81ED-4DB2-BD59-A6C34878D82A}">
                      <a16:rowId xmlns:a16="http://schemas.microsoft.com/office/drawing/2014/main" val="4087626707"/>
                    </a:ext>
                  </a:extLst>
                </a:tr>
                <a:tr h="412179">
                  <a:tc>
                    <a:txBody>
                      <a:bodyPr/>
                      <a:lstStyle/>
                      <a:p>
                        <a:pPr algn="ctr"/>
                        <a:r>
                          <a:rPr lang="en-US" altLang="zh-CN" sz="1000" b="1" dirty="0"/>
                          <a:t>4</a:t>
                        </a:r>
                        <a:endParaRPr lang="zh-CN" altLang="en-US" sz="1000" b="1" dirty="0"/>
                      </a:p>
                    </a:txBody>
                    <a:tcPr anchor="ctr"/>
                  </a:tc>
                  <a:tc>
                    <a:txBody>
                      <a:bodyPr/>
                      <a:lstStyle/>
                      <a:p>
                        <a:r>
                          <a:rPr lang="en-US" altLang="zh-CN" sz="1000" b="1" dirty="0"/>
                          <a:t>CLI</a:t>
                        </a:r>
                        <a:endParaRPr lang="zh-CN" altLang="en-US" sz="1000" b="1" dirty="0"/>
                      </a:p>
                    </a:txBody>
                    <a:tcPr anchor="ctr"/>
                  </a:tc>
                  <a:tc>
                    <a:txBody>
                      <a:bodyPr/>
                      <a:lstStyle/>
                      <a:p>
                        <a:r>
                          <a:rPr lang="zh-CN" altLang="en-US" sz="1000" b="1" dirty="0"/>
                          <a:t>关中断，将中断使能寄存器置</a:t>
                        </a:r>
                        <a:r>
                          <a:rPr lang="en-US" altLang="zh-CN" sz="1000" b="1" dirty="0"/>
                          <a:t>0</a:t>
                        </a:r>
                        <a:r>
                          <a:rPr lang="zh-CN" altLang="en-US" sz="1000" b="1" dirty="0"/>
                          <a:t>，操作控制器可以接收不到任何中断请求</a:t>
                        </a:r>
                      </a:p>
                    </a:txBody>
                    <a:tcPr anchor="ctr"/>
                  </a:tc>
                  <a:extLst>
                    <a:ext uri="{0D108BD9-81ED-4DB2-BD59-A6C34878D82A}">
                      <a16:rowId xmlns:a16="http://schemas.microsoft.com/office/drawing/2014/main" val="3428674534"/>
                    </a:ext>
                  </a:extLst>
                </a:tr>
                <a:tr h="253649">
                  <a:tc>
                    <a:txBody>
                      <a:bodyPr/>
                      <a:lstStyle/>
                      <a:p>
                        <a:pPr algn="ctr"/>
                        <a:r>
                          <a:rPr lang="en-US" altLang="zh-CN" sz="1000" b="1" dirty="0"/>
                          <a:t>5</a:t>
                        </a:r>
                        <a:endParaRPr lang="zh-CN" altLang="en-US" sz="1000" b="1" dirty="0"/>
                      </a:p>
                    </a:txBody>
                    <a:tcPr anchor="ctr"/>
                  </a:tc>
                  <a:tc>
                    <a:txBody>
                      <a:bodyPr/>
                      <a:lstStyle/>
                      <a:p>
                        <a:r>
                          <a:rPr lang="en-US" altLang="zh-CN" sz="1000" b="1" dirty="0" err="1"/>
                          <a:t>IntA</a:t>
                        </a:r>
                        <a:r>
                          <a:rPr lang="en-US" altLang="zh-CN" sz="1000" b="1" baseline="-25000" dirty="0" err="1"/>
                          <a:t>out</a:t>
                        </a:r>
                        <a:endParaRPr lang="zh-CN" altLang="en-US" sz="1000" b="1" dirty="0"/>
                      </a:p>
                    </a:txBody>
                    <a:tcPr anchor="ctr"/>
                  </a:tc>
                  <a:tc>
                    <a:txBody>
                      <a:bodyPr/>
                      <a:lstStyle/>
                      <a:p>
                        <a:r>
                          <a:rPr lang="zh-CN" altLang="en-US" sz="1000" b="1" dirty="0"/>
                          <a:t>将中断服务程序入口地址输出到内总线</a:t>
                        </a:r>
                      </a:p>
                    </a:txBody>
                    <a:tcPr anchor="ctr"/>
                  </a:tc>
                  <a:extLst>
                    <a:ext uri="{0D108BD9-81ED-4DB2-BD59-A6C34878D82A}">
                      <a16:rowId xmlns:a16="http://schemas.microsoft.com/office/drawing/2014/main" val="2272905445"/>
                    </a:ext>
                  </a:extLst>
                </a:tr>
                <a:tr h="253649">
                  <a:tc>
                    <a:txBody>
                      <a:bodyPr/>
                      <a:lstStyle/>
                      <a:p>
                        <a:pPr algn="ctr"/>
                        <a:r>
                          <a:rPr lang="en-US" altLang="zh-CN" sz="1000" b="1" dirty="0"/>
                          <a:t>6</a:t>
                        </a:r>
                        <a:endParaRPr lang="zh-CN" altLang="en-US" sz="1000" b="1" dirty="0"/>
                      </a:p>
                    </a:txBody>
                    <a:tcPr anchor="ctr"/>
                  </a:tc>
                  <a:tc>
                    <a:txBody>
                      <a:bodyPr/>
                      <a:lstStyle/>
                      <a:p>
                        <a:r>
                          <a:rPr lang="en-US" altLang="zh-CN" sz="1000" b="1" dirty="0" err="1"/>
                          <a:t>CtrlInt</a:t>
                        </a:r>
                        <a:endParaRPr lang="zh-CN" altLang="en-US" sz="1000" b="1" dirty="0"/>
                      </a:p>
                    </a:txBody>
                    <a:tcPr anchor="ctr"/>
                  </a:tc>
                  <a:tc>
                    <a:txBody>
                      <a:bodyPr/>
                      <a:lstStyle/>
                      <a:p>
                        <a:r>
                          <a:rPr lang="zh-CN" altLang="en-US" sz="1000" b="1" dirty="0"/>
                          <a:t>清除当前正在响应的中断请求</a:t>
                        </a:r>
                      </a:p>
                    </a:txBody>
                    <a:tcPr anchor="ctr"/>
                  </a:tc>
                  <a:extLst>
                    <a:ext uri="{0D108BD9-81ED-4DB2-BD59-A6C34878D82A}">
                      <a16:rowId xmlns:a16="http://schemas.microsoft.com/office/drawing/2014/main" val="2685363276"/>
                    </a:ext>
                  </a:extLst>
                </a:tr>
              </a:tbl>
            </a:graphicData>
          </a:graphic>
        </p:graphicFrame>
        <p:sp>
          <p:nvSpPr>
            <p:cNvPr id="6" name="文本框 5">
              <a:extLst>
                <a:ext uri="{FF2B5EF4-FFF2-40B4-BE49-F238E27FC236}">
                  <a16:creationId xmlns:a16="http://schemas.microsoft.com/office/drawing/2014/main" id="{98D5C187-7A81-422E-AD69-E0807859E6BF}"/>
                </a:ext>
              </a:extLst>
            </p:cNvPr>
            <p:cNvSpPr txBox="1"/>
            <p:nvPr/>
          </p:nvSpPr>
          <p:spPr>
            <a:xfrm>
              <a:off x="4304572" y="3777845"/>
              <a:ext cx="3896824" cy="267088"/>
            </a:xfrm>
            <a:prstGeom prst="rect">
              <a:avLst/>
            </a:prstGeom>
            <a:noFill/>
          </p:spPr>
          <p:txBody>
            <a:bodyPr wrap="square" rtlCol="0">
              <a:spAutoFit/>
            </a:bodyPr>
            <a:lstStyle/>
            <a:p>
              <a:pPr algn="ctr"/>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表</a:t>
              </a:r>
              <a:r>
                <a:rPr lang="en-US" altLang="zh-CN" b="1" dirty="0">
                  <a:solidFill>
                    <a:srgbClr val="133984"/>
                  </a:solidFill>
                  <a:latin typeface="Calibri" panose="020F0502020204030204" pitchFamily="34" charset="0"/>
                  <a:ea typeface="微软雅黑" panose="020B0503020204020204" pitchFamily="34" charset="-122"/>
                  <a:cs typeface="Calibri" panose="020F0502020204030204" pitchFamily="34" charset="0"/>
                </a:rPr>
                <a:t>6.3   </a:t>
              </a:r>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中断控制信号及其作用</a:t>
              </a:r>
            </a:p>
          </p:txBody>
        </p:sp>
      </p:grpSp>
      <p:pic>
        <p:nvPicPr>
          <p:cNvPr id="7" name="图片 6">
            <a:extLst>
              <a:ext uri="{FF2B5EF4-FFF2-40B4-BE49-F238E27FC236}">
                <a16:creationId xmlns:a16="http://schemas.microsoft.com/office/drawing/2014/main" id="{550A11FD-D359-4A58-901B-1C8C74A3D844}"/>
              </a:ext>
            </a:extLst>
          </p:cNvPr>
          <p:cNvPicPr>
            <a:picLocks noChangeAspect="1"/>
          </p:cNvPicPr>
          <p:nvPr/>
        </p:nvPicPr>
        <p:blipFill>
          <a:blip r:embed="rId3"/>
          <a:stretch>
            <a:fillRect/>
          </a:stretch>
        </p:blipFill>
        <p:spPr>
          <a:xfrm>
            <a:off x="7802703" y="4456590"/>
            <a:ext cx="3491367" cy="1504477"/>
          </a:xfrm>
          <a:prstGeom prst="rect">
            <a:avLst/>
          </a:prstGeom>
        </p:spPr>
      </p:pic>
      <p:sp>
        <p:nvSpPr>
          <p:cNvPr id="8" name="对话气泡: 圆角矩形 7">
            <a:extLst>
              <a:ext uri="{FF2B5EF4-FFF2-40B4-BE49-F238E27FC236}">
                <a16:creationId xmlns:a16="http://schemas.microsoft.com/office/drawing/2014/main" id="{F5344EB1-F1F0-438A-8D1E-AE59D6108803}"/>
              </a:ext>
            </a:extLst>
          </p:cNvPr>
          <p:cNvSpPr/>
          <p:nvPr/>
        </p:nvSpPr>
        <p:spPr bwMode="auto">
          <a:xfrm>
            <a:off x="908250" y="3904483"/>
            <a:ext cx="853267" cy="852256"/>
          </a:xfrm>
          <a:prstGeom prst="wedgeRoundRectCallout">
            <a:avLst>
              <a:gd name="adj1" fmla="val 63971"/>
              <a:gd name="adj2" fmla="val 25000"/>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100" b="1" dirty="0">
                <a:solidFill>
                  <a:srgbClr val="C00000"/>
                </a:solidFill>
              </a:rPr>
              <a:t>思考</a:t>
            </a:r>
            <a:r>
              <a:rPr lang="en-US" altLang="zh-CN" sz="1100" b="1" dirty="0" err="1">
                <a:solidFill>
                  <a:srgbClr val="C00000"/>
                </a:solidFill>
              </a:rPr>
              <a:t>CtrlInt</a:t>
            </a:r>
            <a:r>
              <a:rPr lang="zh-CN" altLang="en-US" sz="1100" b="1" dirty="0">
                <a:solidFill>
                  <a:srgbClr val="C00000"/>
                </a:solidFill>
              </a:rPr>
              <a:t>的必要性</a:t>
            </a:r>
          </a:p>
        </p:txBody>
      </p:sp>
    </p:spTree>
    <p:extLst>
      <p:ext uri="{BB962C8B-B14F-4D97-AF65-F5344CB8AC3E}">
        <p14:creationId xmlns:p14="http://schemas.microsoft.com/office/powerpoint/2010/main" val="20802804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5FD01D-7E1F-47E7-BF4A-9164629B0091}"/>
              </a:ext>
            </a:extLst>
          </p:cNvPr>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6.7 </a:t>
            </a:r>
            <a:r>
              <a:rPr lang="zh-CN" altLang="en-US" dirty="0">
                <a:latin typeface="微软雅黑" panose="020B0503020204020204" pitchFamily="34" charset="-122"/>
                <a:ea typeface="微软雅黑" panose="020B0503020204020204" pitchFamily="34" charset="-122"/>
              </a:rPr>
              <a:t>异常与中断处理</a:t>
            </a:r>
            <a:endParaRPr lang="zh-CN" altLang="en-US" dirty="0"/>
          </a:p>
        </p:txBody>
      </p:sp>
      <p:sp>
        <p:nvSpPr>
          <p:cNvPr id="3" name="内容占位符 2">
            <a:extLst>
              <a:ext uri="{FF2B5EF4-FFF2-40B4-BE49-F238E27FC236}">
                <a16:creationId xmlns:a16="http://schemas.microsoft.com/office/drawing/2014/main" id="{90CD586B-27E0-4F43-9F5A-7CBA67860A85}"/>
              </a:ext>
            </a:extLst>
          </p:cNvPr>
          <p:cNvSpPr>
            <a:spLocks noGrp="1"/>
          </p:cNvSpPr>
          <p:nvPr>
            <p:ph idx="1"/>
          </p:nvPr>
        </p:nvSpPr>
        <p:spPr>
          <a:xfrm>
            <a:off x="520823" y="1051719"/>
            <a:ext cx="10522315" cy="5535512"/>
          </a:xfrm>
        </p:spPr>
        <p:txBody>
          <a:bodyPr/>
          <a:lstStyle/>
          <a:p>
            <a:r>
              <a:rPr lang="en-US" altLang="zh-CN" b="1" dirty="0">
                <a:latin typeface="Calibri" panose="020F0502020204030204" pitchFamily="34" charset="0"/>
                <a:ea typeface="Calibri" panose="020F0502020204030204" pitchFamily="34" charset="0"/>
                <a:cs typeface="Calibri" panose="020F0502020204030204" pitchFamily="34" charset="0"/>
              </a:rPr>
              <a:t>6.7.4  </a:t>
            </a:r>
            <a:r>
              <a:rPr lang="zh-CN" altLang="en-US" b="1" dirty="0">
                <a:latin typeface="Calibri" panose="020F0502020204030204" pitchFamily="34" charset="0"/>
                <a:ea typeface="微软雅黑" panose="020B0503020204020204" pitchFamily="34" charset="-122"/>
                <a:cs typeface="Calibri" panose="020F0502020204030204" pitchFamily="34" charset="0"/>
              </a:rPr>
              <a:t>支持中断的</a:t>
            </a:r>
            <a:r>
              <a:rPr lang="en-US" altLang="zh-CN" b="1" dirty="0">
                <a:latin typeface="Calibri" panose="020F0502020204030204" pitchFamily="34" charset="0"/>
                <a:ea typeface="Calibri" panose="020F0502020204030204" pitchFamily="34" charset="0"/>
                <a:cs typeface="Calibri" panose="020F0502020204030204" pitchFamily="34" charset="0"/>
              </a:rPr>
              <a:t>CPU</a:t>
            </a:r>
            <a:r>
              <a:rPr lang="zh-CN" altLang="en-US" b="1" dirty="0">
                <a:latin typeface="Calibri" panose="020F0502020204030204" pitchFamily="34" charset="0"/>
                <a:ea typeface="微软雅黑" panose="020B0503020204020204" pitchFamily="34" charset="-122"/>
                <a:cs typeface="Calibri" panose="020F0502020204030204" pitchFamily="34" charset="0"/>
              </a:rPr>
              <a:t>设计</a:t>
            </a:r>
            <a:endParaRPr lang="en-US" altLang="zh-CN" b="1" dirty="0">
              <a:latin typeface="Calibri" panose="020F0502020204030204" pitchFamily="34" charset="0"/>
              <a:ea typeface="Calibri" panose="020F0502020204030204" pitchFamily="34" charset="0"/>
              <a:cs typeface="Calibri" panose="020F0502020204030204" pitchFamily="34" charset="0"/>
            </a:endParaRPr>
          </a:p>
          <a:p>
            <a:pPr lvl="1">
              <a:buFont typeface="Wingdings" panose="05000000000000000000" pitchFamily="2" charset="2"/>
              <a:buChar char="p"/>
            </a:pPr>
            <a:r>
              <a:rPr lang="zh-CN" altLang="en-US" b="1" dirty="0">
                <a:latin typeface="微软雅黑" panose="020B0503020204020204" pitchFamily="34" charset="-122"/>
                <a:ea typeface="微软雅黑" panose="020B0503020204020204" pitchFamily="34" charset="-122"/>
              </a:rPr>
              <a:t>操作控制器的升级</a:t>
            </a:r>
            <a:endParaRPr lang="en-US" altLang="zh-CN" b="1" dirty="0">
              <a:latin typeface="微软雅黑" panose="020B0503020204020204" pitchFamily="34" charset="-122"/>
              <a:ea typeface="微软雅黑" panose="020B0503020204020204" pitchFamily="34" charset="-122"/>
            </a:endParaRPr>
          </a:p>
          <a:p>
            <a:pPr marL="628650" lvl="1" indent="0">
              <a:buNone/>
            </a:pPr>
            <a:r>
              <a:rPr lang="zh-CN" altLang="en-US" b="1" dirty="0">
                <a:latin typeface="微软雅黑" panose="020B0503020204020204" pitchFamily="34" charset="-122"/>
                <a:ea typeface="微软雅黑" panose="020B0503020204020204" pitchFamily="34" charset="-122"/>
              </a:rPr>
              <a:t>  此部分工作，涉及到之前学习的两种控制器的设计：</a:t>
            </a:r>
            <a:endParaRPr lang="en-US" altLang="zh-CN" b="1" dirty="0">
              <a:latin typeface="微软雅黑" panose="020B0503020204020204" pitchFamily="34" charset="-122"/>
              <a:ea typeface="微软雅黑" panose="020B0503020204020204" pitchFamily="34" charset="-122"/>
            </a:endParaRPr>
          </a:p>
          <a:p>
            <a:pPr lvl="2">
              <a:buFont typeface="Wingdings" panose="05000000000000000000" pitchFamily="2" charset="2"/>
              <a:buChar char="p"/>
            </a:pPr>
            <a:r>
              <a:rPr lang="zh-CN" altLang="en-US" sz="2000" b="1" dirty="0">
                <a:solidFill>
                  <a:srgbClr val="C00000"/>
                </a:solidFill>
                <a:latin typeface="微软雅黑" panose="020B0503020204020204" pitchFamily="34" charset="-122"/>
                <a:ea typeface="微软雅黑" panose="020B0503020204020204" pitchFamily="34" charset="-122"/>
              </a:rPr>
              <a:t>硬布线控制器</a:t>
            </a:r>
            <a:r>
              <a:rPr lang="zh-CN" altLang="en-US" sz="2000" b="1" dirty="0">
                <a:solidFill>
                  <a:srgbClr val="133984"/>
                </a:solidFill>
                <a:latin typeface="微软雅黑" panose="020B0503020204020204" pitchFamily="34" charset="-122"/>
                <a:ea typeface="微软雅黑" panose="020B0503020204020204" pitchFamily="34" charset="-122"/>
              </a:rPr>
              <a:t>（三级时序，现代时序）</a:t>
            </a:r>
            <a:endParaRPr lang="en-US" altLang="zh-CN" sz="2000" b="1" dirty="0">
              <a:solidFill>
                <a:srgbClr val="133984"/>
              </a:solidFill>
              <a:latin typeface="微软雅黑" panose="020B0503020204020204" pitchFamily="34" charset="-122"/>
              <a:ea typeface="微软雅黑" panose="020B0503020204020204" pitchFamily="34" charset="-122"/>
            </a:endParaRPr>
          </a:p>
          <a:p>
            <a:pPr lvl="3">
              <a:buFont typeface="Wingdings" panose="05000000000000000000" pitchFamily="2" charset="2"/>
              <a:buChar char="p"/>
            </a:pPr>
            <a:r>
              <a:rPr lang="zh-CN" altLang="en-US" b="1" dirty="0">
                <a:solidFill>
                  <a:srgbClr val="133984"/>
                </a:solidFill>
                <a:latin typeface="微软雅黑" panose="020B0503020204020204" pitchFamily="34" charset="-122"/>
                <a:ea typeface="微软雅黑" panose="020B0503020204020204" pitchFamily="34" charset="-122"/>
              </a:rPr>
              <a:t>三级时序硬布线控制器</a:t>
            </a:r>
            <a:endParaRPr lang="en-US" altLang="zh-CN" b="1" dirty="0">
              <a:solidFill>
                <a:srgbClr val="133984"/>
              </a:solidFill>
              <a:latin typeface="微软雅黑" panose="020B0503020204020204" pitchFamily="34" charset="-122"/>
              <a:ea typeface="微软雅黑" panose="020B0503020204020204" pitchFamily="34" charset="-122"/>
            </a:endParaRPr>
          </a:p>
          <a:p>
            <a:pPr lvl="4">
              <a:buFont typeface="Wingdings" panose="05000000000000000000" pitchFamily="2" charset="2"/>
              <a:buChar char="n"/>
            </a:pPr>
            <a:r>
              <a:rPr lang="zh-CN" altLang="en-US" b="1" dirty="0">
                <a:solidFill>
                  <a:srgbClr val="133984"/>
                </a:solidFill>
                <a:latin typeface="微软雅黑" panose="020B0503020204020204" pitchFamily="34" charset="-122"/>
                <a:ea typeface="微软雅黑" panose="020B0503020204020204" pitchFamily="34" charset="-122"/>
              </a:rPr>
              <a:t>特点：状态周期电位、节拍电位结合操作控制信号，限定了各种操作信号的产生时间和持续时间</a:t>
            </a:r>
            <a:endParaRPr lang="en-US" altLang="zh-CN" b="1" dirty="0">
              <a:solidFill>
                <a:srgbClr val="133984"/>
              </a:solidFill>
              <a:latin typeface="微软雅黑" panose="020B0503020204020204" pitchFamily="34" charset="-122"/>
              <a:ea typeface="微软雅黑" panose="020B0503020204020204" pitchFamily="34" charset="-122"/>
            </a:endParaRPr>
          </a:p>
          <a:p>
            <a:pPr lvl="3">
              <a:buFont typeface="Wingdings" panose="05000000000000000000" pitchFamily="2" charset="2"/>
              <a:buChar char="p"/>
            </a:pPr>
            <a:r>
              <a:rPr lang="zh-CN" altLang="en-US" b="1" dirty="0">
                <a:solidFill>
                  <a:srgbClr val="133984"/>
                </a:solidFill>
                <a:latin typeface="微软雅黑" panose="020B0503020204020204" pitchFamily="34" charset="-122"/>
                <a:ea typeface="微软雅黑" panose="020B0503020204020204" pitchFamily="34" charset="-122"/>
              </a:rPr>
              <a:t>现代时序硬布线控制器</a:t>
            </a:r>
            <a:endParaRPr lang="en-US" altLang="zh-CN" b="1" dirty="0">
              <a:solidFill>
                <a:srgbClr val="133984"/>
              </a:solidFill>
              <a:latin typeface="微软雅黑" panose="020B0503020204020204" pitchFamily="34" charset="-122"/>
              <a:ea typeface="微软雅黑" panose="020B0503020204020204" pitchFamily="34" charset="-122"/>
            </a:endParaRPr>
          </a:p>
          <a:p>
            <a:pPr lvl="4">
              <a:buFont typeface="Wingdings" panose="05000000000000000000" pitchFamily="2" charset="2"/>
              <a:buChar char="n"/>
            </a:pPr>
            <a:r>
              <a:rPr lang="zh-CN" altLang="en-US" b="1" dirty="0">
                <a:solidFill>
                  <a:srgbClr val="133984"/>
                </a:solidFill>
                <a:latin typeface="微软雅黑" panose="020B0503020204020204" pitchFamily="34" charset="-122"/>
                <a:ea typeface="微软雅黑" panose="020B0503020204020204" pitchFamily="34" charset="-122"/>
              </a:rPr>
              <a:t>特点：采用基本时钟定时，按需分配，效率更高</a:t>
            </a:r>
            <a:endParaRPr lang="en-US" altLang="zh-CN" b="1" dirty="0">
              <a:solidFill>
                <a:srgbClr val="133984"/>
              </a:solidFill>
              <a:latin typeface="微软雅黑" panose="020B0503020204020204" pitchFamily="34" charset="-122"/>
              <a:ea typeface="微软雅黑" panose="020B0503020204020204" pitchFamily="34" charset="-122"/>
            </a:endParaRPr>
          </a:p>
          <a:p>
            <a:pPr lvl="2">
              <a:buFont typeface="Wingdings" panose="05000000000000000000" pitchFamily="2" charset="2"/>
              <a:buChar char="p"/>
            </a:pPr>
            <a:r>
              <a:rPr lang="zh-CN" altLang="en-US" sz="2000" b="1" dirty="0">
                <a:solidFill>
                  <a:srgbClr val="C00000"/>
                </a:solidFill>
                <a:latin typeface="微软雅黑" panose="020B0503020204020204" pitchFamily="34" charset="-122"/>
                <a:ea typeface="微软雅黑" panose="020B0503020204020204" pitchFamily="34" charset="-122"/>
              </a:rPr>
              <a:t>微程序控制器</a:t>
            </a:r>
            <a:endParaRPr lang="en-US" altLang="zh-CN" sz="2000" b="1" dirty="0">
              <a:solidFill>
                <a:srgbClr val="C00000"/>
              </a:solidFill>
              <a:latin typeface="微软雅黑" panose="020B0503020204020204" pitchFamily="34" charset="-122"/>
              <a:ea typeface="微软雅黑" panose="020B0503020204020204" pitchFamily="34" charset="-122"/>
            </a:endParaRPr>
          </a:p>
          <a:p>
            <a:pPr lvl="3">
              <a:buFont typeface="Wingdings" panose="05000000000000000000" pitchFamily="2" charset="2"/>
              <a:buChar char="n"/>
            </a:pPr>
            <a:r>
              <a:rPr lang="zh-CN" altLang="en-US" b="1" dirty="0">
                <a:solidFill>
                  <a:srgbClr val="133984"/>
                </a:solidFill>
                <a:latin typeface="微软雅黑" panose="020B0503020204020204" pitchFamily="34" charset="-122"/>
                <a:ea typeface="微软雅黑" panose="020B0503020204020204" pitchFamily="34" charset="-122"/>
              </a:rPr>
              <a:t>特点：采用存储技术和程序设计技术，操作控制信号包含在微指令中，易修改</a:t>
            </a:r>
            <a:endParaRPr lang="en-US" altLang="zh-CN" b="1" dirty="0">
              <a:solidFill>
                <a:srgbClr val="133984"/>
              </a:solidFill>
              <a:latin typeface="微软雅黑" panose="020B0503020204020204" pitchFamily="34" charset="-122"/>
              <a:ea typeface="微软雅黑" panose="020B0503020204020204" pitchFamily="34" charset="-122"/>
            </a:endParaRPr>
          </a:p>
          <a:p>
            <a:pPr marL="1501775" lvl="3" indent="0">
              <a:buNone/>
            </a:pPr>
            <a:endParaRPr lang="en-US" altLang="zh-CN"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654646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A02B78-0C88-42E4-BD01-B991AEDDA567}"/>
              </a:ext>
            </a:extLst>
          </p:cNvPr>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6.7 </a:t>
            </a:r>
            <a:r>
              <a:rPr lang="zh-CN" altLang="en-US" dirty="0">
                <a:latin typeface="微软雅黑" panose="020B0503020204020204" pitchFamily="34" charset="-122"/>
                <a:ea typeface="微软雅黑" panose="020B0503020204020204" pitchFamily="34" charset="-122"/>
              </a:rPr>
              <a:t>异常与中断处理</a:t>
            </a:r>
            <a:endParaRPr lang="zh-CN" altLang="en-US" dirty="0"/>
          </a:p>
        </p:txBody>
      </p:sp>
      <p:sp>
        <p:nvSpPr>
          <p:cNvPr id="3" name="内容占位符 2">
            <a:extLst>
              <a:ext uri="{FF2B5EF4-FFF2-40B4-BE49-F238E27FC236}">
                <a16:creationId xmlns:a16="http://schemas.microsoft.com/office/drawing/2014/main" id="{9C8B1CCD-07CB-44E2-AD14-49974D8FCD42}"/>
              </a:ext>
            </a:extLst>
          </p:cNvPr>
          <p:cNvSpPr>
            <a:spLocks noGrp="1"/>
          </p:cNvSpPr>
          <p:nvPr>
            <p:ph idx="1"/>
          </p:nvPr>
        </p:nvSpPr>
        <p:spPr>
          <a:xfrm>
            <a:off x="609600" y="977828"/>
            <a:ext cx="6164062" cy="5730946"/>
          </a:xfrm>
        </p:spPr>
        <p:txBody>
          <a:bodyPr/>
          <a:lstStyle/>
          <a:p>
            <a:r>
              <a:rPr lang="en-US" altLang="zh-CN" b="1" dirty="0">
                <a:latin typeface="Calibri" panose="020F0502020204030204" pitchFamily="34" charset="0"/>
                <a:ea typeface="Calibri" panose="020F0502020204030204" pitchFamily="34" charset="0"/>
                <a:cs typeface="Calibri" panose="020F0502020204030204" pitchFamily="34" charset="0"/>
              </a:rPr>
              <a:t>6.7.4  </a:t>
            </a:r>
            <a:r>
              <a:rPr lang="zh-CN" altLang="en-US" b="1" dirty="0">
                <a:latin typeface="Calibri" panose="020F0502020204030204" pitchFamily="34" charset="0"/>
                <a:ea typeface="微软雅黑" panose="020B0503020204020204" pitchFamily="34" charset="-122"/>
                <a:cs typeface="Calibri" panose="020F0502020204030204" pitchFamily="34" charset="0"/>
              </a:rPr>
              <a:t>支持中断的</a:t>
            </a:r>
            <a:r>
              <a:rPr lang="en-US" altLang="zh-CN" b="1" dirty="0">
                <a:latin typeface="Calibri" panose="020F0502020204030204" pitchFamily="34" charset="0"/>
                <a:ea typeface="Calibri" panose="020F0502020204030204" pitchFamily="34" charset="0"/>
                <a:cs typeface="Calibri" panose="020F0502020204030204" pitchFamily="34" charset="0"/>
              </a:rPr>
              <a:t>CPU</a:t>
            </a:r>
            <a:r>
              <a:rPr lang="zh-CN" altLang="en-US" b="1" dirty="0">
                <a:latin typeface="Calibri" panose="020F0502020204030204" pitchFamily="34" charset="0"/>
                <a:ea typeface="微软雅黑" panose="020B0503020204020204" pitchFamily="34" charset="-122"/>
                <a:cs typeface="Calibri" panose="020F0502020204030204" pitchFamily="34" charset="0"/>
              </a:rPr>
              <a:t>设计</a:t>
            </a:r>
            <a:endParaRPr lang="en-US" altLang="zh-CN" b="1" dirty="0">
              <a:latin typeface="Calibri" panose="020F0502020204030204" pitchFamily="34" charset="0"/>
              <a:ea typeface="Calibri" panose="020F0502020204030204" pitchFamily="34" charset="0"/>
              <a:cs typeface="Calibri" panose="020F0502020204030204" pitchFamily="34" charset="0"/>
            </a:endParaRPr>
          </a:p>
          <a:p>
            <a:pPr lvl="1">
              <a:lnSpc>
                <a:spcPct val="100000"/>
              </a:lnSpc>
              <a:buFont typeface="Wingdings" panose="05000000000000000000" pitchFamily="2" charset="2"/>
              <a:buChar char="p"/>
            </a:pPr>
            <a:r>
              <a:rPr lang="zh-CN" altLang="en-US" b="1" dirty="0">
                <a:latin typeface="Calibri" panose="020F0502020204030204" pitchFamily="34" charset="0"/>
                <a:ea typeface="微软雅黑" panose="020B0503020204020204" pitchFamily="34" charset="-122"/>
                <a:cs typeface="Calibri" panose="020F0502020204030204" pitchFamily="34" charset="0"/>
              </a:rPr>
              <a:t>操作控制器升级</a:t>
            </a:r>
            <a:endParaRPr lang="en-US" altLang="zh-CN" b="1" dirty="0">
              <a:latin typeface="Calibri" panose="020F0502020204030204" pitchFamily="34" charset="0"/>
              <a:ea typeface="Calibri" panose="020F0502020204030204" pitchFamily="34" charset="0"/>
              <a:cs typeface="Calibri" panose="020F0502020204030204" pitchFamily="34" charset="0"/>
            </a:endParaRPr>
          </a:p>
          <a:p>
            <a:pPr marL="1163638" lvl="2" indent="-266700">
              <a:buFont typeface="Wingdings" panose="05000000000000000000" pitchFamily="2" charset="2"/>
              <a:buChar char="n"/>
            </a:pP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三级时序硬布线控制器升级</a:t>
            </a:r>
            <a:endPar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marL="1438275" lvl="4" indent="-274638">
              <a:buFont typeface="Wingdings" panose="05000000000000000000" pitchFamily="2" charset="2"/>
              <a:buChar char="n"/>
            </a:pP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对图</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6.41</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的单总线结构计算机的三级时序状态机（变长指令周期）进行升级，使其能支持中断，升级后的状态机如图</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6.65</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所示。</a:t>
            </a:r>
            <a:endPar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marL="1438275" lvl="4" indent="-274638">
              <a:buFont typeface="Wingdings" panose="05000000000000000000" pitchFamily="2" charset="2"/>
              <a:buChar char="n"/>
            </a:pP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图</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6.65</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中增加了</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1</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个中断响应周期</a:t>
            </a:r>
            <a:r>
              <a:rPr lang="en-US" altLang="zh-CN"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Mint</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，包含</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2</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个状态</a:t>
            </a:r>
            <a:r>
              <a:rPr lang="en-US" altLang="zh-CN"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S9</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和</a:t>
            </a:r>
            <a:r>
              <a:rPr lang="en-US" altLang="zh-CN"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S10</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，如表</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6.4</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所示：</a:t>
            </a:r>
            <a:endPar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marL="1438275" lvl="6" indent="-274638">
              <a:buFont typeface="Wingdings" panose="05000000000000000000" pitchFamily="2" charset="2"/>
              <a:buChar char="n"/>
            </a:pP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状态</a:t>
            </a:r>
            <a:r>
              <a:rPr lang="en-US" altLang="zh-CN"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S9</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：进行关中断和保存断点的操作，将</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PC</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值送入</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EPC</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寄存器中保存，发出控制信号：</a:t>
            </a:r>
            <a:r>
              <a:rPr lang="en-US" altLang="zh-CN"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CLI=1</a:t>
            </a: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a:t>
            </a:r>
            <a:r>
              <a:rPr lang="en-US" altLang="zh-CN" sz="1800" b="1" dirty="0" err="1">
                <a:solidFill>
                  <a:srgbClr val="C00000"/>
                </a:solidFill>
                <a:latin typeface="Calibri" panose="020F0502020204030204" pitchFamily="34" charset="0"/>
                <a:ea typeface="微软雅黑" panose="020B0503020204020204" pitchFamily="34" charset="-122"/>
                <a:cs typeface="Calibri" panose="020F0502020204030204" pitchFamily="34" charset="0"/>
              </a:rPr>
              <a:t>PCout</a:t>
            </a:r>
            <a:r>
              <a:rPr lang="en-US" altLang="zh-CN"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=1</a:t>
            </a: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a:t>
            </a:r>
            <a:r>
              <a:rPr lang="en-US" altLang="zh-CN" sz="1800" b="1" dirty="0" err="1">
                <a:solidFill>
                  <a:srgbClr val="C00000"/>
                </a:solidFill>
                <a:latin typeface="Calibri" panose="020F0502020204030204" pitchFamily="34" charset="0"/>
                <a:ea typeface="微软雅黑" panose="020B0503020204020204" pitchFamily="34" charset="-122"/>
                <a:cs typeface="Calibri" panose="020F0502020204030204" pitchFamily="34" charset="0"/>
              </a:rPr>
              <a:t>EPCin</a:t>
            </a:r>
            <a:r>
              <a:rPr lang="en-US" altLang="zh-CN"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=1</a:t>
            </a: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a:t>
            </a:r>
            <a:endParaRPr lang="en-US" altLang="zh-CN"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endParaRPr>
          </a:p>
          <a:p>
            <a:pPr marL="1438275" lvl="6" indent="-274638">
              <a:buFont typeface="Wingdings" panose="05000000000000000000" pitchFamily="2" charset="2"/>
              <a:buChar char="n"/>
            </a:pP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状态</a:t>
            </a:r>
            <a:r>
              <a:rPr lang="en-US" altLang="zh-CN"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S10</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：完成中断识别的操作，将要响应的中断服务程序入口地址送</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PC</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，发出控制信号：</a:t>
            </a:r>
            <a:r>
              <a:rPr lang="en-US" altLang="zh-CN" sz="1800" b="1" dirty="0" err="1">
                <a:solidFill>
                  <a:srgbClr val="C00000"/>
                </a:solidFill>
                <a:latin typeface="Calibri" panose="020F0502020204030204" pitchFamily="34" charset="0"/>
                <a:ea typeface="微软雅黑" panose="020B0503020204020204" pitchFamily="34" charset="-122"/>
                <a:cs typeface="Calibri" panose="020F0502020204030204" pitchFamily="34" charset="0"/>
              </a:rPr>
              <a:t>IntAout</a:t>
            </a:r>
            <a:r>
              <a:rPr lang="en-US" altLang="zh-CN"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=1</a:t>
            </a: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a:t>
            </a:r>
            <a:r>
              <a:rPr lang="en-US" altLang="zh-CN" sz="1800" b="1" dirty="0" err="1">
                <a:solidFill>
                  <a:srgbClr val="C00000"/>
                </a:solidFill>
                <a:latin typeface="Calibri" panose="020F0502020204030204" pitchFamily="34" charset="0"/>
                <a:ea typeface="微软雅黑" panose="020B0503020204020204" pitchFamily="34" charset="-122"/>
                <a:cs typeface="Calibri" panose="020F0502020204030204" pitchFamily="34" charset="0"/>
              </a:rPr>
              <a:t>PCin</a:t>
            </a:r>
            <a:r>
              <a:rPr lang="en-US" altLang="zh-CN"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=1 </a:t>
            </a: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a:t>
            </a:r>
            <a:endParaRPr lang="en-US" altLang="zh-CN"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endParaRPr>
          </a:p>
          <a:p>
            <a:pPr marL="1163638" lvl="3" indent="-266700">
              <a:buFont typeface="Wingdings" panose="05000000000000000000" pitchFamily="2" charset="2"/>
              <a:buChar char="n"/>
            </a:pP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此外，还有增加</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1</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条中断返回指令</a:t>
            </a:r>
            <a:r>
              <a:rPr lang="en-US" altLang="zh-CN" sz="1800" b="1" dirty="0" err="1">
                <a:solidFill>
                  <a:srgbClr val="C00000"/>
                </a:solidFill>
                <a:latin typeface="Calibri" panose="020F0502020204030204" pitchFamily="34" charset="0"/>
                <a:ea typeface="微软雅黑" panose="020B0503020204020204" pitchFamily="34" charset="-122"/>
                <a:cs typeface="Calibri" panose="020F0502020204030204" pitchFamily="34" charset="0"/>
              </a:rPr>
              <a:t>eret</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；该指令的主要功能是将</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EPC</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中保存的断点送回</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PC</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，同时开中断；该指令执行周期的操作及控制信号如表</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6.5</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所示。</a:t>
            </a:r>
            <a:endPar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lvl="3"/>
            <a:endParaRPr lang="en-US" altLang="zh-CN" sz="1400" b="1" dirty="0">
              <a:latin typeface="Calibri" panose="020F0502020204030204" pitchFamily="34" charset="0"/>
              <a:ea typeface="Calibri" panose="020F0502020204030204" pitchFamily="34" charset="0"/>
              <a:cs typeface="Calibri" panose="020F0502020204030204" pitchFamily="34" charset="0"/>
            </a:endParaRPr>
          </a:p>
          <a:p>
            <a:pPr lvl="3"/>
            <a:endParaRPr lang="en-US" altLang="zh-CN" sz="1400" b="1" dirty="0">
              <a:latin typeface="Calibri" panose="020F0502020204030204" pitchFamily="34" charset="0"/>
              <a:ea typeface="Calibri" panose="020F0502020204030204" pitchFamily="34" charset="0"/>
              <a:cs typeface="Calibri" panose="020F0502020204030204" pitchFamily="34" charset="0"/>
            </a:endParaRPr>
          </a:p>
          <a:p>
            <a:endParaRPr lang="en-US" altLang="zh-CN" sz="1800" b="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zh-CN" altLang="en-US" sz="3200" dirty="0">
              <a:latin typeface="Calibri" panose="020F0502020204030204" pitchFamily="34" charset="0"/>
              <a:ea typeface="微软雅黑" panose="020B0503020204020204" pitchFamily="34" charset="-122"/>
              <a:cs typeface="Calibri" panose="020F0502020204030204" pitchFamily="34" charset="0"/>
            </a:endParaRPr>
          </a:p>
        </p:txBody>
      </p:sp>
      <p:grpSp>
        <p:nvGrpSpPr>
          <p:cNvPr id="4" name="组合 3">
            <a:extLst>
              <a:ext uri="{FF2B5EF4-FFF2-40B4-BE49-F238E27FC236}">
                <a16:creationId xmlns:a16="http://schemas.microsoft.com/office/drawing/2014/main" id="{5C06FF91-C973-4FE2-90B5-8B43113B8801}"/>
              </a:ext>
            </a:extLst>
          </p:cNvPr>
          <p:cNvGrpSpPr/>
          <p:nvPr/>
        </p:nvGrpSpPr>
        <p:grpSpPr>
          <a:xfrm>
            <a:off x="7554896" y="1160711"/>
            <a:ext cx="3437216" cy="2185026"/>
            <a:chOff x="4428053" y="3991845"/>
            <a:chExt cx="4000562" cy="3068994"/>
          </a:xfrm>
        </p:grpSpPr>
        <p:pic>
          <p:nvPicPr>
            <p:cNvPr id="5" name="图片 4">
              <a:extLst>
                <a:ext uri="{FF2B5EF4-FFF2-40B4-BE49-F238E27FC236}">
                  <a16:creationId xmlns:a16="http://schemas.microsoft.com/office/drawing/2014/main" id="{19DF02B5-310E-455F-A9D8-439B2DD3710E}"/>
                </a:ext>
              </a:extLst>
            </p:cNvPr>
            <p:cNvPicPr>
              <a:picLocks noChangeAspect="1"/>
            </p:cNvPicPr>
            <p:nvPr/>
          </p:nvPicPr>
          <p:blipFill>
            <a:blip r:embed="rId3"/>
            <a:stretch>
              <a:fillRect/>
            </a:stretch>
          </p:blipFill>
          <p:spPr>
            <a:xfrm>
              <a:off x="5020049" y="3991845"/>
              <a:ext cx="2656687" cy="2364803"/>
            </a:xfrm>
            <a:prstGeom prst="rect">
              <a:avLst/>
            </a:prstGeom>
          </p:spPr>
        </p:pic>
        <p:sp>
          <p:nvSpPr>
            <p:cNvPr id="6" name="文本框 5">
              <a:extLst>
                <a:ext uri="{FF2B5EF4-FFF2-40B4-BE49-F238E27FC236}">
                  <a16:creationId xmlns:a16="http://schemas.microsoft.com/office/drawing/2014/main" id="{71C85290-A8F6-4D74-8549-C9DCE07E6FCB}"/>
                </a:ext>
              </a:extLst>
            </p:cNvPr>
            <p:cNvSpPr txBox="1"/>
            <p:nvPr/>
          </p:nvSpPr>
          <p:spPr>
            <a:xfrm>
              <a:off x="4428053" y="6412404"/>
              <a:ext cx="4000562" cy="648435"/>
            </a:xfrm>
            <a:prstGeom prst="rect">
              <a:avLst/>
            </a:prstGeom>
            <a:noFill/>
          </p:spPr>
          <p:txBody>
            <a:bodyPr wrap="square" rtlCol="0">
              <a:spAutoFit/>
            </a:bodyPr>
            <a:lstStyle/>
            <a:p>
              <a:pPr algn="ctr"/>
              <a:r>
                <a:rPr lang="zh-CN" altLang="en-US" sz="12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图</a:t>
              </a:r>
              <a:r>
                <a:rPr lang="en-US" altLang="zh-CN" sz="12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6.65    </a:t>
              </a:r>
              <a:r>
                <a:rPr lang="zh-CN" altLang="en-US" sz="12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支持中断的三级时序状态机（变长指令周期）</a:t>
              </a:r>
            </a:p>
          </p:txBody>
        </p:sp>
      </p:grpSp>
      <p:graphicFrame>
        <p:nvGraphicFramePr>
          <p:cNvPr id="7" name="表格 6">
            <a:extLst>
              <a:ext uri="{FF2B5EF4-FFF2-40B4-BE49-F238E27FC236}">
                <a16:creationId xmlns:a16="http://schemas.microsoft.com/office/drawing/2014/main" id="{0E70EBA5-1AB7-4F5A-A9F0-A6AEFE0048C6}"/>
              </a:ext>
            </a:extLst>
          </p:cNvPr>
          <p:cNvGraphicFramePr>
            <a:graphicFrameLocks/>
          </p:cNvGraphicFramePr>
          <p:nvPr>
            <p:extLst>
              <p:ext uri="{D42A27DB-BD31-4B8C-83A1-F6EECF244321}">
                <p14:modId xmlns:p14="http://schemas.microsoft.com/office/powerpoint/2010/main" val="912217025"/>
              </p:ext>
            </p:extLst>
          </p:nvPr>
        </p:nvGraphicFramePr>
        <p:xfrm>
          <a:off x="6930502" y="5059680"/>
          <a:ext cx="4993194" cy="960120"/>
        </p:xfrm>
        <a:graphic>
          <a:graphicData uri="http://schemas.openxmlformats.org/drawingml/2006/table">
            <a:tbl>
              <a:tblPr firstRow="1" bandRow="1">
                <a:tableStyleId>{21E4AEA4-8DFA-4A89-87EB-49C32662AFE0}</a:tableStyleId>
              </a:tblPr>
              <a:tblGrid>
                <a:gridCol w="551905">
                  <a:extLst>
                    <a:ext uri="{9D8B030D-6E8A-4147-A177-3AD203B41FA5}">
                      <a16:colId xmlns:a16="http://schemas.microsoft.com/office/drawing/2014/main" val="1791914891"/>
                    </a:ext>
                  </a:extLst>
                </a:gridCol>
                <a:gridCol w="557107">
                  <a:extLst>
                    <a:ext uri="{9D8B030D-6E8A-4147-A177-3AD203B41FA5}">
                      <a16:colId xmlns:a16="http://schemas.microsoft.com/office/drawing/2014/main" val="3061639222"/>
                    </a:ext>
                  </a:extLst>
                </a:gridCol>
                <a:gridCol w="1188227">
                  <a:extLst>
                    <a:ext uri="{9D8B030D-6E8A-4147-A177-3AD203B41FA5}">
                      <a16:colId xmlns:a16="http://schemas.microsoft.com/office/drawing/2014/main" val="3562933882"/>
                    </a:ext>
                  </a:extLst>
                </a:gridCol>
                <a:gridCol w="1468120">
                  <a:extLst>
                    <a:ext uri="{9D8B030D-6E8A-4147-A177-3AD203B41FA5}">
                      <a16:colId xmlns:a16="http://schemas.microsoft.com/office/drawing/2014/main" val="2200243117"/>
                    </a:ext>
                  </a:extLst>
                </a:gridCol>
                <a:gridCol w="1227835">
                  <a:extLst>
                    <a:ext uri="{9D8B030D-6E8A-4147-A177-3AD203B41FA5}">
                      <a16:colId xmlns:a16="http://schemas.microsoft.com/office/drawing/2014/main" val="1382084916"/>
                    </a:ext>
                  </a:extLst>
                </a:gridCol>
              </a:tblGrid>
              <a:tr h="198060">
                <a:tc>
                  <a:txBody>
                    <a:bodyPr/>
                    <a:lstStyle/>
                    <a:p>
                      <a:pPr algn="ctr"/>
                      <a:r>
                        <a:rPr lang="zh-CN" altLang="en-US" sz="900" b="1" dirty="0"/>
                        <a:t>周期</a:t>
                      </a:r>
                    </a:p>
                  </a:txBody>
                  <a:tcPr anchor="ctr"/>
                </a:tc>
                <a:tc>
                  <a:txBody>
                    <a:bodyPr/>
                    <a:lstStyle/>
                    <a:p>
                      <a:pPr algn="ctr"/>
                      <a:r>
                        <a:rPr lang="zh-CN" altLang="en-US" sz="900" b="1" dirty="0"/>
                        <a:t>节拍</a:t>
                      </a:r>
                    </a:p>
                  </a:txBody>
                  <a:tcPr anchor="ctr"/>
                </a:tc>
                <a:tc>
                  <a:txBody>
                    <a:bodyPr/>
                    <a:lstStyle/>
                    <a:p>
                      <a:pPr algn="ctr"/>
                      <a:r>
                        <a:rPr lang="zh-CN" altLang="en-US" sz="900" b="1" dirty="0"/>
                        <a:t>操作</a:t>
                      </a:r>
                    </a:p>
                  </a:txBody>
                  <a:tcPr anchor="ctr"/>
                </a:tc>
                <a:tc>
                  <a:txBody>
                    <a:bodyPr/>
                    <a:lstStyle/>
                    <a:p>
                      <a:pPr algn="ctr"/>
                      <a:r>
                        <a:rPr lang="zh-CN" altLang="en-US" sz="900" b="1" dirty="0"/>
                        <a:t>功能说明</a:t>
                      </a:r>
                    </a:p>
                  </a:txBody>
                  <a:tcPr anchor="ctr"/>
                </a:tc>
                <a:tc>
                  <a:txBody>
                    <a:bodyPr/>
                    <a:lstStyle/>
                    <a:p>
                      <a:pPr algn="ctr"/>
                      <a:r>
                        <a:rPr lang="zh-CN" altLang="en-US" sz="900" b="1" dirty="0"/>
                        <a:t>控制信号</a:t>
                      </a:r>
                    </a:p>
                  </a:txBody>
                  <a:tcPr anchor="ctr"/>
                </a:tc>
                <a:extLst>
                  <a:ext uri="{0D108BD9-81ED-4DB2-BD59-A6C34878D82A}">
                    <a16:rowId xmlns:a16="http://schemas.microsoft.com/office/drawing/2014/main" val="3914967767"/>
                  </a:ext>
                </a:extLst>
              </a:tr>
              <a:tr h="198060">
                <a:tc rowSpan="2">
                  <a:txBody>
                    <a:bodyPr/>
                    <a:lstStyle/>
                    <a:p>
                      <a:pPr algn="ctr"/>
                      <a:r>
                        <a:rPr lang="zh-CN" altLang="en-US" sz="900" b="1" dirty="0"/>
                        <a:t>中断</a:t>
                      </a:r>
                      <a:endParaRPr lang="en-US" altLang="zh-CN" sz="900" b="1" dirty="0"/>
                    </a:p>
                    <a:p>
                      <a:pPr algn="ctr"/>
                      <a:r>
                        <a:rPr lang="en-US" altLang="zh-CN" sz="900" b="1" dirty="0"/>
                        <a:t>M</a:t>
                      </a:r>
                      <a:r>
                        <a:rPr lang="en-US" altLang="zh-CN" sz="900" b="1" baseline="-25000" dirty="0"/>
                        <a:t>int</a:t>
                      </a:r>
                      <a:endParaRPr lang="zh-CN" altLang="en-US" sz="900" b="1" baseline="-25000" dirty="0"/>
                    </a:p>
                  </a:txBody>
                  <a:tcPr anchor="ctr"/>
                </a:tc>
                <a:tc>
                  <a:txBody>
                    <a:bodyPr/>
                    <a:lstStyle/>
                    <a:p>
                      <a:pPr algn="ctr"/>
                      <a:r>
                        <a:rPr lang="en-US" altLang="zh-CN" sz="900" b="1" dirty="0"/>
                        <a:t>T1</a:t>
                      </a:r>
                      <a:endParaRPr lang="zh-CN" altLang="en-US" sz="900" b="1" dirty="0"/>
                    </a:p>
                  </a:txBody>
                  <a:tcPr anchor="ctr"/>
                </a:tc>
                <a:tc>
                  <a:txBody>
                    <a:bodyPr/>
                    <a:lstStyle/>
                    <a:p>
                      <a:pPr algn="l"/>
                      <a:r>
                        <a:rPr lang="en-US" altLang="zh-CN" sz="900" b="1" dirty="0"/>
                        <a:t>0-&gt;IE       PC-&gt;EPC</a:t>
                      </a:r>
                      <a:endParaRPr lang="zh-CN" altLang="en-US" sz="900" b="1" baseline="-25000" dirty="0"/>
                    </a:p>
                  </a:txBody>
                  <a:tcPr anchor="ctr"/>
                </a:tc>
                <a:tc>
                  <a:txBody>
                    <a:bodyPr/>
                    <a:lstStyle/>
                    <a:p>
                      <a:r>
                        <a:rPr lang="zh-CN" altLang="en-US" sz="900" b="1" dirty="0"/>
                        <a:t>关中断，同时将</a:t>
                      </a:r>
                      <a:r>
                        <a:rPr lang="en-US" altLang="zh-CN" sz="900" b="1" dirty="0"/>
                        <a:t>PC</a:t>
                      </a:r>
                      <a:r>
                        <a:rPr lang="zh-CN" altLang="en-US" sz="900" b="1" dirty="0"/>
                        <a:t>值送入</a:t>
                      </a:r>
                      <a:r>
                        <a:rPr lang="en-US" altLang="zh-CN" sz="900" b="1" dirty="0"/>
                        <a:t>EPC</a:t>
                      </a:r>
                      <a:r>
                        <a:rPr lang="zh-CN" altLang="en-US" sz="900" b="1" dirty="0"/>
                        <a:t>寄存器中保存</a:t>
                      </a:r>
                    </a:p>
                  </a:txBody>
                  <a:tcPr anchor="ctr"/>
                </a:tc>
                <a:tc>
                  <a:txBody>
                    <a:bodyPr/>
                    <a:lstStyle/>
                    <a:p>
                      <a:r>
                        <a:rPr lang="en-US" altLang="zh-CN" sz="900" b="1" dirty="0"/>
                        <a:t>CLI=</a:t>
                      </a:r>
                      <a:r>
                        <a:rPr lang="en-US" altLang="zh-CN" sz="900" b="1" dirty="0" err="1"/>
                        <a:t>PC</a:t>
                      </a:r>
                      <a:r>
                        <a:rPr lang="en-US" altLang="zh-CN" sz="900" b="1" baseline="-25000" dirty="0" err="1"/>
                        <a:t>out</a:t>
                      </a:r>
                      <a:r>
                        <a:rPr lang="en-US" altLang="zh-CN" sz="900" b="1" dirty="0"/>
                        <a:t>=</a:t>
                      </a:r>
                      <a:r>
                        <a:rPr lang="en-US" altLang="zh-CN" sz="900" b="1" dirty="0" err="1"/>
                        <a:t>EPC</a:t>
                      </a:r>
                      <a:r>
                        <a:rPr lang="en-US" altLang="zh-CN" sz="900" b="1" baseline="-25000" dirty="0" err="1"/>
                        <a:t>in</a:t>
                      </a:r>
                      <a:r>
                        <a:rPr lang="en-US" altLang="zh-CN" sz="900" b="1" dirty="0"/>
                        <a:t>=1</a:t>
                      </a:r>
                      <a:endParaRPr lang="zh-CN" altLang="en-US" sz="900" b="1" dirty="0"/>
                    </a:p>
                  </a:txBody>
                  <a:tcPr anchor="ctr"/>
                </a:tc>
                <a:extLst>
                  <a:ext uri="{0D108BD9-81ED-4DB2-BD59-A6C34878D82A}">
                    <a16:rowId xmlns:a16="http://schemas.microsoft.com/office/drawing/2014/main" val="985981060"/>
                  </a:ext>
                </a:extLst>
              </a:tr>
              <a:tr h="198060">
                <a:tc vMerge="1">
                  <a:txBody>
                    <a:bodyPr/>
                    <a:lstStyle/>
                    <a:p>
                      <a:pPr algn="ctr"/>
                      <a:endParaRPr lang="zh-CN" altLang="en-US" sz="800" b="1" dirty="0"/>
                    </a:p>
                  </a:txBody>
                  <a:tcPr anchor="ctr"/>
                </a:tc>
                <a:tc>
                  <a:txBody>
                    <a:bodyPr/>
                    <a:lstStyle/>
                    <a:p>
                      <a:pPr algn="ctr"/>
                      <a:r>
                        <a:rPr lang="en-US" altLang="zh-CN" sz="900" b="1" dirty="0"/>
                        <a:t>T2</a:t>
                      </a:r>
                      <a:endParaRPr lang="zh-CN" altLang="en-US" sz="900" b="1" dirty="0"/>
                    </a:p>
                  </a:txBody>
                  <a:tcPr anchor="ctr"/>
                </a:tc>
                <a:tc>
                  <a:txBody>
                    <a:bodyPr/>
                    <a:lstStyle/>
                    <a:p>
                      <a:pPr algn="l"/>
                      <a:r>
                        <a:rPr lang="zh-CN" altLang="en-US" sz="900" b="1" dirty="0"/>
                        <a:t>中断程序入口</a:t>
                      </a:r>
                      <a:r>
                        <a:rPr lang="en-US" altLang="zh-CN" sz="900" b="1" dirty="0"/>
                        <a:t>-&gt;PC</a:t>
                      </a:r>
                      <a:endParaRPr lang="zh-CN" altLang="en-US" sz="900" b="1" dirty="0"/>
                    </a:p>
                  </a:txBody>
                  <a:tcPr anchor="ctr"/>
                </a:tc>
                <a:tc>
                  <a:txBody>
                    <a:bodyPr/>
                    <a:lstStyle/>
                    <a:p>
                      <a:r>
                        <a:rPr lang="zh-CN" altLang="en-US" sz="900" b="1" dirty="0"/>
                        <a:t>将要响应的中断对应的中断程序入口地址送</a:t>
                      </a:r>
                      <a:r>
                        <a:rPr lang="en-US" altLang="zh-CN" sz="900" b="1" dirty="0"/>
                        <a:t>PC</a:t>
                      </a:r>
                      <a:endParaRPr lang="zh-CN" altLang="en-US" sz="900" b="1" dirty="0"/>
                    </a:p>
                  </a:txBody>
                  <a:tcPr anchor="ctr"/>
                </a:tc>
                <a:tc>
                  <a:txBody>
                    <a:bodyPr/>
                    <a:lstStyle/>
                    <a:p>
                      <a:r>
                        <a:rPr lang="en-US" altLang="zh-CN" sz="900" b="1" dirty="0" err="1"/>
                        <a:t>IntA</a:t>
                      </a:r>
                      <a:r>
                        <a:rPr lang="en-US" altLang="zh-CN" sz="900" b="1" baseline="-25000" dirty="0" err="1"/>
                        <a:t>out</a:t>
                      </a:r>
                      <a:r>
                        <a:rPr lang="en-US" altLang="zh-CN" sz="900" b="1" dirty="0"/>
                        <a:t>=</a:t>
                      </a:r>
                      <a:r>
                        <a:rPr lang="en-US" altLang="zh-CN" sz="900" b="1" dirty="0" err="1"/>
                        <a:t>PC</a:t>
                      </a:r>
                      <a:r>
                        <a:rPr lang="en-US" altLang="zh-CN" sz="900" b="1" baseline="-25000" dirty="0" err="1"/>
                        <a:t>in</a:t>
                      </a:r>
                      <a:r>
                        <a:rPr lang="en-US" altLang="zh-CN" sz="900" b="1" dirty="0"/>
                        <a:t>=1</a:t>
                      </a:r>
                      <a:endParaRPr lang="zh-CN" altLang="en-US" sz="900" b="1" dirty="0"/>
                    </a:p>
                  </a:txBody>
                  <a:tcPr anchor="ctr"/>
                </a:tc>
                <a:extLst>
                  <a:ext uri="{0D108BD9-81ED-4DB2-BD59-A6C34878D82A}">
                    <a16:rowId xmlns:a16="http://schemas.microsoft.com/office/drawing/2014/main" val="3622888656"/>
                  </a:ext>
                </a:extLst>
              </a:tr>
            </a:tbl>
          </a:graphicData>
        </a:graphic>
      </p:graphicFrame>
      <p:graphicFrame>
        <p:nvGraphicFramePr>
          <p:cNvPr id="8" name="表格 7">
            <a:extLst>
              <a:ext uri="{FF2B5EF4-FFF2-40B4-BE49-F238E27FC236}">
                <a16:creationId xmlns:a16="http://schemas.microsoft.com/office/drawing/2014/main" id="{BE04B984-D410-4BB6-BCCE-FED094B479AD}"/>
              </a:ext>
            </a:extLst>
          </p:cNvPr>
          <p:cNvGraphicFramePr>
            <a:graphicFrameLocks/>
          </p:cNvGraphicFramePr>
          <p:nvPr>
            <p:extLst>
              <p:ext uri="{D42A27DB-BD31-4B8C-83A1-F6EECF244321}">
                <p14:modId xmlns:p14="http://schemas.microsoft.com/office/powerpoint/2010/main" val="145488187"/>
              </p:ext>
            </p:extLst>
          </p:nvPr>
        </p:nvGraphicFramePr>
        <p:xfrm>
          <a:off x="6930501" y="3883485"/>
          <a:ext cx="4993195" cy="594360"/>
        </p:xfrm>
        <a:graphic>
          <a:graphicData uri="http://schemas.openxmlformats.org/drawingml/2006/table">
            <a:tbl>
              <a:tblPr firstRow="1" bandRow="1">
                <a:tableStyleId>{21E4AEA4-8DFA-4A89-87EB-49C32662AFE0}</a:tableStyleId>
              </a:tblPr>
              <a:tblGrid>
                <a:gridCol w="563237">
                  <a:extLst>
                    <a:ext uri="{9D8B030D-6E8A-4147-A177-3AD203B41FA5}">
                      <a16:colId xmlns:a16="http://schemas.microsoft.com/office/drawing/2014/main" val="1791914891"/>
                    </a:ext>
                  </a:extLst>
                </a:gridCol>
                <a:gridCol w="500887">
                  <a:extLst>
                    <a:ext uri="{9D8B030D-6E8A-4147-A177-3AD203B41FA5}">
                      <a16:colId xmlns:a16="http://schemas.microsoft.com/office/drawing/2014/main" val="3061639222"/>
                    </a:ext>
                  </a:extLst>
                </a:gridCol>
                <a:gridCol w="1145979">
                  <a:extLst>
                    <a:ext uri="{9D8B030D-6E8A-4147-A177-3AD203B41FA5}">
                      <a16:colId xmlns:a16="http://schemas.microsoft.com/office/drawing/2014/main" val="3562933882"/>
                    </a:ext>
                  </a:extLst>
                </a:gridCol>
                <a:gridCol w="1309691">
                  <a:extLst>
                    <a:ext uri="{9D8B030D-6E8A-4147-A177-3AD203B41FA5}">
                      <a16:colId xmlns:a16="http://schemas.microsoft.com/office/drawing/2014/main" val="2200243117"/>
                    </a:ext>
                  </a:extLst>
                </a:gridCol>
                <a:gridCol w="1473401">
                  <a:extLst>
                    <a:ext uri="{9D8B030D-6E8A-4147-A177-3AD203B41FA5}">
                      <a16:colId xmlns:a16="http://schemas.microsoft.com/office/drawing/2014/main" val="1382084916"/>
                    </a:ext>
                  </a:extLst>
                </a:gridCol>
              </a:tblGrid>
              <a:tr h="198060">
                <a:tc>
                  <a:txBody>
                    <a:bodyPr/>
                    <a:lstStyle/>
                    <a:p>
                      <a:pPr algn="ctr"/>
                      <a:r>
                        <a:rPr lang="zh-CN" altLang="en-US" sz="900" b="1" dirty="0"/>
                        <a:t>周期</a:t>
                      </a:r>
                    </a:p>
                  </a:txBody>
                  <a:tcPr anchor="ctr"/>
                </a:tc>
                <a:tc>
                  <a:txBody>
                    <a:bodyPr/>
                    <a:lstStyle/>
                    <a:p>
                      <a:pPr algn="ctr"/>
                      <a:r>
                        <a:rPr lang="zh-CN" altLang="en-US" sz="900" b="1" dirty="0"/>
                        <a:t>节拍</a:t>
                      </a:r>
                    </a:p>
                  </a:txBody>
                  <a:tcPr anchor="ctr"/>
                </a:tc>
                <a:tc>
                  <a:txBody>
                    <a:bodyPr/>
                    <a:lstStyle/>
                    <a:p>
                      <a:pPr algn="ctr"/>
                      <a:r>
                        <a:rPr lang="zh-CN" altLang="en-US" sz="900" b="1" dirty="0"/>
                        <a:t>操作</a:t>
                      </a:r>
                    </a:p>
                  </a:txBody>
                  <a:tcPr anchor="ctr"/>
                </a:tc>
                <a:tc>
                  <a:txBody>
                    <a:bodyPr/>
                    <a:lstStyle/>
                    <a:p>
                      <a:pPr algn="ctr"/>
                      <a:r>
                        <a:rPr lang="zh-CN" altLang="en-US" sz="900" b="1" dirty="0"/>
                        <a:t>功能说明</a:t>
                      </a:r>
                    </a:p>
                  </a:txBody>
                  <a:tcPr anchor="ctr"/>
                </a:tc>
                <a:tc>
                  <a:txBody>
                    <a:bodyPr/>
                    <a:lstStyle/>
                    <a:p>
                      <a:pPr algn="ctr"/>
                      <a:r>
                        <a:rPr lang="zh-CN" altLang="en-US" sz="900" b="1" dirty="0"/>
                        <a:t>控制信号</a:t>
                      </a:r>
                    </a:p>
                  </a:txBody>
                  <a:tcPr anchor="ctr"/>
                </a:tc>
                <a:extLst>
                  <a:ext uri="{0D108BD9-81ED-4DB2-BD59-A6C34878D82A}">
                    <a16:rowId xmlns:a16="http://schemas.microsoft.com/office/drawing/2014/main" val="3914967767"/>
                  </a:ext>
                </a:extLst>
              </a:tr>
              <a:tr h="198060">
                <a:tc>
                  <a:txBody>
                    <a:bodyPr/>
                    <a:lstStyle/>
                    <a:p>
                      <a:pPr algn="ctr"/>
                      <a:r>
                        <a:rPr lang="zh-CN" altLang="en-US" sz="900" b="1" dirty="0"/>
                        <a:t>中断</a:t>
                      </a:r>
                      <a:endParaRPr lang="en-US" altLang="zh-CN" sz="900" b="1" dirty="0"/>
                    </a:p>
                    <a:p>
                      <a:pPr algn="ctr"/>
                      <a:r>
                        <a:rPr lang="en-US" altLang="zh-CN" sz="900" b="1" dirty="0"/>
                        <a:t>M</a:t>
                      </a:r>
                      <a:r>
                        <a:rPr lang="en-US" altLang="zh-CN" sz="900" b="1" baseline="-25000" dirty="0"/>
                        <a:t>int</a:t>
                      </a:r>
                      <a:endParaRPr lang="zh-CN" altLang="en-US" sz="900" b="1" baseline="-25000" dirty="0"/>
                    </a:p>
                  </a:txBody>
                  <a:tcPr anchor="ctr"/>
                </a:tc>
                <a:tc>
                  <a:txBody>
                    <a:bodyPr/>
                    <a:lstStyle/>
                    <a:p>
                      <a:pPr algn="ctr"/>
                      <a:r>
                        <a:rPr lang="en-US" altLang="zh-CN" sz="900" b="1" dirty="0"/>
                        <a:t>T3</a:t>
                      </a:r>
                      <a:endParaRPr lang="zh-CN" altLang="en-US" sz="900" b="1" dirty="0"/>
                    </a:p>
                  </a:txBody>
                  <a:tcPr anchor="ctr"/>
                </a:tc>
                <a:tc>
                  <a:txBody>
                    <a:bodyPr/>
                    <a:lstStyle/>
                    <a:p>
                      <a:r>
                        <a:rPr lang="en-US" altLang="zh-CN" sz="900" b="1" dirty="0"/>
                        <a:t>EPC-&gt;PC     </a:t>
                      </a:r>
                    </a:p>
                    <a:p>
                      <a:r>
                        <a:rPr lang="en-US" altLang="zh-CN" sz="900" b="1" dirty="0"/>
                        <a:t>1-&gt;IE</a:t>
                      </a:r>
                    </a:p>
                  </a:txBody>
                  <a:tcPr anchor="ctr"/>
                </a:tc>
                <a:tc>
                  <a:txBody>
                    <a:bodyPr/>
                    <a:lstStyle/>
                    <a:p>
                      <a:r>
                        <a:rPr lang="zh-CN" altLang="en-US" sz="900" b="1" dirty="0"/>
                        <a:t>恢复断点，将</a:t>
                      </a:r>
                      <a:r>
                        <a:rPr lang="en-US" altLang="zh-CN" sz="900" b="1" dirty="0"/>
                        <a:t>EPC</a:t>
                      </a:r>
                      <a:r>
                        <a:rPr lang="zh-CN" altLang="en-US" sz="900" b="1" dirty="0"/>
                        <a:t>送</a:t>
                      </a:r>
                      <a:r>
                        <a:rPr lang="en-US" altLang="zh-CN" sz="900" b="1" dirty="0"/>
                        <a:t>PC</a:t>
                      </a:r>
                      <a:r>
                        <a:rPr lang="zh-CN" altLang="en-US" sz="900" b="1" dirty="0"/>
                        <a:t>，同时开中断</a:t>
                      </a:r>
                    </a:p>
                  </a:txBody>
                  <a:tcPr anchor="ctr"/>
                </a:tc>
                <a:tc>
                  <a:txBody>
                    <a:bodyPr/>
                    <a:lstStyle/>
                    <a:p>
                      <a:r>
                        <a:rPr lang="en-US" altLang="zh-CN" sz="900" b="1" dirty="0" err="1"/>
                        <a:t>EPC</a:t>
                      </a:r>
                      <a:r>
                        <a:rPr lang="en-US" altLang="zh-CN" sz="900" b="1" baseline="-25000" dirty="0" err="1"/>
                        <a:t>out</a:t>
                      </a:r>
                      <a:r>
                        <a:rPr lang="en-US" altLang="zh-CN" sz="900" b="1" dirty="0"/>
                        <a:t>=</a:t>
                      </a:r>
                      <a:r>
                        <a:rPr lang="en-US" altLang="zh-CN" sz="900" b="1" dirty="0" err="1"/>
                        <a:t>PC</a:t>
                      </a:r>
                      <a:r>
                        <a:rPr lang="en-US" altLang="zh-CN" sz="900" b="1" baseline="-25000" dirty="0" err="1"/>
                        <a:t>in</a:t>
                      </a:r>
                      <a:r>
                        <a:rPr lang="en-US" altLang="zh-CN" sz="900" b="1" dirty="0"/>
                        <a:t>=STI=</a:t>
                      </a:r>
                      <a:r>
                        <a:rPr lang="en-US" altLang="zh-CN" sz="900" b="1" dirty="0" err="1"/>
                        <a:t>ClrInt</a:t>
                      </a:r>
                      <a:r>
                        <a:rPr lang="en-US" altLang="zh-CN" sz="900" b="1" dirty="0"/>
                        <a:t>=1</a:t>
                      </a:r>
                      <a:endParaRPr lang="zh-CN" altLang="en-US" sz="900" b="1" dirty="0"/>
                    </a:p>
                  </a:txBody>
                  <a:tcPr anchor="ctr"/>
                </a:tc>
                <a:extLst>
                  <a:ext uri="{0D108BD9-81ED-4DB2-BD59-A6C34878D82A}">
                    <a16:rowId xmlns:a16="http://schemas.microsoft.com/office/drawing/2014/main" val="985981060"/>
                  </a:ext>
                </a:extLst>
              </a:tr>
            </a:tbl>
          </a:graphicData>
        </a:graphic>
      </p:graphicFrame>
      <p:sp>
        <p:nvSpPr>
          <p:cNvPr id="9" name="文本框 8">
            <a:extLst>
              <a:ext uri="{FF2B5EF4-FFF2-40B4-BE49-F238E27FC236}">
                <a16:creationId xmlns:a16="http://schemas.microsoft.com/office/drawing/2014/main" id="{EECE8964-D444-4938-8A2F-E840B35257DA}"/>
              </a:ext>
            </a:extLst>
          </p:cNvPr>
          <p:cNvSpPr txBox="1"/>
          <p:nvPr/>
        </p:nvSpPr>
        <p:spPr>
          <a:xfrm>
            <a:off x="7256407" y="3512264"/>
            <a:ext cx="3896824" cy="276999"/>
          </a:xfrm>
          <a:prstGeom prst="rect">
            <a:avLst/>
          </a:prstGeom>
          <a:noFill/>
        </p:spPr>
        <p:txBody>
          <a:bodyPr wrap="square" rtlCol="0">
            <a:spAutoFit/>
          </a:bodyPr>
          <a:lstStyle/>
          <a:p>
            <a:pPr algn="ctr"/>
            <a:r>
              <a:rPr lang="zh-CN" altLang="en-US" sz="12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表</a:t>
            </a:r>
            <a:r>
              <a:rPr lang="en-US" altLang="zh-CN" sz="12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6.4   </a:t>
            </a:r>
            <a:r>
              <a:rPr lang="zh-CN" altLang="en-US" sz="12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中断响应周期的操作及控制信号</a:t>
            </a:r>
          </a:p>
        </p:txBody>
      </p:sp>
      <p:sp>
        <p:nvSpPr>
          <p:cNvPr id="10" name="文本框 9">
            <a:extLst>
              <a:ext uri="{FF2B5EF4-FFF2-40B4-BE49-F238E27FC236}">
                <a16:creationId xmlns:a16="http://schemas.microsoft.com/office/drawing/2014/main" id="{105D7E85-4D40-4525-A4BF-AC4A3A8C3F4F}"/>
              </a:ext>
            </a:extLst>
          </p:cNvPr>
          <p:cNvSpPr txBox="1"/>
          <p:nvPr/>
        </p:nvSpPr>
        <p:spPr>
          <a:xfrm>
            <a:off x="7395926" y="4613247"/>
            <a:ext cx="3896824" cy="276999"/>
          </a:xfrm>
          <a:prstGeom prst="rect">
            <a:avLst/>
          </a:prstGeom>
          <a:noFill/>
        </p:spPr>
        <p:txBody>
          <a:bodyPr wrap="square" rtlCol="0">
            <a:spAutoFit/>
          </a:bodyPr>
          <a:lstStyle/>
          <a:p>
            <a:pPr algn="ctr"/>
            <a:r>
              <a:rPr lang="zh-CN" altLang="en-US" sz="12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表</a:t>
            </a:r>
            <a:r>
              <a:rPr lang="en-US" altLang="zh-CN" sz="12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6.5  </a:t>
            </a:r>
            <a:r>
              <a:rPr lang="en-US" altLang="zh-CN" sz="1200" b="1" dirty="0" err="1">
                <a:solidFill>
                  <a:srgbClr val="133984"/>
                </a:solidFill>
                <a:latin typeface="Calibri" panose="020F0502020204030204" pitchFamily="34" charset="0"/>
                <a:ea typeface="微软雅黑" panose="020B0503020204020204" pitchFamily="34" charset="-122"/>
                <a:cs typeface="Calibri" panose="020F0502020204030204" pitchFamily="34" charset="0"/>
              </a:rPr>
              <a:t>eret</a:t>
            </a:r>
            <a:r>
              <a:rPr lang="zh-CN" altLang="en-US" sz="12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指令执行周期的操作及控制信号</a:t>
            </a:r>
          </a:p>
        </p:txBody>
      </p:sp>
    </p:spTree>
    <p:extLst>
      <p:ext uri="{BB962C8B-B14F-4D97-AF65-F5344CB8AC3E}">
        <p14:creationId xmlns:p14="http://schemas.microsoft.com/office/powerpoint/2010/main" val="34369396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66E959-BD1A-434D-87C7-259231C66CCF}"/>
              </a:ext>
            </a:extLst>
          </p:cNvPr>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6.7 </a:t>
            </a:r>
            <a:r>
              <a:rPr lang="zh-CN" altLang="en-US" dirty="0">
                <a:latin typeface="微软雅黑" panose="020B0503020204020204" pitchFamily="34" charset="-122"/>
                <a:ea typeface="微软雅黑" panose="020B0503020204020204" pitchFamily="34" charset="-122"/>
              </a:rPr>
              <a:t>异常与中断处理</a:t>
            </a:r>
            <a:endParaRPr lang="zh-CN" altLang="en-US" dirty="0"/>
          </a:p>
        </p:txBody>
      </p:sp>
      <p:sp>
        <p:nvSpPr>
          <p:cNvPr id="6" name="内容占位符 5">
            <a:extLst>
              <a:ext uri="{FF2B5EF4-FFF2-40B4-BE49-F238E27FC236}">
                <a16:creationId xmlns:a16="http://schemas.microsoft.com/office/drawing/2014/main" id="{29EFF3FC-87F8-8808-EBEF-E0DC2D7F0880}"/>
              </a:ext>
            </a:extLst>
          </p:cNvPr>
          <p:cNvSpPr>
            <a:spLocks noGrp="1"/>
          </p:cNvSpPr>
          <p:nvPr>
            <p:ph idx="1"/>
          </p:nvPr>
        </p:nvSpPr>
        <p:spPr>
          <a:xfrm>
            <a:off x="429274" y="994140"/>
            <a:ext cx="5860690" cy="5203460"/>
          </a:xfrm>
        </p:spPr>
        <p:txBody>
          <a:bodyPr/>
          <a:lstStyle/>
          <a:p>
            <a:r>
              <a:rPr lang="en-US" altLang="zh-CN" b="1" dirty="0">
                <a:latin typeface="微软雅黑" panose="020B0503020204020204" pitchFamily="34" charset="-122"/>
                <a:ea typeface="微软雅黑" panose="020B0503020204020204" pitchFamily="34" charset="-122"/>
              </a:rPr>
              <a:t>6.7.4 </a:t>
            </a:r>
            <a:r>
              <a:rPr lang="zh-CN" altLang="en-US" b="1" dirty="0">
                <a:latin typeface="微软雅黑" panose="020B0503020204020204" pitchFamily="34" charset="-122"/>
                <a:ea typeface="微软雅黑" panose="020B0503020204020204" pitchFamily="34" charset="-122"/>
              </a:rPr>
              <a:t>支持中断的</a:t>
            </a:r>
            <a:r>
              <a:rPr lang="en-US" altLang="zh-CN" b="1" dirty="0">
                <a:latin typeface="微软雅黑" panose="020B0503020204020204" pitchFamily="34" charset="-122"/>
                <a:ea typeface="微软雅黑" panose="020B0503020204020204" pitchFamily="34" charset="-122"/>
              </a:rPr>
              <a:t>CPU</a:t>
            </a:r>
            <a:r>
              <a:rPr lang="zh-CN" altLang="en-US" b="1" dirty="0">
                <a:latin typeface="微软雅黑" panose="020B0503020204020204" pitchFamily="34" charset="-122"/>
                <a:ea typeface="微软雅黑" panose="020B0503020204020204" pitchFamily="34" charset="-122"/>
              </a:rPr>
              <a:t>设计</a:t>
            </a:r>
            <a:endParaRPr lang="en-US" altLang="zh-CN" b="1" dirty="0">
              <a:latin typeface="微软雅黑" panose="020B0503020204020204" pitchFamily="34" charset="-122"/>
              <a:ea typeface="微软雅黑" panose="020B0503020204020204" pitchFamily="34" charset="-122"/>
            </a:endParaRPr>
          </a:p>
          <a:p>
            <a:pPr marL="449263" indent="-6350" defTabSz="720725">
              <a:buSzPct val="100000"/>
              <a:buFont typeface="Wingdings" panose="05000000000000000000" pitchFamily="2" charset="2"/>
              <a:buChar char="p"/>
            </a:pPr>
            <a:r>
              <a:rPr lang="zh-CN" altLang="en-US" sz="2200" b="1" dirty="0">
                <a:latin typeface="微软雅黑" panose="020B0503020204020204" pitchFamily="34" charset="-122"/>
                <a:ea typeface="微软雅黑" panose="020B0503020204020204" pitchFamily="34" charset="-122"/>
              </a:rPr>
              <a:t> 现代时序硬布线控制器升级</a:t>
            </a:r>
            <a:endParaRPr lang="en-US" altLang="zh-CN" sz="2000" b="1" dirty="0">
              <a:latin typeface="微软雅黑" panose="020B0503020204020204" pitchFamily="34" charset="-122"/>
              <a:ea typeface="微软雅黑" panose="020B0503020204020204" pitchFamily="34" charset="-122"/>
            </a:endParaRPr>
          </a:p>
          <a:p>
            <a:pPr lvl="1">
              <a:buFont typeface="Wingdings" panose="05000000000000000000" pitchFamily="2" charset="2"/>
              <a:buChar char="n"/>
            </a:pPr>
            <a:r>
              <a:rPr lang="zh-CN" altLang="en-US" sz="2000" b="1" dirty="0">
                <a:latin typeface="微软雅黑" panose="020B0503020204020204" pitchFamily="34" charset="-122"/>
                <a:ea typeface="微软雅黑" panose="020B0503020204020204" pitchFamily="34" charset="-122"/>
              </a:rPr>
              <a:t>同样可以对图</a:t>
            </a:r>
            <a:r>
              <a:rPr lang="en-US" altLang="zh-CN" sz="2000" b="1" dirty="0">
                <a:latin typeface="微软雅黑" panose="020B0503020204020204" pitchFamily="34" charset="-122"/>
                <a:ea typeface="微软雅黑" panose="020B0503020204020204" pitchFamily="34" charset="-122"/>
              </a:rPr>
              <a:t>6.45</a:t>
            </a:r>
            <a:r>
              <a:rPr lang="zh-CN" altLang="en-US" sz="2000" b="1" dirty="0">
                <a:latin typeface="微软雅黑" panose="020B0503020204020204" pitchFamily="34" charset="-122"/>
                <a:ea typeface="微软雅黑" panose="020B0503020204020204" pitchFamily="34" charset="-122"/>
              </a:rPr>
              <a:t>的</a:t>
            </a:r>
            <a:r>
              <a:rPr lang="zh-CN" altLang="en-US" sz="2000" b="1" dirty="0">
                <a:solidFill>
                  <a:srgbClr val="C00000"/>
                </a:solidFill>
                <a:latin typeface="微软雅黑" panose="020B0503020204020204" pitchFamily="34" charset="-122"/>
                <a:ea typeface="微软雅黑" panose="020B0503020204020204" pitchFamily="34" charset="-122"/>
              </a:rPr>
              <a:t>单总线</a:t>
            </a:r>
            <a:r>
              <a:rPr lang="zh-CN" altLang="en-US" sz="2000" b="1" dirty="0">
                <a:latin typeface="微软雅黑" panose="020B0503020204020204" pitchFamily="34" charset="-122"/>
                <a:ea typeface="微软雅黑" panose="020B0503020204020204" pitchFamily="34" charset="-122"/>
              </a:rPr>
              <a:t>结构计算机的</a:t>
            </a:r>
            <a:r>
              <a:rPr lang="zh-CN" altLang="en-US" sz="2000" b="1" dirty="0">
                <a:solidFill>
                  <a:srgbClr val="C00000"/>
                </a:solidFill>
                <a:latin typeface="微软雅黑" panose="020B0503020204020204" pitchFamily="34" charset="-122"/>
                <a:ea typeface="微软雅黑" panose="020B0503020204020204" pitchFamily="34" charset="-122"/>
              </a:rPr>
              <a:t>现代时序</a:t>
            </a:r>
            <a:r>
              <a:rPr lang="zh-CN" altLang="en-US" sz="2000" b="1" dirty="0">
                <a:latin typeface="微软雅黑" panose="020B0503020204020204" pitchFamily="34" charset="-122"/>
                <a:ea typeface="微软雅黑" panose="020B0503020204020204" pitchFamily="34" charset="-122"/>
              </a:rPr>
              <a:t>状态机进行升级，使其能支持中断，升级后的状态机如图</a:t>
            </a:r>
            <a:r>
              <a:rPr lang="en-US" altLang="zh-CN" sz="2000" b="1" dirty="0">
                <a:latin typeface="微软雅黑" panose="020B0503020204020204" pitchFamily="34" charset="-122"/>
                <a:ea typeface="微软雅黑" panose="020B0503020204020204" pitchFamily="34" charset="-122"/>
              </a:rPr>
              <a:t>6.66</a:t>
            </a:r>
            <a:r>
              <a:rPr lang="zh-CN" altLang="en-US" sz="2000" b="1" dirty="0">
                <a:latin typeface="微软雅黑" panose="020B0503020204020204" pitchFamily="34" charset="-122"/>
                <a:ea typeface="微软雅黑" panose="020B0503020204020204" pitchFamily="34" charset="-122"/>
              </a:rPr>
              <a:t>所示。</a:t>
            </a:r>
            <a:endParaRPr lang="en-US" altLang="zh-CN" sz="2000" b="1" dirty="0">
              <a:latin typeface="微软雅黑" panose="020B0503020204020204" pitchFamily="34" charset="-122"/>
              <a:ea typeface="微软雅黑" panose="020B0503020204020204" pitchFamily="34" charset="-122"/>
            </a:endParaRPr>
          </a:p>
          <a:p>
            <a:pPr lvl="1">
              <a:buFont typeface="Wingdings" panose="05000000000000000000" pitchFamily="2" charset="2"/>
              <a:buChar char="n"/>
            </a:pPr>
            <a:endParaRPr lang="en-US" altLang="zh-CN" sz="2000" b="1" dirty="0">
              <a:latin typeface="微软雅黑" panose="020B0503020204020204" pitchFamily="34" charset="-122"/>
              <a:ea typeface="微软雅黑" panose="020B0503020204020204" pitchFamily="34" charset="-122"/>
            </a:endParaRPr>
          </a:p>
          <a:p>
            <a:pPr lvl="1">
              <a:buFont typeface="Wingdings" panose="05000000000000000000" pitchFamily="2" charset="2"/>
              <a:buChar char="n"/>
            </a:pPr>
            <a:r>
              <a:rPr lang="zh-CN" altLang="en-US" sz="2000" b="1" dirty="0">
                <a:latin typeface="微软雅黑" panose="020B0503020204020204" pitchFamily="34" charset="-122"/>
                <a:ea typeface="微软雅黑" panose="020B0503020204020204" pitchFamily="34" charset="-122"/>
              </a:rPr>
              <a:t>图</a:t>
            </a:r>
            <a:r>
              <a:rPr lang="en-US" altLang="zh-CN" sz="2000" b="1" dirty="0">
                <a:latin typeface="微软雅黑" panose="020B0503020204020204" pitchFamily="34" charset="-122"/>
                <a:ea typeface="微软雅黑" panose="020B0503020204020204" pitchFamily="34" charset="-122"/>
              </a:rPr>
              <a:t>6.66</a:t>
            </a:r>
            <a:r>
              <a:rPr lang="zh-CN" altLang="en-US" sz="2000" b="1" dirty="0">
                <a:latin typeface="微软雅黑" panose="020B0503020204020204" pitchFamily="34" charset="-122"/>
                <a:ea typeface="微软雅黑" panose="020B0503020204020204" pitchFamily="34" charset="-122"/>
              </a:rPr>
              <a:t>中增加了</a:t>
            </a:r>
            <a:r>
              <a:rPr lang="en-US" altLang="zh-CN" sz="2000" b="1" dirty="0">
                <a:latin typeface="微软雅黑" panose="020B0503020204020204" pitchFamily="34" charset="-122"/>
                <a:ea typeface="微软雅黑" panose="020B0503020204020204" pitchFamily="34" charset="-122"/>
              </a:rPr>
              <a:t>2</a:t>
            </a:r>
            <a:r>
              <a:rPr lang="zh-CN" altLang="en-US" sz="2000" b="1" dirty="0">
                <a:latin typeface="微软雅黑" panose="020B0503020204020204" pitchFamily="34" charset="-122"/>
                <a:ea typeface="微软雅黑" panose="020B0503020204020204" pitchFamily="34" charset="-122"/>
              </a:rPr>
              <a:t>个状态</a:t>
            </a:r>
            <a:r>
              <a:rPr lang="en-US" altLang="zh-CN" sz="2000" b="1" dirty="0">
                <a:solidFill>
                  <a:srgbClr val="C00000"/>
                </a:solidFill>
                <a:latin typeface="微软雅黑" panose="020B0503020204020204" pitchFamily="34" charset="-122"/>
                <a:ea typeface="微软雅黑" panose="020B0503020204020204" pitchFamily="34" charset="-122"/>
              </a:rPr>
              <a:t>S</a:t>
            </a:r>
            <a:r>
              <a:rPr lang="en-US" altLang="zh-CN" sz="2000" b="1" baseline="-25000" dirty="0">
                <a:solidFill>
                  <a:srgbClr val="C00000"/>
                </a:solidFill>
                <a:latin typeface="微软雅黑" panose="020B0503020204020204" pitchFamily="34" charset="-122"/>
                <a:ea typeface="微软雅黑" panose="020B0503020204020204" pitchFamily="34" charset="-122"/>
              </a:rPr>
              <a:t>26</a:t>
            </a:r>
            <a:r>
              <a:rPr lang="zh-CN" altLang="en-US" sz="2000" b="1" dirty="0">
                <a:solidFill>
                  <a:srgbClr val="C00000"/>
                </a:solidFill>
                <a:latin typeface="微软雅黑" panose="020B0503020204020204" pitchFamily="34" charset="-122"/>
                <a:ea typeface="微软雅黑" panose="020B0503020204020204" pitchFamily="34" charset="-122"/>
              </a:rPr>
              <a:t>和</a:t>
            </a:r>
            <a:r>
              <a:rPr lang="en-US" altLang="zh-CN" sz="2000" b="1" dirty="0">
                <a:solidFill>
                  <a:srgbClr val="C00000"/>
                </a:solidFill>
                <a:latin typeface="微软雅黑" panose="020B0503020204020204" pitchFamily="34" charset="-122"/>
                <a:ea typeface="微软雅黑" panose="020B0503020204020204" pitchFamily="34" charset="-122"/>
              </a:rPr>
              <a:t>S</a:t>
            </a:r>
            <a:r>
              <a:rPr lang="en-US" altLang="zh-CN" sz="2000" b="1" baseline="-25000" dirty="0">
                <a:solidFill>
                  <a:srgbClr val="C00000"/>
                </a:solidFill>
                <a:latin typeface="微软雅黑" panose="020B0503020204020204" pitchFamily="34" charset="-122"/>
                <a:ea typeface="微软雅黑" panose="020B0503020204020204" pitchFamily="34" charset="-122"/>
              </a:rPr>
              <a:t>27</a:t>
            </a:r>
            <a:r>
              <a:rPr lang="zh-CN" altLang="en-US" sz="2000" b="1" dirty="0">
                <a:latin typeface="微软雅黑" panose="020B0503020204020204" pitchFamily="34" charset="-122"/>
                <a:ea typeface="微软雅黑" panose="020B0503020204020204" pitchFamily="34" charset="-122"/>
              </a:rPr>
              <a:t>，用于</a:t>
            </a:r>
            <a:r>
              <a:rPr lang="zh-CN" altLang="en-US" sz="2000" b="1" dirty="0">
                <a:solidFill>
                  <a:srgbClr val="C00000"/>
                </a:solidFill>
                <a:latin typeface="微软雅黑" panose="020B0503020204020204" pitchFamily="34" charset="-122"/>
                <a:ea typeface="微软雅黑" panose="020B0503020204020204" pitchFamily="34" charset="-122"/>
              </a:rPr>
              <a:t>中断响应。</a:t>
            </a:r>
            <a:endParaRPr lang="en-US" altLang="zh-CN" sz="2000" b="1" dirty="0">
              <a:solidFill>
                <a:srgbClr val="C00000"/>
              </a:solidFill>
              <a:latin typeface="微软雅黑" panose="020B0503020204020204" pitchFamily="34" charset="-122"/>
              <a:ea typeface="微软雅黑" panose="020B0503020204020204" pitchFamily="34" charset="-122"/>
            </a:endParaRPr>
          </a:p>
          <a:p>
            <a:pPr lvl="1">
              <a:buFont typeface="Wingdings" panose="05000000000000000000" pitchFamily="2" charset="2"/>
              <a:buChar char="n"/>
            </a:pPr>
            <a:endParaRPr lang="en-US" altLang="zh-CN" sz="2000" b="1" dirty="0">
              <a:latin typeface="微软雅黑" panose="020B0503020204020204" pitchFamily="34" charset="-122"/>
              <a:ea typeface="微软雅黑" panose="020B0503020204020204" pitchFamily="34" charset="-122"/>
            </a:endParaRPr>
          </a:p>
          <a:p>
            <a:pPr lvl="1">
              <a:buFont typeface="Wingdings" panose="05000000000000000000" pitchFamily="2" charset="2"/>
              <a:buChar char="n"/>
            </a:pPr>
            <a:r>
              <a:rPr lang="zh-CN" altLang="en-US" sz="2000" b="1" dirty="0">
                <a:latin typeface="微软雅黑" panose="020B0503020204020204" pitchFamily="34" charset="-122"/>
                <a:ea typeface="微软雅黑" panose="020B0503020204020204" pitchFamily="34" charset="-122"/>
              </a:rPr>
              <a:t>此外，也要</a:t>
            </a:r>
            <a:r>
              <a:rPr lang="zh-CN" altLang="en-US" sz="2000" b="1" dirty="0">
                <a:highlight>
                  <a:srgbClr val="FFFF00"/>
                </a:highlight>
                <a:latin typeface="微软雅黑" panose="020B0503020204020204" pitchFamily="34" charset="-122"/>
                <a:ea typeface="微软雅黑" panose="020B0503020204020204" pitchFamily="34" charset="-122"/>
              </a:rPr>
              <a:t>增加</a:t>
            </a:r>
            <a:r>
              <a:rPr lang="en-US" altLang="zh-CN" sz="2000" b="1" dirty="0">
                <a:highlight>
                  <a:srgbClr val="FFFF00"/>
                </a:highlight>
                <a:latin typeface="微软雅黑" panose="020B0503020204020204" pitchFamily="34" charset="-122"/>
                <a:ea typeface="微软雅黑" panose="020B0503020204020204" pitchFamily="34" charset="-122"/>
              </a:rPr>
              <a:t>1</a:t>
            </a:r>
            <a:r>
              <a:rPr lang="zh-CN" altLang="en-US" sz="2000" b="1" dirty="0">
                <a:highlight>
                  <a:srgbClr val="FFFF00"/>
                </a:highlight>
                <a:latin typeface="微软雅黑" panose="020B0503020204020204" pitchFamily="34" charset="-122"/>
                <a:ea typeface="微软雅黑" panose="020B0503020204020204" pitchFamily="34" charset="-122"/>
              </a:rPr>
              <a:t>条</a:t>
            </a:r>
            <a:r>
              <a:rPr lang="zh-CN" altLang="en-US" sz="2000" b="1" dirty="0">
                <a:latin typeface="微软雅黑" panose="020B0503020204020204" pitchFamily="34" charset="-122"/>
                <a:ea typeface="微软雅黑" panose="020B0503020204020204" pitchFamily="34" charset="-122"/>
              </a:rPr>
              <a:t>中断返回指令</a:t>
            </a:r>
            <a:r>
              <a:rPr lang="en-US" altLang="zh-CN" sz="2000" b="1" dirty="0" err="1">
                <a:solidFill>
                  <a:srgbClr val="C00000"/>
                </a:solidFill>
                <a:latin typeface="微软雅黑" panose="020B0503020204020204" pitchFamily="34" charset="-122"/>
                <a:ea typeface="微软雅黑" panose="020B0503020204020204" pitchFamily="34" charset="-122"/>
              </a:rPr>
              <a:t>eret</a:t>
            </a:r>
            <a:r>
              <a:rPr lang="zh-CN" altLang="en-US" sz="2000" b="1" dirty="0">
                <a:latin typeface="微软雅黑" panose="020B0503020204020204" pitchFamily="34" charset="-122"/>
                <a:ea typeface="微软雅黑" panose="020B0503020204020204" pitchFamily="34" charset="-122"/>
              </a:rPr>
              <a:t>，该指令的执行只需要</a:t>
            </a:r>
            <a:r>
              <a:rPr lang="en-US" altLang="zh-CN" sz="2000" b="1" dirty="0">
                <a:latin typeface="微软雅黑" panose="020B0503020204020204" pitchFamily="34" charset="-122"/>
                <a:ea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rPr>
              <a:t>个时钟周期</a:t>
            </a:r>
            <a:r>
              <a:rPr lang="en-US" altLang="zh-CN" sz="2000" b="1" dirty="0">
                <a:latin typeface="微软雅黑" panose="020B0503020204020204" pitchFamily="34" charset="-122"/>
                <a:ea typeface="微软雅黑" panose="020B0503020204020204" pitchFamily="34" charset="-122"/>
              </a:rPr>
              <a:t>S</a:t>
            </a:r>
            <a:r>
              <a:rPr lang="en-US" altLang="zh-CN" sz="2000" b="1" baseline="-25000" dirty="0">
                <a:latin typeface="微软雅黑" panose="020B0503020204020204" pitchFamily="34" charset="-122"/>
                <a:ea typeface="微软雅黑" panose="020B0503020204020204" pitchFamily="34" charset="-122"/>
              </a:rPr>
              <a:t>25</a:t>
            </a:r>
            <a:r>
              <a:rPr lang="zh-CN" altLang="en-US" sz="2000" b="1" dirty="0">
                <a:latin typeface="微软雅黑" panose="020B0503020204020204" pitchFamily="34" charset="-122"/>
                <a:ea typeface="微软雅黑" panose="020B0503020204020204" pitchFamily="34" charset="-122"/>
              </a:rPr>
              <a:t>。</a:t>
            </a:r>
            <a:endParaRPr lang="en-US" altLang="zh-CN" sz="1800" b="1" dirty="0">
              <a:latin typeface="微软雅黑" panose="020B0503020204020204" pitchFamily="34" charset="-122"/>
              <a:ea typeface="微软雅黑" panose="020B0503020204020204" pitchFamily="34" charset="-122"/>
            </a:endParaRPr>
          </a:p>
          <a:p>
            <a:pPr lvl="3"/>
            <a:endParaRPr lang="en-US" altLang="zh-CN" sz="1200" b="1" dirty="0">
              <a:latin typeface="微软雅黑" panose="020B0503020204020204" pitchFamily="34" charset="-122"/>
              <a:ea typeface="微软雅黑" panose="020B0503020204020204" pitchFamily="34" charset="-122"/>
            </a:endParaRPr>
          </a:p>
          <a:p>
            <a:pPr lvl="3"/>
            <a:endParaRPr lang="en-US" altLang="zh-CN" sz="1200" b="1" dirty="0">
              <a:latin typeface="微软雅黑" panose="020B0503020204020204" pitchFamily="34" charset="-122"/>
              <a:ea typeface="微软雅黑" panose="020B0503020204020204" pitchFamily="34" charset="-122"/>
            </a:endParaRPr>
          </a:p>
          <a:p>
            <a:pPr lvl="1"/>
            <a:endParaRPr lang="zh-CN" altLang="en-US" b="1" dirty="0">
              <a:latin typeface="微软雅黑" panose="020B0503020204020204" pitchFamily="34" charset="-122"/>
              <a:ea typeface="微软雅黑" panose="020B0503020204020204" pitchFamily="34" charset="-122"/>
            </a:endParaRPr>
          </a:p>
        </p:txBody>
      </p:sp>
      <p:grpSp>
        <p:nvGrpSpPr>
          <p:cNvPr id="7" name="组合 6">
            <a:extLst>
              <a:ext uri="{FF2B5EF4-FFF2-40B4-BE49-F238E27FC236}">
                <a16:creationId xmlns:a16="http://schemas.microsoft.com/office/drawing/2014/main" id="{CAFE170B-C49E-50FD-D73E-D4FDA59B0817}"/>
              </a:ext>
            </a:extLst>
          </p:cNvPr>
          <p:cNvGrpSpPr/>
          <p:nvPr/>
        </p:nvGrpSpPr>
        <p:grpSpPr>
          <a:xfrm>
            <a:off x="6507332" y="1484784"/>
            <a:ext cx="4386742" cy="3919210"/>
            <a:chOff x="2699792" y="2780928"/>
            <a:chExt cx="4176464" cy="3919210"/>
          </a:xfrm>
        </p:grpSpPr>
        <p:pic>
          <p:nvPicPr>
            <p:cNvPr id="5" name="图片 4">
              <a:extLst>
                <a:ext uri="{FF2B5EF4-FFF2-40B4-BE49-F238E27FC236}">
                  <a16:creationId xmlns:a16="http://schemas.microsoft.com/office/drawing/2014/main" id="{C3F19780-5B52-DB35-0F69-2C6F283F4561}"/>
                </a:ext>
              </a:extLst>
            </p:cNvPr>
            <p:cNvPicPr>
              <a:picLocks noChangeAspect="1"/>
            </p:cNvPicPr>
            <p:nvPr/>
          </p:nvPicPr>
          <p:blipFill>
            <a:blip r:embed="rId2"/>
            <a:stretch>
              <a:fillRect/>
            </a:stretch>
          </p:blipFill>
          <p:spPr>
            <a:xfrm>
              <a:off x="2699792" y="2780928"/>
              <a:ext cx="4176464" cy="3476339"/>
            </a:xfrm>
            <a:prstGeom prst="rect">
              <a:avLst/>
            </a:prstGeom>
          </p:spPr>
        </p:pic>
        <p:sp>
          <p:nvSpPr>
            <p:cNvPr id="9" name="文本框 8">
              <a:extLst>
                <a:ext uri="{FF2B5EF4-FFF2-40B4-BE49-F238E27FC236}">
                  <a16:creationId xmlns:a16="http://schemas.microsoft.com/office/drawing/2014/main" id="{46A152D6-75AA-BB0B-23F9-5BB43683461B}"/>
                </a:ext>
              </a:extLst>
            </p:cNvPr>
            <p:cNvSpPr txBox="1"/>
            <p:nvPr/>
          </p:nvSpPr>
          <p:spPr>
            <a:xfrm>
              <a:off x="2979432" y="6392361"/>
              <a:ext cx="3896824" cy="307777"/>
            </a:xfrm>
            <a:prstGeom prst="rect">
              <a:avLst/>
            </a:prstGeom>
            <a:noFill/>
          </p:spPr>
          <p:txBody>
            <a:bodyPr wrap="square" rtlCol="0">
              <a:spAutoFit/>
            </a:bodyPr>
            <a:lstStyle/>
            <a:p>
              <a:pPr algn="ctr"/>
              <a:r>
                <a:rPr lang="zh-CN" altLang="en-US" b="1" dirty="0">
                  <a:solidFill>
                    <a:srgbClr val="133984"/>
                  </a:solidFill>
                  <a:latin typeface="微软雅黑" panose="020B0503020204020204" pitchFamily="34" charset="-122"/>
                  <a:ea typeface="微软雅黑" panose="020B0503020204020204" pitchFamily="34" charset="-122"/>
                </a:rPr>
                <a:t>图</a:t>
              </a:r>
              <a:r>
                <a:rPr lang="en-US" altLang="zh-CN" b="1" dirty="0">
                  <a:solidFill>
                    <a:srgbClr val="133984"/>
                  </a:solidFill>
                  <a:latin typeface="微软雅黑" panose="020B0503020204020204" pitchFamily="34" charset="-122"/>
                  <a:ea typeface="微软雅黑" panose="020B0503020204020204" pitchFamily="34" charset="-122"/>
                </a:rPr>
                <a:t>6.66    </a:t>
              </a:r>
              <a:r>
                <a:rPr lang="zh-CN" altLang="en-US" b="1" dirty="0">
                  <a:solidFill>
                    <a:srgbClr val="133984"/>
                  </a:solidFill>
                  <a:latin typeface="微软雅黑" panose="020B0503020204020204" pitchFamily="34" charset="-122"/>
                  <a:ea typeface="微软雅黑" panose="020B0503020204020204" pitchFamily="34" charset="-122"/>
                </a:rPr>
                <a:t>支持中断的现代时序状态机</a:t>
              </a:r>
            </a:p>
          </p:txBody>
        </p:sp>
      </p:grpSp>
    </p:spTree>
    <p:extLst>
      <p:ext uri="{BB962C8B-B14F-4D97-AF65-F5344CB8AC3E}">
        <p14:creationId xmlns:p14="http://schemas.microsoft.com/office/powerpoint/2010/main" val="15250466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8A4B7EE7-32DE-B2F4-DD06-D29E51822775}"/>
              </a:ext>
            </a:extLst>
          </p:cNvPr>
          <p:cNvGrpSpPr/>
          <p:nvPr/>
        </p:nvGrpSpPr>
        <p:grpSpPr>
          <a:xfrm>
            <a:off x="6826583" y="1443187"/>
            <a:ext cx="5190370" cy="1839524"/>
            <a:chOff x="107504" y="4869160"/>
            <a:chExt cx="3926933" cy="1336018"/>
          </a:xfrm>
        </p:grpSpPr>
        <p:pic>
          <p:nvPicPr>
            <p:cNvPr id="8" name="图片 7">
              <a:extLst>
                <a:ext uri="{FF2B5EF4-FFF2-40B4-BE49-F238E27FC236}">
                  <a16:creationId xmlns:a16="http://schemas.microsoft.com/office/drawing/2014/main" id="{5E9D791A-7D56-74F8-7FEF-698E0041F5B2}"/>
                </a:ext>
              </a:extLst>
            </p:cNvPr>
            <p:cNvPicPr>
              <a:picLocks noChangeAspect="1"/>
            </p:cNvPicPr>
            <p:nvPr/>
          </p:nvPicPr>
          <p:blipFill>
            <a:blip r:embed="rId3"/>
            <a:stretch>
              <a:fillRect/>
            </a:stretch>
          </p:blipFill>
          <p:spPr>
            <a:xfrm>
              <a:off x="107504" y="4869160"/>
              <a:ext cx="3779912" cy="1109219"/>
            </a:xfrm>
            <a:prstGeom prst="rect">
              <a:avLst/>
            </a:prstGeom>
          </p:spPr>
        </p:pic>
        <p:sp>
          <p:nvSpPr>
            <p:cNvPr id="9" name="文本框 8">
              <a:extLst>
                <a:ext uri="{FF2B5EF4-FFF2-40B4-BE49-F238E27FC236}">
                  <a16:creationId xmlns:a16="http://schemas.microsoft.com/office/drawing/2014/main" id="{DD30BAC3-0C7F-AF26-C275-6F9700CCE5FD}"/>
                </a:ext>
              </a:extLst>
            </p:cNvPr>
            <p:cNvSpPr txBox="1"/>
            <p:nvPr/>
          </p:nvSpPr>
          <p:spPr>
            <a:xfrm>
              <a:off x="137613" y="5981644"/>
              <a:ext cx="3896824" cy="223534"/>
            </a:xfrm>
            <a:prstGeom prst="rect">
              <a:avLst/>
            </a:prstGeom>
            <a:noFill/>
          </p:spPr>
          <p:txBody>
            <a:bodyPr wrap="square" rtlCol="0">
              <a:spAutoFit/>
            </a:bodyPr>
            <a:lstStyle/>
            <a:p>
              <a:pPr algn="ctr"/>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图</a:t>
              </a:r>
              <a:r>
                <a:rPr lang="en-US" altLang="zh-CN" b="1" dirty="0">
                  <a:solidFill>
                    <a:srgbClr val="133984"/>
                  </a:solidFill>
                  <a:latin typeface="Calibri" panose="020F0502020204030204" pitchFamily="34" charset="0"/>
                  <a:ea typeface="微软雅黑" panose="020B0503020204020204" pitchFamily="34" charset="-122"/>
                  <a:cs typeface="Calibri" panose="020F0502020204030204" pitchFamily="34" charset="0"/>
                </a:rPr>
                <a:t>6.67    </a:t>
              </a:r>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支持中断的微指令格式（计数器法）</a:t>
              </a:r>
            </a:p>
          </p:txBody>
        </p:sp>
      </p:grpSp>
      <p:grpSp>
        <p:nvGrpSpPr>
          <p:cNvPr id="12" name="组合 11">
            <a:extLst>
              <a:ext uri="{FF2B5EF4-FFF2-40B4-BE49-F238E27FC236}">
                <a16:creationId xmlns:a16="http://schemas.microsoft.com/office/drawing/2014/main" id="{A9194569-17FA-B294-37C4-0A4620897CF7}"/>
              </a:ext>
            </a:extLst>
          </p:cNvPr>
          <p:cNvGrpSpPr/>
          <p:nvPr/>
        </p:nvGrpSpPr>
        <p:grpSpPr>
          <a:xfrm>
            <a:off x="6975646" y="3575290"/>
            <a:ext cx="4932040" cy="2831589"/>
            <a:chOff x="4104456" y="4296231"/>
            <a:chExt cx="4932040" cy="2831589"/>
          </a:xfrm>
        </p:grpSpPr>
        <p:pic>
          <p:nvPicPr>
            <p:cNvPr id="4" name="图片 3">
              <a:extLst>
                <a:ext uri="{FF2B5EF4-FFF2-40B4-BE49-F238E27FC236}">
                  <a16:creationId xmlns:a16="http://schemas.microsoft.com/office/drawing/2014/main" id="{D469E13D-ED21-F8FC-9EF1-747E70650260}"/>
                </a:ext>
              </a:extLst>
            </p:cNvPr>
            <p:cNvPicPr>
              <a:picLocks noChangeAspect="1"/>
            </p:cNvPicPr>
            <p:nvPr/>
          </p:nvPicPr>
          <p:blipFill>
            <a:blip r:embed="rId4"/>
            <a:stretch>
              <a:fillRect/>
            </a:stretch>
          </p:blipFill>
          <p:spPr>
            <a:xfrm>
              <a:off x="4104456" y="4296231"/>
              <a:ext cx="4932040" cy="2315259"/>
            </a:xfrm>
            <a:prstGeom prst="rect">
              <a:avLst/>
            </a:prstGeom>
          </p:spPr>
        </p:pic>
        <p:sp>
          <p:nvSpPr>
            <p:cNvPr id="11" name="文本框 10">
              <a:extLst>
                <a:ext uri="{FF2B5EF4-FFF2-40B4-BE49-F238E27FC236}">
                  <a16:creationId xmlns:a16="http://schemas.microsoft.com/office/drawing/2014/main" id="{E7041652-EC61-8A97-3626-0B19A204D27C}"/>
                </a:ext>
              </a:extLst>
            </p:cNvPr>
            <p:cNvSpPr txBox="1"/>
            <p:nvPr/>
          </p:nvSpPr>
          <p:spPr>
            <a:xfrm>
              <a:off x="4572000" y="6604600"/>
              <a:ext cx="4112848" cy="523220"/>
            </a:xfrm>
            <a:prstGeom prst="rect">
              <a:avLst/>
            </a:prstGeom>
            <a:noFill/>
          </p:spPr>
          <p:txBody>
            <a:bodyPr wrap="square" rtlCol="0">
              <a:spAutoFit/>
            </a:bodyPr>
            <a:lstStyle/>
            <a:p>
              <a:pPr algn="ctr"/>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图</a:t>
              </a:r>
              <a:r>
                <a:rPr lang="en-US" altLang="zh-CN" b="1" dirty="0">
                  <a:solidFill>
                    <a:srgbClr val="133984"/>
                  </a:solidFill>
                  <a:latin typeface="Calibri" panose="020F0502020204030204" pitchFamily="34" charset="0"/>
                  <a:ea typeface="微软雅黑" panose="020B0503020204020204" pitchFamily="34" charset="-122"/>
                  <a:cs typeface="Calibri" panose="020F0502020204030204" pitchFamily="34" charset="0"/>
                </a:rPr>
                <a:t>6.68   </a:t>
              </a:r>
              <a:r>
                <a:rPr lang="zh-CN" altLang="en-US"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支持中断的微程序控制器原理图（下址字段法）</a:t>
              </a:r>
            </a:p>
          </p:txBody>
        </p:sp>
      </p:grpSp>
      <p:sp>
        <p:nvSpPr>
          <p:cNvPr id="2" name="标题 1">
            <a:extLst>
              <a:ext uri="{FF2B5EF4-FFF2-40B4-BE49-F238E27FC236}">
                <a16:creationId xmlns:a16="http://schemas.microsoft.com/office/drawing/2014/main" id="{556E1CD0-7AD4-462B-B19F-5EAAE8E6623B}"/>
              </a:ext>
            </a:extLst>
          </p:cNvPr>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6.7 </a:t>
            </a:r>
            <a:r>
              <a:rPr lang="zh-CN" altLang="en-US" dirty="0">
                <a:latin typeface="微软雅黑" panose="020B0503020204020204" pitchFamily="34" charset="-122"/>
                <a:ea typeface="微软雅黑" panose="020B0503020204020204" pitchFamily="34" charset="-122"/>
              </a:rPr>
              <a:t>异常与中断处理</a:t>
            </a:r>
            <a:endParaRPr lang="zh-CN" altLang="en-US" dirty="0"/>
          </a:p>
        </p:txBody>
      </p:sp>
      <p:sp>
        <p:nvSpPr>
          <p:cNvPr id="3" name="内容占位符 2">
            <a:extLst>
              <a:ext uri="{FF2B5EF4-FFF2-40B4-BE49-F238E27FC236}">
                <a16:creationId xmlns:a16="http://schemas.microsoft.com/office/drawing/2014/main" id="{6DE7F83A-F3B3-413C-AD2C-9D1D9698EBA5}"/>
              </a:ext>
            </a:extLst>
          </p:cNvPr>
          <p:cNvSpPr>
            <a:spLocks noGrp="1"/>
          </p:cNvSpPr>
          <p:nvPr>
            <p:ph idx="1"/>
          </p:nvPr>
        </p:nvSpPr>
        <p:spPr>
          <a:xfrm>
            <a:off x="467950" y="944276"/>
            <a:ext cx="6507696" cy="5913723"/>
          </a:xfrm>
        </p:spPr>
        <p:txBody>
          <a:bodyPr/>
          <a:lstStyle/>
          <a:p>
            <a:r>
              <a:rPr lang="en-US" altLang="zh-CN" sz="2400" b="1" dirty="0">
                <a:latin typeface="微软雅黑" panose="020B0503020204020204" pitchFamily="34" charset="-122"/>
                <a:ea typeface="微软雅黑" panose="020B0503020204020204" pitchFamily="34" charset="-122"/>
                <a:cs typeface="Calibri" panose="020F0502020204030204" pitchFamily="34" charset="0"/>
              </a:rPr>
              <a:t>6.7.4 </a:t>
            </a:r>
            <a:r>
              <a:rPr lang="zh-CN" altLang="en-US" sz="2400" b="1" dirty="0">
                <a:latin typeface="微软雅黑" panose="020B0503020204020204" pitchFamily="34" charset="-122"/>
                <a:ea typeface="微软雅黑" panose="020B0503020204020204" pitchFamily="34" charset="-122"/>
                <a:cs typeface="Calibri" panose="020F0502020204030204" pitchFamily="34" charset="0"/>
              </a:rPr>
              <a:t>支持中断的</a:t>
            </a:r>
            <a:r>
              <a:rPr lang="en-US" altLang="zh-CN" sz="2400" b="1" dirty="0">
                <a:latin typeface="微软雅黑" panose="020B0503020204020204" pitchFamily="34" charset="-122"/>
                <a:ea typeface="微软雅黑" panose="020B0503020204020204" pitchFamily="34" charset="-122"/>
                <a:cs typeface="Calibri" panose="020F0502020204030204" pitchFamily="34" charset="0"/>
              </a:rPr>
              <a:t>CPU</a:t>
            </a:r>
            <a:r>
              <a:rPr lang="zh-CN" altLang="en-US" sz="2400" b="1" dirty="0">
                <a:latin typeface="微软雅黑" panose="020B0503020204020204" pitchFamily="34" charset="-122"/>
                <a:ea typeface="微软雅黑" panose="020B0503020204020204" pitchFamily="34" charset="-122"/>
                <a:cs typeface="Calibri" panose="020F0502020204030204" pitchFamily="34" charset="0"/>
              </a:rPr>
              <a:t>设计</a:t>
            </a:r>
            <a:endParaRPr lang="en-US" altLang="zh-CN" sz="2000" b="1" dirty="0">
              <a:latin typeface="微软雅黑" panose="020B0503020204020204" pitchFamily="34" charset="-122"/>
              <a:ea typeface="微软雅黑" panose="020B0503020204020204" pitchFamily="34" charset="-122"/>
              <a:cs typeface="Calibri" panose="020F0502020204030204" pitchFamily="34" charset="0"/>
            </a:endParaRPr>
          </a:p>
          <a:p>
            <a:pPr lvl="1">
              <a:buFont typeface="Wingdings" panose="05000000000000000000" pitchFamily="2" charset="2"/>
              <a:buChar char="p"/>
            </a:pPr>
            <a:r>
              <a:rPr lang="zh-CN" altLang="en-US" sz="2000" b="1" dirty="0">
                <a:latin typeface="Calibri" panose="020F0502020204030204" pitchFamily="34" charset="0"/>
                <a:ea typeface="微软雅黑" panose="020B0503020204020204" pitchFamily="34" charset="-122"/>
                <a:cs typeface="Calibri" panose="020F0502020204030204" pitchFamily="34" charset="0"/>
              </a:rPr>
              <a:t>微程序控制器升级</a:t>
            </a:r>
            <a:endParaRPr lang="en-US" altLang="zh-CN" sz="1800" b="1" dirty="0">
              <a:latin typeface="Calibri" panose="020F0502020204030204" pitchFamily="34" charset="0"/>
              <a:ea typeface="Calibri" panose="020F0502020204030204" pitchFamily="34" charset="0"/>
              <a:cs typeface="Calibri" panose="020F0502020204030204" pitchFamily="34" charset="0"/>
            </a:endParaRPr>
          </a:p>
          <a:p>
            <a:pPr marL="1081088" lvl="2" indent="-185738">
              <a:buFont typeface="Wingdings" panose="05000000000000000000" pitchFamily="2" charset="2"/>
              <a:buChar char="n"/>
            </a:pP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采用微程序设计方法实现图</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6.66</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的支持中断的现代时序状态机：</a:t>
            </a:r>
            <a:endPar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marL="1252538" lvl="3" indent="-185738">
              <a:buFont typeface="Wingdings" panose="05000000000000000000" pitchFamily="2" charset="2"/>
              <a:buChar char="n"/>
            </a:pPr>
            <a:r>
              <a:rPr lang="zh-CN" altLang="en-US" sz="15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首先</a:t>
            </a:r>
            <a:r>
              <a:rPr lang="zh-CN" altLang="en-US"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，要修改微指令格式，</a:t>
            </a:r>
            <a:r>
              <a:rPr lang="zh-CN" altLang="en-US" sz="15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增加</a:t>
            </a:r>
            <a:r>
              <a:rPr lang="en-US" altLang="zh-CN" sz="15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6</a:t>
            </a:r>
            <a:r>
              <a:rPr lang="zh-CN" altLang="en-US" sz="15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个中断控制信号</a:t>
            </a:r>
            <a:r>
              <a:rPr lang="zh-CN" altLang="en-US"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（表</a:t>
            </a:r>
            <a:r>
              <a:rPr lang="en-US" altLang="zh-CN"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6.3</a:t>
            </a:r>
            <a:r>
              <a:rPr lang="zh-CN" altLang="en-US"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endParaRPr lang="en-US" altLang="zh-CN"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marL="1252538" lvl="3" indent="-185738">
              <a:buFont typeface="Wingdings" panose="05000000000000000000" pitchFamily="2" charset="2"/>
              <a:buChar char="n"/>
            </a:pPr>
            <a:r>
              <a:rPr lang="zh-CN" altLang="en-US" sz="15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其次</a:t>
            </a:r>
            <a:r>
              <a:rPr lang="zh-CN" altLang="en-US"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r>
              <a:rPr lang="zh-CN" altLang="en-US" sz="15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要增加</a:t>
            </a:r>
            <a:r>
              <a:rPr lang="en-US" altLang="zh-CN" sz="15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2</a:t>
            </a:r>
            <a:r>
              <a:rPr lang="zh-CN" altLang="en-US" sz="15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条中断响应微指令</a:t>
            </a:r>
            <a:r>
              <a:rPr lang="zh-CN" altLang="en-US"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（对应图</a:t>
            </a:r>
            <a:r>
              <a:rPr lang="en-US" altLang="zh-CN"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6.66</a:t>
            </a:r>
            <a:r>
              <a:rPr lang="zh-CN" altLang="en-US"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中的</a:t>
            </a:r>
            <a:r>
              <a:rPr lang="en-US" altLang="zh-CN" sz="15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S26</a:t>
            </a:r>
            <a:r>
              <a:rPr lang="zh-CN" altLang="en-US" sz="15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和</a:t>
            </a:r>
            <a:r>
              <a:rPr lang="en-US" altLang="zh-CN" sz="15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S27</a:t>
            </a:r>
            <a:r>
              <a:rPr lang="zh-CN" altLang="en-US"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r>
              <a:rPr lang="zh-CN" altLang="en-US" sz="15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增加</a:t>
            </a:r>
            <a:r>
              <a:rPr lang="en-US" altLang="zh-CN" sz="15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1</a:t>
            </a:r>
            <a:r>
              <a:rPr lang="zh-CN" altLang="en-US" sz="15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条中断返回指令的微指令</a:t>
            </a:r>
            <a:r>
              <a:rPr lang="zh-CN" altLang="en-US"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（对应图</a:t>
            </a:r>
            <a:r>
              <a:rPr lang="en-US" altLang="zh-CN"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6.66</a:t>
            </a:r>
            <a:r>
              <a:rPr lang="zh-CN" altLang="en-US"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中的</a:t>
            </a:r>
            <a:r>
              <a:rPr lang="en-US" altLang="zh-CN" sz="15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S25</a:t>
            </a:r>
            <a:r>
              <a:rPr lang="zh-CN" altLang="en-US"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endParaRPr lang="en-US" altLang="zh-CN"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marL="1252538" lvl="3" indent="-185738">
              <a:buFont typeface="Wingdings" panose="05000000000000000000" pitchFamily="2" charset="2"/>
              <a:buChar char="n"/>
            </a:pPr>
            <a:r>
              <a:rPr lang="zh-CN" altLang="en-US" sz="15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此外</a:t>
            </a:r>
            <a:r>
              <a:rPr lang="zh-CN" altLang="en-US"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，指令执行完毕要进行中断判断，不管是下址字段法还是计数器法，都要有</a:t>
            </a:r>
            <a:r>
              <a:rPr lang="en-US" altLang="zh-CN" sz="15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Pend</a:t>
            </a:r>
            <a:r>
              <a:rPr lang="zh-CN" altLang="en-US"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测试位，并根据中断测试条件进行分支（如果有中断，则转中期响应周期；如果没有中断则转取指微程序入口）。</a:t>
            </a:r>
            <a:endParaRPr lang="en-US" altLang="zh-CN"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marL="1252538" lvl="3" indent="-185738">
              <a:buFont typeface="Wingdings" panose="05000000000000000000" pitchFamily="2" charset="2"/>
              <a:buChar char="n"/>
            </a:pPr>
            <a:endParaRPr lang="en-US" altLang="zh-CN"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marL="1081088" lvl="2" indent="-185738">
              <a:buFont typeface="Wingdings" panose="05000000000000000000" pitchFamily="2" charset="2"/>
              <a:buChar char="n"/>
            </a:pP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图</a:t>
            </a:r>
            <a:r>
              <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6.68</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为支持中断的微程序控制器原理图（</a:t>
            </a:r>
            <a:r>
              <a:rPr lang="zh-CN" altLang="en-US" sz="18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采用下址字段法</a:t>
            </a:r>
            <a:r>
              <a:rPr lang="zh-CN" altLang="en-US"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endParaRPr lang="en-US" altLang="zh-CN" sz="18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marL="1255713" lvl="4" indent="-174625">
              <a:buFont typeface="Wingdings" panose="05000000000000000000" pitchFamily="2" charset="2"/>
              <a:buChar char="n"/>
            </a:pPr>
            <a:r>
              <a:rPr lang="zh-CN" altLang="en-US" sz="15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第</a:t>
            </a:r>
            <a:r>
              <a:rPr lang="en-US" altLang="zh-CN" sz="15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1</a:t>
            </a:r>
            <a:r>
              <a:rPr lang="zh-CN" altLang="en-US" sz="15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种情况</a:t>
            </a:r>
            <a:r>
              <a:rPr lang="zh-CN" altLang="en-US"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r>
              <a:rPr lang="en-US" altLang="zh-CN"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Pend=1</a:t>
            </a:r>
            <a:r>
              <a:rPr lang="zh-CN" altLang="en-US"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、中断请求</a:t>
            </a:r>
            <a:r>
              <a:rPr lang="en-US" altLang="zh-CN" sz="1500" b="1" dirty="0" err="1">
                <a:solidFill>
                  <a:srgbClr val="133984"/>
                </a:solidFill>
                <a:latin typeface="Calibri" panose="020F0502020204030204" pitchFamily="34" charset="0"/>
                <a:ea typeface="微软雅黑" panose="020B0503020204020204" pitchFamily="34" charset="-122"/>
                <a:cs typeface="Calibri" panose="020F0502020204030204" pitchFamily="34" charset="0"/>
              </a:rPr>
              <a:t>IntR</a:t>
            </a:r>
            <a:r>
              <a:rPr lang="en-US" altLang="zh-CN"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=1</a:t>
            </a:r>
            <a:r>
              <a:rPr lang="zh-CN" altLang="en-US"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r>
              <a:rPr lang="en-US" altLang="zh-CN" sz="1500" b="1" dirty="0" err="1">
                <a:solidFill>
                  <a:srgbClr val="133984"/>
                </a:solidFill>
                <a:latin typeface="Calibri" panose="020F0502020204030204" pitchFamily="34" charset="0"/>
                <a:ea typeface="微软雅黑" panose="020B0503020204020204" pitchFamily="34" charset="-122"/>
                <a:cs typeface="Calibri" panose="020F0502020204030204" pitchFamily="34" charset="0"/>
              </a:rPr>
              <a:t>Pequal&amp;equal</a:t>
            </a:r>
            <a:r>
              <a:rPr lang="en-US" altLang="zh-CN"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=0</a:t>
            </a:r>
            <a:r>
              <a:rPr lang="zh-CN" altLang="en-US"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；进入中断响应周期</a:t>
            </a:r>
            <a:endParaRPr lang="en-US" altLang="zh-CN"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endParaRPr>
          </a:p>
          <a:p>
            <a:pPr marL="1255713" lvl="4" indent="-174625">
              <a:buFont typeface="Wingdings" panose="05000000000000000000" pitchFamily="2" charset="2"/>
              <a:buChar char="n"/>
            </a:pPr>
            <a:r>
              <a:rPr lang="zh-CN" altLang="en-US" sz="15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第</a:t>
            </a:r>
            <a:r>
              <a:rPr lang="en-US" altLang="zh-CN" sz="15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2</a:t>
            </a:r>
            <a:r>
              <a:rPr lang="zh-CN" altLang="en-US" sz="15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种情况</a:t>
            </a:r>
            <a:r>
              <a:rPr lang="zh-CN" altLang="en-US"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r>
              <a:rPr lang="en-US" altLang="zh-CN"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Pend=1</a:t>
            </a:r>
            <a:r>
              <a:rPr lang="zh-CN" altLang="en-US"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r>
              <a:rPr lang="en-US" altLang="zh-CN" sz="1500" b="1" dirty="0" err="1">
                <a:solidFill>
                  <a:srgbClr val="133984"/>
                </a:solidFill>
                <a:latin typeface="Calibri" panose="020F0502020204030204" pitchFamily="34" charset="0"/>
                <a:ea typeface="微软雅黑" panose="020B0503020204020204" pitchFamily="34" charset="-122"/>
                <a:cs typeface="Calibri" panose="020F0502020204030204" pitchFamily="34" charset="0"/>
              </a:rPr>
              <a:t>IntR</a:t>
            </a:r>
            <a:r>
              <a:rPr lang="en-US" altLang="zh-CN"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=0</a:t>
            </a:r>
            <a:r>
              <a:rPr lang="zh-CN" altLang="en-US"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；进入</a:t>
            </a:r>
            <a:r>
              <a:rPr lang="en-US" altLang="zh-CN"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S0</a:t>
            </a:r>
          </a:p>
          <a:p>
            <a:pPr marL="1255713" lvl="4" indent="-174625">
              <a:buFont typeface="Wingdings" panose="05000000000000000000" pitchFamily="2" charset="2"/>
              <a:buChar char="n"/>
            </a:pPr>
            <a:r>
              <a:rPr lang="zh-CN" altLang="en-US" sz="15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第</a:t>
            </a:r>
            <a:r>
              <a:rPr lang="en-US" altLang="zh-CN" sz="15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3</a:t>
            </a:r>
            <a:r>
              <a:rPr lang="zh-CN" altLang="en-US" sz="15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种情况</a:t>
            </a:r>
            <a:r>
              <a:rPr lang="zh-CN" altLang="en-US"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r>
              <a:rPr lang="en-US" altLang="zh-CN" sz="1500" b="1" dirty="0" err="1">
                <a:solidFill>
                  <a:srgbClr val="133984"/>
                </a:solidFill>
                <a:latin typeface="Calibri" panose="020F0502020204030204" pitchFamily="34" charset="0"/>
                <a:ea typeface="微软雅黑" panose="020B0503020204020204" pitchFamily="34" charset="-122"/>
                <a:cs typeface="Calibri" panose="020F0502020204030204" pitchFamily="34" charset="0"/>
              </a:rPr>
              <a:t>beq</a:t>
            </a:r>
            <a:r>
              <a:rPr lang="zh-CN" altLang="en-US"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指令，</a:t>
            </a:r>
            <a:r>
              <a:rPr lang="en-US" altLang="zh-CN"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Pend=1</a:t>
            </a:r>
            <a:r>
              <a:rPr lang="zh-CN" altLang="en-US"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r>
              <a:rPr lang="en-US" altLang="zh-CN" sz="1500" b="1" dirty="0" err="1">
                <a:solidFill>
                  <a:srgbClr val="133984"/>
                </a:solidFill>
                <a:latin typeface="Calibri" panose="020F0502020204030204" pitchFamily="34" charset="0"/>
                <a:ea typeface="微软雅黑" panose="020B0503020204020204" pitchFamily="34" charset="-122"/>
                <a:cs typeface="Calibri" panose="020F0502020204030204" pitchFamily="34" charset="0"/>
              </a:rPr>
              <a:t>IntR</a:t>
            </a:r>
            <a:r>
              <a:rPr lang="en-US" altLang="zh-CN"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=0</a:t>
            </a:r>
            <a:r>
              <a:rPr lang="zh-CN" altLang="en-US"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r>
              <a:rPr lang="en-US" altLang="zh-CN" sz="1500" b="1" dirty="0" err="1">
                <a:solidFill>
                  <a:srgbClr val="133984"/>
                </a:solidFill>
                <a:latin typeface="Calibri" panose="020F0502020204030204" pitchFamily="34" charset="0"/>
                <a:ea typeface="微软雅黑" panose="020B0503020204020204" pitchFamily="34" charset="-122"/>
                <a:cs typeface="Calibri" panose="020F0502020204030204" pitchFamily="34" charset="0"/>
              </a:rPr>
              <a:t>Pequal&amp;equal</a:t>
            </a:r>
            <a:r>
              <a:rPr lang="en-US" altLang="zh-CN"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=0</a:t>
            </a:r>
            <a:r>
              <a:rPr lang="zh-CN" altLang="en-US"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；进入</a:t>
            </a:r>
            <a:r>
              <a:rPr lang="en-US" altLang="zh-CN"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S0</a:t>
            </a:r>
          </a:p>
          <a:p>
            <a:pPr marL="1255713" lvl="4" indent="-174625">
              <a:buFont typeface="Wingdings" panose="05000000000000000000" pitchFamily="2" charset="2"/>
              <a:buChar char="n"/>
            </a:pPr>
            <a:r>
              <a:rPr lang="zh-CN" altLang="en-US" sz="15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第</a:t>
            </a:r>
            <a:r>
              <a:rPr lang="en-US" altLang="zh-CN" sz="15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4</a:t>
            </a:r>
            <a:r>
              <a:rPr lang="zh-CN" altLang="en-US" sz="15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种情况</a:t>
            </a:r>
            <a:r>
              <a:rPr lang="zh-CN" altLang="en-US"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r>
              <a:rPr lang="en-US" altLang="zh-CN" sz="1500" b="1" dirty="0" err="1">
                <a:solidFill>
                  <a:srgbClr val="133984"/>
                </a:solidFill>
                <a:latin typeface="Calibri" panose="020F0502020204030204" pitchFamily="34" charset="0"/>
                <a:ea typeface="微软雅黑" panose="020B0503020204020204" pitchFamily="34" charset="-122"/>
                <a:cs typeface="Calibri" panose="020F0502020204030204" pitchFamily="34" charset="0"/>
              </a:rPr>
              <a:t>beq</a:t>
            </a:r>
            <a:r>
              <a:rPr lang="zh-CN" altLang="en-US"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指令，</a:t>
            </a:r>
            <a:r>
              <a:rPr lang="en-US" altLang="zh-CN"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Pend=1</a:t>
            </a:r>
            <a:r>
              <a:rPr lang="zh-CN" altLang="en-US"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r>
              <a:rPr lang="en-US" altLang="zh-CN" sz="1500" b="1" dirty="0" err="1">
                <a:solidFill>
                  <a:srgbClr val="133984"/>
                </a:solidFill>
                <a:latin typeface="Calibri" panose="020F0502020204030204" pitchFamily="34" charset="0"/>
                <a:ea typeface="微软雅黑" panose="020B0503020204020204" pitchFamily="34" charset="-122"/>
                <a:cs typeface="Calibri" panose="020F0502020204030204" pitchFamily="34" charset="0"/>
              </a:rPr>
              <a:t>IntR</a:t>
            </a:r>
            <a:r>
              <a:rPr lang="en-US" altLang="zh-CN"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=0</a:t>
            </a:r>
            <a:r>
              <a:rPr lang="zh-CN" altLang="en-US"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a:t>
            </a:r>
            <a:r>
              <a:rPr lang="en-US" altLang="zh-CN" sz="1500" b="1" dirty="0" err="1">
                <a:solidFill>
                  <a:srgbClr val="133984"/>
                </a:solidFill>
                <a:latin typeface="Calibri" panose="020F0502020204030204" pitchFamily="34" charset="0"/>
                <a:ea typeface="微软雅黑" panose="020B0503020204020204" pitchFamily="34" charset="-122"/>
                <a:cs typeface="Calibri" panose="020F0502020204030204" pitchFamily="34" charset="0"/>
              </a:rPr>
              <a:t>Pequal&amp;equal</a:t>
            </a:r>
            <a:r>
              <a:rPr lang="en-US" altLang="zh-CN"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=1</a:t>
            </a:r>
            <a:r>
              <a:rPr lang="zh-CN" altLang="en-US"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；进入</a:t>
            </a:r>
            <a:r>
              <a:rPr lang="en-US" altLang="zh-CN" sz="1500" b="1" dirty="0">
                <a:solidFill>
                  <a:srgbClr val="133984"/>
                </a:solidFill>
                <a:latin typeface="Calibri" panose="020F0502020204030204" pitchFamily="34" charset="0"/>
                <a:ea typeface="微软雅黑" panose="020B0503020204020204" pitchFamily="34" charset="-122"/>
                <a:cs typeface="Calibri" panose="020F0502020204030204" pitchFamily="34" charset="0"/>
              </a:rPr>
              <a:t>S16</a:t>
            </a:r>
          </a:p>
          <a:p>
            <a:pPr lvl="2">
              <a:buFont typeface="Wingdings" panose="05000000000000000000" pitchFamily="2" charset="2"/>
              <a:buChar char="n"/>
            </a:pPr>
            <a:endParaRPr lang="en-US" altLang="zh-CN" sz="1400" b="1" dirty="0">
              <a:latin typeface="Calibri" panose="020F0502020204030204" pitchFamily="34" charset="0"/>
              <a:ea typeface="Calibri" panose="020F0502020204030204" pitchFamily="34" charset="0"/>
              <a:cs typeface="Calibri" panose="020F0502020204030204" pitchFamily="34" charset="0"/>
            </a:endParaRPr>
          </a:p>
          <a:p>
            <a:pPr marL="1094105" lvl="2" indent="0">
              <a:buNone/>
            </a:pPr>
            <a:endParaRPr lang="en-US" altLang="zh-CN" sz="1800" b="1" dirty="0">
              <a:latin typeface="Calibri" panose="020F0502020204030204" pitchFamily="34" charset="0"/>
              <a:ea typeface="Calibri" panose="020F0502020204030204" pitchFamily="34" charset="0"/>
              <a:cs typeface="Calibri" panose="020F0502020204030204" pitchFamily="34" charset="0"/>
            </a:endParaRPr>
          </a:p>
          <a:p>
            <a:pPr lvl="2">
              <a:buFont typeface="Wingdings" panose="05000000000000000000" pitchFamily="2" charset="2"/>
              <a:buChar char="n"/>
            </a:pPr>
            <a:endParaRPr lang="en-US" altLang="zh-CN" sz="1800" b="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zh-CN" altLang="en-US" sz="3200" dirty="0">
              <a:latin typeface="Calibri" panose="020F0502020204030204" pitchFamily="34" charset="0"/>
              <a:ea typeface="微软雅黑" panose="020B0503020204020204" pitchFamily="34" charset="-122"/>
              <a:cs typeface="Calibri" panose="020F0502020204030204" pitchFamily="34" charset="0"/>
            </a:endParaRPr>
          </a:p>
        </p:txBody>
      </p:sp>
    </p:spTree>
    <p:extLst>
      <p:ext uri="{BB962C8B-B14F-4D97-AF65-F5344CB8AC3E}">
        <p14:creationId xmlns:p14="http://schemas.microsoft.com/office/powerpoint/2010/main" val="13708586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28066E-14FB-4224-AADE-0191105EF995}"/>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结语</a:t>
            </a:r>
          </a:p>
        </p:txBody>
      </p:sp>
      <p:sp>
        <p:nvSpPr>
          <p:cNvPr id="3" name="内容占位符 2">
            <a:extLst>
              <a:ext uri="{FF2B5EF4-FFF2-40B4-BE49-F238E27FC236}">
                <a16:creationId xmlns:a16="http://schemas.microsoft.com/office/drawing/2014/main" id="{D72EC536-7877-4A6E-ACD1-5E41F3D75575}"/>
              </a:ext>
            </a:extLst>
          </p:cNvPr>
          <p:cNvSpPr>
            <a:spLocks noGrp="1"/>
          </p:cNvSpPr>
          <p:nvPr>
            <p:ph idx="1"/>
          </p:nvPr>
        </p:nvSpPr>
        <p:spPr>
          <a:xfrm>
            <a:off x="609600" y="945187"/>
            <a:ext cx="10972800" cy="5553267"/>
          </a:xfrm>
        </p:spPr>
        <p:txBody>
          <a:bodyPr/>
          <a:lstStyle/>
          <a:p>
            <a:pPr marL="0" indent="0">
              <a:buNone/>
            </a:pPr>
            <a:r>
              <a:rPr lang="zh-CN" altLang="en-US" sz="2400" b="1" dirty="0">
                <a:solidFill>
                  <a:srgbClr val="274FA2"/>
                </a:solidFill>
                <a:latin typeface="微软雅黑" panose="020B0503020204020204" pitchFamily="34" charset="-122"/>
                <a:ea typeface="微软雅黑" panose="020B0503020204020204" pitchFamily="34" charset="-122"/>
              </a:rPr>
              <a:t>    </a:t>
            </a:r>
            <a:r>
              <a:rPr lang="zh-CN" altLang="en-US" sz="2400" b="1" dirty="0">
                <a:latin typeface="Calibri" panose="020F0502020204030204" pitchFamily="34" charset="0"/>
                <a:ea typeface="微软雅黑" panose="020B0503020204020204" pitchFamily="34" charset="-122"/>
                <a:cs typeface="Calibri" panose="020F0502020204030204" pitchFamily="34" charset="0"/>
              </a:rPr>
              <a:t>通过本节课程的学习，我们从专业角度了解了中断技术的原理和实现细节，同时，也从中得到更多的启发：</a:t>
            </a:r>
            <a:endParaRPr lang="en-US" altLang="zh-CN" sz="2400" b="1" dirty="0">
              <a:latin typeface="Calibri" panose="020F0502020204030204" pitchFamily="34" charset="0"/>
              <a:ea typeface="微软雅黑" panose="020B0503020204020204" pitchFamily="34" charset="-122"/>
              <a:cs typeface="Calibri" panose="020F0502020204030204" pitchFamily="34" charset="0"/>
            </a:endParaRPr>
          </a:p>
          <a:p>
            <a:pPr marL="787400" lvl="1" indent="-342900">
              <a:buFont typeface="Wingdings" panose="05000000000000000000" pitchFamily="2" charset="2"/>
              <a:buChar char="p"/>
            </a:pPr>
            <a:r>
              <a:rPr lang="zh-CN" altLang="en-US" sz="2000" b="1" dirty="0">
                <a:latin typeface="Calibri" panose="020F0502020204030204" pitchFamily="34" charset="0"/>
                <a:ea typeface="微软雅黑" panose="020B0503020204020204" pitchFamily="34" charset="-122"/>
                <a:cs typeface="Calibri" panose="020F0502020204030204" pitchFamily="34" charset="0"/>
              </a:rPr>
              <a:t>中断技术实现了</a:t>
            </a:r>
            <a:r>
              <a:rPr lang="en-US" altLang="zh-CN" sz="2000" b="1" dirty="0">
                <a:latin typeface="Calibri" panose="020F0502020204030204" pitchFamily="34" charset="0"/>
                <a:ea typeface="微软雅黑" panose="020B0503020204020204" pitchFamily="34" charset="-122"/>
                <a:cs typeface="Calibri" panose="020F0502020204030204" pitchFamily="34" charset="0"/>
              </a:rPr>
              <a:t>CPU</a:t>
            </a:r>
            <a:r>
              <a:rPr lang="zh-CN" altLang="en-US" sz="2000" b="1" dirty="0">
                <a:latin typeface="Calibri" panose="020F0502020204030204" pitchFamily="34" charset="0"/>
                <a:ea typeface="微软雅黑" panose="020B0503020204020204" pitchFamily="34" charset="-122"/>
                <a:cs typeface="Calibri" panose="020F0502020204030204" pitchFamily="34" charset="0"/>
              </a:rPr>
              <a:t>与外设的并行工作方式，改变了早期的一些串行传输控制方式，但是，中断技术开销过大，不能支持较高的传输率。因而，并行方式是否一定优于串行方式，需要我们</a:t>
            </a:r>
            <a:r>
              <a:rPr lang="zh-CN" altLang="en-US"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辩证分析</a:t>
            </a:r>
            <a:r>
              <a:rPr lang="zh-CN" altLang="en-US" sz="2000" b="1" dirty="0">
                <a:latin typeface="Calibri" panose="020F0502020204030204" pitchFamily="34" charset="0"/>
                <a:ea typeface="微软雅黑" panose="020B0503020204020204" pitchFamily="34" charset="-122"/>
                <a:cs typeface="Calibri" panose="020F0502020204030204" pitchFamily="34" charset="0"/>
              </a:rPr>
              <a:t>，从</a:t>
            </a:r>
            <a:r>
              <a:rPr lang="zh-CN" altLang="en-US"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系统观点出发去理解其适用性</a:t>
            </a:r>
            <a:r>
              <a:rPr lang="zh-CN" altLang="en-US" sz="2000" b="1" dirty="0">
                <a:latin typeface="Calibri" panose="020F0502020204030204" pitchFamily="34" charset="0"/>
                <a:ea typeface="微软雅黑" panose="020B0503020204020204" pitchFamily="34" charset="-122"/>
                <a:cs typeface="Calibri" panose="020F0502020204030204" pitchFamily="34" charset="0"/>
              </a:rPr>
              <a:t>。</a:t>
            </a:r>
            <a:endParaRPr lang="en-US" altLang="zh-CN" sz="2000" b="1" dirty="0">
              <a:latin typeface="Calibri" panose="020F0502020204030204" pitchFamily="34" charset="0"/>
              <a:ea typeface="微软雅黑" panose="020B0503020204020204" pitchFamily="34" charset="-122"/>
              <a:cs typeface="Calibri" panose="020F0502020204030204" pitchFamily="34" charset="0"/>
            </a:endParaRPr>
          </a:p>
          <a:p>
            <a:pPr marL="787400" lvl="1" indent="-342900">
              <a:buFont typeface="Wingdings" panose="05000000000000000000" pitchFamily="2" charset="2"/>
              <a:buChar char="p"/>
            </a:pPr>
            <a:r>
              <a:rPr lang="zh-CN" altLang="en-US" sz="2000" b="1" dirty="0">
                <a:latin typeface="微软雅黑" panose="020B0503020204020204" pitchFamily="34" charset="-122"/>
                <a:ea typeface="微软雅黑" panose="020B0503020204020204" pitchFamily="34" charset="-122"/>
              </a:rPr>
              <a:t>硬布线控制器和微程序设计，虽然设计理念不同，但是，目标是一致的，因而，两者可以互相参考和借鉴，甚至可以互相</a:t>
            </a:r>
            <a:r>
              <a:rPr lang="zh-CN" altLang="en-US" sz="2000" b="1" dirty="0">
                <a:solidFill>
                  <a:srgbClr val="C00000"/>
                </a:solidFill>
                <a:latin typeface="微软雅黑" panose="020B0503020204020204" pitchFamily="34" charset="-122"/>
                <a:ea typeface="微软雅黑" panose="020B0503020204020204" pitchFamily="34" charset="-122"/>
              </a:rPr>
              <a:t>迁移</a:t>
            </a:r>
            <a:r>
              <a:rPr lang="zh-CN" altLang="en-US" sz="2000" b="1" dirty="0">
                <a:solidFill>
                  <a:srgbClr val="274FA2"/>
                </a:solidFill>
                <a:latin typeface="微软雅黑" panose="020B0503020204020204" pitchFamily="34" charset="-122"/>
                <a:ea typeface="微软雅黑" panose="020B0503020204020204" pitchFamily="34" charset="-122"/>
              </a:rPr>
              <a:t>。</a:t>
            </a:r>
          </a:p>
          <a:p>
            <a:pPr marL="787400" lvl="1" indent="-342900">
              <a:buFont typeface="Wingdings" panose="05000000000000000000" pitchFamily="2" charset="2"/>
              <a:buChar char="p"/>
            </a:pPr>
            <a:r>
              <a:rPr lang="zh-CN" altLang="en-US"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利用类比、比较分析方法</a:t>
            </a:r>
            <a:r>
              <a:rPr lang="zh-CN" altLang="en-US" sz="2000" b="1" dirty="0">
                <a:latin typeface="Calibri" panose="020F0502020204030204" pitchFamily="34" charset="0"/>
                <a:ea typeface="微软雅黑" panose="020B0503020204020204" pitchFamily="34" charset="-122"/>
                <a:cs typeface="Calibri" panose="020F0502020204030204" pitchFamily="34" charset="0"/>
              </a:rPr>
              <a:t>学习建立各个离散的概念，知识点之间的区别与联系，是实现知识学习</a:t>
            </a:r>
            <a:r>
              <a:rPr lang="zh-CN" altLang="en-US"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融会贯通</a:t>
            </a:r>
            <a:r>
              <a:rPr lang="zh-CN" altLang="en-US" sz="2000" b="1" dirty="0">
                <a:latin typeface="Calibri" panose="020F0502020204030204" pitchFamily="34" charset="0"/>
                <a:ea typeface="微软雅黑" panose="020B0503020204020204" pitchFamily="34" charset="-122"/>
                <a:cs typeface="Calibri" panose="020F0502020204030204" pitchFamily="34" charset="0"/>
              </a:rPr>
              <a:t>的主要手段。由点到面的知识思维导图的建立，有助于形成完整的知识体系，是培养学习和创新能力，提升综合素质的重要途径。</a:t>
            </a:r>
            <a:endParaRPr lang="en-US" altLang="zh-CN" sz="2000" b="1" dirty="0">
              <a:latin typeface="Calibri" panose="020F0502020204030204" pitchFamily="34" charset="0"/>
              <a:ea typeface="微软雅黑" panose="020B0503020204020204" pitchFamily="34" charset="-122"/>
              <a:cs typeface="Calibri" panose="020F0502020204030204" pitchFamily="34" charset="0"/>
            </a:endParaRPr>
          </a:p>
          <a:p>
            <a:pPr marL="787400" lvl="1" indent="-342900">
              <a:buFont typeface="Wingdings" panose="05000000000000000000" pitchFamily="2" charset="2"/>
              <a:buChar char="p"/>
            </a:pPr>
            <a:r>
              <a:rPr lang="zh-CN" altLang="en-US" sz="2000" b="1" dirty="0">
                <a:latin typeface="Calibri" panose="020F0502020204030204" pitchFamily="34" charset="0"/>
                <a:ea typeface="微软雅黑" panose="020B0503020204020204" pitchFamily="34" charset="-122"/>
                <a:cs typeface="Calibri" panose="020F0502020204030204" pitchFamily="34" charset="0"/>
              </a:rPr>
              <a:t>技术的设计与实现，在面向实际需求时，要秉承</a:t>
            </a:r>
            <a:r>
              <a:rPr lang="zh-CN" altLang="en-US"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严谨科学</a:t>
            </a:r>
            <a:r>
              <a:rPr lang="zh-CN" altLang="en-US" sz="2000" b="1" dirty="0">
                <a:latin typeface="Calibri" panose="020F0502020204030204" pitchFamily="34" charset="0"/>
                <a:ea typeface="微软雅黑" panose="020B0503020204020204" pitchFamily="34" charset="-122"/>
                <a:cs typeface="Calibri" panose="020F0502020204030204" pitchFamily="34" charset="0"/>
              </a:rPr>
              <a:t>的态度和辩证的</a:t>
            </a:r>
            <a:r>
              <a:rPr lang="zh-CN" altLang="en-US"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批判精神</a:t>
            </a:r>
            <a:r>
              <a:rPr lang="zh-CN" altLang="en-US" sz="2000" b="1" dirty="0">
                <a:latin typeface="Calibri" panose="020F0502020204030204" pitchFamily="34" charset="0"/>
                <a:ea typeface="微软雅黑" panose="020B0503020204020204" pitchFamily="34" charset="-122"/>
                <a:cs typeface="Calibri" panose="020F0502020204030204" pitchFamily="34" charset="0"/>
              </a:rPr>
              <a:t>，要有</a:t>
            </a:r>
            <a:r>
              <a:rPr lang="zh-CN" altLang="en-US"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全局意识</a:t>
            </a:r>
            <a:r>
              <a:rPr lang="zh-CN" altLang="en-US" sz="2000" b="1" dirty="0">
                <a:latin typeface="Calibri" panose="020F0502020204030204" pitchFamily="34" charset="0"/>
                <a:ea typeface="微软雅黑" panose="020B0503020204020204" pitchFamily="34" charset="-122"/>
                <a:cs typeface="Calibri" panose="020F0502020204030204" pitchFamily="34" charset="0"/>
              </a:rPr>
              <a:t>和</a:t>
            </a:r>
            <a:r>
              <a:rPr lang="zh-CN" altLang="en-US"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核心意识，</a:t>
            </a:r>
            <a:r>
              <a:rPr lang="zh-CN" altLang="en-US" sz="2000" b="1" dirty="0">
                <a:latin typeface="Calibri" panose="020F0502020204030204" pitchFamily="34" charset="0"/>
                <a:ea typeface="微软雅黑" panose="020B0503020204020204" pitchFamily="34" charset="-122"/>
                <a:cs typeface="Calibri" panose="020F0502020204030204" pitchFamily="34" charset="0"/>
              </a:rPr>
              <a:t>理解“</a:t>
            </a:r>
            <a:r>
              <a:rPr lang="zh-CN" altLang="en-US"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舍得</a:t>
            </a:r>
            <a:r>
              <a:rPr lang="zh-CN" altLang="en-US" sz="2000" b="1" dirty="0">
                <a:latin typeface="Calibri" panose="020F0502020204030204" pitchFamily="34" charset="0"/>
                <a:ea typeface="微软雅黑" panose="020B0503020204020204" pitchFamily="34" charset="-122"/>
                <a:cs typeface="Calibri" panose="020F0502020204030204" pitchFamily="34" charset="0"/>
              </a:rPr>
              <a:t>”的哲学思想，权衡利弊， 精耕细作，把控</a:t>
            </a:r>
            <a:r>
              <a:rPr lang="zh-CN" altLang="en-US"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细节，</a:t>
            </a:r>
            <a:r>
              <a:rPr lang="zh-CN" altLang="en-US" sz="2000" b="1" dirty="0">
                <a:latin typeface="Calibri" panose="020F0502020204030204" pitchFamily="34" charset="0"/>
                <a:ea typeface="微软雅黑" panose="020B0503020204020204" pitchFamily="34" charset="-122"/>
                <a:cs typeface="Calibri" panose="020F0502020204030204" pitchFamily="34" charset="0"/>
              </a:rPr>
              <a:t>才能使其经受得住时间的考验。</a:t>
            </a:r>
            <a:endParaRPr lang="en-US" altLang="zh-CN" sz="2000" b="1" dirty="0">
              <a:latin typeface="Calibri" panose="020F0502020204030204" pitchFamily="34" charset="0"/>
              <a:ea typeface="微软雅黑" panose="020B0503020204020204" pitchFamily="34" charset="-122"/>
              <a:cs typeface="Calibri" panose="020F0502020204030204" pitchFamily="34" charset="0"/>
            </a:endParaRPr>
          </a:p>
          <a:p>
            <a:pPr marL="787400" lvl="1" indent="-342900">
              <a:buFont typeface="Wingdings" panose="05000000000000000000" pitchFamily="2" charset="2"/>
              <a:buChar char="p"/>
            </a:pPr>
            <a:r>
              <a:rPr lang="zh-CN" altLang="en-US" sz="2000" b="1" dirty="0">
                <a:latin typeface="Calibri" panose="020F0502020204030204" pitchFamily="34" charset="0"/>
                <a:ea typeface="微软雅黑" panose="020B0503020204020204" pitchFamily="34" charset="-122"/>
                <a:cs typeface="Calibri" panose="020F0502020204030204" pitchFamily="34" charset="0"/>
              </a:rPr>
              <a:t>任何一项技术的发展都不是一蹴而就的事情，而是在需求的推动下，不断迭代演进，逐步完善的过程。道阻且长，需要保持</a:t>
            </a:r>
            <a:r>
              <a:rPr lang="zh-CN" altLang="en-US" sz="2000" b="1">
                <a:solidFill>
                  <a:srgbClr val="C00000"/>
                </a:solidFill>
                <a:latin typeface="Calibri" panose="020F0502020204030204" pitchFamily="34" charset="0"/>
                <a:ea typeface="微软雅黑" panose="020B0503020204020204" pitchFamily="34" charset="-122"/>
                <a:cs typeface="Calibri" panose="020F0502020204030204" pitchFamily="34" charset="0"/>
              </a:rPr>
              <a:t>初心</a:t>
            </a:r>
            <a:r>
              <a:rPr lang="zh-CN" altLang="en-US" sz="2000" b="1">
                <a:latin typeface="Calibri" panose="020F0502020204030204" pitchFamily="34" charset="0"/>
                <a:ea typeface="微软雅黑" panose="020B0503020204020204" pitchFamily="34" charset="-122"/>
                <a:cs typeface="Calibri" panose="020F0502020204030204" pitchFamily="34" charset="0"/>
              </a:rPr>
              <a:t>，培养</a:t>
            </a:r>
            <a:r>
              <a:rPr lang="zh-CN" altLang="en-US" sz="2000" b="1">
                <a:solidFill>
                  <a:srgbClr val="C00000"/>
                </a:solidFill>
                <a:latin typeface="Calibri" panose="020F0502020204030204" pitchFamily="34" charset="0"/>
                <a:ea typeface="微软雅黑" panose="020B0503020204020204" pitchFamily="34" charset="-122"/>
                <a:cs typeface="Calibri" panose="020F0502020204030204" pitchFamily="34" charset="0"/>
              </a:rPr>
              <a:t>恒心</a:t>
            </a:r>
            <a:r>
              <a:rPr lang="zh-CN" altLang="en-US" sz="2000" b="1" dirty="0">
                <a:solidFill>
                  <a:srgbClr val="C00000"/>
                </a:solidFill>
                <a:latin typeface="Calibri" panose="020F0502020204030204" pitchFamily="34" charset="0"/>
                <a:ea typeface="微软雅黑" panose="020B0503020204020204" pitchFamily="34" charset="-122"/>
                <a:cs typeface="Calibri" panose="020F0502020204030204" pitchFamily="34" charset="0"/>
              </a:rPr>
              <a:t>和耐心</a:t>
            </a:r>
            <a:r>
              <a:rPr lang="zh-CN" altLang="en-US" sz="2000" b="1" dirty="0">
                <a:latin typeface="Calibri" panose="020F0502020204030204" pitchFamily="34" charset="0"/>
                <a:ea typeface="微软雅黑" panose="020B0503020204020204" pitchFamily="34" charset="-122"/>
                <a:cs typeface="Calibri" panose="020F0502020204030204" pitchFamily="34" charset="0"/>
              </a:rPr>
              <a:t>。</a:t>
            </a:r>
            <a:endParaRPr lang="en-US" altLang="zh-CN" sz="2000" b="1" dirty="0">
              <a:latin typeface="Calibri" panose="020F0502020204030204" pitchFamily="34" charset="0"/>
              <a:ea typeface="微软雅黑" panose="020B0503020204020204" pitchFamily="34" charset="-122"/>
              <a:cs typeface="Calibri" panose="020F0502020204030204" pitchFamily="34" charset="0"/>
            </a:endParaRPr>
          </a:p>
          <a:p>
            <a:pPr marL="444500" lvl="1" indent="0">
              <a:buNone/>
            </a:pPr>
            <a:endParaRPr lang="en-US" altLang="zh-CN" sz="2000" b="1" dirty="0">
              <a:latin typeface="Calibri" panose="020F0502020204030204" pitchFamily="34" charset="0"/>
              <a:ea typeface="微软雅黑" panose="020B0503020204020204" pitchFamily="34" charset="-122"/>
              <a:cs typeface="Calibri" panose="020F0502020204030204" pitchFamily="34" charset="0"/>
            </a:endParaRPr>
          </a:p>
          <a:p>
            <a:pPr marL="808038" lvl="1" indent="-363538">
              <a:buFont typeface="Wingdings" panose="05000000000000000000" pitchFamily="2" charset="2"/>
              <a:buChar char="p"/>
            </a:pPr>
            <a:endParaRPr lang="en-US" altLang="zh-CN" sz="2000" b="1" dirty="0">
              <a:latin typeface="Calibri" panose="020F0502020204030204" pitchFamily="34" charset="0"/>
              <a:ea typeface="微软雅黑" panose="020B0503020204020204" pitchFamily="34" charset="-122"/>
              <a:cs typeface="Calibri" panose="020F0502020204030204" pitchFamily="34" charset="0"/>
            </a:endParaRPr>
          </a:p>
          <a:p>
            <a:pPr marL="808038" lvl="1" indent="-363538">
              <a:buFont typeface="Wingdings" panose="05000000000000000000" pitchFamily="2" charset="2"/>
              <a:buChar char="p"/>
            </a:pPr>
            <a:endParaRPr lang="en-US" altLang="zh-CN" sz="2000" b="1" dirty="0">
              <a:latin typeface="Calibri" panose="020F0502020204030204" pitchFamily="34" charset="0"/>
              <a:ea typeface="微软雅黑" panose="020B0503020204020204" pitchFamily="34" charset="-122"/>
              <a:cs typeface="Calibri" panose="020F0502020204030204" pitchFamily="34" charset="0"/>
            </a:endParaRPr>
          </a:p>
        </p:txBody>
      </p:sp>
    </p:spTree>
    <p:extLst>
      <p:ext uri="{BB962C8B-B14F-4D97-AF65-F5344CB8AC3E}">
        <p14:creationId xmlns:p14="http://schemas.microsoft.com/office/powerpoint/2010/main" val="1702917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mVhZWIxZjYyOWU3YTk4OWJiODgwOTgyNjBjNzEwOTEifQ=="/>
</p:tagLst>
</file>

<file path=ppt/theme/theme1.xml><?xml version="1.0" encoding="utf-8"?>
<a:theme xmlns:a="http://schemas.openxmlformats.org/drawingml/2006/main" name="1_自定义设计方案">
  <a:themeElements>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自定义设计方案">
      <a:majorFont>
        <a:latin typeface="Arial"/>
        <a:ea typeface="华文新魏"/>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bodyPr anchor="ctr"/>
      <a:lstStyle>
        <a:defPPr algn="ctr">
          <a:defRPr sz="800" b="1" dirty="0">
            <a:solidFill>
              <a:schemeClr val="tx1"/>
            </a:solidFill>
          </a:defRPr>
        </a:defPPr>
      </a:lstStyle>
      <a:style>
        <a:lnRef idx="1">
          <a:schemeClr val="accent3"/>
        </a:lnRef>
        <a:fillRef idx="3">
          <a:schemeClr val="accent3"/>
        </a:fillRef>
        <a:effectRef idx="2">
          <a:schemeClr val="accent3"/>
        </a:effectRef>
        <a:fontRef idx="minor">
          <a:schemeClr val="lt1"/>
        </a:fontRef>
      </a:style>
    </a:spDef>
    <a:lnDef>
      <a:spPr bwMode="auto">
        <a:xfrm>
          <a:off x="0" y="0"/>
          <a:ext cx="1" cy="1"/>
        </a:xfrm>
        <a:custGeom>
          <a:avLst/>
          <a:gdLst/>
          <a:ahLst/>
          <a:cxnLst/>
          <a:rect l="0" t="0" r="0" b="0"/>
          <a:pathLst/>
        </a:custGeom>
        <a:solidFill>
          <a:srgbClr val="DDDDDD"/>
        </a:solidFill>
        <a:ln w="28575" cap="flat" cmpd="sng" algn="ctr">
          <a:solidFill>
            <a:srgbClr val="922706"/>
          </a:solidFill>
          <a:prstDash val="solid"/>
          <a:round/>
          <a:headEnd type="none" w="med" len="med"/>
          <a:tailEnd type="none" w="med" len="med"/>
        </a:ln>
      </a:spPr>
      <a:bodyPr vert="horz" wrap="none" lIns="90000" tIns="46800" rIns="90000" bIns="46800" numCol="1" anchor="ctr" anchorCtr="0"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2400" b="0" i="0" u="none" strike="noStrike" cap="none" normalizeH="0" baseline="0" smtClean="0">
            <a:ln>
              <a:noFill/>
            </a:ln>
            <a:solidFill>
              <a:schemeClr val="tx1"/>
            </a:solidFill>
            <a:effectLst/>
            <a:latin typeface="Arial" panose="020B0604020202020204" pitchFamily="34" charset="0"/>
            <a:ea typeface="黑体" panose="02010609060101010101" pitchFamily="2" charset="-122"/>
          </a:defRPr>
        </a:defPPr>
      </a:lstStyle>
    </a:lnDef>
  </a:objectDefaults>
  <a:extraClrSchemeLst>
    <a:extraClrScheme>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6687</Words>
  <Application>Microsoft Office PowerPoint</Application>
  <PresentationFormat>宽屏</PresentationFormat>
  <Paragraphs>587</Paragraphs>
  <Slides>35</Slides>
  <Notes>23</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35</vt:i4>
      </vt:variant>
    </vt:vector>
  </HeadingPairs>
  <TitlesOfParts>
    <vt:vector size="45" baseType="lpstr">
      <vt:lpstr>黑体</vt:lpstr>
      <vt:lpstr>华文新魏</vt:lpstr>
      <vt:lpstr>宋体</vt:lpstr>
      <vt:lpstr>微软雅黑</vt:lpstr>
      <vt:lpstr>Arial</vt:lpstr>
      <vt:lpstr>Calibri</vt:lpstr>
      <vt:lpstr>Verdana</vt:lpstr>
      <vt:lpstr>Verdana Bold</vt:lpstr>
      <vt:lpstr>Wingdings</vt:lpstr>
      <vt:lpstr>1_自定义设计方案</vt:lpstr>
      <vt:lpstr>《计算机组成原理》之中断技术</vt:lpstr>
      <vt:lpstr>前言</vt:lpstr>
      <vt:lpstr>          6.7  异常与中断处理</vt:lpstr>
      <vt:lpstr>6.7 异常与中断处理</vt:lpstr>
      <vt:lpstr>6.7 异常与中断处理</vt:lpstr>
      <vt:lpstr>小结</vt:lpstr>
      <vt:lpstr>6.7 异常与中断处理</vt:lpstr>
      <vt:lpstr>6.7 异常与中断处理</vt:lpstr>
      <vt:lpstr>6.7 异常与中断处理</vt:lpstr>
      <vt:lpstr>6.7 异常与中断处理</vt:lpstr>
      <vt:lpstr>6.7 异常与中断处理</vt:lpstr>
      <vt:lpstr>小结</vt:lpstr>
      <vt:lpstr>6.7 异常与中断处理</vt:lpstr>
      <vt:lpstr>6.7 异常与中断处理</vt:lpstr>
      <vt:lpstr>6.7 异常与中断处理</vt:lpstr>
      <vt:lpstr>6.7 异常与中断处理</vt:lpstr>
      <vt:lpstr>6.7 异常与中断处理</vt:lpstr>
      <vt:lpstr>6.7 异常与中断处理</vt:lpstr>
      <vt:lpstr>6.7 异常与中断处理</vt:lpstr>
      <vt:lpstr>6.7 异常与中断处理</vt:lpstr>
      <vt:lpstr>6.7 异常与中断处理</vt:lpstr>
      <vt:lpstr>6.7 异常与中断处理</vt:lpstr>
      <vt:lpstr>6.7 异常与中断处理</vt:lpstr>
      <vt:lpstr>6.7 异常与中断处理</vt:lpstr>
      <vt:lpstr>6.7 异常与中断处理</vt:lpstr>
      <vt:lpstr>6.7 异常与中断处理</vt:lpstr>
      <vt:lpstr>6.7 异常与中断处理</vt:lpstr>
      <vt:lpstr>小结</vt:lpstr>
      <vt:lpstr>6.7 异常与中断处理</vt:lpstr>
      <vt:lpstr>6.7 异常与中断处理</vt:lpstr>
      <vt:lpstr>6.7 异常与中断处理</vt:lpstr>
      <vt:lpstr>6.7 异常与中断处理</vt:lpstr>
      <vt:lpstr>6.7 异常与中断处理</vt:lpstr>
      <vt:lpstr>6.7 异常与中断处理</vt:lpstr>
      <vt:lpstr>结语</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83</cp:revision>
  <dcterms:created xsi:type="dcterms:W3CDTF">2023-12-13T02:51:00Z</dcterms:created>
  <dcterms:modified xsi:type="dcterms:W3CDTF">2024-05-05T04:10:17Z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C8F91FE18F9B4AEFBC2EC420A3B0D6AF_13</vt:lpwstr>
  </property>
  <property fmtid="{D5CDD505-2E9C-101B-9397-08002B2CF9AE}" pid="3" name="KSOProductBuildVer">
    <vt:lpwstr>2052-12.1.0.16388</vt:lpwstr>
  </property>
</Properties>
</file>