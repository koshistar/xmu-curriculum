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14"/>
  </p:notesMasterIdLst>
  <p:sldIdLst>
    <p:sldId id="256" r:id="rId2"/>
    <p:sldId id="620" r:id="rId3"/>
    <p:sldId id="509" r:id="rId4"/>
    <p:sldId id="1111" r:id="rId5"/>
    <p:sldId id="1210" r:id="rId6"/>
    <p:sldId id="1211" r:id="rId7"/>
    <p:sldId id="1212" r:id="rId8"/>
    <p:sldId id="1213" r:id="rId9"/>
    <p:sldId id="1214" r:id="rId10"/>
    <p:sldId id="1215" r:id="rId11"/>
    <p:sldId id="1219" r:id="rId12"/>
    <p:sldId id="1216" r:id="rId13"/>
    <p:sldId id="1220" r:id="rId14"/>
    <p:sldId id="1217" r:id="rId15"/>
    <p:sldId id="1218" r:id="rId16"/>
    <p:sldId id="1221" r:id="rId17"/>
    <p:sldId id="1201" r:id="rId18"/>
    <p:sldId id="1398" r:id="rId19"/>
    <p:sldId id="1222" r:id="rId20"/>
    <p:sldId id="1223" r:id="rId21"/>
    <p:sldId id="1224" r:id="rId22"/>
    <p:sldId id="1225" r:id="rId23"/>
    <p:sldId id="1226" r:id="rId24"/>
    <p:sldId id="1227" r:id="rId25"/>
    <p:sldId id="1229" r:id="rId26"/>
    <p:sldId id="1230" r:id="rId27"/>
    <p:sldId id="1231" r:id="rId28"/>
    <p:sldId id="1232" r:id="rId29"/>
    <p:sldId id="1233" r:id="rId30"/>
    <p:sldId id="1234" r:id="rId31"/>
    <p:sldId id="1235" r:id="rId32"/>
    <p:sldId id="1427" r:id="rId33"/>
    <p:sldId id="1428" r:id="rId34"/>
    <p:sldId id="1236" r:id="rId35"/>
    <p:sldId id="1237" r:id="rId36"/>
    <p:sldId id="1238" r:id="rId37"/>
    <p:sldId id="1239" r:id="rId38"/>
    <p:sldId id="1240" r:id="rId39"/>
    <p:sldId id="1241" r:id="rId40"/>
    <p:sldId id="1242" r:id="rId41"/>
    <p:sldId id="1243" r:id="rId42"/>
    <p:sldId id="1244" r:id="rId43"/>
    <p:sldId id="1245" r:id="rId44"/>
    <p:sldId id="1246" r:id="rId45"/>
    <p:sldId id="1247" r:id="rId46"/>
    <p:sldId id="1415" r:id="rId47"/>
    <p:sldId id="1248" r:id="rId48"/>
    <p:sldId id="1250" r:id="rId49"/>
    <p:sldId id="1303" r:id="rId50"/>
    <p:sldId id="1251" r:id="rId51"/>
    <p:sldId id="1252" r:id="rId52"/>
    <p:sldId id="1253" r:id="rId53"/>
    <p:sldId id="1254" r:id="rId54"/>
    <p:sldId id="1255" r:id="rId55"/>
    <p:sldId id="1426" r:id="rId56"/>
    <p:sldId id="1256" r:id="rId57"/>
    <p:sldId id="1425" r:id="rId58"/>
    <p:sldId id="1397" r:id="rId59"/>
    <p:sldId id="1261" r:id="rId60"/>
    <p:sldId id="1416" r:id="rId61"/>
    <p:sldId id="1418" r:id="rId62"/>
    <p:sldId id="1417" r:id="rId63"/>
    <p:sldId id="1424" r:id="rId64"/>
    <p:sldId id="1203" r:id="rId65"/>
    <p:sldId id="1257" r:id="rId66"/>
    <p:sldId id="1258" r:id="rId67"/>
    <p:sldId id="1259" r:id="rId68"/>
    <p:sldId id="1260" r:id="rId69"/>
    <p:sldId id="1407" r:id="rId70"/>
    <p:sldId id="1408" r:id="rId71"/>
    <p:sldId id="1409" r:id="rId72"/>
    <p:sldId id="1410" r:id="rId73"/>
    <p:sldId id="1413" r:id="rId74"/>
    <p:sldId id="1414" r:id="rId75"/>
    <p:sldId id="1205" r:id="rId76"/>
    <p:sldId id="1262" r:id="rId77"/>
    <p:sldId id="1263" r:id="rId78"/>
    <p:sldId id="1264" r:id="rId79"/>
    <p:sldId id="1265" r:id="rId80"/>
    <p:sldId id="1267" r:id="rId81"/>
    <p:sldId id="1266" r:id="rId82"/>
    <p:sldId id="1268" r:id="rId83"/>
    <p:sldId id="1207" r:id="rId84"/>
    <p:sldId id="1269" r:id="rId85"/>
    <p:sldId id="1270" r:id="rId86"/>
    <p:sldId id="1271" r:id="rId87"/>
    <p:sldId id="1272" r:id="rId88"/>
    <p:sldId id="1419" r:id="rId89"/>
    <p:sldId id="1273" r:id="rId90"/>
    <p:sldId id="1274" r:id="rId91"/>
    <p:sldId id="1420" r:id="rId92"/>
    <p:sldId id="1421" r:id="rId93"/>
    <p:sldId id="1301" r:id="rId94"/>
    <p:sldId id="1344" r:id="rId95"/>
    <p:sldId id="1422" r:id="rId96"/>
    <p:sldId id="1423" r:id="rId97"/>
    <p:sldId id="1275" r:id="rId98"/>
    <p:sldId id="1276" r:id="rId99"/>
    <p:sldId id="1277" r:id="rId100"/>
    <p:sldId id="1278" r:id="rId101"/>
    <p:sldId id="1030" r:id="rId102"/>
    <p:sldId id="1402" r:id="rId103"/>
    <p:sldId id="1403" r:id="rId104"/>
    <p:sldId id="1279" r:id="rId105"/>
    <p:sldId id="1281" r:id="rId106"/>
    <p:sldId id="1282" r:id="rId107"/>
    <p:sldId id="1280" r:id="rId108"/>
    <p:sldId id="1283" r:id="rId109"/>
    <p:sldId id="1284" r:id="rId110"/>
    <p:sldId id="1285" r:id="rId111"/>
    <p:sldId id="1286" r:id="rId112"/>
    <p:sldId id="1287" r:id="rId113"/>
    <p:sldId id="1288" r:id="rId114"/>
    <p:sldId id="1404" r:id="rId115"/>
    <p:sldId id="1289" r:id="rId116"/>
    <p:sldId id="1290" r:id="rId117"/>
    <p:sldId id="1291" r:id="rId118"/>
    <p:sldId id="1292" r:id="rId119"/>
    <p:sldId id="1293" r:id="rId120"/>
    <p:sldId id="1294" r:id="rId121"/>
    <p:sldId id="1297" r:id="rId122"/>
    <p:sldId id="1295" r:id="rId123"/>
    <p:sldId id="1296" r:id="rId124"/>
    <p:sldId id="1298" r:id="rId125"/>
    <p:sldId id="1299" r:id="rId126"/>
    <p:sldId id="1405" r:id="rId127"/>
    <p:sldId id="1300" r:id="rId128"/>
    <p:sldId id="1304" r:id="rId129"/>
    <p:sldId id="1305" r:id="rId130"/>
    <p:sldId id="1306" r:id="rId131"/>
    <p:sldId id="1307" r:id="rId132"/>
    <p:sldId id="1308" r:id="rId133"/>
    <p:sldId id="1309" r:id="rId134"/>
    <p:sldId id="1310" r:id="rId135"/>
    <p:sldId id="1311" r:id="rId136"/>
    <p:sldId id="1312" r:id="rId137"/>
    <p:sldId id="1313" r:id="rId138"/>
    <p:sldId id="1314" r:id="rId139"/>
    <p:sldId id="1315" r:id="rId140"/>
    <p:sldId id="1316" r:id="rId141"/>
    <p:sldId id="1317" r:id="rId142"/>
    <p:sldId id="1318" r:id="rId143"/>
    <p:sldId id="1319" r:id="rId144"/>
    <p:sldId id="1320" r:id="rId145"/>
    <p:sldId id="1321" r:id="rId146"/>
    <p:sldId id="1322" r:id="rId147"/>
    <p:sldId id="1323" r:id="rId148"/>
    <p:sldId id="1324" r:id="rId149"/>
    <p:sldId id="1325" r:id="rId150"/>
    <p:sldId id="1326" r:id="rId151"/>
    <p:sldId id="1327" r:id="rId152"/>
    <p:sldId id="1329" r:id="rId153"/>
    <p:sldId id="1330" r:id="rId154"/>
    <p:sldId id="1331" r:id="rId155"/>
    <p:sldId id="1332" r:id="rId156"/>
    <p:sldId id="1333" r:id="rId157"/>
    <p:sldId id="1334" r:id="rId158"/>
    <p:sldId id="1335" r:id="rId159"/>
    <p:sldId id="1336" r:id="rId160"/>
    <p:sldId id="1337" r:id="rId161"/>
    <p:sldId id="1338" r:id="rId162"/>
    <p:sldId id="1339" r:id="rId163"/>
    <p:sldId id="1340" r:id="rId164"/>
    <p:sldId id="1341" r:id="rId165"/>
    <p:sldId id="1342" r:id="rId166"/>
    <p:sldId id="1343" r:id="rId167"/>
    <p:sldId id="1302" r:id="rId168"/>
    <p:sldId id="1345" r:id="rId169"/>
    <p:sldId id="1346" r:id="rId170"/>
    <p:sldId id="1209" r:id="rId171"/>
    <p:sldId id="1347" r:id="rId172"/>
    <p:sldId id="1349" r:id="rId173"/>
    <p:sldId id="1348" r:id="rId174"/>
    <p:sldId id="1351" r:id="rId175"/>
    <p:sldId id="1352" r:id="rId176"/>
    <p:sldId id="1353" r:id="rId177"/>
    <p:sldId id="1355" r:id="rId178"/>
    <p:sldId id="1354" r:id="rId179"/>
    <p:sldId id="1356" r:id="rId180"/>
    <p:sldId id="1357" r:id="rId181"/>
    <p:sldId id="1358" r:id="rId182"/>
    <p:sldId id="1359" r:id="rId183"/>
    <p:sldId id="1360" r:id="rId184"/>
    <p:sldId id="1361" r:id="rId185"/>
    <p:sldId id="1362" r:id="rId186"/>
    <p:sldId id="1363" r:id="rId187"/>
    <p:sldId id="1364" r:id="rId188"/>
    <p:sldId id="1365" r:id="rId189"/>
    <p:sldId id="1366" r:id="rId190"/>
    <p:sldId id="1371" r:id="rId191"/>
    <p:sldId id="1372" r:id="rId192"/>
    <p:sldId id="1373" r:id="rId193"/>
    <p:sldId id="1374" r:id="rId194"/>
    <p:sldId id="1379" r:id="rId195"/>
    <p:sldId id="1378" r:id="rId196"/>
    <p:sldId id="1377" r:id="rId197"/>
    <p:sldId id="1380" r:id="rId198"/>
    <p:sldId id="1385" r:id="rId199"/>
    <p:sldId id="1381" r:id="rId200"/>
    <p:sldId id="1382" r:id="rId201"/>
    <p:sldId id="1383" r:id="rId202"/>
    <p:sldId id="1384" r:id="rId203"/>
    <p:sldId id="1386" r:id="rId204"/>
    <p:sldId id="1387" r:id="rId205"/>
    <p:sldId id="1388" r:id="rId206"/>
    <p:sldId id="1389" r:id="rId207"/>
    <p:sldId id="1390" r:id="rId208"/>
    <p:sldId id="1391" r:id="rId209"/>
    <p:sldId id="1392" r:id="rId210"/>
    <p:sldId id="1393" r:id="rId211"/>
    <p:sldId id="1396" r:id="rId212"/>
    <p:sldId id="1395" r:id="rId2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BB"/>
    <a:srgbClr val="00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80" autoAdjust="0"/>
  </p:normalViewPr>
  <p:slideViewPr>
    <p:cSldViewPr>
      <p:cViewPr varScale="1">
        <p:scale>
          <a:sx n="93" d="100"/>
          <a:sy n="93" d="100"/>
        </p:scale>
        <p:origin x="11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tableStyles" Target="tableStyle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notesMaster" Target="notesMasters/notes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2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039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CF18A3-CD77-4585-BC64-9AE38406B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B5DF22B-6CE9-4FB4-983B-B032DF1A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0A8704-ECA6-453C-95E9-32D2194C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2A0AA-0961-4A87-BBA1-6CAD824F1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2559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2024/3/23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wm.proedu.com.cn/previewIndex/1097829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89415485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ewm.proedu.com.cn/previewIndex/1097830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zvideo/1614404149566722048" TargetMode="External"/><Relationship Id="rId2" Type="http://schemas.openxmlformats.org/officeDocument/2006/relationships/hyperlink" Target="https://ewm.proedu.com.cn/previewIndex/10978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D%98%E5%82%A8" TargetMode="External"/><Relationship Id="rId2" Type="http://schemas.openxmlformats.org/officeDocument/2006/relationships/hyperlink" Target="https://baike.baidu.com/item/%E8%A1%8C%E5%9C%B0%E5%9D%8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baike.baidu.com/item/%E6%95%B0%E6%8D%AE%E8%BE%93%E5%87%BA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6%B0%B4%E9%80%9F&amp;search_source=Entity&amp;hybrid_search_source=Entity&amp;hybrid_search_extra=%7b%22sourceType%22:%22article%22,%22sourceId%22:%2220940759%22%7d" TargetMode="External"/><Relationship Id="rId2" Type="http://schemas.openxmlformats.org/officeDocument/2006/relationships/hyperlink" Target="https://www.zhihu.com/search?q=%E6%B0%B4%E6%B5%81%E9%80%9F&amp;search_source=Entity&amp;hybrid_search_source=Entity&amp;hybrid_search_extra=%7b%22sourceType%22:%22article%22,%22sourceId%22:%2220940759%22%7d" TargetMode="Externa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6%8E%A5%E5%8F%A3%E9%80%9F%E5%BA%A6&amp;search_source=Entity&amp;hybrid_search_source=Entity&amp;hybrid_search_extra=%7b%22sourceType%22:%22article%22,%22sourceId%22:%2220940759%22%7d" TargetMode="Externa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631577556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5%86%99%E5%85%A5&amp;search_source=Entity&amp;hybrid_search_source=Entity&amp;hybrid_search_extra=%7b%22sourceType%22:%22article%22,%22sourceId%22:%22571429282%22%7d" TargetMode="External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7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570527388" TargetMode="Externa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（第四讲）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张海英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2024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3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  <a:r>
              <a:rPr lang="en-US" altLang="zh-CN" sz="2800" b="1" dirty="0">
                <a:solidFill>
                  <a:srgbClr val="002060"/>
                </a:solidFill>
              </a:rPr>
              <a:t>19</a:t>
            </a:r>
            <a:r>
              <a:rPr lang="zh-CN" altLang="en-US" sz="2800" b="1" dirty="0">
                <a:solidFill>
                  <a:srgbClr val="002060"/>
                </a:solidFill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　存储系统　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章　总线系统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存储系统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375" y="1916832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存储器概述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半导体存储器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主存的组织及与</a:t>
            </a: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CPU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的连接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并行主存系统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4.5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高速缓冲存储器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4.6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虚拟存储器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4.1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存储器概述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、按存储介质分类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）磁存储器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硬盘</a:t>
            </a:r>
            <a:r>
              <a:rPr lang="zh-CN" altLang="en-US" sz="1200" b="1" dirty="0"/>
              <a:t>、磁带，早期的软盘、磁芯（属于内存）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）半导体存储器</a:t>
            </a:r>
            <a:endParaRPr lang="en-US" altLang="zh-CN" sz="18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双极型存储器（</a:t>
            </a:r>
            <a:r>
              <a:rPr lang="en-US" altLang="zh-CN" sz="1200" b="1" dirty="0"/>
              <a:t>TTL</a:t>
            </a:r>
            <a:r>
              <a:rPr lang="zh-CN" altLang="en-US" sz="1200" b="1" dirty="0"/>
              <a:t>型和</a:t>
            </a:r>
            <a:r>
              <a:rPr lang="en-US" altLang="zh-CN" sz="1200" b="1" dirty="0"/>
              <a:t>ECL</a:t>
            </a:r>
            <a:r>
              <a:rPr lang="zh-CN" altLang="en-US" sz="1200" b="1" dirty="0"/>
              <a:t>型）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金属氧化物半导体存储器（</a:t>
            </a:r>
            <a:r>
              <a:rPr lang="en-US" altLang="zh-CN" sz="1200" b="1" dirty="0"/>
              <a:t>MOS</a:t>
            </a:r>
            <a:r>
              <a:rPr lang="zh-CN" altLang="en-US" sz="1200" b="1" dirty="0"/>
              <a:t>存储器）：静态</a:t>
            </a:r>
            <a:r>
              <a:rPr lang="en-US" altLang="zh-CN" sz="1200" b="1" dirty="0"/>
              <a:t>MOS</a:t>
            </a:r>
            <a:r>
              <a:rPr lang="zh-CN" altLang="en-US" sz="1200" b="1" dirty="0"/>
              <a:t>存储器（</a:t>
            </a:r>
            <a:r>
              <a:rPr lang="en-US" altLang="zh-CN" sz="1200" b="1" dirty="0">
                <a:solidFill>
                  <a:srgbClr val="C00000"/>
                </a:solidFill>
              </a:rPr>
              <a:t>SRAM</a:t>
            </a:r>
            <a:r>
              <a:rPr lang="zh-CN" altLang="en-US" sz="1200" b="1" dirty="0"/>
              <a:t>）、动态</a:t>
            </a:r>
            <a:r>
              <a:rPr lang="en-US" altLang="zh-CN" sz="1200" b="1" dirty="0"/>
              <a:t>MOS</a:t>
            </a:r>
            <a:r>
              <a:rPr lang="zh-CN" altLang="en-US" sz="1200" b="1" dirty="0"/>
              <a:t>存储器（</a:t>
            </a:r>
            <a:r>
              <a:rPr lang="en-US" altLang="zh-CN" sz="1200" b="1" dirty="0">
                <a:solidFill>
                  <a:srgbClr val="C00000"/>
                </a:solidFill>
              </a:rPr>
              <a:t>DRAM</a:t>
            </a:r>
            <a:r>
              <a:rPr lang="zh-CN" altLang="en-US" sz="1200" b="1" dirty="0"/>
              <a:t>）；如内存条就属于</a:t>
            </a:r>
            <a:r>
              <a:rPr lang="en-US" altLang="zh-CN" sz="1200" b="1" dirty="0"/>
              <a:t>DRAM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）光存储器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200" b="1" dirty="0"/>
              <a:t>光盘：</a:t>
            </a:r>
            <a:r>
              <a:rPr lang="en-US" altLang="zh-CN" sz="1200" b="1" dirty="0"/>
              <a:t>CD-ROM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DVD-ROM</a:t>
            </a:r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8D6D9-9C8B-457C-9C23-B9D0239EE5F4}"/>
              </a:ext>
            </a:extLst>
          </p:cNvPr>
          <p:cNvSpPr txBox="1"/>
          <p:nvPr/>
        </p:nvSpPr>
        <p:spPr>
          <a:xfrm>
            <a:off x="5868144" y="200852"/>
            <a:ext cx="29523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4.1.1　存储器分类</a:t>
            </a:r>
          </a:p>
          <a:p>
            <a:r>
              <a:rPr lang="zh-CN" altLang="en-US" sz="1400" b="1" dirty="0"/>
              <a:t>4.1.2　存储器技术指标</a:t>
            </a:r>
          </a:p>
          <a:p>
            <a:r>
              <a:rPr lang="zh-CN" altLang="en-US" sz="1400" b="1" dirty="0"/>
              <a:t>4.1.3　</a:t>
            </a:r>
            <a:r>
              <a:rPr lang="zh-CN" altLang="en-US" sz="1400" b="1" dirty="0">
                <a:solidFill>
                  <a:srgbClr val="C00000"/>
                </a:solidFill>
              </a:rPr>
              <a:t>存储系统层次结构</a:t>
            </a:r>
          </a:p>
          <a:p>
            <a:r>
              <a:rPr lang="zh-CN" altLang="en-US" sz="1400" b="1" dirty="0"/>
              <a:t>4.1.4　主存的基本结构</a:t>
            </a:r>
          </a:p>
          <a:p>
            <a:r>
              <a:rPr lang="zh-CN" altLang="en-US" sz="1400" b="1" dirty="0"/>
              <a:t>4.1.5　主存中数据的存放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2FE2F9-B55D-4957-862B-2EEA93E66E86}"/>
              </a:ext>
            </a:extLst>
          </p:cNvPr>
          <p:cNvSpPr txBox="1"/>
          <p:nvPr/>
        </p:nvSpPr>
        <p:spPr>
          <a:xfrm>
            <a:off x="4499992" y="4822120"/>
            <a:ext cx="4446240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/>
              <a:t>TTL：Transistor Transistor Logic，晶体管-晶体管逻辑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ECL：Emitter Coupled Logic，发射极耦合逻辑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MOS：Metal-Oxide-Semiconductor Field-Effect Transistor，金属-氧化物半导体场效应晶体管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SRAM：Static Random-Access Memory，静态随机存取存储器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DRAM：Dynamic Random Access Memory，动态随机存取存储器</a:t>
            </a:r>
          </a:p>
        </p:txBody>
      </p:sp>
    </p:spTree>
    <p:extLst>
      <p:ext uri="{BB962C8B-B14F-4D97-AF65-F5344CB8AC3E}">
        <p14:creationId xmlns:p14="http://schemas.microsoft.com/office/powerpoint/2010/main" val="8638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、按存取方式分类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）随机存储器：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Random Access Memory 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可按照地址随机读写数据存储单元，且存取访问时间与存储单元的位置无关，如</a:t>
            </a:r>
            <a:r>
              <a:rPr lang="en-US" altLang="zh-CN" sz="1200" b="1" dirty="0">
                <a:solidFill>
                  <a:srgbClr val="C00000"/>
                </a:solidFill>
              </a:rPr>
              <a:t>SRAM</a:t>
            </a:r>
            <a:r>
              <a:rPr lang="zh-CN" altLang="en-US" sz="1200" b="1" dirty="0">
                <a:solidFill>
                  <a:srgbClr val="C00000"/>
                </a:solidFill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）顺序存储器：</a:t>
            </a:r>
            <a:r>
              <a:rPr lang="en-US" altLang="zh-CN" sz="1600" b="1" dirty="0"/>
              <a:t>SAM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Sequential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存储单元中的内容只能依地址顺序访问，且访问的速度与存储单元的位置有关，如</a:t>
            </a:r>
            <a:r>
              <a:rPr lang="zh-CN" altLang="en-US" sz="1200" b="1" dirty="0">
                <a:solidFill>
                  <a:srgbClr val="C00000"/>
                </a:solidFill>
              </a:rPr>
              <a:t>磁带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）直接存储器：</a:t>
            </a:r>
            <a:r>
              <a:rPr lang="en-US" altLang="zh-CN" sz="1600" b="1" dirty="0"/>
              <a:t>DAM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Direct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不必经过顺序搜索就能在存储器中直接存取信息，如</a:t>
            </a:r>
            <a:r>
              <a:rPr lang="zh-CN" altLang="en-US" sz="1200" b="1" dirty="0">
                <a:solidFill>
                  <a:srgbClr val="C00000"/>
                </a:solidFill>
              </a:rPr>
              <a:t>磁盘：磁道随机访问，扇区顺序访问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硬盘的读写原理详解 </a:t>
            </a:r>
            <a:r>
              <a:rPr lang="en-US" altLang="zh-CN" sz="1200" b="1" dirty="0">
                <a:solidFill>
                  <a:srgbClr val="C00000"/>
                </a:solidFill>
              </a:rPr>
              <a:t>- </a:t>
            </a:r>
            <a:r>
              <a:rPr lang="zh-CN" altLang="en-US" sz="1200" b="1" dirty="0">
                <a:solidFill>
                  <a:srgbClr val="C00000"/>
                </a:solidFill>
              </a:rPr>
              <a:t>知乎  </a:t>
            </a:r>
            <a:r>
              <a:rPr lang="en-US" altLang="zh-CN" sz="1200" b="1" dirty="0">
                <a:solidFill>
                  <a:srgbClr val="C00000"/>
                </a:solidFill>
              </a:rPr>
              <a:t>https://zhuanlan.zhihu.com/p/379550433</a:t>
            </a:r>
          </a:p>
          <a:p>
            <a:pPr lvl="3" eaLnBrk="1" hangingPunct="1"/>
            <a:endParaRPr lang="en-US" altLang="zh-CN" sz="105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、按信息的可改写性分类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）读写存储器：如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r>
              <a:rPr lang="zh-CN" altLang="en-US" sz="1600" b="1" dirty="0"/>
              <a:t>（Random Access Memory）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）只读存储器：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Only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、按信息的可保存性分类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）易失性存储器：断电后存储器中的信息会丢失，如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）非易失性存储器：断电后存储器中的信息不会丢失，如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硬盘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9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47260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5</a:t>
            </a:r>
            <a:r>
              <a:rPr lang="zh-CN" altLang="en-US" sz="2400" b="1" dirty="0"/>
              <a:t>、按功能和存取速度分类</a:t>
            </a:r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）寄存器存储器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由多个寄存器（在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中）组成的存储器</a:t>
            </a:r>
            <a:endParaRPr lang="en-US" altLang="zh-CN" sz="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）高速缓存存储器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高速缓存</a:t>
            </a:r>
            <a:r>
              <a:rPr lang="en-US" altLang="zh-CN" sz="1400" b="1" dirty="0">
                <a:solidFill>
                  <a:srgbClr val="FF0000"/>
                </a:solidFill>
              </a:rPr>
              <a:t>cache</a:t>
            </a:r>
            <a:r>
              <a:rPr lang="zh-CN" altLang="en-US" sz="1400" b="1" dirty="0"/>
              <a:t>，位于寄存器（在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中）和主存之间的一个高速小容量存储器，一般采用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构成，用于缓冲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与慢速主存之间的性能差异</a:t>
            </a:r>
            <a:endParaRPr lang="en-US" altLang="zh-CN" sz="800" b="1" dirty="0"/>
          </a:p>
          <a:p>
            <a:pPr lvl="3" eaLnBrk="1" hangingPunct="1"/>
            <a:endParaRPr lang="en-US" altLang="zh-CN" sz="11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）主存储器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简称</a:t>
            </a:r>
            <a:r>
              <a:rPr lang="zh-CN" altLang="en-US" sz="1400" b="1" dirty="0">
                <a:solidFill>
                  <a:srgbClr val="C00000"/>
                </a:solidFill>
              </a:rPr>
              <a:t>主存</a:t>
            </a:r>
            <a:r>
              <a:rPr lang="zh-CN" altLang="en-US" sz="1400" b="1" dirty="0"/>
              <a:t>，一般由半导体存储器构成；如内存条就属于主存，采用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存储器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主存还包括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Basic Input Output System</a:t>
            </a:r>
            <a:r>
              <a:rPr lang="zh-CN" altLang="en-US" sz="1400" b="1" dirty="0"/>
              <a:t>）、硬件端口等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）外存储器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简称外存或辅助存储器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包括：硬盘、磁带、光盘存储器、磁盘阵列和网络存储系统</a:t>
            </a:r>
            <a:endParaRPr lang="en-US" altLang="zh-CN" sz="1400" b="1" dirty="0"/>
          </a:p>
          <a:p>
            <a:pPr lvl="3" eaLnBrk="1" hangingPunct="1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7781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5F61ED-3B40-4A2E-AFC3-48DBFFBED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、存储容量</a:t>
            </a:r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）位表示法</a:t>
            </a:r>
            <a:endParaRPr lang="en-US" altLang="zh-CN" sz="1800" b="1" dirty="0"/>
          </a:p>
          <a:p>
            <a:pPr lvl="3" eaLnBrk="1" hangingPunct="1"/>
            <a:r>
              <a:rPr lang="en-US" altLang="zh-CN" sz="1400" b="1" dirty="0"/>
              <a:t>1Kx4</a:t>
            </a:r>
            <a:r>
              <a:rPr lang="zh-CN" altLang="en-US" sz="1400" b="1" dirty="0"/>
              <a:t>位：表示有</a:t>
            </a:r>
            <a:r>
              <a:rPr lang="en-US" altLang="zh-CN" sz="1400" b="1" dirty="0"/>
              <a:t>1K</a:t>
            </a:r>
            <a:r>
              <a:rPr lang="zh-CN" altLang="en-US" sz="1400" b="1" dirty="0"/>
              <a:t>个单元（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个单元），每个单元存放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）字节表示法</a:t>
            </a:r>
            <a:endParaRPr lang="en-US" altLang="zh-CN" sz="1800" b="1" dirty="0"/>
          </a:p>
          <a:p>
            <a:pPr lvl="3" eaLnBrk="1" hangingPunct="1"/>
            <a:r>
              <a:rPr lang="en-US" altLang="zh-CN" sz="1200" b="1" dirty="0"/>
              <a:t>128B</a:t>
            </a:r>
            <a:r>
              <a:rPr lang="zh-CN" altLang="en-US" sz="1200" b="1" dirty="0"/>
              <a:t>：表示有</a:t>
            </a:r>
            <a:r>
              <a:rPr lang="en-US" altLang="zh-CN" sz="1200" b="1" dirty="0"/>
              <a:t>128</a:t>
            </a:r>
            <a:r>
              <a:rPr lang="zh-CN" altLang="en-US" sz="1200" b="1" dirty="0"/>
              <a:t>个单元，每个单元存放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个字节（</a:t>
            </a:r>
            <a:r>
              <a:rPr lang="en-US" altLang="zh-CN" sz="1200" b="1" dirty="0"/>
              <a:t>1B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Byte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87B965-FC61-4528-A6F0-54C4E760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464381"/>
            <a:ext cx="3240360" cy="26206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474738-D2F0-4E08-91E3-6C4BE14DDA5A}"/>
              </a:ext>
            </a:extLst>
          </p:cNvPr>
          <p:cNvSpPr txBox="1"/>
          <p:nvPr/>
        </p:nvSpPr>
        <p:spPr>
          <a:xfrm>
            <a:off x="5148064" y="5068922"/>
            <a:ext cx="349756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5TB</a:t>
            </a:r>
            <a:r>
              <a:rPr lang="zh-CN" altLang="en-US" sz="1400" b="1" dirty="0"/>
              <a:t>移动硬盘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FF0000"/>
                </a:solidFill>
              </a:rPr>
              <a:t>5TB</a:t>
            </a:r>
            <a:r>
              <a:rPr lang="en-US" altLang="zh-CN" sz="1400" b="1" dirty="0"/>
              <a:t>=5x1000x1000x1000x1000</a:t>
            </a:r>
          </a:p>
          <a:p>
            <a:r>
              <a:rPr lang="en-US" altLang="zh-CN" sz="1400" b="1" dirty="0"/>
              <a:t>=5x10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B/(1024x1024x1024x1024)≈</a:t>
            </a:r>
            <a:r>
              <a:rPr lang="en-US" altLang="zh-CN" sz="1400" b="1" dirty="0">
                <a:solidFill>
                  <a:srgbClr val="FF0000"/>
                </a:solidFill>
              </a:rPr>
              <a:t>4.54TiB</a:t>
            </a:r>
          </a:p>
          <a:p>
            <a:endParaRPr lang="en-US" altLang="zh-CN" sz="1400" b="1" dirty="0"/>
          </a:p>
          <a:p>
            <a:r>
              <a:rPr lang="en-US" altLang="zh-CN" sz="1400" b="1" dirty="0"/>
              <a:t>5,000,945,201,152/(1024x1024x1024x1024)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4.54TiB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141AEC-0019-4963-B335-B4F75D678AB3}"/>
              </a:ext>
            </a:extLst>
          </p:cNvPr>
          <p:cNvSpPr txBox="1"/>
          <p:nvPr/>
        </p:nvSpPr>
        <p:spPr>
          <a:xfrm>
            <a:off x="6588224" y="2996952"/>
            <a:ext cx="1527584" cy="1954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1KiB=1024B=2</a:t>
            </a:r>
            <a:r>
              <a:rPr lang="en-US" altLang="zh-CN" sz="1100" b="1" baseline="30000" dirty="0"/>
              <a:t>10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1MiB=1024KB=2</a:t>
            </a:r>
            <a:r>
              <a:rPr lang="en-US" altLang="zh-CN" sz="1100" b="1" baseline="30000" dirty="0"/>
              <a:t>20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1GiB=1024MB=2</a:t>
            </a:r>
            <a:r>
              <a:rPr lang="en-US" altLang="zh-CN" sz="1100" b="1" baseline="30000" dirty="0"/>
              <a:t>30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1TiB=1024GB=2</a:t>
            </a:r>
            <a:r>
              <a:rPr lang="en-US" altLang="zh-CN" sz="1100" b="1" baseline="30000" dirty="0"/>
              <a:t>40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1PiB=1024TB=2</a:t>
            </a:r>
            <a:r>
              <a:rPr lang="en-US" altLang="zh-CN" sz="1100" b="1" baseline="30000" dirty="0"/>
              <a:t>50</a:t>
            </a:r>
            <a:r>
              <a:rPr lang="en-US" altLang="zh-CN" sz="1100" b="1" dirty="0"/>
              <a:t>B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1KB=1000B=10</a:t>
            </a:r>
            <a:r>
              <a:rPr lang="en-US" altLang="zh-CN" sz="1100" b="1" baseline="30000" dirty="0"/>
              <a:t>3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1MB=1000KiB=10</a:t>
            </a:r>
            <a:r>
              <a:rPr lang="en-US" altLang="zh-CN" sz="1100" b="1" baseline="30000" dirty="0"/>
              <a:t>6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1GB=1000MiB=10</a:t>
            </a:r>
            <a:r>
              <a:rPr lang="en-US" altLang="zh-CN" sz="1100" b="1" baseline="30000" dirty="0"/>
              <a:t>9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1TB=1000GiB=10</a:t>
            </a:r>
            <a:r>
              <a:rPr lang="en-US" altLang="zh-CN" sz="1100" b="1" baseline="30000" dirty="0"/>
              <a:t>12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1PB=1000TiB=10</a:t>
            </a:r>
            <a:r>
              <a:rPr lang="en-US" altLang="zh-CN" sz="1100" b="1" baseline="30000" dirty="0"/>
              <a:t>15</a:t>
            </a:r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4555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EF2DD28-7DEA-427B-9407-CC9D4D91926E}"/>
              </a:ext>
            </a:extLst>
          </p:cNvPr>
          <p:cNvGrpSpPr/>
          <p:nvPr/>
        </p:nvGrpSpPr>
        <p:grpSpPr>
          <a:xfrm>
            <a:off x="755576" y="764704"/>
            <a:ext cx="3269054" cy="3063233"/>
            <a:chOff x="1259632" y="797815"/>
            <a:chExt cx="4421182" cy="391497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DF19C47-A175-4E80-89B0-867542BED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1340768"/>
              <a:ext cx="4191215" cy="337202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65E25D2-FA17-4CBD-BF69-DC7E58C5F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1920" y="797815"/>
              <a:ext cx="1828894" cy="1085906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A58D945B-1806-4065-ABFD-70EDEC0DE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630" y="1052736"/>
            <a:ext cx="3510730" cy="273630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88AAA17-DA78-47E4-B242-84A776472CE3}"/>
              </a:ext>
            </a:extLst>
          </p:cNvPr>
          <p:cNvSpPr txBox="1"/>
          <p:nvPr/>
        </p:nvSpPr>
        <p:spPr>
          <a:xfrm>
            <a:off x="683568" y="4509120"/>
            <a:ext cx="324036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500GB</a:t>
            </a:r>
            <a:r>
              <a:rPr lang="zh-CN" altLang="en-US" sz="1400" b="1" dirty="0"/>
              <a:t>硬盘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FF0000"/>
                </a:solidFill>
              </a:rPr>
              <a:t>500GB</a:t>
            </a:r>
            <a:r>
              <a:rPr lang="en-US" altLang="zh-CN" sz="1400" b="1" dirty="0"/>
              <a:t>=500x1000x1000x1000</a:t>
            </a:r>
          </a:p>
          <a:p>
            <a:r>
              <a:rPr lang="en-US" altLang="zh-CN" sz="1400" b="1" dirty="0"/>
              <a:t>=500x10</a:t>
            </a:r>
            <a:r>
              <a:rPr lang="en-US" altLang="zh-CN" sz="1400" b="1" baseline="30000" dirty="0"/>
              <a:t>9</a:t>
            </a:r>
            <a:r>
              <a:rPr lang="en-US" altLang="zh-CN" sz="1400" b="1" dirty="0"/>
              <a:t>B/(1024x1024x1024)≈</a:t>
            </a:r>
            <a:r>
              <a:rPr lang="en-US" altLang="zh-CN" sz="1400" b="1" dirty="0">
                <a:solidFill>
                  <a:srgbClr val="FF0000"/>
                </a:solidFill>
              </a:rPr>
              <a:t>465.66TiB</a:t>
            </a:r>
          </a:p>
          <a:p>
            <a:endParaRPr lang="en-US" altLang="zh-CN" sz="1400" b="1" dirty="0"/>
          </a:p>
          <a:p>
            <a:r>
              <a:rPr lang="en-US" altLang="zh-CN" sz="1400" b="1" dirty="0"/>
              <a:t>509,845,958,656/(1024x1024x1024)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474GiB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5796C3-6894-4AE1-873C-4F50DE74A743}"/>
              </a:ext>
            </a:extLst>
          </p:cNvPr>
          <p:cNvSpPr txBox="1"/>
          <p:nvPr/>
        </p:nvSpPr>
        <p:spPr>
          <a:xfrm>
            <a:off x="5376830" y="4509120"/>
            <a:ext cx="3231529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16GB U</a:t>
            </a:r>
            <a:r>
              <a:rPr lang="zh-CN" altLang="en-US" sz="1400" b="1" dirty="0"/>
              <a:t>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FF0000"/>
                </a:solidFill>
              </a:rPr>
              <a:t>16GB</a:t>
            </a:r>
            <a:r>
              <a:rPr lang="en-US" altLang="zh-CN" sz="1400" b="1" dirty="0"/>
              <a:t>=16x1000x1000x1000</a:t>
            </a:r>
          </a:p>
          <a:p>
            <a:r>
              <a:rPr lang="en-US" altLang="zh-CN" sz="1400" b="1" dirty="0"/>
              <a:t>=16x10</a:t>
            </a:r>
            <a:r>
              <a:rPr lang="en-US" altLang="zh-CN" sz="1400" b="1" baseline="30000" dirty="0"/>
              <a:t>9</a:t>
            </a:r>
            <a:r>
              <a:rPr lang="en-US" altLang="zh-CN" sz="1400" b="1" dirty="0"/>
              <a:t>B/(1024x1024x1024)≈</a:t>
            </a:r>
            <a:r>
              <a:rPr lang="en-US" altLang="zh-CN" sz="1400" b="1" dirty="0">
                <a:solidFill>
                  <a:srgbClr val="FF0000"/>
                </a:solidFill>
              </a:rPr>
              <a:t>14.9TiB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/>
              <a:t>16,105,234,432/(1024x1024x1024)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14.9GiB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565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CC88B89-9A1E-492B-A843-2C5B88085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48680"/>
            <a:ext cx="8229600" cy="568863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、存取速度</a:t>
            </a:r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）存取时间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也称存储器的</a:t>
            </a:r>
            <a:r>
              <a:rPr lang="zh-CN" altLang="en-US" sz="1400" b="1" dirty="0">
                <a:solidFill>
                  <a:srgbClr val="C00000"/>
                </a:solidFill>
              </a:rPr>
              <a:t>访问时间</a:t>
            </a:r>
            <a:r>
              <a:rPr lang="zh-CN" altLang="en-US" sz="1400" b="1" dirty="0"/>
              <a:t>，指启动一次存储器操作（读或写）到该操作完成所经历的时间，</a:t>
            </a:r>
            <a:r>
              <a:rPr lang="zh-CN" altLang="en-US" sz="1400" b="1" dirty="0">
                <a:solidFill>
                  <a:srgbClr val="C00000"/>
                </a:solidFill>
              </a:rPr>
              <a:t>读时间</a:t>
            </a:r>
            <a:r>
              <a:rPr lang="zh-CN" altLang="en-US" sz="1400" b="1" dirty="0"/>
              <a:t>和</a:t>
            </a:r>
            <a:r>
              <a:rPr lang="zh-CN" altLang="en-US" sz="1400" b="1" dirty="0">
                <a:solidFill>
                  <a:srgbClr val="C00000"/>
                </a:solidFill>
              </a:rPr>
              <a:t>写时间</a:t>
            </a:r>
            <a:r>
              <a:rPr lang="zh-CN" altLang="en-US" sz="1400" b="1" dirty="0"/>
              <a:t>可能不同，例如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读慢写快，闪存（</a:t>
            </a:r>
            <a:r>
              <a:rPr lang="en-US" altLang="zh-CN" sz="1400" b="1" dirty="0"/>
              <a:t>U</a:t>
            </a:r>
            <a:r>
              <a:rPr lang="zh-CN" altLang="en-US" sz="1400" b="1" dirty="0"/>
              <a:t>盘）读快写慢</a:t>
            </a:r>
            <a:endParaRPr lang="en-US" altLang="zh-CN" sz="1400" b="1" dirty="0"/>
          </a:p>
          <a:p>
            <a:pPr lvl="3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）存取周期</a:t>
            </a:r>
            <a:endParaRPr lang="en-US" altLang="zh-CN" sz="1800" b="1" dirty="0"/>
          </a:p>
          <a:p>
            <a:pPr lvl="3" eaLnBrk="1" hangingPunct="1"/>
            <a:r>
              <a:rPr lang="zh-CN" altLang="en-US" sz="1200" b="1" dirty="0"/>
              <a:t>指连续启动两次访问操作之间的最短时间间隔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存取周期 </a:t>
            </a:r>
            <a:r>
              <a:rPr lang="en-US" altLang="zh-CN" sz="1200" b="1" dirty="0">
                <a:solidFill>
                  <a:srgbClr val="C00000"/>
                </a:solidFill>
              </a:rPr>
              <a:t>&gt; </a:t>
            </a:r>
            <a:r>
              <a:rPr lang="zh-CN" altLang="en-US" sz="1200" b="1" dirty="0">
                <a:solidFill>
                  <a:srgbClr val="C00000"/>
                </a:solidFill>
              </a:rPr>
              <a:t>存取时间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存取周期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存取时间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恢复时间（存储器状态的稳定恢复时间）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）存储器带宽</a:t>
            </a:r>
            <a:endParaRPr lang="en-US" altLang="zh-CN" sz="1800" b="1" dirty="0"/>
          </a:p>
          <a:p>
            <a:pPr lvl="3" eaLnBrk="1" hangingPunct="1"/>
            <a:r>
              <a:rPr lang="zh-CN" altLang="en-US" sz="1200" b="1" dirty="0"/>
              <a:t>指单位时间内存储器所能传输的信息量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存储器带宽</a:t>
            </a:r>
            <a:r>
              <a:rPr lang="zh-CN" altLang="en-US" sz="1200" b="1" dirty="0"/>
              <a:t>的单位：位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秒，</a:t>
            </a:r>
            <a:r>
              <a:rPr lang="en-US" altLang="zh-CN" sz="1200" b="1" dirty="0"/>
              <a:t>b/s</a:t>
            </a:r>
            <a:r>
              <a:rPr lang="zh-CN" altLang="en-US" sz="1200" b="1" dirty="0"/>
              <a:t>；字节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秒，</a:t>
            </a:r>
            <a:r>
              <a:rPr lang="en-US" altLang="zh-CN" sz="1200" b="1" dirty="0"/>
              <a:t>B/s</a:t>
            </a:r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存储器带宽与存取时间的长短和一次传输的数据位的多少有关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存取时间越短、数据位越宽，存储器带宽越高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38821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5752DA-868D-41EC-949E-82AF86FD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70" y="3647230"/>
            <a:ext cx="5825060" cy="28682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5B774D-4AD6-411E-9941-9D87D7DDF472}"/>
              </a:ext>
            </a:extLst>
          </p:cNvPr>
          <p:cNvSpPr txBox="1"/>
          <p:nvPr/>
        </p:nvSpPr>
        <p:spPr>
          <a:xfrm>
            <a:off x="3131840" y="6361583"/>
            <a:ext cx="2376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存储系统的分级结构</a:t>
            </a:r>
            <a:endParaRPr lang="zh-CN" altLang="en-US" sz="1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4F5996-8E69-4F1F-957A-07141E54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8641"/>
            <a:ext cx="822960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存储系统层次结构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存储系统层次结构利用程序局部性的原理，从系统级角度将</a:t>
            </a:r>
            <a:r>
              <a:rPr lang="zh-CN" altLang="en-US" sz="1600" b="1" dirty="0">
                <a:solidFill>
                  <a:srgbClr val="C00000"/>
                </a:solidFill>
              </a:rPr>
              <a:t>速度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容量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成本</a:t>
            </a:r>
            <a:r>
              <a:rPr lang="zh-CN" altLang="en-US" sz="1600" b="1" dirty="0"/>
              <a:t>各异的存储器有机组合在一起，全方位优化存储系统的各项性能指标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上层存储器可以为下层存储器做缓冲，将经常使用数据的副本调度到上层，这样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只需要访问上层快速的小容量存储器，即可获得大部分数据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寄存器：通常在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高速缓冲（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）：通常采用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，位于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主存：通常采用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，也称内存条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21100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60A3351-C868-403C-BE1C-CFA63C408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9182"/>
            <a:ext cx="8229600" cy="3070254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主存的基本结构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主存可以看作是一个一维数组：</a:t>
            </a:r>
            <a:r>
              <a:rPr lang="en-US" altLang="zh-CN" sz="1600" b="1" dirty="0"/>
              <a:t>mem[</a:t>
            </a:r>
            <a:r>
              <a:rPr lang="en-US" altLang="zh-CN" sz="1600" b="1" dirty="0" err="1"/>
              <a:t>addr</a:t>
            </a:r>
            <a:r>
              <a:rPr lang="en-US" altLang="zh-CN" sz="1600" b="1" dirty="0"/>
              <a:t>]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假设主存的地址</a:t>
            </a:r>
            <a:r>
              <a:rPr lang="en-US" altLang="zh-CN" sz="1600" b="1" dirty="0" err="1"/>
              <a:t>addr</a:t>
            </a:r>
            <a:r>
              <a:rPr lang="zh-CN" altLang="en-US" sz="1600" b="1" dirty="0"/>
              <a:t>为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，数组</a:t>
            </a:r>
            <a:r>
              <a:rPr lang="en-US" altLang="zh-CN" sz="1600" b="1" dirty="0"/>
              <a:t>mem[]</a:t>
            </a:r>
            <a:r>
              <a:rPr lang="zh-CN" altLang="en-US" sz="1600" b="1" dirty="0"/>
              <a:t>的宽度为</a:t>
            </a:r>
            <a:r>
              <a:rPr lang="en-US" altLang="zh-CN" sz="1600" b="1" dirty="0">
                <a:solidFill>
                  <a:srgbClr val="C00000"/>
                </a:solidFill>
              </a:rPr>
              <a:t>m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；则主存数组有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个存储单元（地址为：</a:t>
            </a:r>
            <a:r>
              <a:rPr lang="en-US" altLang="zh-CN" sz="1600" b="1" dirty="0"/>
              <a:t>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sz="1600" b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  <a:r>
              <a:rPr lang="zh-CN" altLang="en-US" sz="1600" b="1" dirty="0"/>
              <a:t>），每个存储单元存放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位数据。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语言的指针：本质上就是主存地址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213423-D43F-4709-BF9D-C72A8402AB35}"/>
              </a:ext>
            </a:extLst>
          </p:cNvPr>
          <p:cNvGrpSpPr/>
          <p:nvPr/>
        </p:nvGrpSpPr>
        <p:grpSpPr>
          <a:xfrm>
            <a:off x="2160311" y="3501008"/>
            <a:ext cx="4355905" cy="2670964"/>
            <a:chOff x="2160311" y="4093695"/>
            <a:chExt cx="4355905" cy="2670964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FD708580-47FC-47EB-81B9-9F2F9D30401E}"/>
                </a:ext>
              </a:extLst>
            </p:cNvPr>
            <p:cNvGrpSpPr/>
            <p:nvPr/>
          </p:nvGrpSpPr>
          <p:grpSpPr>
            <a:xfrm>
              <a:off x="2160311" y="4093695"/>
              <a:ext cx="4355905" cy="2143617"/>
              <a:chOff x="1728942" y="3105328"/>
              <a:chExt cx="4355905" cy="2143617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1BBB8B2-DF91-4B32-B366-181D9AF8C313}"/>
                  </a:ext>
                </a:extLst>
              </p:cNvPr>
              <p:cNvGrpSpPr/>
              <p:nvPr/>
            </p:nvGrpSpPr>
            <p:grpSpPr>
              <a:xfrm>
                <a:off x="1763688" y="3105328"/>
                <a:ext cx="3742675" cy="2143617"/>
                <a:chOff x="1763688" y="3105328"/>
                <a:chExt cx="3742675" cy="2143617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1D463A-D8CA-4E35-94FC-784C53AFD59A}"/>
                    </a:ext>
                  </a:extLst>
                </p:cNvPr>
                <p:cNvSpPr txBox="1"/>
                <p:nvPr/>
              </p:nvSpPr>
              <p:spPr>
                <a:xfrm>
                  <a:off x="4860032" y="3676872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CFAA181D-163D-4D29-A288-40CF62EF7A2C}"/>
                    </a:ext>
                  </a:extLst>
                </p:cNvPr>
                <p:cNvGrpSpPr/>
                <p:nvPr/>
              </p:nvGrpSpPr>
              <p:grpSpPr>
                <a:xfrm>
                  <a:off x="1763688" y="3105328"/>
                  <a:ext cx="3636979" cy="2143617"/>
                  <a:chOff x="1763688" y="3105328"/>
                  <a:chExt cx="3636979" cy="2143617"/>
                </a:xfrm>
              </p:grpSpPr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EC543A21-9EC3-49A2-B2B5-47F359F45447}"/>
                      </a:ext>
                    </a:extLst>
                  </p:cNvPr>
                  <p:cNvGrpSpPr/>
                  <p:nvPr/>
                </p:nvGrpSpPr>
                <p:grpSpPr>
                  <a:xfrm>
                    <a:off x="1763688" y="3140972"/>
                    <a:ext cx="3636979" cy="2107973"/>
                    <a:chOff x="1763688" y="3140972"/>
                    <a:chExt cx="3636979" cy="2107973"/>
                  </a:xfrm>
                </p:grpSpPr>
                <p:grpSp>
                  <p:nvGrpSpPr>
                    <p:cNvPr id="41" name="组合 40">
                      <a:extLst>
                        <a:ext uri="{FF2B5EF4-FFF2-40B4-BE49-F238E27FC236}">
                          <a16:creationId xmlns:a16="http://schemas.microsoft.com/office/drawing/2014/main" id="{EA7FAB90-2B46-4A4D-BDBC-985EE0A381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3688" y="3140972"/>
                      <a:ext cx="3312368" cy="2107973"/>
                      <a:chOff x="1763688" y="3140972"/>
                      <a:chExt cx="3312368" cy="2107973"/>
                    </a:xfrm>
                  </p:grpSpPr>
                  <p:grpSp>
                    <p:nvGrpSpPr>
                      <p:cNvPr id="34" name="组合 33">
                        <a:extLst>
                          <a:ext uri="{FF2B5EF4-FFF2-40B4-BE49-F238E27FC236}">
                            <a16:creationId xmlns:a16="http://schemas.microsoft.com/office/drawing/2014/main" id="{991A0B45-D950-4B0F-9883-32E40A0A5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3688" y="3140972"/>
                        <a:ext cx="3312368" cy="2107973"/>
                        <a:chOff x="1763688" y="3140972"/>
                        <a:chExt cx="3312368" cy="2107973"/>
                      </a:xfrm>
                    </p:grpSpPr>
                    <p:grpSp>
                      <p:nvGrpSpPr>
                        <p:cNvPr id="21" name="组合 20">
                          <a:extLst>
                            <a:ext uri="{FF2B5EF4-FFF2-40B4-BE49-F238E27FC236}">
                              <a16:creationId xmlns:a16="http://schemas.microsoft.com/office/drawing/2014/main" id="{7386BFB6-740C-4DC1-8E02-D9D3A35C1A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3688" y="3140972"/>
                          <a:ext cx="3312368" cy="2107973"/>
                          <a:chOff x="1763688" y="3140972"/>
                          <a:chExt cx="3312368" cy="2107973"/>
                        </a:xfrm>
                      </p:grpSpPr>
                      <p:sp>
                        <p:nvSpPr>
                          <p:cNvPr id="2" name="文本框 1">
                            <a:extLst>
                              <a:ext uri="{FF2B5EF4-FFF2-40B4-BE49-F238E27FC236}">
                                <a16:creationId xmlns:a16="http://schemas.microsoft.com/office/drawing/2014/main" id="{82044889-7126-44FA-BA2D-0339405BD8D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443698" y="3140972"/>
                            <a:ext cx="400110" cy="1296140"/>
                          </a:xfrm>
                          <a:prstGeom prst="rect">
                            <a:avLst/>
                          </a:prstGeom>
                          <a:solidFill>
                            <a:srgbClr val="92D050"/>
                          </a:solidFill>
                        </p:spPr>
                        <p:txBody>
                          <a:bodyPr vert="eaVert"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地址译码器</a:t>
                            </a:r>
                          </a:p>
                        </p:txBody>
                      </p:sp>
                      <p:grpSp>
                        <p:nvGrpSpPr>
                          <p:cNvPr id="15" name="组合 14">
                            <a:extLst>
                              <a:ext uri="{FF2B5EF4-FFF2-40B4-BE49-F238E27FC236}">
                                <a16:creationId xmlns:a16="http://schemas.microsoft.com/office/drawing/2014/main" id="{9657D903-B1DA-4DE4-9ECB-907A566AEE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67944" y="3212976"/>
                            <a:ext cx="792088" cy="1152128"/>
                            <a:chOff x="4572000" y="3212976"/>
                            <a:chExt cx="792088" cy="1152128"/>
                          </a:xfrm>
                        </p:grpSpPr>
                        <p:grpSp>
                          <p:nvGrpSpPr>
                            <p:cNvPr id="14" name="组合 13">
                              <a:extLst>
                                <a:ext uri="{FF2B5EF4-FFF2-40B4-BE49-F238E27FC236}">
                                  <a16:creationId xmlns:a16="http://schemas.microsoft.com/office/drawing/2014/main" id="{177DFEAC-EE86-4E54-8EC9-A4E7F229E3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356992"/>
                              <a:ext cx="792088" cy="864096"/>
                              <a:chOff x="4572000" y="3356992"/>
                              <a:chExt cx="792088" cy="864096"/>
                            </a:xfrm>
                          </p:grpSpPr>
                          <p:sp>
                            <p:nvSpPr>
                              <p:cNvPr id="7" name="矩形 6">
                                <a:extLst>
                                  <a:ext uri="{FF2B5EF4-FFF2-40B4-BE49-F238E27FC236}">
                                    <a16:creationId xmlns:a16="http://schemas.microsoft.com/office/drawing/2014/main" id="{FA09C4D7-0195-43DB-B858-A9ECE0CA1EB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35699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9" name="矩形 8">
                                <a:extLst>
                                  <a:ext uri="{FF2B5EF4-FFF2-40B4-BE49-F238E27FC236}">
                                    <a16:creationId xmlns:a16="http://schemas.microsoft.com/office/drawing/2014/main" id="{AE76B8E8-42C7-43C8-B890-7203570B063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645024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2" name="矩形 11">
                                <a:extLst>
                                  <a:ext uri="{FF2B5EF4-FFF2-40B4-BE49-F238E27FC236}">
                                    <a16:creationId xmlns:a16="http://schemas.microsoft.com/office/drawing/2014/main" id="{47FF8677-7343-4110-A19C-73532978EE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407707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5" name="组合 4">
                              <a:extLst>
                                <a:ext uri="{FF2B5EF4-FFF2-40B4-BE49-F238E27FC236}">
                                  <a16:creationId xmlns:a16="http://schemas.microsoft.com/office/drawing/2014/main" id="{5A03AE68-4A85-42EA-84C3-6D5EB1B53D8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212976"/>
                              <a:ext cx="792088" cy="1152128"/>
                              <a:chOff x="4283968" y="3212976"/>
                              <a:chExt cx="792088" cy="1152128"/>
                            </a:xfrm>
                          </p:grpSpPr>
                          <p:sp>
                            <p:nvSpPr>
                              <p:cNvPr id="3" name="矩形 2">
                                <a:extLst>
                                  <a:ext uri="{FF2B5EF4-FFF2-40B4-BE49-F238E27FC236}">
                                    <a16:creationId xmlns:a16="http://schemas.microsoft.com/office/drawing/2014/main" id="{E291D33D-69D0-4EDA-86F8-FC86445F12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21297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8" name="矩形 7">
                                <a:extLst>
                                  <a:ext uri="{FF2B5EF4-FFF2-40B4-BE49-F238E27FC236}">
                                    <a16:creationId xmlns:a16="http://schemas.microsoft.com/office/drawing/2014/main" id="{7834907D-5633-4F85-B3BB-5761BD3384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50100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0" name="矩形 9">
                                <a:extLst>
                                  <a:ext uri="{FF2B5EF4-FFF2-40B4-BE49-F238E27FC236}">
                                    <a16:creationId xmlns:a16="http://schemas.microsoft.com/office/drawing/2014/main" id="{3CD92291-AD3B-4F34-8432-98A7023FDA8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789040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1" name="矩形 10">
                                <a:extLst>
                                  <a:ext uri="{FF2B5EF4-FFF2-40B4-BE49-F238E27FC236}">
                                    <a16:creationId xmlns:a16="http://schemas.microsoft.com/office/drawing/2014/main" id="{8A71AF91-D4DC-4FE2-A33B-C4879DE8CD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93305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3" name="矩形 12">
                                <a:extLst>
                                  <a:ext uri="{FF2B5EF4-FFF2-40B4-BE49-F238E27FC236}">
                                    <a16:creationId xmlns:a16="http://schemas.microsoft.com/office/drawing/2014/main" id="{44F4BA7F-F244-4C32-B2ED-EFBA620110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422108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16" name="文本框 15">
                            <a:extLst>
                              <a:ext uri="{FF2B5EF4-FFF2-40B4-BE49-F238E27FC236}">
                                <a16:creationId xmlns:a16="http://schemas.microsoft.com/office/drawing/2014/main" id="{BE526056-1A9C-4F80-B244-71075EF9879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195736" y="4941168"/>
                            <a:ext cx="936104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读写控制</a:t>
                            </a:r>
                          </a:p>
                        </p:txBody>
                      </p:sp>
                      <p:sp>
                        <p:nvSpPr>
                          <p:cNvPr id="17" name="文本框 16">
                            <a:extLst>
                              <a:ext uri="{FF2B5EF4-FFF2-40B4-BE49-F238E27FC236}">
                                <a16:creationId xmlns:a16="http://schemas.microsoft.com/office/drawing/2014/main" id="{36FE3820-ED09-4D7C-BE87-FBA533BB74A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23928" y="4941168"/>
                            <a:ext cx="1152128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>
                            <a:defPPr>
                              <a:defRPr lang="zh-CN"/>
                            </a:defPPr>
                            <a:lvl1pPr algn="ctr">
                              <a:defRPr sz="1400" b="1"/>
                            </a:lvl1pPr>
                          </a:lstStyle>
                          <a:p>
                            <a:r>
                              <a:rPr lang="zh-CN" altLang="en-US" dirty="0"/>
                              <a:t>数据寄存器</a:t>
                            </a:r>
                          </a:p>
                        </p:txBody>
                      </p:sp>
                      <p:sp>
                        <p:nvSpPr>
                          <p:cNvPr id="18" name="箭头: 右 17">
                            <a:extLst>
                              <a:ext uri="{FF2B5EF4-FFF2-40B4-BE49-F238E27FC236}">
                                <a16:creationId xmlns:a16="http://schemas.microsoft.com/office/drawing/2014/main" id="{25C38EDC-B95B-4FB2-93DF-BC64E8F6EE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63688" y="3789040"/>
                            <a:ext cx="680010" cy="144016"/>
                          </a:xfrm>
                          <a:prstGeom prst="right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20" name="箭头: 上下 19">
                            <a:extLst>
                              <a:ext uri="{FF2B5EF4-FFF2-40B4-BE49-F238E27FC236}">
                                <a16:creationId xmlns:a16="http://schemas.microsoft.com/office/drawing/2014/main" id="{62E5FABC-C4A8-4E9C-9111-B04045FA6F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75298" y="4381362"/>
                            <a:ext cx="124694" cy="559805"/>
                          </a:xfrm>
                          <a:prstGeom prst="upDown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25" name="直接箭头连接符 24">
                          <a:extLst>
                            <a:ext uri="{FF2B5EF4-FFF2-40B4-BE49-F238E27FC236}">
                              <a16:creationId xmlns:a16="http://schemas.microsoft.com/office/drawing/2014/main" id="{C7733D0E-8999-4194-B871-D742461D733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627784" y="4437112"/>
                          <a:ext cx="0" cy="504058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直接箭头连接符 28">
                          <a:extLst>
                            <a:ext uri="{FF2B5EF4-FFF2-40B4-BE49-F238E27FC236}">
                              <a16:creationId xmlns:a16="http://schemas.microsoft.com/office/drawing/2014/main" id="{14E5055D-971A-46F3-826F-F3BDADBF62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142034" y="5095054"/>
                          <a:ext cx="792088" cy="2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直接箭头连接符 31">
                          <a:extLst>
                            <a:ext uri="{FF2B5EF4-FFF2-40B4-BE49-F238E27FC236}">
                              <a16:creationId xmlns:a16="http://schemas.microsoft.com/office/drawing/2014/main" id="{18291239-7DF9-44EC-8293-2A7FBC3CBE8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63688" y="5110832"/>
                          <a:ext cx="434982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36" name="直接箭头连接符 35">
                        <a:extLst>
                          <a:ext uri="{FF2B5EF4-FFF2-40B4-BE49-F238E27FC236}">
                            <a16:creationId xmlns:a16="http://schemas.microsoft.com/office/drawing/2014/main" id="{5A2CCEBE-0FC5-46CA-8588-65F837D26CE2}"/>
                          </a:ext>
                        </a:extLst>
                      </p:cNvPr>
                      <p:cNvCxnSpPr>
                        <a:cxnSpLocks/>
                        <a:endCxn id="3" idx="1"/>
                      </p:cNvCxnSpPr>
                      <p:nvPr/>
                    </p:nvCxnSpPr>
                    <p:spPr>
                      <a:xfrm flipV="1">
                        <a:off x="2843808" y="3284984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直接箭头连接符 38">
                        <a:extLst>
                          <a:ext uri="{FF2B5EF4-FFF2-40B4-BE49-F238E27FC236}">
                            <a16:creationId xmlns:a16="http://schemas.microsoft.com/office/drawing/2014/main" id="{6F12082F-5226-4571-B4F9-067AAB11A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3421436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直接箭头连接符 39">
                        <a:extLst>
                          <a:ext uri="{FF2B5EF4-FFF2-40B4-BE49-F238E27FC236}">
                            <a16:creationId xmlns:a16="http://schemas.microsoft.com/office/drawing/2014/main" id="{C23F5F66-8DC7-45F9-9788-79577E1D9A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4292808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2" name="箭头: 上下 41">
                      <a:extLst>
                        <a:ext uri="{FF2B5EF4-FFF2-40B4-BE49-F238E27FC236}">
                          <a16:creationId xmlns:a16="http://schemas.microsoft.com/office/drawing/2014/main" id="{12F69B47-67EF-4BB9-8B6F-3316CE4007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171042" y="4915581"/>
                      <a:ext cx="134065" cy="325185"/>
                    </a:xfrm>
                    <a:prstGeom prst="upDownArrow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1" name="组合 50">
                    <a:extLst>
                      <a:ext uri="{FF2B5EF4-FFF2-40B4-BE49-F238E27FC236}">
                        <a16:creationId xmlns:a16="http://schemas.microsoft.com/office/drawing/2014/main" id="{B1B2CA7C-FFEE-4557-9B4F-961C54D3AF87}"/>
                      </a:ext>
                    </a:extLst>
                  </p:cNvPr>
                  <p:cNvGrpSpPr/>
                  <p:nvPr/>
                </p:nvGrpSpPr>
                <p:grpSpPr>
                  <a:xfrm>
                    <a:off x="3203848" y="3105328"/>
                    <a:ext cx="401072" cy="1238004"/>
                    <a:chOff x="3594864" y="3105328"/>
                    <a:chExt cx="401072" cy="1238004"/>
                  </a:xfrm>
                </p:grpSpPr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9E11FCD2-9A1C-4D81-B13A-6E44E24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859" y="3224009"/>
                      <a:ext cx="25039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p:txBody>
                </p:sp>
                <p:grpSp>
                  <p:nvGrpSpPr>
                    <p:cNvPr id="50" name="组合 49">
                      <a:extLst>
                        <a:ext uri="{FF2B5EF4-FFF2-40B4-BE49-F238E27FC236}">
                          <a16:creationId xmlns:a16="http://schemas.microsoft.com/office/drawing/2014/main" id="{4369A002-9B63-4194-94B3-6E669DC4CA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94864" y="3105328"/>
                      <a:ext cx="401072" cy="1238004"/>
                      <a:chOff x="3281299" y="3105328"/>
                      <a:chExt cx="401072" cy="1238004"/>
                    </a:xfrm>
                  </p:grpSpPr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C27960AF-D49D-44EE-B9DB-A7699539BD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06205" y="3105328"/>
                        <a:ext cx="250390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0</a:t>
                        </a:r>
                        <a:endParaRPr lang="zh-CN" altLang="en-US" sz="100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7A0B149A-E1EE-401F-8A8A-188E1D8BC2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81299" y="4097111"/>
                        <a:ext cx="40107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2</a:t>
                        </a:r>
                        <a:r>
                          <a:rPr lang="en-US" altLang="zh-CN" sz="1000" b="1" baseline="30000" dirty="0"/>
                          <a:t>n</a:t>
                        </a:r>
                        <a:r>
                          <a:rPr lang="en-US" altLang="zh-CN" sz="1000" b="1" dirty="0"/>
                          <a:t>-1</a:t>
                        </a:r>
                        <a:endParaRPr lang="zh-CN" altLang="en-US" sz="1000" b="1" dirty="0"/>
                      </a:p>
                    </p:txBody>
                  </p:sp>
                </p:grpSp>
              </p:grpSp>
            </p:grpSp>
          </p:grp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2CA6A7C-FF96-45F1-B84F-89E4AFE7CCFB}"/>
                  </a:ext>
                </a:extLst>
              </p:cNvPr>
              <p:cNvSpPr txBox="1"/>
              <p:nvPr/>
            </p:nvSpPr>
            <p:spPr>
              <a:xfrm>
                <a:off x="1763688" y="3553705"/>
                <a:ext cx="6383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n</a:t>
                </a:r>
                <a:r>
                  <a:rPr lang="zh-CN" altLang="en-US" sz="1000" b="1" dirty="0"/>
                  <a:t>位地址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7424657-FD89-4FAF-8237-2C8A6AD598DA}"/>
                  </a:ext>
                </a:extLst>
              </p:cNvPr>
              <p:cNvSpPr txBox="1"/>
              <p:nvPr/>
            </p:nvSpPr>
            <p:spPr>
              <a:xfrm>
                <a:off x="1728942" y="4889199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R/-W</a:t>
                </a:r>
                <a:endParaRPr lang="zh-CN" altLang="en-US" sz="1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FCA3E2D-1B8B-4207-ADBC-5EB5C9B3C46F}"/>
                  </a:ext>
                </a:extLst>
              </p:cNvPr>
              <p:cNvSpPr txBox="1"/>
              <p:nvPr/>
            </p:nvSpPr>
            <p:spPr>
              <a:xfrm>
                <a:off x="4435877" y="4537608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54B6E0-20F5-4AE1-BF9F-F183CE209C57}"/>
                  </a:ext>
                </a:extLst>
              </p:cNvPr>
              <p:cNvSpPr txBox="1"/>
              <p:nvPr/>
            </p:nvSpPr>
            <p:spPr>
              <a:xfrm>
                <a:off x="5411265" y="4955062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540E38-883F-4ECD-B616-0E8E0335A006}"/>
                </a:ext>
              </a:extLst>
            </p:cNvPr>
            <p:cNvSpPr txBox="1"/>
            <p:nvPr/>
          </p:nvSpPr>
          <p:spPr>
            <a:xfrm>
              <a:off x="2953826" y="6456882"/>
              <a:ext cx="24102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4.2    </a:t>
              </a:r>
              <a:r>
                <a:rPr lang="zh-CN" altLang="en-US" sz="1400" b="1" dirty="0"/>
                <a:t>主存的硬件内部结构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98542A1-B298-4927-988C-2581A1843CA3}"/>
              </a:ext>
            </a:extLst>
          </p:cNvPr>
          <p:cNvGrpSpPr/>
          <p:nvPr/>
        </p:nvGrpSpPr>
        <p:grpSpPr>
          <a:xfrm>
            <a:off x="7058620" y="4355812"/>
            <a:ext cx="1601721" cy="738664"/>
            <a:chOff x="6822891" y="4381338"/>
            <a:chExt cx="1601721" cy="738664"/>
          </a:xfrm>
          <a:solidFill>
            <a:schemeClr val="bg1">
              <a:lumMod val="85000"/>
            </a:schemeClr>
          </a:solidFill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6B22B8-55F2-47CA-877D-28B68F88B05D}"/>
                </a:ext>
              </a:extLst>
            </p:cNvPr>
            <p:cNvSpPr txBox="1"/>
            <p:nvPr/>
          </p:nvSpPr>
          <p:spPr>
            <a:xfrm>
              <a:off x="6822891" y="4381338"/>
              <a:ext cx="1601721" cy="7386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W</a:t>
              </a:r>
              <a:r>
                <a:rPr lang="zh-CN" altLang="en-US" sz="1400" b="1" dirty="0"/>
                <a:t>的低电平表示：</a:t>
              </a:r>
              <a:endParaRPr lang="en-US" altLang="zh-CN" sz="1400" b="1" dirty="0"/>
            </a:p>
            <a:p>
              <a:endParaRPr lang="en-US" altLang="zh-CN" sz="1400" b="1" dirty="0"/>
            </a:p>
            <a:p>
              <a:r>
                <a:rPr lang="en-US" altLang="zh-CN" sz="1400" b="1" dirty="0"/>
                <a:t>W      /W     -W</a:t>
              </a:r>
              <a:endParaRPr lang="zh-CN" altLang="en-US" sz="1400" b="1" dirty="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2B96CC8-B5E9-4B6D-9611-53168385840E}"/>
                </a:ext>
              </a:extLst>
            </p:cNvPr>
            <p:cNvCxnSpPr/>
            <p:nvPr/>
          </p:nvCxnSpPr>
          <p:spPr>
            <a:xfrm>
              <a:off x="6916368" y="4869160"/>
              <a:ext cx="14401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9463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905053D-1FF7-4C9D-B1D7-60CA50A1A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896544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、存储字长与数据字长的概念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）存储字长：主存的一个存储单元所存储的二进制位数（如</a:t>
            </a:r>
            <a:r>
              <a:rPr lang="en-US" altLang="zh-CN" sz="1400" b="1" dirty="0">
                <a:solidFill>
                  <a:srgbClr val="C00000"/>
                </a:solidFill>
              </a:rPr>
              <a:t>m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）数据字长（机器字长，简称</a:t>
            </a:r>
            <a:r>
              <a:rPr lang="zh-CN" altLang="en-US" sz="1400" b="1" dirty="0">
                <a:solidFill>
                  <a:srgbClr val="C00000"/>
                </a:solidFill>
              </a:rPr>
              <a:t>字长</a:t>
            </a:r>
            <a:r>
              <a:rPr lang="zh-CN" altLang="en-US" sz="1400" b="1" dirty="0"/>
              <a:t>）：计算机一次能处理的二进制数的位数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存储字长和数据字长不一定相同，如字长为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位的计算机，存储字长可以是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位或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、地址访问模式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存储字长都是字节的整数倍：如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……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主存通常按字节进行编址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例如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位计算机，主存既可以按字节访问（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字节地址</a:t>
            </a:r>
            <a:r>
              <a:rPr lang="zh-CN" altLang="en-US" sz="1400" b="1" dirty="0"/>
              <a:t>），也可以按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位半字访问（</a:t>
            </a:r>
            <a:r>
              <a:rPr lang="zh-CN" altLang="en-US" sz="1400" b="1" dirty="0">
                <a:solidFill>
                  <a:srgbClr val="C00000"/>
                </a:solidFill>
              </a:rPr>
              <a:t>半字地址</a:t>
            </a:r>
            <a:r>
              <a:rPr lang="zh-CN" altLang="en-US" sz="1400" b="1" dirty="0"/>
              <a:t>），还可以按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位字进行访问（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字地址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5B4B40-0F39-47E5-BCAC-BE5FA3D0AFD7}"/>
              </a:ext>
            </a:extLst>
          </p:cNvPr>
          <p:cNvGrpSpPr/>
          <p:nvPr/>
        </p:nvGrpSpPr>
        <p:grpSpPr>
          <a:xfrm>
            <a:off x="1619672" y="5229200"/>
            <a:ext cx="6228184" cy="1589316"/>
            <a:chOff x="1619672" y="5296068"/>
            <a:chExt cx="6228184" cy="15893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6D8482-FD67-4314-B20A-EEF35E1A8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5296068"/>
              <a:ext cx="6228184" cy="13012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5798E7-3B8A-455E-AEC4-7CDFB5259A8F}"/>
                </a:ext>
              </a:extLst>
            </p:cNvPr>
            <p:cNvSpPr txBox="1"/>
            <p:nvPr/>
          </p:nvSpPr>
          <p:spPr>
            <a:xfrm>
              <a:off x="3275856" y="6577607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0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37D11A5-D8BF-48F1-BDAB-B1AB064430BB}"/>
              </a:ext>
            </a:extLst>
          </p:cNvPr>
          <p:cNvSpPr txBox="1"/>
          <p:nvPr/>
        </p:nvSpPr>
        <p:spPr>
          <a:xfrm>
            <a:off x="253897" y="4752557"/>
            <a:ext cx="5974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注：指令中给出的主存地址实际上是字节地址，并且是起始地址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0033308-298C-4796-AB6B-C1CFBE9F1C51}"/>
              </a:ext>
            </a:extLst>
          </p:cNvPr>
          <p:cNvGrpSpPr/>
          <p:nvPr/>
        </p:nvGrpSpPr>
        <p:grpSpPr>
          <a:xfrm>
            <a:off x="253897" y="2265904"/>
            <a:ext cx="8206535" cy="2089804"/>
            <a:chOff x="780921" y="2132856"/>
            <a:chExt cx="8039551" cy="19723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361971B-1F29-4581-9E24-ED1E80270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921" y="2132856"/>
              <a:ext cx="4845299" cy="1828894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0F37D48-DCC1-40EE-9F01-0D131C8B49E4}"/>
                </a:ext>
              </a:extLst>
            </p:cNvPr>
            <p:cNvSpPr txBox="1"/>
            <p:nvPr/>
          </p:nvSpPr>
          <p:spPr>
            <a:xfrm>
              <a:off x="5689953" y="2621341"/>
              <a:ext cx="1074144" cy="319520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ax≠0x1234</a:t>
              </a:r>
              <a:endParaRPr lang="zh-CN" altLang="en-US" sz="1600" b="1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836FA13-2327-497D-95D0-F2A62CD94A2F}"/>
                </a:ext>
              </a:extLst>
            </p:cNvPr>
            <p:cNvSpPr txBox="1"/>
            <p:nvPr/>
          </p:nvSpPr>
          <p:spPr>
            <a:xfrm>
              <a:off x="5724128" y="3078248"/>
              <a:ext cx="1607144" cy="31952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ax≠0x12345678</a:t>
              </a:r>
              <a:endParaRPr lang="zh-CN" altLang="en-US" sz="16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56C135F-43A8-49E9-85A9-DF950BDF9CAC}"/>
                </a:ext>
              </a:extLst>
            </p:cNvPr>
            <p:cNvSpPr txBox="1"/>
            <p:nvPr/>
          </p:nvSpPr>
          <p:spPr>
            <a:xfrm>
              <a:off x="5004048" y="3553271"/>
              <a:ext cx="3816424" cy="551898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mov </a:t>
              </a:r>
              <a:r>
                <a:rPr lang="en-US" altLang="zh-CN" sz="1600" b="1" dirty="0" err="1"/>
                <a:t>eax</a:t>
              </a:r>
              <a:r>
                <a:rPr lang="en-US" altLang="zh-CN" sz="1600" b="1" dirty="0"/>
                <a:t>, [0]   mov </a:t>
              </a:r>
              <a:r>
                <a:rPr lang="en-US" altLang="zh-CN" sz="1600" b="1" dirty="0" err="1"/>
                <a:t>eax</a:t>
              </a:r>
              <a:r>
                <a:rPr lang="en-US" altLang="zh-CN" sz="1600" b="1" dirty="0"/>
                <a:t>, [4] </a:t>
              </a:r>
              <a:r>
                <a:rPr lang="zh-CN" altLang="en-US" sz="1600" b="1" dirty="0"/>
                <a:t> </a:t>
              </a:r>
              <a:r>
                <a:rPr lang="en-US" altLang="zh-CN" sz="1600" b="1" dirty="0"/>
                <a:t>mov</a:t>
              </a:r>
              <a:r>
                <a:rPr lang="zh-CN" altLang="en-US" sz="1600" b="1" dirty="0"/>
                <a:t> </a:t>
              </a:r>
              <a:r>
                <a:rPr lang="en-US" altLang="zh-CN" sz="1600" b="1" dirty="0" err="1"/>
                <a:t>eax</a:t>
              </a:r>
              <a:r>
                <a:rPr lang="en-US" altLang="zh-CN" sz="1600" b="1" dirty="0"/>
                <a:t>,[8] </a:t>
              </a:r>
              <a:r>
                <a:rPr lang="zh-CN" altLang="en-US" sz="1600" b="1" dirty="0"/>
                <a:t>为正确的指令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149AF0-BB9A-4A84-91FB-EE32E6325085}"/>
              </a:ext>
            </a:extLst>
          </p:cNvPr>
          <p:cNvGrpSpPr/>
          <p:nvPr/>
        </p:nvGrpSpPr>
        <p:grpSpPr>
          <a:xfrm>
            <a:off x="1115616" y="162060"/>
            <a:ext cx="6527382" cy="1675929"/>
            <a:chOff x="1115616" y="188640"/>
            <a:chExt cx="6527382" cy="16759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171707A-5577-424D-96DC-C8AE1686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616" y="188640"/>
              <a:ext cx="6527382" cy="136379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989FCB-2C83-4FB7-AF38-80A396DCBC7A}"/>
                </a:ext>
              </a:extLst>
            </p:cNvPr>
            <p:cNvSpPr txBox="1"/>
            <p:nvPr/>
          </p:nvSpPr>
          <p:spPr>
            <a:xfrm>
              <a:off x="2987824" y="155679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1F6329BB-13FA-440A-A1A9-801AAE501DE2}"/>
              </a:ext>
            </a:extLst>
          </p:cNvPr>
          <p:cNvSpPr/>
          <p:nvPr/>
        </p:nvSpPr>
        <p:spPr>
          <a:xfrm>
            <a:off x="4788024" y="2098790"/>
            <a:ext cx="1440160" cy="496391"/>
          </a:xfrm>
          <a:prstGeom prst="wedgeRoundRectCallout">
            <a:avLst>
              <a:gd name="adj1" fmla="val -74178"/>
              <a:gd name="adj2" fmla="val 725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小端对齐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2E2382-3BBE-4493-977D-509A8DC5919D}"/>
              </a:ext>
            </a:extLst>
          </p:cNvPr>
          <p:cNvSpPr/>
          <p:nvPr/>
        </p:nvSpPr>
        <p:spPr>
          <a:xfrm>
            <a:off x="179512" y="5452012"/>
            <a:ext cx="4107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4"/>
              </a:rPr>
              <a:t>4.1.5</a:t>
            </a:r>
            <a:r>
              <a:rPr lang="zh-CN" altLang="en-US" dirty="0">
                <a:hlinkClick r:id="rId4"/>
              </a:rPr>
              <a:t>主存中的数据存放 </a:t>
            </a:r>
            <a:r>
              <a:rPr lang="en-US" altLang="zh-CN" dirty="0">
                <a:hlinkClick r:id="rId4"/>
              </a:rPr>
              <a:t>(proedu.com.cn)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57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D5641C-AA6B-4709-98F3-800296ED1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366186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、大端和小端方式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方式（</a:t>
            </a:r>
            <a:r>
              <a:rPr lang="en-US" altLang="zh-CN" sz="1400" b="1" dirty="0"/>
              <a:t>Little-Endian</a:t>
            </a:r>
            <a:r>
              <a:rPr lang="zh-CN" altLang="en-US" sz="1400" b="1" dirty="0"/>
              <a:t>）：存储器的</a:t>
            </a:r>
            <a:r>
              <a:rPr lang="zh-CN" altLang="en-US" sz="1400" b="1" dirty="0">
                <a:solidFill>
                  <a:srgbClr val="C00000"/>
                </a:solidFill>
              </a:rPr>
              <a:t>低</a:t>
            </a:r>
            <a:r>
              <a:rPr lang="zh-CN" altLang="en-US" sz="1400" b="1" dirty="0"/>
              <a:t>字节地址单元中存放的是数据的最</a:t>
            </a:r>
            <a:r>
              <a:rPr lang="zh-CN" altLang="en-US" sz="1400" b="1" dirty="0">
                <a:solidFill>
                  <a:srgbClr val="C00000"/>
                </a:solidFill>
              </a:rPr>
              <a:t>低</a:t>
            </a:r>
            <a:r>
              <a:rPr lang="zh-CN" altLang="en-US" sz="1400" b="1" dirty="0"/>
              <a:t>字节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方式（</a:t>
            </a:r>
            <a:r>
              <a:rPr lang="en-US" altLang="zh-CN" sz="1400" b="1" dirty="0"/>
              <a:t>Big-Endian</a:t>
            </a:r>
            <a:r>
              <a:rPr lang="zh-CN" altLang="en-US" sz="1400" b="1" dirty="0"/>
              <a:t>）：存储器的</a:t>
            </a:r>
            <a:r>
              <a:rPr lang="zh-CN" altLang="en-US" sz="1400" b="1" dirty="0">
                <a:solidFill>
                  <a:srgbClr val="C00000"/>
                </a:solidFill>
              </a:rPr>
              <a:t>低</a:t>
            </a:r>
            <a:r>
              <a:rPr lang="zh-CN" altLang="en-US" sz="1400" b="1" dirty="0"/>
              <a:t>字节地址单元中存放的是数据的最</a:t>
            </a:r>
            <a:r>
              <a:rPr lang="zh-CN" altLang="en-US" sz="1400" b="1" dirty="0">
                <a:solidFill>
                  <a:srgbClr val="C00000"/>
                </a:solidFill>
              </a:rPr>
              <a:t>高</a:t>
            </a:r>
            <a:r>
              <a:rPr lang="zh-CN" altLang="en-US" sz="1400" b="1" dirty="0"/>
              <a:t>字节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EAX=0x78563412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EAX=0x12345678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方式更符合</a:t>
            </a:r>
            <a:r>
              <a:rPr lang="zh-CN" altLang="en-US" sz="1400" b="1" dirty="0">
                <a:solidFill>
                  <a:srgbClr val="C00000"/>
                </a:solidFill>
              </a:rPr>
              <a:t>人的思维习惯</a:t>
            </a:r>
            <a:r>
              <a:rPr lang="zh-CN" altLang="en-US" sz="1400" b="1" dirty="0"/>
              <a:t>，而采用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方式则有利于</a:t>
            </a:r>
            <a:r>
              <a:rPr lang="zh-CN" altLang="en-US" sz="1400" b="1" dirty="0">
                <a:solidFill>
                  <a:srgbClr val="C00000"/>
                </a:solidFill>
              </a:rPr>
              <a:t>计算机处理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主流处理器（如</a:t>
            </a:r>
            <a:r>
              <a:rPr lang="en-US" altLang="zh-CN" sz="1400" b="1" dirty="0"/>
              <a:t>Intel x86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IA64</a:t>
            </a:r>
            <a:r>
              <a:rPr lang="zh-CN" altLang="en-US" sz="1400" b="1" dirty="0"/>
              <a:t>处理器、</a:t>
            </a:r>
            <a:r>
              <a:rPr lang="en-US" altLang="zh-CN" sz="1400" b="1" dirty="0"/>
              <a:t>RISC-V</a:t>
            </a:r>
            <a:r>
              <a:rPr lang="zh-CN" altLang="en-US" sz="1400" b="1" dirty="0"/>
              <a:t>处理器）一般都采用小端方式进行数据存放；</a:t>
            </a:r>
            <a:r>
              <a:rPr lang="en-US" altLang="zh-CN" sz="1400" b="1" dirty="0"/>
              <a:t>PowerPC</a:t>
            </a:r>
            <a:r>
              <a:rPr lang="zh-CN" altLang="en-US" sz="1400" b="1" dirty="0"/>
              <a:t>处理器则采用大端方式；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MIPS</a:t>
            </a:r>
            <a:r>
              <a:rPr lang="zh-CN" altLang="en-US" sz="1400" b="1" dirty="0"/>
              <a:t>处理器同时支持小端方式和大端方式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57F96-844F-4388-8680-1FED055584F9}"/>
              </a:ext>
            </a:extLst>
          </p:cNvPr>
          <p:cNvGrpSpPr/>
          <p:nvPr/>
        </p:nvGrpSpPr>
        <p:grpSpPr>
          <a:xfrm>
            <a:off x="1331640" y="2204864"/>
            <a:ext cx="7031438" cy="1747937"/>
            <a:chOff x="1331640" y="2276872"/>
            <a:chExt cx="7031438" cy="174793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26C120-309D-44B7-A6F2-649B0CC02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2276872"/>
              <a:ext cx="7031438" cy="146911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D82A5E-9C44-41DF-8DB9-7E44B2E576DF}"/>
                </a:ext>
              </a:extLst>
            </p:cNvPr>
            <p:cNvSpPr txBox="1"/>
            <p:nvPr/>
          </p:nvSpPr>
          <p:spPr>
            <a:xfrm>
              <a:off x="3275856" y="371703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776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9C420E4-837D-4A44-B0DD-AC6A7C8BE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、数据的边界对齐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语言中不同数据类型变量的字节长度（表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假设计算机的字长为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位（即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个字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字节），则边界对齐要求：</a:t>
            </a:r>
            <a:endParaRPr lang="en-US" altLang="zh-CN" sz="1600" b="1" dirty="0"/>
          </a:p>
          <a:p>
            <a:pPr lvl="3" eaLnBrk="1" hangingPunct="1"/>
            <a:r>
              <a:rPr lang="zh-CN" altLang="en-US" sz="1400" b="1" dirty="0"/>
              <a:t>双字数据（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单字数据（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位，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）起始字节地址最末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半字数据（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单字节数据（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字节）起始字节地址可以任意</a:t>
            </a:r>
            <a:endParaRPr lang="en-US" altLang="zh-CN" sz="1400" b="1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0F253B-8A8B-4F23-9187-B1A5DFA7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68879"/>
              </p:ext>
            </p:extLst>
          </p:nvPr>
        </p:nvGraphicFramePr>
        <p:xfrm>
          <a:off x="1115618" y="1646808"/>
          <a:ext cx="7200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6000615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15347494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970867350"/>
                    </a:ext>
                  </a:extLst>
                </a:gridCol>
                <a:gridCol w="1872209">
                  <a:extLst>
                    <a:ext uri="{9D8B030D-6E8A-4147-A177-3AD203B41FA5}">
                      <a16:colId xmlns:a16="http://schemas.microsoft.com/office/drawing/2014/main" val="121118783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2417743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2359610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72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char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float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9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short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63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int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 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N/A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7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pointer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246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DB6B729-36A4-4FDC-B204-71CB61D80825}"/>
              </a:ext>
            </a:extLst>
          </p:cNvPr>
          <p:cNvSpPr txBox="1"/>
          <p:nvPr/>
        </p:nvSpPr>
        <p:spPr>
          <a:xfrm>
            <a:off x="6462464" y="908720"/>
            <a:ext cx="1853952" cy="57708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FF0000"/>
                </a:solidFill>
              </a:rPr>
              <a:t>x86</a:t>
            </a:r>
            <a:r>
              <a:rPr lang="zh-CN" altLang="en-US" sz="1050" b="1" dirty="0"/>
              <a:t>：x86通常是指32位系统</a:t>
            </a:r>
          </a:p>
          <a:p>
            <a:endParaRPr lang="zh-CN" altLang="en-US" sz="1050" b="1" dirty="0"/>
          </a:p>
          <a:p>
            <a:r>
              <a:rPr lang="zh-CN" altLang="en-US" sz="1050" b="1" dirty="0">
                <a:solidFill>
                  <a:srgbClr val="FF0000"/>
                </a:solidFill>
              </a:rPr>
              <a:t>IA-64</a:t>
            </a:r>
            <a:r>
              <a:rPr lang="zh-CN" altLang="en-US" sz="1050" b="1" dirty="0"/>
              <a:t>：64位的英特尔架构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BAC72-C450-4B32-A05B-22E9FE1FCC15}"/>
              </a:ext>
            </a:extLst>
          </p:cNvPr>
          <p:cNvSpPr txBox="1"/>
          <p:nvPr/>
        </p:nvSpPr>
        <p:spPr>
          <a:xfrm>
            <a:off x="2915816" y="1268760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表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不同数据类型变量的字节字长</a:t>
            </a:r>
          </a:p>
        </p:txBody>
      </p:sp>
    </p:spTree>
    <p:extLst>
      <p:ext uri="{BB962C8B-B14F-4D97-AF65-F5344CB8AC3E}">
        <p14:creationId xmlns:p14="http://schemas.microsoft.com/office/powerpoint/2010/main" val="1779264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0E44CF-ED3F-44CA-82D2-67204030CBE6}"/>
              </a:ext>
            </a:extLst>
          </p:cNvPr>
          <p:cNvSpPr txBox="1"/>
          <p:nvPr/>
        </p:nvSpPr>
        <p:spPr>
          <a:xfrm>
            <a:off x="503548" y="3429000"/>
            <a:ext cx="3816424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对齐方式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优点：访问变量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k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只需要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个存储周期，访问变量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个存储周期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缺点：造成存储空间的浪费（浪费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个字节的存储空间）</a:t>
            </a:r>
            <a:endParaRPr lang="en-US" altLang="zh-CN" sz="1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E9120-51CE-41BC-8613-CF71CC07EB59}"/>
              </a:ext>
            </a:extLst>
          </p:cNvPr>
          <p:cNvSpPr txBox="1"/>
          <p:nvPr/>
        </p:nvSpPr>
        <p:spPr>
          <a:xfrm>
            <a:off x="4932040" y="3427094"/>
            <a:ext cx="3816424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未对齐方式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优点：不浪费存储空间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缺点：访问变量</a:t>
            </a:r>
            <a:r>
              <a:rPr lang="en-US" altLang="zh-CN" dirty="0"/>
              <a:t>x</a:t>
            </a:r>
            <a:r>
              <a:rPr lang="zh-CN" altLang="en-US" dirty="0"/>
              <a:t>需要</a:t>
            </a:r>
            <a:r>
              <a:rPr lang="en-US" altLang="zh-CN" dirty="0"/>
              <a:t>3</a:t>
            </a:r>
            <a:r>
              <a:rPr lang="zh-CN" altLang="en-US" dirty="0"/>
              <a:t>个存储周期，访问变量</a:t>
            </a:r>
            <a:r>
              <a:rPr lang="en-US" altLang="zh-CN" dirty="0"/>
              <a:t>j</a:t>
            </a:r>
            <a:r>
              <a:rPr lang="zh-CN" altLang="en-US" dirty="0"/>
              <a:t>需要</a:t>
            </a:r>
            <a:r>
              <a:rPr lang="en-US" altLang="zh-CN" dirty="0"/>
              <a:t>2</a:t>
            </a:r>
            <a:r>
              <a:rPr lang="zh-CN" altLang="en-US" dirty="0"/>
              <a:t>个存储周期，只有访问变量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需要</a:t>
            </a:r>
            <a:r>
              <a:rPr lang="en-US" altLang="zh-CN" dirty="0"/>
              <a:t>1</a:t>
            </a:r>
            <a:r>
              <a:rPr lang="zh-CN" altLang="en-US" dirty="0"/>
              <a:t>个存储周期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03231CA-426D-473A-B035-4EB9DDF2F93D}"/>
              </a:ext>
            </a:extLst>
          </p:cNvPr>
          <p:cNvGrpSpPr/>
          <p:nvPr/>
        </p:nvGrpSpPr>
        <p:grpSpPr>
          <a:xfrm>
            <a:off x="295590" y="980728"/>
            <a:ext cx="8552819" cy="2323420"/>
            <a:chOff x="295590" y="980728"/>
            <a:chExt cx="8552819" cy="23234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735C4F-F227-4EF9-B6D2-925D0E3A7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590" y="980728"/>
              <a:ext cx="8552819" cy="216593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5EE28F5-CFEC-48CC-BEEE-FA7B2D9888FD}"/>
                </a:ext>
              </a:extLst>
            </p:cNvPr>
            <p:cNvSpPr txBox="1"/>
            <p:nvPr/>
          </p:nvSpPr>
          <p:spPr>
            <a:xfrm>
              <a:off x="5580112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4.4    </a:t>
              </a:r>
              <a:r>
                <a:rPr lang="zh-CN" altLang="en-US" sz="1400" b="1" dirty="0"/>
                <a:t>未对齐方式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4690463-5112-407C-A144-CBD277C75A17}"/>
                </a:ext>
              </a:extLst>
            </p:cNvPr>
            <p:cNvSpPr txBox="1"/>
            <p:nvPr/>
          </p:nvSpPr>
          <p:spPr>
            <a:xfrm>
              <a:off x="1043608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4.5    </a:t>
              </a:r>
              <a:r>
                <a:rPr lang="zh-CN" altLang="en-US" sz="1400" b="1" dirty="0"/>
                <a:t>对齐方式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9A68BCF-B324-4484-A337-92A5AED50ED8}"/>
              </a:ext>
            </a:extLst>
          </p:cNvPr>
          <p:cNvSpPr/>
          <p:nvPr/>
        </p:nvSpPr>
        <p:spPr>
          <a:xfrm>
            <a:off x="827584" y="5805264"/>
            <a:ext cx="73727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512BB"/>
                </a:solidFill>
              </a:rPr>
              <a:t>内存对齐问题 - 知乎  </a:t>
            </a:r>
            <a:r>
              <a:rPr lang="zh-CN" altLang="en-US" b="1" dirty="0">
                <a:solidFill>
                  <a:srgbClr val="0512BB"/>
                </a:solidFill>
                <a:hlinkClick r:id="rId3"/>
              </a:rPr>
              <a:t>https://zhuanlan.zhihu.com/p/489415485</a:t>
            </a:r>
            <a:endParaRPr lang="en-US" altLang="zh-CN" b="1" dirty="0">
              <a:solidFill>
                <a:srgbClr val="0512BB"/>
              </a:solidFill>
            </a:endParaRPr>
          </a:p>
          <a:p>
            <a:r>
              <a:rPr lang="zh-CN" altLang="en-US" b="1" dirty="0">
                <a:solidFill>
                  <a:srgbClr val="0512BB"/>
                </a:solidFill>
              </a:rPr>
              <a:t>内存地址对齐 </a:t>
            </a:r>
            <a:r>
              <a:rPr lang="en-US" altLang="zh-CN" b="1" dirty="0">
                <a:solidFill>
                  <a:srgbClr val="0512BB"/>
                </a:solidFill>
              </a:rPr>
              <a:t>- </a:t>
            </a:r>
            <a:r>
              <a:rPr lang="zh-CN" altLang="en-US" b="1" dirty="0">
                <a:solidFill>
                  <a:srgbClr val="0512BB"/>
                </a:solidFill>
              </a:rPr>
              <a:t>知乎  </a:t>
            </a:r>
            <a:r>
              <a:rPr lang="en-US" altLang="zh-CN" b="1" dirty="0">
                <a:solidFill>
                  <a:srgbClr val="0512BB"/>
                </a:solidFill>
              </a:rPr>
              <a:t>https://zhuanlan.zhihu.com/p/395031458</a:t>
            </a:r>
            <a:endParaRPr lang="zh-CN" altLang="en-US" b="1" dirty="0">
              <a:solidFill>
                <a:srgbClr val="0512B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354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4.2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半导体存储器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8D6D9-9C8B-457C-9C23-B9D0239EE5F4}"/>
              </a:ext>
            </a:extLst>
          </p:cNvPr>
          <p:cNvSpPr txBox="1"/>
          <p:nvPr/>
        </p:nvSpPr>
        <p:spPr>
          <a:xfrm>
            <a:off x="5652120" y="314653"/>
            <a:ext cx="22322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4.2.1</a:t>
            </a:r>
            <a:r>
              <a:rPr lang="zh-CN" altLang="en-US" sz="1400" b="1" dirty="0"/>
              <a:t>　静态 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</a:t>
            </a:r>
            <a:endParaRPr lang="en-US" altLang="zh-CN" sz="1400" b="1" dirty="0"/>
          </a:p>
          <a:p>
            <a:r>
              <a:rPr lang="en-US" altLang="zh-CN" sz="1400" b="1" dirty="0"/>
              <a:t>4.2.2</a:t>
            </a:r>
            <a:r>
              <a:rPr lang="zh-CN" altLang="en-US" sz="1400" b="1" dirty="0"/>
              <a:t>　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</a:t>
            </a:r>
            <a:endParaRPr lang="en-US" altLang="zh-CN" sz="1400" b="1" dirty="0"/>
          </a:p>
          <a:p>
            <a:r>
              <a:rPr lang="en-US" altLang="zh-CN" sz="1400" b="1" dirty="0"/>
              <a:t>4.2.3</a:t>
            </a:r>
            <a:r>
              <a:rPr lang="zh-CN" altLang="en-US" sz="1400" b="1" dirty="0"/>
              <a:t>　只读存储器</a:t>
            </a:r>
          </a:p>
          <a:p>
            <a:r>
              <a:rPr lang="en-US" altLang="zh-CN" sz="1400" b="1" dirty="0"/>
              <a:t>4.2.4</a:t>
            </a:r>
            <a:r>
              <a:rPr lang="zh-CN" altLang="en-US" sz="1400" b="1" dirty="0"/>
              <a:t>　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的发展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6DCD8A-8810-4D74-976B-22FDC7126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11975"/>
            <a:ext cx="8229600" cy="5112568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MOS</a:t>
            </a:r>
            <a:r>
              <a:rPr lang="zh-CN" altLang="en-US" sz="1600" b="1" dirty="0"/>
              <a:t>：Metal Oxide Semiconductor Field Effect Transistor，金属氧化物半导体场效应晶体管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存储体以静态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存储元为基本单元组成的存储器称为静态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静态随机存取存储器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SRAM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Static Random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存储单元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存储单元：也称为存储元，存放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存储单元电路的基本功能：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具有两种稳定状态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两种稳定状态经外部信号控制可以相互转换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经控制后能读出其中的信息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无外部原因，其中的信息能长期保存</a:t>
            </a:r>
            <a:endParaRPr lang="en-US" altLang="zh-CN" sz="1200" b="1" dirty="0"/>
          </a:p>
          <a:p>
            <a:pPr marL="1371600" lvl="3" indent="0" eaLnBrk="1" hangingPunct="1">
              <a:buNone/>
            </a:pPr>
            <a:r>
              <a:rPr lang="en-US" altLang="zh-CN" sz="1100" b="1" dirty="0">
                <a:highlight>
                  <a:srgbClr val="FFFF00"/>
                </a:highlight>
              </a:rPr>
              <a:t>DDR -- </a:t>
            </a:r>
            <a:r>
              <a:rPr lang="zh-CN" altLang="en-US" sz="1100" b="1" dirty="0">
                <a:highlight>
                  <a:srgbClr val="FFFF00"/>
                </a:highlight>
              </a:rPr>
              <a:t>基础知识 </a:t>
            </a:r>
            <a:r>
              <a:rPr lang="en-US" altLang="zh-CN" sz="1100" b="1" dirty="0">
                <a:highlight>
                  <a:srgbClr val="FFFF00"/>
                </a:highlight>
              </a:rPr>
              <a:t>- </a:t>
            </a:r>
            <a:r>
              <a:rPr lang="zh-CN" altLang="en-US" sz="1100" b="1" dirty="0">
                <a:highlight>
                  <a:srgbClr val="FFFF00"/>
                </a:highlight>
              </a:rPr>
              <a:t>知乎  </a:t>
            </a:r>
            <a:r>
              <a:rPr lang="en-US" altLang="zh-CN" sz="1100" b="1" dirty="0">
                <a:highlight>
                  <a:srgbClr val="FFFF00"/>
                </a:highlight>
              </a:rPr>
              <a:t>https://zhuanlan.zhihu.com/p/530520454</a:t>
            </a:r>
          </a:p>
          <a:p>
            <a:pPr lvl="2" eaLnBrk="1" hangingPunct="1"/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000" b="1" dirty="0"/>
          </a:p>
          <a:p>
            <a:pPr lvl="2" eaLnBrk="1" hangingPunct="1"/>
            <a:endParaRPr lang="en-US" altLang="zh-CN" sz="1000" b="1" dirty="0"/>
          </a:p>
          <a:p>
            <a:pPr lvl="2" eaLnBrk="1" hangingPunct="1"/>
            <a:endParaRPr lang="en-US" altLang="zh-CN" sz="1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3FF779-AB25-4FAA-B559-8AFAEB8B0BA4}"/>
              </a:ext>
            </a:extLst>
          </p:cNvPr>
          <p:cNvSpPr/>
          <p:nvPr/>
        </p:nvSpPr>
        <p:spPr>
          <a:xfrm>
            <a:off x="1906415" y="6283092"/>
            <a:ext cx="3745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4.2.1SRAM</a:t>
            </a:r>
            <a:r>
              <a:rPr lang="zh-CN" altLang="en-US" dirty="0">
                <a:hlinkClick r:id="rId2"/>
              </a:rPr>
              <a:t>存储原理 </a:t>
            </a:r>
            <a:r>
              <a:rPr lang="en-US" altLang="zh-CN" dirty="0">
                <a:hlinkClick r:id="rId2"/>
              </a:rPr>
              <a:t>(proedu.com.cn)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478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4C7E-A0F0-4489-BD8A-FC149416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（场效应管）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55FBA-C198-49A2-8D42-20E38D8B2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76872"/>
          </a:xfrm>
        </p:spPr>
        <p:txBody>
          <a:bodyPr/>
          <a:lstStyle/>
          <a:p>
            <a:r>
              <a:rPr lang="en-US" altLang="zh-CN" sz="1600" b="1" dirty="0"/>
              <a:t>MOS</a:t>
            </a:r>
            <a:r>
              <a:rPr lang="zh-CN" altLang="en-US" sz="1600" b="1" dirty="0"/>
              <a:t>，是</a:t>
            </a:r>
            <a:r>
              <a:rPr lang="en-US" altLang="zh-CN" sz="1600" b="1" dirty="0"/>
              <a:t>MOSFET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Metal Oxide Semiconductor Field Effect Transistor</a:t>
            </a:r>
            <a:r>
              <a:rPr lang="zh-CN" altLang="en-US" sz="1600" b="1" dirty="0"/>
              <a:t>）的缩写，金属氧化物半导体场效应晶体管，简称</a:t>
            </a:r>
            <a:r>
              <a:rPr lang="zh-CN" altLang="en-US" sz="1600" b="1" dirty="0">
                <a:solidFill>
                  <a:srgbClr val="C00000"/>
                </a:solidFill>
              </a:rPr>
              <a:t>场效应管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endParaRPr lang="zh-CN" altLang="en-US" sz="1600" b="1" dirty="0"/>
          </a:p>
          <a:p>
            <a:r>
              <a:rPr lang="en-US" altLang="zh-CN" sz="1600" b="1" dirty="0"/>
              <a:t>G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Gate </a:t>
            </a:r>
            <a:r>
              <a:rPr lang="zh-CN" altLang="en-US" sz="1600" b="1" dirty="0"/>
              <a:t>栅极；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Source </a:t>
            </a:r>
            <a:r>
              <a:rPr lang="zh-CN" altLang="en-US" sz="1600" b="1" dirty="0"/>
              <a:t>源极；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Drain </a:t>
            </a:r>
            <a:r>
              <a:rPr lang="zh-CN" altLang="en-US" sz="1600" b="1" dirty="0"/>
              <a:t>漏极。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场效应管分为</a:t>
            </a:r>
            <a:r>
              <a:rPr lang="en-US" altLang="zh-CN" sz="1600" b="1" dirty="0">
                <a:solidFill>
                  <a:srgbClr val="C00000"/>
                </a:solidFill>
              </a:rPr>
              <a:t>PMOS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沟道型）和</a:t>
            </a:r>
            <a:r>
              <a:rPr lang="en-US" altLang="zh-CN" sz="1600" b="1" dirty="0">
                <a:solidFill>
                  <a:srgbClr val="C00000"/>
                </a:solidFill>
              </a:rPr>
              <a:t>NMOS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沟道型），属于绝缘栅场效应管。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2B569E-9A09-4271-353C-819182600E49}"/>
              </a:ext>
            </a:extLst>
          </p:cNvPr>
          <p:cNvGrpSpPr/>
          <p:nvPr/>
        </p:nvGrpSpPr>
        <p:grpSpPr>
          <a:xfrm>
            <a:off x="539552" y="3717032"/>
            <a:ext cx="8466929" cy="2276872"/>
            <a:chOff x="252610" y="4293096"/>
            <a:chExt cx="8756502" cy="22768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0A8FD2-E2C4-48F3-A66D-270A8F1A2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261" y="4740089"/>
              <a:ext cx="3888432" cy="1371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C1ADFED-8004-4C7F-85B0-AA9700F8B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4293096"/>
              <a:ext cx="2276872" cy="2276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F569933-EC8E-4563-A724-4B3CC0642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610" y="4653136"/>
              <a:ext cx="1181869" cy="1415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123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3E6FB-DF20-41B7-8907-A80BAB1F5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9181"/>
            <a:ext cx="8229600" cy="4525963"/>
          </a:xfrm>
        </p:spPr>
        <p:txBody>
          <a:bodyPr/>
          <a:lstStyle/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管</a:t>
            </a:r>
            <a:r>
              <a:rPr lang="en-US" altLang="zh-CN" sz="1800" b="1" dirty="0"/>
              <a:t>MOS</a:t>
            </a:r>
            <a:r>
              <a:rPr lang="zh-CN" altLang="en-US" sz="1800" b="1" dirty="0"/>
              <a:t>存储单元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MOS</a:t>
            </a:r>
            <a:r>
              <a:rPr lang="zh-CN" altLang="en-US" sz="1400" b="1" dirty="0">
                <a:solidFill>
                  <a:srgbClr val="C00000"/>
                </a:solidFill>
              </a:rPr>
              <a:t>管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3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6</a:t>
            </a:r>
            <a:r>
              <a:rPr lang="zh-CN" altLang="en-US" sz="1400" b="1" dirty="0"/>
              <a:t>）组成存放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存储单元（图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en-US" altLang="zh-CN" sz="1400" b="1" dirty="0"/>
              <a:t>T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：工作管；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3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4</a:t>
            </a:r>
            <a:r>
              <a:rPr lang="zh-CN" altLang="en-US" sz="1400" b="1" dirty="0"/>
              <a:t>：负载管；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：门控管；其中，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为各个存储单元共用</a:t>
            </a:r>
            <a:endParaRPr lang="en-US" altLang="zh-CN" sz="8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zh-CN" altLang="en-US" sz="16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86722BB-3C31-4642-B1FC-E4F6D9646481}"/>
              </a:ext>
            </a:extLst>
          </p:cNvPr>
          <p:cNvGrpSpPr/>
          <p:nvPr/>
        </p:nvGrpSpPr>
        <p:grpSpPr>
          <a:xfrm>
            <a:off x="2123728" y="2162888"/>
            <a:ext cx="4320480" cy="4218440"/>
            <a:chOff x="1979712" y="1484784"/>
            <a:chExt cx="4320480" cy="421844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BEC114-E5F7-4498-BB15-A61A6BCB93D7}"/>
                </a:ext>
              </a:extLst>
            </p:cNvPr>
            <p:cNvGrpSpPr/>
            <p:nvPr/>
          </p:nvGrpSpPr>
          <p:grpSpPr>
            <a:xfrm>
              <a:off x="1979712" y="1484784"/>
              <a:ext cx="4320480" cy="3910663"/>
              <a:chOff x="2195736" y="1390545"/>
              <a:chExt cx="4630630" cy="407691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7EA68C31-E900-4536-B905-65F30787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108672D-F1D4-4A5F-A045-519B0D852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A6A65E9-DE78-4D7D-8DDA-9148EA09CB9B}"/>
                </a:ext>
              </a:extLst>
            </p:cNvPr>
            <p:cNvSpPr txBox="1"/>
            <p:nvPr/>
          </p:nvSpPr>
          <p:spPr>
            <a:xfrm>
              <a:off x="2267744" y="191683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E4ED47A-5AB8-4DA3-9EF2-F1999DDB81D5}"/>
                </a:ext>
              </a:extLst>
            </p:cNvPr>
            <p:cNvSpPr txBox="1"/>
            <p:nvPr/>
          </p:nvSpPr>
          <p:spPr>
            <a:xfrm>
              <a:off x="4499992" y="539544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DD71E76-BB99-4DDC-BB80-D8A41AC4A6FC}"/>
                </a:ext>
              </a:extLst>
            </p:cNvPr>
            <p:cNvSpPr txBox="1"/>
            <p:nvPr/>
          </p:nvSpPr>
          <p:spPr>
            <a:xfrm>
              <a:off x="4139952" y="2698288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528BF2B-9851-47AD-97B1-550AD33E792D}"/>
                </a:ext>
              </a:extLst>
            </p:cNvPr>
            <p:cNvSpPr txBox="1"/>
            <p:nvPr/>
          </p:nvSpPr>
          <p:spPr>
            <a:xfrm>
              <a:off x="5191448" y="2709321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C835F-9A18-4DDA-94C9-2F151FBA934C}"/>
              </a:ext>
            </a:extLst>
          </p:cNvPr>
          <p:cNvSpPr txBox="1"/>
          <p:nvPr/>
        </p:nvSpPr>
        <p:spPr>
          <a:xfrm>
            <a:off x="3995936" y="6453336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B766AA-9E7C-43D2-99FB-55A631FBA3C1}"/>
              </a:ext>
            </a:extLst>
          </p:cNvPr>
          <p:cNvSpPr txBox="1"/>
          <p:nvPr/>
        </p:nvSpPr>
        <p:spPr>
          <a:xfrm>
            <a:off x="6884038" y="3511997"/>
            <a:ext cx="153279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09E5AEA-058A-4785-88BD-10426A8E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85" y="2891565"/>
            <a:ext cx="3059565" cy="18916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B145E7A-1F26-4C6C-9B93-4B6F92548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35" y="4819268"/>
            <a:ext cx="2805404" cy="195024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B6695C-3FE1-4E9E-BA09-D261A1F75F31}"/>
              </a:ext>
            </a:extLst>
          </p:cNvPr>
          <p:cNvSpPr txBox="1"/>
          <p:nvPr/>
        </p:nvSpPr>
        <p:spPr>
          <a:xfrm>
            <a:off x="256883" y="1875428"/>
            <a:ext cx="138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</a:t>
            </a:r>
            <a:r>
              <a:rPr lang="zh-CN" altLang="en-US" b="1" dirty="0"/>
              <a:t>：栅极</a:t>
            </a:r>
            <a:endParaRPr lang="en-US" altLang="zh-CN" b="1" dirty="0"/>
          </a:p>
          <a:p>
            <a:r>
              <a:rPr lang="en-US" altLang="zh-CN" b="1" dirty="0"/>
              <a:t>S</a:t>
            </a:r>
            <a:r>
              <a:rPr lang="zh-CN" altLang="en-US" b="1" dirty="0"/>
              <a:t>：源极</a:t>
            </a:r>
            <a:endParaRPr lang="en-US" altLang="zh-CN" b="1" dirty="0"/>
          </a:p>
          <a:p>
            <a:r>
              <a:rPr lang="en-US" altLang="zh-CN" b="1" dirty="0"/>
              <a:t>D</a:t>
            </a:r>
            <a:r>
              <a:rPr lang="zh-CN" altLang="en-US" b="1" dirty="0"/>
              <a:t>：漏极</a:t>
            </a:r>
          </a:p>
        </p:txBody>
      </p:sp>
    </p:spTree>
    <p:extLst>
      <p:ext uri="{BB962C8B-B14F-4D97-AF65-F5344CB8AC3E}">
        <p14:creationId xmlns:p14="http://schemas.microsoft.com/office/powerpoint/2010/main" val="2266649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lvl="2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）电路状态</a:t>
            </a:r>
            <a:endParaRPr lang="en-US" altLang="zh-CN" sz="2000" b="1" dirty="0"/>
          </a:p>
          <a:p>
            <a:pPr lvl="2"/>
            <a:endParaRPr lang="en-US" altLang="zh-CN" sz="2000" b="1" dirty="0"/>
          </a:p>
          <a:p>
            <a:pPr lvl="3"/>
            <a:r>
              <a:rPr lang="en-US" altLang="zh-CN" sz="1600" b="1" dirty="0"/>
              <a:t>A</a:t>
            </a:r>
            <a:r>
              <a:rPr lang="zh-CN" altLang="en-US" sz="1600" b="1" dirty="0"/>
              <a:t>点高电平、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点低电平，表示</a:t>
            </a:r>
            <a:r>
              <a:rPr lang="zh-CN" altLang="en-US" sz="16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en-US" altLang="zh-CN" sz="1600" b="1" dirty="0">
                <a:solidFill>
                  <a:srgbClr val="C00000"/>
                </a:solidFill>
              </a:rPr>
              <a:t>  T1</a:t>
            </a:r>
            <a:r>
              <a:rPr lang="zh-CN" altLang="en-US" sz="1600" b="1" dirty="0">
                <a:solidFill>
                  <a:srgbClr val="C00000"/>
                </a:solidFill>
              </a:rPr>
              <a:t>导通，</a:t>
            </a:r>
            <a:r>
              <a:rPr lang="en-US" altLang="zh-CN" sz="1600" b="1" dirty="0">
                <a:solidFill>
                  <a:srgbClr val="C00000"/>
                </a:solidFill>
              </a:rPr>
              <a:t>T2</a:t>
            </a:r>
            <a:r>
              <a:rPr lang="zh-CN" altLang="en-US" sz="1600" b="1" dirty="0">
                <a:solidFill>
                  <a:srgbClr val="C00000"/>
                </a:solidFill>
              </a:rPr>
              <a:t>截止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/>
            <a:endParaRPr lang="en-US" altLang="zh-CN" sz="1600" b="1" dirty="0"/>
          </a:p>
          <a:p>
            <a:pPr lvl="3"/>
            <a:r>
              <a:rPr lang="en-US" altLang="zh-CN" sz="1600" b="1" dirty="0"/>
              <a:t>A</a:t>
            </a:r>
            <a:r>
              <a:rPr lang="zh-CN" altLang="en-US" sz="1600" b="1" dirty="0"/>
              <a:t>点低电平、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点高电平，表示</a:t>
            </a:r>
            <a:r>
              <a:rPr lang="zh-CN" altLang="en-US" sz="16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900" b="1" dirty="0">
                <a:solidFill>
                  <a:srgbClr val="C00000"/>
                </a:solidFill>
              </a:rPr>
              <a:t>  </a:t>
            </a:r>
            <a:r>
              <a:rPr lang="en-US" altLang="zh-CN" sz="900" b="1" dirty="0">
                <a:solidFill>
                  <a:srgbClr val="C00000"/>
                </a:solidFill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T2</a:t>
            </a:r>
            <a:r>
              <a:rPr lang="zh-CN" altLang="en-US" sz="1600" b="1" dirty="0">
                <a:solidFill>
                  <a:srgbClr val="C00000"/>
                </a:solidFill>
              </a:rPr>
              <a:t>导通，</a:t>
            </a:r>
            <a:r>
              <a:rPr lang="en-US" altLang="zh-CN" sz="1600" b="1" dirty="0">
                <a:solidFill>
                  <a:srgbClr val="C00000"/>
                </a:solidFill>
              </a:rPr>
              <a:t>T1</a:t>
            </a:r>
            <a:r>
              <a:rPr lang="zh-CN" altLang="en-US" sz="1600" b="1" dirty="0">
                <a:solidFill>
                  <a:srgbClr val="C00000"/>
                </a:solidFill>
              </a:rPr>
              <a:t>截止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/>
            <a:endParaRPr lang="zh-CN" altLang="en-US" sz="1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1BD234-92F0-4491-BD7D-81F4BF429AE5}"/>
              </a:ext>
            </a:extLst>
          </p:cNvPr>
          <p:cNvGrpSpPr/>
          <p:nvPr/>
        </p:nvGrpSpPr>
        <p:grpSpPr>
          <a:xfrm>
            <a:off x="2339752" y="2420888"/>
            <a:ext cx="3888432" cy="388843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A94179-3701-4D67-9681-5107EF91173E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E9AB2E-FC86-4A1B-AAE0-4DC5F7FEA715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69021C-1E81-4EB1-8A17-E5A5AB8E3EF8}"/>
              </a:ext>
            </a:extLst>
          </p:cNvPr>
          <p:cNvSpPr txBox="1"/>
          <p:nvPr/>
        </p:nvSpPr>
        <p:spPr>
          <a:xfrm>
            <a:off x="3851920" y="6381328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632206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）写操作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首先给出行选通和列选通信号，使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门控管打开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”</a:t>
            </a:r>
            <a:r>
              <a:rPr lang="zh-CN" altLang="en-US" sz="1400" b="1" dirty="0"/>
              <a:t>：输入数据为高电平（</a:t>
            </a:r>
            <a:r>
              <a:rPr lang="en-US" altLang="zh-CN" sz="1400" b="1" dirty="0"/>
              <a:t>I/O=</a:t>
            </a:r>
            <a:r>
              <a:rPr lang="zh-CN" altLang="en-US" sz="1400" b="1" dirty="0"/>
              <a:t>高电平，</a:t>
            </a:r>
            <a:r>
              <a:rPr lang="en-US" altLang="zh-CN" sz="1400" b="1" dirty="0"/>
              <a:t>-I/O=</a:t>
            </a:r>
            <a:r>
              <a:rPr lang="zh-CN" altLang="en-US" sz="1400" b="1" dirty="0"/>
              <a:t>低电平），则使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点高电平、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点低电平，则写入数据“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zh-CN" altLang="en-US" sz="1400" b="1" dirty="0"/>
              <a:t>”：输入数据为低电平（</a:t>
            </a:r>
            <a:r>
              <a:rPr lang="en-US" altLang="zh-CN" sz="1400" b="1" dirty="0"/>
              <a:t>I/O=</a:t>
            </a:r>
            <a:r>
              <a:rPr lang="zh-CN" altLang="en-US" sz="1400" b="1" dirty="0"/>
              <a:t>低电平，</a:t>
            </a:r>
            <a:r>
              <a:rPr lang="en-US" altLang="zh-CN" sz="1400" b="1" dirty="0"/>
              <a:t>-I/O=</a:t>
            </a:r>
            <a:r>
              <a:rPr lang="zh-CN" altLang="en-US" sz="1400" b="1" dirty="0"/>
              <a:t>高电平），则使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点低电平、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点高电平，则写入数据“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8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CA7BC7-34ED-42D1-84EC-7A991297225C}"/>
              </a:ext>
            </a:extLst>
          </p:cNvPr>
          <p:cNvGrpSpPr/>
          <p:nvPr/>
        </p:nvGrpSpPr>
        <p:grpSpPr>
          <a:xfrm>
            <a:off x="2339752" y="2564904"/>
            <a:ext cx="3888432" cy="388843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BBF854D-5B6B-4C14-A0A0-13DEC61C587F}"/>
              </a:ext>
            </a:extLst>
          </p:cNvPr>
          <p:cNvSpPr txBox="1"/>
          <p:nvPr/>
        </p:nvSpPr>
        <p:spPr>
          <a:xfrm>
            <a:off x="3923928" y="650559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4032660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9181"/>
            <a:ext cx="8229600" cy="4525963"/>
          </a:xfrm>
        </p:spPr>
        <p:txBody>
          <a:bodyPr/>
          <a:lstStyle/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）读操作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首先给出行选通和列选通信号，使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门控管打开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”</a:t>
            </a:r>
            <a:r>
              <a:rPr lang="zh-CN" altLang="en-US" sz="1400" b="1" dirty="0"/>
              <a:t>：因为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点是高电平、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点是低电平，因此输出数据为高电平（</a:t>
            </a:r>
            <a:r>
              <a:rPr lang="en-US" altLang="zh-CN" sz="1400" b="1" dirty="0"/>
              <a:t>I/O=</a:t>
            </a:r>
            <a:r>
              <a:rPr lang="zh-CN" altLang="en-US" sz="1400" b="1" dirty="0"/>
              <a:t>高电平，</a:t>
            </a:r>
            <a:r>
              <a:rPr lang="en-US" altLang="zh-CN" sz="1400" b="1" dirty="0"/>
              <a:t>-I/O=</a:t>
            </a:r>
            <a:r>
              <a:rPr lang="zh-CN" altLang="en-US" sz="1400" b="1" dirty="0"/>
              <a:t>低电平），表示读出数据“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zh-CN" altLang="en-US" sz="1400" b="1" dirty="0">
                <a:solidFill>
                  <a:srgbClr val="C00000"/>
                </a:solidFill>
              </a:rPr>
              <a:t>”</a:t>
            </a:r>
            <a:r>
              <a:rPr lang="zh-CN" altLang="en-US" sz="1400" b="1" dirty="0"/>
              <a:t>：因为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点是低电平、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点是高电平，因此输出数据为低电平（</a:t>
            </a:r>
            <a:r>
              <a:rPr lang="en-US" altLang="zh-CN" sz="1400" b="1" dirty="0"/>
              <a:t>I/O=</a:t>
            </a:r>
            <a:r>
              <a:rPr lang="zh-CN" altLang="en-US" sz="1400" b="1" dirty="0"/>
              <a:t>低电平，</a:t>
            </a:r>
            <a:r>
              <a:rPr lang="en-US" altLang="zh-CN" sz="1400" b="1" dirty="0"/>
              <a:t>-I/O=</a:t>
            </a:r>
            <a:r>
              <a:rPr lang="zh-CN" altLang="en-US" sz="1400" b="1" dirty="0"/>
              <a:t>高电平），表示读出数据“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8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516238-E09F-4515-BE0C-FBCFA427257A}"/>
              </a:ext>
            </a:extLst>
          </p:cNvPr>
          <p:cNvGrpSpPr/>
          <p:nvPr/>
        </p:nvGrpSpPr>
        <p:grpSpPr>
          <a:xfrm>
            <a:off x="2339752" y="2636912"/>
            <a:ext cx="3888432" cy="388843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6A0A957-9D4E-4B0C-B43C-4E31BC623EE2}"/>
              </a:ext>
            </a:extLst>
          </p:cNvPr>
          <p:cNvSpPr txBox="1"/>
          <p:nvPr/>
        </p:nvSpPr>
        <p:spPr>
          <a:xfrm>
            <a:off x="3851920" y="650559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06611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59221"/>
            <a:ext cx="8229600" cy="4525963"/>
          </a:xfrm>
        </p:spPr>
        <p:txBody>
          <a:bodyPr/>
          <a:lstStyle/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）信息的保持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不给出行选通和列选通信号，因此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门控管截止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400" b="1" dirty="0"/>
              <a:t>只要电源不断，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点和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点的信息将保持不变，存储单元的状态就一直不变，并且在读出时也不会破坏原有数据</a:t>
            </a:r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030A2B-6A3D-4785-904D-EA4BEC40565C}"/>
              </a:ext>
            </a:extLst>
          </p:cNvPr>
          <p:cNvGrpSpPr/>
          <p:nvPr/>
        </p:nvGrpSpPr>
        <p:grpSpPr>
          <a:xfrm>
            <a:off x="2339752" y="2492896"/>
            <a:ext cx="3888432" cy="388843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3725ABD-49EC-4545-9416-D10DC2ADE631}"/>
              </a:ext>
            </a:extLst>
          </p:cNvPr>
          <p:cNvSpPr txBox="1"/>
          <p:nvPr/>
        </p:nvSpPr>
        <p:spPr>
          <a:xfrm>
            <a:off x="3923928" y="6453336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91746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245712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、存储单元扩展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位二进制数的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管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存储单元（图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4.8a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行列扩展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4.8b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739317-4E51-4227-AE68-634CD498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3275955"/>
            <a:ext cx="2833139" cy="26167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5421199" y="6237312"/>
            <a:ext cx="28232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4.8    SRAM</a:t>
            </a:r>
            <a:r>
              <a:rPr lang="zh-CN" altLang="en-US" sz="1400" b="1" dirty="0"/>
              <a:t>存储单元的行列扩展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60FF543-50B2-4DB2-8D18-0CE6BB8E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17" y="3304366"/>
            <a:ext cx="1601027" cy="257290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07BCAB-BB8D-4CD7-AD63-44750E672412}"/>
              </a:ext>
            </a:extLst>
          </p:cNvPr>
          <p:cNvGrpSpPr/>
          <p:nvPr/>
        </p:nvGrpSpPr>
        <p:grpSpPr>
          <a:xfrm>
            <a:off x="110494" y="3794102"/>
            <a:ext cx="2196435" cy="2155178"/>
            <a:chOff x="6732240" y="260648"/>
            <a:chExt cx="2196435" cy="2155178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3B3E2A3C-6A9D-4FB2-90E5-E7BBF4BD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8264" y="260648"/>
              <a:ext cx="1618708" cy="171325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BA307D-ECB8-464A-8B93-6E8BD79A4665}"/>
                </a:ext>
              </a:extLst>
            </p:cNvPr>
            <p:cNvSpPr txBox="1"/>
            <p:nvPr/>
          </p:nvSpPr>
          <p:spPr>
            <a:xfrm>
              <a:off x="6732240" y="2108049"/>
              <a:ext cx="219643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4.7    6</a:t>
              </a:r>
              <a:r>
                <a:rPr lang="zh-CN" altLang="en-US" sz="1400" b="1" dirty="0"/>
                <a:t>管</a:t>
              </a:r>
              <a:r>
                <a:rPr lang="en-US" altLang="zh-CN" sz="1400" b="1" dirty="0"/>
                <a:t>SRAM</a:t>
              </a:r>
              <a:r>
                <a:rPr lang="zh-CN" altLang="en-US" sz="1400" b="1" dirty="0"/>
                <a:t>存储单元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0E6A6F1-BBFB-43D3-B8F9-D3638DCB5006}"/>
              </a:ext>
            </a:extLst>
          </p:cNvPr>
          <p:cNvSpPr txBox="1"/>
          <p:nvPr/>
        </p:nvSpPr>
        <p:spPr>
          <a:xfrm>
            <a:off x="4716016" y="5952961"/>
            <a:ext cx="424847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）一维行扩展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）二维行列扩展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06627C-D79F-4731-9765-426F56AEEFBE}"/>
              </a:ext>
            </a:extLst>
          </p:cNvPr>
          <p:cNvGrpSpPr/>
          <p:nvPr/>
        </p:nvGrpSpPr>
        <p:grpSpPr>
          <a:xfrm>
            <a:off x="2173372" y="3593418"/>
            <a:ext cx="1966580" cy="2643894"/>
            <a:chOff x="2173372" y="3593418"/>
            <a:chExt cx="1966580" cy="264389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76A052C-957E-47F3-ADB7-EA5B9018B19C}"/>
                </a:ext>
              </a:extLst>
            </p:cNvPr>
            <p:cNvGrpSpPr/>
            <p:nvPr/>
          </p:nvGrpSpPr>
          <p:grpSpPr>
            <a:xfrm>
              <a:off x="2173372" y="3593418"/>
              <a:ext cx="1750556" cy="2355862"/>
              <a:chOff x="2640398" y="2852924"/>
              <a:chExt cx="1750556" cy="235586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05364068-FA93-46A5-AE3D-989BC0D2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0398" y="3389194"/>
                <a:ext cx="1750556" cy="1819592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863BAD-0D55-4AD3-A1F2-7A660C36FA7B}"/>
                  </a:ext>
                </a:extLst>
              </p:cNvPr>
              <p:cNvSpPr txBox="1"/>
              <p:nvPr/>
            </p:nvSpPr>
            <p:spPr>
              <a:xfrm>
                <a:off x="3370482" y="2852924"/>
                <a:ext cx="748923" cy="2616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位存储体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FC1C5209-77EC-414F-A16F-C9738442C31C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670382" y="3114534"/>
                <a:ext cx="74562" cy="3451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88D98E-9A03-49DC-9D0C-019A17A8538F}"/>
                </a:ext>
              </a:extLst>
            </p:cNvPr>
            <p:cNvSpPr txBox="1"/>
            <p:nvPr/>
          </p:nvSpPr>
          <p:spPr>
            <a:xfrm>
              <a:off x="2517392" y="5991091"/>
              <a:ext cx="16225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图</a:t>
              </a:r>
              <a:r>
                <a:rPr lang="en-US" altLang="zh-CN" sz="1000" b="1" dirty="0"/>
                <a:t>4.6    6</a:t>
              </a:r>
              <a:r>
                <a:rPr lang="zh-CN" altLang="en-US" sz="1000" b="1" dirty="0"/>
                <a:t>管</a:t>
              </a:r>
              <a:r>
                <a:rPr lang="en-US" altLang="zh-CN" sz="1000" b="1" dirty="0"/>
                <a:t>SRAM</a:t>
              </a:r>
              <a:r>
                <a:rPr lang="zh-CN" altLang="en-US" sz="1000" b="1" dirty="0"/>
                <a:t>存储单元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662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AAC38-9757-47B0-93A7-21747A69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单译码结构</a:t>
            </a:r>
            <a:r>
              <a:rPr lang="zh-CN" altLang="en-US" sz="1600" b="1" dirty="0"/>
              <a:t>：图</a:t>
            </a:r>
            <a:r>
              <a:rPr lang="en-US" altLang="zh-CN" sz="1600" b="1" dirty="0"/>
              <a:t>4.9a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位地址译码后得到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个译码线（</a:t>
            </a:r>
            <a:r>
              <a:rPr lang="en-US" altLang="zh-CN" sz="1600" b="1" dirty="0"/>
              <a:t>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），共有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个存储单元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双译码结构</a:t>
            </a:r>
            <a:r>
              <a:rPr lang="zh-CN" altLang="en-US" sz="1600" b="1" dirty="0"/>
              <a:t>：图</a:t>
            </a:r>
            <a:r>
              <a:rPr lang="en-US" altLang="zh-CN" sz="1600" b="1" dirty="0"/>
              <a:t>4.9b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地址译码后得到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行，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地址译码后得到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列，共有</a:t>
            </a:r>
            <a:r>
              <a:rPr lang="en-US" altLang="zh-CN" sz="1600" b="1" dirty="0" err="1"/>
              <a:t>kn</a:t>
            </a:r>
            <a:r>
              <a:rPr lang="zh-CN" altLang="en-US" sz="1600" b="1" dirty="0"/>
              <a:t>个存储单元</a:t>
            </a:r>
            <a:endParaRPr lang="zh-CN" altLang="en-US" sz="1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82511-AE5B-4CF0-8644-AD27E25E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69361"/>
            <a:ext cx="3251269" cy="2592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CAAA9C-ACA4-45A6-B05A-9EFB1E4E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759" y="2669361"/>
            <a:ext cx="3024336" cy="25838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9F273-7892-4BA9-A6F1-D690CE946206}"/>
              </a:ext>
            </a:extLst>
          </p:cNvPr>
          <p:cNvSpPr txBox="1"/>
          <p:nvPr/>
        </p:nvSpPr>
        <p:spPr>
          <a:xfrm>
            <a:off x="1763688" y="5517232"/>
            <a:ext cx="17411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4.9a    </a:t>
            </a:r>
            <a:r>
              <a:rPr lang="zh-CN" altLang="en-US" sz="1400" b="1" dirty="0"/>
              <a:t>单译码结构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91591-2520-4827-9A0B-14C157A91357}"/>
              </a:ext>
            </a:extLst>
          </p:cNvPr>
          <p:cNvSpPr txBox="1"/>
          <p:nvPr/>
        </p:nvSpPr>
        <p:spPr>
          <a:xfrm>
            <a:off x="6084168" y="5589240"/>
            <a:ext cx="17491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4.9b    </a:t>
            </a:r>
            <a:r>
              <a:rPr lang="zh-CN" altLang="en-US" sz="1400" b="1" dirty="0"/>
              <a:t>双译码结构</a:t>
            </a:r>
          </a:p>
        </p:txBody>
      </p:sp>
    </p:spTree>
    <p:extLst>
      <p:ext uri="{BB962C8B-B14F-4D97-AF65-F5344CB8AC3E}">
        <p14:creationId xmlns:p14="http://schemas.microsoft.com/office/powerpoint/2010/main" val="1856853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298CE-BD58-4232-B65E-BB49A3DA1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译码器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3-8</a:t>
            </a:r>
            <a:r>
              <a:rPr lang="zh-CN" altLang="en-US" sz="1600" b="1" dirty="0"/>
              <a:t>译码器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3"/>
            <a:r>
              <a:rPr lang="zh-CN" altLang="en-US" sz="1200" b="1" dirty="0"/>
              <a:t>输入：</a:t>
            </a:r>
            <a:r>
              <a:rPr lang="en-US" altLang="zh-CN" sz="1200" b="1" dirty="0"/>
              <a:t>A2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A1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A0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OE</a:t>
            </a:r>
            <a:r>
              <a:rPr lang="zh-CN" altLang="en-US" sz="1200" b="1" dirty="0"/>
              <a:t>（</a:t>
            </a:r>
            <a:r>
              <a:rPr lang="en-US" altLang="zh-CN" sz="1200" b="1" dirty="0">
                <a:highlight>
                  <a:srgbClr val="FFFF00"/>
                </a:highlight>
              </a:rPr>
              <a:t>OE</a:t>
            </a:r>
            <a:r>
              <a:rPr lang="zh-CN" altLang="en-US" sz="1200" b="1" dirty="0">
                <a:highlight>
                  <a:srgbClr val="FFFF00"/>
                </a:highlight>
              </a:rPr>
              <a:t>为输出允许信号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OE=1</a:t>
            </a:r>
            <a:r>
              <a:rPr lang="zh-CN" altLang="en-US" sz="1200" b="1" dirty="0"/>
              <a:t>译码器工作，</a:t>
            </a:r>
            <a:r>
              <a:rPr lang="en-US" altLang="zh-CN" sz="1200" b="1" dirty="0"/>
              <a:t>OE=0</a:t>
            </a:r>
            <a:r>
              <a:rPr lang="zh-CN" altLang="en-US" sz="1200" b="1" dirty="0"/>
              <a:t>译码器不工作）</a:t>
            </a:r>
            <a:endParaRPr lang="en-US" altLang="zh-CN" sz="1200" b="1" dirty="0"/>
          </a:p>
          <a:p>
            <a:pPr lvl="3"/>
            <a:endParaRPr lang="en-US" altLang="zh-CN" sz="1200" b="1" dirty="0"/>
          </a:p>
          <a:p>
            <a:pPr lvl="3"/>
            <a:r>
              <a:rPr lang="zh-CN" altLang="en-US" sz="1200" b="1" dirty="0"/>
              <a:t>输出：</a:t>
            </a:r>
            <a:r>
              <a:rPr lang="en-US" altLang="zh-CN" sz="1200" b="1" dirty="0"/>
              <a:t>Y7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Y6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Y5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Y4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Y3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Y2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Y1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Y0</a:t>
            </a:r>
          </a:p>
          <a:p>
            <a:pPr lvl="3"/>
            <a:endParaRPr lang="en-US" altLang="zh-CN" sz="1200" b="1" dirty="0"/>
          </a:p>
          <a:p>
            <a:pPr lvl="3"/>
            <a:r>
              <a:rPr lang="en-US" altLang="zh-CN" sz="1200" b="1" dirty="0"/>
              <a:t>x</a:t>
            </a:r>
            <a:r>
              <a:rPr lang="zh-CN" altLang="en-US" sz="1200" b="1" dirty="0"/>
              <a:t>：表示任意（可能是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，也可能是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3"/>
            <a:endParaRPr lang="en-US" altLang="zh-CN" sz="1200" b="1" dirty="0"/>
          </a:p>
          <a:p>
            <a:pPr lvl="3"/>
            <a:endParaRPr lang="en-US" altLang="zh-CN" sz="1200" b="1" dirty="0"/>
          </a:p>
          <a:p>
            <a:pPr lvl="2"/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740E58-C2D4-408B-B7BD-47FDCA05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57" y="3242927"/>
            <a:ext cx="1574189" cy="21560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8111A7-969F-4590-B06C-6C7937B1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3318490"/>
            <a:ext cx="1994458" cy="2193471"/>
          </a:xfrm>
          <a:prstGeom prst="rect">
            <a:avLst/>
          </a:prstGeo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92B13CE1-C558-4B86-B5A9-2CD639D4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099622"/>
              </p:ext>
            </p:extLst>
          </p:nvPr>
        </p:nvGraphicFramePr>
        <p:xfrm>
          <a:off x="899415" y="2818758"/>
          <a:ext cx="295232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38075770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7827124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输入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en-US" altLang="zh-CN" sz="1000" b="1" dirty="0"/>
                        <a:t>A2 A1 A0   OE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输出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en-US" altLang="zh-CN" sz="1000" b="1" dirty="0"/>
                        <a:t>Y7  Y6  Y5  Y4  Y3  Y2  Y1  Y0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6943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0  0  0      1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0   0   0   0   0   0   0   1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0  0  1      1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0   0   0   0   0   0   1   0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512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0  1  0      1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0   0   0   0   0   1   0   0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3107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0  1  1      1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0   0   0   0   1   0   0   0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8405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1  0  0      1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0   0   0   1   0   0   0   0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897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1  0  1      1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0   0   1   0   0   0   0   0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076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1  1  0      1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0   1   0   0   0   0   0   0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43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1  1  1      1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1   0   0   0   0   0   0   0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5152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x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   0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x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808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772F365-9F4C-4352-9FB9-76B77E2F5144}"/>
              </a:ext>
            </a:extLst>
          </p:cNvPr>
          <p:cNvSpPr txBox="1"/>
          <p:nvPr/>
        </p:nvSpPr>
        <p:spPr>
          <a:xfrm>
            <a:off x="1259632" y="2431876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译码器的输入输出关系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B1BB13-F46F-4923-B1D9-9B930DB940B5}"/>
              </a:ext>
            </a:extLst>
          </p:cNvPr>
          <p:cNvSpPr txBox="1"/>
          <p:nvPr/>
        </p:nvSpPr>
        <p:spPr>
          <a:xfrm>
            <a:off x="4067944" y="5661248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译码器的符号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F01DEC-232A-4102-B062-260AE1CCE37C}"/>
              </a:ext>
            </a:extLst>
          </p:cNvPr>
          <p:cNvSpPr txBox="1"/>
          <p:nvPr/>
        </p:nvSpPr>
        <p:spPr>
          <a:xfrm>
            <a:off x="6660232" y="5661248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Logisim</a:t>
            </a:r>
            <a:r>
              <a:rPr lang="zh-CN" altLang="en-US" sz="1400" b="1" dirty="0"/>
              <a:t>实现的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04874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存储器的结构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存储器包括：</a:t>
            </a:r>
            <a:r>
              <a:rPr lang="zh-CN" altLang="en-US" sz="1600" b="1" dirty="0">
                <a:solidFill>
                  <a:srgbClr val="C00000"/>
                </a:solidFill>
              </a:rPr>
              <a:t>存储体</a:t>
            </a:r>
            <a:r>
              <a:rPr lang="zh-CN" altLang="en-US" sz="1600" b="1" dirty="0"/>
              <a:t>（存储单元阵列）、</a:t>
            </a:r>
            <a:r>
              <a:rPr lang="zh-CN" altLang="en-US" sz="1600" b="1" dirty="0">
                <a:solidFill>
                  <a:srgbClr val="C00000"/>
                </a:solidFill>
              </a:rPr>
              <a:t>地址译码电路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向驱动器、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向驱动器）、</a:t>
            </a:r>
            <a:r>
              <a:rPr lang="en-US" altLang="zh-CN" sz="1600" b="1" dirty="0">
                <a:solidFill>
                  <a:srgbClr val="C00000"/>
                </a:solidFill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</a:rPr>
              <a:t>电路和控制电路</a:t>
            </a:r>
            <a:r>
              <a:rPr lang="zh-CN" altLang="en-US" sz="1600" b="1" dirty="0"/>
              <a:t>等（图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）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3152160" y="5785519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C4EDAF-9AEB-46D8-BE71-94F402F63C66}"/>
              </a:ext>
            </a:extLst>
          </p:cNvPr>
          <p:cNvGrpSpPr/>
          <p:nvPr/>
        </p:nvGrpSpPr>
        <p:grpSpPr>
          <a:xfrm>
            <a:off x="1187624" y="1988384"/>
            <a:ext cx="6451644" cy="3343558"/>
            <a:chOff x="1184896" y="1844824"/>
            <a:chExt cx="6451644" cy="334355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4EA2FB7-2861-4291-B445-D3F3B5C1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459" y="1844824"/>
              <a:ext cx="6129081" cy="334355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72D257B-FBE1-4C79-B671-4550A5B23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896" y="4434618"/>
              <a:ext cx="2883048" cy="660434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83917F-33FD-4752-9D31-2B5860DC2871}"/>
              </a:ext>
            </a:extLst>
          </p:cNvPr>
          <p:cNvSpPr txBox="1"/>
          <p:nvPr/>
        </p:nvSpPr>
        <p:spPr>
          <a:xfrm>
            <a:off x="1535579" y="313903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A4656E-371F-4C32-B525-A5F224EB0F25}"/>
              </a:ext>
            </a:extLst>
          </p:cNvPr>
          <p:cNvSpPr txBox="1"/>
          <p:nvPr/>
        </p:nvSpPr>
        <p:spPr>
          <a:xfrm>
            <a:off x="4382556" y="5266548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</p:spTree>
    <p:extLst>
      <p:ext uri="{BB962C8B-B14F-4D97-AF65-F5344CB8AC3E}">
        <p14:creationId xmlns:p14="http://schemas.microsoft.com/office/powerpoint/2010/main" val="2519968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55922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）存储体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图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的存储单元阵列（存储体）包括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>
                <a:solidFill>
                  <a:srgbClr val="C00000"/>
                </a:solidFill>
              </a:rPr>
              <a:t>64x64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的存储矩阵</a:t>
            </a:r>
            <a:endParaRPr lang="zh-CN" altLang="en-US" sz="8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9CDA9B-C1AC-4428-A4BD-EC2F8034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32856"/>
            <a:ext cx="4702073" cy="30361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CF011B-80BC-4CF9-BE43-81CCF2ED1267}"/>
              </a:ext>
            </a:extLst>
          </p:cNvPr>
          <p:cNvSpPr txBox="1"/>
          <p:nvPr/>
        </p:nvSpPr>
        <p:spPr>
          <a:xfrm>
            <a:off x="3923928" y="5589240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64x64</a:t>
            </a:r>
            <a:r>
              <a:rPr lang="zh-CN" altLang="en-US" sz="1400" b="1" dirty="0"/>
              <a:t>位存储矩阵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1131D9-435B-43C5-B7EB-EE3FE09BD174}"/>
              </a:ext>
            </a:extLst>
          </p:cNvPr>
          <p:cNvSpPr txBox="1"/>
          <p:nvPr/>
        </p:nvSpPr>
        <p:spPr>
          <a:xfrm>
            <a:off x="7141729" y="3511997"/>
            <a:ext cx="814647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共有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</a:p>
        </p:txBody>
      </p:sp>
    </p:spTree>
    <p:extLst>
      <p:ext uri="{BB962C8B-B14F-4D97-AF65-F5344CB8AC3E}">
        <p14:creationId xmlns:p14="http://schemas.microsoft.com/office/powerpoint/2010/main" val="3003020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18864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）地址译码器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向地址译码器；其中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向地址译码器和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向地址译码器都是</a:t>
            </a:r>
            <a:r>
              <a:rPr lang="en-US" altLang="zh-CN" sz="1400" b="1" dirty="0">
                <a:solidFill>
                  <a:srgbClr val="FF0000"/>
                </a:solidFill>
              </a:rPr>
              <a:t>6-64</a:t>
            </a:r>
            <a:r>
              <a:rPr lang="zh-CN" altLang="en-US" sz="1400" b="1" dirty="0">
                <a:solidFill>
                  <a:srgbClr val="FF0000"/>
                </a:solidFill>
              </a:rPr>
              <a:t>译码器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个输入、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个输出）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）驱动器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向驱动器、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向驱动器；驱动器的输出和输入在逻辑上是相等的，其目的是增强负载能力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1187624" y="2780928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92B29D4-8223-4DBD-95B0-6E3D1B5EDAAE}"/>
              </a:ext>
            </a:extLst>
          </p:cNvPr>
          <p:cNvSpPr txBox="1"/>
          <p:nvPr/>
        </p:nvSpPr>
        <p:spPr>
          <a:xfrm>
            <a:off x="3152160" y="6433591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</p:spTree>
    <p:extLst>
      <p:ext uri="{BB962C8B-B14F-4D97-AF65-F5344CB8AC3E}">
        <p14:creationId xmlns:p14="http://schemas.microsoft.com/office/powerpoint/2010/main" val="1366261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55922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1187624" y="2749738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A32BDF1-B165-4B58-B2F7-99493766F478}"/>
              </a:ext>
            </a:extLst>
          </p:cNvPr>
          <p:cNvSpPr txBox="1">
            <a:spLocks/>
          </p:cNvSpPr>
          <p:nvPr/>
        </p:nvSpPr>
        <p:spPr bwMode="auto">
          <a:xfrm>
            <a:off x="457200" y="18864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I/O</a:t>
            </a:r>
            <a:r>
              <a:rPr lang="zh-CN" altLang="en-US" sz="1400" b="1" dirty="0"/>
              <a:t>电路用来控制数据的输入（写操作）和输出（读操作）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DBUS</a:t>
            </a:r>
            <a:r>
              <a:rPr lang="zh-CN" altLang="en-US" sz="1400" b="1" dirty="0"/>
              <a:t>：数据总线（</a:t>
            </a:r>
            <a:r>
              <a:rPr lang="en-US" altLang="zh-CN" sz="1400" b="1" dirty="0"/>
              <a:t>Data Bus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）片选和读写控制电路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CS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Chip Select</a:t>
            </a:r>
            <a:r>
              <a:rPr lang="zh-CN" altLang="en-US" sz="1400" b="1" dirty="0"/>
              <a:t>，片选信号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WR</a:t>
            </a:r>
            <a:r>
              <a:rPr lang="zh-CN" altLang="en-US" sz="1400" b="1" dirty="0"/>
              <a:t>：写信号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RD</a:t>
            </a:r>
            <a:r>
              <a:rPr lang="zh-CN" altLang="en-US" sz="1400" b="1" dirty="0"/>
              <a:t>：读信号</a:t>
            </a:r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2FD735-1E23-400C-8149-9BB36157B79C}"/>
              </a:ext>
            </a:extLst>
          </p:cNvPr>
          <p:cNvSpPr txBox="1"/>
          <p:nvPr/>
        </p:nvSpPr>
        <p:spPr>
          <a:xfrm>
            <a:off x="3152160" y="6433591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</p:spTree>
    <p:extLst>
      <p:ext uri="{BB962C8B-B14F-4D97-AF65-F5344CB8AC3E}">
        <p14:creationId xmlns:p14="http://schemas.microsoft.com/office/powerpoint/2010/main" val="1349959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存储器芯片实例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Intel 2114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</a:t>
            </a:r>
            <a:r>
              <a:rPr lang="en-US" altLang="zh-CN" sz="1400" b="1" dirty="0"/>
              <a:t>1Kx4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芯片，其容量为</a:t>
            </a:r>
            <a:r>
              <a:rPr lang="en-US" altLang="zh-CN" sz="1400" b="1" dirty="0"/>
              <a:t>1024x4</a:t>
            </a:r>
            <a:r>
              <a:rPr lang="zh-CN" altLang="en-US" sz="1400" b="1" dirty="0"/>
              <a:t>位，即有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个单元、每个单元存放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9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10</a:t>
            </a:r>
            <a:r>
              <a:rPr lang="en-US" altLang="zh-CN" sz="1400" b="1" dirty="0"/>
              <a:t>=1024</a:t>
            </a:r>
            <a:r>
              <a:rPr lang="zh-CN" altLang="en-US" sz="1400" b="1" dirty="0"/>
              <a:t>）；数据线：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3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：片选信号（低电平有效）；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：读写控制信号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读操作时：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高电平；写操作时：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低电平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3419872" y="6219129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4.11    Intel 2114 </a:t>
            </a:r>
            <a:r>
              <a:rPr lang="zh-CN" altLang="en-US" sz="1400" b="1" dirty="0"/>
              <a:t>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E831B7-47B6-4BB7-814D-BD827070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00" y="3335162"/>
            <a:ext cx="3813259" cy="20098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7942AB-672B-4ABB-B96D-1B202A61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66" y="3212976"/>
            <a:ext cx="4007158" cy="288396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985F10-FF6A-426D-B095-878B29E4D09D}"/>
              </a:ext>
            </a:extLst>
          </p:cNvPr>
          <p:cNvSpPr txBox="1"/>
          <p:nvPr/>
        </p:nvSpPr>
        <p:spPr>
          <a:xfrm>
            <a:off x="1043608" y="6031078"/>
            <a:ext cx="7629021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）封装引脚                                                                                                                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）内部结构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D2E4C8-1A4C-4C5B-B7DD-FCEA3B01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012" y="1657096"/>
            <a:ext cx="1782617" cy="123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161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F1888A-631B-494A-8E4A-0EB012F2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692696"/>
            <a:ext cx="6675698" cy="48848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82D16D-6182-401B-B1FC-2BA83D3CB088}"/>
              </a:ext>
            </a:extLst>
          </p:cNvPr>
          <p:cNvSpPr txBox="1"/>
          <p:nvPr/>
        </p:nvSpPr>
        <p:spPr>
          <a:xfrm>
            <a:off x="1187624" y="5733256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注：</a:t>
            </a:r>
            <a:r>
              <a:rPr lang="en-US" altLang="zh-CN" b="1" dirty="0">
                <a:highlight>
                  <a:srgbClr val="FFFF00"/>
                </a:highlight>
              </a:rPr>
              <a:t>64</a:t>
            </a:r>
            <a:r>
              <a:rPr lang="zh-CN" altLang="en-US" b="1" dirty="0">
                <a:highlight>
                  <a:srgbClr val="FFFF00"/>
                </a:highlight>
              </a:rPr>
              <a:t>行</a:t>
            </a:r>
            <a:r>
              <a:rPr lang="en-US" altLang="zh-CN" b="1" dirty="0">
                <a:highlight>
                  <a:srgbClr val="FFFF00"/>
                </a:highlight>
              </a:rPr>
              <a:t>*64</a:t>
            </a:r>
            <a:r>
              <a:rPr lang="zh-CN" altLang="en-US" b="1" dirty="0">
                <a:highlight>
                  <a:srgbClr val="FFFF00"/>
                </a:highlight>
              </a:rPr>
              <a:t>列（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</a:t>
            </a:r>
            <a:r>
              <a:rPr lang="en-US" altLang="zh-CN" b="1" dirty="0">
                <a:highlight>
                  <a:srgbClr val="FFFF00"/>
                </a:highlight>
              </a:rPr>
              <a:t>*16</a:t>
            </a:r>
            <a:r>
              <a:rPr lang="zh-CN" altLang="en-US" b="1" dirty="0">
                <a:highlight>
                  <a:srgbClr val="FFFF00"/>
                </a:highlight>
              </a:rPr>
              <a:t>列）行地址译码后选中某一行，列地址译码后，选中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组中的某一列，从而满足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路</a:t>
            </a:r>
            <a:r>
              <a:rPr lang="en-US" altLang="zh-CN" b="1" dirty="0">
                <a:highlight>
                  <a:srgbClr val="FFFF00"/>
                </a:highlight>
              </a:rPr>
              <a:t>I/O</a:t>
            </a:r>
            <a:r>
              <a:rPr lang="zh-CN" altLang="en-US" b="1" dirty="0">
                <a:highlight>
                  <a:srgbClr val="FFFF00"/>
                </a:highlight>
              </a:rPr>
              <a:t>输出</a:t>
            </a:r>
          </a:p>
        </p:txBody>
      </p:sp>
    </p:spTree>
    <p:extLst>
      <p:ext uri="{BB962C8B-B14F-4D97-AF65-F5344CB8AC3E}">
        <p14:creationId xmlns:p14="http://schemas.microsoft.com/office/powerpoint/2010/main" val="3785992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91C1E5-D9E8-4740-9FF8-1B6534EC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54" y="1005630"/>
            <a:ext cx="6599492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43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读写时序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7FD4872-A3D8-4223-8DE6-F735E8D77086}"/>
              </a:ext>
            </a:extLst>
          </p:cNvPr>
          <p:cNvSpPr txBox="1"/>
          <p:nvPr/>
        </p:nvSpPr>
        <p:spPr>
          <a:xfrm>
            <a:off x="2507981" y="278092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03D182-EAE1-4453-A110-D9E2727551C1}"/>
              </a:ext>
            </a:extLst>
          </p:cNvPr>
          <p:cNvSpPr txBox="1"/>
          <p:nvPr/>
        </p:nvSpPr>
        <p:spPr>
          <a:xfrm>
            <a:off x="2535718" y="59492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093BC5F-CD78-4543-95BD-F16C01D93227}"/>
              </a:ext>
            </a:extLst>
          </p:cNvPr>
          <p:cNvSpPr txBox="1"/>
          <p:nvPr/>
        </p:nvSpPr>
        <p:spPr>
          <a:xfrm>
            <a:off x="1417241" y="6422161"/>
            <a:ext cx="3744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4.12    Intel 2114</a:t>
            </a:r>
            <a:r>
              <a:rPr lang="zh-CN" altLang="en-US" sz="1400" b="1" dirty="0"/>
              <a:t>的读写周期时序及时间参数</a:t>
            </a: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C955E687-E519-4F1F-9973-9FEEC2812566}"/>
              </a:ext>
            </a:extLst>
          </p:cNvPr>
          <p:cNvGrpSpPr/>
          <p:nvPr/>
        </p:nvGrpSpPr>
        <p:grpSpPr>
          <a:xfrm>
            <a:off x="107504" y="819402"/>
            <a:ext cx="6264696" cy="1892207"/>
            <a:chOff x="107504" y="764704"/>
            <a:chExt cx="6264696" cy="189220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434FD3E-4549-4174-A152-6E112BE257A9}"/>
                </a:ext>
              </a:extLst>
            </p:cNvPr>
            <p:cNvGrpSpPr/>
            <p:nvPr/>
          </p:nvGrpSpPr>
          <p:grpSpPr>
            <a:xfrm>
              <a:off x="107504" y="764704"/>
              <a:ext cx="6264696" cy="1892207"/>
              <a:chOff x="1187624" y="1042339"/>
              <a:chExt cx="6264696" cy="1892207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A54FCB48-90C4-4D86-B7D0-DE6C9FAB7119}"/>
                  </a:ext>
                </a:extLst>
              </p:cNvPr>
              <p:cNvGrpSpPr/>
              <p:nvPr/>
            </p:nvGrpSpPr>
            <p:grpSpPr>
              <a:xfrm>
                <a:off x="1187624" y="1268760"/>
                <a:ext cx="6264696" cy="1665786"/>
                <a:chOff x="1187624" y="1268760"/>
                <a:chExt cx="6264696" cy="1665786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B05EE3EA-7A6D-4A0A-82FC-DFAD2C63F2F9}"/>
                    </a:ext>
                  </a:extLst>
                </p:cNvPr>
                <p:cNvGrpSpPr/>
                <p:nvPr/>
              </p:nvGrpSpPr>
              <p:grpSpPr>
                <a:xfrm>
                  <a:off x="2524492" y="2276872"/>
                  <a:ext cx="3415660" cy="181255"/>
                  <a:chOff x="2256670" y="2897340"/>
                  <a:chExt cx="3415660" cy="181255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473D60DA-F102-4DEE-AE19-A786D6945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6670" y="2924944"/>
                    <a:ext cx="15952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19814A87-A0A0-4DD4-A865-343F4C5C33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36356" y="3068960"/>
                    <a:ext cx="771878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35157848-21EE-46CF-AF55-511FCBC869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52250" y="2905302"/>
                    <a:ext cx="72008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32167048-9651-478D-879F-EFCEDED66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1920" y="2924944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1A93C552-8E5F-4A96-9CD6-83AEF02194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789614" y="2915960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E7350C3B-68E2-4084-9316-002E467088A3}"/>
                    </a:ext>
                  </a:extLst>
                </p:cNvPr>
                <p:cNvGrpSpPr/>
                <p:nvPr/>
              </p:nvGrpSpPr>
              <p:grpSpPr>
                <a:xfrm>
                  <a:off x="1187624" y="1268760"/>
                  <a:ext cx="6264696" cy="1665786"/>
                  <a:chOff x="1187624" y="1268760"/>
                  <a:chExt cx="6264696" cy="1665786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94EECDAF-0FBF-4004-B880-EC0BE0916F9B}"/>
                      </a:ext>
                    </a:extLst>
                  </p:cNvPr>
                  <p:cNvGrpSpPr/>
                  <p:nvPr/>
                </p:nvGrpSpPr>
                <p:grpSpPr>
                  <a:xfrm>
                    <a:off x="1187624" y="1474329"/>
                    <a:ext cx="6264696" cy="882885"/>
                    <a:chOff x="210796" y="2027454"/>
                    <a:chExt cx="6264696" cy="882885"/>
                  </a:xfrm>
                </p:grpSpPr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72AE3FF9-D2C3-4F44-9075-1463586480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3528" y="2375133"/>
                      <a:ext cx="5782681" cy="152976"/>
                      <a:chOff x="174611" y="2325859"/>
                      <a:chExt cx="5782681" cy="152976"/>
                    </a:xfrm>
                  </p:grpSpPr>
                  <p:sp>
                    <p:nvSpPr>
                      <p:cNvPr id="3" name="箭头: 五边形 2">
                        <a:extLst>
                          <a:ext uri="{FF2B5EF4-FFF2-40B4-BE49-F238E27FC236}">
                            <a16:creationId xmlns:a16="http://schemas.microsoft.com/office/drawing/2014/main" id="{4FBE5E4B-F833-4162-91E4-A55C214FD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0914" y="2334819"/>
                        <a:ext cx="1678225" cy="13505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10" name="箭头: 五边形 9">
                        <a:extLst>
                          <a:ext uri="{FF2B5EF4-FFF2-40B4-BE49-F238E27FC236}">
                            <a16:creationId xmlns:a16="http://schemas.microsoft.com/office/drawing/2014/main" id="{4A3C0526-DE3A-4A94-9F5F-ECB0E2D9DE4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542764" y="2330337"/>
                        <a:ext cx="1368152" cy="14401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" name="箭头: 五边形 10">
                        <a:extLst>
                          <a:ext uri="{FF2B5EF4-FFF2-40B4-BE49-F238E27FC236}">
                            <a16:creationId xmlns:a16="http://schemas.microsoft.com/office/drawing/2014/main" id="{80F62E94-898E-424D-B8E6-D4335D7803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11" y="233481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" name="箭头: 五边形 11">
                        <a:extLst>
                          <a:ext uri="{FF2B5EF4-FFF2-40B4-BE49-F238E27FC236}">
                            <a16:creationId xmlns:a16="http://schemas.microsoft.com/office/drawing/2014/main" id="{F234903B-8EF2-4AC8-98A3-516D657D78F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589140" y="232585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</p:grpSp>
                <p:pic>
                  <p:nvPicPr>
                    <p:cNvPr id="7" name="图片 6">
                      <a:extLst>
                        <a:ext uri="{FF2B5EF4-FFF2-40B4-BE49-F238E27FC236}">
                          <a16:creationId xmlns:a16="http://schemas.microsoft.com/office/drawing/2014/main" id="{B6419E6A-4492-44D0-AEC6-4A5029078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210796" y="2027454"/>
                      <a:ext cx="1336868" cy="8572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图片 16">
                      <a:extLst>
                        <a:ext uri="{FF2B5EF4-FFF2-40B4-BE49-F238E27FC236}">
                          <a16:creationId xmlns:a16="http://schemas.microsoft.com/office/drawing/2014/main" id="{71C11176-80E2-47E5-A666-25BE5FBFEA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5138624" y="2053045"/>
                      <a:ext cx="1336868" cy="85729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3C3CBB6C-0A37-48C0-8B42-077B6284C6AA}"/>
                      </a:ext>
                    </a:extLst>
                  </p:cNvPr>
                  <p:cNvGrpSpPr/>
                  <p:nvPr/>
                </p:nvGrpSpPr>
                <p:grpSpPr>
                  <a:xfrm>
                    <a:off x="2524492" y="2780928"/>
                    <a:ext cx="3559676" cy="153618"/>
                    <a:chOff x="2524492" y="2780928"/>
                    <a:chExt cx="3559676" cy="153618"/>
                  </a:xfrm>
                </p:grpSpPr>
                <p:grpSp>
                  <p:nvGrpSpPr>
                    <p:cNvPr id="34" name="组合 33">
                      <a:extLst>
                        <a:ext uri="{FF2B5EF4-FFF2-40B4-BE49-F238E27FC236}">
                          <a16:creationId xmlns:a16="http://schemas.microsoft.com/office/drawing/2014/main" id="{1CB9CA17-95FE-4D8B-83EC-0872AA7804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88233" y="2780928"/>
                      <a:ext cx="551919" cy="153618"/>
                      <a:chOff x="4671709" y="2945461"/>
                      <a:chExt cx="551919" cy="153618"/>
                    </a:xfrm>
                  </p:grpSpPr>
                  <p:sp>
                    <p:nvSpPr>
                      <p:cNvPr id="32" name="箭头: 五边形 31">
                        <a:extLst>
                          <a:ext uri="{FF2B5EF4-FFF2-40B4-BE49-F238E27FC236}">
                            <a16:creationId xmlns:a16="http://schemas.microsoft.com/office/drawing/2014/main" id="{A12B029F-076D-4C98-95DC-752203A0B64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671709" y="2945461"/>
                        <a:ext cx="518275" cy="153618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" name="菱形 32">
                        <a:extLst>
                          <a:ext uri="{FF2B5EF4-FFF2-40B4-BE49-F238E27FC236}">
                            <a16:creationId xmlns:a16="http://schemas.microsoft.com/office/drawing/2014/main" id="{8E4A2E15-BBBD-40C8-BD01-C9A00553AC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6340" y="2953131"/>
                        <a:ext cx="67288" cy="144008"/>
                      </a:xfrm>
                      <a:prstGeom prst="diamond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2D255D95-2CDB-4810-8F7D-FC3B5AE917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24492" y="2857737"/>
                      <a:ext cx="2845133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连接符 36">
                      <a:extLst>
                        <a:ext uri="{FF2B5EF4-FFF2-40B4-BE49-F238E27FC236}">
                          <a16:creationId xmlns:a16="http://schemas.microsoft.com/office/drawing/2014/main" id="{437D56A7-E97D-4A04-A463-4E502D074E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40152" y="2857737"/>
                      <a:ext cx="144016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A0BE35E4-D755-4289-9D74-E0361D66DF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6067" y="1340768"/>
                    <a:ext cx="305806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0A862A5E-2A6F-49E6-BE3A-5FDE59750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70788" y="1628800"/>
                    <a:ext cx="247442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>
                    <a:extLst>
                      <a:ext uri="{FF2B5EF4-FFF2-40B4-BE49-F238E27FC236}">
                        <a16:creationId xmlns:a16="http://schemas.microsoft.com/office/drawing/2014/main" id="{98B70CFF-A379-4835-B6CD-5EA29B141A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6445" y="2564904"/>
                    <a:ext cx="79370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33BB6BAA-2E63-413B-9C95-B2C0F55FD9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564904"/>
                    <a:ext cx="9152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113EF34A-C369-4CD3-955D-C44CEBA0D4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8508" y="1268760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1A76A068-B7B9-48CD-9D06-D953BFC28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5214" y="1495239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E9A5BD84-8FD5-4291-B981-BFE120CC5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13328" y="1268760"/>
                    <a:ext cx="0" cy="80199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4B43D178-955F-4A3C-99FF-9CD1312D55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42746" y="2458128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892D39A5-D4FC-4A8C-802E-D42C079C79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126561"/>
                    <a:ext cx="6024" cy="5103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50ACD67-473C-4A97-B05B-8A916745B2E8}"/>
                  </a:ext>
                </a:extLst>
              </p:cNvPr>
              <p:cNvSpPr txBox="1"/>
              <p:nvPr/>
            </p:nvSpPr>
            <p:spPr>
              <a:xfrm>
                <a:off x="4016881" y="1042339"/>
                <a:ext cx="3456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RC</a:t>
                </a:r>
                <a:endParaRPr lang="zh-CN" altLang="en-US" sz="1200" b="1" baseline="-250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A3ADCC6-3216-48DB-977D-4DCF1F40E3CE}"/>
                  </a:ext>
                </a:extLst>
              </p:cNvPr>
              <p:cNvSpPr txBox="1"/>
              <p:nvPr/>
            </p:nvSpPr>
            <p:spPr>
              <a:xfrm>
                <a:off x="3517905" y="1351801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A</a:t>
                </a:r>
                <a:endParaRPr lang="zh-CN" altLang="en-US" sz="1200" b="1" baseline="-25000" dirty="0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42B29F8-B923-4E03-9C34-3DC035300445}"/>
                  </a:ext>
                </a:extLst>
              </p:cNvPr>
              <p:cNvSpPr txBox="1"/>
              <p:nvPr/>
            </p:nvSpPr>
            <p:spPr>
              <a:xfrm>
                <a:off x="4586368" y="2503929"/>
                <a:ext cx="3602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CO</a:t>
                </a:r>
                <a:endParaRPr lang="zh-CN" altLang="en-US" sz="1200" b="1" baseline="-25000" dirty="0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A94D5E-446A-41C2-890F-BB9A9BB918EE}"/>
                  </a:ext>
                </a:extLst>
              </p:cNvPr>
              <p:cNvSpPr txBox="1"/>
              <p:nvPr/>
            </p:nvSpPr>
            <p:spPr>
              <a:xfrm>
                <a:off x="5378456" y="2304087"/>
                <a:ext cx="4196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OTD</a:t>
                </a:r>
                <a:endParaRPr lang="zh-CN" altLang="en-US" sz="1200" b="1" baseline="-25000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3DFC2DB-5D7D-4052-8644-253459C7E2C0}"/>
                  </a:ext>
                </a:extLst>
              </p:cNvPr>
              <p:cNvSpPr txBox="1"/>
              <p:nvPr/>
            </p:nvSpPr>
            <p:spPr>
              <a:xfrm>
                <a:off x="1444373" y="1751216"/>
                <a:ext cx="15010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地址：</a:t>
                </a:r>
                <a:r>
                  <a:rPr lang="en-US" altLang="zh-CN" sz="1200" b="1" dirty="0" err="1"/>
                  <a:t>Addr</a:t>
                </a:r>
                <a:endParaRPr lang="zh-CN" altLang="en-US" sz="1200" b="1" baseline="-25000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4E63FBF-FD43-401D-B400-66217B0DB7FC}"/>
                  </a:ext>
                </a:extLst>
              </p:cNvPr>
              <p:cNvSpPr txBox="1"/>
              <p:nvPr/>
            </p:nvSpPr>
            <p:spPr>
              <a:xfrm>
                <a:off x="1614188" y="2130922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片选</a:t>
                </a:r>
                <a:r>
                  <a:rPr lang="en-US" altLang="zh-CN" sz="1200" b="1" dirty="0"/>
                  <a:t>/CS</a:t>
                </a:r>
                <a:endParaRPr lang="zh-CN" altLang="en-US" sz="1200" b="1" baseline="-25000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E3970E5-7364-4A1A-8A2F-7B63CA3FEC63}"/>
                  </a:ext>
                </a:extLst>
              </p:cNvPr>
              <p:cNvSpPr txBox="1"/>
              <p:nvPr/>
            </p:nvSpPr>
            <p:spPr>
              <a:xfrm>
                <a:off x="1462462" y="2625340"/>
                <a:ext cx="16368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输出数据</a:t>
                </a:r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5" name="图片 184">
              <a:extLst>
                <a:ext uri="{FF2B5EF4-FFF2-40B4-BE49-F238E27FC236}">
                  <a16:creationId xmlns:a16="http://schemas.microsoft.com/office/drawing/2014/main" id="{196E1CBE-569D-4B2B-B90F-5F308CCC5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176" y="1573863"/>
              <a:ext cx="209561" cy="107956"/>
            </a:xfrm>
            <a:prstGeom prst="rect">
              <a:avLst/>
            </a:prstGeom>
          </p:spPr>
        </p:pic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90CBD5A6-2D03-4134-BFF4-F3607A1CF642}"/>
              </a:ext>
            </a:extLst>
          </p:cNvPr>
          <p:cNvGrpSpPr/>
          <p:nvPr/>
        </p:nvGrpSpPr>
        <p:grpSpPr>
          <a:xfrm>
            <a:off x="251520" y="3429000"/>
            <a:ext cx="6044703" cy="2934493"/>
            <a:chOff x="251520" y="3429000"/>
            <a:chExt cx="6044703" cy="2934493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FE11633-1313-4548-B85A-E94004DBEF65}"/>
                </a:ext>
              </a:extLst>
            </p:cNvPr>
            <p:cNvGrpSpPr/>
            <p:nvPr/>
          </p:nvGrpSpPr>
          <p:grpSpPr>
            <a:xfrm>
              <a:off x="251520" y="3429000"/>
              <a:ext cx="6044703" cy="2934493"/>
              <a:chOff x="683568" y="1196752"/>
              <a:chExt cx="6044703" cy="2934493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E48E378A-C865-4919-9318-2EB773F8C915}"/>
                  </a:ext>
                </a:extLst>
              </p:cNvPr>
              <p:cNvGrpSpPr/>
              <p:nvPr/>
            </p:nvGrpSpPr>
            <p:grpSpPr>
              <a:xfrm>
                <a:off x="683568" y="1196752"/>
                <a:ext cx="6044703" cy="2934493"/>
                <a:chOff x="683568" y="1196752"/>
                <a:chExt cx="6044703" cy="2934493"/>
              </a:xfrm>
            </p:grpSpPr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36DCB5E7-E0EC-4AF4-8F84-934A1B5E32A0}"/>
                    </a:ext>
                  </a:extLst>
                </p:cNvPr>
                <p:cNvGrpSpPr/>
                <p:nvPr/>
              </p:nvGrpSpPr>
              <p:grpSpPr>
                <a:xfrm>
                  <a:off x="683568" y="1196752"/>
                  <a:ext cx="6044703" cy="2934493"/>
                  <a:chOff x="683568" y="1196752"/>
                  <a:chExt cx="6044703" cy="2934493"/>
                </a:xfrm>
              </p:grpSpPr>
              <p:grpSp>
                <p:nvGrpSpPr>
                  <p:cNvPr id="120" name="组合 119">
                    <a:extLst>
                      <a:ext uri="{FF2B5EF4-FFF2-40B4-BE49-F238E27FC236}">
                        <a16:creationId xmlns:a16="http://schemas.microsoft.com/office/drawing/2014/main" id="{28F43622-802B-43CE-A0DC-C426B70DD603}"/>
                      </a:ext>
                    </a:extLst>
                  </p:cNvPr>
                  <p:cNvGrpSpPr/>
                  <p:nvPr/>
                </p:nvGrpSpPr>
                <p:grpSpPr>
                  <a:xfrm>
                    <a:off x="683568" y="1196752"/>
                    <a:ext cx="6044703" cy="2934493"/>
                    <a:chOff x="683568" y="1196752"/>
                    <a:chExt cx="6044703" cy="2934493"/>
                  </a:xfrm>
                </p:grpSpPr>
                <p:grpSp>
                  <p:nvGrpSpPr>
                    <p:cNvPr id="126" name="组合 125">
                      <a:extLst>
                        <a:ext uri="{FF2B5EF4-FFF2-40B4-BE49-F238E27FC236}">
                          <a16:creationId xmlns:a16="http://schemas.microsoft.com/office/drawing/2014/main" id="{ADBD3773-5E5D-46FC-8D18-9E09A918A7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3568" y="1196752"/>
                      <a:ext cx="6044703" cy="2934493"/>
                      <a:chOff x="179512" y="1351801"/>
                      <a:chExt cx="6044703" cy="2934493"/>
                    </a:xfrm>
                  </p:grpSpPr>
                  <p:grpSp>
                    <p:nvGrpSpPr>
                      <p:cNvPr id="129" name="组合 128">
                        <a:extLst>
                          <a:ext uri="{FF2B5EF4-FFF2-40B4-BE49-F238E27FC236}">
                            <a16:creationId xmlns:a16="http://schemas.microsoft.com/office/drawing/2014/main" id="{1D06493A-6B44-4540-AA5C-107A4CF92E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6096" y="3429000"/>
                        <a:ext cx="4237332" cy="857294"/>
                        <a:chOff x="1526096" y="3952000"/>
                        <a:chExt cx="4237332" cy="857294"/>
                      </a:xfrm>
                    </p:grpSpPr>
                    <p:grpSp>
                      <p:nvGrpSpPr>
                        <p:cNvPr id="173" name="组合 172">
                          <a:extLst>
                            <a:ext uri="{FF2B5EF4-FFF2-40B4-BE49-F238E27FC236}">
                              <a16:creationId xmlns:a16="http://schemas.microsoft.com/office/drawing/2014/main" id="{3A7C4E26-C07C-4650-A584-DAA4638A47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26096" y="4132373"/>
                          <a:ext cx="3662779" cy="175180"/>
                          <a:chOff x="1331640" y="6310812"/>
                          <a:chExt cx="3662779" cy="175180"/>
                        </a:xfrm>
                      </p:grpSpPr>
                      <p:grpSp>
                        <p:nvGrpSpPr>
                          <p:cNvPr id="175" name="组合 174">
                            <a:extLst>
                              <a:ext uri="{FF2B5EF4-FFF2-40B4-BE49-F238E27FC236}">
                                <a16:creationId xmlns:a16="http://schemas.microsoft.com/office/drawing/2014/main" id="{7344ED93-0A2F-43FB-BBCC-FD32316ACE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31640" y="6313673"/>
                            <a:ext cx="3662779" cy="172319"/>
                            <a:chOff x="1668780" y="6313673"/>
                            <a:chExt cx="3662779" cy="172319"/>
                          </a:xfrm>
                        </p:grpSpPr>
                        <p:sp>
                          <p:nvSpPr>
                            <p:cNvPr id="177" name="箭头: 五边形 176">
                              <a:extLst>
                                <a:ext uri="{FF2B5EF4-FFF2-40B4-BE49-F238E27FC236}">
                                  <a16:creationId xmlns:a16="http://schemas.microsoft.com/office/drawing/2014/main" id="{61ECD1D3-4586-4D06-B36F-2F1DBA74B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3563888" y="6313673"/>
                              <a:ext cx="1767671" cy="172319"/>
                            </a:xfrm>
                            <a:prstGeom prst="homePlate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78" name="直接连接符 177">
                              <a:extLst>
                                <a:ext uri="{FF2B5EF4-FFF2-40B4-BE49-F238E27FC236}">
                                  <a16:creationId xmlns:a16="http://schemas.microsoft.com/office/drawing/2014/main" id="{5214EE0D-3756-4A76-B699-E9BA837DAE5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668780" y="6376526"/>
                              <a:ext cx="284513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76" name="菱形 175">
                            <a:extLst>
                              <a:ext uri="{FF2B5EF4-FFF2-40B4-BE49-F238E27FC236}">
                                <a16:creationId xmlns:a16="http://schemas.microsoft.com/office/drawing/2014/main" id="{510C13BA-4754-48B6-91F8-9A8B90DAB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21885" y="6310812"/>
                            <a:ext cx="145348" cy="159409"/>
                          </a:xfrm>
                          <a:prstGeom prst="diamond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pic>
                      <p:nvPicPr>
                        <p:cNvPr id="174" name="图片 173">
                          <a:extLst>
                            <a:ext uri="{FF2B5EF4-FFF2-40B4-BE49-F238E27FC236}">
                              <a16:creationId xmlns:a16="http://schemas.microsoft.com/office/drawing/2014/main" id="{B9536A26-9909-4B81-8F90-BF63E0D48F0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4236" y="3952000"/>
                          <a:ext cx="819192" cy="857294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130" name="组合 129">
                        <a:extLst>
                          <a:ext uri="{FF2B5EF4-FFF2-40B4-BE49-F238E27FC236}">
                            <a16:creationId xmlns:a16="http://schemas.microsoft.com/office/drawing/2014/main" id="{361658E5-A9A4-427A-80B8-E588F4A44C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9512" y="1351801"/>
                        <a:ext cx="6044703" cy="2437239"/>
                        <a:chOff x="179512" y="1351801"/>
                        <a:chExt cx="6044703" cy="2437239"/>
                      </a:xfrm>
                    </p:grpSpPr>
                    <p:grpSp>
                      <p:nvGrpSpPr>
                        <p:cNvPr id="132" name="组合 131">
                          <a:extLst>
                            <a:ext uri="{FF2B5EF4-FFF2-40B4-BE49-F238E27FC236}">
                              <a16:creationId xmlns:a16="http://schemas.microsoft.com/office/drawing/2014/main" id="{9F300723-818E-4247-A493-695F1203DC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509" y="2166284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8" name="直接连接符 167">
                            <a:extLst>
                              <a:ext uri="{FF2B5EF4-FFF2-40B4-BE49-F238E27FC236}">
                                <a16:creationId xmlns:a16="http://schemas.microsoft.com/office/drawing/2014/main" id="{E920FDF2-1DC6-42D2-952B-F1EAFB65B47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9" name="直接连接符 168">
                            <a:extLst>
                              <a:ext uri="{FF2B5EF4-FFF2-40B4-BE49-F238E27FC236}">
                                <a16:creationId xmlns:a16="http://schemas.microsoft.com/office/drawing/2014/main" id="{A67823BC-9579-4D1F-8936-F31BABBF155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635947"/>
                            <a:ext cx="3352711" cy="0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0" name="直接连接符 169">
                            <a:extLst>
                              <a:ext uri="{FF2B5EF4-FFF2-40B4-BE49-F238E27FC236}">
                                <a16:creationId xmlns:a16="http://schemas.microsoft.com/office/drawing/2014/main" id="{A718F3FA-E0E8-4CB8-B746-F19B3FB1554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1" name="直接连接符 170">
                            <a:extLst>
                              <a:ext uri="{FF2B5EF4-FFF2-40B4-BE49-F238E27FC236}">
                                <a16:creationId xmlns:a16="http://schemas.microsoft.com/office/drawing/2014/main" id="{019EA0B7-DE42-448D-B211-CAC95A6ECFF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2" name="直接连接符 171">
                            <a:extLst>
                              <a:ext uri="{FF2B5EF4-FFF2-40B4-BE49-F238E27FC236}">
                                <a16:creationId xmlns:a16="http://schemas.microsoft.com/office/drawing/2014/main" id="{BB1555C4-5289-42AD-8B5A-A76A361B4AA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3" name="组合 132">
                          <a:extLst>
                            <a:ext uri="{FF2B5EF4-FFF2-40B4-BE49-F238E27FC236}">
                              <a16:creationId xmlns:a16="http://schemas.microsoft.com/office/drawing/2014/main" id="{CB9FFCC0-B264-42B2-8F42-422243753D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018" y="2732176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3" name="直接连接符 162">
                            <a:extLst>
                              <a:ext uri="{FF2B5EF4-FFF2-40B4-BE49-F238E27FC236}">
                                <a16:creationId xmlns:a16="http://schemas.microsoft.com/office/drawing/2014/main" id="{4142DC63-9FB4-4540-8E81-4CE80C5F37A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4" name="直接连接符 163">
                            <a:extLst>
                              <a:ext uri="{FF2B5EF4-FFF2-40B4-BE49-F238E27FC236}">
                                <a16:creationId xmlns:a16="http://schemas.microsoft.com/office/drawing/2014/main" id="{F5C0D606-982D-4638-BD3A-9875768087B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92884" y="4628285"/>
                            <a:ext cx="1967911" cy="7662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5" name="直接连接符 164">
                            <a:extLst>
                              <a:ext uri="{FF2B5EF4-FFF2-40B4-BE49-F238E27FC236}">
                                <a16:creationId xmlns:a16="http://schemas.microsoft.com/office/drawing/2014/main" id="{57B374CF-646D-486E-9826-8242020ABD6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6" name="直接连接符 165">
                            <a:extLst>
                              <a:ext uri="{FF2B5EF4-FFF2-40B4-BE49-F238E27FC236}">
                                <a16:creationId xmlns:a16="http://schemas.microsoft.com/office/drawing/2014/main" id="{25C93478-8DE0-4403-89E6-66BD859088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7" name="直接连接符 166">
                            <a:extLst>
                              <a:ext uri="{FF2B5EF4-FFF2-40B4-BE49-F238E27FC236}">
                                <a16:creationId xmlns:a16="http://schemas.microsoft.com/office/drawing/2014/main" id="{A66542D2-0090-4B29-AA98-E5FE2FFCFE1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" name="组合 133">
                          <a:extLst>
                            <a:ext uri="{FF2B5EF4-FFF2-40B4-BE49-F238E27FC236}">
                              <a16:creationId xmlns:a16="http://schemas.microsoft.com/office/drawing/2014/main" id="{C189C715-76BA-4311-BB6D-124EB006C7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9512" y="1351801"/>
                          <a:ext cx="6044703" cy="2437239"/>
                          <a:chOff x="179512" y="1351801"/>
                          <a:chExt cx="6044703" cy="2437239"/>
                        </a:xfrm>
                      </p:grpSpPr>
                      <p:grpSp>
                        <p:nvGrpSpPr>
                          <p:cNvPr id="135" name="组合 134">
                            <a:extLst>
                              <a:ext uri="{FF2B5EF4-FFF2-40B4-BE49-F238E27FC236}">
                                <a16:creationId xmlns:a16="http://schemas.microsoft.com/office/drawing/2014/main" id="{93CB02B0-A157-4107-B37D-043AB9E534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9512" y="1351801"/>
                            <a:ext cx="6044703" cy="1695808"/>
                            <a:chOff x="1187624" y="1351801"/>
                            <a:chExt cx="6044703" cy="1695808"/>
                          </a:xfrm>
                        </p:grpSpPr>
                        <p:grpSp>
                          <p:nvGrpSpPr>
                            <p:cNvPr id="143" name="组合 142">
                              <a:extLst>
                                <a:ext uri="{FF2B5EF4-FFF2-40B4-BE49-F238E27FC236}">
                                  <a16:creationId xmlns:a16="http://schemas.microsoft.com/office/drawing/2014/main" id="{559E7629-6E9C-43EC-A0C7-F5255257747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1474329"/>
                              <a:ext cx="6044703" cy="1573280"/>
                              <a:chOff x="1187624" y="1474329"/>
                              <a:chExt cx="6044703" cy="1573280"/>
                            </a:xfrm>
                          </p:grpSpPr>
                          <p:grpSp>
                            <p:nvGrpSpPr>
                              <p:cNvPr id="149" name="组合 148">
                                <a:extLst>
                                  <a:ext uri="{FF2B5EF4-FFF2-40B4-BE49-F238E27FC236}">
                                    <a16:creationId xmlns:a16="http://schemas.microsoft.com/office/drawing/2014/main" id="{298D9E47-B6BC-4F63-8415-402DC45F101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87624" y="1474329"/>
                                <a:ext cx="6044703" cy="882885"/>
                                <a:chOff x="210796" y="2027454"/>
                                <a:chExt cx="6044703" cy="882885"/>
                              </a:xfrm>
                            </p:grpSpPr>
                            <p:grpSp>
                              <p:nvGrpSpPr>
                                <p:cNvPr id="156" name="组合 155">
                                  <a:extLst>
                                    <a:ext uri="{FF2B5EF4-FFF2-40B4-BE49-F238E27FC236}">
                                      <a16:creationId xmlns:a16="http://schemas.microsoft.com/office/drawing/2014/main" id="{35FC033C-441C-4B39-8380-F064827D31B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23528" y="2375133"/>
                                  <a:ext cx="5782681" cy="152976"/>
                                  <a:chOff x="174611" y="2325859"/>
                                  <a:chExt cx="5782681" cy="152976"/>
                                </a:xfrm>
                              </p:grpSpPr>
                              <p:sp>
                                <p:nvSpPr>
                                  <p:cNvPr id="159" name="箭头: 五边形 158">
                                    <a:extLst>
                                      <a:ext uri="{FF2B5EF4-FFF2-40B4-BE49-F238E27FC236}">
                                        <a16:creationId xmlns:a16="http://schemas.microsoft.com/office/drawing/2014/main" id="{180558E2-410B-42E6-8F92-7140492F5C3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2910914" y="2334819"/>
                                    <a:ext cx="1678225" cy="13505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  <p:sp>
                                <p:nvSpPr>
                                  <p:cNvPr id="160" name="箭头: 五边形 159">
                                    <a:extLst>
                                      <a:ext uri="{FF2B5EF4-FFF2-40B4-BE49-F238E27FC236}">
                                        <a16:creationId xmlns:a16="http://schemas.microsoft.com/office/drawing/2014/main" id="{E07C0921-9559-45B7-B4C2-62263D72B29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1542764" y="2330337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1" name="箭头: 五边形 160">
                                    <a:extLst>
                                      <a:ext uri="{FF2B5EF4-FFF2-40B4-BE49-F238E27FC236}">
                                        <a16:creationId xmlns:a16="http://schemas.microsoft.com/office/drawing/2014/main" id="{8ADC0F5E-83CE-43EE-B3F1-184183864BA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74611" y="233481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2" name="箭头: 五边形 161">
                                    <a:extLst>
                                      <a:ext uri="{FF2B5EF4-FFF2-40B4-BE49-F238E27FC236}">
                                        <a16:creationId xmlns:a16="http://schemas.microsoft.com/office/drawing/2014/main" id="{6F112B22-8759-43FF-81FB-2FFEAC5B45C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4589140" y="232585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157" name="图片 156">
                                  <a:extLst>
                                    <a:ext uri="{FF2B5EF4-FFF2-40B4-BE49-F238E27FC236}">
                                      <a16:creationId xmlns:a16="http://schemas.microsoft.com/office/drawing/2014/main" id="{D94F271C-D20E-42C8-B896-42CF914DE512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10796" y="2027454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158" name="图片 157">
                                  <a:extLst>
                                    <a:ext uri="{FF2B5EF4-FFF2-40B4-BE49-F238E27FC236}">
                                      <a16:creationId xmlns:a16="http://schemas.microsoft.com/office/drawing/2014/main" id="{663B9B49-C5B1-48B1-91C7-CCC7722F1A46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918631" y="2053045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grpSp>
                          <p:cxnSp>
                            <p:nvCxnSpPr>
                              <p:cNvPr id="150" name="直接连接符 149">
                                <a:extLst>
                                  <a:ext uri="{FF2B5EF4-FFF2-40B4-BE49-F238E27FC236}">
                                    <a16:creationId xmlns:a16="http://schemas.microsoft.com/office/drawing/2014/main" id="{62C61A03-033C-4796-BD0B-2E0A531252B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1628800"/>
                                <a:ext cx="3058061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1" name="直接连接符 150">
                                <a:extLst>
                                  <a:ext uri="{FF2B5EF4-FFF2-40B4-BE49-F238E27FC236}">
                                    <a16:creationId xmlns:a16="http://schemas.microsoft.com/office/drawing/2014/main" id="{22E1DDB1-C567-4FB1-86CB-99BD857B89E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636912"/>
                                <a:ext cx="2079375" cy="11033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2" name="直接连接符 151">
                                <a:extLst>
                                  <a:ext uri="{FF2B5EF4-FFF2-40B4-BE49-F238E27FC236}">
                                    <a16:creationId xmlns:a16="http://schemas.microsoft.com/office/drawing/2014/main" id="{5DF9E0FD-FFEC-44A8-A718-6C1E081CED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2503929"/>
                                <a:ext cx="393765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3" name="直接连接符 152">
                                <a:extLst>
                                  <a:ext uri="{FF2B5EF4-FFF2-40B4-BE49-F238E27FC236}">
                                    <a16:creationId xmlns:a16="http://schemas.microsoft.com/office/drawing/2014/main" id="{0773F9A8-1C89-4C8B-93E1-77F22ECB116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8508" y="1495239"/>
                                <a:ext cx="677" cy="114167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4" name="直接连接符 153">
                                <a:extLst>
                                  <a:ext uri="{FF2B5EF4-FFF2-40B4-BE49-F238E27FC236}">
                                    <a16:creationId xmlns:a16="http://schemas.microsoft.com/office/drawing/2014/main" id="{3C880CFA-FB02-4B03-9124-A1BF4135D9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060848"/>
                                <a:ext cx="0" cy="98676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5" name="直接连接符 154">
                                <a:extLst>
                                  <a:ext uri="{FF2B5EF4-FFF2-40B4-BE49-F238E27FC236}">
                                    <a16:creationId xmlns:a16="http://schemas.microsoft.com/office/drawing/2014/main" id="{634FD34C-B55B-4ABD-955F-3F835DC7927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5713328" y="1474876"/>
                                <a:ext cx="10800" cy="1162036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144" name="文本框 143">
                              <a:extLst>
                                <a:ext uri="{FF2B5EF4-FFF2-40B4-BE49-F238E27FC236}">
                                  <a16:creationId xmlns:a16="http://schemas.microsoft.com/office/drawing/2014/main" id="{AC6DEF06-53F3-4C56-B861-0EE16E3E3F5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16881" y="1351801"/>
                              <a:ext cx="383759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WC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5" name="文本框 144">
                              <a:extLst>
                                <a:ext uri="{FF2B5EF4-FFF2-40B4-BE49-F238E27FC236}">
                                  <a16:creationId xmlns:a16="http://schemas.microsoft.com/office/drawing/2014/main" id="{1CB79082-F8C9-4C49-A265-E1FE633EFE9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693969" y="2460065"/>
                              <a:ext cx="389017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AW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6" name="文本框 145">
                              <a:extLst>
                                <a:ext uri="{FF2B5EF4-FFF2-40B4-BE49-F238E27FC236}">
                                  <a16:creationId xmlns:a16="http://schemas.microsoft.com/office/drawing/2014/main" id="{B5474827-D6F6-4E43-8CE7-A1E70378021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58147" y="2370946"/>
                              <a:ext cx="33054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7" name="文本框 146">
                              <a:extLst>
                                <a:ext uri="{FF2B5EF4-FFF2-40B4-BE49-F238E27FC236}">
                                  <a16:creationId xmlns:a16="http://schemas.microsoft.com/office/drawing/2014/main" id="{061F1C15-2CBA-4EE2-B92F-7F81ADB449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984913" y="1764476"/>
                              <a:ext cx="498855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Addr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8" name="文本框 147">
                              <a:extLst>
                                <a:ext uri="{FF2B5EF4-FFF2-40B4-BE49-F238E27FC236}">
                                  <a16:creationId xmlns:a16="http://schemas.microsoft.com/office/drawing/2014/main" id="{99944F01-6BB0-4FCB-BECB-D2FD3696769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018368" y="2166910"/>
                              <a:ext cx="404278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/>
                                <a:t>/CS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</p:grpSp>
                      <p:grpSp>
                        <p:nvGrpSpPr>
                          <p:cNvPr id="136" name="组合 135">
                            <a:extLst>
                              <a:ext uri="{FF2B5EF4-FFF2-40B4-BE49-F238E27FC236}">
                                <a16:creationId xmlns:a16="http://schemas.microsoft.com/office/drawing/2014/main" id="{394195EA-C214-4393-9092-238D8A341D7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27922" y="2967581"/>
                            <a:ext cx="3887789" cy="533427"/>
                            <a:chOff x="827584" y="4526378"/>
                            <a:chExt cx="3887789" cy="533427"/>
                          </a:xfrm>
                        </p:grpSpPr>
                        <p:grpSp>
                          <p:nvGrpSpPr>
                            <p:cNvPr id="139" name="组合 138">
                              <a:extLst>
                                <a:ext uri="{FF2B5EF4-FFF2-40B4-BE49-F238E27FC236}">
                                  <a16:creationId xmlns:a16="http://schemas.microsoft.com/office/drawing/2014/main" id="{CD05F204-419A-4041-9393-7C679152E80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4660562"/>
                              <a:ext cx="3527749" cy="170047"/>
                              <a:chOff x="1187624" y="4660562"/>
                              <a:chExt cx="3527749" cy="170047"/>
                            </a:xfrm>
                          </p:grpSpPr>
                          <p:sp>
                            <p:nvSpPr>
                              <p:cNvPr id="141" name="箭头: 五边形 140">
                                <a:extLst>
                                  <a:ext uri="{FF2B5EF4-FFF2-40B4-BE49-F238E27FC236}">
                                    <a16:creationId xmlns:a16="http://schemas.microsoft.com/office/drawing/2014/main" id="{E5D60653-7EAB-493C-A6A8-4117ADC0BD3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87624" y="4660562"/>
                                <a:ext cx="1137687" cy="170047"/>
                              </a:xfrm>
                              <a:prstGeom prst="homePlate">
                                <a:avLst/>
                              </a:prstGeom>
                              <a:solidFill>
                                <a:schemeClr val="bg1"/>
                              </a:solidFill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 dirty="0"/>
                              </a:p>
                            </p:txBody>
                          </p:sp>
                          <p:cxnSp>
                            <p:nvCxnSpPr>
                              <p:cNvPr id="142" name="直接连接符 141">
                                <a:extLst>
                                  <a:ext uri="{FF2B5EF4-FFF2-40B4-BE49-F238E27FC236}">
                                    <a16:creationId xmlns:a16="http://schemas.microsoft.com/office/drawing/2014/main" id="{8F6AA016-7460-4253-928F-902DD26E66A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V="1">
                                <a:off x="2306371" y="4730778"/>
                                <a:ext cx="2409002" cy="20390"/>
                              </a:xfrm>
                              <a:prstGeom prst="line">
                                <a:avLst/>
                              </a:prstGeom>
                              <a:ln w="28575"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pic>
                          <p:nvPicPr>
                            <p:cNvPr id="140" name="图片 139">
                              <a:extLst>
                                <a:ext uri="{FF2B5EF4-FFF2-40B4-BE49-F238E27FC236}">
                                  <a16:creationId xmlns:a16="http://schemas.microsoft.com/office/drawing/2014/main" id="{22DC07D8-9F70-4FFA-9407-650A8F9DA634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27584" y="4526378"/>
                              <a:ext cx="495325" cy="533427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37" name="文本框 136">
                            <a:extLst>
                              <a:ext uri="{FF2B5EF4-FFF2-40B4-BE49-F238E27FC236}">
                                <a16:creationId xmlns:a16="http://schemas.microsoft.com/office/drawing/2014/main" id="{621C110B-3FEB-4CF9-8AEC-128F0DF715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99370" y="2647945"/>
                            <a:ext cx="465192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/WE</a:t>
                            </a:r>
                            <a:endParaRPr lang="zh-CN" altLang="en-US" sz="1200" b="1" baseline="-25000" dirty="0"/>
                          </a:p>
                        </p:txBody>
                      </p:sp>
                      <p:sp>
                        <p:nvSpPr>
                          <p:cNvPr id="138" name="文本框 137">
                            <a:extLst>
                              <a:ext uri="{FF2B5EF4-FFF2-40B4-BE49-F238E27FC236}">
                                <a16:creationId xmlns:a16="http://schemas.microsoft.com/office/drawing/2014/main" id="{A1D921EC-37C4-46EF-975C-138B7408112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005656" y="3512041"/>
                            <a:ext cx="37702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D</a:t>
                            </a:r>
                            <a:r>
                              <a:rPr lang="en-US" altLang="zh-CN" sz="1200" b="1" baseline="-25000" dirty="0"/>
                              <a:t>IN</a:t>
                            </a:r>
                            <a:endParaRPr lang="zh-CN" altLang="en-US" sz="1200" b="1" baseline="-25000" dirty="0"/>
                          </a:p>
                        </p:txBody>
                      </p:sp>
                    </p:grpSp>
                  </p:grpSp>
                  <p:cxnSp>
                    <p:nvCxnSpPr>
                      <p:cNvPr id="131" name="直接连接符 130">
                        <a:extLst>
                          <a:ext uri="{FF2B5EF4-FFF2-40B4-BE49-F238E27FC236}">
                            <a16:creationId xmlns:a16="http://schemas.microsoft.com/office/drawing/2014/main" id="{93C8C66D-5897-4576-8E7A-EC895325E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139952" y="2082199"/>
                        <a:ext cx="0" cy="148633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lg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7" name="直接连接符 126">
                      <a:extLst>
                        <a:ext uri="{FF2B5EF4-FFF2-40B4-BE49-F238E27FC236}">
                          <a16:creationId xmlns:a16="http://schemas.microsoft.com/office/drawing/2014/main" id="{0A95D9A1-34CD-4E97-9620-F6AB32DD2E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35151" y="2340320"/>
                      <a:ext cx="574121" cy="768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文本框 127">
                      <a:extLst>
                        <a:ext uri="{FF2B5EF4-FFF2-40B4-BE49-F238E27FC236}">
                          <a16:creationId xmlns:a16="http://schemas.microsoft.com/office/drawing/2014/main" id="{6706FA60-E5C2-489F-B926-46832436AA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16016" y="2276872"/>
                      <a:ext cx="3882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t</a:t>
                      </a:r>
                      <a:r>
                        <a:rPr lang="en-US" altLang="zh-CN" sz="1200" b="1" baseline="-25000" dirty="0" err="1"/>
                        <a:t>WR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121" name="组合 120">
                    <a:extLst>
                      <a:ext uri="{FF2B5EF4-FFF2-40B4-BE49-F238E27FC236}">
                        <a16:creationId xmlns:a16="http://schemas.microsoft.com/office/drawing/2014/main" id="{E7DE5B04-B6F6-43D2-A6D7-F2C58DAC3A71}"/>
                      </a:ext>
                    </a:extLst>
                  </p:cNvPr>
                  <p:cNvGrpSpPr/>
                  <p:nvPr/>
                </p:nvGrpSpPr>
                <p:grpSpPr>
                  <a:xfrm>
                    <a:off x="3993071" y="3202101"/>
                    <a:ext cx="1111193" cy="252223"/>
                    <a:chOff x="3993071" y="3202101"/>
                    <a:chExt cx="1111193" cy="252223"/>
                  </a:xfrm>
                </p:grpSpPr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86F8A8EB-C6BC-443E-A2AC-193183D05F1A}"/>
                        </a:ext>
                      </a:extLst>
                    </p:cNvPr>
                    <p:cNvCxnSpPr>
                      <a:cxnSpLocks/>
                      <a:endCxn id="176" idx="0"/>
                    </p:cNvCxnSpPr>
                    <p:nvPr/>
                  </p:nvCxnSpPr>
                  <p:spPr>
                    <a:xfrm>
                      <a:off x="3993071" y="3202101"/>
                      <a:ext cx="0" cy="25222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B8ADBB2D-A0D1-481F-A01B-86590FF8A7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97828" y="3202101"/>
                      <a:ext cx="0" cy="21057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64241925-C8F8-4C67-B485-858A50D989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2375" y="3291497"/>
                      <a:ext cx="451889" cy="58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657C322A-F47E-43C6-A0C8-23AB312DC1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3071" y="3284984"/>
                      <a:ext cx="650937" cy="1117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687433D-9E70-47DC-9BE3-8FD196709010}"/>
                    </a:ext>
                  </a:extLst>
                </p:cNvPr>
                <p:cNvSpPr txBox="1"/>
                <p:nvPr/>
              </p:nvSpPr>
              <p:spPr>
                <a:xfrm>
                  <a:off x="4169452" y="3035200"/>
                  <a:ext cx="393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DW</a:t>
                  </a:r>
                  <a:endParaRPr lang="zh-CN" altLang="en-US" sz="1200" b="1" baseline="-25000" dirty="0"/>
                </a:p>
              </p:txBody>
            </p:sp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F12A233-C6A5-4FEC-AA12-EC29CF390022}"/>
                    </a:ext>
                  </a:extLst>
                </p:cNvPr>
                <p:cNvSpPr txBox="1"/>
                <p:nvPr/>
              </p:nvSpPr>
              <p:spPr>
                <a:xfrm>
                  <a:off x="4707415" y="3040496"/>
                  <a:ext cx="3658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DH</a:t>
                  </a:r>
                  <a:endParaRPr lang="zh-CN" altLang="en-US" sz="1200" b="1" baseline="-25000" dirty="0"/>
                </a:p>
              </p:txBody>
            </p:sp>
          </p:grp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10621FE-11EB-4D01-953D-D6E5F1A2659F}"/>
                  </a:ext>
                </a:extLst>
              </p:cNvPr>
              <p:cNvSpPr txBox="1"/>
              <p:nvPr/>
            </p:nvSpPr>
            <p:spPr>
              <a:xfrm>
                <a:off x="1514349" y="2891184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EC0755EB-E27F-4C95-A8A7-93BF3336C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5690" y="3927613"/>
              <a:ext cx="209561" cy="107956"/>
            </a:xfrm>
            <a:prstGeom prst="rect">
              <a:avLst/>
            </a:prstGeom>
          </p:spPr>
        </p:pic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6051886-C3B0-481F-AEA0-587E246A7418}"/>
              </a:ext>
            </a:extLst>
          </p:cNvPr>
          <p:cNvSpPr txBox="1"/>
          <p:nvPr/>
        </p:nvSpPr>
        <p:spPr>
          <a:xfrm>
            <a:off x="5375182" y="3706867"/>
            <a:ext cx="3332523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</a:t>
            </a:r>
            <a:r>
              <a:rPr lang="zh-CN" altLang="en-US" sz="1200" b="1" dirty="0"/>
              <a:t>：写周期时间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</a:t>
            </a:r>
            <a:r>
              <a:rPr lang="zh-CN" altLang="en-US" sz="1200" b="1" dirty="0"/>
              <a:t>：写数据时间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WR</a:t>
            </a:r>
            <a:r>
              <a:rPr lang="zh-CN" altLang="en-US" sz="1200" b="1" dirty="0"/>
              <a:t>：写恢复时间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DW</a:t>
            </a:r>
            <a:r>
              <a:rPr lang="zh-CN" altLang="en-US" sz="1200" b="1" dirty="0"/>
              <a:t>：数据有效时间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DH</a:t>
            </a:r>
            <a:r>
              <a:rPr lang="zh-CN" altLang="en-US" sz="1200" b="1" dirty="0"/>
              <a:t>：写信号无效后数据保持时间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AW</a:t>
            </a:r>
            <a:r>
              <a:rPr lang="zh-CN" altLang="en-US" sz="1200" b="1" dirty="0"/>
              <a:t>：地址有效到写信号有效之间的时间间隔</a:t>
            </a:r>
            <a:endParaRPr lang="en-US" altLang="zh-CN" sz="1200" b="1" dirty="0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DD027CB-BFAC-4575-B3B0-6D21F8A62A4D}"/>
              </a:ext>
            </a:extLst>
          </p:cNvPr>
          <p:cNvSpPr txBox="1"/>
          <p:nvPr/>
        </p:nvSpPr>
        <p:spPr>
          <a:xfrm>
            <a:off x="5404616" y="980728"/>
            <a:ext cx="3305562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</a:t>
            </a:r>
            <a:r>
              <a:rPr lang="zh-CN" altLang="en-US" sz="1200" b="1" dirty="0"/>
              <a:t>：读周期时间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A</a:t>
            </a:r>
            <a:r>
              <a:rPr lang="zh-CN" altLang="en-US" sz="1200" b="1" dirty="0"/>
              <a:t>：读数据时间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CO</a:t>
            </a:r>
            <a:r>
              <a:rPr lang="zh-CN" altLang="en-US" sz="1200" b="1" dirty="0"/>
              <a:t>：片选有效到数据稳定输出之间的时间延迟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OTD</a:t>
            </a:r>
            <a:r>
              <a:rPr lang="zh-CN" altLang="en-US" sz="1200" b="1" dirty="0"/>
              <a:t>：片选断开到输出端数据还能保持的时间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1352185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存储体以动态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存储元为基本单元组成的存储器称为动态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存储器，也称为</a:t>
            </a:r>
            <a:r>
              <a:rPr lang="zh-CN" altLang="en-US" sz="1400" b="1" dirty="0">
                <a:solidFill>
                  <a:srgbClr val="C00000"/>
                </a:solidFill>
              </a:rPr>
              <a:t>动态随机存取存储器</a:t>
            </a:r>
            <a:r>
              <a:rPr lang="zh-CN" altLang="en-US" sz="1400" b="1" dirty="0"/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Dynamic Random Access Memory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）存储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位二进制数需要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管，其存储密度较低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）则采用数量较少的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管（如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管）和</a:t>
            </a:r>
            <a:r>
              <a:rPr lang="zh-CN" altLang="en-US" sz="1400" b="1" dirty="0">
                <a:solidFill>
                  <a:srgbClr val="FF0000"/>
                </a:solidFill>
              </a:rPr>
              <a:t>存储电容</a:t>
            </a:r>
            <a:r>
              <a:rPr lang="zh-CN" altLang="en-US" sz="1400" b="1" dirty="0"/>
              <a:t>来存储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位二进制数，其</a:t>
            </a:r>
            <a:r>
              <a:rPr lang="zh-CN" altLang="en-US" sz="1400" b="1" dirty="0">
                <a:solidFill>
                  <a:srgbClr val="C00000"/>
                </a:solidFill>
              </a:rPr>
              <a:t>存储密度较</a:t>
            </a:r>
            <a:r>
              <a:rPr lang="zh-CN" altLang="en-US" sz="1400" b="1" dirty="0">
                <a:solidFill>
                  <a:srgbClr val="FF0000"/>
                </a:solidFill>
              </a:rPr>
              <a:t>高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、单管动态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存储单元</a:t>
            </a:r>
            <a:endParaRPr lang="en-US" altLang="zh-CN" sz="20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5272FB7-4DBA-47AE-A0BD-4759A8493590}"/>
              </a:ext>
            </a:extLst>
          </p:cNvPr>
          <p:cNvGrpSpPr/>
          <p:nvPr/>
        </p:nvGrpSpPr>
        <p:grpSpPr>
          <a:xfrm>
            <a:off x="3923928" y="3606417"/>
            <a:ext cx="3168352" cy="2918927"/>
            <a:chOff x="3563888" y="4509120"/>
            <a:chExt cx="2520280" cy="234073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35C3422-75CD-4550-9E40-F05AA75CA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5896" y="4509120"/>
              <a:ext cx="2007724" cy="2121138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9F36CB8-5A7E-4718-B473-AA1DF4AB4D70}"/>
                </a:ext>
              </a:extLst>
            </p:cNvPr>
            <p:cNvSpPr txBox="1"/>
            <p:nvPr/>
          </p:nvSpPr>
          <p:spPr>
            <a:xfrm>
              <a:off x="3563888" y="6603632"/>
              <a:ext cx="25202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/>
                <a:t>图</a:t>
              </a:r>
              <a:r>
                <a:rPr lang="en-US" altLang="zh-CN" sz="1000" b="1" dirty="0"/>
                <a:t>4.13    </a:t>
              </a:r>
              <a:r>
                <a:rPr lang="zh-CN" altLang="en-US" sz="1000" b="1" dirty="0"/>
                <a:t>单管</a:t>
              </a:r>
              <a:r>
                <a:rPr lang="en-US" altLang="zh-CN" sz="1000" b="1" dirty="0"/>
                <a:t>DRAM</a:t>
              </a:r>
              <a:r>
                <a:rPr lang="zh-CN" altLang="en-US" sz="1000" b="1" dirty="0"/>
                <a:t>内部电路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6C0557C-45E4-447A-9D96-D60E5F6FECF2}"/>
              </a:ext>
            </a:extLst>
          </p:cNvPr>
          <p:cNvSpPr txBox="1"/>
          <p:nvPr/>
        </p:nvSpPr>
        <p:spPr>
          <a:xfrm>
            <a:off x="3030277" y="4490652"/>
            <a:ext cx="746549" cy="24622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存储单元</a:t>
            </a:r>
            <a:endParaRPr lang="zh-CN" altLang="en-US" sz="10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1640DDF-F7C3-46DB-86D4-D24951967F25}"/>
              </a:ext>
            </a:extLst>
          </p:cNvPr>
          <p:cNvCxnSpPr>
            <a:cxnSpLocks/>
          </p:cNvCxnSpPr>
          <p:nvPr/>
        </p:nvCxnSpPr>
        <p:spPr>
          <a:xfrm flipV="1">
            <a:off x="3851920" y="4365104"/>
            <a:ext cx="576064" cy="2462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280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75C67-753B-4ABC-85E8-1CCAC562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8229600" cy="4525963"/>
          </a:xfrm>
        </p:spPr>
        <p:txBody>
          <a:bodyPr/>
          <a:lstStyle/>
          <a:p>
            <a:pPr lvl="2"/>
            <a:r>
              <a:rPr lang="zh-CN" altLang="en-US" sz="1600" b="1" dirty="0"/>
              <a:t>使用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个电容（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）构成存储单元，存放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有电荷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</a:t>
            </a:r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无电荷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单管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的特点：</a:t>
            </a:r>
            <a:endParaRPr lang="en-US" altLang="zh-CN" sz="1600" b="1" dirty="0"/>
          </a:p>
          <a:p>
            <a:pPr lvl="3">
              <a:buFont typeface="+mj-ea"/>
              <a:buAutoNum type="circleNumDbPlain"/>
            </a:pPr>
            <a:r>
              <a:rPr lang="zh-CN" altLang="en-US" sz="1400" b="1" dirty="0"/>
              <a:t>因为电容的充放电过程较慢，因此单管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读写速度比</a:t>
            </a:r>
            <a:r>
              <a:rPr lang="en-US" altLang="zh-CN" sz="1400" b="1" dirty="0"/>
              <a:t>SRAM</a:t>
            </a:r>
            <a:r>
              <a:rPr lang="zh-CN" altLang="en-US" sz="1400" b="1" dirty="0">
                <a:solidFill>
                  <a:srgbClr val="C00000"/>
                </a:solidFill>
              </a:rPr>
              <a:t>慢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>
              <a:buFont typeface="+mj-ea"/>
              <a:buAutoNum type="circleNumDbPlain"/>
            </a:pPr>
            <a:endParaRPr lang="en-US" altLang="zh-CN" sz="1400" b="1" dirty="0"/>
          </a:p>
          <a:p>
            <a:pPr lvl="3">
              <a:buFont typeface="+mj-ea"/>
              <a:buAutoNum type="circleNumDbPlain"/>
            </a:pPr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读出时，会引起电容电荷的减少，从而破坏原有数据，为避免数据丢失，在读出后需要将数据重新写入，该过程称为</a:t>
            </a:r>
            <a:r>
              <a:rPr lang="zh-CN" altLang="en-US" sz="1400" b="1" dirty="0">
                <a:solidFill>
                  <a:srgbClr val="C00000"/>
                </a:solidFill>
              </a:rPr>
              <a:t>数据恢复（再生）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>
              <a:buFont typeface="+mj-ea"/>
              <a:buAutoNum type="circleNumDbPlain"/>
            </a:pPr>
            <a:r>
              <a:rPr lang="zh-CN" altLang="en-US" sz="1400" b="1" dirty="0"/>
              <a:t>数据恢复以及读出信号需要</a:t>
            </a:r>
            <a:r>
              <a:rPr lang="zh-CN" altLang="en-US" sz="14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1400" b="1" dirty="0"/>
              <a:t>，该电路为该列上所有的存储单元共享</a:t>
            </a:r>
            <a:endParaRPr lang="en-US" altLang="zh-CN" sz="1400" b="1" dirty="0"/>
          </a:p>
          <a:p>
            <a:pPr lvl="3">
              <a:buFont typeface="+mj-ea"/>
              <a:buAutoNum type="circleNumDbPlain"/>
            </a:pPr>
            <a:endParaRPr lang="en-US" altLang="zh-CN" sz="1400" b="1" dirty="0"/>
          </a:p>
          <a:p>
            <a:pPr lvl="3">
              <a:buFont typeface="+mj-ea"/>
              <a:buAutoNum type="circleNumDbPlain"/>
            </a:pPr>
            <a:r>
              <a:rPr lang="zh-CN" altLang="en-US" sz="1400" b="1" dirty="0"/>
              <a:t>因为电容上的电荷会逐渐泄露，数据只能保存较短的时间，为避免数据丢失，必须定期采用类似读操作的方式对存储单元补充电荷，这个过程称为</a:t>
            </a:r>
            <a:r>
              <a:rPr lang="zh-CN" altLang="en-US" sz="1400" b="1" dirty="0">
                <a:solidFill>
                  <a:srgbClr val="C00000"/>
                </a:solidFill>
              </a:rPr>
              <a:t>刷新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>
              <a:buFont typeface="+mj-ea"/>
              <a:buAutoNum type="circleNumDbPlain"/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 lvl="3">
              <a:buFont typeface="+mj-ea"/>
              <a:buAutoNum type="circleNumDbPlain"/>
            </a:pPr>
            <a:r>
              <a:rPr lang="zh-CN" altLang="en-US" sz="1400" b="1" dirty="0"/>
              <a:t>如图</a:t>
            </a:r>
            <a:r>
              <a:rPr lang="en-US" altLang="zh-CN" sz="1400" b="1" dirty="0"/>
              <a:t>4.13</a:t>
            </a:r>
            <a:r>
              <a:rPr lang="zh-CN" altLang="en-US" sz="1400" b="1" dirty="0"/>
              <a:t>所示，与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类似，包含两条对称的位线，每一列包含共享的预充电路和读出放大再生电路，其由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管构成，类似一个跷跷板，当位线上的电压存在微弱电压差时，跷跷板平衡打破，电压略高一端变成稳定的高电平‘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’，另一端变成‘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’。</a:t>
            </a:r>
            <a:endParaRPr lang="en-US" altLang="zh-CN" sz="1200" b="1" dirty="0"/>
          </a:p>
          <a:p>
            <a:pPr lvl="2"/>
            <a:endParaRPr lang="en-US" altLang="zh-CN" sz="16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zh-CN" altLang="en-US" sz="11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E5BC3B-9E62-472B-A717-9A661230D8EE}"/>
              </a:ext>
            </a:extLst>
          </p:cNvPr>
          <p:cNvSpPr/>
          <p:nvPr/>
        </p:nvSpPr>
        <p:spPr>
          <a:xfrm>
            <a:off x="683568" y="405912"/>
            <a:ext cx="48965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sz="2800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sz="2800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sz="2800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sz="2800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en-US" altLang="zh-CN" sz="2800" b="1" dirty="0">
              <a:solidFill>
                <a:srgbClr val="00206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3080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43528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、单管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工作原理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读操作</a:t>
            </a:r>
            <a:r>
              <a:rPr lang="zh-CN" altLang="en-US" sz="1400" b="1" dirty="0"/>
              <a:t>：预充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检测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恢复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读出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行选通和列选通信号使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导通；如果电容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上有电荷（表示存放的是“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”），则使输出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为高电平（表示读出“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”）；如果如果电容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上无电荷（表示存放的是“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”），则使输出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为低电平（表示读出“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highlight>
                  <a:srgbClr val="FFFF00"/>
                </a:highlight>
              </a:rPr>
              <a:t>注：行选和列选并不同时给出，</a:t>
            </a:r>
            <a:r>
              <a:rPr lang="en-US" altLang="zh-CN" sz="1400" b="1" dirty="0">
                <a:highlight>
                  <a:srgbClr val="FFFF00"/>
                </a:highlight>
              </a:rPr>
              <a:t>DRAM</a:t>
            </a:r>
            <a:r>
              <a:rPr lang="zh-CN" altLang="en-US" sz="1400" b="1" dirty="0">
                <a:highlight>
                  <a:srgbClr val="FFFF00"/>
                </a:highlight>
              </a:rPr>
              <a:t>通常将行列地址复用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写操作</a:t>
            </a:r>
            <a:r>
              <a:rPr lang="zh-CN" altLang="en-US" sz="1400" b="1" dirty="0"/>
              <a:t>：行选通和列选通信号使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T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导通；如果是写“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”，则输入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上的高电平将对电容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充电（表示写入“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”）；如果是写“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”，则输入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上的低电平将对电容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放电（表示写入“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dirty="0">
                <a:hlinkClick r:id="rId2"/>
              </a:rPr>
              <a:t>参考：</a:t>
            </a:r>
            <a:r>
              <a:rPr lang="en-US" altLang="zh-CN" sz="1400" dirty="0">
                <a:hlinkClick r:id="rId2"/>
              </a:rPr>
              <a:t>4.2.2</a:t>
            </a:r>
            <a:r>
              <a:rPr lang="zh-CN" altLang="en-US" sz="1400" dirty="0">
                <a:hlinkClick r:id="rId2"/>
              </a:rPr>
              <a:t>单管</a:t>
            </a:r>
            <a:r>
              <a:rPr lang="en-US" altLang="zh-CN" sz="1400" dirty="0">
                <a:hlinkClick r:id="rId2"/>
              </a:rPr>
              <a:t>DRAM</a:t>
            </a:r>
            <a:r>
              <a:rPr lang="zh-CN" altLang="en-US" sz="1400" dirty="0">
                <a:hlinkClick r:id="rId2"/>
              </a:rPr>
              <a:t>存储原理 </a:t>
            </a:r>
            <a:r>
              <a:rPr lang="en-US" altLang="zh-CN" sz="1400" dirty="0">
                <a:hlinkClick r:id="rId2"/>
              </a:rPr>
              <a:t>(proedu.com.cn)</a:t>
            </a:r>
            <a:r>
              <a:rPr lang="en-US" altLang="zh-CN" sz="1400" dirty="0"/>
              <a:t> </a:t>
            </a:r>
            <a:r>
              <a:rPr lang="zh-CN" altLang="en-US" sz="1400" dirty="0"/>
              <a:t>微课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DRAM</a:t>
            </a:r>
            <a:r>
              <a:rPr lang="zh-CN" altLang="en-US" sz="1400" b="1" dirty="0"/>
              <a:t>基本工作原理</a:t>
            </a:r>
            <a:r>
              <a:rPr lang="en-US" altLang="zh-CN" sz="1400" b="1" dirty="0"/>
              <a:t>- </a:t>
            </a:r>
            <a:r>
              <a:rPr lang="zh-CN" altLang="en-US" sz="1400" b="1" dirty="0"/>
              <a:t>知乎</a:t>
            </a:r>
            <a:r>
              <a:rPr lang="en-US" altLang="zh-CN" sz="1400" b="1" dirty="0">
                <a:hlinkClick r:id="rId3"/>
              </a:rPr>
              <a:t>https://www.zhihu.com/zvideo/1614404149566722048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endParaRPr lang="en-US" altLang="zh-CN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5A69E8-6A8E-46F6-85D1-CE923618D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883" y="3257306"/>
            <a:ext cx="3029913" cy="320106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4815D2-6618-489D-AB2C-BA79BD58ED68}"/>
              </a:ext>
            </a:extLst>
          </p:cNvPr>
          <p:cNvSpPr txBox="1"/>
          <p:nvPr/>
        </p:nvSpPr>
        <p:spPr>
          <a:xfrm>
            <a:off x="3599892" y="6351747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4.13    </a:t>
            </a:r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内部电路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58E62D4-0A59-4B25-908A-6DDF15D3D568}"/>
              </a:ext>
            </a:extLst>
          </p:cNvPr>
          <p:cNvSpPr/>
          <p:nvPr/>
        </p:nvSpPr>
        <p:spPr>
          <a:xfrm>
            <a:off x="4427984" y="6079567"/>
            <a:ext cx="648072" cy="2260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3F08C53-2970-4414-8318-FC47CE142F51}"/>
              </a:ext>
            </a:extLst>
          </p:cNvPr>
          <p:cNvSpPr/>
          <p:nvPr/>
        </p:nvSpPr>
        <p:spPr>
          <a:xfrm>
            <a:off x="3275856" y="3861048"/>
            <a:ext cx="648072" cy="2260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638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存储的刷新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因为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电容上的电荷会逐渐泄露，数据只能保存较短的时间，为避免数据丢失，必须定期采用类似读操作的方式对存储单元补充电荷，这个过程称为</a:t>
            </a:r>
            <a:r>
              <a:rPr lang="zh-CN" altLang="en-US" sz="1400" b="1" dirty="0">
                <a:solidFill>
                  <a:srgbClr val="FF0000"/>
                </a:solidFill>
              </a:rPr>
              <a:t>刷新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最大刷新周期</a:t>
            </a:r>
            <a:r>
              <a:rPr lang="zh-CN" altLang="en-US" sz="1400" b="1" dirty="0"/>
              <a:t>：信息存储到数据丢失之前的时间称为最大刷新周期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刷新周期</a:t>
            </a:r>
            <a:r>
              <a:rPr lang="zh-CN" altLang="en-US" sz="1400" b="1" dirty="0"/>
              <a:t>：存储器实际完成两次完整刷新之间的时间间隔，常见的有</a:t>
            </a:r>
            <a:r>
              <a:rPr lang="en-US" altLang="zh-CN" sz="1400" b="1" dirty="0"/>
              <a:t>2ms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4ms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8ms</a:t>
            </a:r>
            <a:r>
              <a:rPr lang="zh-CN" altLang="en-US" sz="1400" b="1" dirty="0"/>
              <a:t>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DRAM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刷新是按行进行</a:t>
            </a:r>
            <a:r>
              <a:rPr lang="zh-CN" altLang="en-US" sz="1400" b="1" dirty="0"/>
              <a:t>的，每次完成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行的刷新，刷新操作只需要给出存储器的行地址，不需要给出存储器的列地址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内存争用：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刷新是由内存控制器完成，此时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不能访问存储器，称为内存争用问题（也称</a:t>
            </a:r>
            <a:r>
              <a:rPr lang="zh-CN" altLang="en-US" sz="1400" b="1" dirty="0">
                <a:solidFill>
                  <a:srgbClr val="C00000"/>
                </a:solidFill>
              </a:rPr>
              <a:t>死区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常见的刷新方式：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集中刷新方式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分散刷新方式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异步刷新方式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025093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6AD9CEB3-C548-4C5A-BF2D-42DCFECB3CD8}"/>
              </a:ext>
            </a:extLst>
          </p:cNvPr>
          <p:cNvSpPr txBox="1"/>
          <p:nvPr/>
        </p:nvSpPr>
        <p:spPr>
          <a:xfrm>
            <a:off x="6142239" y="1124744"/>
            <a:ext cx="2678234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优点：读写操作期间不受刷新操作的影响，因此存储器的速度比较快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缺点：存在较长时间的“死区”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死区率</a:t>
            </a:r>
            <a:r>
              <a:rPr lang="en-US" altLang="zh-CN" sz="1050" b="1" dirty="0"/>
              <a:t>=128/4000=3.2%</a:t>
            </a:r>
          </a:p>
          <a:p>
            <a:endParaRPr lang="en-US" altLang="zh-CN" sz="1050" b="1" dirty="0"/>
          </a:p>
          <a:p>
            <a:r>
              <a:rPr lang="en-US" altLang="zh-CN" sz="1050" b="1" dirty="0"/>
              <a:t>4000=2ms/0.5</a:t>
            </a:r>
            <a:r>
              <a:rPr lang="el-GR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05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239CC4-5A61-462D-B5DD-9C46A858D1C2}"/>
              </a:ext>
            </a:extLst>
          </p:cNvPr>
          <p:cNvSpPr txBox="1"/>
          <p:nvPr/>
        </p:nvSpPr>
        <p:spPr>
          <a:xfrm>
            <a:off x="6148394" y="3429000"/>
            <a:ext cx="2672079" cy="1061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优点：不存在“死区”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缺点：存储周期增加（存储周期</a:t>
            </a:r>
            <a:r>
              <a:rPr lang="en-US" altLang="zh-CN" sz="1050" b="1" dirty="0"/>
              <a:t>=1</a:t>
            </a:r>
            <a:r>
              <a:rPr lang="el-GR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/>
              <a:t>s</a:t>
            </a:r>
            <a:r>
              <a:rPr lang="zh-CN" altLang="en-US" sz="1050" b="1" dirty="0"/>
              <a:t>），降低存储器的速度</a:t>
            </a:r>
            <a:endParaRPr lang="en-US" altLang="zh-CN" sz="1050" b="1" dirty="0"/>
          </a:p>
          <a:p>
            <a:r>
              <a:rPr lang="zh-CN" altLang="en-US" sz="1050" b="1" dirty="0"/>
              <a:t>刷新太过频繁</a:t>
            </a:r>
            <a:endParaRPr lang="en-US" altLang="zh-CN" sz="1050" b="1" dirty="0"/>
          </a:p>
          <a:p>
            <a:r>
              <a:rPr lang="zh-CN" altLang="en-US" sz="1050" b="1" dirty="0"/>
              <a:t>刷新周期是</a:t>
            </a:r>
            <a:r>
              <a:rPr lang="en-US" altLang="zh-CN" sz="1050" b="1" dirty="0">
                <a:highlight>
                  <a:srgbClr val="FFFF00"/>
                </a:highlight>
              </a:rPr>
              <a:t>128*1us=128us&lt;2ms</a:t>
            </a:r>
            <a:endParaRPr lang="zh-CN" altLang="en-US" sz="1050" b="1" dirty="0">
              <a:highlight>
                <a:srgbClr val="FFFF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ABBA58-18FE-4A35-A254-976452071FC2}"/>
              </a:ext>
            </a:extLst>
          </p:cNvPr>
          <p:cNvSpPr txBox="1"/>
          <p:nvPr/>
        </p:nvSpPr>
        <p:spPr>
          <a:xfrm>
            <a:off x="6156176" y="5085184"/>
            <a:ext cx="2664297" cy="1708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是集中刷新方式和分散刷新方式的结合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既没有增加存储周期，也没有较长时间的“死区”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是常用的刷新方式</a:t>
            </a:r>
            <a:endParaRPr lang="en-US" altLang="zh-CN" sz="1050" b="1" dirty="0"/>
          </a:p>
          <a:p>
            <a:r>
              <a:rPr lang="zh-CN" altLang="en-US" sz="1050" b="1" dirty="0"/>
              <a:t>保证</a:t>
            </a:r>
            <a:r>
              <a:rPr lang="en-US" altLang="zh-CN" sz="1050" b="1" dirty="0"/>
              <a:t>2ms</a:t>
            </a:r>
            <a:r>
              <a:rPr lang="zh-CN" altLang="en-US" sz="1050" b="1" dirty="0"/>
              <a:t>内刷新一次就好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highlight>
                  <a:srgbClr val="FFFF00"/>
                </a:highlight>
              </a:rPr>
              <a:t>2ms/128=15.625</a:t>
            </a:r>
            <a:r>
              <a:rPr lang="el-GR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s≈15.5</a:t>
            </a:r>
            <a:r>
              <a:rPr lang="el-GR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050" b="1" dirty="0">
              <a:highlight>
                <a:srgbClr val="FFFF00"/>
              </a:highlight>
            </a:endParaRPr>
          </a:p>
          <a:p>
            <a:endParaRPr lang="zh-CN" altLang="en-US" sz="105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76231E-ED8F-43E6-8339-EE67AF9E7E1D}"/>
              </a:ext>
            </a:extLst>
          </p:cNvPr>
          <p:cNvSpPr txBox="1"/>
          <p:nvPr/>
        </p:nvSpPr>
        <p:spPr>
          <a:xfrm>
            <a:off x="877707" y="260648"/>
            <a:ext cx="4278735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+mn-lt"/>
              </a:rPr>
              <a:t>假设</a:t>
            </a:r>
            <a:r>
              <a:rPr lang="en-US" altLang="zh-CN" sz="1100" b="1" dirty="0">
                <a:latin typeface="+mn-lt"/>
              </a:rPr>
              <a:t>DRAM</a:t>
            </a:r>
            <a:r>
              <a:rPr lang="zh-CN" altLang="en-US" sz="1100" b="1" dirty="0">
                <a:latin typeface="+mn-lt"/>
              </a:rPr>
              <a:t>存储体为</a:t>
            </a:r>
            <a:r>
              <a:rPr lang="en-US" altLang="zh-CN" sz="1100" b="1" dirty="0">
                <a:latin typeface="+mn-lt"/>
              </a:rPr>
              <a:t>128</a:t>
            </a:r>
            <a:r>
              <a:rPr lang="zh-CN" altLang="en-US" sz="1100" b="1" dirty="0">
                <a:latin typeface="+mn-lt"/>
              </a:rPr>
              <a:t>行</a:t>
            </a:r>
            <a:r>
              <a:rPr lang="en-US" altLang="zh-CN" sz="1100" b="1" dirty="0">
                <a:latin typeface="+mn-lt"/>
              </a:rPr>
              <a:t>x128</a:t>
            </a:r>
            <a:r>
              <a:rPr lang="zh-CN" altLang="en-US" sz="1100" b="1" dirty="0">
                <a:latin typeface="+mn-lt"/>
              </a:rPr>
              <a:t>列的结构，存储器的读写周期</a:t>
            </a:r>
            <a:r>
              <a:rPr lang="en-US" altLang="zh-CN" sz="1100" b="1" dirty="0">
                <a:latin typeface="+mn-lt"/>
              </a:rPr>
              <a:t>=0.5</a:t>
            </a:r>
            <a:r>
              <a:rPr lang="el-GR" altLang="zh-CN" sz="1100" b="1" dirty="0">
                <a:latin typeface="+mn-lt"/>
                <a:ea typeface="等线" panose="02010600030101010101" pitchFamily="2" charset="-122"/>
              </a:rPr>
              <a:t>μ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s</a:t>
            </a:r>
          </a:p>
          <a:p>
            <a:endParaRPr lang="en-US" altLang="zh-CN" sz="1100" b="1" dirty="0">
              <a:latin typeface="+mn-lt"/>
              <a:ea typeface="等线" panose="02010600030101010101" pitchFamily="2" charset="-122"/>
            </a:endParaRPr>
          </a:p>
          <a:p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2ms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内需要完成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128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行的刷新</a:t>
            </a:r>
            <a:endParaRPr lang="zh-CN" altLang="en-US" sz="1100" b="1" dirty="0">
              <a:latin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7A4EAB9-05DC-47C8-8A9C-574D5E2E9C4F}"/>
              </a:ext>
            </a:extLst>
          </p:cNvPr>
          <p:cNvGrpSpPr/>
          <p:nvPr/>
        </p:nvGrpSpPr>
        <p:grpSpPr>
          <a:xfrm>
            <a:off x="107505" y="1052736"/>
            <a:ext cx="6034734" cy="5302480"/>
            <a:chOff x="107505" y="1206044"/>
            <a:chExt cx="6034734" cy="53024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BE5D0B7-827A-454D-8BE1-F787CC75920B}"/>
                </a:ext>
              </a:extLst>
            </p:cNvPr>
            <p:cNvGrpSpPr/>
            <p:nvPr/>
          </p:nvGrpSpPr>
          <p:grpSpPr>
            <a:xfrm>
              <a:off x="107505" y="1206044"/>
              <a:ext cx="6034734" cy="5302480"/>
              <a:chOff x="107505" y="1206044"/>
              <a:chExt cx="6034734" cy="530248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A7F17C34-FB61-408A-B1B8-D45C5AC5ECBE}"/>
                  </a:ext>
                </a:extLst>
              </p:cNvPr>
              <p:cNvGrpSpPr/>
              <p:nvPr/>
            </p:nvGrpSpPr>
            <p:grpSpPr>
              <a:xfrm>
                <a:off x="107505" y="1206044"/>
                <a:ext cx="6034734" cy="5302480"/>
                <a:chOff x="107504" y="1207785"/>
                <a:chExt cx="6034734" cy="5302480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798657C3-F6CE-4122-B91B-67AD878E123E}"/>
                    </a:ext>
                  </a:extLst>
                </p:cNvPr>
                <p:cNvGrpSpPr/>
                <p:nvPr/>
              </p:nvGrpSpPr>
              <p:grpSpPr>
                <a:xfrm>
                  <a:off x="107504" y="1207785"/>
                  <a:ext cx="6034734" cy="5302480"/>
                  <a:chOff x="755576" y="1207785"/>
                  <a:chExt cx="6034734" cy="5302480"/>
                </a:xfrm>
              </p:grpSpPr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4C4C11CA-07CB-4B9C-A6C5-F530F60674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55576" y="1207785"/>
                    <a:ext cx="5831410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D772643A-82F4-4585-9725-C2678932F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5576" y="3152001"/>
                    <a:ext cx="5819142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9" name="图片 8">
                    <a:extLst>
                      <a:ext uri="{FF2B5EF4-FFF2-40B4-BE49-F238E27FC236}">
                        <a16:creationId xmlns:a16="http://schemas.microsoft.com/office/drawing/2014/main" id="{C3458B65-C8D8-4B58-95EE-BF9D9640E3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27584" y="5085184"/>
                    <a:ext cx="5962726" cy="1193410"/>
                  </a:xfrm>
                  <a:prstGeom prst="rect">
                    <a:avLst/>
                  </a:prstGeom>
                </p:spPr>
              </p:pic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2E4F9DA4-0ABD-4C8E-B372-ABB0A280937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7075" y="2577678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集中刷新方式</a:t>
                    </a:r>
                  </a:p>
                </p:txBody>
              </p:sp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9DAE1E71-5F42-4509-A598-34DBA081AE2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8580" y="4521894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分散刷新方式</a:t>
                    </a:r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2177718A-6F8A-494B-8BB1-D032B4A136B2}"/>
                      </a:ext>
                    </a:extLst>
                  </p:cNvPr>
                  <p:cNvSpPr txBox="1"/>
                  <p:nvPr/>
                </p:nvSpPr>
                <p:spPr>
                  <a:xfrm>
                    <a:off x="3059832" y="6233266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异步刷新方式</a:t>
                    </a:r>
                  </a:p>
                </p:txBody>
              </p:sp>
            </p:grp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39A45A7-297A-4292-80C0-BB34E98817F4}"/>
                    </a:ext>
                  </a:extLst>
                </p:cNvPr>
                <p:cNvSpPr txBox="1"/>
                <p:nvPr/>
              </p:nvSpPr>
              <p:spPr>
                <a:xfrm>
                  <a:off x="755576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75445EF-C823-4144-A7A6-580D7B8E74D2}"/>
                    </a:ext>
                  </a:extLst>
                </p:cNvPr>
                <p:cNvSpPr txBox="1"/>
                <p:nvPr/>
              </p:nvSpPr>
              <p:spPr>
                <a:xfrm>
                  <a:off x="3048473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BBFF598-194D-41F4-9093-2DFE4C178DEA}"/>
                  </a:ext>
                </a:extLst>
              </p:cNvPr>
              <p:cNvSpPr txBox="1"/>
              <p:nvPr/>
            </p:nvSpPr>
            <p:spPr>
              <a:xfrm>
                <a:off x="771524" y="4021012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0D248D-B6D5-4783-8C8F-91FEF6B99366}"/>
                  </a:ext>
                </a:extLst>
              </p:cNvPr>
              <p:cNvSpPr txBox="1"/>
              <p:nvPr/>
            </p:nvSpPr>
            <p:spPr>
              <a:xfrm>
                <a:off x="1353305" y="4017916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0F5796-9BA0-4021-B810-99330B236DB5}"/>
                </a:ext>
              </a:extLst>
            </p:cNvPr>
            <p:cNvSpPr txBox="1"/>
            <p:nvPr/>
          </p:nvSpPr>
          <p:spPr>
            <a:xfrm>
              <a:off x="827584" y="5716628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59A502B-BAAB-4EE0-AE10-494B2AD5964F}"/>
                </a:ext>
              </a:extLst>
            </p:cNvPr>
            <p:cNvSpPr txBox="1"/>
            <p:nvPr/>
          </p:nvSpPr>
          <p:spPr>
            <a:xfrm>
              <a:off x="2633501" y="5722624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5C3CED06-5BED-49B0-9E71-A2568150695B}"/>
              </a:ext>
            </a:extLst>
          </p:cNvPr>
          <p:cNvSpPr txBox="1"/>
          <p:nvPr/>
        </p:nvSpPr>
        <p:spPr>
          <a:xfrm>
            <a:off x="2267744" y="6505599"/>
            <a:ext cx="19239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4.14    </a:t>
            </a:r>
            <a:r>
              <a:rPr lang="zh-CN" altLang="en-US" sz="1400" b="1" dirty="0"/>
              <a:t>刷新时间分配</a:t>
            </a:r>
          </a:p>
        </p:txBody>
      </p:sp>
    </p:spTree>
    <p:extLst>
      <p:ext uri="{BB962C8B-B14F-4D97-AF65-F5344CB8AC3E}">
        <p14:creationId xmlns:p14="http://schemas.microsoft.com/office/powerpoint/2010/main" val="1178432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507288" cy="3797481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存储芯片举例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Intel 2116</a:t>
            </a:r>
            <a:r>
              <a:rPr lang="zh-CN" altLang="en-US" sz="1400" b="1" dirty="0"/>
              <a:t>：是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公司生产的容量为</a:t>
            </a:r>
            <a:r>
              <a:rPr lang="en-US" altLang="zh-CN" sz="1400" b="1" dirty="0"/>
              <a:t>16Kx1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；存储矩阵为</a:t>
            </a:r>
            <a:r>
              <a:rPr lang="en-US" altLang="zh-CN" sz="1400" b="1" dirty="0"/>
              <a:t>128x128=16Kx1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地址复用技术</a:t>
            </a:r>
            <a:r>
              <a:rPr lang="zh-CN" altLang="en-US" sz="1400" b="1" dirty="0"/>
              <a:t>，由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先后将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位地址分别送到行地址锁存器和列地址锁存器中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DRAM</a:t>
            </a:r>
            <a:r>
              <a:rPr lang="zh-CN" altLang="en-US" sz="1400" b="1" dirty="0"/>
              <a:t>的结构与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的结构的不同点：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DRAM</a:t>
            </a:r>
            <a:r>
              <a:rPr lang="zh-CN" altLang="en-US" sz="1200" b="1" dirty="0"/>
              <a:t>的地址线一般采用复用技术，即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分时传送行、列地址，节省一半的地址线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DRAM</a:t>
            </a:r>
            <a:r>
              <a:rPr lang="zh-CN" altLang="en-US" sz="1200" b="1" dirty="0"/>
              <a:t>无片选信号，通常可由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和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选通信号代替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数据输入（</a:t>
            </a:r>
            <a:r>
              <a:rPr lang="en-US" altLang="zh-CN" sz="1200" b="1" dirty="0"/>
              <a:t>DIN</a:t>
            </a:r>
            <a:r>
              <a:rPr lang="zh-CN" altLang="en-US" sz="1200" b="1" dirty="0"/>
              <a:t>）和数据输出（</a:t>
            </a:r>
            <a:r>
              <a:rPr lang="en-US" altLang="zh-CN" sz="1200" b="1" dirty="0"/>
              <a:t>DOUT</a:t>
            </a:r>
            <a:r>
              <a:rPr lang="zh-CN" altLang="en-US" sz="1200" b="1" dirty="0"/>
              <a:t>）分开且可锁存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marL="1371600" lvl="3" indent="0" eaLnBrk="1" hangingPunct="1">
              <a:buNone/>
            </a:pPr>
            <a:r>
              <a:rPr lang="zh-CN" altLang="en-US" sz="1000" b="1" dirty="0">
                <a:highlight>
                  <a:srgbClr val="FFFF00"/>
                </a:highlight>
              </a:rPr>
              <a:t>深入内存</a:t>
            </a:r>
            <a:r>
              <a:rPr lang="en-US" altLang="zh-CN" sz="1000" b="1" dirty="0">
                <a:highlight>
                  <a:srgbClr val="FFFF00"/>
                </a:highlight>
              </a:rPr>
              <a:t>/</a:t>
            </a:r>
            <a:r>
              <a:rPr lang="zh-CN" altLang="en-US" sz="1000" b="1" dirty="0">
                <a:highlight>
                  <a:srgbClr val="FFFF00"/>
                </a:highlight>
              </a:rPr>
              <a:t>主存：解剖</a:t>
            </a:r>
            <a:r>
              <a:rPr lang="en-US" altLang="zh-CN" sz="1000" b="1" dirty="0">
                <a:highlight>
                  <a:srgbClr val="FFFF00"/>
                </a:highlight>
              </a:rPr>
              <a:t>DRAM</a:t>
            </a:r>
            <a:r>
              <a:rPr lang="zh-CN" altLang="en-US" sz="1000" b="1" dirty="0">
                <a:highlight>
                  <a:srgbClr val="FFFF00"/>
                </a:highlight>
              </a:rPr>
              <a:t>存储器 </a:t>
            </a:r>
            <a:r>
              <a:rPr lang="en-US" altLang="zh-CN" sz="1000" b="1" dirty="0">
                <a:highlight>
                  <a:srgbClr val="FFFF00"/>
                </a:highlight>
              </a:rPr>
              <a:t>- </a:t>
            </a:r>
            <a:r>
              <a:rPr lang="zh-CN" altLang="en-US" sz="1000" b="1" dirty="0">
                <a:highlight>
                  <a:srgbClr val="FFFF00"/>
                </a:highlight>
              </a:rPr>
              <a:t>知乎  </a:t>
            </a:r>
            <a:r>
              <a:rPr lang="en-US" altLang="zh-CN" sz="1000" b="1" dirty="0">
                <a:highlight>
                  <a:srgbClr val="FFFF00"/>
                </a:highlight>
              </a:rPr>
              <a:t>https://zhuanlan.zhihu.com/p/561501585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137BBD-53B3-42DC-9B1B-9925EED70998}"/>
              </a:ext>
            </a:extLst>
          </p:cNvPr>
          <p:cNvGrpSpPr/>
          <p:nvPr/>
        </p:nvGrpSpPr>
        <p:grpSpPr>
          <a:xfrm>
            <a:off x="107504" y="3656565"/>
            <a:ext cx="8712968" cy="3156811"/>
            <a:chOff x="-3549" y="2684262"/>
            <a:chExt cx="8712968" cy="315681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515A9E7-2216-4588-8F18-3882742A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5789" y="2684262"/>
              <a:ext cx="3743630" cy="279677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5F24C9A-5698-4507-A151-90FB4A57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549" y="3176777"/>
              <a:ext cx="1759153" cy="217541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1629E49-ADC5-4866-89C5-35EB5ADF50F5}"/>
                </a:ext>
              </a:extLst>
            </p:cNvPr>
            <p:cNvSpPr txBox="1"/>
            <p:nvPr/>
          </p:nvSpPr>
          <p:spPr>
            <a:xfrm>
              <a:off x="467544" y="5587157"/>
              <a:ext cx="7128792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/>
                <a:t>（</a:t>
              </a:r>
              <a:r>
                <a:rPr lang="en-US" altLang="zh-CN" sz="1050" b="1" dirty="0"/>
                <a:t>a</a:t>
              </a:r>
              <a:r>
                <a:rPr lang="zh-CN" altLang="en-US" sz="1050" b="1" dirty="0"/>
                <a:t>）封装引脚                                                                                                                                                              （</a:t>
              </a:r>
              <a:r>
                <a:rPr lang="en-US" altLang="zh-CN" sz="1050" b="1" dirty="0"/>
                <a:t>b</a:t>
              </a:r>
              <a:r>
                <a:rPr lang="zh-CN" altLang="en-US" sz="1050" b="1" dirty="0"/>
                <a:t>）内部结构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C5D0C60-FB42-4F13-AF23-AA69A7CEF637}"/>
              </a:ext>
            </a:extLst>
          </p:cNvPr>
          <p:cNvSpPr txBox="1"/>
          <p:nvPr/>
        </p:nvSpPr>
        <p:spPr>
          <a:xfrm>
            <a:off x="1835697" y="4532927"/>
            <a:ext cx="288032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800" b="1" dirty="0"/>
              <a:t>/RAS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Row Address Strobe</a:t>
            </a:r>
            <a:r>
              <a:rPr lang="zh-CN" altLang="en-US" sz="800" b="1" dirty="0"/>
              <a:t>，行地址选通脉冲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/CAS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Column Address Strobe</a:t>
            </a:r>
            <a:r>
              <a:rPr lang="zh-CN" altLang="en-US" sz="800" b="1" dirty="0"/>
              <a:t>，列地址选通脉冲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IN</a:t>
            </a:r>
            <a:r>
              <a:rPr lang="zh-CN" altLang="en-US" sz="800" b="1" dirty="0"/>
              <a:t>：写入操作时的输入数据；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OUT</a:t>
            </a:r>
            <a:r>
              <a:rPr lang="zh-CN" altLang="en-US" sz="800" b="1" dirty="0"/>
              <a:t>：读出操作时的输出数据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/WE</a:t>
            </a:r>
            <a:r>
              <a:rPr lang="zh-CN" altLang="en-US" sz="800" b="1" dirty="0"/>
              <a:t>：读写控制信号；</a:t>
            </a:r>
            <a:r>
              <a:rPr lang="en-US" altLang="zh-CN" sz="800" b="1" dirty="0"/>
              <a:t>/WE=0</a:t>
            </a:r>
            <a:r>
              <a:rPr lang="zh-CN" altLang="en-US" sz="800" b="1" dirty="0"/>
              <a:t>，写入操作；</a:t>
            </a:r>
            <a:r>
              <a:rPr lang="en-US" altLang="zh-CN" sz="800" b="1" dirty="0"/>
              <a:t>/WE=1</a:t>
            </a:r>
            <a:r>
              <a:rPr lang="zh-CN" altLang="en-US" sz="800" b="1" dirty="0"/>
              <a:t>，读出操作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AEDFB8-D749-4456-940A-56EA66C1ADE6}"/>
              </a:ext>
            </a:extLst>
          </p:cNvPr>
          <p:cNvSpPr txBox="1"/>
          <p:nvPr/>
        </p:nvSpPr>
        <p:spPr>
          <a:xfrm>
            <a:off x="3015042" y="6505599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4.15    Intel 2116 </a:t>
            </a:r>
            <a:r>
              <a:rPr lang="zh-CN" altLang="en-US" sz="1400" b="1" dirty="0"/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1624213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存储器的读写周期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9BB28A33-46D6-462C-BBE9-BBF266DCD830}"/>
              </a:ext>
            </a:extLst>
          </p:cNvPr>
          <p:cNvSpPr txBox="1"/>
          <p:nvPr/>
        </p:nvSpPr>
        <p:spPr>
          <a:xfrm>
            <a:off x="5942921" y="1043499"/>
            <a:ext cx="236687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</a:t>
            </a:r>
            <a:r>
              <a:rPr lang="zh-CN" altLang="en-US" sz="1200" b="1" dirty="0"/>
              <a:t>：读周期时间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RCH</a:t>
            </a:r>
            <a:r>
              <a:rPr lang="zh-CN" altLang="en-US" sz="1200" b="1" dirty="0"/>
              <a:t>：读命令保持时间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DOH</a:t>
            </a:r>
            <a:r>
              <a:rPr lang="zh-CN" altLang="en-US" sz="1200" b="1" dirty="0"/>
              <a:t>：数据输出保持时间</a:t>
            </a:r>
            <a:endParaRPr lang="en-US" altLang="zh-CN" sz="1200" b="1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650CB4A0-C354-434D-A30E-5EC37E82FD9B}"/>
              </a:ext>
            </a:extLst>
          </p:cNvPr>
          <p:cNvGrpSpPr/>
          <p:nvPr/>
        </p:nvGrpSpPr>
        <p:grpSpPr>
          <a:xfrm>
            <a:off x="899592" y="3429000"/>
            <a:ext cx="5327241" cy="2575679"/>
            <a:chOff x="899592" y="3979862"/>
            <a:chExt cx="5327241" cy="2575679"/>
          </a:xfrm>
        </p:grpSpPr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28CB16AE-2EE8-42E7-A1A6-91B8B7DC4740}"/>
                </a:ext>
              </a:extLst>
            </p:cNvPr>
            <p:cNvGrpSpPr/>
            <p:nvPr/>
          </p:nvGrpSpPr>
          <p:grpSpPr>
            <a:xfrm>
              <a:off x="899592" y="3979862"/>
              <a:ext cx="5327241" cy="2575679"/>
              <a:chOff x="899592" y="3979862"/>
              <a:chExt cx="5327241" cy="2575679"/>
            </a:xfrm>
          </p:grpSpPr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553AA325-04FF-47FC-BE62-D1D30353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3848" y="4912301"/>
                <a:ext cx="14607" cy="38890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B8C3910B-E93D-4ED2-B711-3DAA96A8B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1506" y="5301208"/>
                <a:ext cx="6398" cy="3455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7" name="组合 346">
                <a:extLst>
                  <a:ext uri="{FF2B5EF4-FFF2-40B4-BE49-F238E27FC236}">
                    <a16:creationId xmlns:a16="http://schemas.microsoft.com/office/drawing/2014/main" id="{01DA910D-150B-4CAB-AB86-701134ABFB33}"/>
                  </a:ext>
                </a:extLst>
              </p:cNvPr>
              <p:cNvGrpSpPr/>
              <p:nvPr/>
            </p:nvGrpSpPr>
            <p:grpSpPr>
              <a:xfrm>
                <a:off x="899592" y="3979862"/>
                <a:ext cx="5327241" cy="2575679"/>
                <a:chOff x="899592" y="3979862"/>
                <a:chExt cx="5327241" cy="2575679"/>
              </a:xfrm>
            </p:grpSpPr>
            <p:grpSp>
              <p:nvGrpSpPr>
                <p:cNvPr id="342" name="组合 341">
                  <a:extLst>
                    <a:ext uri="{FF2B5EF4-FFF2-40B4-BE49-F238E27FC236}">
                      <a16:creationId xmlns:a16="http://schemas.microsoft.com/office/drawing/2014/main" id="{DE9FDE3A-3BC8-4C8C-B21C-1C8537049DBC}"/>
                    </a:ext>
                  </a:extLst>
                </p:cNvPr>
                <p:cNvGrpSpPr/>
                <p:nvPr/>
              </p:nvGrpSpPr>
              <p:grpSpPr>
                <a:xfrm>
                  <a:off x="899592" y="3979862"/>
                  <a:ext cx="5327241" cy="2575679"/>
                  <a:chOff x="899592" y="3979862"/>
                  <a:chExt cx="5327241" cy="2575679"/>
                </a:xfrm>
              </p:grpSpPr>
              <p:grpSp>
                <p:nvGrpSpPr>
                  <p:cNvPr id="298" name="组合 297">
                    <a:extLst>
                      <a:ext uri="{FF2B5EF4-FFF2-40B4-BE49-F238E27FC236}">
                        <a16:creationId xmlns:a16="http://schemas.microsoft.com/office/drawing/2014/main" id="{D498FB0F-79AE-45D7-819C-8036A4E68237}"/>
                      </a:ext>
                    </a:extLst>
                  </p:cNvPr>
                  <p:cNvGrpSpPr/>
                  <p:nvPr/>
                </p:nvGrpSpPr>
                <p:grpSpPr>
                  <a:xfrm>
                    <a:off x="899592" y="3979862"/>
                    <a:ext cx="5327241" cy="2391333"/>
                    <a:chOff x="899592" y="3979862"/>
                    <a:chExt cx="5327241" cy="2391333"/>
                  </a:xfrm>
                </p:grpSpPr>
                <p:grpSp>
                  <p:nvGrpSpPr>
                    <p:cNvPr id="254" name="组合 253">
                      <a:extLst>
                        <a:ext uri="{FF2B5EF4-FFF2-40B4-BE49-F238E27FC236}">
                          <a16:creationId xmlns:a16="http://schemas.microsoft.com/office/drawing/2014/main" id="{1ADF9FFB-111E-4FAD-BC7F-1CBE38C3A5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8277" y="3979862"/>
                      <a:ext cx="4698556" cy="2391333"/>
                      <a:chOff x="1600285" y="775970"/>
                      <a:chExt cx="4561639" cy="2391333"/>
                    </a:xfrm>
                  </p:grpSpPr>
                  <p:grpSp>
                    <p:nvGrpSpPr>
                      <p:cNvPr id="255" name="组合 254">
                        <a:extLst>
                          <a:ext uri="{FF2B5EF4-FFF2-40B4-BE49-F238E27FC236}">
                            <a16:creationId xmlns:a16="http://schemas.microsoft.com/office/drawing/2014/main" id="{F85F00D8-910B-4EAB-B454-F6FA1091D1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6033" y="775970"/>
                        <a:ext cx="4555891" cy="480579"/>
                        <a:chOff x="1380627" y="2965799"/>
                        <a:chExt cx="4173801" cy="480579"/>
                      </a:xfrm>
                    </p:grpSpPr>
                    <p:grpSp>
                      <p:nvGrpSpPr>
                        <p:cNvPr id="286" name="组合 285">
                          <a:extLst>
                            <a:ext uri="{FF2B5EF4-FFF2-40B4-BE49-F238E27FC236}">
                              <a16:creationId xmlns:a16="http://schemas.microsoft.com/office/drawing/2014/main" id="{9F72D543-6797-4E68-A74F-053FE4F7603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47664" y="2965799"/>
                          <a:ext cx="4006764" cy="480579"/>
                          <a:chOff x="1714468" y="2965799"/>
                          <a:chExt cx="3840198" cy="480579"/>
                        </a:xfrm>
                      </p:grpSpPr>
                      <p:pic>
                        <p:nvPicPr>
                          <p:cNvPr id="288" name="图片 287">
                            <a:extLst>
                              <a:ext uri="{FF2B5EF4-FFF2-40B4-BE49-F238E27FC236}">
                                <a16:creationId xmlns:a16="http://schemas.microsoft.com/office/drawing/2014/main" id="{1F12E4ED-AB40-4612-A687-46E6D01AE5C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714468" y="2965799"/>
                            <a:ext cx="476274" cy="444523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89" name="图片 288">
                            <a:extLst>
                              <a:ext uri="{FF2B5EF4-FFF2-40B4-BE49-F238E27FC236}">
                                <a16:creationId xmlns:a16="http://schemas.microsoft.com/office/drawing/2014/main" id="{B52A3D52-7355-4AC1-A754-B3D14BD4FD6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190742" y="3004760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0" name="图片 289">
                            <a:extLst>
                              <a:ext uri="{FF2B5EF4-FFF2-40B4-BE49-F238E27FC236}">
                                <a16:creationId xmlns:a16="http://schemas.microsoft.com/office/drawing/2014/main" id="{115949E9-F632-4453-84BF-936C793F426F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2744332" y="3040816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1" name="图片 290">
                            <a:extLst>
                              <a:ext uri="{FF2B5EF4-FFF2-40B4-BE49-F238E27FC236}">
                                <a16:creationId xmlns:a16="http://schemas.microsoft.com/office/drawing/2014/main" id="{B8BCCDCB-467B-4525-B5FD-38322E74B6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039621" y="2999147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2" name="图片 291">
                            <a:extLst>
                              <a:ext uri="{FF2B5EF4-FFF2-40B4-BE49-F238E27FC236}">
                                <a16:creationId xmlns:a16="http://schemas.microsoft.com/office/drawing/2014/main" id="{B51542CB-BD9E-423C-A68A-2868FD3A2556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624970" y="3004760"/>
                            <a:ext cx="1929696" cy="41733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287" name="图片 286">
                          <a:extLst>
                            <a:ext uri="{FF2B5EF4-FFF2-40B4-BE49-F238E27FC236}">
                              <a16:creationId xmlns:a16="http://schemas.microsoft.com/office/drawing/2014/main" id="{97E749B8-485A-4D9B-828A-9B259E6A25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80627" y="3029610"/>
                          <a:ext cx="279414" cy="361290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256" name="组合 255">
                        <a:extLst>
                          <a:ext uri="{FF2B5EF4-FFF2-40B4-BE49-F238E27FC236}">
                            <a16:creationId xmlns:a16="http://schemas.microsoft.com/office/drawing/2014/main" id="{5253853F-AD49-4A08-8218-F15CEFC3C7B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1618907" y="2204864"/>
                        <a:ext cx="3687961" cy="237986"/>
                        <a:chOff x="708980" y="2532548"/>
                        <a:chExt cx="3687961" cy="237986"/>
                      </a:xfrm>
                    </p:grpSpPr>
                    <p:cxnSp>
                      <p:nvCxnSpPr>
                        <p:cNvPr id="281" name="直接连接符 280">
                          <a:extLst>
                            <a:ext uri="{FF2B5EF4-FFF2-40B4-BE49-F238E27FC236}">
                              <a16:creationId xmlns:a16="http://schemas.microsoft.com/office/drawing/2014/main" id="{2160E5B0-36B8-4F69-A9D8-911EE64DA6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3065120" y="2750844"/>
                          <a:ext cx="1331821" cy="9043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2" name="直接连接符 281">
                          <a:extLst>
                            <a:ext uri="{FF2B5EF4-FFF2-40B4-BE49-F238E27FC236}">
                              <a16:creationId xmlns:a16="http://schemas.microsoft.com/office/drawing/2014/main" id="{4EDAB359-88FC-4298-9A0C-A8B989D41F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2387729" y="2539078"/>
                          <a:ext cx="53035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3" name="直接连接符 282">
                          <a:extLst>
                            <a:ext uri="{FF2B5EF4-FFF2-40B4-BE49-F238E27FC236}">
                              <a16:creationId xmlns:a16="http://schemas.microsoft.com/office/drawing/2014/main" id="{7E6D4315-5922-45FE-B22B-C2E4ED86D6A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708980" y="2763926"/>
                          <a:ext cx="148666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4" name="直接连接符 283">
                          <a:extLst>
                            <a:ext uri="{FF2B5EF4-FFF2-40B4-BE49-F238E27FC236}">
                              <a16:creationId xmlns:a16="http://schemas.microsoft.com/office/drawing/2014/main" id="{3F7729B6-5E41-4DD7-8B53-67C10E7A16F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2915727" y="2532548"/>
                          <a:ext cx="149392" cy="203318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5" name="直接连接符 284">
                          <a:extLst>
                            <a:ext uri="{FF2B5EF4-FFF2-40B4-BE49-F238E27FC236}">
                              <a16:creationId xmlns:a16="http://schemas.microsoft.com/office/drawing/2014/main" id="{5AAAAA04-259E-4C57-82FC-6683A7B4F9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195647" y="2534640"/>
                          <a:ext cx="187376" cy="235894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7" name="组合 256">
                        <a:extLst>
                          <a:ext uri="{FF2B5EF4-FFF2-40B4-BE49-F238E27FC236}">
                            <a16:creationId xmlns:a16="http://schemas.microsoft.com/office/drawing/2014/main" id="{4D6F2A3A-5590-4FF0-A559-1DCE37199F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446328"/>
                        <a:ext cx="3691795" cy="192829"/>
                        <a:chOff x="1600285" y="1446328"/>
                        <a:chExt cx="3691795" cy="192829"/>
                      </a:xfrm>
                    </p:grpSpPr>
                    <p:grpSp>
                      <p:nvGrpSpPr>
                        <p:cNvPr id="273" name="组合 272">
                          <a:extLst>
                            <a:ext uri="{FF2B5EF4-FFF2-40B4-BE49-F238E27FC236}">
                              <a16:creationId xmlns:a16="http://schemas.microsoft.com/office/drawing/2014/main" id="{84093638-6D85-47FE-8A39-34663D047E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446328"/>
                          <a:ext cx="2717722" cy="192829"/>
                          <a:chOff x="3634437" y="1633943"/>
                          <a:chExt cx="2717722" cy="192829"/>
                        </a:xfrm>
                      </p:grpSpPr>
                      <p:cxnSp>
                        <p:nvCxnSpPr>
                          <p:cNvPr id="276" name="直接连接符 275">
                            <a:extLst>
                              <a:ext uri="{FF2B5EF4-FFF2-40B4-BE49-F238E27FC236}">
                                <a16:creationId xmlns:a16="http://schemas.microsoft.com/office/drawing/2014/main" id="{A0DEAE44-4190-4282-B0A0-F3625CE6F2C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634437" y="1645419"/>
                            <a:ext cx="476591" cy="805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7" name="直接连接符 276">
                            <a:extLst>
                              <a:ext uri="{FF2B5EF4-FFF2-40B4-BE49-F238E27FC236}">
                                <a16:creationId xmlns:a16="http://schemas.microsoft.com/office/drawing/2014/main" id="{50ACB0DF-8696-4011-B211-8BD45C85939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265723" y="1815029"/>
                            <a:ext cx="1478615" cy="571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8" name="直接连接符 277">
                            <a:extLst>
                              <a:ext uri="{FF2B5EF4-FFF2-40B4-BE49-F238E27FC236}">
                                <a16:creationId xmlns:a16="http://schemas.microsoft.com/office/drawing/2014/main" id="{2D48750D-0645-4770-A8F1-E59A815E635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866851" y="1653478"/>
                            <a:ext cx="485308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9" name="直接连接符 278">
                            <a:extLst>
                              <a:ext uri="{FF2B5EF4-FFF2-40B4-BE49-F238E27FC236}">
                                <a16:creationId xmlns:a16="http://schemas.microsoft.com/office/drawing/2014/main" id="{AD98C8EE-3D04-4A0A-AE92-6A9BC81E324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1670" y="1633943"/>
                            <a:ext cx="164053" cy="18261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0" name="直接连接符 279">
                            <a:extLst>
                              <a:ext uri="{FF2B5EF4-FFF2-40B4-BE49-F238E27FC236}">
                                <a16:creationId xmlns:a16="http://schemas.microsoft.com/office/drawing/2014/main" id="{F69294FE-9164-4542-955E-1023F205C7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722835" y="1645516"/>
                            <a:ext cx="144016" cy="18125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74" name="直接连接符 273">
                          <a:extLst>
                            <a:ext uri="{FF2B5EF4-FFF2-40B4-BE49-F238E27FC236}">
                              <a16:creationId xmlns:a16="http://schemas.microsoft.com/office/drawing/2014/main" id="{FBA2FBC0-3FEE-4D3D-971B-BF89B44F465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07700" y="1457804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5" name="直接连接符 274">
                          <a:extLst>
                            <a:ext uri="{FF2B5EF4-FFF2-40B4-BE49-F238E27FC236}">
                              <a16:creationId xmlns:a16="http://schemas.microsoft.com/office/drawing/2014/main" id="{0AE90C3E-E175-485C-91BA-97F146D9308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436209" y="1618739"/>
                          <a:ext cx="855871" cy="3971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8" name="组合 257">
                        <a:extLst>
                          <a:ext uri="{FF2B5EF4-FFF2-40B4-BE49-F238E27FC236}">
                            <a16:creationId xmlns:a16="http://schemas.microsoft.com/office/drawing/2014/main" id="{E157D627-3B29-40AB-A471-F7B25FBB74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772816"/>
                        <a:ext cx="3706583" cy="198281"/>
                        <a:chOff x="1600285" y="1966517"/>
                        <a:chExt cx="3706583" cy="198281"/>
                      </a:xfrm>
                    </p:grpSpPr>
                    <p:grpSp>
                      <p:nvGrpSpPr>
                        <p:cNvPr id="262" name="组合 261">
                          <a:extLst>
                            <a:ext uri="{FF2B5EF4-FFF2-40B4-BE49-F238E27FC236}">
                              <a16:creationId xmlns:a16="http://schemas.microsoft.com/office/drawing/2014/main" id="{CDF4FC70-618E-4747-8BDB-BF02B087F8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966517"/>
                          <a:ext cx="3706583" cy="192829"/>
                          <a:chOff x="1354023" y="1446328"/>
                          <a:chExt cx="3706583" cy="192829"/>
                        </a:xfrm>
                      </p:grpSpPr>
                      <p:grpSp>
                        <p:nvGrpSpPr>
                          <p:cNvPr id="265" name="组合 264">
                            <a:extLst>
                              <a:ext uri="{FF2B5EF4-FFF2-40B4-BE49-F238E27FC236}">
                                <a16:creationId xmlns:a16="http://schemas.microsoft.com/office/drawing/2014/main" id="{CF53E18E-133D-40CE-9F70-978584B5CCB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54023" y="1446328"/>
                            <a:ext cx="2963984" cy="192829"/>
                            <a:chOff x="3388175" y="1633943"/>
                            <a:chExt cx="2963984" cy="192829"/>
                          </a:xfrm>
                        </p:grpSpPr>
                        <p:cxnSp>
                          <p:nvCxnSpPr>
                            <p:cNvPr id="268" name="直接连接符 267">
                              <a:extLst>
                                <a:ext uri="{FF2B5EF4-FFF2-40B4-BE49-F238E27FC236}">
                                  <a16:creationId xmlns:a16="http://schemas.microsoft.com/office/drawing/2014/main" id="{AC57FD4F-44A4-4254-B042-AE3599C6F4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388175" y="1645419"/>
                              <a:ext cx="1547884" cy="17203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69" name="直接连接符 268">
                              <a:extLst>
                                <a:ext uri="{FF2B5EF4-FFF2-40B4-BE49-F238E27FC236}">
                                  <a16:creationId xmlns:a16="http://schemas.microsoft.com/office/drawing/2014/main" id="{7FA1543F-4D5D-4D69-B641-9E0D57BA0BB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761975" y="1820748"/>
                              <a:ext cx="98236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0" name="直接连接符 269">
                              <a:extLst>
                                <a:ext uri="{FF2B5EF4-FFF2-40B4-BE49-F238E27FC236}">
                                  <a16:creationId xmlns:a16="http://schemas.microsoft.com/office/drawing/2014/main" id="{4197467E-D164-4B1C-8AC8-1D8DA2A1C2C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866851" y="1653478"/>
                              <a:ext cx="485308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1" name="直接连接符 270">
                              <a:extLst>
                                <a:ext uri="{FF2B5EF4-FFF2-40B4-BE49-F238E27FC236}">
                                  <a16:creationId xmlns:a16="http://schemas.microsoft.com/office/drawing/2014/main" id="{58EC8413-7A07-4254-8800-2CA56DA5CF7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33469" y="1633943"/>
                              <a:ext cx="144884" cy="186805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2" name="直接连接符 271">
                              <a:extLst>
                                <a:ext uri="{FF2B5EF4-FFF2-40B4-BE49-F238E27FC236}">
                                  <a16:creationId xmlns:a16="http://schemas.microsoft.com/office/drawing/2014/main" id="{2637E5A7-F1F1-4193-8907-A0DDAFC5255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5722835" y="1645516"/>
                              <a:ext cx="144016" cy="181256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266" name="直接连接符 265">
                            <a:extLst>
                              <a:ext uri="{FF2B5EF4-FFF2-40B4-BE49-F238E27FC236}">
                                <a16:creationId xmlns:a16="http://schemas.microsoft.com/office/drawing/2014/main" id="{724FA671-E1E0-4441-885B-677813C671B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307700" y="1457804"/>
                            <a:ext cx="130277" cy="160935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67" name="直接连接符 266">
                            <a:extLst>
                              <a:ext uri="{FF2B5EF4-FFF2-40B4-BE49-F238E27FC236}">
                                <a16:creationId xmlns:a16="http://schemas.microsoft.com/office/drawing/2014/main" id="{2DDEECA2-31D0-4FE6-88AC-E11F49CCE7F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436209" y="1622710"/>
                            <a:ext cx="624397" cy="10423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63" name="直接连接符 262">
                          <a:extLst>
                            <a:ext uri="{FF2B5EF4-FFF2-40B4-BE49-F238E27FC236}">
                              <a16:creationId xmlns:a16="http://schemas.microsoft.com/office/drawing/2014/main" id="{AD55C3FD-B6E7-4846-8247-301B29A4A2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987824" y="1971921"/>
                          <a:ext cx="151288" cy="192877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4" name="直接连接符 263">
                          <a:extLst>
                            <a:ext uri="{FF2B5EF4-FFF2-40B4-BE49-F238E27FC236}">
                              <a16:creationId xmlns:a16="http://schemas.microsoft.com/office/drawing/2014/main" id="{F60605A5-AC60-4BAC-9232-2E22EB1EF0D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843808" y="1988840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9" name="组合 258">
                        <a:extLst>
                          <a:ext uri="{FF2B5EF4-FFF2-40B4-BE49-F238E27FC236}">
                            <a16:creationId xmlns:a16="http://schemas.microsoft.com/office/drawing/2014/main" id="{A86CDD1A-5F92-48A5-9A73-C70DD7A067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9840" y="2524035"/>
                        <a:ext cx="2768278" cy="643268"/>
                        <a:chOff x="2174736" y="3647435"/>
                        <a:chExt cx="2768278" cy="750568"/>
                      </a:xfrm>
                    </p:grpSpPr>
                    <p:pic>
                      <p:nvPicPr>
                        <p:cNvPr id="260" name="图片 259">
                          <a:extLst>
                            <a:ext uri="{FF2B5EF4-FFF2-40B4-BE49-F238E27FC236}">
                              <a16:creationId xmlns:a16="http://schemas.microsoft.com/office/drawing/2014/main" id="{FD6D7808-7C9E-4687-B38F-1ED0C07A977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74736" y="3647435"/>
                          <a:ext cx="1143059" cy="711237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61" name="图片 260">
                          <a:extLst>
                            <a:ext uri="{FF2B5EF4-FFF2-40B4-BE49-F238E27FC236}">
                              <a16:creationId xmlns:a16="http://schemas.microsoft.com/office/drawing/2014/main" id="{2B77D617-15C3-4BFE-A437-CDD91E6487F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75856" y="3724868"/>
                          <a:ext cx="1667158" cy="673135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sp>
                  <p:nvSpPr>
                    <p:cNvPr id="293" name="文本框 292">
                      <a:extLst>
                        <a:ext uri="{FF2B5EF4-FFF2-40B4-BE49-F238E27FC236}">
                          <a16:creationId xmlns:a16="http://schemas.microsoft.com/office/drawing/2014/main" id="{6638FFED-A01B-48BD-B886-494C751841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592" y="4093255"/>
                      <a:ext cx="49885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Addr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4" name="文本框 293">
                      <a:extLst>
                        <a:ext uri="{FF2B5EF4-FFF2-40B4-BE49-F238E27FC236}">
                          <a16:creationId xmlns:a16="http://schemas.microsoft.com/office/drawing/2014/main" id="{8542BB00-F956-46A5-93FF-43F3FC8090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829" y="4507479"/>
                      <a:ext cx="50206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/RAS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5" name="文本框 294">
                      <a:extLst>
                        <a:ext uri="{FF2B5EF4-FFF2-40B4-BE49-F238E27FC236}">
                          <a16:creationId xmlns:a16="http://schemas.microsoft.com/office/drawing/2014/main" id="{D4C55739-E1CE-47CB-9680-8BAF516FA4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6643" y="5949280"/>
                      <a:ext cx="3770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D</a:t>
                      </a:r>
                      <a:r>
                        <a:rPr lang="en-US" altLang="zh-CN" sz="1200" b="1" baseline="-25000" dirty="0"/>
                        <a:t>IN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6" name="文本框 295">
                      <a:extLst>
                        <a:ext uri="{FF2B5EF4-FFF2-40B4-BE49-F238E27FC236}">
                          <a16:creationId xmlns:a16="http://schemas.microsoft.com/office/drawing/2014/main" id="{817F604D-3EC6-4D2A-8A1F-AC28A3927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928" y="4869160"/>
                      <a:ext cx="4972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/CAS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7" name="文本框 296">
                      <a:extLst>
                        <a:ext uri="{FF2B5EF4-FFF2-40B4-BE49-F238E27FC236}">
                          <a16:creationId xmlns:a16="http://schemas.microsoft.com/office/drawing/2014/main" id="{5D99B37C-7C02-4D7D-9AC2-4B8823B628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8" y="5301208"/>
                      <a:ext cx="4651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/WE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341" name="组合 340">
                    <a:extLst>
                      <a:ext uri="{FF2B5EF4-FFF2-40B4-BE49-F238E27FC236}">
                        <a16:creationId xmlns:a16="http://schemas.microsoft.com/office/drawing/2014/main" id="{93A7143E-C080-4630-B667-74E3E4E5F6BB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275921"/>
                    <a:ext cx="2279472" cy="2279620"/>
                    <a:chOff x="2104875" y="4275921"/>
                    <a:chExt cx="2279472" cy="2279620"/>
                  </a:xfrm>
                </p:grpSpPr>
                <p:grpSp>
                  <p:nvGrpSpPr>
                    <p:cNvPr id="339" name="组合 338">
                      <a:extLst>
                        <a:ext uri="{FF2B5EF4-FFF2-40B4-BE49-F238E27FC236}">
                          <a16:creationId xmlns:a16="http://schemas.microsoft.com/office/drawing/2014/main" id="{10A97F7F-248C-41AE-BE3E-9A4563899E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4875" y="4494590"/>
                      <a:ext cx="2279472" cy="1842897"/>
                      <a:chOff x="2104875" y="4494590"/>
                      <a:chExt cx="2279472" cy="1842897"/>
                    </a:xfrm>
                  </p:grpSpPr>
                  <p:cxnSp>
                    <p:nvCxnSpPr>
                      <p:cNvPr id="27" name="直接连接符 26">
                        <a:extLst>
                          <a:ext uri="{FF2B5EF4-FFF2-40B4-BE49-F238E27FC236}">
                            <a16:creationId xmlns:a16="http://schemas.microsoft.com/office/drawing/2014/main" id="{F3B3B00A-D495-4B21-B96F-13537BA504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11610" y="4494590"/>
                        <a:ext cx="2272737" cy="145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直接连接符 27">
                        <a:extLst>
                          <a:ext uri="{FF2B5EF4-FFF2-40B4-BE49-F238E27FC236}">
                            <a16:creationId xmlns:a16="http://schemas.microsoft.com/office/drawing/2014/main" id="{847AA237-52C0-4AE7-B207-92F81551379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192148" y="5005387"/>
                        <a:ext cx="81442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直接连接符 28">
                        <a:extLst>
                          <a:ext uri="{FF2B5EF4-FFF2-40B4-BE49-F238E27FC236}">
                            <a16:creationId xmlns:a16="http://schemas.microsoft.com/office/drawing/2014/main" id="{8B0ABFB6-A796-4194-B8A2-EE3D3D43742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04875" y="4615924"/>
                        <a:ext cx="1655526" cy="614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3" name="直接连接符 312">
                        <a:extLst>
                          <a:ext uri="{FF2B5EF4-FFF2-40B4-BE49-F238E27FC236}">
                            <a16:creationId xmlns:a16="http://schemas.microsoft.com/office/drawing/2014/main" id="{7F2F7876-9C9F-40D4-9919-4BDB62430CF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80766" y="5449737"/>
                        <a:ext cx="72074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9" name="直接连接符 318">
                        <a:extLst>
                          <a:ext uri="{FF2B5EF4-FFF2-40B4-BE49-F238E27FC236}">
                            <a16:creationId xmlns:a16="http://schemas.microsoft.com/office/drawing/2014/main" id="{56E13DB2-B974-4965-9C1F-32CAD0CE08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614" y="6337487"/>
                        <a:ext cx="732338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40" name="组合 339">
                      <a:extLst>
                        <a:ext uri="{FF2B5EF4-FFF2-40B4-BE49-F238E27FC236}">
                          <a16:creationId xmlns:a16="http://schemas.microsoft.com/office/drawing/2014/main" id="{497944E1-31CE-4F36-87CB-A76F20C2D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87824" y="4275921"/>
                      <a:ext cx="914618" cy="2279620"/>
                      <a:chOff x="2987824" y="4275921"/>
                      <a:chExt cx="914618" cy="2279620"/>
                    </a:xfrm>
                  </p:grpSpPr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A3D9BCE9-CB2C-4B00-B269-2D794C3A92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05334" y="4275921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29" name="文本框 328">
                        <a:extLst>
                          <a:ext uri="{FF2B5EF4-FFF2-40B4-BE49-F238E27FC236}">
                            <a16:creationId xmlns:a16="http://schemas.microsoft.com/office/drawing/2014/main" id="{3A99E5F4-AB0C-4AF5-A192-1FFEC640EA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87824" y="4581128"/>
                        <a:ext cx="36901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RAS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3" name="文本框 332">
                        <a:extLst>
                          <a:ext uri="{FF2B5EF4-FFF2-40B4-BE49-F238E27FC236}">
                            <a16:creationId xmlns:a16="http://schemas.microsoft.com/office/drawing/2014/main" id="{E496FB46-731E-48A8-A270-40D487E840E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56526" y="4797152"/>
                        <a:ext cx="365806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CAS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4" name="文本框 333">
                        <a:extLst>
                          <a:ext uri="{FF2B5EF4-FFF2-40B4-BE49-F238E27FC236}">
                            <a16:creationId xmlns:a16="http://schemas.microsoft.com/office/drawing/2014/main" id="{92953A21-4E04-43D0-884B-484D51209F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12510" y="5199003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WP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5" name="文本框 334">
                        <a:extLst>
                          <a:ext uri="{FF2B5EF4-FFF2-40B4-BE49-F238E27FC236}">
                            <a16:creationId xmlns:a16="http://schemas.microsoft.com/office/drawing/2014/main" id="{C70CE75D-E7AE-402C-9B20-B7E61D5EC0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19872" y="5703059"/>
                        <a:ext cx="38824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WCL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6" name="文本框 335">
                        <a:extLst>
                          <a:ext uri="{FF2B5EF4-FFF2-40B4-BE49-F238E27FC236}">
                            <a16:creationId xmlns:a16="http://schemas.microsoft.com/office/drawing/2014/main" id="{95B082A3-013C-4A81-8211-6E3A54C0C3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888" y="6309320"/>
                        <a:ext cx="33855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DH</a:t>
                        </a:r>
                        <a:endParaRPr lang="zh-CN" altLang="en-US" sz="1000" b="1" baseline="-25000" dirty="0"/>
                      </a:p>
                    </p:txBody>
                  </p:sp>
                </p:grpSp>
              </p:grpSp>
            </p:grpSp>
            <p:grpSp>
              <p:nvGrpSpPr>
                <p:cNvPr id="346" name="组合 345">
                  <a:extLst>
                    <a:ext uri="{FF2B5EF4-FFF2-40B4-BE49-F238E27FC236}">
                      <a16:creationId xmlns:a16="http://schemas.microsoft.com/office/drawing/2014/main" id="{4A71F666-611E-471D-9DAD-2BE42787B4BF}"/>
                    </a:ext>
                  </a:extLst>
                </p:cNvPr>
                <p:cNvGrpSpPr/>
                <p:nvPr/>
              </p:nvGrpSpPr>
              <p:grpSpPr>
                <a:xfrm>
                  <a:off x="2104875" y="4365104"/>
                  <a:ext cx="2279472" cy="2088232"/>
                  <a:chOff x="2104875" y="4365104"/>
                  <a:chExt cx="2279472" cy="2088232"/>
                </a:xfrm>
              </p:grpSpPr>
              <p:grpSp>
                <p:nvGrpSpPr>
                  <p:cNvPr id="345" name="组合 344">
                    <a:extLst>
                      <a:ext uri="{FF2B5EF4-FFF2-40B4-BE49-F238E27FC236}">
                        <a16:creationId xmlns:a16="http://schemas.microsoft.com/office/drawing/2014/main" id="{B569B0FF-F76B-4340-B281-C66CD39F7FAD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365104"/>
                    <a:ext cx="2279472" cy="1513009"/>
                    <a:chOff x="2104875" y="4365104"/>
                    <a:chExt cx="2279472" cy="1513009"/>
                  </a:xfrm>
                </p:grpSpPr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B1F07389-8753-4C4D-BBFF-1058E38FB2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104875" y="4365104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" name="直接连接符 298">
                      <a:extLst>
                        <a:ext uri="{FF2B5EF4-FFF2-40B4-BE49-F238E27FC236}">
                          <a16:creationId xmlns:a16="http://schemas.microsoft.com/office/drawing/2014/main" id="{F3F3EF1B-B8AD-4A49-A91D-CF82A15E1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60691" y="4581128"/>
                      <a:ext cx="0" cy="34022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" name="直接连接符 299">
                      <a:extLst>
                        <a:ext uri="{FF2B5EF4-FFF2-40B4-BE49-F238E27FC236}">
                          <a16:creationId xmlns:a16="http://schemas.microsoft.com/office/drawing/2014/main" id="{80C80FF4-F09C-4BB4-B0DD-751C740C4E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84347" y="4370420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直接连接符 301">
                      <a:extLst>
                        <a:ext uri="{FF2B5EF4-FFF2-40B4-BE49-F238E27FC236}">
                          <a16:creationId xmlns:a16="http://schemas.microsoft.com/office/drawing/2014/main" id="{62B64D7E-A27B-411C-A48A-5DCC440217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06568" y="4912301"/>
                      <a:ext cx="14607" cy="96581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43" name="直接连接符 342">
                    <a:extLst>
                      <a:ext uri="{FF2B5EF4-FFF2-40B4-BE49-F238E27FC236}">
                        <a16:creationId xmlns:a16="http://schemas.microsoft.com/office/drawing/2014/main" id="{20540974-63C0-49EB-9E9F-95E4F3DC0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9952" y="5963554"/>
                    <a:ext cx="0" cy="48978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接连接符 343">
                    <a:extLst>
                      <a:ext uri="{FF2B5EF4-FFF2-40B4-BE49-F238E27FC236}">
                        <a16:creationId xmlns:a16="http://schemas.microsoft.com/office/drawing/2014/main" id="{2EFEA323-FB0B-4EBE-8E30-BEE826930D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14556" y="5992421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CB109D97-B50A-4EF3-B68A-896183989E80}"/>
                </a:ext>
              </a:extLst>
            </p:cNvPr>
            <p:cNvSpPr txBox="1"/>
            <p:nvPr/>
          </p:nvSpPr>
          <p:spPr>
            <a:xfrm>
              <a:off x="2144992" y="413902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DB9558BE-F4AA-4D3D-8AC7-581C529ED680}"/>
                </a:ext>
              </a:extLst>
            </p:cNvPr>
            <p:cNvSpPr txBox="1"/>
            <p:nvPr/>
          </p:nvSpPr>
          <p:spPr>
            <a:xfrm>
              <a:off x="3222956" y="4140001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754B3DE8-BA36-483C-8376-9EF71BF1127F}"/>
              </a:ext>
            </a:extLst>
          </p:cNvPr>
          <p:cNvGrpSpPr/>
          <p:nvPr/>
        </p:nvGrpSpPr>
        <p:grpSpPr>
          <a:xfrm>
            <a:off x="888253" y="620688"/>
            <a:ext cx="5195915" cy="2429613"/>
            <a:chOff x="888253" y="776068"/>
            <a:chExt cx="5195915" cy="2429613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4E9B9A15-5EE2-4AB2-B88A-DEF6FAAE04E7}"/>
                </a:ext>
              </a:extLst>
            </p:cNvPr>
            <p:cNvGrpSpPr/>
            <p:nvPr/>
          </p:nvGrpSpPr>
          <p:grpSpPr>
            <a:xfrm>
              <a:off x="888253" y="776068"/>
              <a:ext cx="5195915" cy="2429613"/>
              <a:chOff x="960261" y="776068"/>
              <a:chExt cx="5195915" cy="2429613"/>
            </a:xfrm>
          </p:grpSpPr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02D14B44-E00D-4C52-8F84-EEB18231371F}"/>
                  </a:ext>
                </a:extLst>
              </p:cNvPr>
              <p:cNvGrpSpPr/>
              <p:nvPr/>
            </p:nvGrpSpPr>
            <p:grpSpPr>
              <a:xfrm>
                <a:off x="960261" y="776068"/>
                <a:ext cx="5195915" cy="2429613"/>
                <a:chOff x="960261" y="776068"/>
                <a:chExt cx="5195915" cy="2429613"/>
              </a:xfrm>
            </p:grpSpPr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46554296-ED90-418A-9B1D-0D121459EC54}"/>
                    </a:ext>
                  </a:extLst>
                </p:cNvPr>
                <p:cNvGrpSpPr/>
                <p:nvPr/>
              </p:nvGrpSpPr>
              <p:grpSpPr>
                <a:xfrm>
                  <a:off x="1600285" y="2312691"/>
                  <a:ext cx="3700050" cy="252213"/>
                  <a:chOff x="1312982" y="2539079"/>
                  <a:chExt cx="3700050" cy="252213"/>
                </a:xfrm>
              </p:grpSpPr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8D01F06C-3080-4789-89D8-C95E6F1A2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468712" y="2785823"/>
                    <a:ext cx="544320" cy="5469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E85B63CA-45F1-4C91-8530-E8962629C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19534" y="2547279"/>
                    <a:ext cx="2212263" cy="1397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7D8AF3E3-5A8F-47E6-BBFC-76D0C32BF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12982" y="2768365"/>
                    <a:ext cx="653984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77AAA23D-0A09-4DFF-9834-7DCC6C4EBB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319320" y="2571655"/>
                    <a:ext cx="149392" cy="203318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连接符 141">
                    <a:extLst>
                      <a:ext uri="{FF2B5EF4-FFF2-40B4-BE49-F238E27FC236}">
                        <a16:creationId xmlns:a16="http://schemas.microsoft.com/office/drawing/2014/main" id="{A863266A-96ED-4735-BA64-F4E48B56C8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66966" y="2539079"/>
                    <a:ext cx="187376" cy="23589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B42DB291-64EC-4BBA-BCAE-990D601D72A2}"/>
                    </a:ext>
                  </a:extLst>
                </p:cNvPr>
                <p:cNvGrpSpPr/>
                <p:nvPr/>
              </p:nvGrpSpPr>
              <p:grpSpPr>
                <a:xfrm>
                  <a:off x="1600285" y="1446328"/>
                  <a:ext cx="3691795" cy="192829"/>
                  <a:chOff x="1600285" y="1446328"/>
                  <a:chExt cx="3691795" cy="192829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89079E0E-F4A8-4F8F-B2A6-40F26FB0F3A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446328"/>
                    <a:ext cx="2717722" cy="192829"/>
                    <a:chOff x="3634437" y="1633943"/>
                    <a:chExt cx="2717722" cy="192829"/>
                  </a:xfrm>
                </p:grpSpPr>
                <p:cxnSp>
                  <p:nvCxnSpPr>
                    <p:cNvPr id="47" name="直接连接符 46">
                      <a:extLst>
                        <a:ext uri="{FF2B5EF4-FFF2-40B4-BE49-F238E27FC236}">
                          <a16:creationId xmlns:a16="http://schemas.microsoft.com/office/drawing/2014/main" id="{31C0D1B6-F37B-437D-A5A1-8C7FBE4FF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634437" y="1645419"/>
                      <a:ext cx="476591" cy="805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490FCD12-2183-40F7-9561-7D18B7AFF8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65723" y="1815029"/>
                      <a:ext cx="1478615" cy="571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>
                      <a:extLst>
                        <a:ext uri="{FF2B5EF4-FFF2-40B4-BE49-F238E27FC236}">
                          <a16:creationId xmlns:a16="http://schemas.microsoft.com/office/drawing/2014/main" id="{D76231C6-B365-42D5-85E7-5CC341C717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6851" y="1653478"/>
                      <a:ext cx="485308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>
                      <a:extLst>
                        <a:ext uri="{FF2B5EF4-FFF2-40B4-BE49-F238E27FC236}">
                          <a16:creationId xmlns:a16="http://schemas.microsoft.com/office/drawing/2014/main" id="{5D49DEC7-F3DA-4DC7-8EE5-65A89C0E5C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1670" y="1633943"/>
                      <a:ext cx="164053" cy="182614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>
                      <a:extLst>
                        <a:ext uri="{FF2B5EF4-FFF2-40B4-BE49-F238E27FC236}">
                          <a16:creationId xmlns:a16="http://schemas.microsoft.com/office/drawing/2014/main" id="{65E828C5-1811-4EA3-9B16-839382955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722835" y="1645516"/>
                      <a:ext cx="144016" cy="1812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54" name="直接连接符 153">
                    <a:extLst>
                      <a:ext uri="{FF2B5EF4-FFF2-40B4-BE49-F238E27FC236}">
                        <a16:creationId xmlns:a16="http://schemas.microsoft.com/office/drawing/2014/main" id="{C0DAA63C-FB06-41D9-9932-2CCD4D696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07700" y="1457804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>
                    <a:extLst>
                      <a:ext uri="{FF2B5EF4-FFF2-40B4-BE49-F238E27FC236}">
                        <a16:creationId xmlns:a16="http://schemas.microsoft.com/office/drawing/2014/main" id="{E2F9799B-9DBE-4C8D-B82C-542675111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36209" y="1618739"/>
                    <a:ext cx="855871" cy="3971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93703A03-0BFA-410F-A7BC-201A8A7E7F02}"/>
                    </a:ext>
                  </a:extLst>
                </p:cNvPr>
                <p:cNvGrpSpPr/>
                <p:nvPr/>
              </p:nvGrpSpPr>
              <p:grpSpPr>
                <a:xfrm>
                  <a:off x="1600285" y="1966517"/>
                  <a:ext cx="3706583" cy="198281"/>
                  <a:chOff x="1600285" y="1966517"/>
                  <a:chExt cx="3706583" cy="198281"/>
                </a:xfrm>
              </p:grpSpPr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D00CA1F0-2669-4145-8312-11459CB5C046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966517"/>
                    <a:ext cx="3706583" cy="192829"/>
                    <a:chOff x="1354023" y="1446328"/>
                    <a:chExt cx="3706583" cy="192829"/>
                  </a:xfrm>
                </p:grpSpPr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AA766E25-CB8B-4660-AE80-39643D707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4023" y="1446328"/>
                      <a:ext cx="2963984" cy="192829"/>
                      <a:chOff x="3388175" y="1633943"/>
                      <a:chExt cx="2963984" cy="192829"/>
                    </a:xfrm>
                  </p:grpSpPr>
                  <p:cxnSp>
                    <p:nvCxnSpPr>
                      <p:cNvPr id="169" name="直接连接符 168">
                        <a:extLst>
                          <a:ext uri="{FF2B5EF4-FFF2-40B4-BE49-F238E27FC236}">
                            <a16:creationId xmlns:a16="http://schemas.microsoft.com/office/drawing/2014/main" id="{0E83EF16-1C9D-4A8D-94D4-0291D4F794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388175" y="1645419"/>
                        <a:ext cx="1547884" cy="17203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>
                        <a:extLst>
                          <a:ext uri="{FF2B5EF4-FFF2-40B4-BE49-F238E27FC236}">
                            <a16:creationId xmlns:a16="http://schemas.microsoft.com/office/drawing/2014/main" id="{3366A5E9-4044-46C6-B09C-C7843741FC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61975" y="1820748"/>
                        <a:ext cx="98236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>
                        <a:extLst>
                          <a:ext uri="{FF2B5EF4-FFF2-40B4-BE49-F238E27FC236}">
                            <a16:creationId xmlns:a16="http://schemas.microsoft.com/office/drawing/2014/main" id="{AC549299-ED1F-460B-92E7-7DE2873F45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866851" y="1653478"/>
                        <a:ext cx="485308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>
                        <a:extLst>
                          <a:ext uri="{FF2B5EF4-FFF2-40B4-BE49-F238E27FC236}">
                            <a16:creationId xmlns:a16="http://schemas.microsoft.com/office/drawing/2014/main" id="{1E6100D9-F9AD-4518-AB31-35F1812B04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33469" y="1633943"/>
                        <a:ext cx="144884" cy="186805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>
                        <a:extLst>
                          <a:ext uri="{FF2B5EF4-FFF2-40B4-BE49-F238E27FC236}">
                            <a16:creationId xmlns:a16="http://schemas.microsoft.com/office/drawing/2014/main" id="{004B53AB-1278-4B5C-A3E7-49B250C748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22835" y="1645516"/>
                        <a:ext cx="144016" cy="181256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67" name="直接连接符 166">
                      <a:extLst>
                        <a:ext uri="{FF2B5EF4-FFF2-40B4-BE49-F238E27FC236}">
                          <a16:creationId xmlns:a16="http://schemas.microsoft.com/office/drawing/2014/main" id="{13B8CD67-C10D-40CF-8DCC-683E46C4F7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07700" y="1457804"/>
                      <a:ext cx="130277" cy="16093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直接连接符 167">
                      <a:extLst>
                        <a:ext uri="{FF2B5EF4-FFF2-40B4-BE49-F238E27FC236}">
                          <a16:creationId xmlns:a16="http://schemas.microsoft.com/office/drawing/2014/main" id="{059DCF3E-B662-4DED-BCF7-CCD782DC23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36209" y="1622710"/>
                      <a:ext cx="624397" cy="10423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311C928E-E18D-4EDA-A3A9-0117FFB68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87824" y="1971921"/>
                    <a:ext cx="151288" cy="192877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3B02EDF4-1324-4D8A-8927-77EDD48AA4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3808" y="1988840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87B764D9-5A28-4F05-A8D4-68A55E1AA732}"/>
                    </a:ext>
                  </a:extLst>
                </p:cNvPr>
                <p:cNvGrpSpPr/>
                <p:nvPr/>
              </p:nvGrpSpPr>
              <p:grpSpPr>
                <a:xfrm>
                  <a:off x="1619672" y="2805815"/>
                  <a:ext cx="3672408" cy="399866"/>
                  <a:chOff x="1547664" y="3021839"/>
                  <a:chExt cx="3672408" cy="399866"/>
                </a:xfrm>
              </p:grpSpPr>
              <p:grpSp>
                <p:nvGrpSpPr>
                  <p:cNvPr id="212" name="组合 211">
                    <a:extLst>
                      <a:ext uri="{FF2B5EF4-FFF2-40B4-BE49-F238E27FC236}">
                        <a16:creationId xmlns:a16="http://schemas.microsoft.com/office/drawing/2014/main" id="{6412062D-D59B-4976-9EE5-B6F1F66BABA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664" y="3021839"/>
                    <a:ext cx="3596839" cy="399866"/>
                    <a:chOff x="1711802" y="3021839"/>
                    <a:chExt cx="3596839" cy="399866"/>
                  </a:xfrm>
                </p:grpSpPr>
                <p:grpSp>
                  <p:nvGrpSpPr>
                    <p:cNvPr id="25" name="组合 24">
                      <a:extLst>
                        <a:ext uri="{FF2B5EF4-FFF2-40B4-BE49-F238E27FC236}">
                          <a16:creationId xmlns:a16="http://schemas.microsoft.com/office/drawing/2014/main" id="{4F192899-3EA4-4EC6-8EB4-0B6DE778A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1802" y="3157454"/>
                      <a:ext cx="3460321" cy="153618"/>
                      <a:chOff x="2823314" y="2780928"/>
                      <a:chExt cx="3460321" cy="153618"/>
                    </a:xfrm>
                  </p:grpSpPr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19CA7846-F44F-4A1A-85FE-91DE7E3CBC8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88233" y="2780928"/>
                        <a:ext cx="551919" cy="153618"/>
                        <a:chOff x="4671709" y="2945461"/>
                        <a:chExt cx="551919" cy="153618"/>
                      </a:xfrm>
                    </p:grpSpPr>
                    <p:sp>
                      <p:nvSpPr>
                        <p:cNvPr id="38" name="箭头: 五边形 37">
                          <a:extLst>
                            <a:ext uri="{FF2B5EF4-FFF2-40B4-BE49-F238E27FC236}">
                              <a16:creationId xmlns:a16="http://schemas.microsoft.com/office/drawing/2014/main" id="{BD95DAEB-D9A0-489D-B637-2B8458895C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671709" y="2945461"/>
                          <a:ext cx="518275" cy="153618"/>
                        </a:xfrm>
                        <a:prstGeom prst="homePlat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9" name="菱形 38">
                          <a:extLst>
                            <a:ext uri="{FF2B5EF4-FFF2-40B4-BE49-F238E27FC236}">
                              <a16:creationId xmlns:a16="http://schemas.microsoft.com/office/drawing/2014/main" id="{0331879A-67DA-4270-A3E5-D05C07600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6340" y="2953131"/>
                          <a:ext cx="67288" cy="144008"/>
                        </a:xfrm>
                        <a:prstGeom prst="diamond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36" name="直接连接符 35">
                        <a:extLst>
                          <a:ext uri="{FF2B5EF4-FFF2-40B4-BE49-F238E27FC236}">
                            <a16:creationId xmlns:a16="http://schemas.microsoft.com/office/drawing/2014/main" id="{8EF3CCCB-A09E-4BD2-B948-3008C1CD63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23314" y="2857737"/>
                        <a:ext cx="2546311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直接连接符 36">
                        <a:extLst>
                          <a:ext uri="{FF2B5EF4-FFF2-40B4-BE49-F238E27FC236}">
                            <a16:creationId xmlns:a16="http://schemas.microsoft.com/office/drawing/2014/main" id="{6D5B66E0-54C9-40AF-876C-A7C2A7E53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40152" y="2857737"/>
                        <a:ext cx="34348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11" name="图片 210">
                      <a:extLst>
                        <a:ext uri="{FF2B5EF4-FFF2-40B4-BE49-F238E27FC236}">
                          <a16:creationId xmlns:a16="http://schemas.microsoft.com/office/drawing/2014/main" id="{84FDB09A-D681-4FF0-BF03-959EB99773D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 flipH="1">
                      <a:off x="4770412" y="3021839"/>
                      <a:ext cx="538229" cy="399866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3" name="直接连接符 212">
                    <a:extLst>
                      <a:ext uri="{FF2B5EF4-FFF2-40B4-BE49-F238E27FC236}">
                        <a16:creationId xmlns:a16="http://schemas.microsoft.com/office/drawing/2014/main" id="{ACFF32EA-9E1B-426E-94E9-62310558F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19441" y="3239706"/>
                    <a:ext cx="300631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63BFC827-30C2-48DC-BE8C-992EA554ED47}"/>
                    </a:ext>
                  </a:extLst>
                </p:cNvPr>
                <p:cNvGrpSpPr/>
                <p:nvPr/>
              </p:nvGrpSpPr>
              <p:grpSpPr>
                <a:xfrm>
                  <a:off x="960261" y="776068"/>
                  <a:ext cx="5195915" cy="2365066"/>
                  <a:chOff x="960261" y="776068"/>
                  <a:chExt cx="5195915" cy="2365066"/>
                </a:xfrm>
              </p:grpSpPr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992F87FA-0E96-4841-9E17-A463B7729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312304"/>
                    <a:ext cx="22322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C6E759B2-E968-44E3-840D-93F23773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40EB5F40-5DB0-43C0-9C8C-E46EF8B57C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33374" y="1851413"/>
                    <a:ext cx="9957" cy="41223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75C62CF-2666-4A3A-BBA5-ED8B92D4231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61" y="919753"/>
                    <a:ext cx="49885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 err="1"/>
                      <a:t>Addr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2F3095C-0936-45C3-8F21-457985990AD4}"/>
                      </a:ext>
                    </a:extLst>
                  </p:cNvPr>
                  <p:cNvSpPr txBox="1"/>
                  <p:nvPr/>
                </p:nvSpPr>
                <p:spPr>
                  <a:xfrm>
                    <a:off x="976498" y="1333977"/>
                    <a:ext cx="5020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/RAS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37850023-3E5D-4137-A8E4-A7057CF507C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46" y="2864135"/>
                    <a:ext cx="47000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D</a:t>
                    </a:r>
                    <a:r>
                      <a:rPr lang="en-US" altLang="zh-CN" sz="1200" b="1" baseline="-25000" dirty="0"/>
                      <a:t>OUT</a:t>
                    </a:r>
                    <a:endParaRPr lang="zh-CN" altLang="en-US" sz="1200" b="1" baseline="-25000" dirty="0"/>
                  </a:p>
                </p:txBody>
              </p:sp>
              <p:grpSp>
                <p:nvGrpSpPr>
                  <p:cNvPr id="132" name="组合 131">
                    <a:extLst>
                      <a:ext uri="{FF2B5EF4-FFF2-40B4-BE49-F238E27FC236}">
                        <a16:creationId xmlns:a16="http://schemas.microsoft.com/office/drawing/2014/main" id="{DF2276FE-8A19-4A22-A9C8-E8E888B85D5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776068"/>
                    <a:ext cx="4555891" cy="480579"/>
                    <a:chOff x="1380627" y="2965799"/>
                    <a:chExt cx="4173801" cy="480579"/>
                  </a:xfrm>
                </p:grpSpPr>
                <p:grpSp>
                  <p:nvGrpSpPr>
                    <p:cNvPr id="129" name="组合 128">
                      <a:extLst>
                        <a:ext uri="{FF2B5EF4-FFF2-40B4-BE49-F238E27FC236}">
                          <a16:creationId xmlns:a16="http://schemas.microsoft.com/office/drawing/2014/main" id="{E073F8D7-628D-4B30-938C-F55951C49E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664" y="2965799"/>
                      <a:ext cx="4006764" cy="480579"/>
                      <a:chOff x="1714468" y="2965799"/>
                      <a:chExt cx="3840198" cy="480579"/>
                    </a:xfrm>
                  </p:grpSpPr>
                  <p:pic>
                    <p:nvPicPr>
                      <p:cNvPr id="4" name="图片 3">
                        <a:extLst>
                          <a:ext uri="{FF2B5EF4-FFF2-40B4-BE49-F238E27FC236}">
                            <a16:creationId xmlns:a16="http://schemas.microsoft.com/office/drawing/2014/main" id="{489EB8E9-0D5D-44EB-8882-942CE41A55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4468" y="2965799"/>
                        <a:ext cx="476274" cy="44452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2" name="图片 121">
                        <a:extLst>
                          <a:ext uri="{FF2B5EF4-FFF2-40B4-BE49-F238E27FC236}">
                            <a16:creationId xmlns:a16="http://schemas.microsoft.com/office/drawing/2014/main" id="{7989049C-A40A-4A31-AA41-C1AD2B70B4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0742" y="3004760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3" name="图片 122">
                        <a:extLst>
                          <a:ext uri="{FF2B5EF4-FFF2-40B4-BE49-F238E27FC236}">
                            <a16:creationId xmlns:a16="http://schemas.microsoft.com/office/drawing/2014/main" id="{DAA3BDB0-48B7-47BD-83E8-80B8ABEAEE4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 rot="10800000">
                        <a:off x="2744332" y="3040816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4" name="图片 123">
                        <a:extLst>
                          <a:ext uri="{FF2B5EF4-FFF2-40B4-BE49-F238E27FC236}">
                            <a16:creationId xmlns:a16="http://schemas.microsoft.com/office/drawing/2014/main" id="{6AD41A6A-DB03-4E00-A58D-9CB33A93A36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9621" y="2999147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6" name="图片 125">
                        <a:extLst>
                          <a:ext uri="{FF2B5EF4-FFF2-40B4-BE49-F238E27FC236}">
                            <a16:creationId xmlns:a16="http://schemas.microsoft.com/office/drawing/2014/main" id="{1EDFF7A9-6587-48DC-B952-4A3717B440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4970" y="3004760"/>
                        <a:ext cx="1929696" cy="41733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31" name="图片 130">
                      <a:extLst>
                        <a:ext uri="{FF2B5EF4-FFF2-40B4-BE49-F238E27FC236}">
                          <a16:creationId xmlns:a16="http://schemas.microsoft.com/office/drawing/2014/main" id="{3CB5DA65-A2E1-4C71-B3FC-A798BD57FFE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380627" y="3029610"/>
                      <a:ext cx="279414" cy="36129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0" name="直接连接符 219">
                    <a:extLst>
                      <a:ext uri="{FF2B5EF4-FFF2-40B4-BE49-F238E27FC236}">
                        <a16:creationId xmlns:a16="http://schemas.microsoft.com/office/drawing/2014/main" id="{EBB697DF-42F6-4B4C-8BB3-516B258A15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60691" y="1340768"/>
                    <a:ext cx="19221" cy="44416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>
                    <a:extLst>
                      <a:ext uri="{FF2B5EF4-FFF2-40B4-BE49-F238E27FC236}">
                        <a16:creationId xmlns:a16="http://schemas.microsoft.com/office/drawing/2014/main" id="{153497FC-2B3A-49C6-839D-B84A1A9D5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2305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>
                    <a:extLst>
                      <a:ext uri="{FF2B5EF4-FFF2-40B4-BE49-F238E27FC236}">
                        <a16:creationId xmlns:a16="http://schemas.microsoft.com/office/drawing/2014/main" id="{4A2E5424-EF8D-4709-B907-CBDD8F53C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5936" y="1832711"/>
                    <a:ext cx="11017" cy="82731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>
                    <a:extLst>
                      <a:ext uri="{FF2B5EF4-FFF2-40B4-BE49-F238E27FC236}">
                        <a16:creationId xmlns:a16="http://schemas.microsoft.com/office/drawing/2014/main" id="{5AF56E5B-232C-44FF-B085-5A152C5F6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3358" y="2264759"/>
                    <a:ext cx="19508" cy="38459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>
                    <a:extLst>
                      <a:ext uri="{FF2B5EF4-FFF2-40B4-BE49-F238E27FC236}">
                        <a16:creationId xmlns:a16="http://schemas.microsoft.com/office/drawing/2014/main" id="{E6D06A36-38A6-499A-B54F-3859902B36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2610" y="2708920"/>
                    <a:ext cx="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直接连接符 225">
                    <a:extLst>
                      <a:ext uri="{FF2B5EF4-FFF2-40B4-BE49-F238E27FC236}">
                        <a16:creationId xmlns:a16="http://schemas.microsoft.com/office/drawing/2014/main" id="{FA055670-C2E3-4195-B163-0FC7F06FBF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028175" y="2708920"/>
                    <a:ext cx="978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直接连接符 227">
                    <a:extLst>
                      <a:ext uri="{FF2B5EF4-FFF2-40B4-BE49-F238E27FC236}">
                        <a16:creationId xmlns:a16="http://schemas.microsoft.com/office/drawing/2014/main" id="{46E2B620-113E-46F5-BFED-A8A07B906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1306" y="1441240"/>
                    <a:ext cx="163860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直接连接符 230">
                    <a:extLst>
                      <a:ext uri="{FF2B5EF4-FFF2-40B4-BE49-F238E27FC236}">
                        <a16:creationId xmlns:a16="http://schemas.microsoft.com/office/drawing/2014/main" id="{FF8EFA70-1788-4C88-97F3-A4DCC7474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3332" y="1966517"/>
                    <a:ext cx="75260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>
                    <a:extLst>
                      <a:ext uri="{FF2B5EF4-FFF2-40B4-BE49-F238E27FC236}">
                        <a16:creationId xmlns:a16="http://schemas.microsoft.com/office/drawing/2014/main" id="{51CD31C9-22D2-4075-993D-D9D725B43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6953" y="2571966"/>
                    <a:ext cx="69591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>
                    <a:extLst>
                      <a:ext uri="{FF2B5EF4-FFF2-40B4-BE49-F238E27FC236}">
                        <a16:creationId xmlns:a16="http://schemas.microsoft.com/office/drawing/2014/main" id="{14C60FA0-3409-469E-B94A-F53EF4920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3507" y="2860409"/>
                    <a:ext cx="8544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872726C8-9B56-4C07-A29E-C98DD44EBEFB}"/>
                      </a:ext>
                    </a:extLst>
                  </p:cNvPr>
                  <p:cNvSpPr txBox="1"/>
                  <p:nvPr/>
                </p:nvSpPr>
                <p:spPr>
                  <a:xfrm>
                    <a:off x="981597" y="1839493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/CAS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7B4B83EC-627E-4B00-BECA-62EB94686DE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457" y="2403477"/>
                    <a:ext cx="4651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/WE</a:t>
                    </a:r>
                    <a:endParaRPr lang="zh-CN" altLang="en-US" sz="1200" b="1" baseline="-25000" dirty="0"/>
                  </a:p>
                </p:txBody>
              </p:sp>
            </p:grpSp>
          </p:grp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8E817A9-A454-492A-AB47-4DD6DE114E0A}"/>
                  </a:ext>
                </a:extLst>
              </p:cNvPr>
              <p:cNvSpPr txBox="1"/>
              <p:nvPr/>
            </p:nvSpPr>
            <p:spPr>
              <a:xfrm>
                <a:off x="3000772" y="106094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</a:t>
                </a:r>
                <a:endParaRPr lang="zh-CN" altLang="en-US" sz="1000" b="1" baseline="-25000" dirty="0"/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518E3EAD-E816-4247-B034-D1B1DA836168}"/>
                  </a:ext>
                </a:extLst>
              </p:cNvPr>
              <p:cNvSpPr txBox="1"/>
              <p:nvPr/>
            </p:nvSpPr>
            <p:spPr>
              <a:xfrm>
                <a:off x="3000253" y="1413989"/>
                <a:ext cx="3690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RAS</a:t>
                </a:r>
                <a:endParaRPr lang="zh-CN" altLang="en-US" sz="1000" b="1" baseline="-25000" dirty="0"/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CF16EC6E-4C98-4502-B4B9-3B297FBA9906}"/>
                  </a:ext>
                </a:extLst>
              </p:cNvPr>
              <p:cNvSpPr txBox="1"/>
              <p:nvPr/>
            </p:nvSpPr>
            <p:spPr>
              <a:xfrm>
                <a:off x="3419872" y="1902964"/>
                <a:ext cx="3658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CAS</a:t>
                </a:r>
                <a:endParaRPr lang="zh-CN" altLang="en-US" sz="1000" b="1" baseline="-25000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4AE9428C-7402-4C75-9C7C-A5C3AF99BADD}"/>
                  </a:ext>
                </a:extLst>
              </p:cNvPr>
              <p:cNvSpPr txBox="1"/>
              <p:nvPr/>
            </p:nvSpPr>
            <p:spPr>
              <a:xfrm>
                <a:off x="4139952" y="2348880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RCH</a:t>
                </a:r>
                <a:endParaRPr lang="zh-CN" altLang="en-US" sz="1000" b="1" baseline="-25000" dirty="0"/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0DB3FB2C-8905-44D9-ABD7-002EA9073719}"/>
                  </a:ext>
                </a:extLst>
              </p:cNvPr>
              <p:cNvSpPr txBox="1"/>
              <p:nvPr/>
            </p:nvSpPr>
            <p:spPr>
              <a:xfrm>
                <a:off x="4347004" y="2606715"/>
                <a:ext cx="3962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DOH</a:t>
                </a:r>
                <a:endParaRPr lang="zh-CN" altLang="en-US" sz="1000" b="1" baseline="-25000" dirty="0"/>
              </a:p>
            </p:txBody>
          </p:sp>
        </p:grp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EF2265B9-88A5-4A2E-8F60-D930E1318AD4}"/>
                </a:ext>
              </a:extLst>
            </p:cNvPr>
            <p:cNvSpPr txBox="1"/>
            <p:nvPr/>
          </p:nvSpPr>
          <p:spPr>
            <a:xfrm>
              <a:off x="2129472" y="935543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FDD650C6-85A5-4080-A079-7C1B84020103}"/>
                </a:ext>
              </a:extLst>
            </p:cNvPr>
            <p:cNvSpPr txBox="1"/>
            <p:nvPr/>
          </p:nvSpPr>
          <p:spPr>
            <a:xfrm>
              <a:off x="3142472" y="92466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C29213DB-1F3D-4045-8CF0-161DCD2816D5}"/>
              </a:ext>
            </a:extLst>
          </p:cNvPr>
          <p:cNvSpPr txBox="1"/>
          <p:nvPr/>
        </p:nvSpPr>
        <p:spPr>
          <a:xfrm>
            <a:off x="5922330" y="3680892"/>
            <a:ext cx="2568696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</a:t>
            </a:r>
            <a:r>
              <a:rPr lang="zh-CN" altLang="en-US" sz="1200" b="1" dirty="0"/>
              <a:t>：写周期时间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WP</a:t>
            </a:r>
            <a:r>
              <a:rPr lang="zh-CN" altLang="en-US" sz="1200" b="1" dirty="0"/>
              <a:t>：写命令的脉冲宽度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WCL</a:t>
            </a:r>
            <a:r>
              <a:rPr lang="zh-CN" altLang="en-US" sz="1200" b="1" dirty="0"/>
              <a:t>：从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无效到写命令开始的时间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DH</a:t>
            </a:r>
            <a:r>
              <a:rPr lang="zh-CN" altLang="en-US" sz="1200" b="1" dirty="0"/>
              <a:t>：写入数据保持时间</a:t>
            </a:r>
            <a:endParaRPr lang="en-US" altLang="zh-CN" sz="1200" b="1" dirty="0"/>
          </a:p>
        </p:txBody>
      </p: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14AB1343-98C3-4E89-B729-632787CE8D0A}"/>
              </a:ext>
            </a:extLst>
          </p:cNvPr>
          <p:cNvCxnSpPr>
            <a:cxnSpLocks/>
          </p:cNvCxnSpPr>
          <p:nvPr/>
        </p:nvCxnSpPr>
        <p:spPr>
          <a:xfrm>
            <a:off x="2980409" y="5762123"/>
            <a:ext cx="1026159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214B93B0-073E-4391-9A51-B7E91DC304AF}"/>
              </a:ext>
            </a:extLst>
          </p:cNvPr>
          <p:cNvCxnSpPr>
            <a:cxnSpLocks/>
          </p:cNvCxnSpPr>
          <p:nvPr/>
        </p:nvCxnSpPr>
        <p:spPr>
          <a:xfrm flipH="1">
            <a:off x="2980024" y="5301208"/>
            <a:ext cx="7800" cy="576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7DBC7FB-6FC7-4EBD-AE0D-D5869CBC8DF1}"/>
              </a:ext>
            </a:extLst>
          </p:cNvPr>
          <p:cNvSpPr txBox="1"/>
          <p:nvPr/>
        </p:nvSpPr>
        <p:spPr>
          <a:xfrm>
            <a:off x="2507981" y="299695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FD1A1BAF-C132-4907-975C-F8200B94F73C}"/>
              </a:ext>
            </a:extLst>
          </p:cNvPr>
          <p:cNvSpPr txBox="1"/>
          <p:nvPr/>
        </p:nvSpPr>
        <p:spPr>
          <a:xfrm>
            <a:off x="2535718" y="59492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DB525B71-B03A-4BAA-AEAB-69FB52CC4A16}"/>
              </a:ext>
            </a:extLst>
          </p:cNvPr>
          <p:cNvSpPr txBox="1"/>
          <p:nvPr/>
        </p:nvSpPr>
        <p:spPr>
          <a:xfrm>
            <a:off x="1417241" y="6453336"/>
            <a:ext cx="3482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4.16    DRAM</a:t>
            </a:r>
            <a:r>
              <a:rPr lang="zh-CN" altLang="en-US" sz="1400" b="1" dirty="0"/>
              <a:t>芯片的读写周期时序示意图</a:t>
            </a:r>
          </a:p>
        </p:txBody>
      </p:sp>
    </p:spTree>
    <p:extLst>
      <p:ext uri="{BB962C8B-B14F-4D97-AF65-F5344CB8AC3E}">
        <p14:creationId xmlns:p14="http://schemas.microsoft.com/office/powerpoint/2010/main" val="926629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ROM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Read Only Memory</a:t>
            </a:r>
            <a:r>
              <a:rPr lang="zh-CN" altLang="en-US" sz="1600" b="1" dirty="0"/>
              <a:t>，只读存储器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ROM</a:t>
            </a:r>
            <a:r>
              <a:rPr lang="zh-CN" altLang="en-US" sz="1600" b="1" dirty="0"/>
              <a:t>的特点：具有非易失性，即使断电保存的信息也不会丢失，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常用于存放一些不需要修改的程序，如微程序、系统软件（</a:t>
            </a:r>
            <a:r>
              <a:rPr lang="en-US" altLang="zh-CN" sz="1600" b="1" dirty="0"/>
              <a:t>ROM-BIOS</a:t>
            </a:r>
            <a:r>
              <a:rPr lang="zh-CN" altLang="en-US" sz="1600" b="1" dirty="0"/>
              <a:t>）等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ROM</a:t>
            </a:r>
            <a:r>
              <a:rPr lang="zh-CN" altLang="en-US" sz="1600" b="1" dirty="0"/>
              <a:t>通常分为：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掩模式只读存储器：</a:t>
            </a:r>
            <a:r>
              <a:rPr lang="en-US" altLang="zh-CN" sz="1400" b="1" dirty="0"/>
              <a:t>MROM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Mask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ROM</a:t>
            </a:r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可编程只读存储器：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i="0" dirty="0">
                <a:solidFill>
                  <a:srgbClr val="222222"/>
                </a:solidFill>
                <a:effectLst/>
              </a:rPr>
              <a:t>Programmable ROM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可擦除可编程只读存储器：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Erasable Programmable ROM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电可擦除可编程只读存储器：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1400" b="1" dirty="0">
                <a:solidFill>
                  <a:srgbClr val="333333"/>
                </a:solidFill>
              </a:rPr>
              <a:t>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E</a:t>
            </a:r>
            <a:r>
              <a:rPr lang="en-US" altLang="zh-CN" sz="1400" b="1" i="0" baseline="30000" dirty="0">
                <a:solidFill>
                  <a:srgbClr val="333333"/>
                </a:solidFill>
                <a:effectLst/>
              </a:rPr>
              <a:t>2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PROM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E2PROM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闪存：</a:t>
            </a:r>
            <a:r>
              <a:rPr lang="en-US" altLang="zh-CN" sz="1400" b="1" dirty="0"/>
              <a:t>Flash ROM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832871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、掩模式只读存储器（</a:t>
            </a:r>
            <a:r>
              <a:rPr lang="en-US" altLang="zh-CN" sz="2000" b="1" dirty="0"/>
              <a:t>MROM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Mask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Mask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是打开的，则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的输出为高电平，表示读出“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是闭合的，则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的输出为低电平，表示读出“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阵列：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</a:t>
            </a:r>
            <a:r>
              <a:rPr lang="en-US" altLang="zh-CN" sz="1600" b="1" dirty="0"/>
              <a:t>x4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中的内容在厂家生产时就按要求做好</a:t>
            </a:r>
            <a:endParaRPr lang="en-US" altLang="zh-CN" sz="1600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E54D6E-C6CD-434F-ADCD-15902A89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204" y="3137371"/>
            <a:ext cx="4688171" cy="33879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D17A173-8333-431E-8E6D-A21BDE56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80928"/>
            <a:ext cx="2016224" cy="15336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4121C1-B477-407D-8E45-D84ECFC5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869160"/>
            <a:ext cx="2044197" cy="15372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A724798-156E-45D8-8C48-F5E127657117}"/>
              </a:ext>
            </a:extLst>
          </p:cNvPr>
          <p:cNvSpPr txBox="1"/>
          <p:nvPr/>
        </p:nvSpPr>
        <p:spPr>
          <a:xfrm>
            <a:off x="867576" y="4362205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打开，表示“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2F41E0-D1D3-4CE0-8EC3-F2C0EFAA1A0D}"/>
              </a:ext>
            </a:extLst>
          </p:cNvPr>
          <p:cNvSpPr txBox="1"/>
          <p:nvPr/>
        </p:nvSpPr>
        <p:spPr>
          <a:xfrm>
            <a:off x="907568" y="6464369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闭合，表示“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F05B70-AE3A-4D12-B2CA-60F24F3D172E}"/>
              </a:ext>
            </a:extLst>
          </p:cNvPr>
          <p:cNvSpPr txBox="1"/>
          <p:nvPr/>
        </p:nvSpPr>
        <p:spPr>
          <a:xfrm>
            <a:off x="3152160" y="6505599"/>
            <a:ext cx="2547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 MROM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39409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、可编程只读存储器（</a:t>
            </a:r>
            <a:r>
              <a:rPr lang="en-US" altLang="zh-CN" sz="2000" b="1" dirty="0"/>
              <a:t>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222222"/>
                </a:solidFill>
                <a:effectLst/>
              </a:rPr>
              <a:t>Programmable ROM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PROM</a:t>
            </a:r>
            <a:r>
              <a:rPr lang="zh-CN" altLang="en-US" sz="1400" b="1" dirty="0"/>
              <a:t>的存储单元（存放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位二进制数）：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用熔丝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代替</a:t>
            </a:r>
            <a:r>
              <a:rPr lang="en-US" altLang="zh-CN" sz="1400" b="1" dirty="0"/>
              <a:t>Mask ROM</a:t>
            </a:r>
            <a:r>
              <a:rPr lang="zh-CN" altLang="en-US" sz="1400" b="1" dirty="0"/>
              <a:t>的开关；新购买的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芯片，熔丝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是连接的，此时输出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为低电平，表示读出“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>
                <a:solidFill>
                  <a:srgbClr val="FF0000"/>
                </a:solidFill>
              </a:rPr>
              <a:t>PROM</a:t>
            </a:r>
            <a:r>
              <a:rPr lang="zh-CN" altLang="en-US" sz="1400" b="1" dirty="0">
                <a:solidFill>
                  <a:srgbClr val="FF0000"/>
                </a:solidFill>
              </a:rPr>
              <a:t>芯片</a:t>
            </a:r>
            <a:r>
              <a:rPr lang="zh-CN" altLang="en-US" sz="1400" b="1" dirty="0"/>
              <a:t>中所有的数据都是“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可以通过</a:t>
            </a:r>
            <a:r>
              <a:rPr lang="zh-CN" altLang="en-US" sz="1400" b="1" dirty="0">
                <a:solidFill>
                  <a:srgbClr val="FF0000"/>
                </a:solidFill>
              </a:rPr>
              <a:t>编程器</a:t>
            </a:r>
            <a:r>
              <a:rPr lang="zh-CN" altLang="en-US" sz="1400" b="1" dirty="0"/>
              <a:t>将熔丝熔断，则输出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”；熔丝熔断后不能再接通，因此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芯片的</a:t>
            </a:r>
            <a:r>
              <a:rPr lang="zh-CN" altLang="en-US" sz="1400" b="1" dirty="0">
                <a:solidFill>
                  <a:srgbClr val="FF0000"/>
                </a:solidFill>
              </a:rPr>
              <a:t>编程</a:t>
            </a:r>
            <a:r>
              <a:rPr lang="zh-CN" altLang="en-US" sz="1400" b="1" dirty="0"/>
              <a:t>（将部分存储单元的“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”）是</a:t>
            </a:r>
            <a:r>
              <a:rPr lang="zh-CN" altLang="en-US" sz="1400" b="1" dirty="0">
                <a:solidFill>
                  <a:srgbClr val="FF0000"/>
                </a:solidFill>
              </a:rPr>
              <a:t>一次性</a:t>
            </a:r>
            <a:r>
              <a:rPr lang="zh-CN" altLang="en-US" sz="1400" b="1" dirty="0"/>
              <a:t>的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400" b="1" dirty="0"/>
              <a:t>反向二极管的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采用反向二极管代替熔丝；新的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其反向二极管是不导通的，此时输出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”，即新的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芯片中使用的数据都是“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可以通过编程器将反向二极管导通，此时输出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为低电平，表示读出“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”，即编程的目的是将部分“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”，且反向二极管导通后，将永远导通（编程是一次性的）</a:t>
            </a:r>
            <a:endParaRPr lang="en-US" altLang="zh-CN" sz="1200" b="1" dirty="0"/>
          </a:p>
          <a:p>
            <a:pPr lvl="2" eaLnBrk="1" hangingPunct="1"/>
            <a:endParaRPr lang="en-US" altLang="zh-CN" sz="1000" b="1" dirty="0"/>
          </a:p>
          <a:p>
            <a:pPr lvl="1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627529-4206-46E5-9AD3-3838F80A6A9A}"/>
              </a:ext>
            </a:extLst>
          </p:cNvPr>
          <p:cNvGrpSpPr/>
          <p:nvPr/>
        </p:nvGrpSpPr>
        <p:grpSpPr>
          <a:xfrm>
            <a:off x="1691680" y="4221088"/>
            <a:ext cx="6389184" cy="2232248"/>
            <a:chOff x="1691680" y="4437112"/>
            <a:chExt cx="6389184" cy="223224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FE5278-DA7F-47FE-937D-69966F4B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4437112"/>
              <a:ext cx="2428744" cy="1800200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0CCB840-1B2A-4CA9-A942-726F332ECF9D}"/>
                </a:ext>
              </a:extLst>
            </p:cNvPr>
            <p:cNvGrpSpPr/>
            <p:nvPr/>
          </p:nvGrpSpPr>
          <p:grpSpPr>
            <a:xfrm>
              <a:off x="5652120" y="4442792"/>
              <a:ext cx="2428744" cy="1800200"/>
              <a:chOff x="5652120" y="4821966"/>
              <a:chExt cx="2428744" cy="18002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EA9CE1EC-C843-4110-A98B-4349782E6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52120" y="4821966"/>
                <a:ext cx="2428744" cy="18002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4D1F7BD6-13EE-46D2-A91D-4EB198F8C8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9429" y="5877272"/>
                <a:ext cx="216024" cy="300619"/>
              </a:xfrm>
              <a:prstGeom prst="rect">
                <a:avLst/>
              </a:prstGeom>
            </p:spPr>
          </p:pic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AC2199B-4429-4703-A4D5-13FA2742D26A}"/>
                </a:ext>
              </a:extLst>
            </p:cNvPr>
            <p:cNvSpPr txBox="1"/>
            <p:nvPr/>
          </p:nvSpPr>
          <p:spPr>
            <a:xfrm>
              <a:off x="2081948" y="6392361"/>
              <a:ext cx="1648208" cy="276999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熔丝连接，表示“</a:t>
              </a:r>
              <a:r>
                <a:rPr lang="en-US" altLang="zh-CN" sz="1200" b="1" dirty="0"/>
                <a:t>0</a:t>
              </a:r>
              <a:r>
                <a:rPr lang="zh-CN" altLang="en-US" sz="1200" b="1" dirty="0"/>
                <a:t>”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2E50D7-F18C-4D2A-9CA0-4147F33B0752}"/>
                </a:ext>
              </a:extLst>
            </p:cNvPr>
            <p:cNvSpPr txBox="1"/>
            <p:nvPr/>
          </p:nvSpPr>
          <p:spPr>
            <a:xfrm>
              <a:off x="6145325" y="6392360"/>
              <a:ext cx="1648208" cy="276999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熔丝熔断，表示“</a:t>
              </a:r>
              <a:r>
                <a:rPr lang="en-US" altLang="zh-CN" sz="1200" b="1" dirty="0"/>
                <a:t>1</a:t>
              </a:r>
              <a:r>
                <a:rPr lang="zh-CN" altLang="en-US" sz="1200" b="1" dirty="0"/>
                <a:t>”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F2757B7-C978-4EE2-BCC2-B3B485D6A40A}"/>
              </a:ext>
            </a:extLst>
          </p:cNvPr>
          <p:cNvSpPr txBox="1"/>
          <p:nvPr/>
        </p:nvSpPr>
        <p:spPr>
          <a:xfrm>
            <a:off x="3517695" y="6521547"/>
            <a:ext cx="249446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 PROM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8183629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9CC1AE-F995-402F-9EA9-C2D81A8A50B9}"/>
              </a:ext>
            </a:extLst>
          </p:cNvPr>
          <p:cNvSpPr txBox="1"/>
          <p:nvPr/>
        </p:nvSpPr>
        <p:spPr>
          <a:xfrm>
            <a:off x="7094656" y="515719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</a:t>
            </a:r>
            <a:endParaRPr lang="zh-CN" altLang="en-US" sz="16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E8987C2-8DB3-42DF-8265-266A3392F757}"/>
              </a:ext>
            </a:extLst>
          </p:cNvPr>
          <p:cNvGrpSpPr/>
          <p:nvPr/>
        </p:nvGrpSpPr>
        <p:grpSpPr>
          <a:xfrm>
            <a:off x="1520784" y="3861048"/>
            <a:ext cx="6435592" cy="2612033"/>
            <a:chOff x="1520784" y="4201343"/>
            <a:chExt cx="6435592" cy="261203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DBC99DF-E44A-4005-8607-7FCCE34716F9}"/>
                </a:ext>
              </a:extLst>
            </p:cNvPr>
            <p:cNvGrpSpPr/>
            <p:nvPr/>
          </p:nvGrpSpPr>
          <p:grpSpPr>
            <a:xfrm>
              <a:off x="1520784" y="4201343"/>
              <a:ext cx="6435592" cy="2612033"/>
              <a:chOff x="1259632" y="3284984"/>
              <a:chExt cx="6435592" cy="261203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B581E0BA-3872-4926-8429-B1E140D5275F}"/>
                  </a:ext>
                </a:extLst>
              </p:cNvPr>
              <p:cNvGrpSpPr/>
              <p:nvPr/>
            </p:nvGrpSpPr>
            <p:grpSpPr>
              <a:xfrm>
                <a:off x="1259632" y="3284984"/>
                <a:ext cx="6435592" cy="2612033"/>
                <a:chOff x="1259632" y="3284984"/>
                <a:chExt cx="6435592" cy="2612033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45656890-2699-4997-BB27-BDDC3F9BEA4F}"/>
                    </a:ext>
                  </a:extLst>
                </p:cNvPr>
                <p:cNvGrpSpPr/>
                <p:nvPr/>
              </p:nvGrpSpPr>
              <p:grpSpPr>
                <a:xfrm>
                  <a:off x="1259632" y="3284984"/>
                  <a:ext cx="6435592" cy="2612033"/>
                  <a:chOff x="1259632" y="3284984"/>
                  <a:chExt cx="6435592" cy="2612033"/>
                </a:xfrm>
              </p:grpSpPr>
              <p:pic>
                <p:nvPicPr>
                  <p:cNvPr id="3" name="图片 2">
                    <a:extLst>
                      <a:ext uri="{FF2B5EF4-FFF2-40B4-BE49-F238E27FC236}">
                        <a16:creationId xmlns:a16="http://schemas.microsoft.com/office/drawing/2014/main" id="{08267E10-C577-46F7-BB28-2F63668071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59632" y="3284984"/>
                    <a:ext cx="6435592" cy="2604990"/>
                  </a:xfrm>
                  <a:prstGeom prst="rect">
                    <a:avLst/>
                  </a:prstGeom>
                </p:spPr>
              </p:pic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E93F46D-C336-4F8E-90D0-E122D2F4F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954534" y="5526986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存储单元</a:t>
                    </a:r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2275F09E-9EF4-47DD-8E5E-26D0001469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942" y="5589240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等效电路</a:t>
                    </a:r>
                  </a:p>
                </p:txBody>
              </p:sp>
            </p:grp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7D87890-1C0B-44CA-9DDA-E2DA5DA19538}"/>
                    </a:ext>
                  </a:extLst>
                </p:cNvPr>
                <p:cNvSpPr txBox="1"/>
                <p:nvPr/>
              </p:nvSpPr>
              <p:spPr>
                <a:xfrm>
                  <a:off x="6526848" y="4711593"/>
                  <a:ext cx="2856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T</a:t>
                  </a:r>
                  <a:endParaRPr lang="zh-CN" altLang="en-US" sz="1600" b="1" dirty="0"/>
                </a:p>
              </p:txBody>
            </p: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464DD1-3610-4DE7-80A4-19E9E19AA312}"/>
                  </a:ext>
                </a:extLst>
              </p:cNvPr>
              <p:cNvSpPr txBox="1"/>
              <p:nvPr/>
            </p:nvSpPr>
            <p:spPr>
              <a:xfrm>
                <a:off x="5364088" y="3717254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X</a:t>
                </a:r>
                <a:endParaRPr lang="zh-CN" altLang="en-US" sz="1600" b="1" dirty="0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7281E0-1475-4825-92EF-47198CF77208}"/>
                </a:ext>
              </a:extLst>
            </p:cNvPr>
            <p:cNvSpPr txBox="1"/>
            <p:nvPr/>
          </p:nvSpPr>
          <p:spPr>
            <a:xfrm>
              <a:off x="7337639" y="6143972"/>
              <a:ext cx="3985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/>
                <a:t>D</a:t>
              </a:r>
              <a:endParaRPr lang="zh-CN" altLang="en-US" sz="1400" dirty="0"/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B64443B-C1E8-4D86-A954-6558006B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、可擦除可编程只读存储器（</a:t>
            </a:r>
            <a:r>
              <a:rPr lang="en-US" altLang="zh-CN" sz="2000" b="1" dirty="0"/>
              <a:t>EPROM</a:t>
            </a:r>
            <a:r>
              <a:rPr lang="zh-CN" altLang="en-US" sz="2000" b="1" dirty="0"/>
              <a:t>，</a:t>
            </a:r>
            <a:r>
              <a:rPr lang="en-US" altLang="zh-CN" sz="2000" b="1" dirty="0">
                <a:solidFill>
                  <a:srgbClr val="333333"/>
                </a:solidFill>
              </a:rPr>
              <a:t>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EPROM</a:t>
            </a:r>
            <a:r>
              <a:rPr lang="zh-CN" altLang="en-US" sz="1400" b="1" dirty="0"/>
              <a:t>：采用浮栅型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存储单元的结构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新购买的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其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全部截止（右下角的图），输出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”，即新购买的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中全部存放“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编程</a:t>
            </a:r>
            <a:r>
              <a:rPr lang="zh-CN" altLang="en-US" sz="1400" b="1" dirty="0"/>
              <a:t>：通过施加编程电压（通常为</a:t>
            </a:r>
            <a:r>
              <a:rPr lang="en-US" altLang="zh-CN" sz="1400" b="1" dirty="0"/>
              <a:t>+12.5V</a:t>
            </a:r>
            <a:r>
              <a:rPr lang="zh-CN" altLang="en-US" sz="1400" b="1" dirty="0"/>
              <a:t>），使部分存储单元的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导通，输出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为低电平，表示写入“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的部分存储单元由“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读出</a:t>
            </a:r>
            <a:r>
              <a:rPr lang="zh-CN" altLang="en-US" sz="1400" b="1" dirty="0"/>
              <a:t>：编程后的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在正常电压（通常为</a:t>
            </a:r>
            <a:r>
              <a:rPr lang="en-US" altLang="zh-CN" sz="1400" b="1" dirty="0"/>
              <a:t>+5V</a:t>
            </a:r>
            <a:r>
              <a:rPr lang="zh-CN" altLang="en-US" sz="1400" b="1" dirty="0"/>
              <a:t>）下即可读出其中的内容，其中没有编程过的存储单元输出为“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”，编程过的存储单元输出为“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擦除</a:t>
            </a:r>
            <a:r>
              <a:rPr lang="zh-CN" altLang="en-US" sz="1400" b="1" dirty="0"/>
              <a:t>：通过紫外线持续照射，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所有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全部截止，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的内容又恢复为全部“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50544-11EE-4BF5-9F15-420C93C2D2B4}"/>
              </a:ext>
            </a:extLst>
          </p:cNvPr>
          <p:cNvSpPr txBox="1"/>
          <p:nvPr/>
        </p:nvSpPr>
        <p:spPr>
          <a:xfrm>
            <a:off x="3392788" y="6505599"/>
            <a:ext cx="21882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4.18    EMROM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30159694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3EAE455-2338-3115-9A4F-1415BFD78D93}"/>
              </a:ext>
            </a:extLst>
          </p:cNvPr>
          <p:cNvGrpSpPr/>
          <p:nvPr/>
        </p:nvGrpSpPr>
        <p:grpSpPr>
          <a:xfrm>
            <a:off x="179512" y="260648"/>
            <a:ext cx="8720961" cy="6163634"/>
            <a:chOff x="179512" y="260648"/>
            <a:chExt cx="8720961" cy="616363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9DBF47-FCB7-4E0D-8AE7-CAAB6EB86E85}"/>
                </a:ext>
              </a:extLst>
            </p:cNvPr>
            <p:cNvGrpSpPr/>
            <p:nvPr/>
          </p:nvGrpSpPr>
          <p:grpSpPr>
            <a:xfrm>
              <a:off x="179512" y="403806"/>
              <a:ext cx="4205126" cy="2456355"/>
              <a:chOff x="452493" y="260648"/>
              <a:chExt cx="4205126" cy="245635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3C15D89-49CE-47B0-B0F6-7C799F69B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525" y="260648"/>
                <a:ext cx="2989070" cy="1980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E42B4F-3BC3-448D-BB2E-CE857D15B05E}"/>
                  </a:ext>
                </a:extLst>
              </p:cNvPr>
              <p:cNvSpPr txBox="1"/>
              <p:nvPr/>
            </p:nvSpPr>
            <p:spPr>
              <a:xfrm>
                <a:off x="452493" y="2440004"/>
                <a:ext cx="420512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平时使用时的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（平时使用时石英玻璃窗口需要封上）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4868F1D-1A97-4C2C-8991-F433EC2EB522}"/>
                </a:ext>
              </a:extLst>
            </p:cNvPr>
            <p:cNvGrpSpPr/>
            <p:nvPr/>
          </p:nvGrpSpPr>
          <p:grpSpPr>
            <a:xfrm>
              <a:off x="179512" y="4518334"/>
              <a:ext cx="4051237" cy="1894487"/>
              <a:chOff x="6660232" y="2362391"/>
              <a:chExt cx="4051237" cy="1894487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BB89ACB-D763-4E63-9BDF-8103E0341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2240" y="2362391"/>
                <a:ext cx="3309394" cy="151216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2068D3-9C6F-4B3B-9FA9-DA7119F1821D}"/>
                  </a:ext>
                </a:extLst>
              </p:cNvPr>
              <p:cNvSpPr txBox="1"/>
              <p:nvPr/>
            </p:nvSpPr>
            <p:spPr>
              <a:xfrm>
                <a:off x="6660232" y="3979879"/>
                <a:ext cx="4051237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紫外线擦除时的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（擦除时石英玻璃窗口需要露出）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865B745-78EC-4AAA-8C4B-D828801A44A9}"/>
                </a:ext>
              </a:extLst>
            </p:cNvPr>
            <p:cNvGrpSpPr/>
            <p:nvPr/>
          </p:nvGrpSpPr>
          <p:grpSpPr>
            <a:xfrm>
              <a:off x="4644008" y="260648"/>
              <a:ext cx="4011748" cy="2603514"/>
              <a:chOff x="179512" y="3820768"/>
              <a:chExt cx="4011748" cy="2603514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D137A31-6CF1-489D-BAB4-13ED29C26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512" y="3820768"/>
                <a:ext cx="3709150" cy="2051591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FFF28F9-026A-417E-A3EA-1A2E4F8833AC}"/>
                  </a:ext>
                </a:extLst>
              </p:cNvPr>
              <p:cNvSpPr txBox="1"/>
              <p:nvPr/>
            </p:nvSpPr>
            <p:spPr>
              <a:xfrm>
                <a:off x="755576" y="6147283"/>
                <a:ext cx="3435684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编程器（编程时石英玻璃窗口需要封上）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ECD9F62-846C-42DE-8E4E-5133DBA6A14C}"/>
                </a:ext>
              </a:extLst>
            </p:cNvPr>
            <p:cNvGrpSpPr/>
            <p:nvPr/>
          </p:nvGrpSpPr>
          <p:grpSpPr>
            <a:xfrm>
              <a:off x="4644008" y="3797961"/>
              <a:ext cx="4256465" cy="2626321"/>
              <a:chOff x="5004972" y="3797961"/>
              <a:chExt cx="4256465" cy="2626321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6C1D300-7649-43E4-A541-3C32FDF88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4972" y="3797961"/>
                <a:ext cx="3986424" cy="2051591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500533-2CEB-4B68-9B39-558612316B73}"/>
                  </a:ext>
                </a:extLst>
              </p:cNvPr>
              <p:cNvSpPr txBox="1"/>
              <p:nvPr/>
            </p:nvSpPr>
            <p:spPr>
              <a:xfrm>
                <a:off x="5364088" y="6147283"/>
                <a:ext cx="3897349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紫外线擦除器（擦除时石英玻璃窗口需要露出）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6418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9181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、电可擦除可编程只读存储器（</a:t>
            </a:r>
            <a:r>
              <a:rPr lang="en-US" altLang="zh-CN" sz="2000" b="1" dirty="0"/>
              <a:t>EEPROM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  <a:r>
              <a:rPr lang="zh-CN" altLang="en-US" sz="1400" b="1" dirty="0"/>
              <a:t>）是将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的浮置栅改为控制栅极，新购置的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其内容全部为“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的编程（将部分存储单元的内容由“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”）、读出方式与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相同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FF0000"/>
                </a:solidFill>
              </a:rPr>
              <a:t>擦除</a:t>
            </a:r>
            <a:r>
              <a:rPr lang="zh-CN" altLang="en-US" sz="1400" b="1" dirty="0"/>
              <a:t>：不需要在紫外线下照射，而是将控制栅极加上高电平，就可以使该存储单元的内容由“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的擦除可以精准地删除（将“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”）某一存储单元，而不是一次性的擦除芯片上的所有数据（使所有存储单元的内容都变为“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0746DB-CF57-4532-B04B-21C739ADF94C}"/>
              </a:ext>
            </a:extLst>
          </p:cNvPr>
          <p:cNvGrpSpPr/>
          <p:nvPr/>
        </p:nvGrpSpPr>
        <p:grpSpPr>
          <a:xfrm>
            <a:off x="938825" y="4006167"/>
            <a:ext cx="7233575" cy="2440057"/>
            <a:chOff x="938825" y="3861048"/>
            <a:chExt cx="7233575" cy="24400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C09ACCF-92E8-4D0B-93F8-0EF4FF8DA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25" y="3861048"/>
              <a:ext cx="4068969" cy="215689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871647-C4F6-4DAB-8D60-45A235106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588" y="4291024"/>
              <a:ext cx="2171812" cy="1219263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631AD2-3D72-4DB0-A02F-627995064589}"/>
                </a:ext>
              </a:extLst>
            </p:cNvPr>
            <p:cNvSpPr txBox="1"/>
            <p:nvPr/>
          </p:nvSpPr>
          <p:spPr>
            <a:xfrm>
              <a:off x="1835696" y="5993328"/>
              <a:ext cx="155350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存储单元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73A5AC-1DE7-4542-9B4E-EA7E6C3E6235}"/>
                </a:ext>
              </a:extLst>
            </p:cNvPr>
            <p:cNvSpPr txBox="1"/>
            <p:nvPr/>
          </p:nvSpPr>
          <p:spPr>
            <a:xfrm>
              <a:off x="6216768" y="5985954"/>
              <a:ext cx="173945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芯片：</a:t>
              </a:r>
              <a:r>
                <a:rPr lang="en-US" altLang="zh-CN" sz="1400" b="1" dirty="0"/>
                <a:t>2816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585656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、闪存（</a:t>
            </a:r>
            <a:r>
              <a:rPr lang="en-US" altLang="zh-CN" sz="2000" b="1" dirty="0"/>
              <a:t>Flash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闪存是一种快速擦写、非易失性存储器，可以在线进行擦除和重写，其逻辑结构与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相似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闪存的工作方式：读工作方式、编程工作方式、擦除工作方式、功耗下降方式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闪存的类型：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100" b="1" dirty="0">
                <a:solidFill>
                  <a:srgbClr val="FF0000"/>
                </a:solidFill>
              </a:rPr>
              <a:t>NOR Flash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Intel</a:t>
            </a:r>
            <a:r>
              <a:rPr lang="zh-CN" altLang="en-US" sz="1100" b="1" dirty="0"/>
              <a:t>于</a:t>
            </a:r>
            <a:r>
              <a:rPr lang="en-US" altLang="zh-CN" sz="1100" b="1" dirty="0"/>
              <a:t>1988</a:t>
            </a:r>
            <a:r>
              <a:rPr lang="zh-CN" altLang="en-US" sz="1100" b="1" dirty="0"/>
              <a:t>年首先开发出</a:t>
            </a:r>
            <a:r>
              <a:rPr lang="en-US" altLang="zh-CN" sz="1100" b="1" dirty="0"/>
              <a:t>NOR Flash</a:t>
            </a:r>
            <a:r>
              <a:rPr lang="zh-CN" altLang="en-US" sz="1100" b="1" dirty="0"/>
              <a:t>技术（采用或非门），彻底改变了原先由</a:t>
            </a:r>
            <a:r>
              <a:rPr lang="en-US" altLang="zh-CN" sz="1100" b="1" dirty="0"/>
              <a:t>EPROM</a:t>
            </a:r>
            <a:r>
              <a:rPr lang="zh-CN" altLang="en-US" sz="1100" b="1" dirty="0"/>
              <a:t>和</a:t>
            </a:r>
            <a:r>
              <a:rPr lang="en-US" altLang="zh-CN" sz="1100" b="1" dirty="0"/>
              <a:t>EEPROM</a:t>
            </a:r>
            <a:r>
              <a:rPr lang="zh-CN" altLang="en-US" sz="1100" b="1" dirty="0"/>
              <a:t>一统天下的局面</a:t>
            </a:r>
            <a:endParaRPr lang="en-US" altLang="zh-CN" sz="11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1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100" b="1" dirty="0">
                <a:solidFill>
                  <a:srgbClr val="FF0000"/>
                </a:solidFill>
              </a:rPr>
              <a:t>NAND Flash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1989</a:t>
            </a:r>
            <a:r>
              <a:rPr lang="zh-CN" altLang="en-US" sz="1100" b="1" dirty="0"/>
              <a:t>年，东芝公司发布了</a:t>
            </a:r>
            <a:r>
              <a:rPr lang="en-US" altLang="zh-CN" sz="1100" b="1" dirty="0"/>
              <a:t>NAND Flash</a:t>
            </a:r>
            <a:r>
              <a:rPr lang="zh-CN" altLang="en-US" sz="1100" b="1" dirty="0"/>
              <a:t>结构（采用与非门），强调降低每比特的成本，更高的性能，并且象磁盘一样可以通过接口轻松升级</a:t>
            </a:r>
            <a:endParaRPr lang="en-US" altLang="zh-CN" sz="11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100" b="1" dirty="0"/>
          </a:p>
          <a:p>
            <a:pPr lvl="2" eaLnBrk="1" hangingPunct="1"/>
            <a:r>
              <a:rPr lang="zh-CN" altLang="en-US" sz="1400" b="1" dirty="0"/>
              <a:t>闪存的应用：</a:t>
            </a:r>
            <a:r>
              <a:rPr lang="en-US" altLang="zh-CN" sz="1400" b="1" dirty="0"/>
              <a:t> U</a:t>
            </a:r>
            <a:r>
              <a:rPr lang="zh-CN" altLang="en-US" sz="1400" b="1" dirty="0"/>
              <a:t>盘、</a:t>
            </a:r>
            <a:r>
              <a:rPr lang="en-US" altLang="zh-CN" sz="1400" b="1" dirty="0"/>
              <a:t>SSD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Solid State Disk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Solid State Drive</a:t>
            </a:r>
            <a:r>
              <a:rPr lang="zh-CN" altLang="en-US" sz="1400" b="1" dirty="0"/>
              <a:t>，固态硬盘）、</a:t>
            </a:r>
            <a:r>
              <a:rPr lang="en-US" altLang="zh-CN" sz="1400" b="1" dirty="0"/>
              <a:t>SD</a:t>
            </a:r>
            <a:r>
              <a:rPr lang="zh-CN" altLang="en-US" sz="1400" b="1" dirty="0"/>
              <a:t>卡（</a:t>
            </a:r>
            <a:r>
              <a:rPr lang="en-US" altLang="zh-CN" sz="1400" b="1" dirty="0"/>
              <a:t>Secure Digital Memory Card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Micro SD</a:t>
            </a:r>
            <a:r>
              <a:rPr lang="zh-CN" altLang="en-US" sz="1400" b="1" dirty="0"/>
              <a:t>卡等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000CF2-D451-4166-9812-3A4541DF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876" y="4221088"/>
            <a:ext cx="1282452" cy="128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D119FB4-5F95-4D1C-9469-D6670B85D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70" y="4248646"/>
            <a:ext cx="1331806" cy="13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0175FE9-7FF3-4B40-8211-0D5CBD6E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026" y="4365104"/>
            <a:ext cx="1073678" cy="107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974DC39-0875-4A32-B2DF-A6A7E047AE85}"/>
              </a:ext>
            </a:extLst>
          </p:cNvPr>
          <p:cNvGrpSpPr/>
          <p:nvPr/>
        </p:nvGrpSpPr>
        <p:grpSpPr>
          <a:xfrm>
            <a:off x="3590701" y="4392056"/>
            <a:ext cx="1438047" cy="1149290"/>
            <a:chOff x="5006161" y="4914974"/>
            <a:chExt cx="1438047" cy="1149290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64E4EED1-EB9D-47D5-B0FE-8C95AE28A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161" y="4914974"/>
              <a:ext cx="1115782" cy="9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0E5225A-50E2-424C-90C1-87CBF49D2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2685" y="5721346"/>
              <a:ext cx="651523" cy="342918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4E7B70-1319-41DB-A740-C04C71418962}"/>
              </a:ext>
            </a:extLst>
          </p:cNvPr>
          <p:cNvSpPr txBox="1"/>
          <p:nvPr/>
        </p:nvSpPr>
        <p:spPr>
          <a:xfrm>
            <a:off x="2483768" y="5608010"/>
            <a:ext cx="49521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U</a:t>
            </a:r>
            <a:r>
              <a:rPr lang="zh-CN" altLang="en-US" sz="1200" b="1" dirty="0"/>
              <a:t>盘                  </a:t>
            </a:r>
            <a:r>
              <a:rPr lang="en-US" altLang="zh-CN" sz="1200" b="1" dirty="0"/>
              <a:t>SSD</a:t>
            </a:r>
            <a:r>
              <a:rPr lang="zh-CN" altLang="en-US" sz="1200" b="1" dirty="0"/>
              <a:t>（固态硬盘）                    </a:t>
            </a:r>
            <a:r>
              <a:rPr lang="en-US" altLang="zh-CN" sz="1200" b="1" dirty="0"/>
              <a:t>SD</a:t>
            </a:r>
            <a:r>
              <a:rPr lang="zh-CN" altLang="en-US" sz="1200" b="1" dirty="0"/>
              <a:t>卡                         </a:t>
            </a:r>
            <a:r>
              <a:rPr lang="en-US" altLang="zh-CN" sz="1200" b="1" dirty="0"/>
              <a:t>Micro SD</a:t>
            </a:r>
            <a:r>
              <a:rPr lang="zh-CN" altLang="en-US" sz="1200" b="1" dirty="0"/>
              <a:t>卡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496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347760-DDD5-4ED6-8BDD-DD5481C6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08720"/>
            <a:ext cx="7423947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8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、传统</a:t>
            </a:r>
            <a:r>
              <a:rPr lang="en-US" altLang="zh-CN" sz="2000" b="1" dirty="0"/>
              <a:t>DRAM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例如，对</a:t>
            </a:r>
            <a:r>
              <a:rPr lang="en-US" altLang="zh-CN" sz="1600" b="1" dirty="0"/>
              <a:t>Intel 2116</a:t>
            </a:r>
            <a:r>
              <a:rPr lang="zh-CN" altLang="en-US" sz="1600" b="1" dirty="0"/>
              <a:t>芯片（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）进行读出操作，首先给出行地址，然后给出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信号锁存行地址；接着给出列地址，并用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信号锁存列地址；从而选择被访问的存储单元；经过一段时间的延迟后才能读出数据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每一次数据访问都需要经历完整的行地址、列地址阶段，因此传统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的工作方式效率比较低下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F39059-94EC-46C9-8848-7385FC327B49}"/>
              </a:ext>
            </a:extLst>
          </p:cNvPr>
          <p:cNvGrpSpPr/>
          <p:nvPr/>
        </p:nvGrpSpPr>
        <p:grpSpPr>
          <a:xfrm>
            <a:off x="611560" y="4221088"/>
            <a:ext cx="7704856" cy="2211923"/>
            <a:chOff x="611560" y="4221088"/>
            <a:chExt cx="7704856" cy="221192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8971939-63D5-4595-B19E-94B65D9B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4221088"/>
              <a:ext cx="3271777" cy="171488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66AE8E-9CB9-4D7B-B441-1B5B2C048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0032" y="4221088"/>
              <a:ext cx="3346478" cy="18002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A37DA70-2007-4AE3-B481-B9D2967079D4}"/>
                </a:ext>
              </a:extLst>
            </p:cNvPr>
            <p:cNvSpPr txBox="1"/>
            <p:nvPr/>
          </p:nvSpPr>
          <p:spPr>
            <a:xfrm>
              <a:off x="1763688" y="6156012"/>
              <a:ext cx="65527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DRAM</a:t>
              </a:r>
              <a:r>
                <a:rPr lang="zh-CN" altLang="en-US" sz="1200" b="1" dirty="0"/>
                <a:t>的读周期                                                                                            </a:t>
              </a:r>
              <a:r>
                <a:rPr lang="en-US" altLang="zh-CN" sz="1200" b="1" dirty="0"/>
                <a:t>DRAM</a:t>
              </a:r>
              <a:r>
                <a:rPr lang="zh-CN" altLang="en-US" sz="1200" b="1" dirty="0"/>
                <a:t>的写周期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4020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3744" y="-4421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FPM-DRAM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FPM-DRAM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Fast Page Mode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FF0000"/>
                </a:solidFill>
              </a:rPr>
              <a:t>快页模式</a:t>
            </a:r>
            <a:r>
              <a:rPr lang="en-US" altLang="zh-CN" sz="1400" b="1" dirty="0">
                <a:solidFill>
                  <a:srgbClr val="FF0000"/>
                </a:solidFill>
              </a:rPr>
              <a:t>DRAM</a:t>
            </a:r>
            <a:r>
              <a:rPr lang="zh-CN" altLang="en-US" sz="1400" b="1" dirty="0"/>
              <a:t>；这里的页是指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中某一行的所有存储单元  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u="sng" dirty="0"/>
              <a:t>读写动态存储器同一行的数据时，其</a:t>
            </a:r>
            <a:r>
              <a:rPr lang="zh-CN" altLang="en-US" sz="1400" b="1" u="sng" dirty="0">
                <a:hlinkClick r:id="rId2"/>
              </a:rPr>
              <a:t>行地址</a:t>
            </a:r>
            <a:r>
              <a:rPr lang="zh-CN" altLang="en-US" sz="1400" b="1" u="sng" dirty="0"/>
              <a:t>第一次读写时锁定后保持不变，以后读写该行多列中的数据时，仅锁存列地址即可，省去了锁存行地址的时间，加快了主</a:t>
            </a:r>
            <a:r>
              <a:rPr lang="zh-CN" altLang="en-US" sz="1400" b="1" u="sng" dirty="0">
                <a:hlinkClick r:id="rId3"/>
              </a:rPr>
              <a:t>存储</a:t>
            </a:r>
            <a:r>
              <a:rPr lang="zh-CN" altLang="en-US" sz="1400" b="1" u="sng" dirty="0"/>
              <a:t>器的读写速度。</a:t>
            </a:r>
            <a:endParaRPr lang="en-US" altLang="zh-CN" sz="1400" b="1" u="sng" dirty="0"/>
          </a:p>
          <a:p>
            <a:pPr lvl="2" eaLnBrk="1" hangingPunct="1"/>
            <a:r>
              <a:rPr lang="zh-CN" altLang="en-US" sz="1400" b="1" dirty="0"/>
              <a:t>如果要访问的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个数据位于同一行，只需要给出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个行地址，然后分别给出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个列地址，就可以得到当前页（行）中的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个数据，从而提高存储器的访问速度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FPM-DRAM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FF0000"/>
                </a:solidFill>
              </a:rPr>
              <a:t>6-3-3-3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A8A2E3-7533-4845-8417-63CCF2CB014A}"/>
              </a:ext>
            </a:extLst>
          </p:cNvPr>
          <p:cNvSpPr txBox="1"/>
          <p:nvPr/>
        </p:nvSpPr>
        <p:spPr>
          <a:xfrm>
            <a:off x="2267744" y="3440033"/>
            <a:ext cx="156485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FPM-DRAM                  </a:t>
            </a:r>
            <a:endParaRPr lang="zh-CN" altLang="en-US" sz="12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FA0076-A424-434E-A34B-A31C29994DDF}"/>
              </a:ext>
            </a:extLst>
          </p:cNvPr>
          <p:cNvGrpSpPr/>
          <p:nvPr/>
        </p:nvGrpSpPr>
        <p:grpSpPr>
          <a:xfrm>
            <a:off x="827584" y="2492896"/>
            <a:ext cx="6480720" cy="4340225"/>
            <a:chOff x="827584" y="2492896"/>
            <a:chExt cx="6480720" cy="4340225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A0F9EA-D3A6-49EC-B47C-412A0FB043D8}"/>
                </a:ext>
              </a:extLst>
            </p:cNvPr>
            <p:cNvSpPr txBox="1"/>
            <p:nvPr/>
          </p:nvSpPr>
          <p:spPr>
            <a:xfrm>
              <a:off x="3433829" y="6525344"/>
              <a:ext cx="279435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4.20    FPM-DRAM</a:t>
              </a:r>
              <a:r>
                <a:rPr lang="zh-CN" altLang="en-US" sz="1400" b="1" dirty="0"/>
                <a:t>读操作时序图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B523F2B-EE29-44C4-8745-56CCA0B8F644}"/>
                </a:ext>
              </a:extLst>
            </p:cNvPr>
            <p:cNvGrpSpPr/>
            <p:nvPr/>
          </p:nvGrpSpPr>
          <p:grpSpPr>
            <a:xfrm>
              <a:off x="827584" y="2492896"/>
              <a:ext cx="6480720" cy="3990470"/>
              <a:chOff x="827584" y="2780928"/>
              <a:chExt cx="6480720" cy="399047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2CD94E40-A0E5-4F6A-B68F-98AEE795CDC8}"/>
                  </a:ext>
                </a:extLst>
              </p:cNvPr>
              <p:cNvGrpSpPr/>
              <p:nvPr/>
            </p:nvGrpSpPr>
            <p:grpSpPr>
              <a:xfrm>
                <a:off x="827584" y="2780928"/>
                <a:ext cx="6480720" cy="3044081"/>
                <a:chOff x="827584" y="3121223"/>
                <a:chExt cx="6480720" cy="3044081"/>
              </a:xfrm>
            </p:grpSpPr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3FCA48F7-5B60-46DD-9076-3ABA082C8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31444" y="3789040"/>
                  <a:ext cx="5176860" cy="2376264"/>
                </a:xfrm>
                <a:prstGeom prst="rect">
                  <a:avLst/>
                </a:prstGeom>
              </p:spPr>
            </p:pic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9F7D3E8-90EB-46E9-83C7-06DAB75ADFF3}"/>
                    </a:ext>
                  </a:extLst>
                </p:cNvPr>
                <p:cNvSpPr txBox="1"/>
                <p:nvPr/>
              </p:nvSpPr>
              <p:spPr>
                <a:xfrm>
                  <a:off x="827584" y="4437112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行地址</a:t>
                  </a: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404D137-8FA8-4650-83D9-57BCA3F7F5AE}"/>
                    </a:ext>
                  </a:extLst>
                </p:cNvPr>
                <p:cNvSpPr txBox="1"/>
                <p:nvPr/>
              </p:nvSpPr>
              <p:spPr>
                <a:xfrm>
                  <a:off x="5004048" y="3121223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列地址</a:t>
                  </a:r>
                </a:p>
              </p:txBody>
            </p:sp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4656F1BA-8625-47E4-9B71-C18E38E707B3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3635896" y="3429000"/>
                  <a:ext cx="1729790" cy="15481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00C5E7A0-9CE1-4682-8C03-613ACE5C28A0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4607205" y="3429000"/>
                  <a:ext cx="758481" cy="16096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6E6F12C0-8534-4534-AEA2-631DEE3417CE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292403" cy="160963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6D967FA1-585C-4C6E-AC29-96D4D75F8E16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1267629" cy="16076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B04B6403-6477-44FD-A9CB-E248D477C005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 flipV="1">
                  <a:off x="1550859" y="4591001"/>
                  <a:ext cx="1333376" cy="43788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2FF595C-599B-4024-9170-A92CF2ECA680}"/>
                  </a:ext>
                </a:extLst>
              </p:cNvPr>
              <p:cNvGrpSpPr/>
              <p:nvPr/>
            </p:nvGrpSpPr>
            <p:grpSpPr>
              <a:xfrm>
                <a:off x="4139952" y="5715015"/>
                <a:ext cx="2984373" cy="1056383"/>
                <a:chOff x="4139952" y="5715015"/>
                <a:chExt cx="2984373" cy="1056383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537CAC5-33EA-49C6-95AE-1AFC674DA7DA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9958F975-6A8C-445A-809F-486FD25F06C7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4139952" y="5733256"/>
                  <a:ext cx="1247735" cy="73036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3161D5B6-FA44-4635-8309-8BA6B1385428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5115817" y="5715016"/>
                  <a:ext cx="271870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35">
                  <a:extLst>
                    <a:ext uri="{FF2B5EF4-FFF2-40B4-BE49-F238E27FC236}">
                      <a16:creationId xmlns:a16="http://schemas.microsoft.com/office/drawing/2014/main" id="{F23FE140-FA1E-4B53-B121-7DF615427979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6"/>
                  <a:ext cx="716519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4B95E07-F93F-4A9A-BE7E-DD40BF44E1AE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5"/>
                  <a:ext cx="1736638" cy="74860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" name="圆角矩形标注 3"/>
          <p:cNvSpPr/>
          <p:nvPr/>
        </p:nvSpPr>
        <p:spPr>
          <a:xfrm>
            <a:off x="3050170" y="4274425"/>
            <a:ext cx="4248472" cy="1312403"/>
          </a:xfrm>
          <a:prstGeom prst="wedgeRoundRectCallout">
            <a:avLst>
              <a:gd name="adj1" fmla="val 61081"/>
              <a:gd name="adj2" fmla="val -4999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63171" y="3160713"/>
            <a:ext cx="1013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3643620" y="4581128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139952" y="4656622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671489" y="4662187"/>
            <a:ext cx="415171" cy="540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599073" y="4641625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611706" y="4638381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5119183" y="46383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074846" y="46675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44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4624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EDO-DRAM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FF0000"/>
                </a:solidFill>
              </a:rPr>
              <a:t>扩展数据输出</a:t>
            </a:r>
            <a:r>
              <a:rPr lang="en-US" altLang="zh-CN" sz="1400" b="1" dirty="0">
                <a:solidFill>
                  <a:srgbClr val="FF0000"/>
                </a:solidFill>
              </a:rPr>
              <a:t>DRAM</a:t>
            </a:r>
          </a:p>
          <a:p>
            <a:pPr lvl="2" eaLnBrk="1" hangingPunct="1"/>
            <a:r>
              <a:rPr lang="zh-CN" altLang="en-US" sz="1400" b="1" dirty="0"/>
              <a:t>在快速页式工作技术上，增加了</a:t>
            </a:r>
            <a:r>
              <a:rPr lang="zh-CN" altLang="en-US" sz="1400" b="1" dirty="0">
                <a:hlinkClick r:id="rId2"/>
              </a:rPr>
              <a:t>数据输出</a:t>
            </a:r>
            <a:r>
              <a:rPr lang="zh-CN" altLang="en-US" sz="1400" b="1" dirty="0"/>
              <a:t>部分的数据锁存线路，延长输出数据的有效保持时间，从而地址信号改变了，仍然能取得正确的读出数据，可以进一步缩短地址送入时间，更加快了主存储器的读写速度。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EDO-DRAM</a:t>
            </a:r>
            <a:r>
              <a:rPr lang="zh-CN" altLang="en-US" sz="1400" b="1" dirty="0"/>
              <a:t>的原理与</a:t>
            </a:r>
            <a:r>
              <a:rPr lang="en-US" altLang="zh-CN" sz="1400" b="1" dirty="0"/>
              <a:t>FPM-DRAM</a:t>
            </a:r>
            <a:r>
              <a:rPr lang="zh-CN" altLang="en-US" sz="1400" b="1" dirty="0"/>
              <a:t>相似，区别在于</a:t>
            </a:r>
            <a:r>
              <a:rPr lang="en-US" altLang="zh-CN" sz="1400" b="1" dirty="0"/>
              <a:t>EDO-DRAM</a:t>
            </a:r>
            <a:r>
              <a:rPr lang="zh-CN" altLang="en-US" sz="1400" b="1" dirty="0"/>
              <a:t>的数据阶段和列地址阶段是重叠的（如数据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阶段和列地址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阶段是重叠的），从而可以进一步提高存储器的访问速度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EDO-DRAM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FF0000"/>
                </a:solidFill>
              </a:rPr>
              <a:t>5-2-2-2-2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FE48DAC-D37D-4185-8286-8D71D0009D65}"/>
              </a:ext>
            </a:extLst>
          </p:cNvPr>
          <p:cNvSpPr txBox="1"/>
          <p:nvPr/>
        </p:nvSpPr>
        <p:spPr>
          <a:xfrm>
            <a:off x="2535617" y="3463714"/>
            <a:ext cx="9204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EDO-DRAM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C59A33F-200C-4DE7-9E0F-EAAAEE5772CF}"/>
              </a:ext>
            </a:extLst>
          </p:cNvPr>
          <p:cNvGrpSpPr/>
          <p:nvPr/>
        </p:nvGrpSpPr>
        <p:grpSpPr>
          <a:xfrm>
            <a:off x="827584" y="2318850"/>
            <a:ext cx="6244079" cy="4514271"/>
            <a:chOff x="827584" y="2318850"/>
            <a:chExt cx="6244079" cy="4514271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A0D5CC9-ABFA-44FC-B374-968291B8CF12}"/>
                </a:ext>
              </a:extLst>
            </p:cNvPr>
            <p:cNvGrpSpPr/>
            <p:nvPr/>
          </p:nvGrpSpPr>
          <p:grpSpPr>
            <a:xfrm>
              <a:off x="827584" y="2318850"/>
              <a:ext cx="6244079" cy="4134486"/>
              <a:chOff x="827584" y="2636912"/>
              <a:chExt cx="6244079" cy="4134486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AEFEC4BA-B192-41EF-BA8E-602ACA74E6BD}"/>
                  </a:ext>
                </a:extLst>
              </p:cNvPr>
              <p:cNvGrpSpPr/>
              <p:nvPr/>
            </p:nvGrpSpPr>
            <p:grpSpPr>
              <a:xfrm>
                <a:off x="827584" y="2636912"/>
                <a:ext cx="6244079" cy="3111314"/>
                <a:chOff x="827584" y="2636912"/>
                <a:chExt cx="6244079" cy="3111314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7B8C49B3-3576-49B5-8405-2F7885F15E7B}"/>
                    </a:ext>
                  </a:extLst>
                </p:cNvPr>
                <p:cNvGrpSpPr/>
                <p:nvPr/>
              </p:nvGrpSpPr>
              <p:grpSpPr>
                <a:xfrm>
                  <a:off x="827584" y="2636912"/>
                  <a:ext cx="6244079" cy="3111314"/>
                  <a:chOff x="827584" y="2636912"/>
                  <a:chExt cx="6244079" cy="3111314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ED89147F-0A5E-4849-85AA-274211CB3A2E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2636912"/>
                    <a:ext cx="6244079" cy="3111314"/>
                    <a:chOff x="827584" y="3068960"/>
                    <a:chExt cx="6244079" cy="3111314"/>
                  </a:xfrm>
                </p:grpSpPr>
                <p:pic>
                  <p:nvPicPr>
                    <p:cNvPr id="3" name="图片 2">
                      <a:extLst>
                        <a:ext uri="{FF2B5EF4-FFF2-40B4-BE49-F238E27FC236}">
                          <a16:creationId xmlns:a16="http://schemas.microsoft.com/office/drawing/2014/main" id="{17854640-23CF-4B57-98E2-4A2A3DFF726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2483768" y="3861048"/>
                      <a:ext cx="4587895" cy="231922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037BEE91-F885-4167-8FC9-8A866C275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7584" y="3068960"/>
                      <a:ext cx="4899739" cy="2016224"/>
                      <a:chOff x="827584" y="3068960"/>
                      <a:chExt cx="4899739" cy="2016224"/>
                    </a:xfrm>
                  </p:grpSpPr>
                  <p:sp>
                    <p:nvSpPr>
                      <p:cNvPr id="7" name="文本框 6">
                        <a:extLst>
                          <a:ext uri="{FF2B5EF4-FFF2-40B4-BE49-F238E27FC236}">
                            <a16:creationId xmlns:a16="http://schemas.microsoft.com/office/drawing/2014/main" id="{B8B428B9-52B1-44A4-B969-06764DF623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7584" y="4437112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行地址</a:t>
                        </a:r>
                      </a:p>
                    </p:txBody>
                  </p:sp>
                  <p:sp>
                    <p:nvSpPr>
                      <p:cNvPr id="10" name="文本框 9">
                        <a:extLst>
                          <a:ext uri="{FF2B5EF4-FFF2-40B4-BE49-F238E27FC236}">
                            <a16:creationId xmlns:a16="http://schemas.microsoft.com/office/drawing/2014/main" id="{623C59C0-DA81-4464-935C-A07D15ABD5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4048" y="3068960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列地址</a:t>
                        </a:r>
                      </a:p>
                    </p:txBody>
                  </p:sp>
                  <p:cxnSp>
                    <p:nvCxnSpPr>
                      <p:cNvPr id="14" name="直接箭头连接符 13">
                        <a:extLst>
                          <a:ext uri="{FF2B5EF4-FFF2-40B4-BE49-F238E27FC236}">
                            <a16:creationId xmlns:a16="http://schemas.microsoft.com/office/drawing/2014/main" id="{8C25FD59-5E2A-4EF9-8F1B-BD312522C0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78315" y="3403537"/>
                        <a:ext cx="1587371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箭头连接符 15">
                        <a:extLst>
                          <a:ext uri="{FF2B5EF4-FFF2-40B4-BE49-F238E27FC236}">
                            <a16:creationId xmlns:a16="http://schemas.microsoft.com/office/drawing/2014/main" id="{DC234E50-6CD1-4C46-BA85-A85422EA72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355976" y="3403537"/>
                        <a:ext cx="1009710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箭头连接符 17">
                        <a:extLst>
                          <a:ext uri="{FF2B5EF4-FFF2-40B4-BE49-F238E27FC236}">
                            <a16:creationId xmlns:a16="http://schemas.microsoft.com/office/drawing/2014/main" id="{EE2808F6-CB7C-4CEC-A4B8-36652819F6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2040" y="3403537"/>
                        <a:ext cx="433646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接箭头连接符 19">
                        <a:extLst>
                          <a:ext uri="{FF2B5EF4-FFF2-40B4-BE49-F238E27FC236}">
                            <a16:creationId xmlns:a16="http://schemas.microsoft.com/office/drawing/2014/main" id="{65FEED89-FBC9-46EB-9AA9-C28E34DD5C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365686" y="3403537"/>
                        <a:ext cx="70410" cy="1681647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2" name="直接箭头连接符 21">
                    <a:extLst>
                      <a:ext uri="{FF2B5EF4-FFF2-40B4-BE49-F238E27FC236}">
                        <a16:creationId xmlns:a16="http://schemas.microsoft.com/office/drawing/2014/main" id="{C47D5860-1C96-470C-9D8E-BF23C81BA2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550859" y="4133490"/>
                    <a:ext cx="1436965" cy="48265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7ACF5CCD-3127-4582-85D1-CB0C43778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65686" y="2971489"/>
                    <a:ext cx="574466" cy="160765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>
                    <a:extLst>
                      <a:ext uri="{FF2B5EF4-FFF2-40B4-BE49-F238E27FC236}">
                        <a16:creationId xmlns:a16="http://schemas.microsoft.com/office/drawing/2014/main" id="{2282DE9F-C1FE-4F73-8EAC-3229685D086B}"/>
                      </a:ext>
                    </a:extLst>
                  </p:cNvPr>
                  <p:cNvCxnSpPr>
                    <a:cxnSpLocks/>
                    <a:endCxn id="10" idx="2"/>
                  </p:cNvCxnSpPr>
                  <p:nvPr/>
                </p:nvCxnSpPr>
                <p:spPr>
                  <a:xfrm flipH="1" flipV="1">
                    <a:off x="5365686" y="2944689"/>
                    <a:ext cx="1073729" cy="1671452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B7E4B4-16D0-4553-AEAF-3299F8A852B1}"/>
                    </a:ext>
                  </a:extLst>
                </p:cNvPr>
                <p:cNvCxnSpPr/>
                <p:nvPr/>
              </p:nvCxnSpPr>
              <p:spPr>
                <a:xfrm>
                  <a:off x="4347565" y="4858619"/>
                  <a:ext cx="0" cy="457511"/>
                </a:xfrm>
                <a:prstGeom prst="line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236ADAE-AF8A-4CC7-B0A9-BB1E7BB84D6D}"/>
                  </a:ext>
                </a:extLst>
              </p:cNvPr>
              <p:cNvGrpSpPr/>
              <p:nvPr/>
            </p:nvGrpSpPr>
            <p:grpSpPr>
              <a:xfrm>
                <a:off x="2492672" y="5087374"/>
                <a:ext cx="3959947" cy="1684024"/>
                <a:chOff x="2492672" y="5087374"/>
                <a:chExt cx="3959947" cy="1684024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E8D0024-1034-4A10-B6FB-EE89CC2859EB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2003CB1-5840-428E-8C49-EC3BCFEB2639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283968" y="5517232"/>
                  <a:ext cx="1103719" cy="9463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8DC5DEAC-44AB-49E1-9AFE-A039EE94751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860032" y="5589240"/>
                  <a:ext cx="52765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2A34BB5D-CAF3-4DB7-892C-BD7E7EFC008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5387687" y="5589240"/>
                  <a:ext cx="0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74F525A0-4B84-4E6A-A301-12A92F63ECCF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 flipH="1">
                  <a:off x="5387687" y="5589240"/>
                  <a:ext cx="55246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BF5BF9FA-845D-434C-967B-A512B9A4E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00891" y="5529675"/>
                  <a:ext cx="1051728" cy="92150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1950A6D-6EB7-4B05-BAC3-35E3EE590042}"/>
                    </a:ext>
                  </a:extLst>
                </p:cNvPr>
                <p:cNvSpPr txBox="1"/>
                <p:nvPr/>
              </p:nvSpPr>
              <p:spPr>
                <a:xfrm>
                  <a:off x="2492672" y="5932455"/>
                  <a:ext cx="990304" cy="600164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数据</a:t>
                  </a:r>
                  <a:r>
                    <a:rPr lang="en-US" altLang="zh-CN" sz="1100" b="1" dirty="0"/>
                    <a:t>1</a:t>
                  </a:r>
                  <a:r>
                    <a:rPr lang="zh-CN" altLang="en-US" sz="1100" b="1" dirty="0"/>
                    <a:t>阶段和列地址</a:t>
                  </a:r>
                  <a:r>
                    <a:rPr lang="en-US" altLang="zh-CN" sz="1100" b="1" dirty="0"/>
                    <a:t>2</a:t>
                  </a:r>
                  <a:r>
                    <a:rPr lang="zh-CN" altLang="en-US" sz="1100" b="1" dirty="0"/>
                    <a:t>阶段是重叠的</a:t>
                  </a:r>
                </a:p>
              </p:txBody>
            </p: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4FE4966C-35F1-4E95-A7AD-859AF1F5F29A}"/>
                    </a:ext>
                  </a:extLst>
                </p:cNvPr>
                <p:cNvCxnSpPr/>
                <p:nvPr/>
              </p:nvCxnSpPr>
              <p:spPr>
                <a:xfrm flipH="1">
                  <a:off x="3524989" y="5087374"/>
                  <a:ext cx="758978" cy="78927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C86E221-A752-4A16-B7EB-B8608CD0C0CD}"/>
                </a:ext>
              </a:extLst>
            </p:cNvPr>
            <p:cNvSpPr txBox="1"/>
            <p:nvPr/>
          </p:nvSpPr>
          <p:spPr>
            <a:xfrm>
              <a:off x="3433829" y="6525344"/>
              <a:ext cx="27831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4.21    EDO-DRAM</a:t>
              </a:r>
              <a:r>
                <a:rPr lang="zh-CN" altLang="en-US" sz="1400" b="1" dirty="0"/>
                <a:t>读操作时序图</a:t>
              </a: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4854672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410902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868144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424530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圆角矩形标注 40"/>
          <p:cNvSpPr/>
          <p:nvPr/>
        </p:nvSpPr>
        <p:spPr>
          <a:xfrm>
            <a:off x="2879812" y="4146596"/>
            <a:ext cx="4248472" cy="1312403"/>
          </a:xfrm>
          <a:prstGeom prst="wedgeRoundRectCallout">
            <a:avLst>
              <a:gd name="adj1" fmla="val 60408"/>
              <a:gd name="adj2" fmla="val -391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663171" y="3160713"/>
            <a:ext cx="10132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并行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类似二级流水</a:t>
            </a:r>
          </a:p>
        </p:txBody>
      </p:sp>
    </p:spTree>
    <p:extLst>
      <p:ext uri="{BB962C8B-B14F-4D97-AF65-F5344CB8AC3E}">
        <p14:creationId xmlns:p14="http://schemas.microsoft.com/office/powerpoint/2010/main" val="33781737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BEDO-DRAM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BEDO-DRAM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Burst 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FF0000"/>
                </a:solidFill>
              </a:rPr>
              <a:t>突发式扩展数据输出</a:t>
            </a:r>
            <a:r>
              <a:rPr lang="en-US" altLang="zh-CN" sz="1400" b="1" dirty="0">
                <a:solidFill>
                  <a:srgbClr val="FF0000"/>
                </a:solidFill>
              </a:rPr>
              <a:t>DRAM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是对</a:t>
            </a:r>
            <a:r>
              <a:rPr lang="en-US" altLang="zh-CN" sz="1400" b="1" dirty="0"/>
              <a:t>EDO-DRAM</a:t>
            </a:r>
            <a:r>
              <a:rPr lang="zh-CN" altLang="en-US" sz="1400" b="1" dirty="0"/>
              <a:t>的进一步优化，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内置了列地址计数器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这样连续访问的列地址（例如要读取同一行连续几个列的数据）不由外部数据总线给出，而由内部</a:t>
            </a:r>
            <a:r>
              <a:rPr lang="zh-CN" altLang="en-US" sz="1400" b="1" dirty="0">
                <a:solidFill>
                  <a:srgbClr val="C00000"/>
                </a:solidFill>
              </a:rPr>
              <a:t>列地址计数器</a:t>
            </a:r>
            <a:r>
              <a:rPr lang="zh-CN" altLang="en-US" sz="1400" b="1" dirty="0"/>
              <a:t>自动给出，节省了外部总线传输列地址的时间，从而进一步提高访问存储器的速度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FF0000"/>
                </a:solidFill>
              </a:rPr>
              <a:t>5-1-1-1-1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2C0F6-0FDA-4621-9F70-61214EF1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068960"/>
            <a:ext cx="5354006" cy="34563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C85C34-4A8A-4662-B028-DB8398C5FD8E}"/>
              </a:ext>
            </a:extLst>
          </p:cNvPr>
          <p:cNvSpPr txBox="1"/>
          <p:nvPr/>
        </p:nvSpPr>
        <p:spPr>
          <a:xfrm>
            <a:off x="3721861" y="6525344"/>
            <a:ext cx="28841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4.22    BEDO-DRAM</a:t>
            </a:r>
            <a:r>
              <a:rPr lang="zh-CN" altLang="en-US" sz="1400" b="1" dirty="0"/>
              <a:t>读操作时序图</a:t>
            </a:r>
          </a:p>
        </p:txBody>
      </p:sp>
    </p:spTree>
    <p:extLst>
      <p:ext uri="{BB962C8B-B14F-4D97-AF65-F5344CB8AC3E}">
        <p14:creationId xmlns:p14="http://schemas.microsoft.com/office/powerpoint/2010/main" val="433593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7"/>
            <a:ext cx="8229600" cy="417646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、同步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Synchronous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SDRAM_</a:t>
            </a:r>
            <a:r>
              <a:rPr lang="zh-CN" altLang="en-US" sz="1600" b="1" dirty="0">
                <a:solidFill>
                  <a:srgbClr val="C00000"/>
                </a:solidFill>
              </a:rPr>
              <a:t>百度百科 </a:t>
            </a:r>
            <a:r>
              <a:rPr lang="en-US" altLang="zh-CN" sz="1600" b="1" dirty="0">
                <a:solidFill>
                  <a:srgbClr val="C00000"/>
                </a:solidFill>
              </a:rPr>
              <a:t>https://baike.baidu.com/item/SDRAM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都属于异步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；异步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芯片本身没有时钟信号，其时序控制、地址寻址、数据访问都是由</a:t>
            </a:r>
            <a:r>
              <a:rPr lang="zh-CN" altLang="en-US" sz="1600" b="1" dirty="0">
                <a:solidFill>
                  <a:srgbClr val="C00000"/>
                </a:solidFill>
              </a:rPr>
              <a:t>内存控制器</a:t>
            </a:r>
            <a:r>
              <a:rPr lang="zh-CN" altLang="en-US" sz="1600" b="1" dirty="0"/>
              <a:t>通过异步方式控制实现的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而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芯片</a:t>
            </a:r>
            <a:r>
              <a:rPr lang="zh-CN" altLang="en-US" sz="1600" b="1" dirty="0">
                <a:solidFill>
                  <a:srgbClr val="C00000"/>
                </a:solidFill>
              </a:rPr>
              <a:t>自带时钟控制信号</a:t>
            </a:r>
            <a:r>
              <a:rPr lang="zh-CN" altLang="en-US" sz="1600" b="1" dirty="0"/>
              <a:t>，能与系统总线频率同步，第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个列数据就绪后，每经历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个时钟周期，就可以得到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个数据，从而能够进一步提高访问存储器的速度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目前主流的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访问一次数据的时间在</a:t>
            </a:r>
            <a:r>
              <a:rPr lang="en-US" altLang="zh-CN" sz="1600" b="1" dirty="0"/>
              <a:t>10ns</a:t>
            </a:r>
            <a:r>
              <a:rPr lang="zh-CN" altLang="en-US" sz="1600" b="1" dirty="0"/>
              <a:t>左右，其工作频率为</a:t>
            </a:r>
            <a:r>
              <a:rPr lang="en-US" altLang="zh-CN" sz="1600" b="1" dirty="0"/>
              <a:t>1/10ns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100MHz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538283-8145-448F-A742-14456E3B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691613"/>
            <a:ext cx="3898404" cy="180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7878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1D0AD-E1E6-40BF-9359-6B23067F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1"/>
            <a:ext cx="8075240" cy="4180698"/>
          </a:xfrm>
        </p:spPr>
        <p:txBody>
          <a:bodyPr/>
          <a:lstStyle/>
          <a:p>
            <a:pPr marL="400050" lvl="1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、同步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SDRAM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SDRAM</a:t>
            </a:r>
            <a:r>
              <a:rPr lang="zh-CN" altLang="en-US" sz="2000" b="1" dirty="0"/>
              <a:t>的读操作</a:t>
            </a:r>
            <a:endParaRPr lang="en-US" altLang="zh-CN" sz="20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行激活</a:t>
            </a:r>
            <a:r>
              <a:rPr lang="zh-CN" altLang="en-US" b="1" dirty="0"/>
              <a:t>：</a:t>
            </a:r>
            <a:r>
              <a:rPr lang="zh-CN" altLang="en-US" sz="1400" b="1" dirty="0"/>
              <a:t>在向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发送读或写命令之前必须打开该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中的一行，通过</a:t>
            </a:r>
            <a:r>
              <a:rPr lang="en-US" altLang="zh-CN" sz="1400" b="1" dirty="0"/>
              <a:t>ACTIVE</a:t>
            </a:r>
            <a:r>
              <a:rPr lang="zh-CN" altLang="en-US" sz="1400" b="1" dirty="0"/>
              <a:t>命令来确定要激活的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和行。要想对一个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中的阵列进行寻址，首先要确定行（</a:t>
            </a:r>
            <a:r>
              <a:rPr lang="en-US" altLang="zh-CN" sz="1400" b="1" dirty="0"/>
              <a:t>Row</a:t>
            </a:r>
            <a:r>
              <a:rPr lang="zh-CN" altLang="en-US" sz="1400" b="1" dirty="0"/>
              <a:t>），然后确定列。片选信号与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选择信号与行有效同时进行。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列读写</a:t>
            </a:r>
            <a:r>
              <a:rPr lang="zh-CN" altLang="en-US" sz="2000" b="1" dirty="0"/>
              <a:t>：</a:t>
            </a:r>
            <a:r>
              <a:rPr lang="zh-CN" altLang="en-US" sz="1400" b="1" dirty="0"/>
              <a:t>当列地址选通后，就需要对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进行读写，而给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读命令还是写这就由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信号来决定。当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信号拉低时，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接收到的是写命令；当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拉高，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接收读命令。列寻址信号与读写命令是同时发出的。在发送列读写命令时必须要与行有效命令有一个时间间隔，这个时间间隔被定义为</a:t>
            </a:r>
            <a:r>
              <a:rPr lang="en-US" altLang="zh-CN" sz="1400" b="1" dirty="0" err="1">
                <a:highlight>
                  <a:srgbClr val="FFFF00"/>
                </a:highlight>
              </a:rPr>
              <a:t>tRCD</a:t>
            </a:r>
            <a:r>
              <a:rPr lang="zh-CN" altLang="en-US" sz="1400" b="1" dirty="0"/>
              <a:t>，即</a:t>
            </a:r>
            <a:r>
              <a:rPr lang="en-US" altLang="zh-CN" sz="1400" b="1" dirty="0"/>
              <a:t>RAS to CAS Delay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RAS</a:t>
            </a:r>
            <a:r>
              <a:rPr lang="zh-CN" altLang="en-US" sz="1400" b="1" dirty="0"/>
              <a:t>至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延迟）。比如</a:t>
            </a:r>
            <a:r>
              <a:rPr lang="en-US" altLang="zh-CN" sz="1400" b="1" dirty="0" err="1"/>
              <a:t>tRCD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，就代表延迟周期为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个时钟周期，即在行有效命令发出后，经过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个时钟周期的延时，才能发送列读写命令，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进入数据读写操作。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读操作</a:t>
            </a:r>
            <a:r>
              <a:rPr lang="zh-CN" altLang="en-US" sz="1400" b="1" dirty="0"/>
              <a:t>：从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与读取命令发出到第一个数据输出的这段时间，被定义为</a:t>
            </a:r>
            <a:r>
              <a:rPr lang="en-US" altLang="zh-CN" sz="1400" b="1" dirty="0"/>
              <a:t>CL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CAS Latency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潜伏期）</a:t>
            </a:r>
            <a:endParaRPr lang="zh-CN" altLang="en-US" sz="4000" b="1" dirty="0"/>
          </a:p>
        </p:txBody>
      </p:sp>
      <p:pic>
        <p:nvPicPr>
          <p:cNvPr id="2050" name="Picture 2" descr="https://pic1.zhimg.com/80/v2-ae778c419bd0e94c256170ad6963502c_720w.webp">
            <a:extLst>
              <a:ext uri="{FF2B5EF4-FFF2-40B4-BE49-F238E27FC236}">
                <a16:creationId xmlns:a16="http://schemas.microsoft.com/office/drawing/2014/main" id="{4509C7A5-5C75-4065-83DB-08C1165E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60" y="4005064"/>
            <a:ext cx="583264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4F5D0DF-1618-442C-88A5-2350A16E9742}"/>
              </a:ext>
            </a:extLst>
          </p:cNvPr>
          <p:cNvSpPr/>
          <p:nvPr/>
        </p:nvSpPr>
        <p:spPr>
          <a:xfrm>
            <a:off x="827584" y="6488668"/>
            <a:ext cx="8229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highlight>
                  <a:srgbClr val="FFFF00"/>
                </a:highlight>
              </a:rPr>
              <a:t>SDRAM读写时序介绍https://zhuanlan.zhihu.com/p/99771218</a:t>
            </a:r>
          </a:p>
        </p:txBody>
      </p:sp>
    </p:spTree>
    <p:extLst>
      <p:ext uri="{BB962C8B-B14F-4D97-AF65-F5344CB8AC3E}">
        <p14:creationId xmlns:p14="http://schemas.microsoft.com/office/powerpoint/2010/main" val="13657256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2742" y="47667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DDR SDRAM</a:t>
            </a:r>
            <a:endParaRPr lang="en-US" altLang="zh-CN" sz="1600" b="1" dirty="0"/>
          </a:p>
          <a:p>
            <a:pPr lvl="2" eaLnBrk="1" hangingPunct="1"/>
            <a:r>
              <a:rPr lang="en-US" altLang="zh-CN" sz="1400" b="1" dirty="0">
                <a:highlight>
                  <a:srgbClr val="FFFF00"/>
                </a:highlight>
              </a:rPr>
              <a:t>DDR</a:t>
            </a:r>
            <a:r>
              <a:rPr lang="zh-CN" altLang="en-US" sz="1400" b="1" dirty="0">
                <a:highlight>
                  <a:srgbClr val="FFFF00"/>
                </a:highlight>
              </a:rPr>
              <a:t>工作原理 </a:t>
            </a:r>
            <a:r>
              <a:rPr lang="en-US" altLang="zh-CN" sz="1400" b="1" dirty="0">
                <a:highlight>
                  <a:srgbClr val="FFFF00"/>
                </a:highlight>
              </a:rPr>
              <a:t>- </a:t>
            </a:r>
            <a:r>
              <a:rPr lang="zh-CN" altLang="en-US" sz="1400" b="1" dirty="0">
                <a:highlight>
                  <a:srgbClr val="FFFF00"/>
                </a:highlight>
              </a:rPr>
              <a:t>知乎  </a:t>
            </a:r>
            <a:r>
              <a:rPr lang="en-US" altLang="zh-CN" sz="1400" b="1" dirty="0">
                <a:highlight>
                  <a:srgbClr val="FFFF00"/>
                </a:highlight>
              </a:rPr>
              <a:t>https://zhuanlan.zhihu.com/p/576522124</a:t>
            </a:r>
          </a:p>
          <a:p>
            <a:pPr lvl="2" eaLnBrk="1" hangingPunct="1"/>
            <a:r>
              <a:rPr lang="en-US" altLang="zh-CN" sz="1600" b="1" dirty="0"/>
              <a:t>DDR 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Double Data Rate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双倍数据速率同步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779DF9-D203-4B27-BB10-CA2BBD06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48" y="416053"/>
            <a:ext cx="1644134" cy="771071"/>
          </a:xfrm>
          <a:prstGeom prst="rect">
            <a:avLst/>
          </a:prstGeom>
        </p:spPr>
      </p:pic>
      <p:pic>
        <p:nvPicPr>
          <p:cNvPr id="1026" name="Picture 2" descr="https://pic4.zhimg.com/v2-a650aea770c8032ce7512a2d54f8b1cb_r.jpg">
            <a:extLst>
              <a:ext uri="{FF2B5EF4-FFF2-40B4-BE49-F238E27FC236}">
                <a16:creationId xmlns:a16="http://schemas.microsoft.com/office/drawing/2014/main" id="{100402D4-2E2C-4EC2-9366-7B26DDE9D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18" y="1412776"/>
            <a:ext cx="8532440" cy="373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95A7F1B-2704-4F65-A763-F6B1A89ECACB}"/>
              </a:ext>
            </a:extLst>
          </p:cNvPr>
          <p:cNvSpPr/>
          <p:nvPr/>
        </p:nvSpPr>
        <p:spPr>
          <a:xfrm>
            <a:off x="272742" y="5228287"/>
            <a:ext cx="85324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在一个使用单沿时钟发送数据的系统中，每个数据眼图会对应两个时钟沿，数据眼图的边缘由两个时钟的边沿确定，然后第三个时钟沿会位于数据传输眼图的中间</a:t>
            </a:r>
            <a:r>
              <a:rPr lang="en-US" altLang="zh-CN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(</a:t>
            </a:r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如图</a:t>
            </a:r>
            <a:r>
              <a:rPr lang="en-US" altLang="zh-CN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7.20a)</a:t>
            </a:r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。因此时钟信号有两个直接的功能：将数据驱动到总线上以及在总线上读取数据。注意到在单沿时钟的方案中，数据每个时钟周期只传输一次</a:t>
            </a:r>
            <a:endParaRPr lang="en-US" altLang="zh-CN" sz="1400" b="1" dirty="0">
              <a:solidFill>
                <a:srgbClr val="191B1F"/>
              </a:solidFill>
              <a:highlight>
                <a:srgbClr val="FFFF00"/>
              </a:highlight>
              <a:latin typeface="-apple-system"/>
            </a:endParaRPr>
          </a:p>
          <a:p>
            <a:endParaRPr lang="en-US" altLang="zh-CN" sz="1400" b="1" dirty="0">
              <a:solidFill>
                <a:srgbClr val="191B1F"/>
              </a:solidFill>
              <a:highlight>
                <a:srgbClr val="FFFF00"/>
              </a:highlight>
              <a:latin typeface="-apple-system"/>
            </a:endParaRPr>
          </a:p>
          <a:p>
            <a:r>
              <a:rPr lang="zh-CN" altLang="en-US" sz="1400" b="1" dirty="0">
                <a:highlight>
                  <a:srgbClr val="FFFF00"/>
                </a:highlight>
              </a:rPr>
              <a:t>在双沿方案中，数据要不然是边沿对齐的，要不然是中心对齐的</a:t>
            </a:r>
            <a:r>
              <a:rPr lang="en-US" altLang="zh-CN" sz="1400" b="1" dirty="0">
                <a:highlight>
                  <a:srgbClr val="FFFF00"/>
                </a:highlight>
              </a:rPr>
              <a:t>(</a:t>
            </a:r>
            <a:r>
              <a:rPr lang="zh-CN" altLang="en-US" sz="1400" b="1" dirty="0">
                <a:highlight>
                  <a:srgbClr val="FFFF00"/>
                </a:highlight>
              </a:rPr>
              <a:t>如图</a:t>
            </a:r>
            <a:r>
              <a:rPr lang="en-US" altLang="zh-CN" sz="1400" b="1" dirty="0">
                <a:highlight>
                  <a:srgbClr val="FFFF00"/>
                </a:highlight>
              </a:rPr>
              <a:t>7.20b)</a:t>
            </a:r>
            <a:r>
              <a:rPr lang="zh-CN" altLang="en-US" sz="1400" b="1" dirty="0">
                <a:highlight>
                  <a:srgbClr val="FFFF00"/>
                </a:highlight>
              </a:rPr>
              <a:t>。这意味着时钟可以驱动数据到总线上，或者也可以从总线上读取数据，但是无法像单沿时钟方案中一样，只用一个时钟实现这两个功能。如图所示的时钟是边沿对齐的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3196B0-B0B3-4171-A305-CF3412D6AA0F}"/>
              </a:ext>
            </a:extLst>
          </p:cNvPr>
          <p:cNvSpPr/>
          <p:nvPr/>
        </p:nvSpPr>
        <p:spPr>
          <a:xfrm>
            <a:off x="2532492" y="1898273"/>
            <a:ext cx="2963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①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854651-146D-41DF-B94A-C6D3BFF5AB73}"/>
              </a:ext>
            </a:extLst>
          </p:cNvPr>
          <p:cNvSpPr/>
          <p:nvPr/>
        </p:nvSpPr>
        <p:spPr>
          <a:xfrm>
            <a:off x="3059832" y="1898273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②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C08622-91D8-4DED-87D5-D55B19801AFF}"/>
              </a:ext>
            </a:extLst>
          </p:cNvPr>
          <p:cNvSpPr/>
          <p:nvPr/>
        </p:nvSpPr>
        <p:spPr>
          <a:xfrm>
            <a:off x="3476934" y="1839017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2481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D64B9C-4DD5-4A7A-8CFF-7C9707D2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72" y="81124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DDR SDRAM</a:t>
            </a:r>
          </a:p>
          <a:p>
            <a:pPr lvl="2" eaLnBrk="1" hangingPunct="1"/>
            <a:r>
              <a:rPr lang="en-US" altLang="zh-CN" sz="1600" b="1" dirty="0"/>
              <a:t>DDR SDRAM</a:t>
            </a:r>
            <a:r>
              <a:rPr lang="zh-CN" altLang="en-US" sz="1600" b="1" dirty="0"/>
              <a:t>内部采用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路预取技术，能够在时钟周期的</a:t>
            </a:r>
            <a:r>
              <a:rPr lang="zh-CN" altLang="en-US" sz="1600" b="1" dirty="0">
                <a:solidFill>
                  <a:srgbClr val="FF0000"/>
                </a:solidFill>
              </a:rPr>
              <a:t>上升沿</a:t>
            </a:r>
            <a:r>
              <a:rPr lang="zh-CN" altLang="en-US" sz="1600" b="1" dirty="0"/>
              <a:t>和</a:t>
            </a:r>
            <a:r>
              <a:rPr lang="zh-CN" altLang="en-US" sz="1600" b="1" dirty="0">
                <a:solidFill>
                  <a:srgbClr val="FF0000"/>
                </a:solidFill>
              </a:rPr>
              <a:t>下降沿</a:t>
            </a:r>
            <a:r>
              <a:rPr lang="zh-CN" altLang="en-US" sz="1600" b="1" dirty="0"/>
              <a:t>分别进行数据传输，即每个时钟周期可以传输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个数据，其速度是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</a:rPr>
              <a:t>倍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每个时钟周期传输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DDR2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路预取技术，每个时钟周期可以传输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DDR3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路预取技术，每个时钟周期可以传输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个数据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DDR4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路预取技术，每个时钟周期可以传输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个数据</a:t>
            </a:r>
            <a:endParaRPr lang="en-US" altLang="zh-CN" sz="1600" b="1" dirty="0"/>
          </a:p>
          <a:p>
            <a:endParaRPr lang="zh-CN" altLang="en-US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C350F580-71C1-46D1-BF05-5D126C3E8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36440"/>
              </p:ext>
            </p:extLst>
          </p:nvPr>
        </p:nvGraphicFramePr>
        <p:xfrm>
          <a:off x="1691680" y="4438209"/>
          <a:ext cx="4195940" cy="179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985">
                  <a:extLst>
                    <a:ext uri="{9D8B030D-6E8A-4147-A177-3AD203B41FA5}">
                      <a16:colId xmlns:a16="http://schemas.microsoft.com/office/drawing/2014/main" val="2208430758"/>
                    </a:ext>
                  </a:extLst>
                </a:gridCol>
                <a:gridCol w="1048985">
                  <a:extLst>
                    <a:ext uri="{9D8B030D-6E8A-4147-A177-3AD203B41FA5}">
                      <a16:colId xmlns:a16="http://schemas.microsoft.com/office/drawing/2014/main" val="2305108409"/>
                    </a:ext>
                  </a:extLst>
                </a:gridCol>
                <a:gridCol w="1048985">
                  <a:extLst>
                    <a:ext uri="{9D8B030D-6E8A-4147-A177-3AD203B41FA5}">
                      <a16:colId xmlns:a16="http://schemas.microsoft.com/office/drawing/2014/main" val="2804293542"/>
                    </a:ext>
                  </a:extLst>
                </a:gridCol>
                <a:gridCol w="1048985">
                  <a:extLst>
                    <a:ext uri="{9D8B030D-6E8A-4147-A177-3AD203B41FA5}">
                      <a16:colId xmlns:a16="http://schemas.microsoft.com/office/drawing/2014/main" val="138710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内存规格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传输率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总线频率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DRAM</a:t>
                      </a:r>
                      <a:r>
                        <a:rPr lang="zh-CN" altLang="en-US" sz="1000" b="1" dirty="0"/>
                        <a:t>工作频率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56466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DDR2-800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6400MB/s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400MHz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100MHz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6109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DDR3-800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6400MB/s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400MHz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100MHz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33707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DDR3-1600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12.8GB/s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800MHz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200MHz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91077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DDR4-2400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19.2GB/s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1200MHz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300MHz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983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DDR4-3200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25.6GB/s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1600MHz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400MHz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572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B78366B-296A-4D68-BBEE-1E6D77F33DB5}"/>
              </a:ext>
            </a:extLst>
          </p:cNvPr>
          <p:cNvSpPr txBox="1"/>
          <p:nvPr/>
        </p:nvSpPr>
        <p:spPr>
          <a:xfrm>
            <a:off x="107504" y="6021288"/>
            <a:ext cx="126188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书上这里有误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0604712-F123-47CD-8CEF-EDCC2F37CD07}"/>
              </a:ext>
            </a:extLst>
          </p:cNvPr>
          <p:cNvCxnSpPr>
            <a:cxnSpLocks/>
          </p:cNvCxnSpPr>
          <p:nvPr/>
        </p:nvCxnSpPr>
        <p:spPr>
          <a:xfrm flipH="1">
            <a:off x="1382414" y="5800873"/>
            <a:ext cx="1533402" cy="364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3C47595-2472-4084-8442-1C3E91EE3D66}"/>
              </a:ext>
            </a:extLst>
          </p:cNvPr>
          <p:cNvSpPr txBox="1"/>
          <p:nvPr/>
        </p:nvSpPr>
        <p:spPr>
          <a:xfrm>
            <a:off x="2411760" y="3969060"/>
            <a:ext cx="2619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4.2  </a:t>
            </a:r>
            <a:r>
              <a:rPr lang="zh-CN" altLang="en-US" sz="1400" b="1" dirty="0"/>
              <a:t>不同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内存的常见参数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2CAC52-9A1E-477F-97F4-F528CEA349A3}"/>
              </a:ext>
            </a:extLst>
          </p:cNvPr>
          <p:cNvSpPr txBox="1"/>
          <p:nvPr/>
        </p:nvSpPr>
        <p:spPr>
          <a:xfrm>
            <a:off x="6116793" y="4236184"/>
            <a:ext cx="2945037" cy="178510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DDR4-2400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其等效数据传输频率</a:t>
            </a:r>
            <a:r>
              <a:rPr lang="en-US" altLang="zh-CN" sz="1000" b="1" dirty="0"/>
              <a:t>=2400MHz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数据位宽</a:t>
            </a:r>
            <a:r>
              <a:rPr lang="en-US" altLang="zh-CN" sz="1000" b="1" dirty="0"/>
              <a:t>=8</a:t>
            </a:r>
            <a:r>
              <a:rPr lang="zh-CN" altLang="en-US" sz="1000" b="1" dirty="0"/>
              <a:t>字节</a:t>
            </a:r>
            <a:r>
              <a:rPr lang="en-US" altLang="zh-CN" sz="1000" b="1" dirty="0"/>
              <a:t>=8B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传输率（内存带宽）</a:t>
            </a:r>
            <a:r>
              <a:rPr lang="en-US" altLang="zh-CN" sz="1000" b="1" dirty="0"/>
              <a:t>=2400MHzx8B=</a:t>
            </a:r>
            <a:r>
              <a:rPr lang="en-US" altLang="zh-CN" sz="1000" b="1" dirty="0">
                <a:solidFill>
                  <a:srgbClr val="FF0000"/>
                </a:solidFill>
              </a:rPr>
              <a:t>19.2GB/s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总线频率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/2=1200MHz</a:t>
            </a:r>
          </a:p>
          <a:p>
            <a:endParaRPr lang="en-US" altLang="zh-CN" sz="1000" b="1" dirty="0"/>
          </a:p>
          <a:p>
            <a:r>
              <a:rPr lang="en-US" altLang="zh-CN" sz="1000" b="1" dirty="0"/>
              <a:t>DRAM</a:t>
            </a:r>
            <a:r>
              <a:rPr lang="zh-CN" altLang="en-US" sz="1000" b="1" dirty="0"/>
              <a:t>工作频率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/8=2400/8=300MHz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4144B13-5DCA-435C-AF52-DA13BBE667BE}"/>
              </a:ext>
            </a:extLst>
          </p:cNvPr>
          <p:cNvCxnSpPr/>
          <p:nvPr/>
        </p:nvCxnSpPr>
        <p:spPr>
          <a:xfrm flipV="1">
            <a:off x="2701986" y="4543477"/>
            <a:ext cx="3528392" cy="1152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777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4D8F-6B59-427F-AAE2-B84BAF54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DDR4  SDRAM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F0538F-D618-4787-8B44-40F7EB14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46" y="1268760"/>
            <a:ext cx="7434572" cy="19366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F8EA0CF-A725-422B-9743-03817B4A0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586736"/>
            <a:ext cx="8757100" cy="12256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56F30B-6DD0-4A2C-9699-CCBB042B8FED}"/>
              </a:ext>
            </a:extLst>
          </p:cNvPr>
          <p:cNvSpPr txBox="1"/>
          <p:nvPr/>
        </p:nvSpPr>
        <p:spPr>
          <a:xfrm>
            <a:off x="2843808" y="4869160"/>
            <a:ext cx="2945037" cy="178510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DDR4-3200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其等效传输频率</a:t>
            </a:r>
            <a:r>
              <a:rPr lang="en-US" altLang="zh-CN" sz="1000" b="1" dirty="0"/>
              <a:t>=3200MHz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数据位宽</a:t>
            </a:r>
            <a:r>
              <a:rPr lang="en-US" altLang="zh-CN" sz="1000" b="1" dirty="0"/>
              <a:t>=8</a:t>
            </a:r>
            <a:r>
              <a:rPr lang="zh-CN" altLang="en-US" sz="1000" b="1" dirty="0"/>
              <a:t>字节</a:t>
            </a:r>
            <a:r>
              <a:rPr lang="en-US" altLang="zh-CN" sz="1000" b="1" dirty="0"/>
              <a:t>=8B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传输率（内存带宽）</a:t>
            </a:r>
            <a:r>
              <a:rPr lang="en-US" altLang="zh-CN" sz="1000" b="1" dirty="0"/>
              <a:t>=3200MHzx8B=25.6MB/s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总线频率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/2=1600MHz</a:t>
            </a:r>
          </a:p>
          <a:p>
            <a:endParaRPr lang="en-US" altLang="zh-CN" sz="1000" b="1" dirty="0"/>
          </a:p>
          <a:p>
            <a:r>
              <a:rPr lang="en-US" altLang="zh-CN" sz="1000" b="1" dirty="0"/>
              <a:t>DRAM</a:t>
            </a:r>
            <a:r>
              <a:rPr lang="zh-CN" altLang="en-US" sz="1000" b="1" dirty="0"/>
              <a:t>工作频率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/8=3200/8=400MHz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8FE110-2BC1-4DA4-AD0D-763F485B5CE7}"/>
              </a:ext>
            </a:extLst>
          </p:cNvPr>
          <p:cNvSpPr txBox="1"/>
          <p:nvPr/>
        </p:nvSpPr>
        <p:spPr>
          <a:xfrm>
            <a:off x="3563887" y="3357059"/>
            <a:ext cx="169148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DDR4-3200  16GB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838251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4603F-FC9E-419F-9F47-BF76D979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DDR5  SDARM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D32A2E-C85F-4064-86D4-3B706DE33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340768"/>
            <a:ext cx="7140202" cy="18160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7F5084-FF0E-428C-A9F8-D35B3C4C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501008"/>
            <a:ext cx="7619931" cy="11522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3E77B0-ED23-4D9A-A0B5-C8A3226EC356}"/>
              </a:ext>
            </a:extLst>
          </p:cNvPr>
          <p:cNvSpPr txBox="1"/>
          <p:nvPr/>
        </p:nvSpPr>
        <p:spPr>
          <a:xfrm>
            <a:off x="2843808" y="4869160"/>
            <a:ext cx="2945037" cy="178510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DDR5-5200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其等效传输频率</a:t>
            </a:r>
            <a:r>
              <a:rPr lang="en-US" altLang="zh-CN" sz="1000" b="1" dirty="0"/>
              <a:t>=5200MHz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数据位宽</a:t>
            </a:r>
            <a:r>
              <a:rPr lang="en-US" altLang="zh-CN" sz="1000" b="1" dirty="0"/>
              <a:t>=8</a:t>
            </a:r>
            <a:r>
              <a:rPr lang="zh-CN" altLang="en-US" sz="1000" b="1" dirty="0"/>
              <a:t>字节</a:t>
            </a:r>
            <a:r>
              <a:rPr lang="en-US" altLang="zh-CN" sz="1000" b="1" dirty="0"/>
              <a:t>=8B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传输率（内存带宽）</a:t>
            </a:r>
            <a:r>
              <a:rPr lang="en-US" altLang="zh-CN" sz="1000" b="1" dirty="0"/>
              <a:t>=5200MHzx8B=41.6MB/s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总线频率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/2=2600MHz</a:t>
            </a:r>
          </a:p>
          <a:p>
            <a:endParaRPr lang="en-US" altLang="zh-CN" sz="1000" b="1" dirty="0"/>
          </a:p>
          <a:p>
            <a:r>
              <a:rPr lang="en-US" altLang="zh-CN" sz="1000" b="1" dirty="0"/>
              <a:t>DRAM</a:t>
            </a:r>
            <a:r>
              <a:rPr lang="zh-CN" altLang="en-US" sz="1000" b="1" dirty="0"/>
              <a:t>工作频率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/8=5200/8=650MHz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B3C591-B8F9-4F94-8AF0-FDC2B0021850}"/>
              </a:ext>
            </a:extLst>
          </p:cNvPr>
          <p:cNvSpPr txBox="1"/>
          <p:nvPr/>
        </p:nvSpPr>
        <p:spPr>
          <a:xfrm>
            <a:off x="3563888" y="3429000"/>
            <a:ext cx="169148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DDR5-5200  16GB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999512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9F931B-973B-481C-AB64-6CD5E6F2BD5C}"/>
              </a:ext>
            </a:extLst>
          </p:cNvPr>
          <p:cNvSpPr/>
          <p:nvPr/>
        </p:nvSpPr>
        <p:spPr>
          <a:xfrm>
            <a:off x="1043608" y="620688"/>
            <a:ext cx="745282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补充：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现代化的</a:t>
            </a:r>
            <a:r>
              <a:rPr lang="en-US" altLang="zh-CN" b="1" dirty="0"/>
              <a:t>DRAM</a:t>
            </a:r>
            <a:r>
              <a:rPr lang="zh-CN" altLang="en-US" b="1" dirty="0"/>
              <a:t>技术，更像是一门接口技术，而不像是存储技术。得益于摩尔定律，随着工艺尺寸的不断缩进，</a:t>
            </a:r>
            <a:r>
              <a:rPr lang="en-US" altLang="zh-CN" b="1" dirty="0"/>
              <a:t>DRAM</a:t>
            </a:r>
            <a:r>
              <a:rPr lang="zh-CN" altLang="en-US" b="1" dirty="0"/>
              <a:t>的容量越做越大，这个并不难，但是如果没有</a:t>
            </a:r>
            <a:r>
              <a:rPr lang="en-US" altLang="zh-CN" b="1" dirty="0"/>
              <a:t>DDR1</a:t>
            </a:r>
            <a:r>
              <a:rPr lang="zh-CN" altLang="en-US" b="1" dirty="0"/>
              <a:t>，</a:t>
            </a:r>
            <a:r>
              <a:rPr lang="en-US" altLang="zh-CN" b="1" dirty="0"/>
              <a:t>DDR2</a:t>
            </a:r>
            <a:r>
              <a:rPr lang="zh-CN" altLang="en-US" b="1" dirty="0"/>
              <a:t>和</a:t>
            </a:r>
            <a:r>
              <a:rPr lang="en-US" altLang="zh-CN" b="1" dirty="0"/>
              <a:t>DDR3</a:t>
            </a:r>
            <a:r>
              <a:rPr lang="zh-CN" altLang="en-US" b="1" dirty="0"/>
              <a:t>，</a:t>
            </a:r>
            <a:r>
              <a:rPr lang="en-US" altLang="zh-CN" b="1" dirty="0"/>
              <a:t>DDR4</a:t>
            </a:r>
            <a:r>
              <a:rPr lang="zh-CN" altLang="en-US" b="1" dirty="0"/>
              <a:t>等不断的倍频高速接口出现，</a:t>
            </a:r>
            <a:r>
              <a:rPr lang="en-US" altLang="zh-CN" b="1" dirty="0"/>
              <a:t>DRAM</a:t>
            </a:r>
            <a:r>
              <a:rPr lang="zh-CN" altLang="en-US" b="1" dirty="0"/>
              <a:t>的速度基本没有办法提高。</a:t>
            </a:r>
          </a:p>
          <a:p>
            <a:endParaRPr lang="zh-CN" altLang="en-US" b="1" dirty="0"/>
          </a:p>
          <a:p>
            <a:r>
              <a:rPr lang="zh-CN" altLang="en-US" b="1" dirty="0"/>
              <a:t>其原因在于，</a:t>
            </a:r>
            <a:r>
              <a:rPr lang="en-US" altLang="zh-CN" b="1" dirty="0"/>
              <a:t>DRAM</a:t>
            </a:r>
            <a:r>
              <a:rPr lang="zh-CN" altLang="en-US" b="1" dirty="0"/>
              <a:t>作为一个大的存储体，尤其是靠电容作为存储的手段，其内部操作速度很难做到很高。电容的容量做得太小，内存读写的确可以变快，后果是漏电也会很快，需要不停的刷新防止数据丢失，内存的性能会受到影响。电容的容量做得太大，数据确实可以保存的很久，但是写入和读取的延时就会大大增加，</a:t>
            </a:r>
            <a:r>
              <a:rPr lang="en-US" altLang="zh-CN" b="1" dirty="0"/>
              <a:t>DRAM</a:t>
            </a:r>
            <a:r>
              <a:rPr lang="zh-CN" altLang="en-US" b="1" dirty="0"/>
              <a:t>的性能又会大大降低。</a:t>
            </a:r>
          </a:p>
          <a:p>
            <a:endParaRPr lang="zh-CN" altLang="en-US" b="1" dirty="0"/>
          </a:p>
          <a:p>
            <a:r>
              <a:rPr lang="zh-CN" altLang="en-US" b="1" dirty="0"/>
              <a:t>基于此，</a:t>
            </a:r>
            <a:r>
              <a:rPr lang="en-US" altLang="zh-CN" b="1" dirty="0"/>
              <a:t>DRAM</a:t>
            </a:r>
            <a:r>
              <a:rPr lang="zh-CN" altLang="en-US" b="1" dirty="0"/>
              <a:t>的内部存储操作速度难以大幅度改进。举个例子：即使</a:t>
            </a:r>
            <a:r>
              <a:rPr lang="en-US" altLang="zh-CN" b="1" dirty="0"/>
              <a:t>DRAM</a:t>
            </a:r>
            <a:r>
              <a:rPr lang="zh-CN" altLang="en-US" b="1" dirty="0"/>
              <a:t>接口</a:t>
            </a:r>
            <a:r>
              <a:rPr lang="en-US" altLang="zh-CN" b="1" dirty="0"/>
              <a:t>pin</a:t>
            </a:r>
            <a:r>
              <a:rPr lang="zh-CN" altLang="en-US" b="1" dirty="0"/>
              <a:t>做到了</a:t>
            </a:r>
            <a:r>
              <a:rPr lang="en-US" altLang="zh-CN" b="1" dirty="0"/>
              <a:t>1066M</a:t>
            </a:r>
            <a:r>
              <a:rPr lang="zh-CN" altLang="en-US" b="1" dirty="0"/>
              <a:t>，</a:t>
            </a:r>
            <a:r>
              <a:rPr lang="en-US" altLang="zh-CN" b="1" dirty="0"/>
              <a:t>DRAM</a:t>
            </a:r>
            <a:r>
              <a:rPr lang="zh-CN" altLang="en-US" b="1" dirty="0"/>
              <a:t>的存储单元其实并没有工作在</a:t>
            </a:r>
            <a:r>
              <a:rPr lang="en-US" altLang="zh-CN" b="1" dirty="0"/>
              <a:t>1066M</a:t>
            </a:r>
            <a:r>
              <a:rPr lang="zh-CN" altLang="en-US" b="1" dirty="0"/>
              <a:t>这么高的时钟下面，相反只有</a:t>
            </a:r>
            <a:r>
              <a:rPr lang="en-US" altLang="zh-CN" b="1" dirty="0"/>
              <a:t>133M</a:t>
            </a:r>
            <a:r>
              <a:rPr lang="zh-CN" altLang="en-US" b="1" dirty="0"/>
              <a:t>。快的只是接口而已。就好像一个很粗的水管，里面的</a:t>
            </a:r>
            <a:r>
              <a:rPr lang="zh-CN" altLang="en-US" b="1" dirty="0">
                <a:hlinkClick r:id="rId2"/>
              </a:rPr>
              <a:t>水流速</a:t>
            </a:r>
            <a:r>
              <a:rPr lang="zh-CN" altLang="en-US" b="1" dirty="0"/>
              <a:t>其实并不快，但是只要我们把出口收窄，出口的</a:t>
            </a:r>
            <a:r>
              <a:rPr lang="zh-CN" altLang="en-US" b="1" dirty="0">
                <a:hlinkClick r:id="rId3"/>
              </a:rPr>
              <a:t>水速</a:t>
            </a:r>
            <a:r>
              <a:rPr lang="zh-CN" altLang="en-US" b="1" dirty="0"/>
              <a:t>就会大幅提高，远远高于水管内的水速。</a:t>
            </a:r>
            <a:endParaRPr lang="en-US" altLang="zh-CN" b="1" dirty="0"/>
          </a:p>
          <a:p>
            <a:endParaRPr lang="zh-CN" altLang="en-US" b="1" dirty="0"/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90736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06BEC1-1DA2-4F3C-909E-FFFD39FA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4664"/>
            <a:ext cx="4248471" cy="627374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12EB05-80C3-4959-9C4B-E7017DD5F0B6}"/>
              </a:ext>
            </a:extLst>
          </p:cNvPr>
          <p:cNvSpPr/>
          <p:nvPr/>
        </p:nvSpPr>
        <p:spPr>
          <a:xfrm>
            <a:off x="395536" y="332656"/>
            <a:ext cx="35283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在右图给出的示例中，</a:t>
            </a:r>
            <a:r>
              <a:rPr lang="en-US" altLang="zh-CN" dirty="0"/>
              <a:t>SDRAM</a:t>
            </a:r>
            <a:r>
              <a:rPr lang="zh-CN" altLang="en-US" dirty="0"/>
              <a:t>的</a:t>
            </a:r>
            <a:r>
              <a:rPr lang="zh-CN" altLang="en-US" dirty="0">
                <a:hlinkClick r:id="rId3"/>
              </a:rPr>
              <a:t>接口速度</a:t>
            </a:r>
            <a:r>
              <a:rPr lang="zh-CN" altLang="en-US" dirty="0"/>
              <a:t>是</a:t>
            </a:r>
            <a:r>
              <a:rPr lang="en-US" altLang="zh-CN" dirty="0"/>
              <a:t>133M</a:t>
            </a:r>
            <a:r>
              <a:rPr lang="zh-CN" altLang="en-US" dirty="0"/>
              <a:t>，</a:t>
            </a:r>
            <a:r>
              <a:rPr lang="en-US" altLang="zh-CN" dirty="0"/>
              <a:t>DDR1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266M</a:t>
            </a:r>
            <a:r>
              <a:rPr lang="zh-CN" altLang="en-US" dirty="0"/>
              <a:t>，</a:t>
            </a:r>
            <a:r>
              <a:rPr lang="en-US" altLang="zh-CN" dirty="0"/>
              <a:t>DDR2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533M</a:t>
            </a:r>
            <a:r>
              <a:rPr lang="zh-CN" altLang="en-US" dirty="0"/>
              <a:t>，</a:t>
            </a:r>
            <a:r>
              <a:rPr lang="en-US" altLang="zh-CN" dirty="0"/>
              <a:t>DDR3</a:t>
            </a:r>
            <a:r>
              <a:rPr lang="zh-CN" altLang="en-US" dirty="0"/>
              <a:t>的接口速度是</a:t>
            </a:r>
            <a:r>
              <a:rPr lang="en-US" altLang="zh-CN" dirty="0">
                <a:solidFill>
                  <a:srgbClr val="C00000"/>
                </a:solidFill>
              </a:rPr>
              <a:t>1066M</a:t>
            </a:r>
            <a:r>
              <a:rPr lang="zh-CN" altLang="en-US" dirty="0"/>
              <a:t>。每提高一代，接口性能都提高了一倍，但是注意看，这四代接口的核心频率都是</a:t>
            </a:r>
            <a:r>
              <a:rPr lang="en-US" altLang="zh-CN" dirty="0"/>
              <a:t>133M</a:t>
            </a:r>
            <a:r>
              <a:rPr lang="zh-CN" altLang="en-US" dirty="0"/>
              <a:t> 也就是说，</a:t>
            </a:r>
            <a:r>
              <a:rPr lang="en-US" altLang="zh-CN" dirty="0"/>
              <a:t>DRAM</a:t>
            </a:r>
            <a:r>
              <a:rPr lang="zh-CN" altLang="en-US" dirty="0"/>
              <a:t>存储单元的读写速度没有提高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核心技术：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双沿传输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预取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增加</a:t>
            </a:r>
            <a:r>
              <a:rPr lang="en-US" altLang="zh-CN" b="1" dirty="0">
                <a:solidFill>
                  <a:srgbClr val="C00000"/>
                </a:solidFill>
              </a:rPr>
              <a:t>DRAM</a:t>
            </a:r>
            <a:r>
              <a:rPr lang="zh-CN" altLang="en-US" b="1" dirty="0">
                <a:solidFill>
                  <a:srgbClr val="C00000"/>
                </a:solidFill>
              </a:rPr>
              <a:t>内部</a:t>
            </a:r>
            <a:r>
              <a:rPr lang="en-US" altLang="zh-CN" b="1" dirty="0">
                <a:solidFill>
                  <a:srgbClr val="C00000"/>
                </a:solidFill>
              </a:rPr>
              <a:t>BUS</a:t>
            </a:r>
            <a:r>
              <a:rPr lang="zh-CN" altLang="en-US" b="1" dirty="0">
                <a:solidFill>
                  <a:srgbClr val="C00000"/>
                </a:solidFill>
              </a:rPr>
              <a:t>宽度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3F5B143-8A91-4A12-9131-0404066B7A5B}"/>
              </a:ext>
            </a:extLst>
          </p:cNvPr>
          <p:cNvSpPr/>
          <p:nvPr/>
        </p:nvSpPr>
        <p:spPr>
          <a:xfrm>
            <a:off x="2555776" y="2859247"/>
            <a:ext cx="1368152" cy="612068"/>
          </a:xfrm>
          <a:prstGeom prst="wedgeRoundRectCallout">
            <a:avLst>
              <a:gd name="adj1" fmla="val 72331"/>
              <a:gd name="adj2" fmla="val -12386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二路预取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F586AE57-553E-4F72-AA44-B16E0A3D69C6}"/>
              </a:ext>
            </a:extLst>
          </p:cNvPr>
          <p:cNvSpPr/>
          <p:nvPr/>
        </p:nvSpPr>
        <p:spPr>
          <a:xfrm>
            <a:off x="2555776" y="3828199"/>
            <a:ext cx="1368152" cy="612068"/>
          </a:xfrm>
          <a:prstGeom prst="wedgeRoundRectCallout">
            <a:avLst>
              <a:gd name="adj1" fmla="val 79082"/>
              <a:gd name="adj2" fmla="val -2879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四路预取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85FE43E-8A8B-482F-8D72-DCE574583CD7}"/>
              </a:ext>
            </a:extLst>
          </p:cNvPr>
          <p:cNvSpPr/>
          <p:nvPr/>
        </p:nvSpPr>
        <p:spPr>
          <a:xfrm>
            <a:off x="3347864" y="5687968"/>
            <a:ext cx="864096" cy="612068"/>
          </a:xfrm>
          <a:prstGeom prst="wedgeRoundRectCallout">
            <a:avLst>
              <a:gd name="adj1" fmla="val 58694"/>
              <a:gd name="adj2" fmla="val -1027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八路</a:t>
            </a:r>
            <a:endParaRPr lang="en-US" altLang="zh-CN" b="1" dirty="0"/>
          </a:p>
          <a:p>
            <a:pPr algn="ctr"/>
            <a:r>
              <a:rPr lang="zh-CN" altLang="en-US" b="1" dirty="0"/>
              <a:t>预取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B5CDEC-FEA5-4327-8F1D-AE03EF4A7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5" y="4942637"/>
            <a:ext cx="2808312" cy="17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28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35EA21-F5F5-4CF8-A49D-8F9BBAB01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5358" r="3659" b="10714"/>
          <a:stretch/>
        </p:blipFill>
        <p:spPr>
          <a:xfrm>
            <a:off x="971600" y="692696"/>
            <a:ext cx="7409164" cy="3744416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9A0E500-1B79-48AD-8F11-087F4243E565}"/>
              </a:ext>
            </a:extLst>
          </p:cNvPr>
          <p:cNvSpPr/>
          <p:nvPr/>
        </p:nvSpPr>
        <p:spPr>
          <a:xfrm>
            <a:off x="4121950" y="4617132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8D339BF-5909-4B7A-9794-F623FD500266}"/>
              </a:ext>
            </a:extLst>
          </p:cNvPr>
          <p:cNvSpPr/>
          <p:nvPr/>
        </p:nvSpPr>
        <p:spPr>
          <a:xfrm flipH="1">
            <a:off x="5940152" y="4617132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主存</a:t>
            </a:r>
          </a:p>
        </p:txBody>
      </p:sp>
    </p:spTree>
    <p:extLst>
      <p:ext uri="{BB962C8B-B14F-4D97-AF65-F5344CB8AC3E}">
        <p14:creationId xmlns:p14="http://schemas.microsoft.com/office/powerpoint/2010/main" val="3320302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0C95C8-F82D-4BB1-9547-AB1C85C6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7569F-E6FA-43FB-888E-251FEAD0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484784"/>
            <a:ext cx="8229600" cy="4525963"/>
          </a:xfrm>
        </p:spPr>
        <p:txBody>
          <a:bodyPr/>
          <a:lstStyle/>
          <a:p>
            <a:r>
              <a:rPr lang="zh-CN" altLang="en-US" sz="2000" dirty="0"/>
              <a:t>相变存储器 - 知乎</a:t>
            </a:r>
            <a:r>
              <a:rPr lang="zh-CN" altLang="en-US" sz="2000" dirty="0">
                <a:hlinkClick r:id="rId2"/>
              </a:rPr>
              <a:t>https://zhuanlan.zhihu.com/p/631577556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1600" dirty="0"/>
              <a:t>PCM</a:t>
            </a:r>
            <a:r>
              <a:rPr lang="zh-CN" altLang="en-US" sz="1600" dirty="0"/>
              <a:t>技术优势</a:t>
            </a:r>
          </a:p>
          <a:p>
            <a:pPr lvl="1"/>
            <a:r>
              <a:rPr lang="en-US" altLang="zh-CN" sz="1600" dirty="0"/>
              <a:t>1. </a:t>
            </a:r>
            <a:r>
              <a:rPr lang="zh-CN" altLang="en-US" sz="1600" dirty="0">
                <a:highlight>
                  <a:srgbClr val="FFFF00"/>
                </a:highlight>
              </a:rPr>
              <a:t>快速读写</a:t>
            </a:r>
            <a:r>
              <a:rPr lang="zh-CN" altLang="en-US" sz="1600" dirty="0"/>
              <a:t>：相比传统的硬盘和闪存等存储器，</a:t>
            </a:r>
            <a:r>
              <a:rPr lang="en-US" altLang="zh-CN" sz="1600" dirty="0"/>
              <a:t>PCM</a:t>
            </a:r>
            <a:r>
              <a:rPr lang="zh-CN" altLang="en-US" sz="1600" dirty="0"/>
              <a:t>具有远高于闪存的读写速度，这对于那些需要大量数据的任务来说是非常必要的。闪存的写入速度受限于电荷移动速度，而</a:t>
            </a:r>
            <a:r>
              <a:rPr lang="en-US" altLang="zh-CN" sz="1600" dirty="0"/>
              <a:t>PCM</a:t>
            </a:r>
            <a:r>
              <a:rPr lang="zh-CN" altLang="en-US" sz="1600" dirty="0"/>
              <a:t>通过相变物质的固态、液态转变来保存数据，并且能够实时切换状态。</a:t>
            </a:r>
          </a:p>
          <a:p>
            <a:pPr lvl="1"/>
            <a:r>
              <a:rPr lang="en-US" altLang="zh-CN" sz="1600" dirty="0"/>
              <a:t>2. </a:t>
            </a:r>
            <a:r>
              <a:rPr lang="zh-CN" altLang="en-US" sz="1600" dirty="0">
                <a:highlight>
                  <a:srgbClr val="FFFF00"/>
                </a:highlight>
              </a:rPr>
              <a:t>非易失性</a:t>
            </a:r>
            <a:r>
              <a:rPr lang="zh-CN" altLang="en-US" sz="1600" dirty="0"/>
              <a:t>：相变材料由于非易失性，即使忘掉存储器是非常常见的，相变储存器仍然会保留信息而不会遗失。这种特性使得</a:t>
            </a:r>
            <a:r>
              <a:rPr lang="en-US" altLang="zh-CN" sz="1600" dirty="0"/>
              <a:t>PCM</a:t>
            </a:r>
            <a:r>
              <a:rPr lang="zh-CN" altLang="en-US" sz="1600" dirty="0"/>
              <a:t>非常适合一些任务，比如需要存储一些重要的数据备份。</a:t>
            </a:r>
          </a:p>
          <a:p>
            <a:pPr lvl="1"/>
            <a:r>
              <a:rPr lang="en-US" altLang="zh-CN" sz="1600" dirty="0"/>
              <a:t>3. </a:t>
            </a:r>
            <a:r>
              <a:rPr lang="zh-CN" altLang="en-US" sz="1600" dirty="0">
                <a:highlight>
                  <a:srgbClr val="FFFF00"/>
                </a:highlight>
              </a:rPr>
              <a:t>高密度存储</a:t>
            </a:r>
            <a:r>
              <a:rPr lang="zh-CN" altLang="en-US" sz="1600" dirty="0"/>
              <a:t>：</a:t>
            </a:r>
            <a:r>
              <a:rPr lang="en-US" altLang="zh-CN" sz="1600" dirty="0"/>
              <a:t>PCM</a:t>
            </a:r>
            <a:r>
              <a:rPr lang="zh-CN" altLang="en-US" sz="1600" dirty="0"/>
              <a:t>可以在更小的空间内保存相对更大的数据，并且其芯片大小比闪存芯片更小，自然降低了制造成本，从而为更大数据容量做出了贡献。</a:t>
            </a:r>
          </a:p>
          <a:p>
            <a:pPr lvl="1"/>
            <a:r>
              <a:rPr lang="en-US" altLang="zh-CN" sz="1600" dirty="0"/>
              <a:t>4. </a:t>
            </a:r>
            <a:r>
              <a:rPr lang="zh-CN" altLang="en-US" sz="1600" dirty="0">
                <a:highlight>
                  <a:srgbClr val="FFFF00"/>
                </a:highlight>
              </a:rPr>
              <a:t>低功耗</a:t>
            </a:r>
            <a:r>
              <a:rPr lang="zh-CN" altLang="en-US" sz="1600" dirty="0"/>
              <a:t>：当存储器不需要进行读取或写入操作时，会使功率降至最小化。这种省电功能使得</a:t>
            </a:r>
            <a:r>
              <a:rPr lang="en-US" altLang="zh-CN" sz="1600" dirty="0"/>
              <a:t>PCM</a:t>
            </a:r>
            <a:r>
              <a:rPr lang="zh-CN" altLang="en-US" sz="1600" dirty="0"/>
              <a:t>能够在电池供电的设备上表现得更加优异。</a:t>
            </a:r>
            <a:endParaRPr lang="en-US" altLang="zh-CN" sz="1600" dirty="0"/>
          </a:p>
          <a:p>
            <a:r>
              <a:rPr lang="zh-CN" altLang="en-US" sz="2000" dirty="0"/>
              <a:t>破解内存墙，除了“存算一体”还需要什么？ </a:t>
            </a:r>
            <a:r>
              <a:rPr lang="en-US" altLang="zh-CN" sz="2000" dirty="0"/>
              <a:t>- </a:t>
            </a:r>
            <a:r>
              <a:rPr lang="zh-CN" altLang="en-US" sz="2000" dirty="0"/>
              <a:t>知乎</a:t>
            </a:r>
            <a:r>
              <a:rPr lang="en-US" altLang="zh-CN" sz="2000" dirty="0"/>
              <a:t>https://zhuanlan.zhihu.com/p/596956179</a:t>
            </a:r>
            <a:endParaRPr lang="zh-CN" altLang="en-US" sz="2000" dirty="0"/>
          </a:p>
          <a:p>
            <a:pPr lvl="1"/>
            <a:endParaRPr lang="zh-CN" altLang="en-US" sz="12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26598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27504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主存的组织及与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CPU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的连接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8D6D9-9C8B-457C-9C23-B9D0239EE5F4}"/>
              </a:ext>
            </a:extLst>
          </p:cNvPr>
          <p:cNvSpPr txBox="1"/>
          <p:nvPr/>
        </p:nvSpPr>
        <p:spPr>
          <a:xfrm>
            <a:off x="6700338" y="349897"/>
            <a:ext cx="2304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4.3.1</a:t>
            </a:r>
            <a:r>
              <a:rPr lang="zh-CN" altLang="en-US" sz="1400" b="1" dirty="0"/>
              <a:t>　存储器与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</a:t>
            </a:r>
          </a:p>
          <a:p>
            <a:r>
              <a:rPr lang="en-US" altLang="zh-CN" sz="1400" b="1" dirty="0"/>
              <a:t>4.3.2</a:t>
            </a:r>
            <a:r>
              <a:rPr lang="zh-CN" altLang="en-US" sz="1400" b="1" dirty="0"/>
              <a:t>　存储器的扩展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ECE849-5C6C-444F-A089-EFCD00B8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5536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存储器与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的连接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单片存储芯片的容量有限，通常需要将多片存储芯片按照一定的方式组织起来，并与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连接，从而获得一个大容量的存储器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存储芯片与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的地址线、数据线及控制线连接时需要注意的问题：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连接的地址线的数量与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要访问的主存容量有关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连接的数据线的数量与计算机的字长有关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SRAM</a:t>
            </a:r>
            <a:r>
              <a:rPr lang="zh-CN" altLang="en-US" sz="1400" b="1" dirty="0"/>
              <a:t>芯片的控制线包括片选信号（</a:t>
            </a:r>
            <a:r>
              <a:rPr lang="en-US" altLang="zh-CN" sz="1400" b="1" dirty="0"/>
              <a:t>/CS</a:t>
            </a:r>
            <a:r>
              <a:rPr lang="zh-CN" altLang="en-US" sz="1400" b="1" dirty="0"/>
              <a:t>）和读写控制线（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ROM</a:t>
            </a:r>
            <a:r>
              <a:rPr lang="zh-CN" altLang="en-US" sz="1400" b="1" dirty="0"/>
              <a:t>芯片的控制线只有片选信号（</a:t>
            </a:r>
            <a:r>
              <a:rPr lang="en-US" altLang="zh-CN" sz="1400" b="1" dirty="0"/>
              <a:t>/CS</a:t>
            </a:r>
            <a:r>
              <a:rPr lang="zh-CN" altLang="en-US" sz="1400" b="1" dirty="0"/>
              <a:t>），没有读写控制线（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/>
              <a:t>芯片没有片选信号（</a:t>
            </a:r>
            <a:r>
              <a:rPr lang="en-US" altLang="zh-CN" sz="1400" b="1" dirty="0"/>
              <a:t>/CS</a:t>
            </a:r>
            <a:r>
              <a:rPr lang="zh-CN" altLang="en-US" sz="1400" b="1" dirty="0"/>
              <a:t>），进行容量扩展时，可以利用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信号控制芯片的选择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517848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包括位扩展、字扩展、字位同时扩展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、位扩展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位扩展又称</a:t>
            </a:r>
            <a:r>
              <a:rPr lang="zh-CN" altLang="en-US" sz="1400" b="1" dirty="0">
                <a:solidFill>
                  <a:srgbClr val="FF0000"/>
                </a:solidFill>
              </a:rPr>
              <a:t>字长扩展</a:t>
            </a:r>
            <a:r>
              <a:rPr lang="zh-CN" altLang="en-US" sz="1400" b="1" dirty="0"/>
              <a:t>或</a:t>
            </a:r>
            <a:r>
              <a:rPr lang="zh-CN" altLang="en-US" sz="1400" b="1" dirty="0">
                <a:solidFill>
                  <a:srgbClr val="FF0000"/>
                </a:solidFill>
              </a:rPr>
              <a:t>数据总线扩展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256Kx32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18</a:t>
            </a:r>
            <a:r>
              <a:rPr lang="en-US" altLang="zh-CN" sz="1400" b="1" dirty="0"/>
              <a:t>=256K</a:t>
            </a:r>
            <a:r>
              <a:rPr lang="zh-CN" altLang="en-US" sz="1400" b="1" dirty="0"/>
              <a:t>），同时连接到每个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数据线：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根，分别连接到每个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控制线：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/MREQ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端（片选信号）；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-R/W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端（读写控制信号）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B24A40-C598-4622-AAD8-4AB8120A8A3E}"/>
              </a:ext>
            </a:extLst>
          </p:cNvPr>
          <p:cNvGrpSpPr/>
          <p:nvPr/>
        </p:nvGrpSpPr>
        <p:grpSpPr>
          <a:xfrm>
            <a:off x="2483768" y="4129370"/>
            <a:ext cx="4768639" cy="2684006"/>
            <a:chOff x="2483768" y="4051845"/>
            <a:chExt cx="4768639" cy="268400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9A674D2-92C4-45C7-AD98-FBEB89CEB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3768" y="4051845"/>
              <a:ext cx="4768639" cy="254550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E297CB-E3D7-46B8-BF23-38DFD5CAE851}"/>
                </a:ext>
              </a:extLst>
            </p:cNvPr>
            <p:cNvSpPr txBox="1"/>
            <p:nvPr/>
          </p:nvSpPr>
          <p:spPr>
            <a:xfrm>
              <a:off x="4355976" y="6458852"/>
              <a:ext cx="20162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4.24    </a:t>
              </a:r>
              <a:r>
                <a:rPr lang="zh-CN" altLang="en-US" sz="1200" b="1" dirty="0"/>
                <a:t>存储器的位扩展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83149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、字扩展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字扩展又称</a:t>
            </a:r>
            <a:r>
              <a:rPr lang="zh-CN" altLang="en-US" sz="1400" b="1" dirty="0">
                <a:solidFill>
                  <a:srgbClr val="FF0000"/>
                </a:solidFill>
              </a:rPr>
              <a:t>容量扩展</a:t>
            </a:r>
            <a:r>
              <a:rPr lang="zh-CN" altLang="en-US" sz="1400" b="1" dirty="0"/>
              <a:t>或</a:t>
            </a:r>
            <a:r>
              <a:rPr lang="zh-CN" altLang="en-US" sz="1400" b="1" dirty="0">
                <a:solidFill>
                  <a:srgbClr val="FF0000"/>
                </a:solidFill>
              </a:rPr>
              <a:t>地址总线扩展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2Mx8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4.25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数据线：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控制线：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连接到每个存储器芯片的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6468E-1B3F-441B-BF84-5DEE40E9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81" y="3645024"/>
            <a:ext cx="5265211" cy="28776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173636-A4DA-4E5E-83BA-CF9CDA4B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04" y="3107457"/>
            <a:ext cx="1252411" cy="18281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F7A759D-4D01-4407-9E6D-BBFDFA69C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288" y="4941168"/>
            <a:ext cx="1642580" cy="178554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059832" y="6381328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611639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809CE-A659-4E23-8EB3-680E9960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字扩展时各个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芯片的地址范围：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lvl="1"/>
            <a:r>
              <a:rPr lang="zh-CN" altLang="en-US" sz="1400" b="1" dirty="0"/>
              <a:t>地址总线</a:t>
            </a:r>
            <a:r>
              <a:rPr lang="en-US" altLang="zh-CN" sz="1400" b="1" dirty="0"/>
              <a:t>=A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根）</a:t>
            </a:r>
            <a:endParaRPr lang="en-US" altLang="zh-CN" sz="1400" b="1" baseline="-25000" dirty="0"/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地址范围</a:t>
            </a:r>
            <a:r>
              <a:rPr lang="en-US" altLang="zh-CN" sz="1400" b="1" dirty="0"/>
              <a:t>= 0 0000 0000 0000 0000 0000 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 1111 1111 1111 1111 1111 = 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03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07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0B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</a:t>
            </a:r>
            <a:r>
              <a:rPr lang="en-US" altLang="zh-CN" sz="1400" b="1" dirty="0"/>
              <a:t>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13FFFFH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17FFFFH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1BFFFFH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  <a:endParaRPr lang="zh-CN" altLang="en-US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C7B9EC-1853-414B-89B0-35D17965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509120"/>
            <a:ext cx="3888432" cy="212515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DF716C8-180C-428A-8A96-1B734F4829F0}"/>
              </a:ext>
            </a:extLst>
          </p:cNvPr>
          <p:cNvCxnSpPr/>
          <p:nvPr/>
        </p:nvCxnSpPr>
        <p:spPr>
          <a:xfrm>
            <a:off x="1619672" y="2348880"/>
            <a:ext cx="2232248" cy="3240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3D14EC-87ED-46D1-8B63-82938FDA3BC3}"/>
              </a:ext>
            </a:extLst>
          </p:cNvPr>
          <p:cNvCxnSpPr/>
          <p:nvPr/>
        </p:nvCxnSpPr>
        <p:spPr>
          <a:xfrm>
            <a:off x="1691680" y="4149080"/>
            <a:ext cx="4320480" cy="1656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D9E6281-3375-4599-9AF1-9FAE4164EBD5}"/>
              </a:ext>
            </a:extLst>
          </p:cNvPr>
          <p:cNvSpPr txBox="1"/>
          <p:nvPr/>
        </p:nvSpPr>
        <p:spPr>
          <a:xfrm>
            <a:off x="3923928" y="6536377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683460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、字位同时扩展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同时进行字扩展和位扩展；例如，可以利用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2Mx32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4.26</a:t>
            </a:r>
            <a:r>
              <a:rPr lang="zh-CN" altLang="en-US" sz="1400" b="1" dirty="0"/>
              <a:t>所示（</a:t>
            </a:r>
            <a:r>
              <a:rPr lang="en-US" altLang="zh-CN" sz="1400" b="1" dirty="0"/>
              <a:t>32=(2Mx32)/(256x8)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数据线：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24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），分别连接到各个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控制线：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059832" y="6381328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4.26    </a:t>
            </a:r>
            <a:r>
              <a:rPr lang="zh-CN" altLang="en-US" sz="1200" b="1" dirty="0"/>
              <a:t>存储器的字位扩展</a:t>
            </a:r>
            <a:endParaRPr lang="zh-CN" alt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20AB6-3FB6-49E3-9A6D-9110D9F5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795366"/>
            <a:ext cx="4757979" cy="25139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2738B7-21FA-47CC-8D40-521D5F84A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04" y="3107457"/>
            <a:ext cx="1252411" cy="18281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8F5714-943C-4745-93BE-2C94864DC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288" y="4941168"/>
            <a:ext cx="1642580" cy="17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607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（补充）习题</a:t>
            </a:r>
            <a:r>
              <a:rPr lang="en-US" altLang="zh-CN" sz="1600" b="1" dirty="0">
                <a:solidFill>
                  <a:srgbClr val="FF0000"/>
                </a:solidFill>
              </a:rPr>
              <a:t>4.5 </a:t>
            </a:r>
            <a:r>
              <a:rPr lang="en-US" altLang="zh-CN" sz="1600" b="1" dirty="0"/>
              <a:t>   </a:t>
            </a:r>
            <a:r>
              <a:rPr lang="zh-CN" altLang="en-US" sz="1600" b="1" dirty="0"/>
              <a:t>用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存储芯片，可设计出哪几种不同容量和字长的存储器？画出相应设计图，并完成与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的连接。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解：有三种：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字扩展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32K -&gt; 128K</a:t>
            </a:r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128Kx8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位扩展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字位扩展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64Kx16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7387000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29949-E6E2-4EAE-B7CB-C3F18417ABCF}"/>
              </a:ext>
            </a:extLst>
          </p:cNvPr>
          <p:cNvSpPr/>
          <p:nvPr/>
        </p:nvSpPr>
        <p:spPr>
          <a:xfrm>
            <a:off x="3347863" y="1326086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365104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2DBDA7E-4368-4318-A7A0-0659100C0A5B}"/>
              </a:ext>
            </a:extLst>
          </p:cNvPr>
          <p:cNvSpPr/>
          <p:nvPr/>
        </p:nvSpPr>
        <p:spPr>
          <a:xfrm>
            <a:off x="2414476" y="1772816"/>
            <a:ext cx="912124" cy="20244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88060" y="4045259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658636" y="4045260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918776" y="4042691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96472" y="4042692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/>
          <p:nvPr/>
        </p:nvCxnSpPr>
        <p:spPr>
          <a:xfrm>
            <a:off x="3995936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/>
          <p:nvPr/>
        </p:nvCxnSpPr>
        <p:spPr>
          <a:xfrm>
            <a:off x="5220072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71423" y="2067095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/>
          <p:nvPr/>
        </p:nvCxnSpPr>
        <p:spPr>
          <a:xfrm>
            <a:off x="7668344" y="2063119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A49F91-1330-4654-87B2-5AA82E8011CD}"/>
              </a:ext>
            </a:extLst>
          </p:cNvPr>
          <p:cNvSpPr txBox="1"/>
          <p:nvPr/>
        </p:nvSpPr>
        <p:spPr>
          <a:xfrm>
            <a:off x="5273108" y="1412776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2-4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63688" y="436968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1712392" y="171184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16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106707" y="3677682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98438" y="3672239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883999" y="162732"/>
            <a:ext cx="273678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）字扩展：</a:t>
            </a:r>
            <a:r>
              <a:rPr lang="en-US" altLang="zh-CN" sz="1600" b="1" dirty="0"/>
              <a:t>32K -&gt; 128K</a:t>
            </a:r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128Kx8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E4C9B72-58A7-4DE9-AA79-E0A4247838A9}"/>
              </a:ext>
            </a:extLst>
          </p:cNvPr>
          <p:cNvCxnSpPr>
            <a:cxnSpLocks/>
          </p:cNvCxnSpPr>
          <p:nvPr/>
        </p:nvCxnSpPr>
        <p:spPr>
          <a:xfrm>
            <a:off x="2411760" y="1490100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1E0425-ED2B-499B-B6FD-D78A5A6E13E1}"/>
              </a:ext>
            </a:extLst>
          </p:cNvPr>
          <p:cNvSpPr txBox="1"/>
          <p:nvPr/>
        </p:nvSpPr>
        <p:spPr>
          <a:xfrm>
            <a:off x="1783449" y="1327638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140F26-6B01-401E-A122-75CAB85516AF}"/>
              </a:ext>
            </a:extLst>
          </p:cNvPr>
          <p:cNvSpPr txBox="1"/>
          <p:nvPr/>
        </p:nvSpPr>
        <p:spPr>
          <a:xfrm>
            <a:off x="3846595" y="1754369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D364D3-B705-4249-8207-873202644F28}"/>
              </a:ext>
            </a:extLst>
          </p:cNvPr>
          <p:cNvSpPr txBox="1"/>
          <p:nvPr/>
        </p:nvSpPr>
        <p:spPr>
          <a:xfrm>
            <a:off x="5068814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8C1D063-E8DC-4189-8EAA-4308B24633EC}"/>
              </a:ext>
            </a:extLst>
          </p:cNvPr>
          <p:cNvSpPr txBox="1"/>
          <p:nvPr/>
        </p:nvSpPr>
        <p:spPr>
          <a:xfrm>
            <a:off x="6292950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2</a:t>
            </a:r>
            <a:endParaRPr lang="zh-CN" altLang="en-US" sz="1000" b="1" baseline="-25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BB043C5-27E6-4E9B-B35D-01283AD92E3F}"/>
              </a:ext>
            </a:extLst>
          </p:cNvPr>
          <p:cNvSpPr txBox="1"/>
          <p:nvPr/>
        </p:nvSpPr>
        <p:spPr>
          <a:xfrm>
            <a:off x="7517086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3</a:t>
            </a:r>
            <a:endParaRPr lang="zh-CN" altLang="en-US" sz="1000" b="1" baseline="-25000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10EF2F5-6A2D-4D54-9395-4872D53379D3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F38EAF4-8F9E-429B-8627-A54944E9AC4F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65E0D88-D73E-4219-895D-E29BA2565D68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C26BC54-E806-4988-8951-921ECCEA3E6F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A2ED218-2861-4A1A-AD25-AA420883864E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F0323BF-D91B-49AF-8B2E-CBC061F1E674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8A23A9-F139-4114-984D-9CB9AC387BE8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5792351-FC30-44F7-9C0E-BC11F009F9FE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AC77B81-1921-4E9B-8673-22C5F9471DF2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FB61433-A616-4013-BBA4-DA1499D2D502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13A6A3-CBA0-4516-A9DE-3292F418A584}"/>
              </a:ext>
            </a:extLst>
          </p:cNvPr>
          <p:cNvSpPr txBox="1"/>
          <p:nvPr/>
        </p:nvSpPr>
        <p:spPr>
          <a:xfrm>
            <a:off x="3314438" y="1336954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543DB71-BA22-49EF-B229-1D872CF19557}"/>
              </a:ext>
            </a:extLst>
          </p:cNvPr>
          <p:cNvSpPr txBox="1"/>
          <p:nvPr/>
        </p:nvSpPr>
        <p:spPr>
          <a:xfrm>
            <a:off x="3330836" y="1676686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B</a:t>
            </a:r>
          </a:p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36B42-9571-44B1-9A96-28FD415E9031}"/>
              </a:ext>
            </a:extLst>
          </p:cNvPr>
          <p:cNvSpPr txBox="1"/>
          <p:nvPr/>
        </p:nvSpPr>
        <p:spPr>
          <a:xfrm>
            <a:off x="2960918" y="518131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E0C6259-4013-48E9-8B0B-F41EA58EA05C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128Kx8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=17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8E15AD1-92EC-4DEC-B2AA-38FE484C539F}"/>
              </a:ext>
            </a:extLst>
          </p:cNvPr>
          <p:cNvSpPr/>
          <p:nvPr/>
        </p:nvSpPr>
        <p:spPr>
          <a:xfrm>
            <a:off x="5205687" y="245967"/>
            <a:ext cx="2736784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片内地址线，数据线，读写线并联，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片选端利用译码器单独设计</a:t>
            </a:r>
          </a:p>
        </p:txBody>
      </p:sp>
      <p:sp>
        <p:nvSpPr>
          <p:cNvPr id="74" name="对话气泡: 圆角矩形 73">
            <a:extLst>
              <a:ext uri="{FF2B5EF4-FFF2-40B4-BE49-F238E27FC236}">
                <a16:creationId xmlns:a16="http://schemas.microsoft.com/office/drawing/2014/main" id="{E3075C5F-1434-488E-BA4B-0B39E38C6A3E}"/>
              </a:ext>
            </a:extLst>
          </p:cNvPr>
          <p:cNvSpPr/>
          <p:nvPr/>
        </p:nvSpPr>
        <p:spPr>
          <a:xfrm>
            <a:off x="179513" y="1490100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地址高位用作片选</a:t>
            </a:r>
          </a:p>
        </p:txBody>
      </p:sp>
      <p:sp>
        <p:nvSpPr>
          <p:cNvPr id="75" name="对话气泡: 圆角矩形 74">
            <a:extLst>
              <a:ext uri="{FF2B5EF4-FFF2-40B4-BE49-F238E27FC236}">
                <a16:creationId xmlns:a16="http://schemas.microsoft.com/office/drawing/2014/main" id="{61C084F6-C050-4C35-9861-753E097EDD73}"/>
              </a:ext>
            </a:extLst>
          </p:cNvPr>
          <p:cNvSpPr/>
          <p:nvPr/>
        </p:nvSpPr>
        <p:spPr>
          <a:xfrm>
            <a:off x="252917" y="2450684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地址低位用作片内寻址</a:t>
            </a:r>
          </a:p>
        </p:txBody>
      </p:sp>
      <p:sp>
        <p:nvSpPr>
          <p:cNvPr id="76" name="对话气泡: 圆角矩形 75">
            <a:extLst>
              <a:ext uri="{FF2B5EF4-FFF2-40B4-BE49-F238E27FC236}">
                <a16:creationId xmlns:a16="http://schemas.microsoft.com/office/drawing/2014/main" id="{3AF7942E-9073-403A-B6C4-9FA2F36806A4}"/>
              </a:ext>
            </a:extLst>
          </p:cNvPr>
          <p:cNvSpPr/>
          <p:nvPr/>
        </p:nvSpPr>
        <p:spPr>
          <a:xfrm>
            <a:off x="158083" y="4279589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并联</a:t>
            </a:r>
          </a:p>
        </p:txBody>
      </p:sp>
    </p:spTree>
    <p:extLst>
      <p:ext uri="{BB962C8B-B14F-4D97-AF65-F5344CB8AC3E}">
        <p14:creationId xmlns:p14="http://schemas.microsoft.com/office/powerpoint/2010/main" val="19127137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09119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29183" y="4104135"/>
            <a:ext cx="728465" cy="25905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8243" y="4125653"/>
            <a:ext cx="728466" cy="216026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32003" y="4129464"/>
            <a:ext cx="741226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44246" y="4094917"/>
            <a:ext cx="698987" cy="242881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38040" y="436968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31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71441" y="367768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31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24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04886" y="3684954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23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16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392059" y="365716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799227" y="103647"/>
            <a:ext cx="266477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）位扩展：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64713C8-CDEC-4401-AFC6-C376C81373D7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BBCE35B-A964-43BF-8AF5-EAC99CC13565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76221F-8908-4813-BB39-65B7564DB409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30AB84-0BBC-4E68-8756-C55409F82617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669F2A6-78BC-4E26-93AC-0DBA721FA7E1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603509F-2B53-4843-BE97-FF584E77C03F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3BDF486-C97E-4A1C-ACED-21241E3DE0E6}"/>
              </a:ext>
            </a:extLst>
          </p:cNvPr>
          <p:cNvCxnSpPr>
            <a:cxnSpLocks/>
          </p:cNvCxnSpPr>
          <p:nvPr/>
        </p:nvCxnSpPr>
        <p:spPr>
          <a:xfrm>
            <a:off x="2411760" y="1629237"/>
            <a:ext cx="532859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4D04DAA-0010-4FE3-95D1-9C10A8E14929}"/>
              </a:ext>
            </a:extLst>
          </p:cNvPr>
          <p:cNvCxnSpPr>
            <a:cxnSpLocks/>
          </p:cNvCxnSpPr>
          <p:nvPr/>
        </p:nvCxnSpPr>
        <p:spPr>
          <a:xfrm>
            <a:off x="4046680" y="1628802"/>
            <a:ext cx="0" cy="1505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C22E041-FB4E-44E6-A189-A3A607B6187A}"/>
              </a:ext>
            </a:extLst>
          </p:cNvPr>
          <p:cNvCxnSpPr>
            <a:cxnSpLocks/>
          </p:cNvCxnSpPr>
          <p:nvPr/>
        </p:nvCxnSpPr>
        <p:spPr>
          <a:xfrm>
            <a:off x="5292080" y="1628801"/>
            <a:ext cx="0" cy="1484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82B23E0-0977-49A5-9576-3BDC6D1964FA}"/>
              </a:ext>
            </a:extLst>
          </p:cNvPr>
          <p:cNvCxnSpPr>
            <a:cxnSpLocks/>
          </p:cNvCxnSpPr>
          <p:nvPr/>
        </p:nvCxnSpPr>
        <p:spPr>
          <a:xfrm>
            <a:off x="6530391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75CA6AE-661F-4428-8B4F-1F9D9A963F35}"/>
              </a:ext>
            </a:extLst>
          </p:cNvPr>
          <p:cNvCxnSpPr>
            <a:cxnSpLocks/>
          </p:cNvCxnSpPr>
          <p:nvPr/>
        </p:nvCxnSpPr>
        <p:spPr>
          <a:xfrm>
            <a:off x="7740352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A973067-A38B-4FEE-B1D7-BF8C07DD61CD}"/>
              </a:ext>
            </a:extLst>
          </p:cNvPr>
          <p:cNvSpPr txBox="1"/>
          <p:nvPr/>
        </p:nvSpPr>
        <p:spPr>
          <a:xfrm>
            <a:off x="1783449" y="1485185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9CD2557-2247-4C99-8459-298335DF68C8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B782293-5DE7-4C14-A536-BC6BE58D9AA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4886B63-5EF2-4E4E-8F2C-7E8031C43F26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503BCE6-77CC-460A-AFDF-E87FEE5AA09B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F9D0501-27B6-4820-8D60-29B05EC4E7E6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3F968E-4EED-409F-87FD-DFE976F9B883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33DD51E-0C0A-4DB2-B1DA-9AEC4EA82190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F9AD6F-D113-4B38-A440-7193B48526CC}"/>
              </a:ext>
            </a:extLst>
          </p:cNvPr>
          <p:cNvSpPr txBox="1"/>
          <p:nvPr/>
        </p:nvSpPr>
        <p:spPr>
          <a:xfrm>
            <a:off x="7458411" y="3130082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   /CS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EBC2C0A-6E22-46EF-AEFF-5194EBD71099}"/>
              </a:ext>
            </a:extLst>
          </p:cNvPr>
          <p:cNvSpPr txBox="1"/>
          <p:nvPr/>
        </p:nvSpPr>
        <p:spPr>
          <a:xfrm>
            <a:off x="2960918" y="518131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CAAEF0-E385-4D55-92BF-2FFFAAC7CD30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32Kx32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2" name="对话气泡: 圆角矩形 71">
            <a:extLst>
              <a:ext uri="{FF2B5EF4-FFF2-40B4-BE49-F238E27FC236}">
                <a16:creationId xmlns:a16="http://schemas.microsoft.com/office/drawing/2014/main" id="{BB9EABD5-E036-4EC0-99E9-717D2D502B59}"/>
              </a:ext>
            </a:extLst>
          </p:cNvPr>
          <p:cNvSpPr/>
          <p:nvPr/>
        </p:nvSpPr>
        <p:spPr>
          <a:xfrm>
            <a:off x="5003568" y="97801"/>
            <a:ext cx="2268731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 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片选并联，数据线单独设计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DAE306-5762-443F-A974-0BBADFE27B61}"/>
              </a:ext>
            </a:extLst>
          </p:cNvPr>
          <p:cNvSpPr txBox="1"/>
          <p:nvPr/>
        </p:nvSpPr>
        <p:spPr>
          <a:xfrm>
            <a:off x="3255819" y="3874658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92C0DBA-604C-4C30-A172-D0955EACC7DB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2C9CF6B-C057-4FBE-A1D3-8D9DE507E222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61C43E7-669B-4C15-A566-267D4A747917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86E8389A-244A-43B3-8A9E-954BCDFA78D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6674"/>
              <a:gd name="adj2" fmla="val 48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  <p:sp>
        <p:nvSpPr>
          <p:cNvPr id="78" name="对话气泡: 圆角矩形 77">
            <a:extLst>
              <a:ext uri="{FF2B5EF4-FFF2-40B4-BE49-F238E27FC236}">
                <a16:creationId xmlns:a16="http://schemas.microsoft.com/office/drawing/2014/main" id="{160D6BF3-2A4E-4954-BECA-661BD9955816}"/>
              </a:ext>
            </a:extLst>
          </p:cNvPr>
          <p:cNvSpPr/>
          <p:nvPr/>
        </p:nvSpPr>
        <p:spPr>
          <a:xfrm>
            <a:off x="7369401" y="600165"/>
            <a:ext cx="1523076" cy="861526"/>
          </a:xfrm>
          <a:prstGeom prst="wedgeRoundRectCallout">
            <a:avLst>
              <a:gd name="adj1" fmla="val -80516"/>
              <a:gd name="adj2" fmla="val 638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片选同时生效，</a:t>
            </a:r>
            <a:r>
              <a:rPr lang="en-US" altLang="zh-CN" sz="1600" dirty="0"/>
              <a:t>4</a:t>
            </a:r>
            <a:r>
              <a:rPr lang="zh-CN" altLang="en-US" sz="1600" dirty="0"/>
              <a:t>片同时读写</a:t>
            </a:r>
          </a:p>
        </p:txBody>
      </p:sp>
    </p:spTree>
    <p:extLst>
      <p:ext uri="{BB962C8B-B14F-4D97-AF65-F5344CB8AC3E}">
        <p14:creationId xmlns:p14="http://schemas.microsoft.com/office/powerpoint/2010/main" val="37088471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22147" y="1085390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60820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288784" y="4144534"/>
            <a:ext cx="777249" cy="22704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2571" y="4131324"/>
            <a:ext cx="742677" cy="21889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26533" y="4134934"/>
            <a:ext cx="739803" cy="2036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09562" y="4129601"/>
            <a:ext cx="745247" cy="21977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>
            <a:cxnSpLocks/>
          </p:cNvCxnSpPr>
          <p:nvPr/>
        </p:nvCxnSpPr>
        <p:spPr>
          <a:xfrm flipH="1">
            <a:off x="3995936" y="1931514"/>
            <a:ext cx="5998" cy="1189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>
            <a:cxnSpLocks/>
          </p:cNvCxnSpPr>
          <p:nvPr/>
        </p:nvCxnSpPr>
        <p:spPr>
          <a:xfrm>
            <a:off x="5213801" y="2148621"/>
            <a:ext cx="6271" cy="971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54840" y="1633250"/>
            <a:ext cx="0" cy="1501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>
            <a:cxnSpLocks/>
          </p:cNvCxnSpPr>
          <p:nvPr/>
        </p:nvCxnSpPr>
        <p:spPr>
          <a:xfrm>
            <a:off x="7668344" y="2148621"/>
            <a:ext cx="0" cy="986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685107" y="4560820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2021910" y="156782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89074" y="3677682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259392" y="45710"/>
            <a:ext cx="3888911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）字位扩展：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64Kx16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2DBDD7A-E797-4A67-8988-62FB0AAE8507}"/>
              </a:ext>
            </a:extLst>
          </p:cNvPr>
          <p:cNvCxnSpPr>
            <a:cxnSpLocks/>
          </p:cNvCxnSpPr>
          <p:nvPr/>
        </p:nvCxnSpPr>
        <p:spPr>
          <a:xfrm>
            <a:off x="2426049" y="1716291"/>
            <a:ext cx="9005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1E5C890-2DBE-4A18-86AF-4ADDAC0A31D2}"/>
              </a:ext>
            </a:extLst>
          </p:cNvPr>
          <p:cNvCxnSpPr>
            <a:cxnSpLocks/>
          </p:cNvCxnSpPr>
          <p:nvPr/>
        </p:nvCxnSpPr>
        <p:spPr>
          <a:xfrm>
            <a:off x="5934709" y="1633250"/>
            <a:ext cx="173363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BF04BE36-0624-4FF8-9EF3-2E8519CD51F3}"/>
              </a:ext>
            </a:extLst>
          </p:cNvPr>
          <p:cNvSpPr/>
          <p:nvPr/>
        </p:nvSpPr>
        <p:spPr>
          <a:xfrm rot="13500000">
            <a:off x="5484692" y="1451321"/>
            <a:ext cx="351546" cy="360040"/>
          </a:xfrm>
          <a:prstGeom prst="rt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D4589907-8077-4C49-A381-B18B615A0EBF}"/>
              </a:ext>
            </a:extLst>
          </p:cNvPr>
          <p:cNvSpPr/>
          <p:nvPr/>
        </p:nvSpPr>
        <p:spPr>
          <a:xfrm>
            <a:off x="5894433" y="1605848"/>
            <a:ext cx="45719" cy="5561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0C0E072-DF85-4846-B0E6-4AD606D19D2B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D688B1C-D36F-48A2-85A8-2DBA7B5B992E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850EDBE-EB30-43F2-ADAF-9580EF383010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DFD80A3-ADCB-46EB-B1CC-387F20F5B338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2EC76C1-181E-4BA4-8D7F-C70A57C3BAC7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1EA0997-3723-4348-B2CD-9650EB22F38D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C30199-2145-4B36-9616-D99BE5AE2BF7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504C829-D2A1-489C-B108-54000C12913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AD24932-50B4-4930-A41B-B275185298CB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EC1CB6-F61B-438B-9BF4-FB4E008CDF6A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F71AC71-8B7B-41F6-8180-98B1BD4A18AF}"/>
              </a:ext>
            </a:extLst>
          </p:cNvPr>
          <p:cNvSpPr/>
          <p:nvPr/>
        </p:nvSpPr>
        <p:spPr>
          <a:xfrm>
            <a:off x="3337233" y="1196752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93AE76B-C2D8-4D50-807C-BBEB4728A95E}"/>
              </a:ext>
            </a:extLst>
          </p:cNvPr>
          <p:cNvCxnSpPr>
            <a:cxnSpLocks/>
          </p:cNvCxnSpPr>
          <p:nvPr/>
        </p:nvCxnSpPr>
        <p:spPr>
          <a:xfrm>
            <a:off x="2411760" y="1431222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4404A9D-DB89-43B2-BA97-B95FCBD2DCBB}"/>
              </a:ext>
            </a:extLst>
          </p:cNvPr>
          <p:cNvSpPr txBox="1"/>
          <p:nvPr/>
        </p:nvSpPr>
        <p:spPr>
          <a:xfrm>
            <a:off x="1783449" y="1268760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E04A7A-2383-4295-83CA-01838B8B9B8F}"/>
              </a:ext>
            </a:extLst>
          </p:cNvPr>
          <p:cNvSpPr txBox="1"/>
          <p:nvPr/>
        </p:nvSpPr>
        <p:spPr>
          <a:xfrm>
            <a:off x="3314438" y="129534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309876F-0ADF-4ECD-A98E-9EC27632F97A}"/>
              </a:ext>
            </a:extLst>
          </p:cNvPr>
          <p:cNvCxnSpPr>
            <a:cxnSpLocks/>
          </p:cNvCxnSpPr>
          <p:nvPr/>
        </p:nvCxnSpPr>
        <p:spPr>
          <a:xfrm>
            <a:off x="3995457" y="2148621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7B5F753-AB62-42FE-B3C1-6E34E8279C52}"/>
              </a:ext>
            </a:extLst>
          </p:cNvPr>
          <p:cNvCxnSpPr>
            <a:cxnSpLocks/>
          </p:cNvCxnSpPr>
          <p:nvPr/>
        </p:nvCxnSpPr>
        <p:spPr>
          <a:xfrm>
            <a:off x="6452081" y="2153937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67CCF97-0521-43BB-A95D-C4AFCEFF0850}"/>
              </a:ext>
            </a:extLst>
          </p:cNvPr>
          <p:cNvSpPr txBox="1"/>
          <p:nvPr/>
        </p:nvSpPr>
        <p:spPr>
          <a:xfrm>
            <a:off x="5273108" y="1340768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1-2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3206C21-28AD-4AD9-9615-134DD7E4F966}"/>
              </a:ext>
            </a:extLst>
          </p:cNvPr>
          <p:cNvSpPr txBox="1"/>
          <p:nvPr/>
        </p:nvSpPr>
        <p:spPr>
          <a:xfrm>
            <a:off x="3846595" y="1682361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31A9B80-9F83-4ED8-A0C8-33A5BB45FF5B}"/>
              </a:ext>
            </a:extLst>
          </p:cNvPr>
          <p:cNvSpPr txBox="1"/>
          <p:nvPr/>
        </p:nvSpPr>
        <p:spPr>
          <a:xfrm>
            <a:off x="6298266" y="1700808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60AF4EA-68B3-4958-A64D-8BB2174730E8}"/>
              </a:ext>
            </a:extLst>
          </p:cNvPr>
          <p:cNvSpPr txBox="1"/>
          <p:nvPr/>
        </p:nvSpPr>
        <p:spPr>
          <a:xfrm>
            <a:off x="3330836" y="1598961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778D47D-30D7-428A-ACC7-C7FEED04EACC}"/>
              </a:ext>
            </a:extLst>
          </p:cNvPr>
          <p:cNvSpPr txBox="1"/>
          <p:nvPr/>
        </p:nvSpPr>
        <p:spPr>
          <a:xfrm>
            <a:off x="3766352" y="5211322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E60236-792F-4589-8B03-922648F2C9BF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64Kx16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B06A137E-1B4A-4692-8562-C80E554A22B7}"/>
              </a:ext>
            </a:extLst>
          </p:cNvPr>
          <p:cNvSpPr/>
          <p:nvPr/>
        </p:nvSpPr>
        <p:spPr>
          <a:xfrm>
            <a:off x="61660" y="1134174"/>
            <a:ext cx="1287182" cy="1214513"/>
          </a:xfrm>
          <a:prstGeom prst="wedgeRoundRectCallout">
            <a:avLst>
              <a:gd name="adj1" fmla="val 102788"/>
              <a:gd name="adj2" fmla="val -1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A15=0</a:t>
            </a:r>
            <a:r>
              <a:rPr lang="zh-CN" altLang="en-US" sz="1600" dirty="0"/>
              <a:t>，选中前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  <a:endParaRPr lang="en-US" altLang="zh-CN" sz="1600" dirty="0"/>
          </a:p>
          <a:p>
            <a:r>
              <a:rPr lang="en-US" altLang="zh-CN" sz="1600" dirty="0"/>
              <a:t>A15=1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zh-CN" altLang="en-US" sz="1600" dirty="0"/>
              <a:t>选中后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39DCC3A-9867-49B8-BD01-DD2A546EB355}"/>
              </a:ext>
            </a:extLst>
          </p:cNvPr>
          <p:cNvSpPr txBox="1"/>
          <p:nvPr/>
        </p:nvSpPr>
        <p:spPr>
          <a:xfrm>
            <a:off x="3245869" y="3857236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A5DAFB-437F-47A3-B567-545486D575B1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77FF754-CAB2-41A5-920E-C353DE7A2640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6BE5055-E7A0-413B-B1DA-E2CC95FD0B7F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93688F0-7450-48B6-8BE1-2F4C67F5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573" y="111409"/>
            <a:ext cx="2377646" cy="1310754"/>
          </a:xfrm>
          <a:prstGeom prst="rect">
            <a:avLst/>
          </a:prstGeom>
        </p:spPr>
      </p:pic>
      <p:sp>
        <p:nvSpPr>
          <p:cNvPr id="89" name="对话气泡: 圆角矩形 88">
            <a:extLst>
              <a:ext uri="{FF2B5EF4-FFF2-40B4-BE49-F238E27FC236}">
                <a16:creationId xmlns:a16="http://schemas.microsoft.com/office/drawing/2014/main" id="{84D49943-C6D8-4230-A96D-E84769CF560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1931"/>
              <a:gd name="adj2" fmla="val 310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32223095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（补充）习题</a:t>
            </a:r>
            <a:r>
              <a:rPr lang="en-US" altLang="zh-CN" sz="1600" b="1" dirty="0">
                <a:solidFill>
                  <a:srgbClr val="FF0000"/>
                </a:solidFill>
              </a:rPr>
              <a:t>4.7</a:t>
            </a:r>
            <a:r>
              <a:rPr lang="en-US" altLang="zh-CN" sz="1600" b="1" dirty="0"/>
              <a:t>    </a:t>
            </a:r>
            <a:r>
              <a:rPr lang="zh-CN" altLang="en-US" sz="1600" b="1" dirty="0"/>
              <a:t>某计算机字长为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位，请用</a:t>
            </a:r>
            <a:r>
              <a:rPr lang="en-US" altLang="zh-CN" sz="1600" b="1" dirty="0"/>
              <a:t>16Kx8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芯片和</a:t>
            </a:r>
            <a:r>
              <a:rPr lang="en-US" altLang="zh-CN" sz="1600" b="1" dirty="0"/>
              <a:t>32Kx16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芯片，为该计算机设计一个主存储器，其容量为</a:t>
            </a:r>
            <a:r>
              <a:rPr lang="en-US" altLang="zh-CN" sz="1600" b="1" dirty="0"/>
              <a:t>128Kx</a:t>
            </a:r>
            <a:r>
              <a:rPr lang="en-US" altLang="zh-CN" sz="1600" b="1" dirty="0">
                <a:solidFill>
                  <a:srgbClr val="FF0000"/>
                </a:solidFill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</a:rPr>
              <a:t>位</a:t>
            </a:r>
            <a:r>
              <a:rPr lang="zh-CN" altLang="en-US" sz="1600" b="1" dirty="0"/>
              <a:t>。要求</a:t>
            </a:r>
            <a:r>
              <a:rPr lang="en-US" altLang="zh-CN" sz="1600" b="1" dirty="0"/>
              <a:t>18000H</a:t>
            </a:r>
            <a:r>
              <a:rPr lang="zh-CN" altLang="en-US" sz="1600" b="1" dirty="0"/>
              <a:t>到</a:t>
            </a:r>
            <a:r>
              <a:rPr lang="en-US" altLang="zh-CN" sz="1600" b="1" dirty="0"/>
              <a:t>1FFFFH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区，其余为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区。画出存储器与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的连接。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18000H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1FFFFH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区；因此，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=32Kx16</a:t>
            </a:r>
            <a:r>
              <a:rPr lang="zh-CN" altLang="en-US" sz="1400" b="1" dirty="0"/>
              <a:t>位，需要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片</a:t>
            </a:r>
            <a:r>
              <a:rPr lang="en-US" altLang="zh-CN" sz="1400" b="1" dirty="0"/>
              <a:t>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=128Kx16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-32Kx16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=96Kx16</a:t>
            </a:r>
            <a:r>
              <a:rPr lang="zh-CN" altLang="en-US" sz="1400" b="1" dirty="0"/>
              <a:t>位，需要</a:t>
            </a:r>
            <a:r>
              <a:rPr lang="en-US" altLang="zh-CN" sz="1400" b="1" dirty="0"/>
              <a:t>(96Kx16)/(16Kx8)=</a:t>
            </a:r>
            <a:r>
              <a:rPr lang="en-US" altLang="zh-CN" sz="1400" b="1" dirty="0">
                <a:solidFill>
                  <a:srgbClr val="FF0000"/>
                </a:solidFill>
              </a:rPr>
              <a:t>12</a:t>
            </a:r>
            <a:r>
              <a:rPr lang="zh-CN" altLang="en-US" sz="1400" b="1" dirty="0">
                <a:solidFill>
                  <a:srgbClr val="FF0000"/>
                </a:solidFill>
              </a:rPr>
              <a:t>片</a:t>
            </a:r>
            <a:r>
              <a:rPr lang="en-US" altLang="zh-CN" sz="1400" b="1" dirty="0"/>
              <a:t>16Kx8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字位</a:t>
            </a:r>
            <a:r>
              <a:rPr lang="zh-CN" altLang="en-US" sz="1400" b="1" dirty="0"/>
              <a:t>同时扩展：</a:t>
            </a:r>
            <a:r>
              <a:rPr lang="en-US" altLang="zh-CN" sz="1400" b="1" dirty="0"/>
              <a:t>16K -&gt; 96K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solidFill>
                  <a:srgbClr val="C00000"/>
                </a:solidFill>
              </a:rPr>
              <a:t>字扩展，</a:t>
            </a:r>
            <a:r>
              <a:rPr lang="en-US" altLang="zh-CN" sz="1400" b="1" dirty="0">
                <a:solidFill>
                  <a:srgbClr val="C00000"/>
                </a:solidFill>
              </a:rPr>
              <a:t>6</a:t>
            </a:r>
            <a:r>
              <a:rPr lang="zh-CN" altLang="en-US" sz="1400" b="1" dirty="0">
                <a:solidFill>
                  <a:srgbClr val="C00000"/>
                </a:solidFill>
              </a:rPr>
              <a:t>组片选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-&gt; 16</a:t>
            </a:r>
            <a:r>
              <a:rPr lang="zh-CN" altLang="en-US" sz="1400" b="1" dirty="0"/>
              <a:t>位（</a:t>
            </a:r>
            <a:r>
              <a:rPr lang="zh-CN" altLang="en-US" sz="1400" b="1" dirty="0">
                <a:solidFill>
                  <a:srgbClr val="C00000"/>
                </a:solidFill>
              </a:rPr>
              <a:t>位扩展，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组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32Kx16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 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128Kx16</a:t>
            </a:r>
            <a:r>
              <a:rPr lang="zh-CN" altLang="en-US" sz="1400" b="1" dirty="0"/>
              <a:t>位的地址空间为：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，其中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17</a:t>
            </a:r>
            <a:r>
              <a:rPr lang="en-US" altLang="zh-CN" sz="1400" b="1" dirty="0"/>
              <a:t>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空间，</a:t>
            </a:r>
            <a:r>
              <a:rPr lang="en-US" altLang="zh-CN" sz="1400" b="1" dirty="0"/>
              <a:t>18000H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空间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0 00</a:t>
            </a:r>
            <a:r>
              <a:rPr lang="en-US" altLang="zh-CN" sz="1400" b="1" dirty="0"/>
              <a:t>00 0000 0000 0000 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0000"/>
                </a:solidFill>
              </a:rPr>
              <a:t>0 00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（第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0 01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0000"/>
                </a:solidFill>
              </a:rPr>
              <a:t> 0 01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0 10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FF0000"/>
                </a:solidFill>
              </a:rPr>
              <a:t>0 10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0 11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FF0000"/>
                </a:solidFill>
              </a:rPr>
              <a:t>0 11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1 00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FF0000"/>
                </a:solidFill>
              </a:rPr>
              <a:t>1 00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FF0000"/>
                </a:solidFill>
              </a:rPr>
              <a:t>1 01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FF0000"/>
                </a:solidFill>
              </a:rPr>
              <a:t>1 01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</a:t>
            </a:r>
            <a:r>
              <a:rPr lang="en-US" altLang="zh-CN" sz="1400" b="1" dirty="0">
                <a:solidFill>
                  <a:srgbClr val="7030A0"/>
                </a:solidFill>
              </a:rPr>
              <a:t> </a:t>
            </a:r>
            <a:r>
              <a:rPr lang="en-US" altLang="zh-CN" sz="1400" b="1" dirty="0"/>
              <a:t>1</a:t>
            </a:r>
            <a:r>
              <a:rPr lang="en-US" altLang="zh-CN" sz="1400" b="1" dirty="0">
                <a:solidFill>
                  <a:srgbClr val="C00000"/>
                </a:solidFill>
              </a:rPr>
              <a:t>000 0000 0000 0000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7030A0"/>
                </a:solidFill>
              </a:rPr>
              <a:t>1 1</a:t>
            </a:r>
            <a:r>
              <a:rPr lang="en-US" altLang="zh-CN" sz="1400" b="1" dirty="0"/>
              <a:t>111 1111 1111 1111       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芯片（</a:t>
            </a:r>
            <a:r>
              <a:rPr lang="en-US" altLang="zh-CN" sz="1400" b="1" dirty="0"/>
              <a:t>32K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/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</a:t>
            </a:r>
          </a:p>
          <a:p>
            <a:pPr lvl="2"/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</a:t>
            </a:r>
          </a:p>
          <a:p>
            <a:pPr lvl="1"/>
            <a:endParaRPr lang="en-US" altLang="zh-CN" sz="2000" b="1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0C1B106-EBAB-4ECC-BD87-E60DCFE47C04}"/>
              </a:ext>
            </a:extLst>
          </p:cNvPr>
          <p:cNvSpPr/>
          <p:nvPr/>
        </p:nvSpPr>
        <p:spPr>
          <a:xfrm>
            <a:off x="5148064" y="764704"/>
            <a:ext cx="3096344" cy="576064"/>
          </a:xfrm>
          <a:prstGeom prst="wedgeRoundRectCallout">
            <a:avLst>
              <a:gd name="adj1" fmla="val -37242"/>
              <a:gd name="adj2" fmla="val 870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1FFFFH-18000H+1=8000H=1000 0000 0000 0000B=2^16=32K</a:t>
            </a:r>
            <a:endParaRPr lang="zh-CN" altLang="en-US" sz="16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F30926C-7F20-4BF3-B422-137BBE88532B}"/>
              </a:ext>
            </a:extLst>
          </p:cNvPr>
          <p:cNvCxnSpPr>
            <a:cxnSpLocks/>
          </p:cNvCxnSpPr>
          <p:nvPr/>
        </p:nvCxnSpPr>
        <p:spPr>
          <a:xfrm flipV="1">
            <a:off x="3563888" y="2276872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236098-5456-4C72-9714-E71CDE8874A4}"/>
              </a:ext>
            </a:extLst>
          </p:cNvPr>
          <p:cNvCxnSpPr>
            <a:cxnSpLocks/>
          </p:cNvCxnSpPr>
          <p:nvPr/>
        </p:nvCxnSpPr>
        <p:spPr>
          <a:xfrm flipH="1" flipV="1">
            <a:off x="4788024" y="2276872"/>
            <a:ext cx="1224136" cy="36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8F81D4E-8EDD-4C2D-B12E-4456EB47703C}"/>
              </a:ext>
            </a:extLst>
          </p:cNvPr>
          <p:cNvSpPr/>
          <p:nvPr/>
        </p:nvSpPr>
        <p:spPr>
          <a:xfrm>
            <a:off x="6156176" y="4221089"/>
            <a:ext cx="2664296" cy="504055"/>
          </a:xfrm>
          <a:prstGeom prst="wedgeRoundRectCallout">
            <a:avLst>
              <a:gd name="adj1" fmla="val -46475"/>
              <a:gd name="adj2" fmla="val -752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96K=3*2^15=001 1 000 0 000 0 000 0 000=18000H-1=17FFFFH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92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BA06FE-B69E-4A5B-A8BF-1DD0D8F9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5205"/>
            <a:ext cx="8229600" cy="4525963"/>
          </a:xfrm>
        </p:spPr>
        <p:txBody>
          <a:bodyPr/>
          <a:lstStyle/>
          <a:p>
            <a:pPr lvl="1"/>
            <a:r>
              <a:rPr lang="zh-CN" altLang="en-US" sz="1400" b="1" dirty="0"/>
              <a:t>选用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译码器，将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根地址线的高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 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 </a:t>
            </a:r>
            <a:r>
              <a:rPr lang="zh-CN" altLang="en-US" sz="1400" b="1" dirty="0"/>
              <a:t>）接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译码器的输入（另一个输入为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）；译码器的输出为：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</a:t>
            </a:r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其中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分别接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芯片的片选，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6 </a:t>
            </a:r>
            <a:r>
              <a:rPr lang="zh-CN" altLang="en-US" sz="1400" b="1" dirty="0"/>
              <a:t>通过一个</a:t>
            </a:r>
            <a:r>
              <a:rPr lang="zh-CN" altLang="en-US" sz="1400" b="1" dirty="0">
                <a:solidFill>
                  <a:srgbClr val="FF0000"/>
                </a:solidFill>
              </a:rPr>
              <a:t>或门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芯片的片选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17</a:t>
            </a:r>
            <a:r>
              <a:rPr lang="zh-CN" altLang="en-US" sz="1400" b="1" dirty="0"/>
              <a:t>根地址线的低</a:t>
            </a:r>
            <a:r>
              <a:rPr lang="en-US" altLang="zh-CN" sz="1400" b="1" dirty="0"/>
              <a:t>14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芯片，低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芯片；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位数据线的高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芯片、低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位接另外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位数据线直接接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B17784-5B3C-496A-A6D9-7340BD1340FC}"/>
              </a:ext>
            </a:extLst>
          </p:cNvPr>
          <p:cNvSpPr txBox="1"/>
          <p:nvPr/>
        </p:nvSpPr>
        <p:spPr>
          <a:xfrm>
            <a:off x="7319771" y="3655656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7A664C-B2E7-4DE4-855B-1601B587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7766449" cy="41658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7747AF-0E42-4681-9D01-AFAD38254503}"/>
              </a:ext>
            </a:extLst>
          </p:cNvPr>
          <p:cNvSpPr txBox="1"/>
          <p:nvPr/>
        </p:nvSpPr>
        <p:spPr>
          <a:xfrm>
            <a:off x="2075553" y="5549128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529A7F-9701-4AA5-B371-CEEBB553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20" y="5504273"/>
            <a:ext cx="670072" cy="3139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A3D3D3-3F3F-4AE2-BDE9-030D40EAF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828" y="5355324"/>
            <a:ext cx="191020" cy="6951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6987828-0A48-4067-9E47-2ECD9B32B789}"/>
              </a:ext>
            </a:extLst>
          </p:cNvPr>
          <p:cNvSpPr txBox="1"/>
          <p:nvPr/>
        </p:nvSpPr>
        <p:spPr>
          <a:xfrm>
            <a:off x="3172173" y="5564375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E3B2DE1-58E2-4D9B-9DED-A744396CA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703" y="5504273"/>
            <a:ext cx="958899" cy="41277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0B88E66-494C-4D78-A195-3D7A9814393B}"/>
              </a:ext>
            </a:extLst>
          </p:cNvPr>
          <p:cNvSpPr txBox="1"/>
          <p:nvPr/>
        </p:nvSpPr>
        <p:spPr>
          <a:xfrm>
            <a:off x="4771524" y="5561704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1A28941-9D9B-40B4-B9C3-DE275370F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99" y="5367900"/>
            <a:ext cx="191020" cy="69510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85E9A85-FF85-42D5-8140-9BF2A9ACD013}"/>
              </a:ext>
            </a:extLst>
          </p:cNvPr>
          <p:cNvSpPr txBox="1"/>
          <p:nvPr/>
        </p:nvSpPr>
        <p:spPr>
          <a:xfrm>
            <a:off x="5868144" y="5576951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52921F-3E62-44F7-8694-79F27565C428}"/>
              </a:ext>
            </a:extLst>
          </p:cNvPr>
          <p:cNvSpPr txBox="1"/>
          <p:nvPr/>
        </p:nvSpPr>
        <p:spPr>
          <a:xfrm>
            <a:off x="7524328" y="3506324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5DD96-0D99-4E34-B585-3F327F885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44" y="1993510"/>
            <a:ext cx="4968671" cy="563929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15FD477-5799-42D7-8ED9-4D314611A3E8}"/>
              </a:ext>
            </a:extLst>
          </p:cNvPr>
          <p:cNvSpPr/>
          <p:nvPr/>
        </p:nvSpPr>
        <p:spPr>
          <a:xfrm>
            <a:off x="8039851" y="2554810"/>
            <a:ext cx="996764" cy="615063"/>
          </a:xfrm>
          <a:prstGeom prst="wedgeRoundRectCallout">
            <a:avLst>
              <a:gd name="adj1" fmla="val -78308"/>
              <a:gd name="adj2" fmla="val 780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 Y6&amp;Y7=0</a:t>
            </a:r>
          </a:p>
          <a:p>
            <a:pPr algn="ctr"/>
            <a:r>
              <a:rPr lang="en-US" altLang="zh-CN" sz="1400" dirty="0"/>
              <a:t>CS=0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455949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9532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通常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的速度很快，相比之下主存的速度不够快，因此主存的存取速度已经成为提升计算机系统性能的</a:t>
            </a:r>
            <a:r>
              <a:rPr lang="zh-CN" altLang="en-US" sz="1600" b="1" dirty="0">
                <a:solidFill>
                  <a:srgbClr val="FF0000"/>
                </a:solidFill>
              </a:rPr>
              <a:t>瓶颈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1600" b="1" dirty="0"/>
              <a:t>除了可以通过采用</a:t>
            </a:r>
            <a:r>
              <a:rPr lang="zh-CN" altLang="en-US" sz="1600" b="1" dirty="0">
                <a:solidFill>
                  <a:srgbClr val="FF0000"/>
                </a:solidFill>
              </a:rPr>
              <a:t>高速器件</a:t>
            </a:r>
            <a:r>
              <a:rPr lang="zh-CN" altLang="en-US" sz="1600" b="1" dirty="0"/>
              <a:t>（如果</a:t>
            </a:r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DDR SDRAM</a:t>
            </a:r>
            <a:r>
              <a:rPr lang="zh-CN" altLang="en-US" sz="1600" b="1" dirty="0"/>
              <a:t>等）来提高存储器访问速度外，还可以通过存储体的</a:t>
            </a:r>
            <a:r>
              <a:rPr lang="zh-CN" altLang="en-US" sz="1600" b="1" dirty="0">
                <a:solidFill>
                  <a:srgbClr val="FF0000"/>
                </a:solidFill>
              </a:rPr>
              <a:t>并行</a:t>
            </a:r>
            <a:r>
              <a:rPr lang="zh-CN" altLang="en-US" sz="1600" b="1" dirty="0"/>
              <a:t>工作来提高存储器的访问速度</a:t>
            </a:r>
            <a:endParaRPr lang="en-US" altLang="zh-CN" sz="1600" b="1" dirty="0"/>
          </a:p>
          <a:p>
            <a:pPr eaLnBrk="1" hangingPunct="1"/>
            <a:r>
              <a:rPr lang="zh-CN" altLang="en-US" sz="1600" b="1" dirty="0">
                <a:highlight>
                  <a:srgbClr val="FFFF00"/>
                </a:highlight>
              </a:rPr>
              <a:t>第</a:t>
            </a:r>
            <a:r>
              <a:rPr lang="en-US" altLang="zh-CN" sz="1600" b="1" dirty="0">
                <a:highlight>
                  <a:srgbClr val="FFFF00"/>
                </a:highlight>
              </a:rPr>
              <a:t>3</a:t>
            </a:r>
            <a:r>
              <a:rPr lang="zh-CN" altLang="en-US" sz="1600" b="1" dirty="0">
                <a:highlight>
                  <a:srgbClr val="FFFF00"/>
                </a:highlight>
              </a:rPr>
              <a:t>章</a:t>
            </a:r>
            <a:r>
              <a:rPr lang="en-US" altLang="zh-CN" sz="1600" b="1" dirty="0">
                <a:highlight>
                  <a:srgbClr val="FFFF00"/>
                </a:highlight>
              </a:rPr>
              <a:t>---</a:t>
            </a:r>
            <a:r>
              <a:rPr lang="zh-CN" altLang="en-US" sz="1600" b="1" dirty="0">
                <a:highlight>
                  <a:srgbClr val="FFFF00"/>
                </a:highlight>
              </a:rPr>
              <a:t>存储系统</a:t>
            </a:r>
            <a:r>
              <a:rPr lang="en-US" altLang="zh-CN" sz="1600" b="1" dirty="0">
                <a:highlight>
                  <a:srgbClr val="FFFF00"/>
                </a:highlight>
              </a:rPr>
              <a:t>_</a:t>
            </a:r>
            <a:r>
              <a:rPr lang="zh-CN" altLang="en-US" sz="1600" b="1" dirty="0">
                <a:highlight>
                  <a:srgbClr val="FFFF00"/>
                </a:highlight>
              </a:rPr>
              <a:t>单体多字存储器</a:t>
            </a:r>
            <a:r>
              <a:rPr lang="en-US" altLang="zh-CN" sz="1600" b="1" dirty="0">
                <a:highlight>
                  <a:srgbClr val="FFFF00"/>
                </a:highlight>
              </a:rPr>
              <a:t>-CSDN</a:t>
            </a:r>
            <a:r>
              <a:rPr lang="zh-CN" altLang="en-US" sz="1600" b="1" dirty="0">
                <a:highlight>
                  <a:srgbClr val="FFFF00"/>
                </a:highlight>
              </a:rPr>
              <a:t>博客  </a:t>
            </a:r>
            <a:r>
              <a:rPr lang="en-US" altLang="zh-CN" sz="1600" b="1" dirty="0">
                <a:highlight>
                  <a:srgbClr val="FFFF00"/>
                </a:highlight>
              </a:rPr>
              <a:t>https://blog.csdn.net/weixin_40491661/article/details/123259154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、双端口存储器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有两个相互独立的端口（左</a:t>
            </a:r>
            <a:r>
              <a:rPr lang="en-US" altLang="zh-CN" sz="1400" b="1" dirty="0"/>
              <a:t>L</a:t>
            </a:r>
            <a:r>
              <a:rPr lang="zh-CN" altLang="en-US" sz="1400" b="1" dirty="0"/>
              <a:t>、右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MAR</a:t>
            </a:r>
            <a:r>
              <a:rPr lang="zh-CN" altLang="en-US" sz="1400" b="1" dirty="0"/>
              <a:t>：存储器地址寄存器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MDR</a:t>
            </a:r>
            <a:r>
              <a:rPr lang="zh-CN" altLang="en-US" sz="1400" b="1" dirty="0"/>
              <a:t>：存储器数据寄存器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Read</a:t>
            </a:r>
            <a:r>
              <a:rPr lang="zh-CN" altLang="en-US" sz="1400" b="1" dirty="0"/>
              <a:t>：读控制信号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Write</a:t>
            </a:r>
            <a:r>
              <a:rPr lang="zh-CN" altLang="en-US" sz="1400" b="1" dirty="0"/>
              <a:t>：写控制信号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/Busy</a:t>
            </a:r>
            <a:r>
              <a:rPr lang="zh-CN" altLang="en-US" sz="1400" b="1" dirty="0"/>
              <a:t>：忙信号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600" b="1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5310831-51B6-4304-96C4-B240FE646917}"/>
              </a:ext>
            </a:extLst>
          </p:cNvPr>
          <p:cNvGrpSpPr/>
          <p:nvPr/>
        </p:nvGrpSpPr>
        <p:grpSpPr>
          <a:xfrm>
            <a:off x="5146797" y="3717032"/>
            <a:ext cx="2953595" cy="3016251"/>
            <a:chOff x="5146797" y="3717032"/>
            <a:chExt cx="2953595" cy="3016251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8B3893C-22C8-44FC-8811-2A0D27DFDAAD}"/>
                </a:ext>
              </a:extLst>
            </p:cNvPr>
            <p:cNvGrpSpPr/>
            <p:nvPr/>
          </p:nvGrpSpPr>
          <p:grpSpPr>
            <a:xfrm>
              <a:off x="5146797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36FEBAC-8681-46AF-95DA-997E6ADD8D96}"/>
                  </a:ext>
                </a:extLst>
              </p:cNvPr>
              <p:cNvGrpSpPr/>
              <p:nvPr/>
            </p:nvGrpSpPr>
            <p:grpSpPr>
              <a:xfrm>
                <a:off x="5433124" y="3717032"/>
                <a:ext cx="792088" cy="1944216"/>
                <a:chOff x="5433124" y="3933056"/>
                <a:chExt cx="792088" cy="1728192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C98F8CD-DFAB-464A-B96E-52ABC2D56A5A}"/>
                    </a:ext>
                  </a:extLst>
                </p:cNvPr>
                <p:cNvSpPr/>
                <p:nvPr/>
              </p:nvSpPr>
              <p:spPr>
                <a:xfrm>
                  <a:off x="5433124" y="3933056"/>
                  <a:ext cx="792088" cy="172819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C2D7349-B1CF-4E4D-9FEF-87103E22D6D1}"/>
                    </a:ext>
                  </a:extLst>
                </p:cNvPr>
                <p:cNvSpPr txBox="1"/>
                <p:nvPr/>
              </p:nvSpPr>
              <p:spPr>
                <a:xfrm>
                  <a:off x="5506002" y="4592161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EE56B572-C868-4F6E-889C-C91542D688D7}"/>
                  </a:ext>
                </a:extLst>
              </p:cNvPr>
              <p:cNvGrpSpPr/>
              <p:nvPr/>
            </p:nvGrpSpPr>
            <p:grpSpPr>
              <a:xfrm>
                <a:off x="4355976" y="3717032"/>
                <a:ext cx="2953595" cy="2604710"/>
                <a:chOff x="4355976" y="3717032"/>
                <a:chExt cx="2953595" cy="2604710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5E1DBB3E-66B3-4C86-A602-728DFF1F1338}"/>
                    </a:ext>
                  </a:extLst>
                </p:cNvPr>
                <p:cNvGrpSpPr/>
                <p:nvPr/>
              </p:nvGrpSpPr>
              <p:grpSpPr>
                <a:xfrm>
                  <a:off x="4355976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148E39BF-DE14-4230-9D0D-3287181DB02E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AE053320-F2C4-4BC6-8C19-2CDEF4064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348DA9CD-A336-4E51-8440-FCC97C52CC49}"/>
                    </a:ext>
                  </a:extLst>
                </p:cNvPr>
                <p:cNvGrpSpPr/>
                <p:nvPr/>
              </p:nvGrpSpPr>
              <p:grpSpPr>
                <a:xfrm>
                  <a:off x="4355976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B72399AA-840B-4609-A830-EDF1DAECC78F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5DFB5CC9-36EC-415A-9A55-4691A86FF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0045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4D34154D-ED09-4BD3-A7B2-3A8343A86381}"/>
                    </a:ext>
                  </a:extLst>
                </p:cNvPr>
                <p:cNvGrpSpPr/>
                <p:nvPr/>
              </p:nvGrpSpPr>
              <p:grpSpPr>
                <a:xfrm>
                  <a:off x="6588224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88071CBB-C462-441A-964F-6CA96B0466F6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B53C4ECB-0B5E-48DA-A90B-A8E291C0695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0076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915F1759-83DA-4467-8C14-7FDD56873C94}"/>
                    </a:ext>
                  </a:extLst>
                </p:cNvPr>
                <p:cNvGrpSpPr/>
                <p:nvPr/>
              </p:nvGrpSpPr>
              <p:grpSpPr>
                <a:xfrm>
                  <a:off x="6589491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B3D4DFFC-2857-407F-8752-AC940CB412E5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6A29CDFB-B0DB-4991-BC23-86FA5DEA6EA6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id="{88D739C5-3FA1-4D82-A7B0-2BBAF19B7D7E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>
                  <a:off x="5076056" y="488296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DA64595E-B5C6-4F30-914A-4672FEFCC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4683" y="5458007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30D20772-35A0-49BC-9EF4-BDFFBACBC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5212" y="4886818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5FC8F59A-A505-4252-83DB-06071346E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2225" y="547352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74104630-E52E-4732-895D-C1EC2066A1B1}"/>
                    </a:ext>
                  </a:extLst>
                </p:cNvPr>
                <p:cNvCxnSpPr/>
                <p:nvPr/>
              </p:nvCxnSpPr>
              <p:spPr>
                <a:xfrm>
                  <a:off x="5029416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CF87E1EE-1C27-4570-9BDA-9C25486BBCD3}"/>
                    </a:ext>
                  </a:extLst>
                </p:cNvPr>
                <p:cNvCxnSpPr/>
                <p:nvPr/>
              </p:nvCxnSpPr>
              <p:spPr>
                <a:xfrm>
                  <a:off x="5030628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35FE1938-8743-4839-AD2A-62E27B1B8E92}"/>
                    </a:ext>
                  </a:extLst>
                </p:cNvPr>
                <p:cNvCxnSpPr/>
                <p:nvPr/>
              </p:nvCxnSpPr>
              <p:spPr>
                <a:xfrm>
                  <a:off x="5025312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A2D3B8BE-F5B2-4BA6-8407-287677A18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2977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68095BD-203B-4C11-983B-A3D61064D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DE187B32-A846-45CA-9E18-11D753EB3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542325ED-140B-485D-9FF8-A1424F456B3F}"/>
                    </a:ext>
                  </a:extLst>
                </p:cNvPr>
                <p:cNvGrpSpPr/>
                <p:nvPr/>
              </p:nvGrpSpPr>
              <p:grpSpPr>
                <a:xfrm>
                  <a:off x="4554444" y="3717032"/>
                  <a:ext cx="2728340" cy="2604710"/>
                  <a:chOff x="4554444" y="3717032"/>
                  <a:chExt cx="2728340" cy="2604710"/>
                </a:xfrm>
              </p:grpSpPr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725CB4F-6D9F-4C1B-8C59-180E0089AA4C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444" y="3717032"/>
                    <a:ext cx="48923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A2EF99C7-8A56-4343-917A-4CBF8B83B8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40" y="3717032"/>
                    <a:ext cx="50045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FB2CABC-571F-4967-A97C-F873F53F0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3934755"/>
                    <a:ext cx="52450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BE339950-FA06-421D-B6C4-9438567B8135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4149080"/>
                    <a:ext cx="40427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629BD6F3-F659-4095-BE83-C3AF13BA3CBC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060" y="3929439"/>
                    <a:ext cx="535724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5B5A40F-9A19-47D2-B71D-BA8A02B7C5FA}"/>
                      </a:ext>
                    </a:extLst>
                  </p:cNvPr>
                  <p:cNvSpPr txBox="1"/>
                  <p:nvPr/>
                </p:nvSpPr>
                <p:spPr>
                  <a:xfrm>
                    <a:off x="6752376" y="4154396"/>
                    <a:ext cx="41549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R</a:t>
                    </a:r>
                    <a:endParaRPr lang="zh-CN" altLang="en-US" sz="1000" b="1" baseline="-25000" dirty="0"/>
                  </a:p>
                </p:txBody>
              </p: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5F85C312-EEF5-46E1-A3A7-B268B00EBE3A}"/>
                      </a:ext>
                    </a:extLst>
                  </p:cNvPr>
                  <p:cNvGrpSpPr/>
                  <p:nvPr/>
                </p:nvGrpSpPr>
                <p:grpSpPr>
                  <a:xfrm>
                    <a:off x="6012160" y="5639984"/>
                    <a:ext cx="420675" cy="351656"/>
                    <a:chOff x="6012160" y="5639984"/>
                    <a:chExt cx="420675" cy="351656"/>
                  </a:xfrm>
                </p:grpSpPr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E43068F2-3BB0-41FC-A0CD-B31D8946C8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接箭头连接符 43">
                      <a:extLst>
                        <a:ext uri="{FF2B5EF4-FFF2-40B4-BE49-F238E27FC236}">
                          <a16:creationId xmlns:a16="http://schemas.microsoft.com/office/drawing/2014/main" id="{8365F9C8-A0A1-40B3-81F1-E60D4F2092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53F83987-C13B-45B1-832A-543DC27323E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235649" y="5661248"/>
                    <a:ext cx="380202" cy="351656"/>
                    <a:chOff x="6012160" y="5639984"/>
                    <a:chExt cx="420675" cy="351656"/>
                  </a:xfrm>
                </p:grpSpPr>
                <p:cxnSp>
                  <p:nvCxnSpPr>
                    <p:cNvPr id="48" name="直接箭头连接符 47">
                      <a:extLst>
                        <a:ext uri="{FF2B5EF4-FFF2-40B4-BE49-F238E27FC236}">
                          <a16:creationId xmlns:a16="http://schemas.microsoft.com/office/drawing/2014/main" id="{9EE7BF9F-3F05-4912-BEAC-4E6AB776E8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箭头连接符 48">
                      <a:extLst>
                        <a:ext uri="{FF2B5EF4-FFF2-40B4-BE49-F238E27FC236}">
                          <a16:creationId xmlns:a16="http://schemas.microsoft.com/office/drawing/2014/main" id="{BF7C78EB-E968-4E04-9CF7-09195567A5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6BB3379D-4466-49D7-9C62-F18D16790CF4}"/>
                      </a:ext>
                    </a:extLst>
                  </p:cNvPr>
                  <p:cNvSpPr txBox="1"/>
                  <p:nvPr/>
                </p:nvSpPr>
                <p:spPr>
                  <a:xfrm>
                    <a:off x="4739537" y="6040914"/>
                    <a:ext cx="529312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0A1EC552-5889-4B49-B05C-A583343FB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965" y="6075521"/>
                    <a:ext cx="54053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</p:grpSp>
          </p:grp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DE110E7-1D2F-4B82-80A2-C862F8EFA725}"/>
                </a:ext>
              </a:extLst>
            </p:cNvPr>
            <p:cNvSpPr txBox="1"/>
            <p:nvPr/>
          </p:nvSpPr>
          <p:spPr>
            <a:xfrm>
              <a:off x="5398462" y="6456284"/>
              <a:ext cx="24705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4.27    </a:t>
              </a:r>
              <a:r>
                <a:rPr lang="zh-CN" altLang="en-US" sz="1200" b="1" dirty="0"/>
                <a:t>双端口存储器结构示意图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6336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28AD9-9425-4EB0-8341-52C827AA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）并行读写</a:t>
            </a:r>
            <a:endParaRPr lang="en-US" altLang="zh-CN" sz="1800" b="1" dirty="0"/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当左右两个端口的地址不同时，两个端口使用各自的地址线、数据线和控制线，此时可以</a:t>
            </a:r>
            <a:r>
              <a:rPr lang="zh-CN" altLang="en-US" sz="1400" b="1" dirty="0">
                <a:solidFill>
                  <a:srgbClr val="FF0000"/>
                </a:solidFill>
              </a:rPr>
              <a:t>同时</a:t>
            </a:r>
            <a:r>
              <a:rPr lang="zh-CN" altLang="en-US" sz="1400" b="1" dirty="0"/>
              <a:t>对存储体的两个不同的存储单元进行访问（读写）</a:t>
            </a:r>
            <a:endParaRPr lang="en-US" altLang="zh-CN" sz="14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）冲突处理</a:t>
            </a:r>
            <a:endParaRPr lang="en-US" altLang="zh-CN" sz="1800" b="1" dirty="0"/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当左右两个端口的地址相同时，将发生冲突（因为存储体不允许同时对同一个存储单元进行读写操作）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此时由判断逻辑决定是哪一个端口先访问存储体，如左边的端口先访问存储体，然后将右边端口的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zh-CN" altLang="en-US" sz="1400" b="1" dirty="0"/>
              <a:t>置为低电平（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，表示右边的端口不能访问存储体）；等左边的端口访问结束后，再将右边端口的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zh-CN" altLang="en-US" sz="1400" b="1" dirty="0"/>
              <a:t>置为高电平（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，表示右边的端口可以访问存储体）</a:t>
            </a:r>
            <a:endParaRPr lang="zh-CN" altLang="en-US" sz="1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915C1C-71D5-467F-8025-4C6DC67ED2F9}"/>
              </a:ext>
            </a:extLst>
          </p:cNvPr>
          <p:cNvGrpSpPr/>
          <p:nvPr/>
        </p:nvGrpSpPr>
        <p:grpSpPr>
          <a:xfrm>
            <a:off x="3347864" y="3789040"/>
            <a:ext cx="2953595" cy="2604710"/>
            <a:chOff x="4355976" y="3717032"/>
            <a:chExt cx="2953595" cy="26047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98057EA-C9C9-4BF6-AE52-C6128B7B85B8}"/>
                </a:ext>
              </a:extLst>
            </p:cNvPr>
            <p:cNvGrpSpPr/>
            <p:nvPr/>
          </p:nvGrpSpPr>
          <p:grpSpPr>
            <a:xfrm>
              <a:off x="5433124" y="3717032"/>
              <a:ext cx="792088" cy="1944216"/>
              <a:chOff x="5433124" y="3933056"/>
              <a:chExt cx="792088" cy="172819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DC5B336-671C-45D9-91E9-81E1D515BC92}"/>
                  </a:ext>
                </a:extLst>
              </p:cNvPr>
              <p:cNvSpPr/>
              <p:nvPr/>
            </p:nvSpPr>
            <p:spPr>
              <a:xfrm>
                <a:off x="5433124" y="3933056"/>
                <a:ext cx="792088" cy="172819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3D63A9-9470-43FE-AF57-CAA6865F935F}"/>
                  </a:ext>
                </a:extLst>
              </p:cNvPr>
              <p:cNvSpPr txBox="1"/>
              <p:nvPr/>
            </p:nvSpPr>
            <p:spPr>
              <a:xfrm>
                <a:off x="5506002" y="4592161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存储体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2958D00-89F9-4AAF-9D87-B33483A92E56}"/>
                </a:ext>
              </a:extLst>
            </p:cNvPr>
            <p:cNvGrpSpPr/>
            <p:nvPr/>
          </p:nvGrpSpPr>
          <p:grpSpPr>
            <a:xfrm>
              <a:off x="4355976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0391577-29F4-4320-82FF-89E623C4E513}"/>
                  </a:ext>
                </a:extLst>
              </p:cNvPr>
              <p:cNvGrpSpPr/>
              <p:nvPr/>
            </p:nvGrpSpPr>
            <p:grpSpPr>
              <a:xfrm>
                <a:off x="4355976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482CF29-3AEF-4FD9-ADF8-7A20F3742E5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94C2590-BB03-4049-AA1A-5FE500CDC546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533B36C-56DB-4868-B182-8DD3D18EE5D0}"/>
                  </a:ext>
                </a:extLst>
              </p:cNvPr>
              <p:cNvGrpSpPr/>
              <p:nvPr/>
            </p:nvGrpSpPr>
            <p:grpSpPr>
              <a:xfrm>
                <a:off x="4355976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D59123B-9808-487A-B102-FE8F5F48DE91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6CF95D-D0FF-4BF9-90BA-552F7E83BB62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004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80F0531-BFF5-47DC-9BA7-2941B87739A7}"/>
                  </a:ext>
                </a:extLst>
              </p:cNvPr>
              <p:cNvGrpSpPr/>
              <p:nvPr/>
            </p:nvGrpSpPr>
            <p:grpSpPr>
              <a:xfrm>
                <a:off x="6588224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417AD4B1-516E-499F-B057-69DEFB0A029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F618181-D3AC-40E1-AF7F-2D43CC6AB9A5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007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46E5E2E-D2D3-4FA6-9209-F80E12D4AD4C}"/>
                  </a:ext>
                </a:extLst>
              </p:cNvPr>
              <p:cNvGrpSpPr/>
              <p:nvPr/>
            </p:nvGrpSpPr>
            <p:grpSpPr>
              <a:xfrm>
                <a:off x="6589491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368A99F4-8D17-45A2-BA5A-20740ABB986B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CA8509-5574-4E31-B6D9-AE65D67F162C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77737AC-C4CF-4161-AD6D-33DA824E2EE5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>
                <a:off x="5076056" y="488296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EA76E94B-F3E4-4C87-B483-93804C0516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683" y="5458007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538DDA62-12BB-4F33-934B-EC17107D1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5212" y="4886818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2C04573-189A-467B-BF15-BF03A5BA7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2225" y="547352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449491BA-14EC-4D75-81E5-FE6D4948E41A}"/>
                  </a:ext>
                </a:extLst>
              </p:cNvPr>
              <p:cNvCxnSpPr/>
              <p:nvPr/>
            </p:nvCxnSpPr>
            <p:spPr>
              <a:xfrm>
                <a:off x="5029416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F1EFC88-9E9C-425E-AC90-F9AF8B25DF8E}"/>
                  </a:ext>
                </a:extLst>
              </p:cNvPr>
              <p:cNvCxnSpPr/>
              <p:nvPr/>
            </p:nvCxnSpPr>
            <p:spPr>
              <a:xfrm>
                <a:off x="5030628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15CC5CAD-93EC-46F0-986F-BF68A8F4BDA2}"/>
                  </a:ext>
                </a:extLst>
              </p:cNvPr>
              <p:cNvCxnSpPr/>
              <p:nvPr/>
            </p:nvCxnSpPr>
            <p:spPr>
              <a:xfrm>
                <a:off x="5025312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5D48DA84-024B-4F32-9DCC-718DD43377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2977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4B75852-FBAF-4E50-96B3-09285E55AB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73839AA7-AFD2-4B50-9152-B09F502F652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1CD423A-90E6-4C57-A678-4C7DFC1D3848}"/>
                  </a:ext>
                </a:extLst>
              </p:cNvPr>
              <p:cNvGrpSpPr/>
              <p:nvPr/>
            </p:nvGrpSpPr>
            <p:grpSpPr>
              <a:xfrm>
                <a:off x="4554444" y="3717032"/>
                <a:ext cx="2728340" cy="2604710"/>
                <a:chOff x="4554444" y="3717032"/>
                <a:chExt cx="2728340" cy="2604710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B5C3E-8D8F-4353-94C9-FF532C762048}"/>
                    </a:ext>
                  </a:extLst>
                </p:cNvPr>
                <p:cNvSpPr txBox="1"/>
                <p:nvPr/>
              </p:nvSpPr>
              <p:spPr>
                <a:xfrm>
                  <a:off x="4554444" y="3717032"/>
                  <a:ext cx="48923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00A691-B74D-4004-AA89-50B21490F41D}"/>
                    </a:ext>
                  </a:extLst>
                </p:cNvPr>
                <p:cNvSpPr txBox="1"/>
                <p:nvPr/>
              </p:nvSpPr>
              <p:spPr>
                <a:xfrm>
                  <a:off x="6732240" y="3717032"/>
                  <a:ext cx="50045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5365EED-5C01-4BC4-B2A1-67AEE07C954E}"/>
                    </a:ext>
                  </a:extLst>
                </p:cNvPr>
                <p:cNvSpPr txBox="1"/>
                <p:nvPr/>
              </p:nvSpPr>
              <p:spPr>
                <a:xfrm>
                  <a:off x="4572000" y="3934755"/>
                  <a:ext cx="5245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D6C65D-F971-4C3F-AEFF-B993F695EEEC}"/>
                    </a:ext>
                  </a:extLst>
                </p:cNvPr>
                <p:cNvSpPr txBox="1"/>
                <p:nvPr/>
              </p:nvSpPr>
              <p:spPr>
                <a:xfrm>
                  <a:off x="4572000" y="4149080"/>
                  <a:ext cx="4042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B44908E-01D2-4DD9-8008-F4301F736902}"/>
                    </a:ext>
                  </a:extLst>
                </p:cNvPr>
                <p:cNvSpPr txBox="1"/>
                <p:nvPr/>
              </p:nvSpPr>
              <p:spPr>
                <a:xfrm>
                  <a:off x="6747060" y="3929439"/>
                  <a:ext cx="5357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D396B8D-C31A-4936-B6C0-5509ECF8722F}"/>
                    </a:ext>
                  </a:extLst>
                </p:cNvPr>
                <p:cNvSpPr txBox="1"/>
                <p:nvPr/>
              </p:nvSpPr>
              <p:spPr>
                <a:xfrm>
                  <a:off x="6752376" y="4154396"/>
                  <a:ext cx="4154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R</a:t>
                  </a:r>
                  <a:endParaRPr lang="zh-CN" altLang="en-US" sz="1000" b="1" baseline="-25000" dirty="0"/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D6C04520-CCDD-4C2F-9CC8-399B687C5CCB}"/>
                    </a:ext>
                  </a:extLst>
                </p:cNvPr>
                <p:cNvGrpSpPr/>
                <p:nvPr/>
              </p:nvGrpSpPr>
              <p:grpSpPr>
                <a:xfrm>
                  <a:off x="6012160" y="5639984"/>
                  <a:ext cx="420675" cy="351656"/>
                  <a:chOff x="6012160" y="5639984"/>
                  <a:chExt cx="420675" cy="351656"/>
                </a:xfrm>
              </p:grpSpPr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3AEE3D4B-5943-4FD3-A54D-F52D62909B8A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B7FDB875-09B3-482A-B99A-827148F59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3A275164-1A79-4B4C-BD59-E4F7F723193D}"/>
                    </a:ext>
                  </a:extLst>
                </p:cNvPr>
                <p:cNvGrpSpPr/>
                <p:nvPr/>
              </p:nvGrpSpPr>
              <p:grpSpPr>
                <a:xfrm flipH="1">
                  <a:off x="5235649" y="5661248"/>
                  <a:ext cx="380202" cy="351656"/>
                  <a:chOff x="6012160" y="5639984"/>
                  <a:chExt cx="420675" cy="351656"/>
                </a:xfrm>
              </p:grpSpPr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1F0F4B35-2550-49E1-8701-975E1A824A05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>
                    <a:extLst>
                      <a:ext uri="{FF2B5EF4-FFF2-40B4-BE49-F238E27FC236}">
                        <a16:creationId xmlns:a16="http://schemas.microsoft.com/office/drawing/2014/main" id="{CE82F1C0-759E-417D-94D0-1FE9900D6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15B726E-632B-4E4C-9FAB-82E80FC968B8}"/>
                    </a:ext>
                  </a:extLst>
                </p:cNvPr>
                <p:cNvSpPr txBox="1"/>
                <p:nvPr/>
              </p:nvSpPr>
              <p:spPr>
                <a:xfrm>
                  <a:off x="4739537" y="6040914"/>
                  <a:ext cx="5293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A5D572-003E-48F7-8F95-1E4D08543745}"/>
                    </a:ext>
                  </a:extLst>
                </p:cNvPr>
                <p:cNvSpPr txBox="1"/>
                <p:nvPr/>
              </p:nvSpPr>
              <p:spPr>
                <a:xfrm>
                  <a:off x="6211965" y="6075521"/>
                  <a:ext cx="54053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</p:grp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E251E28-14E3-4384-B12D-F77A36A97F57}"/>
              </a:ext>
            </a:extLst>
          </p:cNvPr>
          <p:cNvSpPr txBox="1"/>
          <p:nvPr/>
        </p:nvSpPr>
        <p:spPr>
          <a:xfrm>
            <a:off x="3685650" y="6456284"/>
            <a:ext cx="24705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4.27    </a:t>
            </a:r>
            <a:r>
              <a:rPr lang="zh-CN" altLang="en-US" sz="1200" b="1" dirty="0"/>
              <a:t>双端口存储器结构示意图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881142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、单体多字存储器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单体多字存储器的结构与存储器</a:t>
            </a:r>
            <a:r>
              <a:rPr lang="zh-CN" altLang="en-US" sz="1400" b="1" dirty="0">
                <a:solidFill>
                  <a:srgbClr val="FF0000"/>
                </a:solidFill>
              </a:rPr>
              <a:t>位扩展方式</a:t>
            </a:r>
            <a:r>
              <a:rPr lang="zh-CN" altLang="en-US" sz="1400" b="1" dirty="0"/>
              <a:t>完全相同，此时多个存储模块（图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个存储模块，右图有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个存储模块）共享地址总线，可以实现同时访问多个存储模块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单体多字系统的特点是存储器中</a:t>
            </a:r>
            <a:r>
              <a:rPr lang="zh-CN" altLang="en-US" sz="1400" b="1" dirty="0">
                <a:highlight>
                  <a:srgbClr val="FFFF00"/>
                </a:highlight>
              </a:rPr>
              <a:t>只有一个</a:t>
            </a:r>
            <a:r>
              <a:rPr lang="zh-CN" altLang="en-US" sz="1400" b="1" dirty="0"/>
              <a:t>存储体，每个存储单元</a:t>
            </a:r>
            <a:r>
              <a:rPr lang="zh-CN" altLang="en-US" sz="1400" b="1" dirty="0">
                <a:highlight>
                  <a:srgbClr val="FFFF00"/>
                </a:highlight>
              </a:rPr>
              <a:t>存储</a:t>
            </a:r>
            <a:r>
              <a:rPr lang="en-US" altLang="zh-CN" sz="1400" b="1" dirty="0">
                <a:highlight>
                  <a:srgbClr val="FFFF00"/>
                </a:highlight>
              </a:rPr>
              <a:t>m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zh-CN" altLang="en-US" sz="1400" b="1" dirty="0"/>
              <a:t>，总线宽度也为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个字。一次并行读出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个字，地址必须顺序排列并处于同一存储单元。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highlight>
                  <a:srgbClr val="FFFF00"/>
                </a:highlight>
              </a:rPr>
              <a:t>缺点：</a:t>
            </a:r>
            <a:r>
              <a:rPr lang="zh-CN" altLang="en-US" sz="1400" b="1" dirty="0"/>
              <a:t>指令和数据在主存内必须是连续存放的，一旦遇到转移指令，或操作数不能连续存放，这种方法的效果就不明显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solidFill>
                  <a:srgbClr val="FF0000"/>
                </a:solidFill>
              </a:rPr>
              <a:t>多通道内存技术</a:t>
            </a:r>
            <a:r>
              <a:rPr lang="zh-CN" altLang="en-US" sz="1400" b="1" dirty="0"/>
              <a:t>：就是采用单体多字技术，常见的有双通道、三通道、四通道技术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341BAFA-AE24-4793-B931-B0D31770AB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t="563" r="800"/>
          <a:stretch/>
        </p:blipFill>
        <p:spPr>
          <a:xfrm>
            <a:off x="1331640" y="4843920"/>
            <a:ext cx="1942761" cy="1473683"/>
          </a:xfrm>
          <a:prstGeom prst="rect">
            <a:avLst/>
          </a:prstGeom>
          <a:ln>
            <a:noFill/>
          </a:ln>
        </p:spPr>
      </p:pic>
      <p:pic>
        <p:nvPicPr>
          <p:cNvPr id="55" name="内容占位符 4">
            <a:extLst>
              <a:ext uri="{FF2B5EF4-FFF2-40B4-BE49-F238E27FC236}">
                <a16:creationId xmlns:a16="http://schemas.microsoft.com/office/drawing/2014/main" id="{0E2467A7-B4B8-490C-B115-083C4B927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477" y="5022055"/>
            <a:ext cx="2111146" cy="1403913"/>
          </a:xfrm>
          <a:prstGeom prst="round2DiagRect">
            <a:avLst>
              <a:gd name="adj1" fmla="val 16667"/>
              <a:gd name="adj2" fmla="val 0"/>
            </a:avLst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D9A17B65-759C-4F53-8415-B68597505D29}"/>
              </a:ext>
            </a:extLst>
          </p:cNvPr>
          <p:cNvSpPr txBox="1"/>
          <p:nvPr/>
        </p:nvSpPr>
        <p:spPr>
          <a:xfrm>
            <a:off x="3673600" y="6425968"/>
            <a:ext cx="2018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电脑主板上的</a:t>
            </a:r>
            <a:r>
              <a:rPr lang="zh-CN" altLang="en-US" sz="1100" b="1" dirty="0">
                <a:solidFill>
                  <a:srgbClr val="FF0000"/>
                </a:solidFill>
              </a:rPr>
              <a:t>双通道</a:t>
            </a:r>
            <a:r>
              <a:rPr lang="zh-CN" altLang="en-US" sz="1100" b="1" dirty="0"/>
              <a:t>内存插槽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F78B26C-CE5B-4F7E-A0A1-EB5A693F64DD}"/>
              </a:ext>
            </a:extLst>
          </p:cNvPr>
          <p:cNvGrpSpPr/>
          <p:nvPr/>
        </p:nvGrpSpPr>
        <p:grpSpPr>
          <a:xfrm>
            <a:off x="5592877" y="2025483"/>
            <a:ext cx="1694894" cy="2063802"/>
            <a:chOff x="5548149" y="1406743"/>
            <a:chExt cx="1694894" cy="206380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FDAE605-DA00-4770-9234-151F740B0656}"/>
                </a:ext>
              </a:extLst>
            </p:cNvPr>
            <p:cNvSpPr txBox="1"/>
            <p:nvPr/>
          </p:nvSpPr>
          <p:spPr>
            <a:xfrm>
              <a:off x="5609445" y="32089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单体多字存储器的结构</a:t>
              </a: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F782987-7705-4E62-A1CB-E04E1F57A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8149" y="1406743"/>
              <a:ext cx="1694894" cy="1739109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AD0562-4793-4A7D-A811-4441B54CA851}"/>
              </a:ext>
            </a:extLst>
          </p:cNvPr>
          <p:cNvGrpSpPr/>
          <p:nvPr/>
        </p:nvGrpSpPr>
        <p:grpSpPr>
          <a:xfrm>
            <a:off x="1036343" y="2071786"/>
            <a:ext cx="3102197" cy="2068933"/>
            <a:chOff x="1087818" y="1688211"/>
            <a:chExt cx="3102197" cy="2068933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4678FEB-2AC3-4BB1-B68F-ED138E8D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818" y="1688211"/>
              <a:ext cx="3102197" cy="1739110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E244577-4D37-463D-A320-1B8F4B6D1D57}"/>
                </a:ext>
              </a:extLst>
            </p:cNvPr>
            <p:cNvSpPr txBox="1"/>
            <p:nvPr/>
          </p:nvSpPr>
          <p:spPr>
            <a:xfrm>
              <a:off x="1907704" y="3495534"/>
              <a:ext cx="2021707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存储器的位扩展（单体</a:t>
              </a:r>
              <a:r>
                <a:rPr lang="en-US" altLang="zh-CN" sz="1100" b="1" dirty="0"/>
                <a:t>32</a:t>
              </a:r>
              <a:r>
                <a:rPr lang="zh-CN" altLang="en-US" sz="1100" b="1" dirty="0"/>
                <a:t>字）</a:t>
              </a: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E26A7C15-61B5-46E8-88D8-6CACC6FFB625}"/>
              </a:ext>
            </a:extLst>
          </p:cNvPr>
          <p:cNvSpPr txBox="1"/>
          <p:nvPr/>
        </p:nvSpPr>
        <p:spPr>
          <a:xfrm>
            <a:off x="6171715" y="4141641"/>
            <a:ext cx="679994" cy="2616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单体</a:t>
            </a:r>
            <a:r>
              <a:rPr lang="en-US" altLang="zh-CN" sz="1100" b="1" dirty="0"/>
              <a:t>4</a:t>
            </a:r>
            <a:r>
              <a:rPr lang="zh-CN" altLang="en-US" sz="1100" b="1" dirty="0"/>
              <a:t>字</a:t>
            </a:r>
          </a:p>
        </p:txBody>
      </p:sp>
    </p:spTree>
    <p:extLst>
      <p:ext uri="{BB962C8B-B14F-4D97-AF65-F5344CB8AC3E}">
        <p14:creationId xmlns:p14="http://schemas.microsoft.com/office/powerpoint/2010/main" val="61659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3197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相当于存储器位扩展中有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个存储模块，两个存储模块的地址线（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）、数据线（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）共享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此时要求两个存储模块（两根内存条）的容量、频率、时序必须完全一致，才能实现同步工作</a:t>
            </a:r>
            <a:endParaRPr lang="en-US" altLang="zh-CN" sz="14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非联动模式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此时，两个存储模块采用独立的地址线（</a:t>
            </a:r>
            <a:r>
              <a:rPr lang="en-US" altLang="zh-CN" sz="1400" b="1" dirty="0"/>
              <a:t>A1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A2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CS2</a:t>
            </a:r>
            <a:r>
              <a:rPr lang="zh-CN" altLang="en-US" sz="1400" b="1" dirty="0"/>
              <a:t>）和控制线（图中没有画出），数据总线也是独立的（</a:t>
            </a:r>
            <a:r>
              <a:rPr lang="en-US" altLang="zh-CN" sz="1400" b="1" dirty="0"/>
              <a:t>D1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这种方式两个存储模块（两根内存条）可以独立工作，也可以并发工作；非联动方式的两根内存条只需要频率相同，容量、时序特征并不要求完全一致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CA8F01-BA9D-4E50-AA0A-0B10D947027F}"/>
              </a:ext>
            </a:extLst>
          </p:cNvPr>
          <p:cNvGrpSpPr/>
          <p:nvPr/>
        </p:nvGrpSpPr>
        <p:grpSpPr>
          <a:xfrm>
            <a:off x="1403648" y="4149080"/>
            <a:ext cx="2827142" cy="2461483"/>
            <a:chOff x="5652120" y="332656"/>
            <a:chExt cx="2827142" cy="273428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6434251" y="2805335"/>
              <a:ext cx="16241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联动模式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3092FD3-1B57-4769-B7F8-DFCA08782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32656"/>
              <a:ext cx="2827142" cy="232866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815CFA-709C-403D-B0B1-703B20E7FDBA}"/>
              </a:ext>
            </a:extLst>
          </p:cNvPr>
          <p:cNvGrpSpPr/>
          <p:nvPr/>
        </p:nvGrpSpPr>
        <p:grpSpPr>
          <a:xfrm>
            <a:off x="5684495" y="4090283"/>
            <a:ext cx="2827142" cy="2651085"/>
            <a:chOff x="5981031" y="4241328"/>
            <a:chExt cx="2530605" cy="241482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063C5E-5F2C-430E-BE4F-1A6BF42CB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031" y="4241328"/>
              <a:ext cx="2530605" cy="202575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4D8EEAA-8C1E-4427-90B1-F89D717D109A}"/>
                </a:ext>
              </a:extLst>
            </p:cNvPr>
            <p:cNvSpPr txBox="1"/>
            <p:nvPr/>
          </p:nvSpPr>
          <p:spPr>
            <a:xfrm>
              <a:off x="6450556" y="6394539"/>
              <a:ext cx="17716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非联动模式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3497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、多体交叉存储器</a:t>
            </a:r>
            <a:endParaRPr lang="en-US" altLang="zh-CN" sz="16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）高位多体交叉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高位多体交叉存储器的结构与存储器</a:t>
            </a:r>
            <a:r>
              <a:rPr lang="zh-CN" altLang="en-US" sz="1400" b="1" dirty="0">
                <a:solidFill>
                  <a:srgbClr val="FF0000"/>
                </a:solidFill>
              </a:rPr>
              <a:t>字扩展</a:t>
            </a:r>
            <a:r>
              <a:rPr lang="zh-CN" altLang="en-US" sz="1400" b="1" dirty="0"/>
              <a:t>完全相同，也称为</a:t>
            </a:r>
            <a:r>
              <a:rPr lang="zh-CN" altLang="en-US" sz="1400" b="1" dirty="0">
                <a:solidFill>
                  <a:srgbClr val="FF0000"/>
                </a:solidFill>
              </a:rPr>
              <a:t>顺序编址</a:t>
            </a:r>
            <a:r>
              <a:rPr lang="zh-CN" altLang="en-US" sz="1400" b="1" dirty="0"/>
              <a:t>模式；高位地址（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）经过译码器用于选择不同的存储体，低位地址（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）同时送各个存储体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高位多体交叉存储器的</a:t>
            </a:r>
            <a:r>
              <a:rPr lang="zh-CN" altLang="en-US" sz="1400" b="1" dirty="0">
                <a:solidFill>
                  <a:srgbClr val="FF0000"/>
                </a:solidFill>
              </a:rPr>
              <a:t>特点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相邻的地址往往在同一个存储体内（如地址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都在存储体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中）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不同存储体中的地址不相邻（存储体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3</a:t>
            </a:r>
            <a:r>
              <a:rPr lang="zh-CN" altLang="en-US" sz="1400" b="1" dirty="0"/>
              <a:t>的第一单元的地址分别是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，不相邻）</a:t>
            </a:r>
            <a:endParaRPr lang="en-US" altLang="zh-CN" sz="1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高位多体交叉存储器的</a:t>
            </a:r>
            <a:r>
              <a:rPr lang="zh-CN" altLang="en-US" sz="1400" b="1" dirty="0">
                <a:solidFill>
                  <a:srgbClr val="FF0000"/>
                </a:solidFill>
              </a:rPr>
              <a:t>缺点</a:t>
            </a:r>
            <a:r>
              <a:rPr lang="zh-CN" altLang="en-US" sz="1400" b="1" dirty="0"/>
              <a:t>：由于程序具有局部性和连续性的特点，程序的指令和数据往往分布在同一个存储体中，从而导致一个存储体被频繁访问，其它存储体基本处于空闲状态，无法实现多个存储体并行工作</a:t>
            </a:r>
            <a:endParaRPr lang="en-US" altLang="zh-CN" sz="1400" b="1" dirty="0"/>
          </a:p>
          <a:p>
            <a:pPr lvl="2" eaLnBrk="1" hangingPunct="1"/>
            <a:endParaRPr lang="en-US" altLang="zh-CN" sz="1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F891C-D3DB-459C-82D7-D2613BAEDBC9}"/>
              </a:ext>
            </a:extLst>
          </p:cNvPr>
          <p:cNvGrpSpPr/>
          <p:nvPr/>
        </p:nvGrpSpPr>
        <p:grpSpPr>
          <a:xfrm>
            <a:off x="5574906" y="3959478"/>
            <a:ext cx="2885526" cy="2853898"/>
            <a:chOff x="5004048" y="3861048"/>
            <a:chExt cx="2885526" cy="285389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5009254" y="6453336"/>
              <a:ext cx="26885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  高位交叉方式（顺序编址）</a:t>
              </a: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BBA8AD-E194-4210-A09F-3F8C61278E0D}"/>
                </a:ext>
              </a:extLst>
            </p:cNvPr>
            <p:cNvGrpSpPr/>
            <p:nvPr/>
          </p:nvGrpSpPr>
          <p:grpSpPr>
            <a:xfrm>
              <a:off x="5004048" y="3861048"/>
              <a:ext cx="2885526" cy="2478314"/>
              <a:chOff x="5004048" y="3861048"/>
              <a:chExt cx="2885526" cy="2478314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1314A93-2D83-4EB7-B631-DC0F5A08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3861048"/>
                <a:ext cx="2539173" cy="2478314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5C1EF96D-440F-42EA-A66E-E69133929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701" y="5481945"/>
                <a:ext cx="450873" cy="844593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CED765-62D9-4DF7-A527-07D10840B42D}"/>
              </a:ext>
            </a:extLst>
          </p:cNvPr>
          <p:cNvGrpSpPr/>
          <p:nvPr/>
        </p:nvGrpSpPr>
        <p:grpSpPr>
          <a:xfrm>
            <a:off x="1016415" y="4411351"/>
            <a:ext cx="3567293" cy="2186001"/>
            <a:chOff x="1016415" y="4268030"/>
            <a:chExt cx="3567293" cy="218600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C77387-076D-40F4-A7AE-B8C1DB9C6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415" y="4268030"/>
              <a:ext cx="3567293" cy="207133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8B9C76-2EBB-4365-A997-A56CD089E4B0}"/>
                </a:ext>
              </a:extLst>
            </p:cNvPr>
            <p:cNvSpPr txBox="1"/>
            <p:nvPr/>
          </p:nvSpPr>
          <p:spPr>
            <a:xfrm>
              <a:off x="1907704" y="6146254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存储器的字扩展（高位交叉）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5186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）低位多体交叉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低位多体交叉存储器的结构与存储器</a:t>
            </a:r>
            <a:r>
              <a:rPr lang="zh-CN" altLang="en-US" sz="1400" b="1" dirty="0">
                <a:solidFill>
                  <a:srgbClr val="FF0000"/>
                </a:solidFill>
              </a:rPr>
              <a:t>字扩展</a:t>
            </a:r>
            <a:r>
              <a:rPr lang="zh-CN" altLang="en-US" sz="1400" b="1" dirty="0"/>
              <a:t>也基本相同，只是低位地址（右下角图中的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）经过译码器用于选择不同的存储体，而高位地址（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3</a:t>
            </a:r>
            <a:r>
              <a:rPr lang="zh-CN" altLang="en-US" sz="1400" b="1" dirty="0"/>
              <a:t>）同时送各个存储体；低位多体交叉也称为</a:t>
            </a:r>
            <a:r>
              <a:rPr lang="zh-CN" altLang="en-US" sz="1400" b="1" dirty="0">
                <a:solidFill>
                  <a:srgbClr val="FF0000"/>
                </a:solidFill>
              </a:rPr>
              <a:t>交叉编址</a:t>
            </a:r>
            <a:r>
              <a:rPr lang="zh-CN" altLang="en-US" sz="1400" b="1" dirty="0"/>
              <a:t>模式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低位多体交叉存储器的</a:t>
            </a:r>
            <a:r>
              <a:rPr lang="zh-CN" altLang="en-US" sz="1400" b="1" dirty="0">
                <a:solidFill>
                  <a:srgbClr val="FF0000"/>
                </a:solidFill>
              </a:rPr>
              <a:t>特点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相邻的地址往往在不同的存储体内（如地址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分别处在存储体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3</a:t>
            </a:r>
            <a:r>
              <a:rPr lang="zh-CN" altLang="en-US" sz="1400" b="1" dirty="0"/>
              <a:t>中）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同一存储体中的地址不相邻（存储体</a:t>
            </a:r>
            <a:r>
              <a:rPr lang="en-US" altLang="zh-CN" sz="1400" b="1" dirty="0"/>
              <a:t>M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的地址分别是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……</a:t>
            </a:r>
            <a:r>
              <a:rPr lang="zh-CN" altLang="en-US" sz="1400" b="1" dirty="0"/>
              <a:t>，不相邻）</a:t>
            </a:r>
            <a:endParaRPr lang="en-US" altLang="zh-CN" sz="1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低位多体交叉存储器的</a:t>
            </a:r>
            <a:r>
              <a:rPr lang="zh-CN" altLang="en-US" sz="1400" b="1" dirty="0">
                <a:solidFill>
                  <a:srgbClr val="FF0000"/>
                </a:solidFill>
              </a:rPr>
              <a:t>优点</a:t>
            </a:r>
            <a:r>
              <a:rPr lang="zh-CN" altLang="en-US" sz="1400" b="1" dirty="0"/>
              <a:t>：由于程序具有局部性和连续性的特点，如果将程序的指令和数据分布在不同的存储体中，可以实现多个存储体并行工作</a:t>
            </a:r>
            <a:endParaRPr lang="en-US" altLang="zh-CN" sz="1400" b="1" dirty="0"/>
          </a:p>
          <a:p>
            <a:pPr lvl="2" eaLnBrk="1" hangingPunct="1"/>
            <a:endParaRPr lang="en-US" altLang="zh-CN" sz="1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841C44-0830-4F93-9FB2-EEDA0A91305A}"/>
              </a:ext>
            </a:extLst>
          </p:cNvPr>
          <p:cNvGrpSpPr/>
          <p:nvPr/>
        </p:nvGrpSpPr>
        <p:grpSpPr>
          <a:xfrm>
            <a:off x="5580112" y="4005064"/>
            <a:ext cx="2694969" cy="2736304"/>
            <a:chOff x="3222844" y="4005064"/>
            <a:chExt cx="2694969" cy="2736304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3222844" y="6479758"/>
              <a:ext cx="2694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  低位交叉方式（交叉编址）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39A0161-30AE-4067-B2B8-32031F26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875" y="4005064"/>
              <a:ext cx="2342249" cy="2352077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140A51-1785-4EB4-B795-6A79AEDDC37A}"/>
              </a:ext>
            </a:extLst>
          </p:cNvPr>
          <p:cNvGrpSpPr/>
          <p:nvPr/>
        </p:nvGrpSpPr>
        <p:grpSpPr>
          <a:xfrm>
            <a:off x="1043608" y="3954645"/>
            <a:ext cx="3994455" cy="2498691"/>
            <a:chOff x="1043608" y="3954645"/>
            <a:chExt cx="3994455" cy="249869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E5ED91C-0505-44A0-BF58-2CBB51B59F8B}"/>
                </a:ext>
              </a:extLst>
            </p:cNvPr>
            <p:cNvSpPr txBox="1"/>
            <p:nvPr/>
          </p:nvSpPr>
          <p:spPr>
            <a:xfrm>
              <a:off x="1907704" y="6145559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存储器的字扩展（低位交叉）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D1EB96D-57F5-4557-A08B-3929B05AB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08" y="3954645"/>
              <a:ext cx="3994455" cy="21170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8007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低位多体交叉存储器的流水存取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设存储模块的存储周期为</a:t>
            </a:r>
            <a:r>
              <a:rPr lang="en-US" altLang="zh-CN" sz="1600" b="1" dirty="0"/>
              <a:t>T</a:t>
            </a:r>
            <a:r>
              <a:rPr lang="zh-CN" altLang="en-US" sz="1600" b="1" dirty="0"/>
              <a:t>；总线传输周期及相应的处理时间延迟总和为</a:t>
            </a:r>
            <a:r>
              <a:rPr lang="el-GR" altLang="zh-CN" sz="1600" b="1" dirty="0"/>
              <a:t>τ</a:t>
            </a:r>
            <a:r>
              <a:rPr lang="zh-CN" altLang="en-US" sz="1600" b="1" dirty="0"/>
              <a:t>；交叉模块为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4.29</a:t>
            </a:r>
            <a:r>
              <a:rPr lang="zh-CN" altLang="en-US" sz="1600" b="1" dirty="0"/>
              <a:t>中，</a:t>
            </a:r>
            <a:r>
              <a:rPr lang="en-US" altLang="zh-CN" sz="1600" b="1" dirty="0"/>
              <a:t>m=4</a:t>
            </a:r>
            <a:r>
              <a:rPr lang="zh-CN" altLang="en-US" sz="1600" b="1" dirty="0"/>
              <a:t>），要实现流水方式存取，必须满足：</a:t>
            </a:r>
            <a:r>
              <a:rPr lang="en-US" altLang="zh-CN" sz="1800" b="1" dirty="0">
                <a:solidFill>
                  <a:srgbClr val="FF0000"/>
                </a:solidFill>
              </a:rPr>
              <a:t>T=m</a:t>
            </a:r>
            <a:r>
              <a:rPr lang="el-GR" altLang="zh-CN" sz="1800" b="1" dirty="0">
                <a:solidFill>
                  <a:srgbClr val="FF0000"/>
                </a:solidFill>
              </a:rPr>
              <a:t>τ</a:t>
            </a:r>
            <a:endParaRPr lang="en-US" altLang="zh-CN" sz="105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低位多体交叉存储器流水存取的特点：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每个存储单体的存储周期仍然为</a:t>
            </a:r>
            <a:r>
              <a:rPr lang="en-US" altLang="zh-CN" sz="1400" b="1" dirty="0"/>
              <a:t>T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各个存储体错开</a:t>
            </a:r>
            <a:r>
              <a:rPr lang="en-US" altLang="zh-CN" sz="1400" b="1" dirty="0"/>
              <a:t>1/m</a:t>
            </a:r>
            <a:r>
              <a:rPr lang="zh-CN" altLang="en-US" sz="1400" b="1" dirty="0"/>
              <a:t>个存储周期（即错开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时间）分时启动读写操作，每个存储周期可以访存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次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经过一个存储周期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后，每隔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时间延迟可传送一个新的数据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因此，连续读取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个字所需的时间为：</a:t>
            </a:r>
            <a:r>
              <a:rPr lang="en-US" altLang="zh-CN" sz="1400" b="1" dirty="0">
                <a:solidFill>
                  <a:srgbClr val="FF0000"/>
                </a:solidFill>
              </a:rPr>
              <a:t>T + (n-1) </a:t>
            </a:r>
            <a:r>
              <a:rPr lang="el-GR" altLang="zh-CN" sz="1400" b="1" dirty="0">
                <a:solidFill>
                  <a:srgbClr val="FF0000"/>
                </a:solidFill>
              </a:rPr>
              <a:t>τ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marL="1371600" lvl="3" indent="0" eaLnBrk="1" hangingPunct="1">
              <a:buNone/>
            </a:pPr>
            <a:endParaRPr lang="en-US" altLang="zh-CN" sz="1400" b="1" dirty="0">
              <a:solidFill>
                <a:srgbClr val="FF0000"/>
              </a:solidFill>
            </a:endParaRPr>
          </a:p>
          <a:p>
            <a:pPr marL="914400" lvl="2" indent="0" eaLnBrk="1" hangingPunct="1">
              <a:buNone/>
            </a:pPr>
            <a:r>
              <a:rPr lang="zh-CN" altLang="en-US" sz="1600" b="1" dirty="0">
                <a:highlight>
                  <a:srgbClr val="FFFF00"/>
                </a:highlight>
              </a:rPr>
              <a:t>总线传输周期、存储周期和多体低位交叉存储器 </a:t>
            </a:r>
            <a:r>
              <a:rPr lang="en-US" altLang="zh-CN" sz="1600" b="1" dirty="0">
                <a:highlight>
                  <a:srgbClr val="FFFF00"/>
                </a:highlight>
              </a:rPr>
              <a:t>- </a:t>
            </a:r>
            <a:r>
              <a:rPr lang="zh-CN" altLang="en-US" sz="1600" b="1" dirty="0">
                <a:highlight>
                  <a:srgbClr val="FFFF00"/>
                </a:highlight>
              </a:rPr>
              <a:t>知乎  </a:t>
            </a:r>
            <a:r>
              <a:rPr lang="en-US" altLang="zh-CN" sz="1600" b="1" dirty="0">
                <a:highlight>
                  <a:srgbClr val="FFFF00"/>
                </a:highlight>
              </a:rPr>
              <a:t>https://zhuanlan.zhihu</a:t>
            </a:r>
            <a:r>
              <a:rPr lang="en-US" altLang="zh-CN" sz="1600" b="1" dirty="0"/>
              <a:t>.com/p/440249238</a:t>
            </a:r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F154F0-56E3-424C-8B83-4D43094EC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24" y="4459468"/>
            <a:ext cx="2954261" cy="2189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C8365BD-BCB3-410D-8FB9-FA76A472411D}"/>
              </a:ext>
            </a:extLst>
          </p:cNvPr>
          <p:cNvSpPr txBox="1"/>
          <p:nvPr/>
        </p:nvSpPr>
        <p:spPr>
          <a:xfrm>
            <a:off x="3811806" y="6479758"/>
            <a:ext cx="1696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4.30    </a:t>
            </a:r>
            <a:r>
              <a:rPr lang="zh-CN" altLang="en-US" sz="1100" b="1" dirty="0"/>
              <a:t>流水存取示意图</a:t>
            </a:r>
          </a:p>
        </p:txBody>
      </p:sp>
    </p:spTree>
    <p:extLst>
      <p:ext uri="{BB962C8B-B14F-4D97-AF65-F5344CB8AC3E}">
        <p14:creationId xmlns:p14="http://schemas.microsoft.com/office/powerpoint/2010/main" val="15454649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2"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：设计算机字长为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位，存储器容量为</a:t>
            </a:r>
            <a:r>
              <a:rPr lang="en-US" altLang="zh-CN" sz="1600" b="1" dirty="0"/>
              <a:t>128MW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FF0000"/>
                </a:solidFill>
              </a:rPr>
              <a:t>W</a:t>
            </a:r>
            <a:r>
              <a:rPr lang="zh-CN" altLang="en-US" sz="1600" b="1" dirty="0"/>
              <a:t>表示</a:t>
            </a:r>
            <a:r>
              <a:rPr lang="zh-CN" altLang="en-US" sz="1600" b="1" dirty="0">
                <a:solidFill>
                  <a:srgbClr val="FF0000"/>
                </a:solidFill>
              </a:rPr>
              <a:t>字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位，因此存储器的容量</a:t>
            </a:r>
            <a:r>
              <a:rPr lang="en-US" altLang="zh-CN" sz="1600" b="1" dirty="0"/>
              <a:t>=128x2</a:t>
            </a:r>
            <a:r>
              <a:rPr lang="en-US" altLang="zh-CN" sz="1600" b="1" baseline="30000" dirty="0"/>
              <a:t>20</a:t>
            </a:r>
            <a:r>
              <a:rPr lang="en-US" altLang="zh-CN" sz="1600" b="1" dirty="0"/>
              <a:t>x64</a:t>
            </a:r>
            <a:r>
              <a:rPr lang="zh-CN" altLang="en-US" sz="1600" b="1" dirty="0"/>
              <a:t>位），采用模数为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的存储器交叉方式进行组织（即</a:t>
            </a:r>
            <a:r>
              <a:rPr lang="en-US" altLang="zh-CN" sz="1600" b="1" dirty="0">
                <a:solidFill>
                  <a:srgbClr val="FF0000"/>
                </a:solidFill>
              </a:rPr>
              <a:t>m=8</a:t>
            </a:r>
            <a:r>
              <a:rPr lang="zh-CN" altLang="en-US" sz="1600" b="1" dirty="0"/>
              <a:t>），存储周期</a:t>
            </a:r>
            <a:r>
              <a:rPr lang="en-US" altLang="zh-CN" sz="1600" b="1" dirty="0"/>
              <a:t>T=200ns</a:t>
            </a:r>
            <a:r>
              <a:rPr lang="zh-CN" altLang="en-US" sz="1600" b="1" dirty="0"/>
              <a:t>，数据总线宽度为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位，总线传输周期</a:t>
            </a:r>
            <a:r>
              <a:rPr lang="el-GR" altLang="zh-CN" sz="1600" b="1" dirty="0"/>
              <a:t>τ</a:t>
            </a:r>
            <a:r>
              <a:rPr lang="en-US" altLang="zh-CN" sz="1600" b="1" dirty="0"/>
              <a:t>=25ns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FF0000"/>
                </a:solidFill>
              </a:rPr>
              <a:t>T=m</a:t>
            </a:r>
            <a:r>
              <a:rPr lang="el-GR" altLang="zh-CN" sz="1600" b="1" dirty="0">
                <a:solidFill>
                  <a:srgbClr val="FF0000"/>
                </a:solidFill>
              </a:rPr>
              <a:t>τ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200ns=8x25ns</a:t>
            </a:r>
            <a:r>
              <a:rPr lang="zh-CN" altLang="en-US" sz="1600" b="1" dirty="0"/>
              <a:t>），若连续读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个字，分别计算顺序访问方式和交叉访问方式下存储器的带宽。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3" eaLnBrk="1" hangingPunct="1"/>
            <a:r>
              <a:rPr lang="zh-CN" altLang="en-US" sz="1400" b="1" dirty="0"/>
              <a:t>顺序方式下，连续读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个字所需的时间</a:t>
            </a:r>
            <a:r>
              <a:rPr lang="en-US" altLang="zh-CN" sz="1400" b="1" dirty="0"/>
              <a:t>=8T=8x200ns=1600ns</a:t>
            </a:r>
          </a:p>
          <a:p>
            <a:pPr lvl="3" eaLnBrk="1" hangingPunct="1"/>
            <a:r>
              <a:rPr lang="zh-CN" altLang="en-US" sz="1400" b="1" dirty="0"/>
              <a:t>顺序方式下的存储器带宽</a:t>
            </a:r>
            <a:r>
              <a:rPr lang="en-US" altLang="zh-CN" sz="1400" b="1" dirty="0"/>
              <a:t>=(64x8)/1600ns=3.2x10</a:t>
            </a:r>
            <a:r>
              <a:rPr lang="en-US" altLang="zh-CN" sz="1400" b="1" baseline="30000" dirty="0"/>
              <a:t>8</a:t>
            </a:r>
            <a:r>
              <a:rPr lang="en-US" altLang="zh-CN" sz="1400" b="1" dirty="0"/>
              <a:t>bps=320Mbps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交叉方式下，连续读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个字所需的时间 </a:t>
            </a:r>
            <a:r>
              <a:rPr lang="en-US" altLang="zh-CN" sz="1400" b="1" dirty="0"/>
              <a:t>= T + (8-1)</a:t>
            </a:r>
            <a:r>
              <a:rPr lang="el-GR" altLang="zh-CN" sz="1400" b="1" dirty="0"/>
              <a:t>τ</a:t>
            </a:r>
            <a:r>
              <a:rPr lang="en-US" altLang="zh-CN" sz="1400" b="1" dirty="0"/>
              <a:t> =</a:t>
            </a:r>
            <a:r>
              <a:rPr lang="el-GR" altLang="zh-CN" sz="1400" b="1" dirty="0"/>
              <a:t> </a:t>
            </a:r>
            <a:r>
              <a:rPr lang="en-US" altLang="zh-CN" sz="1400" b="1" dirty="0"/>
              <a:t>200ns + 7x25ns = 375ns</a:t>
            </a:r>
          </a:p>
          <a:p>
            <a:pPr lvl="3" eaLnBrk="1" hangingPunct="1"/>
            <a:r>
              <a:rPr lang="zh-CN" altLang="en-US" sz="1400" b="1" dirty="0"/>
              <a:t>交叉方式下的存储器带宽</a:t>
            </a:r>
            <a:r>
              <a:rPr lang="en-US" altLang="zh-CN" sz="1400" b="1" dirty="0"/>
              <a:t>=(64x8)/375ns=1.37x10</a:t>
            </a:r>
            <a:r>
              <a:rPr lang="en-US" altLang="zh-CN" sz="1400" b="1" baseline="30000" dirty="0"/>
              <a:t>9</a:t>
            </a:r>
            <a:r>
              <a:rPr lang="en-US" altLang="zh-CN" sz="1400" b="1" dirty="0"/>
              <a:t>bps=1370Mbps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交叉方式比顺序方式快：</a:t>
            </a:r>
            <a:r>
              <a:rPr lang="en-US" altLang="zh-CN" sz="1400" b="1" dirty="0"/>
              <a:t>1370/320 = </a:t>
            </a:r>
            <a:r>
              <a:rPr lang="en-US" altLang="zh-CN" sz="1400" b="1" dirty="0">
                <a:solidFill>
                  <a:srgbClr val="FF0000"/>
                </a:solidFill>
              </a:rPr>
              <a:t>4.27</a:t>
            </a:r>
            <a:r>
              <a:rPr lang="zh-CN" altLang="en-US" sz="1400" b="1" dirty="0">
                <a:solidFill>
                  <a:srgbClr val="FF0000"/>
                </a:solidFill>
              </a:rPr>
              <a:t>倍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F154F0-56E3-424C-8B83-4D43094EC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4149079"/>
            <a:ext cx="3026269" cy="22424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88927E-94D3-4D61-A5AC-A191B7BCDEDC}"/>
              </a:ext>
            </a:extLst>
          </p:cNvPr>
          <p:cNvSpPr txBox="1"/>
          <p:nvPr/>
        </p:nvSpPr>
        <p:spPr>
          <a:xfrm>
            <a:off x="3707904" y="6381328"/>
            <a:ext cx="1696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4.30    </a:t>
            </a:r>
            <a:r>
              <a:rPr lang="zh-CN" altLang="en-US" sz="1100" b="1" dirty="0"/>
              <a:t>流水存取示意图</a:t>
            </a:r>
          </a:p>
        </p:txBody>
      </p:sp>
    </p:spTree>
    <p:extLst>
      <p:ext uri="{BB962C8B-B14F-4D97-AF65-F5344CB8AC3E}">
        <p14:creationId xmlns:p14="http://schemas.microsoft.com/office/powerpoint/2010/main" val="16956103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4.5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高速缓冲存储器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DF2E91-B74A-4B28-B760-904061B88848}"/>
              </a:ext>
            </a:extLst>
          </p:cNvPr>
          <p:cNvSpPr txBox="1"/>
          <p:nvPr/>
        </p:nvSpPr>
        <p:spPr>
          <a:xfrm>
            <a:off x="5958408" y="116632"/>
            <a:ext cx="2574032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/>
              <a:t>4.5.1　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工作原理</a:t>
            </a:r>
            <a:endParaRPr lang="en-US" altLang="zh-CN" sz="1200" b="1" dirty="0"/>
          </a:p>
          <a:p>
            <a:r>
              <a:rPr lang="en-US" altLang="zh-CN" sz="1200" b="1" dirty="0"/>
              <a:t>4.5.2    </a:t>
            </a:r>
            <a:r>
              <a:rPr lang="zh-CN" altLang="en-US" sz="1200" b="1" dirty="0"/>
              <a:t>程序局部性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　cache的基本概念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　cache读、写流程与关键技术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5</a:t>
            </a:r>
            <a:r>
              <a:rPr lang="zh-CN" altLang="en-US" sz="1200" b="1" dirty="0"/>
              <a:t>　相联存储器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6</a:t>
            </a:r>
            <a:r>
              <a:rPr lang="zh-CN" altLang="en-US" sz="1200" b="1" dirty="0"/>
              <a:t>　地址映射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7</a:t>
            </a:r>
            <a:r>
              <a:rPr lang="zh-CN" altLang="en-US" sz="1200" b="1" dirty="0"/>
              <a:t>　替换算法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　写入策略</a:t>
            </a:r>
          </a:p>
          <a:p>
            <a:r>
              <a:rPr lang="zh-CN" altLang="en-US" sz="1200" b="1" dirty="0"/>
              <a:t>4.5.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　cache应用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EB32321-BCA8-432C-8A20-B16252F8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的特点是速度快、容量小、价格高，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的特点是速度慢、容量大、价格低，因此计算机的主存（内存，内存条）通常采用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，而不是采用</a:t>
            </a:r>
            <a:r>
              <a:rPr lang="en-US" altLang="zh-CN" sz="1600" b="1" dirty="0"/>
              <a:t>SRAM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为了提高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访问主存的速度，通常在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与主存之间增加一个隐藏的小容量快速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，称为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  <a:r>
              <a:rPr lang="zh-CN" altLang="en-US" sz="1600" b="1" dirty="0"/>
              <a:t>（高速缓冲存储器）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因为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执行的程序具有较强的</a:t>
            </a:r>
            <a:r>
              <a:rPr lang="zh-CN" altLang="en-US" sz="1600" b="1" dirty="0">
                <a:solidFill>
                  <a:srgbClr val="FF0000"/>
                </a:solidFill>
              </a:rPr>
              <a:t>局部性</a:t>
            </a:r>
            <a:r>
              <a:rPr lang="zh-CN" altLang="en-US" sz="1600" b="1" dirty="0"/>
              <a:t>，可以将主存中经常访问或即将访问的</a:t>
            </a:r>
            <a:r>
              <a:rPr lang="zh-CN" altLang="en-US" sz="1600" b="1" dirty="0">
                <a:solidFill>
                  <a:srgbClr val="FF0000"/>
                </a:solidFill>
              </a:rPr>
              <a:t>数据的副本</a:t>
            </a:r>
            <a:r>
              <a:rPr lang="zh-CN" altLang="en-US" sz="1600" b="1" dirty="0"/>
              <a:t>调度到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中，使得大部分数据访问可以在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中进行，从而提升系统的性能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FC82FF0-9E0A-4E5F-BD2D-F8C7C31B6AED}"/>
              </a:ext>
            </a:extLst>
          </p:cNvPr>
          <p:cNvGrpSpPr/>
          <p:nvPr/>
        </p:nvGrpSpPr>
        <p:grpSpPr>
          <a:xfrm>
            <a:off x="1795844" y="4985604"/>
            <a:ext cx="5491628" cy="1647970"/>
            <a:chOff x="1795844" y="4985604"/>
            <a:chExt cx="5491628" cy="1647970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CC91F2-4E84-47F2-B369-D2B9229157DC}"/>
                </a:ext>
              </a:extLst>
            </p:cNvPr>
            <p:cNvSpPr txBox="1"/>
            <p:nvPr/>
          </p:nvSpPr>
          <p:spPr>
            <a:xfrm>
              <a:off x="4091726" y="5253388"/>
              <a:ext cx="547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endParaRPr lang="zh-CN" altLang="en-US" sz="1200" b="1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4157B8F-6F9E-4048-A4C8-EB2B830BB9B9}"/>
                </a:ext>
              </a:extLst>
            </p:cNvPr>
            <p:cNvSpPr txBox="1"/>
            <p:nvPr/>
          </p:nvSpPr>
          <p:spPr>
            <a:xfrm>
              <a:off x="6482647" y="498560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主存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82FBE07B-985B-4C1B-90EE-77FB6DB2AE2E}"/>
                </a:ext>
              </a:extLst>
            </p:cNvPr>
            <p:cNvSpPr txBox="1"/>
            <p:nvPr/>
          </p:nvSpPr>
          <p:spPr>
            <a:xfrm>
              <a:off x="4091726" y="6079576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SRAM</a:t>
              </a:r>
              <a:endParaRPr lang="zh-CN" altLang="en-US" sz="1200" b="1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A35AB6D-5D13-4C1D-B742-512FDE5E6862}"/>
                </a:ext>
              </a:extLst>
            </p:cNvPr>
            <p:cNvSpPr txBox="1"/>
            <p:nvPr/>
          </p:nvSpPr>
          <p:spPr>
            <a:xfrm>
              <a:off x="6523685" y="6356575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DRAM</a:t>
              </a:r>
              <a:endParaRPr lang="zh-CN" altLang="en-US" sz="1200" b="1" dirty="0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FF12CA5-16D8-4D24-8761-F8603FC2ADF5}"/>
                </a:ext>
              </a:extLst>
            </p:cNvPr>
            <p:cNvGrpSpPr/>
            <p:nvPr/>
          </p:nvGrpSpPr>
          <p:grpSpPr>
            <a:xfrm>
              <a:off x="1795844" y="5279315"/>
              <a:ext cx="5491628" cy="1028700"/>
              <a:chOff x="1795844" y="5279315"/>
              <a:chExt cx="5491628" cy="1028700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D19AD0FE-27DC-4C8D-9D51-0EBD73A52CB1}"/>
                  </a:ext>
                </a:extLst>
              </p:cNvPr>
              <p:cNvGrpSpPr/>
              <p:nvPr/>
            </p:nvGrpSpPr>
            <p:grpSpPr>
              <a:xfrm>
                <a:off x="1795844" y="5279315"/>
                <a:ext cx="5491628" cy="1028700"/>
                <a:chOff x="1795844" y="5279315"/>
                <a:chExt cx="5491628" cy="1028700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D15E40B0-BB67-4FBD-B8B9-43E37BC8DB5F}"/>
                    </a:ext>
                  </a:extLst>
                </p:cNvPr>
                <p:cNvGrpSpPr/>
                <p:nvPr/>
              </p:nvGrpSpPr>
              <p:grpSpPr>
                <a:xfrm>
                  <a:off x="1795844" y="5279315"/>
                  <a:ext cx="5491628" cy="1028700"/>
                  <a:chOff x="1795844" y="5279315"/>
                  <a:chExt cx="5491628" cy="1028700"/>
                </a:xfrm>
              </p:grpSpPr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6334D71A-7B54-4B21-8C79-9B9F8B5AE916}"/>
                      </a:ext>
                    </a:extLst>
                  </p:cNvPr>
                  <p:cNvSpPr txBox="1"/>
                  <p:nvPr/>
                </p:nvSpPr>
                <p:spPr>
                  <a:xfrm>
                    <a:off x="1795844" y="5555138"/>
                    <a:ext cx="720080" cy="47705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altLang="zh-CN" sz="1100" b="1" dirty="0"/>
                  </a:p>
                  <a:p>
                    <a:pPr algn="ctr"/>
                    <a:endParaRPr lang="zh-CN" altLang="en-US" sz="1400" b="1" dirty="0"/>
                  </a:p>
                </p:txBody>
              </p:sp>
              <p:grpSp>
                <p:nvGrpSpPr>
                  <p:cNvPr id="8" name="Group 48">
                    <a:extLst>
                      <a:ext uri="{FF2B5EF4-FFF2-40B4-BE49-F238E27FC236}">
                        <a16:creationId xmlns:a16="http://schemas.microsoft.com/office/drawing/2014/main" id="{FE802AD4-38A0-442D-B1C0-0522A740D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258772" y="5279315"/>
                    <a:ext cx="1028700" cy="1028700"/>
                    <a:chOff x="2922" y="2088"/>
                    <a:chExt cx="648" cy="648"/>
                  </a:xfrm>
                </p:grpSpPr>
                <p:grpSp>
                  <p:nvGrpSpPr>
                    <p:cNvPr id="9" name="Group 49">
                      <a:extLst>
                        <a:ext uri="{FF2B5EF4-FFF2-40B4-BE49-F238E27FC236}">
                          <a16:creationId xmlns:a16="http://schemas.microsoft.com/office/drawing/2014/main" id="{A3E47B13-F930-4B3B-A196-6426838A10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088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73" name="Rectangle 50">
                        <a:extLst>
                          <a:ext uri="{FF2B5EF4-FFF2-40B4-BE49-F238E27FC236}">
                            <a16:creationId xmlns:a16="http://schemas.microsoft.com/office/drawing/2014/main" id="{54789710-1A80-4D08-BA4A-60DA1176C2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4" name="Rectangle 51">
                        <a:extLst>
                          <a:ext uri="{FF2B5EF4-FFF2-40B4-BE49-F238E27FC236}">
                            <a16:creationId xmlns:a16="http://schemas.microsoft.com/office/drawing/2014/main" id="{7ED2C5AD-D6D3-4C33-9045-AF525866AA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5" name="Rectangle 52">
                        <a:extLst>
                          <a:ext uri="{FF2B5EF4-FFF2-40B4-BE49-F238E27FC236}">
                            <a16:creationId xmlns:a16="http://schemas.microsoft.com/office/drawing/2014/main" id="{9A60758A-A4B5-4405-8475-DB9755F74F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6" name="Rectangle 53">
                        <a:extLst>
                          <a:ext uri="{FF2B5EF4-FFF2-40B4-BE49-F238E27FC236}">
                            <a16:creationId xmlns:a16="http://schemas.microsoft.com/office/drawing/2014/main" id="{B3827F28-ADFA-447B-B891-18A2F28DAEB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7" name="Rectangle 54">
                        <a:extLst>
                          <a:ext uri="{FF2B5EF4-FFF2-40B4-BE49-F238E27FC236}">
                            <a16:creationId xmlns:a16="http://schemas.microsoft.com/office/drawing/2014/main" id="{7C20D29A-4FED-40B4-91D3-FF29266BD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8" name="Rectangle 55">
                        <a:extLst>
                          <a:ext uri="{FF2B5EF4-FFF2-40B4-BE49-F238E27FC236}">
                            <a16:creationId xmlns:a16="http://schemas.microsoft.com/office/drawing/2014/main" id="{75F67479-A01D-44A4-883D-6C2E87A022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9" name="Rectangle 56">
                        <a:extLst>
                          <a:ext uri="{FF2B5EF4-FFF2-40B4-BE49-F238E27FC236}">
                            <a16:creationId xmlns:a16="http://schemas.microsoft.com/office/drawing/2014/main" id="{B85288E1-8BCA-484F-B702-AA1307F5A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80" name="Rectangle 57">
                        <a:extLst>
                          <a:ext uri="{FF2B5EF4-FFF2-40B4-BE49-F238E27FC236}">
                            <a16:creationId xmlns:a16="http://schemas.microsoft.com/office/drawing/2014/main" id="{9F69C8F7-6A2D-4ADD-BFEA-9FE3C4C771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0" name="Group 58">
                      <a:extLst>
                        <a:ext uri="{FF2B5EF4-FFF2-40B4-BE49-F238E27FC236}">
                          <a16:creationId xmlns:a16="http://schemas.microsoft.com/office/drawing/2014/main" id="{177B5384-D627-4B65-A221-B3AB15A513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169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65" name="Rectangle 59">
                        <a:extLst>
                          <a:ext uri="{FF2B5EF4-FFF2-40B4-BE49-F238E27FC236}">
                            <a16:creationId xmlns:a16="http://schemas.microsoft.com/office/drawing/2014/main" id="{B02C4750-E4DF-4E08-A8DB-26441FC0CB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6" name="Rectangle 60">
                        <a:extLst>
                          <a:ext uri="{FF2B5EF4-FFF2-40B4-BE49-F238E27FC236}">
                            <a16:creationId xmlns:a16="http://schemas.microsoft.com/office/drawing/2014/main" id="{210AEFFB-36E2-4C11-8923-DAB603DCDD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7" name="Rectangle 61">
                        <a:extLst>
                          <a:ext uri="{FF2B5EF4-FFF2-40B4-BE49-F238E27FC236}">
                            <a16:creationId xmlns:a16="http://schemas.microsoft.com/office/drawing/2014/main" id="{47FADEBA-75C3-44A0-BBF1-7852F86D42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8" name="Rectangle 62">
                        <a:extLst>
                          <a:ext uri="{FF2B5EF4-FFF2-40B4-BE49-F238E27FC236}">
                            <a16:creationId xmlns:a16="http://schemas.microsoft.com/office/drawing/2014/main" id="{330591FE-711D-49FF-A4D5-275980128A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9" name="Rectangle 63">
                        <a:extLst>
                          <a:ext uri="{FF2B5EF4-FFF2-40B4-BE49-F238E27FC236}">
                            <a16:creationId xmlns:a16="http://schemas.microsoft.com/office/drawing/2014/main" id="{438DAC70-2CA6-4DA2-953B-352BDC761C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0" name="Rectangle 64">
                        <a:extLst>
                          <a:ext uri="{FF2B5EF4-FFF2-40B4-BE49-F238E27FC236}">
                            <a16:creationId xmlns:a16="http://schemas.microsoft.com/office/drawing/2014/main" id="{BA260FFB-5289-4FE1-860C-136273EC6C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1" name="Rectangle 65">
                        <a:extLst>
                          <a:ext uri="{FF2B5EF4-FFF2-40B4-BE49-F238E27FC236}">
                            <a16:creationId xmlns:a16="http://schemas.microsoft.com/office/drawing/2014/main" id="{04BEA764-F827-413C-98A1-EB8A76784A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2" name="Rectangle 66">
                        <a:extLst>
                          <a:ext uri="{FF2B5EF4-FFF2-40B4-BE49-F238E27FC236}">
                            <a16:creationId xmlns:a16="http://schemas.microsoft.com/office/drawing/2014/main" id="{DC4D0D5B-2A9B-4171-99FB-6E6C50C2AE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1" name="Group 67">
                      <a:extLst>
                        <a:ext uri="{FF2B5EF4-FFF2-40B4-BE49-F238E27FC236}">
                          <a16:creationId xmlns:a16="http://schemas.microsoft.com/office/drawing/2014/main" id="{35B88E16-EFA5-4615-91F4-261594C683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250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57" name="Rectangle 68">
                        <a:extLst>
                          <a:ext uri="{FF2B5EF4-FFF2-40B4-BE49-F238E27FC236}">
                            <a16:creationId xmlns:a16="http://schemas.microsoft.com/office/drawing/2014/main" id="{C3E800CC-E498-4321-978A-D7E05249BB1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8" name="Rectangle 69">
                        <a:extLst>
                          <a:ext uri="{FF2B5EF4-FFF2-40B4-BE49-F238E27FC236}">
                            <a16:creationId xmlns:a16="http://schemas.microsoft.com/office/drawing/2014/main" id="{0F8C5460-9D8A-434C-8404-F6937AB05B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9" name="Rectangle 70">
                        <a:extLst>
                          <a:ext uri="{FF2B5EF4-FFF2-40B4-BE49-F238E27FC236}">
                            <a16:creationId xmlns:a16="http://schemas.microsoft.com/office/drawing/2014/main" id="{DF97365A-6CAA-496B-A3B0-E40F6A9225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0" name="Rectangle 71">
                        <a:extLst>
                          <a:ext uri="{FF2B5EF4-FFF2-40B4-BE49-F238E27FC236}">
                            <a16:creationId xmlns:a16="http://schemas.microsoft.com/office/drawing/2014/main" id="{E2109157-70F4-414F-894D-91BF01C3D6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1" name="Rectangle 72">
                        <a:extLst>
                          <a:ext uri="{FF2B5EF4-FFF2-40B4-BE49-F238E27FC236}">
                            <a16:creationId xmlns:a16="http://schemas.microsoft.com/office/drawing/2014/main" id="{2FC98D48-F385-4921-AD20-671D6BB6AB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2" name="Rectangle 73">
                        <a:extLst>
                          <a:ext uri="{FF2B5EF4-FFF2-40B4-BE49-F238E27FC236}">
                            <a16:creationId xmlns:a16="http://schemas.microsoft.com/office/drawing/2014/main" id="{3C813B15-45E9-4852-9678-18417DFBAC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3" name="Rectangle 74">
                        <a:extLst>
                          <a:ext uri="{FF2B5EF4-FFF2-40B4-BE49-F238E27FC236}">
                            <a16:creationId xmlns:a16="http://schemas.microsoft.com/office/drawing/2014/main" id="{F5A114DD-73D8-4239-A068-1921D8648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4" name="Rectangle 75">
                        <a:extLst>
                          <a:ext uri="{FF2B5EF4-FFF2-40B4-BE49-F238E27FC236}">
                            <a16:creationId xmlns:a16="http://schemas.microsoft.com/office/drawing/2014/main" id="{1EF2AE64-4609-49D2-95C7-1BE6977485D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2" name="Group 76">
                      <a:extLst>
                        <a:ext uri="{FF2B5EF4-FFF2-40B4-BE49-F238E27FC236}">
                          <a16:creationId xmlns:a16="http://schemas.microsoft.com/office/drawing/2014/main" id="{44988EBD-9230-4C36-8993-9FB31F612CC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331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9" name="Rectangle 77">
                        <a:extLst>
                          <a:ext uri="{FF2B5EF4-FFF2-40B4-BE49-F238E27FC236}">
                            <a16:creationId xmlns:a16="http://schemas.microsoft.com/office/drawing/2014/main" id="{80C31610-E391-4049-B4EE-C8A21BBDB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0" name="Rectangle 78">
                        <a:extLst>
                          <a:ext uri="{FF2B5EF4-FFF2-40B4-BE49-F238E27FC236}">
                            <a16:creationId xmlns:a16="http://schemas.microsoft.com/office/drawing/2014/main" id="{25A20176-EC47-42CB-9032-ED2478525E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1" name="Rectangle 79">
                        <a:extLst>
                          <a:ext uri="{FF2B5EF4-FFF2-40B4-BE49-F238E27FC236}">
                            <a16:creationId xmlns:a16="http://schemas.microsoft.com/office/drawing/2014/main" id="{D0199E6A-E73E-4FBE-A52B-EC5455FE76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2" name="Rectangle 80">
                        <a:extLst>
                          <a:ext uri="{FF2B5EF4-FFF2-40B4-BE49-F238E27FC236}">
                            <a16:creationId xmlns:a16="http://schemas.microsoft.com/office/drawing/2014/main" id="{C5700FB6-D074-47E8-8E0C-F33F9ADD66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3" name="Rectangle 81">
                        <a:extLst>
                          <a:ext uri="{FF2B5EF4-FFF2-40B4-BE49-F238E27FC236}">
                            <a16:creationId xmlns:a16="http://schemas.microsoft.com/office/drawing/2014/main" id="{5FC1DE83-B890-4142-B285-6475C371D8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4" name="Rectangle 82">
                        <a:extLst>
                          <a:ext uri="{FF2B5EF4-FFF2-40B4-BE49-F238E27FC236}">
                            <a16:creationId xmlns:a16="http://schemas.microsoft.com/office/drawing/2014/main" id="{DF291D5A-1EE1-4C67-92D0-DD056B9A90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5" name="Rectangle 83">
                        <a:extLst>
                          <a:ext uri="{FF2B5EF4-FFF2-40B4-BE49-F238E27FC236}">
                            <a16:creationId xmlns:a16="http://schemas.microsoft.com/office/drawing/2014/main" id="{E1C4F7CC-BE77-41B6-919A-844A9AC6A98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6" name="Rectangle 84">
                        <a:extLst>
                          <a:ext uri="{FF2B5EF4-FFF2-40B4-BE49-F238E27FC236}">
                            <a16:creationId xmlns:a16="http://schemas.microsoft.com/office/drawing/2014/main" id="{69F7F11A-1DE0-4E38-9E43-5E84D30DCD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3" name="Group 85">
                      <a:extLst>
                        <a:ext uri="{FF2B5EF4-FFF2-40B4-BE49-F238E27FC236}">
                          <a16:creationId xmlns:a16="http://schemas.microsoft.com/office/drawing/2014/main" id="{D8219106-0D8B-47C5-AC70-F15A3A6E742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12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1" name="Rectangle 86">
                        <a:extLst>
                          <a:ext uri="{FF2B5EF4-FFF2-40B4-BE49-F238E27FC236}">
                            <a16:creationId xmlns:a16="http://schemas.microsoft.com/office/drawing/2014/main" id="{B08FE2FE-2C48-4B2F-A59D-6104BDF7D8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2" name="Rectangle 87">
                        <a:extLst>
                          <a:ext uri="{FF2B5EF4-FFF2-40B4-BE49-F238E27FC236}">
                            <a16:creationId xmlns:a16="http://schemas.microsoft.com/office/drawing/2014/main" id="{52AE9754-3B95-4C3B-A44F-16E7AED367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3" name="Rectangle 88">
                        <a:extLst>
                          <a:ext uri="{FF2B5EF4-FFF2-40B4-BE49-F238E27FC236}">
                            <a16:creationId xmlns:a16="http://schemas.microsoft.com/office/drawing/2014/main" id="{3C4F6599-B9BB-4500-AEB3-FE52727EC0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4" name="Rectangle 89">
                        <a:extLst>
                          <a:ext uri="{FF2B5EF4-FFF2-40B4-BE49-F238E27FC236}">
                            <a16:creationId xmlns:a16="http://schemas.microsoft.com/office/drawing/2014/main" id="{F757FEC3-3FB5-42A8-801E-8E7096CB04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5" name="Rectangle 90">
                        <a:extLst>
                          <a:ext uri="{FF2B5EF4-FFF2-40B4-BE49-F238E27FC236}">
                            <a16:creationId xmlns:a16="http://schemas.microsoft.com/office/drawing/2014/main" id="{C98FEA0A-17C2-4885-ADEA-732C80901F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6" name="Rectangle 91">
                        <a:extLst>
                          <a:ext uri="{FF2B5EF4-FFF2-40B4-BE49-F238E27FC236}">
                            <a16:creationId xmlns:a16="http://schemas.microsoft.com/office/drawing/2014/main" id="{5C2A8C55-D778-494E-8715-2719BF2C14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7" name="Rectangle 92">
                        <a:extLst>
                          <a:ext uri="{FF2B5EF4-FFF2-40B4-BE49-F238E27FC236}">
                            <a16:creationId xmlns:a16="http://schemas.microsoft.com/office/drawing/2014/main" id="{5AFB003C-923A-44B4-A118-58EE3B5563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8" name="Rectangle 93">
                        <a:extLst>
                          <a:ext uri="{FF2B5EF4-FFF2-40B4-BE49-F238E27FC236}">
                            <a16:creationId xmlns:a16="http://schemas.microsoft.com/office/drawing/2014/main" id="{30D33814-C9D8-4D6B-9776-36E1C457F4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4" name="Group 94">
                      <a:extLst>
                        <a:ext uri="{FF2B5EF4-FFF2-40B4-BE49-F238E27FC236}">
                          <a16:creationId xmlns:a16="http://schemas.microsoft.com/office/drawing/2014/main" id="{B08EC84F-327E-4B6C-AA86-9078903A40C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93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33" name="Rectangle 95">
                        <a:extLst>
                          <a:ext uri="{FF2B5EF4-FFF2-40B4-BE49-F238E27FC236}">
                            <a16:creationId xmlns:a16="http://schemas.microsoft.com/office/drawing/2014/main" id="{E8B2D365-1D0D-4E1C-B54B-63CAA178AC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4" name="Rectangle 96">
                        <a:extLst>
                          <a:ext uri="{FF2B5EF4-FFF2-40B4-BE49-F238E27FC236}">
                            <a16:creationId xmlns:a16="http://schemas.microsoft.com/office/drawing/2014/main" id="{D4988AF1-2AA9-4C22-BB71-F98382A974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5" name="Rectangle 97">
                        <a:extLst>
                          <a:ext uri="{FF2B5EF4-FFF2-40B4-BE49-F238E27FC236}">
                            <a16:creationId xmlns:a16="http://schemas.microsoft.com/office/drawing/2014/main" id="{D4020DBC-E92F-43C1-BAE4-35101D5DB7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6" name="Rectangle 98">
                        <a:extLst>
                          <a:ext uri="{FF2B5EF4-FFF2-40B4-BE49-F238E27FC236}">
                            <a16:creationId xmlns:a16="http://schemas.microsoft.com/office/drawing/2014/main" id="{7165CDB0-C1F3-47FE-A5C8-CA6303052A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7" name="Rectangle 99">
                        <a:extLst>
                          <a:ext uri="{FF2B5EF4-FFF2-40B4-BE49-F238E27FC236}">
                            <a16:creationId xmlns:a16="http://schemas.microsoft.com/office/drawing/2014/main" id="{A4889A7D-C91D-4BB9-BA1C-50CB9CBAC4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8" name="Rectangle 100">
                        <a:extLst>
                          <a:ext uri="{FF2B5EF4-FFF2-40B4-BE49-F238E27FC236}">
                            <a16:creationId xmlns:a16="http://schemas.microsoft.com/office/drawing/2014/main" id="{4C68FC05-A4D9-4DBB-AAC2-A32B609A92E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9" name="Rectangle 101">
                        <a:extLst>
                          <a:ext uri="{FF2B5EF4-FFF2-40B4-BE49-F238E27FC236}">
                            <a16:creationId xmlns:a16="http://schemas.microsoft.com/office/drawing/2014/main" id="{74B6319A-3B70-436F-8A8F-60AA02E762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0" name="Rectangle 102">
                        <a:extLst>
                          <a:ext uri="{FF2B5EF4-FFF2-40B4-BE49-F238E27FC236}">
                            <a16:creationId xmlns:a16="http://schemas.microsoft.com/office/drawing/2014/main" id="{67A2A5D4-22BE-4846-B189-ABED528707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5" name="Group 103">
                      <a:extLst>
                        <a:ext uri="{FF2B5EF4-FFF2-40B4-BE49-F238E27FC236}">
                          <a16:creationId xmlns:a16="http://schemas.microsoft.com/office/drawing/2014/main" id="{1AF5ED0F-AE8B-42DE-9802-441C21AE22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574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25" name="Rectangle 104">
                        <a:extLst>
                          <a:ext uri="{FF2B5EF4-FFF2-40B4-BE49-F238E27FC236}">
                            <a16:creationId xmlns:a16="http://schemas.microsoft.com/office/drawing/2014/main" id="{AE242C26-0569-4B2B-8897-09D8CC4F29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6" name="Rectangle 105">
                        <a:extLst>
                          <a:ext uri="{FF2B5EF4-FFF2-40B4-BE49-F238E27FC236}">
                            <a16:creationId xmlns:a16="http://schemas.microsoft.com/office/drawing/2014/main" id="{9CE0A057-FF6A-472E-8066-84C7A3D45C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7" name="Rectangle 106">
                        <a:extLst>
                          <a:ext uri="{FF2B5EF4-FFF2-40B4-BE49-F238E27FC236}">
                            <a16:creationId xmlns:a16="http://schemas.microsoft.com/office/drawing/2014/main" id="{64E98D0E-ED99-4FB7-A994-42CE3F21CB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8" name="Rectangle 107">
                        <a:extLst>
                          <a:ext uri="{FF2B5EF4-FFF2-40B4-BE49-F238E27FC236}">
                            <a16:creationId xmlns:a16="http://schemas.microsoft.com/office/drawing/2014/main" id="{67102C60-C572-4D37-B73A-8F194EA118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9" name="Rectangle 108">
                        <a:extLst>
                          <a:ext uri="{FF2B5EF4-FFF2-40B4-BE49-F238E27FC236}">
                            <a16:creationId xmlns:a16="http://schemas.microsoft.com/office/drawing/2014/main" id="{89880D6B-E985-4231-9C5E-D8A35D64CF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0" name="Rectangle 109">
                        <a:extLst>
                          <a:ext uri="{FF2B5EF4-FFF2-40B4-BE49-F238E27FC236}">
                            <a16:creationId xmlns:a16="http://schemas.microsoft.com/office/drawing/2014/main" id="{3C9D0ED6-CEFD-48C2-BBA0-12E7DD4371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1" name="Rectangle 110">
                        <a:extLst>
                          <a:ext uri="{FF2B5EF4-FFF2-40B4-BE49-F238E27FC236}">
                            <a16:creationId xmlns:a16="http://schemas.microsoft.com/office/drawing/2014/main" id="{2880E9E3-CF29-4502-9B5A-159446B9B8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2" name="Rectangle 111">
                        <a:extLst>
                          <a:ext uri="{FF2B5EF4-FFF2-40B4-BE49-F238E27FC236}">
                            <a16:creationId xmlns:a16="http://schemas.microsoft.com/office/drawing/2014/main" id="{0935AEE7-F0AE-484E-B595-3E5D090C17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6" name="Group 112">
                      <a:extLst>
                        <a:ext uri="{FF2B5EF4-FFF2-40B4-BE49-F238E27FC236}">
                          <a16:creationId xmlns:a16="http://schemas.microsoft.com/office/drawing/2014/main" id="{C363F41B-26D0-4954-B44B-773CAB3148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655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17" name="Rectangle 113">
                        <a:extLst>
                          <a:ext uri="{FF2B5EF4-FFF2-40B4-BE49-F238E27FC236}">
                            <a16:creationId xmlns:a16="http://schemas.microsoft.com/office/drawing/2014/main" id="{C8C82604-AA90-407B-89DF-4A0A14B16F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8" name="Rectangle 114">
                        <a:extLst>
                          <a:ext uri="{FF2B5EF4-FFF2-40B4-BE49-F238E27FC236}">
                            <a16:creationId xmlns:a16="http://schemas.microsoft.com/office/drawing/2014/main" id="{EAA1D3FC-0CFC-4ED9-AD50-2BEED2748E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9" name="Rectangle 115">
                        <a:extLst>
                          <a:ext uri="{FF2B5EF4-FFF2-40B4-BE49-F238E27FC236}">
                            <a16:creationId xmlns:a16="http://schemas.microsoft.com/office/drawing/2014/main" id="{B14FB6C6-3C97-4782-8ABA-BCD86D357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0" name="Rectangle 116">
                        <a:extLst>
                          <a:ext uri="{FF2B5EF4-FFF2-40B4-BE49-F238E27FC236}">
                            <a16:creationId xmlns:a16="http://schemas.microsoft.com/office/drawing/2014/main" id="{540B6AC3-4B84-4966-848E-36381509BD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1" name="Rectangle 117">
                        <a:extLst>
                          <a:ext uri="{FF2B5EF4-FFF2-40B4-BE49-F238E27FC236}">
                            <a16:creationId xmlns:a16="http://schemas.microsoft.com/office/drawing/2014/main" id="{01A60068-F399-4AEF-A950-B3085F87867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2" name="Rectangle 118">
                        <a:extLst>
                          <a:ext uri="{FF2B5EF4-FFF2-40B4-BE49-F238E27FC236}">
                            <a16:creationId xmlns:a16="http://schemas.microsoft.com/office/drawing/2014/main" id="{D54CD3F8-0A40-4DC1-B47A-07D8639427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3" name="Rectangle 119">
                        <a:extLst>
                          <a:ext uri="{FF2B5EF4-FFF2-40B4-BE49-F238E27FC236}">
                            <a16:creationId xmlns:a16="http://schemas.microsoft.com/office/drawing/2014/main" id="{B42CB886-EA7B-4B03-8FE2-A2AECAB2B0A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4" name="Rectangle 120">
                        <a:extLst>
                          <a:ext uri="{FF2B5EF4-FFF2-40B4-BE49-F238E27FC236}">
                            <a16:creationId xmlns:a16="http://schemas.microsoft.com/office/drawing/2014/main" id="{960F5ED7-845D-48BC-AF1D-FC6566A097D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42892777-B6CE-4F40-AFF6-25E958B6F154}"/>
                      </a:ext>
                    </a:extLst>
                  </p:cNvPr>
                  <p:cNvSpPr txBox="1"/>
                  <p:nvPr/>
                </p:nvSpPr>
                <p:spPr>
                  <a:xfrm>
                    <a:off x="1909662" y="5639776"/>
                    <a:ext cx="49244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CPU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85" name="直接箭头连接符 84">
                  <a:extLst>
                    <a:ext uri="{FF2B5EF4-FFF2-40B4-BE49-F238E27FC236}">
                      <a16:creationId xmlns:a16="http://schemas.microsoft.com/office/drawing/2014/main" id="{3B5BC3BE-5BA4-4C9C-93FB-27A25AAE6812}"/>
                    </a:ext>
                  </a:extLst>
                </p:cNvPr>
                <p:cNvCxnSpPr>
                  <a:cxnSpLocks/>
                  <a:stCxn id="4" idx="3"/>
                  <a:endCxn id="95" idx="1"/>
                </p:cNvCxnSpPr>
                <p:nvPr/>
              </p:nvCxnSpPr>
              <p:spPr>
                <a:xfrm>
                  <a:off x="2515924" y="5793665"/>
                  <a:ext cx="1667972" cy="9843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31C271D9-86AF-4ABB-9E1C-079A05BFD3E8}"/>
                    </a:ext>
                  </a:extLst>
                </p:cNvPr>
                <p:cNvCxnSpPr>
                  <a:cxnSpLocks/>
                  <a:stCxn id="95" idx="3"/>
                </p:cNvCxnSpPr>
                <p:nvPr/>
              </p:nvCxnSpPr>
              <p:spPr>
                <a:xfrm flipV="1">
                  <a:off x="4594625" y="5790813"/>
                  <a:ext cx="1664147" cy="12695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A9B7EBA-3EB7-4515-8FCD-BD59D300D70F}"/>
                    </a:ext>
                  </a:extLst>
                </p:cNvPr>
                <p:cNvSpPr txBox="1"/>
                <p:nvPr/>
              </p:nvSpPr>
              <p:spPr>
                <a:xfrm>
                  <a:off x="2782845" y="5521503"/>
                  <a:ext cx="10855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字节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半字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字</a:t>
                  </a: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C9AF87-ADB2-46E2-890A-487C14F8E431}"/>
                    </a:ext>
                  </a:extLst>
                </p:cNvPr>
                <p:cNvSpPr txBox="1"/>
                <p:nvPr/>
              </p:nvSpPr>
              <p:spPr>
                <a:xfrm>
                  <a:off x="5148064" y="5507253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数据块</a:t>
                  </a:r>
                </a:p>
              </p:txBody>
            </p:sp>
          </p:grpSp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939B5865-109B-47F9-B1C5-3A97FE868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83896" y="5598143"/>
                <a:ext cx="410729" cy="410729"/>
              </a:xfrm>
              <a:prstGeom prst="rect">
                <a:avLst/>
              </a:prstGeom>
            </p:spPr>
          </p:pic>
        </p:grp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B554D69-AD06-4D34-AF0B-A11307291397}"/>
              </a:ext>
            </a:extLst>
          </p:cNvPr>
          <p:cNvSpPr txBox="1"/>
          <p:nvPr/>
        </p:nvSpPr>
        <p:spPr>
          <a:xfrm>
            <a:off x="3811806" y="6479758"/>
            <a:ext cx="16065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4.31    cache</a:t>
            </a:r>
            <a:r>
              <a:rPr lang="zh-CN" altLang="en-US" sz="1100" b="1" dirty="0"/>
              <a:t>基本原理</a:t>
            </a:r>
          </a:p>
        </p:txBody>
      </p:sp>
    </p:spTree>
    <p:extLst>
      <p:ext uri="{BB962C8B-B14F-4D97-AF65-F5344CB8AC3E}">
        <p14:creationId xmlns:p14="http://schemas.microsoft.com/office/powerpoint/2010/main" val="22634399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程序局部性</a:t>
            </a:r>
            <a:r>
              <a:rPr lang="zh-CN" altLang="en-US" sz="1600" b="1" dirty="0"/>
              <a:t>：是指在一段时间内，整个程序的执行仅限于程序中的某一部分（时间），而执行程序所需的指令和数据也仅局限于某个存储区域内（空间）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时间局部性</a:t>
            </a:r>
            <a:r>
              <a:rPr lang="zh-CN" altLang="en-US" sz="1600" b="1" dirty="0"/>
              <a:t>：是指当程序访问一个存储位置时，该位置在</a:t>
            </a:r>
            <a:r>
              <a:rPr lang="zh-CN" altLang="en-US" sz="1600" b="1" dirty="0">
                <a:solidFill>
                  <a:srgbClr val="FF0000"/>
                </a:solidFill>
              </a:rPr>
              <a:t>未来可能会被多次访问</a:t>
            </a:r>
            <a:r>
              <a:rPr lang="zh-CN" altLang="en-US" sz="1600" b="1" dirty="0"/>
              <a:t>，如程序的循环结构和调用过程就很好地体现了时间局部性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空间局部性</a:t>
            </a:r>
            <a:r>
              <a:rPr lang="zh-CN" altLang="en-US" sz="1600" b="1" dirty="0"/>
              <a:t>：是指一旦程序访问了某个存储单元，则其</a:t>
            </a:r>
            <a:r>
              <a:rPr lang="zh-CN" altLang="en-US" sz="1600" b="1" dirty="0">
                <a:solidFill>
                  <a:srgbClr val="FF0000"/>
                </a:solidFill>
              </a:rPr>
              <a:t>附近的存储单元</a:t>
            </a:r>
            <a:r>
              <a:rPr lang="zh-CN" altLang="en-US" sz="1600" b="1" dirty="0"/>
              <a:t>也即将被访问；如计算机中的指令代码、数组、结构体元素，通常在主存中顺序存放，对其数据访问就具有很强的空间局部性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4.2</a:t>
            </a:r>
            <a:r>
              <a:rPr lang="zh-CN" altLang="en-US" sz="1600" b="1" dirty="0"/>
              <a:t>：分析下面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语言代码的程序局部性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EF8D4-D8B0-4027-A70F-D9858D937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4713136"/>
            <a:ext cx="3456384" cy="1597873"/>
          </a:xfrm>
          <a:prstGeom prst="rect">
            <a:avLst/>
          </a:prstGeom>
          <a:solidFill>
            <a:srgbClr val="CCFF66">
              <a:alpha val="60001"/>
            </a:srgb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nt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sumvec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	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nt </a:t>
            </a:r>
            <a:r>
              <a:rPr lang="en-US" sz="1400" b="1" dirty="0" err="1">
                <a:latin typeface="Courier New" pitchFamily="49" charset="0"/>
              </a:rPr>
              <a:t>i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,sum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=0;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	sum += V[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2766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31229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>
                <a:solidFill>
                  <a:srgbClr val="FF0000"/>
                </a:solidFill>
              </a:rPr>
              <a:t>for</a:t>
            </a:r>
            <a:r>
              <a:rPr lang="zh-CN" altLang="en-US" sz="1600" b="1" dirty="0">
                <a:solidFill>
                  <a:srgbClr val="FF0000"/>
                </a:solidFill>
              </a:rPr>
              <a:t>循环体</a:t>
            </a:r>
            <a:r>
              <a:rPr lang="zh-CN" altLang="en-US" sz="1600" b="1" dirty="0"/>
              <a:t>中的指令在主存中顺序存放，具有</a:t>
            </a:r>
            <a:r>
              <a:rPr lang="zh-CN" altLang="en-US" sz="1600" b="1" dirty="0">
                <a:solidFill>
                  <a:srgbClr val="FF0000"/>
                </a:solidFill>
              </a:rPr>
              <a:t>空间局部性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循环体将被执行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次，因此还具有</a:t>
            </a:r>
            <a:r>
              <a:rPr lang="zh-CN" altLang="en-US" sz="1600" b="1" dirty="0">
                <a:solidFill>
                  <a:srgbClr val="FF0000"/>
                </a:solidFill>
              </a:rPr>
              <a:t>时间局部性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变量</a:t>
            </a:r>
            <a:r>
              <a:rPr lang="en-US" altLang="zh-CN" sz="1600" b="1" dirty="0" err="1">
                <a:solidFill>
                  <a:srgbClr val="FF0000"/>
                </a:solidFill>
              </a:rPr>
              <a:t>i</a:t>
            </a:r>
            <a:r>
              <a:rPr lang="zh-CN" altLang="en-US" sz="1600" b="1" dirty="0">
                <a:solidFill>
                  <a:srgbClr val="FF0000"/>
                </a:solidFill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</a:rPr>
              <a:t>sum</a:t>
            </a:r>
            <a:r>
              <a:rPr lang="zh-CN" altLang="en-US" sz="1600" b="1" dirty="0"/>
              <a:t>是单个变量，不存在空间局部性；但是这两个变量在每次循环执行时都会用到，因此具有</a:t>
            </a:r>
            <a:r>
              <a:rPr lang="zh-CN" altLang="en-US" sz="1600" b="1" dirty="0">
                <a:solidFill>
                  <a:srgbClr val="FF0000"/>
                </a:solidFill>
              </a:rPr>
              <a:t>时间局部性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数组</a:t>
            </a:r>
            <a:r>
              <a:rPr lang="en-US" altLang="zh-CN" sz="1600" b="1" dirty="0">
                <a:solidFill>
                  <a:srgbClr val="FF0000"/>
                </a:solidFill>
              </a:rPr>
              <a:t>V[</a:t>
            </a:r>
            <a:r>
              <a:rPr lang="en-US" altLang="zh-CN" sz="1600" b="1" dirty="0" err="1">
                <a:solidFill>
                  <a:srgbClr val="FF0000"/>
                </a:solidFill>
              </a:rPr>
              <a:t>i</a:t>
            </a:r>
            <a:r>
              <a:rPr lang="en-US" altLang="zh-CN" sz="1600" b="1" dirty="0">
                <a:solidFill>
                  <a:srgbClr val="FF0000"/>
                </a:solidFill>
              </a:rPr>
              <a:t>]</a:t>
            </a:r>
            <a:r>
              <a:rPr lang="zh-CN" altLang="en-US" sz="1600" b="1" dirty="0"/>
              <a:t>中包含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个数据元素，这些数据在内存中是顺序存放，因此具有</a:t>
            </a:r>
            <a:r>
              <a:rPr lang="zh-CN" altLang="en-US" sz="1600" b="1" dirty="0">
                <a:solidFill>
                  <a:srgbClr val="FF0000"/>
                </a:solidFill>
              </a:rPr>
              <a:t>空间局部性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EF8D4-D8B0-4027-A70F-D9858D937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8" y="3933056"/>
            <a:ext cx="3456384" cy="1597873"/>
          </a:xfrm>
          <a:prstGeom prst="rect">
            <a:avLst/>
          </a:prstGeom>
          <a:solidFill>
            <a:srgbClr val="CCFF66">
              <a:alpha val="60001"/>
            </a:srgb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nt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sumvec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	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nt </a:t>
            </a:r>
            <a:r>
              <a:rPr lang="en-US" sz="1400" b="1" dirty="0" err="1">
                <a:latin typeface="Courier New" pitchFamily="49" charset="0"/>
              </a:rPr>
              <a:t>i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,sum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=0;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	sum += V[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0406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命中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中，则称为命中（</a:t>
            </a:r>
            <a:r>
              <a:rPr lang="en-US" altLang="zh-CN" sz="1600" b="1" dirty="0"/>
              <a:t>Hit</a:t>
            </a:r>
            <a:r>
              <a:rPr lang="zh-CN" altLang="en-US" sz="1600" b="1" dirty="0"/>
              <a:t>）；将命中时的数据访问时间称为</a:t>
            </a:r>
            <a:r>
              <a:rPr lang="zh-CN" altLang="en-US" sz="1600" b="1" dirty="0">
                <a:solidFill>
                  <a:srgbClr val="FF0000"/>
                </a:solidFill>
              </a:rPr>
              <a:t>命中访问时间</a:t>
            </a:r>
            <a:r>
              <a:rPr lang="zh-CN" altLang="en-US" sz="1600" b="1" dirty="0"/>
              <a:t>，通常为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</a:t>
            </a:r>
            <a:r>
              <a:rPr lang="en-US" altLang="zh-CN" sz="1600" b="1" dirty="0" err="1">
                <a:solidFill>
                  <a:srgbClr val="FF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FF0000"/>
                </a:solidFill>
              </a:rPr>
              <a:t>c</a:t>
            </a:r>
            <a:endParaRPr lang="en-US" altLang="zh-CN" sz="1600" b="1" baseline="-25000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数据缺失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要访问的数据不在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中，则称为数据缺失（</a:t>
            </a:r>
            <a:r>
              <a:rPr lang="en-US" altLang="zh-CN" sz="1600" b="1" dirty="0"/>
              <a:t>Miss</a:t>
            </a:r>
            <a:r>
              <a:rPr lang="zh-CN" altLang="en-US" sz="1600" b="1" dirty="0"/>
              <a:t>，也称为不命中），此时要将缺失数据从主存调入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中才能访问数据；将数据缺失时的访问时间称为</a:t>
            </a:r>
            <a:r>
              <a:rPr lang="zh-CN" altLang="en-US" sz="1600" b="1" dirty="0">
                <a:solidFill>
                  <a:srgbClr val="FF0000"/>
                </a:solidFill>
              </a:rPr>
              <a:t>缺失补偿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Penalty</a:t>
            </a:r>
            <a:r>
              <a:rPr lang="zh-CN" altLang="en-US" sz="1600" b="1" dirty="0"/>
              <a:t>），通常为主存访问时间</a:t>
            </a:r>
            <a:r>
              <a:rPr lang="en-US" altLang="zh-CN" sz="1600" b="1" dirty="0">
                <a:solidFill>
                  <a:srgbClr val="FF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</a:rPr>
              <a:t>m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通常将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和主存分成若干个固定大小的</a:t>
            </a:r>
            <a:r>
              <a:rPr lang="zh-CN" altLang="en-US" sz="1600" b="1" dirty="0">
                <a:solidFill>
                  <a:srgbClr val="FF0000"/>
                </a:solidFill>
              </a:rPr>
              <a:t>数据块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Block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主存块地址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</a:rPr>
              <a:t>地址 </a:t>
            </a:r>
            <a:r>
              <a:rPr lang="en-US" altLang="zh-CN" sz="1600" b="1" dirty="0"/>
              <a:t>= cache</a:t>
            </a:r>
            <a:r>
              <a:rPr lang="zh-CN" altLang="en-US" sz="1600" b="1" dirty="0"/>
              <a:t>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的块内偏移是一样大的，即主存块和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块的大小是相同的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82AB43-C33D-4445-826E-0EC84A7C68B4}"/>
              </a:ext>
            </a:extLst>
          </p:cNvPr>
          <p:cNvGrpSpPr/>
          <p:nvPr/>
        </p:nvGrpSpPr>
        <p:grpSpPr>
          <a:xfrm>
            <a:off x="2195736" y="5222666"/>
            <a:ext cx="3744416" cy="1230670"/>
            <a:chOff x="1835696" y="5569495"/>
            <a:chExt cx="3744416" cy="123067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CA1AD31-0A38-4BA0-B8D5-3733CB5ACF20}"/>
                </a:ext>
              </a:extLst>
            </p:cNvPr>
            <p:cNvGrpSpPr/>
            <p:nvPr/>
          </p:nvGrpSpPr>
          <p:grpSpPr>
            <a:xfrm>
              <a:off x="1835696" y="5569495"/>
              <a:ext cx="3744416" cy="811833"/>
              <a:chOff x="1835696" y="5569495"/>
              <a:chExt cx="3744416" cy="811833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75B8D7E7-6D77-4CA8-A44C-1C17D15D0EB0}"/>
                  </a:ext>
                </a:extLst>
              </p:cNvPr>
              <p:cNvGrpSpPr/>
              <p:nvPr/>
            </p:nvGrpSpPr>
            <p:grpSpPr>
              <a:xfrm>
                <a:off x="2509057" y="5589240"/>
                <a:ext cx="3071055" cy="786773"/>
                <a:chOff x="1637999" y="5733255"/>
                <a:chExt cx="3071055" cy="786773"/>
              </a:xfrm>
            </p:grpSpPr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C62AC208-8A87-427E-B129-FFBBD7515893}"/>
                    </a:ext>
                  </a:extLst>
                </p:cNvPr>
                <p:cNvSpPr txBox="1"/>
                <p:nvPr/>
              </p:nvSpPr>
              <p:spPr>
                <a:xfrm>
                  <a:off x="2411760" y="5733256"/>
                  <a:ext cx="1291444" cy="276999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/>
                    <a:t>    cache</a:t>
                  </a:r>
                  <a:r>
                    <a:rPr lang="zh-CN" altLang="en-US" sz="1200" b="1" dirty="0"/>
                    <a:t>块地址    </a:t>
                  </a: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19BBE8C-D84F-464C-8E38-51E08DE30763}"/>
                    </a:ext>
                  </a:extLst>
                </p:cNvPr>
                <p:cNvSpPr txBox="1"/>
                <p:nvPr/>
              </p:nvSpPr>
              <p:spPr>
                <a:xfrm>
                  <a:off x="1637999" y="6237312"/>
                  <a:ext cx="2082621" cy="276999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/>
                    <a:t>                </a:t>
                  </a:r>
                  <a:r>
                    <a:rPr lang="zh-CN" altLang="en-US" sz="1200" b="1" dirty="0"/>
                    <a:t>主存块地址                </a:t>
                  </a: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4923581-135F-41F1-991D-3535322430D0}"/>
                    </a:ext>
                  </a:extLst>
                </p:cNvPr>
                <p:cNvSpPr txBox="1"/>
                <p:nvPr/>
              </p:nvSpPr>
              <p:spPr>
                <a:xfrm>
                  <a:off x="3704234" y="5733255"/>
                  <a:ext cx="985202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/>
                    <a:t>    </a:t>
                  </a:r>
                  <a:r>
                    <a:rPr lang="zh-CN" altLang="en-US" sz="1200" b="1" dirty="0"/>
                    <a:t>块内偏移 </a:t>
                  </a: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4635758-9771-4D9E-B838-A51413F6B49C}"/>
                    </a:ext>
                  </a:extLst>
                </p:cNvPr>
                <p:cNvSpPr txBox="1"/>
                <p:nvPr/>
              </p:nvSpPr>
              <p:spPr>
                <a:xfrm>
                  <a:off x="3723852" y="6243029"/>
                  <a:ext cx="985202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/>
                    <a:t>    </a:t>
                  </a:r>
                  <a:r>
                    <a:rPr lang="zh-CN" altLang="en-US" sz="1200" b="1" dirty="0"/>
                    <a:t>块内偏移 </a:t>
                  </a:r>
                </a:p>
              </p:txBody>
            </p: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17F613-62CB-4488-A18F-853D9C8FE848}"/>
                  </a:ext>
                </a:extLst>
              </p:cNvPr>
              <p:cNvSpPr txBox="1"/>
              <p:nvPr/>
            </p:nvSpPr>
            <p:spPr>
              <a:xfrm>
                <a:off x="2595412" y="5569495"/>
                <a:ext cx="608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/>
                  <a:t>cache</a:t>
                </a:r>
                <a:endParaRPr lang="zh-CN" altLang="en-US" sz="1400" b="1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BDE6E08-70E5-47C9-8272-03A22F4FF56E}"/>
                  </a:ext>
                </a:extLst>
              </p:cNvPr>
              <p:cNvSpPr txBox="1"/>
              <p:nvPr/>
            </p:nvSpPr>
            <p:spPr>
              <a:xfrm>
                <a:off x="1835696" y="6073551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/>
                  <a:t>主存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A06487B-1DE3-410F-80AB-C7A2D21277BF}"/>
                </a:ext>
              </a:extLst>
            </p:cNvPr>
            <p:cNvSpPr txBox="1"/>
            <p:nvPr/>
          </p:nvSpPr>
          <p:spPr>
            <a:xfrm>
              <a:off x="2916724" y="6538555"/>
              <a:ext cx="21707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4.32    cache</a:t>
              </a:r>
              <a:r>
                <a:rPr lang="zh-CN" altLang="en-US" sz="1100" b="1" dirty="0"/>
                <a:t>和主存的地址格式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6144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8E264-4E33-4E02-9271-F60AAFFF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pPr lvl="1"/>
            <a:r>
              <a:rPr lang="zh-CN" altLang="en-US" sz="1600" b="1" dirty="0">
                <a:solidFill>
                  <a:srgbClr val="FF0000"/>
                </a:solidFill>
              </a:rPr>
              <a:t>命中率</a:t>
            </a:r>
            <a:r>
              <a:rPr lang="zh-CN" altLang="en-US" sz="1600" b="1" dirty="0"/>
              <a:t>：假设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为命中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的次数，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为从主存中访问信息的次数（即不命中的次数），则命中率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Hit Ratio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h = N</a:t>
            </a:r>
            <a:r>
              <a:rPr lang="en-US" altLang="zh-CN" sz="1600" b="1" baseline="-25000" dirty="0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N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 err="1"/>
              <a:t>+N</a:t>
            </a:r>
            <a:r>
              <a:rPr lang="en-US" altLang="zh-CN" sz="1600" b="1" baseline="-25000" dirty="0" err="1"/>
              <a:t>m</a:t>
            </a:r>
            <a:r>
              <a:rPr lang="en-US" altLang="zh-CN" sz="1600" b="1" dirty="0"/>
              <a:t>)</a:t>
            </a:r>
            <a:endParaRPr lang="en-US" altLang="zh-CN" sz="8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FF0000"/>
                </a:solidFill>
              </a:rPr>
              <a:t>缺失率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Ratio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 1-h</a:t>
            </a:r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cache/</a:t>
            </a:r>
            <a:r>
              <a:rPr lang="zh-CN" altLang="en-US" sz="1600" b="1" dirty="0"/>
              <a:t>主存系统的</a:t>
            </a:r>
            <a:r>
              <a:rPr lang="zh-CN" altLang="en-US" sz="1600" b="1" dirty="0">
                <a:solidFill>
                  <a:srgbClr val="FF0000"/>
                </a:solidFill>
              </a:rPr>
              <a:t>平均访问时间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 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为命中访问时间；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为缺失访问时间；命中率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越高，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zh-CN" altLang="en-US" sz="1600" b="1" dirty="0"/>
              <a:t>越接近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h=1</a:t>
            </a:r>
            <a:r>
              <a:rPr lang="zh-CN" altLang="en-US" sz="1600" b="1" dirty="0"/>
              <a:t>时，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FF0000"/>
                </a:solidFill>
              </a:rPr>
              <a:t>访问效率</a:t>
            </a:r>
            <a:r>
              <a:rPr lang="en-US" altLang="zh-CN" sz="1600" b="1" dirty="0"/>
              <a:t>e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e=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)=1/(h+(1-h)r)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</a:t>
            </a:r>
            <a:r>
              <a:rPr lang="en-US" altLang="zh-CN" sz="1600" b="1" dirty="0"/>
              <a:t>r= 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，表示主存与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访问时间的倍数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1"/>
            <a:r>
              <a:rPr lang="zh-CN" altLang="en-US" sz="1600" b="1" dirty="0">
                <a:highlight>
                  <a:srgbClr val="FFFF00"/>
                </a:highlight>
              </a:rPr>
              <a:t>命中率与程序局部性、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容量、数据块（</a:t>
            </a:r>
            <a:r>
              <a:rPr lang="en-US" altLang="zh-CN" sz="1600" b="1" dirty="0">
                <a:highlight>
                  <a:srgbClr val="FFFF00"/>
                </a:highlight>
              </a:rPr>
              <a:t>Block</a:t>
            </a:r>
            <a:r>
              <a:rPr lang="zh-CN" altLang="en-US" sz="1600" b="1" dirty="0">
                <a:highlight>
                  <a:srgbClr val="FFFF00"/>
                </a:highlight>
              </a:rPr>
              <a:t>）大小、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的组织方式有关</a:t>
            </a:r>
          </a:p>
        </p:txBody>
      </p:sp>
    </p:spTree>
    <p:extLst>
      <p:ext uri="{BB962C8B-B14F-4D97-AF65-F5344CB8AC3E}">
        <p14:creationId xmlns:p14="http://schemas.microsoft.com/office/powerpoint/2010/main" val="41654829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2F70BD-17FF-4480-B174-D5D0C5D0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" y="886029"/>
            <a:ext cx="6918291" cy="16219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5E799-3101-4B3B-9933-E2EC3BF0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772297"/>
            <a:ext cx="2697601" cy="3122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23FB4D-247D-45C4-B057-CC2790BA1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9" y="2772297"/>
            <a:ext cx="6027942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331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读流程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CPU</a:t>
            </a:r>
            <a:r>
              <a:rPr lang="zh-CN" altLang="en-US" sz="1400" b="1" dirty="0"/>
              <a:t>给出主存地址</a:t>
            </a:r>
            <a:r>
              <a:rPr lang="en-US" altLang="zh-CN" sz="1400" b="1" dirty="0"/>
              <a:t>RA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Read Address</a:t>
            </a:r>
            <a:r>
              <a:rPr lang="zh-CN" altLang="en-US" sz="1400" b="1" dirty="0"/>
              <a:t>，包括块地址和块内偏移），以</a:t>
            </a:r>
            <a:r>
              <a:rPr lang="en-US" altLang="zh-CN" sz="1400" b="1" dirty="0"/>
              <a:t>RA</a:t>
            </a:r>
            <a:r>
              <a:rPr lang="zh-CN" altLang="en-US" sz="1400" b="1" dirty="0"/>
              <a:t>的块地址为关键字在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中进行查找，如果找到表示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r>
              <a:rPr lang="zh-CN" altLang="en-US" sz="1400" b="1" dirty="0"/>
              <a:t>，此时通过访问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就可获取地址为</a:t>
            </a:r>
            <a:r>
              <a:rPr lang="en-US" altLang="zh-CN" sz="1400" b="1" dirty="0"/>
              <a:t>RA</a:t>
            </a:r>
            <a:r>
              <a:rPr lang="zh-CN" altLang="en-US" sz="1400" b="1" dirty="0"/>
              <a:t>的数据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如果找不到则表示</a:t>
            </a:r>
            <a:r>
              <a:rPr lang="zh-CN" altLang="en-US" sz="1400" b="1" dirty="0">
                <a:solidFill>
                  <a:srgbClr val="FF0000"/>
                </a:solidFill>
              </a:rPr>
              <a:t>数据缺失</a:t>
            </a:r>
            <a:r>
              <a:rPr lang="zh-CN" altLang="en-US" sz="1400" b="1" dirty="0"/>
              <a:t>，此时需要访问主存，将地址为</a:t>
            </a:r>
            <a:r>
              <a:rPr lang="en-US" altLang="zh-CN" sz="1400" b="1" dirty="0"/>
              <a:t>RA</a:t>
            </a:r>
            <a:r>
              <a:rPr lang="zh-CN" altLang="en-US" sz="1400" b="1" dirty="0"/>
              <a:t>的主存块调入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中，并发送地址为</a:t>
            </a:r>
            <a:r>
              <a:rPr lang="en-US" altLang="zh-CN" sz="1400" b="1" dirty="0"/>
              <a:t>RA</a:t>
            </a:r>
            <a:r>
              <a:rPr lang="zh-CN" altLang="en-US" sz="1400" b="1" dirty="0"/>
              <a:t>的数据到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中</a:t>
            </a:r>
            <a:endParaRPr lang="en-US" altLang="zh-CN" sz="1400" b="1" dirty="0"/>
          </a:p>
          <a:p>
            <a:pPr lvl="2" eaLnBrk="1" hangingPunct="1"/>
            <a:endParaRPr lang="zh-CN" altLang="en-US" sz="1400" b="1" dirty="0"/>
          </a:p>
          <a:p>
            <a:pPr lvl="2" eaLnBrk="1" hangingPunct="1"/>
            <a:r>
              <a:rPr lang="zh-CN" altLang="en-US" sz="1400" b="1" dirty="0"/>
              <a:t>此时若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已经满了，还需要进行</a:t>
            </a:r>
            <a:r>
              <a:rPr lang="zh-CN" altLang="en-US" sz="1400" b="1" dirty="0">
                <a:solidFill>
                  <a:srgbClr val="FF0000"/>
                </a:solidFill>
              </a:rPr>
              <a:t>替换</a:t>
            </a:r>
            <a:r>
              <a:rPr lang="zh-CN" altLang="en-US" sz="1400" b="1" dirty="0"/>
              <a:t>，并更新查找表</a:t>
            </a:r>
            <a:endParaRPr lang="en-US" altLang="zh-CN" sz="1200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75E238-36F0-4B5C-AA8C-FB02350674F9}"/>
              </a:ext>
            </a:extLst>
          </p:cNvPr>
          <p:cNvGrpSpPr/>
          <p:nvPr/>
        </p:nvGrpSpPr>
        <p:grpSpPr>
          <a:xfrm>
            <a:off x="1691680" y="3501008"/>
            <a:ext cx="4714828" cy="3111819"/>
            <a:chOff x="1945404" y="2533604"/>
            <a:chExt cx="5434908" cy="34876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F368933-896C-47C6-84E9-160D8AF65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404" y="2708920"/>
              <a:ext cx="5253192" cy="318182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370A515-94BD-4AEA-9C74-3D852D91A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6136" y="2533604"/>
              <a:ext cx="1584176" cy="3487684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1DC96290-B9D6-40C9-90F1-CC0C78F10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582" y="3429000"/>
            <a:ext cx="1395532" cy="30576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8AED61E-C09E-42CA-B107-F03954412D7E}"/>
              </a:ext>
            </a:extLst>
          </p:cNvPr>
          <p:cNvSpPr txBox="1"/>
          <p:nvPr/>
        </p:nvSpPr>
        <p:spPr>
          <a:xfrm>
            <a:off x="2627784" y="6479758"/>
            <a:ext cx="21707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4.33    cache</a:t>
            </a:r>
            <a:r>
              <a:rPr lang="zh-CN" altLang="en-US" sz="1100" b="1" dirty="0"/>
              <a:t>读操作的基本流程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B47648-16BA-465E-BF7A-232160C47F8E}"/>
              </a:ext>
            </a:extLst>
          </p:cNvPr>
          <p:cNvSpPr txBox="1"/>
          <p:nvPr/>
        </p:nvSpPr>
        <p:spPr>
          <a:xfrm>
            <a:off x="6932958" y="6407750"/>
            <a:ext cx="1223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的替换过程</a:t>
            </a:r>
          </a:p>
        </p:txBody>
      </p:sp>
    </p:spTree>
    <p:extLst>
      <p:ext uri="{BB962C8B-B14F-4D97-AF65-F5344CB8AC3E}">
        <p14:creationId xmlns:p14="http://schemas.microsoft.com/office/powerpoint/2010/main" val="27260289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4624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写流程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CPU</a:t>
            </a:r>
            <a:r>
              <a:rPr lang="zh-CN" altLang="en-US" sz="1400" b="1" dirty="0"/>
              <a:t>给出主存地址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Write Address</a:t>
            </a:r>
            <a:r>
              <a:rPr lang="zh-CN" altLang="en-US" sz="1400" b="1" dirty="0"/>
              <a:t>，包括块地址和块内偏移），以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块地址为关键字在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中进行查找，如果找到表示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r>
              <a:rPr lang="zh-CN" altLang="en-US" sz="1400" b="1" dirty="0"/>
              <a:t>；此时将地址为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中，并根据写策略决定要不要同时写入主存（如果是</a:t>
            </a:r>
            <a:r>
              <a:rPr lang="zh-CN" altLang="en-US" sz="1400" b="1" dirty="0">
                <a:solidFill>
                  <a:srgbClr val="FF0000"/>
                </a:solidFill>
              </a:rPr>
              <a:t>写回策略</a:t>
            </a:r>
            <a:r>
              <a:rPr lang="zh-CN" altLang="en-US" sz="1400" b="1" dirty="0"/>
              <a:t>，则不需要写入主存；如果是</a:t>
            </a:r>
            <a:r>
              <a:rPr lang="zh-CN" altLang="en-US" sz="1400" b="1" dirty="0">
                <a:solidFill>
                  <a:srgbClr val="FF0000"/>
                </a:solidFill>
              </a:rPr>
              <a:t>写直达策略</a:t>
            </a:r>
            <a:r>
              <a:rPr lang="zh-CN" altLang="en-US" sz="1400" b="1" dirty="0"/>
              <a:t>，则需要同时写入主存）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如果找不到则表示</a:t>
            </a:r>
            <a:r>
              <a:rPr lang="zh-CN" altLang="en-US" sz="1400" b="1" dirty="0">
                <a:solidFill>
                  <a:srgbClr val="FF0000"/>
                </a:solidFill>
              </a:rPr>
              <a:t>写缺失</a:t>
            </a:r>
            <a:r>
              <a:rPr lang="zh-CN" altLang="en-US" sz="1400" b="1" dirty="0"/>
              <a:t>，此时若采用</a:t>
            </a:r>
            <a:r>
              <a:rPr lang="zh-CN" altLang="en-US" sz="1400" b="1" dirty="0">
                <a:solidFill>
                  <a:srgbClr val="FF0000"/>
                </a:solidFill>
              </a:rPr>
              <a:t>写分配法</a:t>
            </a:r>
            <a:r>
              <a:rPr lang="zh-CN" altLang="en-US" sz="1400" b="1" dirty="0"/>
              <a:t>，则将地址为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的主存块调入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中，再进行数据写入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的操作；如果不采用写分配法，则直接将数据写到主存中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此时若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已经满了，还需要进行</a:t>
            </a:r>
            <a:r>
              <a:rPr lang="zh-CN" altLang="en-US" sz="1400" b="1" dirty="0">
                <a:solidFill>
                  <a:srgbClr val="FF0000"/>
                </a:solidFill>
              </a:rPr>
              <a:t>替换</a:t>
            </a:r>
            <a:r>
              <a:rPr lang="zh-CN" altLang="en-US" sz="1400" b="1" dirty="0"/>
              <a:t>，并更新查找表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脏数据</a:t>
            </a:r>
            <a:r>
              <a:rPr lang="zh-CN" altLang="en-US" sz="1400" b="1" dirty="0"/>
              <a:t>：新写入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中的数据与主存中的原始数据不一致时，新写入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中的这部分数据称为脏数据（</a:t>
            </a:r>
            <a:r>
              <a:rPr lang="en-US" altLang="zh-CN" sz="1400" b="1" dirty="0"/>
              <a:t>Dirty Data</a:t>
            </a:r>
            <a:r>
              <a:rPr lang="zh-CN" altLang="en-US" sz="1400" b="1" dirty="0"/>
              <a:t>）</a:t>
            </a:r>
            <a:endParaRPr lang="en-US" altLang="zh-CN" sz="1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73E5F4-BFD2-4CD6-8488-0F8D31C6E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429000"/>
            <a:ext cx="3301149" cy="294409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B6EF800-0C9E-4B27-9AFA-01EEBFCC6A40}"/>
              </a:ext>
            </a:extLst>
          </p:cNvPr>
          <p:cNvGrpSpPr/>
          <p:nvPr/>
        </p:nvGrpSpPr>
        <p:grpSpPr>
          <a:xfrm>
            <a:off x="6660232" y="3212976"/>
            <a:ext cx="1395532" cy="3205091"/>
            <a:chOff x="6732240" y="3274667"/>
            <a:chExt cx="1395532" cy="320509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5792EF6-33BF-4972-B243-3B823B83F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2240" y="3274667"/>
              <a:ext cx="1395532" cy="305762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9C3D1A0-DEA9-454D-92C9-2F1A63532BE4}"/>
                </a:ext>
              </a:extLst>
            </p:cNvPr>
            <p:cNvSpPr txBox="1"/>
            <p:nvPr/>
          </p:nvSpPr>
          <p:spPr>
            <a:xfrm>
              <a:off x="6810285" y="6218148"/>
              <a:ext cx="1223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cache</a:t>
              </a:r>
              <a:r>
                <a:rPr lang="zh-CN" altLang="en-US" sz="1100" b="1" dirty="0"/>
                <a:t>的替换过程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80FCD-7C91-4B71-B0EC-8C1F3918CF3E}"/>
              </a:ext>
            </a:extLst>
          </p:cNvPr>
          <p:cNvSpPr txBox="1"/>
          <p:nvPr/>
        </p:nvSpPr>
        <p:spPr>
          <a:xfrm>
            <a:off x="2627784" y="6551766"/>
            <a:ext cx="21707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4.34    cache</a:t>
            </a:r>
            <a:r>
              <a:rPr lang="zh-CN" altLang="en-US" sz="1100" b="1" dirty="0"/>
              <a:t>写操作的基本流程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F31EE8-DCD3-4977-AE22-FA676DE4C71F}"/>
              </a:ext>
            </a:extLst>
          </p:cNvPr>
          <p:cNvSpPr/>
          <p:nvPr/>
        </p:nvSpPr>
        <p:spPr>
          <a:xfrm>
            <a:off x="323528" y="1268760"/>
            <a:ext cx="1296144" cy="808631"/>
          </a:xfrm>
          <a:prstGeom prst="wedgeRoundRectCallout">
            <a:avLst>
              <a:gd name="adj1" fmla="val 149587"/>
              <a:gd name="adj2" fmla="val 375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要写入的数据块尚未调入</a:t>
            </a:r>
            <a:r>
              <a:rPr lang="en-US" altLang="zh-CN" sz="1400" dirty="0"/>
              <a:t>cache</a:t>
            </a:r>
            <a:endParaRPr lang="zh-CN" altLang="en-US" sz="140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AE457D35-8AEF-456F-9F4D-93D2724F8872}"/>
              </a:ext>
            </a:extLst>
          </p:cNvPr>
          <p:cNvSpPr/>
          <p:nvPr/>
        </p:nvSpPr>
        <p:spPr>
          <a:xfrm>
            <a:off x="5580112" y="1340768"/>
            <a:ext cx="1512168" cy="690653"/>
          </a:xfrm>
          <a:prstGeom prst="wedgeRoundRectCallout">
            <a:avLst>
              <a:gd name="adj1" fmla="val -94248"/>
              <a:gd name="adj2" fmla="val 572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先将数据块调入</a:t>
            </a:r>
            <a:r>
              <a:rPr lang="en-US" altLang="zh-CN" sz="1400" dirty="0"/>
              <a:t>cache</a:t>
            </a:r>
            <a:r>
              <a:rPr lang="zh-CN" altLang="en-US" sz="1400" dirty="0"/>
              <a:t>，执行写操作</a:t>
            </a:r>
          </a:p>
        </p:txBody>
      </p:sp>
    </p:spTree>
    <p:extLst>
      <p:ext uri="{BB962C8B-B14F-4D97-AF65-F5344CB8AC3E}">
        <p14:creationId xmlns:p14="http://schemas.microsoft.com/office/powerpoint/2010/main" val="35484527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260E82-83FF-4952-B492-214CBDA41418}"/>
              </a:ext>
            </a:extLst>
          </p:cNvPr>
          <p:cNvSpPr txBox="1"/>
          <p:nvPr/>
        </p:nvSpPr>
        <p:spPr>
          <a:xfrm>
            <a:off x="251520" y="332656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allocation</a:t>
            </a:r>
            <a:r>
              <a:rPr lang="zh-CN" altLang="en-US" sz="2400" dirty="0"/>
              <a:t>（写分配）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EB5EE6-975C-4A10-8CF3-463615F60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021035"/>
            <a:ext cx="5514975" cy="39243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E4616F-D3B8-48E5-836D-9A525859BB17}"/>
              </a:ext>
            </a:extLst>
          </p:cNvPr>
          <p:cNvSpPr/>
          <p:nvPr/>
        </p:nvSpPr>
        <p:spPr>
          <a:xfrm>
            <a:off x="467544" y="5301208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写分配（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Allocation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）也被称为写时取（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fetch on write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）。即：未写入位置的数据首先被加载到缓存，然后是写入命中操作。在这种方法中，写入未命中类似于读取未命中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8410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FBF1D2-06DB-4BAA-BE84-7B7F1F149C0A}"/>
              </a:ext>
            </a:extLst>
          </p:cNvPr>
          <p:cNvSpPr txBox="1"/>
          <p:nvPr/>
        </p:nvSpPr>
        <p:spPr>
          <a:xfrm>
            <a:off x="467544" y="332656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no allocation</a:t>
            </a:r>
            <a:r>
              <a:rPr lang="zh-CN" altLang="en-US" sz="2400" dirty="0"/>
              <a:t>（无写分配）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978F59-A5BC-4A0F-B798-97459EF6C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64860"/>
            <a:ext cx="5301208" cy="41084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2CEE40-5895-4127-86FF-2E470A819E46}"/>
              </a:ext>
            </a:extLst>
          </p:cNvPr>
          <p:cNvSpPr/>
          <p:nvPr/>
        </p:nvSpPr>
        <p:spPr>
          <a:xfrm>
            <a:off x="683568" y="4902757"/>
            <a:ext cx="8136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无写分配（</a:t>
            </a:r>
            <a:r>
              <a:rPr lang="en-US" altLang="zh-CN" b="1" dirty="0"/>
              <a:t>No Write Allocation</a:t>
            </a:r>
            <a:r>
              <a:rPr lang="zh-CN" altLang="en-US" dirty="0"/>
              <a:t>）也称为 </a:t>
            </a:r>
            <a:r>
              <a:rPr lang="en-US" altLang="zh-CN" b="1" dirty="0"/>
              <a:t>Write-no-allocate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1" dirty="0"/>
              <a:t>write around</a:t>
            </a:r>
            <a:r>
              <a:rPr lang="zh-CN" altLang="en-US" dirty="0"/>
              <a:t>。即：未写入位置的数据不加载到缓存，而是直接写入后备内存。在这种方法中，仅在读取未命中时将数据加载到缓存中。这里数据直接写入或者更新到主存而不干扰缓存。当数据无需立即再次使用时，最好使用这种方法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4690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8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写入策略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是主存一部分内容的</a:t>
            </a:r>
            <a:r>
              <a:rPr lang="zh-CN" altLang="en-US" sz="1800" b="1" dirty="0">
                <a:solidFill>
                  <a:srgbClr val="FF0000"/>
                </a:solidFill>
              </a:rPr>
              <a:t>副本</a:t>
            </a:r>
            <a:r>
              <a:rPr lang="zh-CN" altLang="en-US" sz="1800" b="1" dirty="0"/>
              <a:t>，在写入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时，需要保证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与主存数据的</a:t>
            </a:r>
            <a:r>
              <a:rPr lang="zh-CN" altLang="en-US" sz="1800" b="1" dirty="0">
                <a:solidFill>
                  <a:srgbClr val="FF0000"/>
                </a:solidFill>
              </a:rPr>
              <a:t>一致性</a:t>
            </a:r>
            <a:r>
              <a:rPr lang="zh-CN" altLang="en-US" sz="1800" b="1" dirty="0"/>
              <a:t>，即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的内容改变了，主存相应的内容也要改变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的写入策略主要有：写回法、写穿法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、写回法（</a:t>
            </a:r>
            <a:r>
              <a:rPr lang="en-US" altLang="zh-CN" sz="2000" b="1" dirty="0"/>
              <a:t>Write Back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WB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时，只修改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的内容，而不立即修改主存的内容；只有</a:t>
            </a:r>
            <a:r>
              <a:rPr lang="zh-CN" altLang="en-US" sz="1800" b="1" dirty="0">
                <a:solidFill>
                  <a:srgbClr val="C00000"/>
                </a:solidFill>
              </a:rPr>
              <a:t>当该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行被替换出去</a:t>
            </a:r>
            <a:r>
              <a:rPr lang="zh-CN" altLang="en-US" sz="1800" b="1" dirty="0"/>
              <a:t>时，才将脏数据（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被修改后的数据称为脏数据）写回主存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写回法可以使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在大部分时间（没有发生替换的时间）的写入速度等于访问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的速度，只有在发生替换时，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的写入速度才变为访问主存的速度（此时要执行写入主存的操作）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的每一行必须配置一个</a:t>
            </a:r>
            <a:r>
              <a:rPr lang="zh-CN" altLang="en-US" sz="1800" b="1" dirty="0">
                <a:highlight>
                  <a:srgbClr val="FFFF00"/>
                </a:highlight>
              </a:rPr>
              <a:t>修改位，也称为脏位（</a:t>
            </a:r>
            <a:r>
              <a:rPr lang="en-US" altLang="zh-CN" sz="1800" b="1" dirty="0">
                <a:highlight>
                  <a:srgbClr val="FFFF00"/>
                </a:highlight>
              </a:rPr>
              <a:t>Dirty Bit</a:t>
            </a:r>
            <a:r>
              <a:rPr lang="zh-CN" altLang="en-US" sz="1800" b="1" dirty="0">
                <a:highlight>
                  <a:srgbClr val="FFFF00"/>
                </a:highlight>
              </a:rPr>
              <a:t>）</a:t>
            </a:r>
            <a:r>
              <a:rPr lang="zh-CN" altLang="en-US" sz="1800" b="1" dirty="0"/>
              <a:t>；若该行被修改，则脏位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，否则为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；当该行被替换出去时，如果脏位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，则需要将该行的内容写入主存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184665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3122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、写穿法（</a:t>
            </a:r>
            <a:r>
              <a:rPr lang="en-US" altLang="zh-CN" sz="2000" b="1" dirty="0"/>
              <a:t>Write Through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WT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写穿法也称为直写法，当写入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olidFill>
                  <a:srgbClr val="C00000"/>
                </a:solidFill>
              </a:rPr>
              <a:t>同时</a:t>
            </a:r>
            <a:r>
              <a:rPr lang="zh-CN" altLang="en-US" sz="1800" b="1" dirty="0"/>
              <a:t>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的行和主存对应的数据块进行修改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写穿法的优点：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的每行不需要设置一个修改位（脏位），并且发生替换时，直接将该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行丢弃，不需要写回主存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写穿法的缺点：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的写入时间将变为访问主存的时间，从而大大降低了写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写穿法较好地维护了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与主存的一致性，</a:t>
            </a:r>
            <a:r>
              <a:rPr lang="en-US" altLang="zh-CN" sz="1800" b="1" dirty="0"/>
              <a:t>Intel 80486</a:t>
            </a:r>
            <a:r>
              <a:rPr lang="zh-CN" altLang="en-US" sz="1800" b="1" dirty="0"/>
              <a:t>处理器的片内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采用的就是写穿法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130665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043257-4A4A-4D9E-8BD3-77C0B6A5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42" y="1036063"/>
            <a:ext cx="5553116" cy="34583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4BE702-AEB6-4971-BD1C-EA0530393EBE}"/>
              </a:ext>
            </a:extLst>
          </p:cNvPr>
          <p:cNvSpPr txBox="1"/>
          <p:nvPr/>
        </p:nvSpPr>
        <p:spPr>
          <a:xfrm>
            <a:off x="827584" y="404664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through</a:t>
            </a:r>
            <a:r>
              <a:rPr lang="zh-CN" altLang="en-US" sz="2400" dirty="0"/>
              <a:t>（写直达）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56CC94-545C-4379-B679-307105451C95}"/>
              </a:ext>
            </a:extLst>
          </p:cNvPr>
          <p:cNvSpPr/>
          <p:nvPr/>
        </p:nvSpPr>
        <p:spPr>
          <a:xfrm>
            <a:off x="683568" y="4725144"/>
            <a:ext cx="81003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在透写（</a:t>
            </a:r>
            <a:r>
              <a:rPr lang="en-US" altLang="zh-CN" b="1" dirty="0"/>
              <a:t>Write Through</a:t>
            </a:r>
            <a:r>
              <a:rPr lang="zh-CN" altLang="en-US" dirty="0"/>
              <a:t>）场景中，数据同时更新到缓存和内存（</a:t>
            </a:r>
            <a:r>
              <a:rPr lang="en-US" altLang="zh-CN" b="1" dirty="0"/>
              <a:t>simultaneously updated to cache and memory</a:t>
            </a:r>
            <a:r>
              <a:rPr lang="zh-CN" altLang="en-US" dirty="0"/>
              <a:t>）。这个过程更简单、更可靠。这用于没有频繁写入缓存的情况（写入操作的次数较少）。</a:t>
            </a:r>
          </a:p>
          <a:p>
            <a:r>
              <a:rPr lang="zh-CN" altLang="en-US" dirty="0"/>
              <a:t>它有助于数据恢复（在断电或系统故障的情况下）。因为我们必须写入两个位置（内存和缓存），数据写入将经历延迟。虽然它解决了不一致的问题，但它的问题是在写操作中使用缓存的优势，因为使用缓存的全部目的是避免对主内存的多次访问。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1973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C697A-4AEE-4573-83A3-C76F9436EBCD}"/>
              </a:ext>
            </a:extLst>
          </p:cNvPr>
          <p:cNvSpPr txBox="1"/>
          <p:nvPr/>
        </p:nvSpPr>
        <p:spPr>
          <a:xfrm>
            <a:off x="395536" y="332656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back</a:t>
            </a:r>
            <a:r>
              <a:rPr lang="zh-CN" altLang="en-US" sz="2400" dirty="0"/>
              <a:t>（写回）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AD3D6-7CD2-470A-87BE-6CDFA8581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76672"/>
            <a:ext cx="5124450" cy="52482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03C23E-E3CD-4D8F-AA39-D4554A00BF7F}"/>
              </a:ext>
            </a:extLst>
          </p:cNvPr>
          <p:cNvSpPr/>
          <p:nvPr/>
        </p:nvSpPr>
        <p:spPr>
          <a:xfrm>
            <a:off x="467544" y="1196752"/>
            <a:ext cx="25922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回写（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）也被称为延迟</a:t>
            </a:r>
            <a:r>
              <a:rPr lang="zh-CN" altLang="en-US" dirty="0">
                <a:solidFill>
                  <a:srgbClr val="175199"/>
                </a:solidFill>
                <a:latin typeface="-apple-system"/>
                <a:hlinkClick r:id="rId3"/>
              </a:rPr>
              <a:t>写入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Behind / Write Deferred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）。也就是说，最初数据只在缓存中更新，稍后再更新到内存中。对内存的写入动作会被推迟，直到修改的内容在缓存中即将被另一个缓存块替换。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6251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实现关键技术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数据查找</a:t>
            </a:r>
            <a:r>
              <a:rPr lang="zh-CN" altLang="en-US" sz="1600" b="1" dirty="0"/>
              <a:t>：即如何快速查找数据是否在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中？如果查找到，则为命中，否则为缺失；通常采用</a:t>
            </a:r>
            <a:r>
              <a:rPr lang="zh-CN" altLang="en-US" sz="1600" b="1" dirty="0">
                <a:solidFill>
                  <a:srgbClr val="FF0000"/>
                </a:solidFill>
              </a:rPr>
              <a:t>相联存储器</a:t>
            </a:r>
            <a:r>
              <a:rPr lang="zh-CN" altLang="en-US" sz="1600" b="1" dirty="0"/>
              <a:t>以提高数据查找的速度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地址映射</a:t>
            </a:r>
            <a:r>
              <a:rPr lang="zh-CN" altLang="en-US" sz="1600" b="1" dirty="0"/>
              <a:t>：主存中的数据块应如何放置到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中？是任意放置，还是按照一定的规则放置？不同的</a:t>
            </a:r>
            <a:r>
              <a:rPr lang="zh-CN" altLang="en-US" sz="1600" b="1" dirty="0">
                <a:solidFill>
                  <a:srgbClr val="FF0000"/>
                </a:solidFill>
              </a:rPr>
              <a:t>地址映射策略</a:t>
            </a:r>
            <a:r>
              <a:rPr lang="zh-CN" altLang="en-US" sz="1600" b="1" dirty="0"/>
              <a:t>会对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的性能及硬件成本带来影响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替换策略</a:t>
            </a:r>
            <a:r>
              <a:rPr lang="zh-CN" altLang="en-US" sz="1600" b="1" dirty="0"/>
              <a:t>：在将主存数据块放置到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中时，如果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满了，则需要将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中的某个数据块替换或淘汰掉，不同的替换策略会对数据命中率产生影响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写入策略</a:t>
            </a:r>
            <a:r>
              <a:rPr lang="zh-CN" altLang="en-US" sz="1600" b="1" dirty="0"/>
              <a:t>：在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的写入操作时，如何保证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与主存数据的一致性，通常有写回和写直达两种策略，</a:t>
            </a:r>
            <a:r>
              <a:rPr lang="zh-CN" altLang="en-US" sz="1600" b="1" dirty="0">
                <a:solidFill>
                  <a:srgbClr val="FF0000"/>
                </a:solidFill>
              </a:rPr>
              <a:t>写回策略</a:t>
            </a:r>
            <a:r>
              <a:rPr lang="zh-CN" altLang="en-US" sz="1600" b="1" dirty="0"/>
              <a:t>可以提高写操作的速度，但会带来数据不一致的问题；</a:t>
            </a:r>
            <a:r>
              <a:rPr lang="zh-CN" altLang="en-US" sz="1600" b="1" dirty="0">
                <a:solidFill>
                  <a:srgbClr val="FF0000"/>
                </a:solidFill>
              </a:rPr>
              <a:t>写直达策略</a:t>
            </a:r>
            <a:r>
              <a:rPr lang="zh-CN" altLang="en-US" sz="1600" b="1" dirty="0"/>
              <a:t>能保证数据一致性，但影响写入操作的速度</a:t>
            </a:r>
            <a:endParaRPr lang="en-US" altLang="zh-CN" sz="1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67D673-41BD-48D4-A274-8F688087638E}"/>
              </a:ext>
            </a:extLst>
          </p:cNvPr>
          <p:cNvSpPr txBox="1"/>
          <p:nvPr/>
        </p:nvSpPr>
        <p:spPr>
          <a:xfrm>
            <a:off x="107504" y="908720"/>
            <a:ext cx="1224135" cy="43088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sz="11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473B47-984F-420B-B24C-510A10EA9A5F}"/>
              </a:ext>
            </a:extLst>
          </p:cNvPr>
          <p:cNvSpPr txBox="1"/>
          <p:nvPr/>
        </p:nvSpPr>
        <p:spPr>
          <a:xfrm>
            <a:off x="107504" y="2030651"/>
            <a:ext cx="1224135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EA17F0-E6AC-46FE-A2EB-112E55212C70}"/>
              </a:ext>
            </a:extLst>
          </p:cNvPr>
          <p:cNvSpPr txBox="1"/>
          <p:nvPr/>
        </p:nvSpPr>
        <p:spPr>
          <a:xfrm>
            <a:off x="107504" y="3398803"/>
            <a:ext cx="1224135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1857CB-EAA8-47BD-85E5-7BE1C32F7096}"/>
              </a:ext>
            </a:extLst>
          </p:cNvPr>
          <p:cNvSpPr txBox="1"/>
          <p:nvPr/>
        </p:nvSpPr>
        <p:spPr>
          <a:xfrm>
            <a:off x="107504" y="4766955"/>
            <a:ext cx="1224135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8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写入策略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953528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普通的存储器是按地址进行访问，而相联存储器则是</a:t>
            </a:r>
            <a:r>
              <a:rPr lang="zh-CN" altLang="en-US" sz="1600" b="1" dirty="0">
                <a:solidFill>
                  <a:srgbClr val="FF0000"/>
                </a:solidFill>
              </a:rPr>
              <a:t>按内容进行访问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相联存储器（</a:t>
            </a:r>
            <a:r>
              <a:rPr lang="en-US" altLang="zh-CN" sz="1600" b="1" dirty="0"/>
              <a:t>CAM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Content Addressable Memory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相联存储器用于存放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</a:rPr>
              <a:t>的查找表</a:t>
            </a:r>
            <a:r>
              <a:rPr lang="zh-CN" altLang="en-US" sz="1600" b="1" dirty="0"/>
              <a:t>，其内部存储的基本数据是</a:t>
            </a:r>
            <a:r>
              <a:rPr lang="zh-CN" altLang="en-US" sz="1600" b="1" dirty="0">
                <a:solidFill>
                  <a:srgbClr val="FF0000"/>
                </a:solidFill>
              </a:rPr>
              <a:t>键值对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相联存储器的输入不是地址，而是检索关键字</a:t>
            </a:r>
            <a:r>
              <a:rPr lang="en-US" altLang="zh-CN" sz="1600" b="1" dirty="0">
                <a:highlight>
                  <a:srgbClr val="FFFF00"/>
                </a:highlight>
              </a:rPr>
              <a:t>key</a:t>
            </a:r>
            <a:r>
              <a:rPr lang="zh-CN" altLang="en-US" sz="1600" b="1" dirty="0"/>
              <a:t>，输出是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对应的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值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例如要查找某人的工资数，此时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为“姓名”或“工号”，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为“工资数”，在相联存储器中输入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“张帅”，就可以得到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4000</a:t>
            </a:r>
            <a:r>
              <a:rPr lang="zh-CN" altLang="en-US" sz="1600" b="1" dirty="0"/>
              <a:t>”；或者输入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021</a:t>
            </a:r>
            <a:r>
              <a:rPr lang="zh-CN" altLang="en-US" sz="1600" b="1" dirty="0"/>
              <a:t>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7EED5-F68A-40CF-B5C7-8D6587F6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869160"/>
            <a:ext cx="555718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849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78031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相联存储器的基本原理（图</a:t>
            </a:r>
            <a:r>
              <a:rPr lang="en-US" altLang="zh-CN" sz="1600" b="1" dirty="0"/>
              <a:t>4.35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假设相联存储器（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的查找表）中有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个键值对（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），每个键值对还有一个有效位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表示该键值对是有效的，</a:t>
            </a:r>
            <a:r>
              <a:rPr lang="en-US" altLang="zh-CN" sz="1400" b="1" dirty="0"/>
              <a:t>valid=0</a:t>
            </a:r>
            <a:r>
              <a:rPr lang="zh-CN" altLang="en-US" sz="1400" b="1" dirty="0"/>
              <a:t>表示该键值对是无效的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假设检索关键字</a:t>
            </a:r>
            <a:r>
              <a:rPr lang="en-US" altLang="zh-CN" sz="1400" b="1" dirty="0"/>
              <a:t>key=234</a:t>
            </a:r>
            <a:r>
              <a:rPr lang="zh-CN" altLang="en-US" sz="1400" b="1" dirty="0"/>
              <a:t>，此时会将该检索关键字与相联存储器中的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个键值对的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进行比较，比较相等且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的那个键值对（图中的第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个键值对）为找到的键值对，将其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值输出（</a:t>
            </a:r>
            <a:r>
              <a:rPr lang="en-US" altLang="zh-CN" sz="1400" b="1" dirty="0"/>
              <a:t>value=777</a:t>
            </a:r>
            <a:r>
              <a:rPr lang="zh-CN" altLang="en-US" sz="14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CC8B15-AFC4-48A1-AD03-D302EB16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420888"/>
            <a:ext cx="4940410" cy="38164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6A8041-AF45-4955-97B3-EA95B6E341C1}"/>
              </a:ext>
            </a:extLst>
          </p:cNvPr>
          <p:cNvSpPr txBox="1"/>
          <p:nvPr/>
        </p:nvSpPr>
        <p:spPr>
          <a:xfrm>
            <a:off x="3625349" y="6335742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4.35    </a:t>
            </a:r>
            <a:r>
              <a:rPr lang="zh-CN" altLang="en-US" sz="1100" b="1" dirty="0"/>
              <a:t>相联存储器的基本原理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88E0F28-341D-4BDE-8C1A-C59849639B11}"/>
              </a:ext>
            </a:extLst>
          </p:cNvPr>
          <p:cNvSpPr/>
          <p:nvPr/>
        </p:nvSpPr>
        <p:spPr>
          <a:xfrm>
            <a:off x="5868144" y="2307605"/>
            <a:ext cx="1440160" cy="473323"/>
          </a:xfrm>
          <a:prstGeom prst="wedgeRoundRectCallout">
            <a:avLst>
              <a:gd name="adj1" fmla="val -87158"/>
              <a:gd name="adj2" fmla="val 1658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三态门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0,1,</a:t>
            </a:r>
            <a:r>
              <a:rPr lang="zh-CN" altLang="en-US" sz="1400" dirty="0"/>
              <a:t>高阻）</a:t>
            </a:r>
          </a:p>
        </p:txBody>
      </p:sp>
    </p:spTree>
    <p:extLst>
      <p:ext uri="{BB962C8B-B14F-4D97-AF65-F5344CB8AC3E}">
        <p14:creationId xmlns:p14="http://schemas.microsoft.com/office/powerpoint/2010/main" val="24618256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800" b="1" dirty="0"/>
              <a:t>地址映射是指如何将主存地址空间映射到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的地址空间，即主存的某一块将载入到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的哪一块中？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地址映射有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种方法：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全相联映射（</a:t>
            </a:r>
            <a:r>
              <a:rPr lang="en-US" altLang="zh-CN" sz="1600" b="1" dirty="0"/>
              <a:t>Full Associative Mapping</a:t>
            </a:r>
            <a:r>
              <a:rPr lang="zh-CN" altLang="en-US" sz="1600" b="1" dirty="0"/>
              <a:t>）：主存的某一块可以映射到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直接相联映射（</a:t>
            </a:r>
            <a:r>
              <a:rPr lang="en-US" altLang="zh-CN" sz="1600" b="1" dirty="0"/>
              <a:t>Direct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组相联映射（</a:t>
            </a:r>
            <a:r>
              <a:rPr lang="en-US" altLang="zh-CN" sz="1600" b="1" dirty="0"/>
              <a:t>Set Associative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的固定组的任意块中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36B6D6-E907-47AE-9B5C-14A9B239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5157192"/>
            <a:ext cx="4259211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60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466" name="Group 34">
            <a:extLst>
              <a:ext uri="{FF2B5EF4-FFF2-40B4-BE49-F238E27FC236}">
                <a16:creationId xmlns:a16="http://schemas.microsoft.com/office/drawing/2014/main" id="{F3DC9427-9DF2-4326-90B2-02B7A2449B9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331640" y="3284984"/>
          <a:ext cx="6984776" cy="2893397"/>
        </p:xfrm>
        <a:graphic>
          <a:graphicData uri="http://schemas.openxmlformats.org/drawingml/2006/table">
            <a:tbl>
              <a:tblPr/>
              <a:tblGrid>
                <a:gridCol w="55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370985813"/>
                    </a:ext>
                  </a:extLst>
                </a:gridCol>
              </a:tblGrid>
              <a:tr h="6844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3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487213"/>
            <a:ext cx="8229600" cy="2077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</a:t>
            </a:r>
            <a:r>
              <a:rPr lang="zh-CN" altLang="en-US" sz="1400" b="1" dirty="0">
                <a:highlight>
                  <a:srgbClr val="FFFF00"/>
                </a:highlight>
              </a:rPr>
              <a:t>某一块</a:t>
            </a:r>
            <a:r>
              <a:rPr lang="zh-CN" altLang="en-US" sz="1400" b="1" dirty="0"/>
              <a:t>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任一块</a:t>
            </a:r>
            <a:r>
              <a:rPr lang="zh-CN" altLang="en-US" sz="1400" b="1" dirty="0"/>
              <a:t>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块、第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块、</a:t>
            </a:r>
            <a:r>
              <a:rPr lang="en-US" altLang="zh-CN" sz="1400" b="1" dirty="0"/>
              <a:t>…</a:t>
            </a:r>
            <a:r>
              <a:rPr lang="zh-CN" altLang="en-US" sz="1400" b="1" dirty="0"/>
              <a:t>、第</a:t>
            </a:r>
            <a:r>
              <a:rPr lang="en-US" altLang="zh-CN" sz="1400" b="1" dirty="0"/>
              <a:t>31</a:t>
            </a:r>
            <a:r>
              <a:rPr lang="zh-CN" altLang="en-US" sz="1400" b="1" dirty="0"/>
              <a:t>块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8A27B-8A6F-4715-8BEF-70D30019F65B}"/>
              </a:ext>
            </a:extLst>
          </p:cNvPr>
          <p:cNvSpPr txBox="1"/>
          <p:nvPr/>
        </p:nvSpPr>
        <p:spPr>
          <a:xfrm>
            <a:off x="3851920" y="2740278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FF0000"/>
                </a:solidFill>
              </a:rPr>
              <a:t>全相联映射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332656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的固定一块；例如主存的第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 </a:t>
            </a:r>
            <a:r>
              <a:rPr lang="en-US" altLang="zh-CN" sz="1400" b="1" dirty="0"/>
              <a:t>  </a:t>
            </a:r>
          </a:p>
          <a:p>
            <a:pPr lvl="2"/>
            <a:r>
              <a:rPr lang="en-US" altLang="zh-CN" sz="1400" b="1" dirty="0"/>
              <a:t> </a:t>
            </a:r>
          </a:p>
          <a:p>
            <a:pPr lvl="2"/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>
                <a:highlight>
                  <a:srgbClr val="FFFF00"/>
                </a:highlight>
              </a:rPr>
              <a:t>    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块）</a:t>
            </a:r>
            <a:r>
              <a:rPr lang="en-US" altLang="zh-CN" sz="1400" b="1" dirty="0">
                <a:highlight>
                  <a:srgbClr val="FFFF00"/>
                </a:highlight>
              </a:rPr>
              <a:t>=j 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</a:t>
            </a:r>
            <a:r>
              <a:rPr lang="en-US" altLang="zh-CN" sz="1400" b="1" dirty="0">
                <a:highlight>
                  <a:srgbClr val="FFFF00"/>
                </a:highlight>
              </a:rPr>
              <a:t>mod n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块数</a:t>
            </a:r>
            <a:r>
              <a:rPr lang="en-US" altLang="zh-CN" sz="1400" b="1" dirty="0">
                <a:highlight>
                  <a:srgbClr val="FFFF00"/>
                </a:highlight>
              </a:rPr>
              <a:t>/</a:t>
            </a:r>
            <a:r>
              <a:rPr lang="zh-CN" altLang="en-US" sz="1400" b="1" dirty="0">
                <a:highlight>
                  <a:srgbClr val="FFFF00"/>
                </a:highlight>
              </a:rPr>
              <a:t>行数）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608" y="3429000"/>
          <a:ext cx="7488832" cy="2893575"/>
        </p:xfrm>
        <a:graphic>
          <a:graphicData uri="http://schemas.openxmlformats.org/drawingml/2006/table">
            <a:tbl>
              <a:tblPr/>
              <a:tblGrid>
                <a:gridCol w="597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17745132"/>
                    </a:ext>
                  </a:extLst>
                </a:gridCol>
              </a:tblGrid>
              <a:tr h="744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C4DAA6B-D479-45A9-A379-69730166A7A3}"/>
              </a:ext>
            </a:extLst>
          </p:cNvPr>
          <p:cNvSpPr txBox="1"/>
          <p:nvPr/>
        </p:nvSpPr>
        <p:spPr>
          <a:xfrm>
            <a:off x="3995936" y="286917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直接</a:t>
            </a:r>
            <a:r>
              <a:rPr lang="zh-CN" altLang="en-US" sz="1800" b="1" dirty="0">
                <a:solidFill>
                  <a:srgbClr val="FF0000"/>
                </a:solidFill>
              </a:rPr>
              <a:t>相联映射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753585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260648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）组相联映射方式：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路组相联映射方式；则主存有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组、每组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块（行）、共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固定组</a:t>
            </a:r>
            <a:r>
              <a:rPr lang="zh-CN" altLang="en-US" sz="1400" b="1" dirty="0"/>
              <a:t>（在该组中可以映射到其中的</a:t>
            </a:r>
            <a:r>
              <a:rPr lang="zh-CN" altLang="en-US" sz="1400" b="1" dirty="0">
                <a:highlight>
                  <a:srgbClr val="FFFF00"/>
                </a:highlight>
              </a:rPr>
              <a:t>任意一块</a:t>
            </a:r>
            <a:r>
              <a:rPr lang="zh-CN" altLang="en-US" sz="1400" b="1" dirty="0"/>
              <a:t>）；例如主存的第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块）；主存的第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块）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组号）</a:t>
            </a:r>
            <a:r>
              <a:rPr lang="en-US" altLang="zh-CN" sz="1400" b="1" dirty="0">
                <a:highlight>
                  <a:srgbClr val="FFFF00"/>
                </a:highlight>
              </a:rPr>
              <a:t>=j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 </a:t>
            </a:r>
            <a:r>
              <a:rPr lang="en-US" altLang="zh-CN" sz="1400" b="1" dirty="0">
                <a:highlight>
                  <a:srgbClr val="FFFF00"/>
                </a:highlight>
              </a:rPr>
              <a:t>mod Q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的组数）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20527" y="3429000"/>
          <a:ext cx="7811913" cy="3098507"/>
        </p:xfrm>
        <a:graphic>
          <a:graphicData uri="http://schemas.openxmlformats.org/drawingml/2006/table">
            <a:tbl>
              <a:tblPr/>
              <a:tblGrid>
                <a:gridCol w="557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958651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75356412"/>
                    </a:ext>
                  </a:extLst>
                </a:gridCol>
              </a:tblGrid>
              <a:tr h="4109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组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块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2420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1008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1009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310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1010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97D44C1-D670-44D3-8A61-E754FE09A59C}"/>
              </a:ext>
            </a:extLst>
          </p:cNvPr>
          <p:cNvSpPr txBox="1"/>
          <p:nvPr/>
        </p:nvSpPr>
        <p:spPr>
          <a:xfrm>
            <a:off x="3995936" y="286917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路组</a:t>
            </a:r>
            <a:r>
              <a:rPr lang="zh-CN" altLang="en-US" sz="1800" b="1" dirty="0">
                <a:solidFill>
                  <a:srgbClr val="FF0000"/>
                </a:solidFill>
              </a:rPr>
              <a:t>相联映射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57629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、全相联映射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全相联映射：主存的某一块可以映射到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的任意块中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假设主存有</a:t>
            </a:r>
            <a:r>
              <a:rPr lang="en-US" altLang="zh-CN" sz="1400" b="1" dirty="0" err="1"/>
              <a:t>mn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mn-1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块（行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～行</a:t>
            </a:r>
            <a:r>
              <a:rPr lang="en-US" altLang="zh-CN" sz="1400" b="1" dirty="0"/>
              <a:t>n-1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的每一行包括：数据块副本（即主存某一块的副本）、主存块地址、有效位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地址映射过程：将主存地址中的主存块地址（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行的主存块地址进行比较（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路并发比较，即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个进行比较），比较相等且有效位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的那一行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FF0000"/>
                </a:solidFill>
              </a:rPr>
              <a:t>缺失</a:t>
            </a:r>
            <a:r>
              <a:rPr lang="zh-CN" altLang="en-US" sz="1400" b="1" dirty="0"/>
              <a:t>（没有比较相等的对应块，或者是比较相等但有效位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8DE77B-446C-4E80-AEF5-F9198E81824B}"/>
              </a:ext>
            </a:extLst>
          </p:cNvPr>
          <p:cNvGrpSpPr/>
          <p:nvPr/>
        </p:nvGrpSpPr>
        <p:grpSpPr>
          <a:xfrm>
            <a:off x="1979712" y="3501008"/>
            <a:ext cx="5976664" cy="3318759"/>
            <a:chOff x="2448272" y="3861048"/>
            <a:chExt cx="5508104" cy="29587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6AD09E-989D-4CD9-8EA4-5D6F55EF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74CC836-55DD-4748-86E7-E7B7BE171AC7}"/>
                </a:ext>
              </a:extLst>
            </p:cNvPr>
            <p:cNvSpPr txBox="1"/>
            <p:nvPr/>
          </p:nvSpPr>
          <p:spPr>
            <a:xfrm>
              <a:off x="4029254" y="6511990"/>
              <a:ext cx="286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DE0B7CB-5750-44A6-812B-280E2CC63876}"/>
              </a:ext>
            </a:extLst>
          </p:cNvPr>
          <p:cNvSpPr/>
          <p:nvPr/>
        </p:nvSpPr>
        <p:spPr>
          <a:xfrm>
            <a:off x="251520" y="2142951"/>
            <a:ext cx="1728192" cy="1286049"/>
          </a:xfrm>
          <a:prstGeom prst="wedgeRoundRectCallout">
            <a:avLst>
              <a:gd name="adj1" fmla="val 75581"/>
              <a:gd name="adj2" fmla="val -11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因为全相联是映射到</a:t>
            </a:r>
            <a:r>
              <a:rPr lang="en-US" altLang="zh-CN" sz="1400" dirty="0"/>
              <a:t>cache</a:t>
            </a:r>
            <a:r>
              <a:rPr lang="zh-CN" altLang="en-US" sz="1400" dirty="0"/>
              <a:t>任意块，没有</a:t>
            </a:r>
            <a:r>
              <a:rPr lang="en-US" altLang="zh-CN" sz="1400" dirty="0"/>
              <a:t>cache</a:t>
            </a:r>
            <a:r>
              <a:rPr lang="zh-CN" altLang="en-US" sz="1400" dirty="0"/>
              <a:t>块信息，因而需要并行比较。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7923540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）全相联映射硬件实现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因为块内偏移为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EF9538-5268-4B5F-8E98-5156D6567CEB}"/>
              </a:ext>
            </a:extLst>
          </p:cNvPr>
          <p:cNvGrpSpPr/>
          <p:nvPr/>
        </p:nvGrpSpPr>
        <p:grpSpPr>
          <a:xfrm>
            <a:off x="1835696" y="2420888"/>
            <a:ext cx="6444208" cy="4065306"/>
            <a:chOff x="1835696" y="2623799"/>
            <a:chExt cx="6444208" cy="406530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758272C-20BD-4E8D-B0D0-DBEFA405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2623799"/>
              <a:ext cx="6012160" cy="363158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F2E086D-9C7B-49E6-B470-DCEF753927F6}"/>
                </a:ext>
              </a:extLst>
            </p:cNvPr>
            <p:cNvSpPr txBox="1"/>
            <p:nvPr/>
          </p:nvSpPr>
          <p:spPr>
            <a:xfrm>
              <a:off x="2267744" y="6381328"/>
              <a:ext cx="60121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4.37  </a:t>
              </a:r>
              <a:r>
                <a:rPr lang="zh-CN" altLang="en-US" sz="1400" b="1" dirty="0"/>
                <a:t>  全相联映射的硬件逻辑实现框图（该图只有</a:t>
              </a:r>
              <a:r>
                <a:rPr lang="en-US" altLang="zh-CN" sz="1400" b="1" dirty="0"/>
                <a:t>cache</a:t>
              </a:r>
              <a:r>
                <a:rPr lang="zh-CN" altLang="en-US" sz="1400" b="1" dirty="0"/>
                <a:t>，没有主存）</a:t>
              </a:r>
              <a:endParaRPr lang="zh-CN" altLang="en-US" sz="1400" dirty="0"/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83572BF-83AA-4D25-A1A2-C25126D6CDC8}"/>
              </a:ext>
            </a:extLst>
          </p:cNvPr>
          <p:cNvSpPr/>
          <p:nvPr/>
        </p:nvSpPr>
        <p:spPr>
          <a:xfrm>
            <a:off x="5796136" y="157453"/>
            <a:ext cx="3168352" cy="648072"/>
          </a:xfrm>
          <a:prstGeom prst="wedgeRoundRectCallout">
            <a:avLst>
              <a:gd name="adj1" fmla="val -60341"/>
              <a:gd name="adj2" fmla="val 57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没有</a:t>
            </a:r>
            <a:r>
              <a:rPr lang="en-US" altLang="zh-CN" sz="1600" dirty="0"/>
              <a:t>cache</a:t>
            </a:r>
            <a:r>
              <a:rPr lang="zh-CN" altLang="en-US" sz="1600" dirty="0"/>
              <a:t>块号，因为全相联映像主存任意块可进入</a:t>
            </a:r>
            <a:r>
              <a:rPr lang="en-US" altLang="zh-CN" sz="1600" dirty="0"/>
              <a:t>cache</a:t>
            </a:r>
            <a:r>
              <a:rPr lang="zh-CN" altLang="en-US" sz="1600" dirty="0"/>
              <a:t>任意块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E26D148-49E6-4890-AD48-530419139120}"/>
              </a:ext>
            </a:extLst>
          </p:cNvPr>
          <p:cNvSpPr/>
          <p:nvPr/>
        </p:nvSpPr>
        <p:spPr>
          <a:xfrm>
            <a:off x="7412861" y="1839765"/>
            <a:ext cx="1440160" cy="768434"/>
          </a:xfrm>
          <a:prstGeom prst="wedgeRoundRectCallout">
            <a:avLst>
              <a:gd name="adj1" fmla="val -109270"/>
              <a:gd name="adj2" fmla="val 606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Offset </a:t>
            </a:r>
            <a:r>
              <a:rPr lang="zh-CN" altLang="en-US" sz="1400" dirty="0"/>
              <a:t>确定具体输出</a:t>
            </a:r>
            <a:r>
              <a:rPr lang="en-US" altLang="zh-CN" sz="1400" dirty="0"/>
              <a:t>4</a:t>
            </a:r>
            <a:r>
              <a:rPr lang="zh-CN" altLang="en-US" sz="1400" dirty="0"/>
              <a:t>个字中的哪一个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8905E52-9B3E-46A0-93BD-D062641E69B2}"/>
              </a:ext>
            </a:extLst>
          </p:cNvPr>
          <p:cNvSpPr/>
          <p:nvPr/>
        </p:nvSpPr>
        <p:spPr>
          <a:xfrm>
            <a:off x="7246640" y="2633599"/>
            <a:ext cx="1440160" cy="768434"/>
          </a:xfrm>
          <a:prstGeom prst="wedgeRoundRectCallout">
            <a:avLst>
              <a:gd name="adj1" fmla="val -78448"/>
              <a:gd name="adj2" fmla="val 375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Li </a:t>
            </a:r>
            <a:r>
              <a:rPr lang="zh-CN" altLang="en-US" sz="1400" dirty="0"/>
              <a:t>比较结果打通三态门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A2DCF-CB42-4A0A-A9F9-03354366145C}"/>
              </a:ext>
            </a:extLst>
          </p:cNvPr>
          <p:cNvSpPr/>
          <p:nvPr/>
        </p:nvSpPr>
        <p:spPr>
          <a:xfrm>
            <a:off x="2267744" y="4293096"/>
            <a:ext cx="864096" cy="21602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15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ED3710-B241-43D9-AD74-4154849E3BE8}"/>
              </a:ext>
            </a:extLst>
          </p:cNvPr>
          <p:cNvCxnSpPr/>
          <p:nvPr/>
        </p:nvCxnSpPr>
        <p:spPr>
          <a:xfrm>
            <a:off x="3131840" y="4437112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2AF95A-9634-473E-B095-CBC14F13CD02}"/>
              </a:ext>
            </a:extLst>
          </p:cNvPr>
          <p:cNvCxnSpPr>
            <a:cxnSpLocks/>
          </p:cNvCxnSpPr>
          <p:nvPr/>
        </p:nvCxnSpPr>
        <p:spPr>
          <a:xfrm>
            <a:off x="3599892" y="4436626"/>
            <a:ext cx="6120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DBF8B771-1338-4C58-AD8B-360FD705289A}"/>
              </a:ext>
            </a:extLst>
          </p:cNvPr>
          <p:cNvSpPr/>
          <p:nvPr/>
        </p:nvSpPr>
        <p:spPr>
          <a:xfrm>
            <a:off x="4841776" y="4293096"/>
            <a:ext cx="504056" cy="216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31069-CD3E-4BFF-9959-5BA704BFF43A}"/>
              </a:ext>
            </a:extLst>
          </p:cNvPr>
          <p:cNvCxnSpPr>
            <a:cxnSpLocks/>
          </p:cNvCxnSpPr>
          <p:nvPr/>
        </p:nvCxnSpPr>
        <p:spPr>
          <a:xfrm>
            <a:off x="6372200" y="4436626"/>
            <a:ext cx="4320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83972CB-071A-4213-ADC3-E1695C38833C}"/>
              </a:ext>
            </a:extLst>
          </p:cNvPr>
          <p:cNvCxnSpPr/>
          <p:nvPr/>
        </p:nvCxnSpPr>
        <p:spPr>
          <a:xfrm flipV="1">
            <a:off x="6804248" y="4293096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BA5D9E-A6FE-4703-AD44-1D449D63A679}"/>
              </a:ext>
            </a:extLst>
          </p:cNvPr>
          <p:cNvCxnSpPr>
            <a:cxnSpLocks/>
          </p:cNvCxnSpPr>
          <p:nvPr/>
        </p:nvCxnSpPr>
        <p:spPr>
          <a:xfrm>
            <a:off x="6804248" y="4293096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CDADCB9-4122-4E10-8AA2-1579467EC792}"/>
              </a:ext>
            </a:extLst>
          </p:cNvPr>
          <p:cNvCxnSpPr/>
          <p:nvPr/>
        </p:nvCxnSpPr>
        <p:spPr>
          <a:xfrm flipV="1">
            <a:off x="7020272" y="4149566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014BCC-72DD-468C-9774-A4844384AE3A}"/>
              </a:ext>
            </a:extLst>
          </p:cNvPr>
          <p:cNvCxnSpPr>
            <a:cxnSpLocks/>
          </p:cNvCxnSpPr>
          <p:nvPr/>
        </p:nvCxnSpPr>
        <p:spPr>
          <a:xfrm>
            <a:off x="7020272" y="4149080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4CA11236-44E3-4F8A-88E2-FB0A32A2329E}"/>
              </a:ext>
            </a:extLst>
          </p:cNvPr>
          <p:cNvSpPr/>
          <p:nvPr/>
        </p:nvSpPr>
        <p:spPr>
          <a:xfrm>
            <a:off x="949394" y="2294945"/>
            <a:ext cx="1606381" cy="654175"/>
          </a:xfrm>
          <a:prstGeom prst="wedgeRoundRectCallout">
            <a:avLst>
              <a:gd name="adj1" fmla="val 77553"/>
              <a:gd name="adj2" fmla="val -90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选中</a:t>
            </a:r>
            <a:r>
              <a:rPr lang="en-US" altLang="zh-CN" sz="1400" dirty="0"/>
              <a:t>cache</a:t>
            </a:r>
            <a:r>
              <a:rPr lang="zh-CN" altLang="en-US" sz="1400" dirty="0"/>
              <a:t>的</a:t>
            </a:r>
            <a:r>
              <a:rPr lang="en-US" altLang="zh-CN" sz="1400" dirty="0"/>
              <a:t>L4</a:t>
            </a:r>
            <a:r>
              <a:rPr lang="zh-CN" altLang="en-US" sz="1400" dirty="0"/>
              <a:t>行中的</a:t>
            </a:r>
            <a:r>
              <a:rPr lang="en-US" altLang="zh-CN" sz="1400" dirty="0"/>
              <a:t>w 1</a:t>
            </a:r>
            <a:r>
              <a:rPr lang="zh-CN" altLang="en-US" sz="1400" dirty="0"/>
              <a:t>（</a:t>
            </a:r>
            <a:r>
              <a:rPr lang="en-US" altLang="zh-CN" sz="1400" dirty="0"/>
              <a:t>01</a:t>
            </a:r>
            <a:r>
              <a:rPr lang="zh-CN" altLang="en-US" sz="1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961755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个字，请给出全相联映射的访问过程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行（</a:t>
            </a:r>
            <a:r>
              <a:rPr lang="zh-CN" altLang="en-US" sz="1400" b="1" dirty="0">
                <a:highlight>
                  <a:srgbClr val="FFFF00"/>
                </a:highlight>
              </a:rPr>
              <a:t>也可以载入到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的其它行</a:t>
            </a:r>
            <a:r>
              <a:rPr lang="zh-CN" altLang="en-US" sz="1400" b="1" dirty="0"/>
              <a:t>），并将第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的字时，因为主存块地址</a:t>
            </a:r>
            <a:r>
              <a:rPr lang="en-US" altLang="zh-CN" sz="1400" b="1" dirty="0"/>
              <a:t>tag=15</a:t>
            </a:r>
            <a:r>
              <a:rPr lang="zh-CN" altLang="en-US" sz="1400" b="1" dirty="0"/>
              <a:t>，此时多路并发比较相等，且有效位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38336"/>
              </p:ext>
            </p:extLst>
          </p:nvPr>
        </p:nvGraphicFramePr>
        <p:xfrm>
          <a:off x="179512" y="3496997"/>
          <a:ext cx="8640961" cy="3100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0000111  11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0001000  00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</a:t>
                      </a:r>
                      <a:r>
                        <a:rPr lang="en-US" altLang="zh-CN" sz="1200" b="1" dirty="0">
                          <a:solidFill>
                            <a:srgbClr val="0512BB"/>
                          </a:solidFill>
                        </a:rPr>
                        <a:t>0010 </a:t>
                      </a:r>
                      <a:r>
                        <a:rPr lang="en-US" altLang="zh-CN" sz="1200" b="1" dirty="0"/>
                        <a:t> </a:t>
                      </a:r>
                      <a:r>
                        <a:rPr lang="en-US" altLang="zh-CN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00</a:t>
                      </a:r>
                      <a:endParaRPr lang="zh-CN" altLang="en-US" sz="1200" b="1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1000000  11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</a:t>
                      </a:r>
                      <a:r>
                        <a:rPr lang="en-US" altLang="zh-CN" sz="1200" b="1" dirty="0" err="1"/>
                        <a:t>tag,offset</a:t>
                      </a:r>
                      <a:r>
                        <a:rPr lang="zh-CN" altLang="en-US" sz="12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(7, 3)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(9, 0)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(12, 0)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(15, 0)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(15, 1)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(40, 3)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1F3792D-FFBA-4FC3-B5E1-2417881C8205}"/>
              </a:ext>
            </a:extLst>
          </p:cNvPr>
          <p:cNvSpPr txBox="1"/>
          <p:nvPr/>
        </p:nvSpPr>
        <p:spPr>
          <a:xfrm>
            <a:off x="3150096" y="3121223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4.4</a:t>
            </a:r>
            <a:r>
              <a:rPr lang="zh-CN" altLang="en-US" sz="1400" b="1" dirty="0"/>
              <a:t>    全相联映射的访问过程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0BB1F-7F16-4EED-B158-016CD590C129}"/>
              </a:ext>
            </a:extLst>
          </p:cNvPr>
          <p:cNvSpPr/>
          <p:nvPr/>
        </p:nvSpPr>
        <p:spPr>
          <a:xfrm>
            <a:off x="2987824" y="476672"/>
            <a:ext cx="1738536" cy="479572"/>
          </a:xfrm>
          <a:prstGeom prst="wedgeRoundRectCallout">
            <a:avLst>
              <a:gd name="adj1" fmla="val -28538"/>
              <a:gd name="adj2" fmla="val 1048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参图</a:t>
            </a:r>
            <a:r>
              <a:rPr lang="en-US" altLang="zh-CN" sz="1400" dirty="0"/>
              <a:t>4.37</a:t>
            </a:r>
            <a:r>
              <a:rPr lang="zh-CN" altLang="en-US" sz="1400" dirty="0"/>
              <a:t>中的</a:t>
            </a:r>
            <a:r>
              <a:rPr lang="en-US" altLang="zh-CN" sz="1400" dirty="0" err="1"/>
              <a:t>cacheline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58102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全相联映射方式的特点：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主存数据块可以映射到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的任意一行（块），因此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FF0000"/>
                </a:solidFill>
              </a:rPr>
              <a:t>利用率高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只要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中还有空行就不会引起冲突，因此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FF0000"/>
                </a:solidFill>
              </a:rPr>
              <a:t>冲突率低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查找时需要并发比较查找表中所有项，每一个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行对应一个比较电路，</a:t>
            </a:r>
            <a:r>
              <a:rPr lang="zh-CN" altLang="en-US" sz="1600" b="1" dirty="0">
                <a:solidFill>
                  <a:srgbClr val="FF0000"/>
                </a:solidFill>
              </a:rPr>
              <a:t>硬件成本较高</a:t>
            </a:r>
            <a:r>
              <a:rPr lang="zh-CN" altLang="en-US" sz="1600" b="1" dirty="0"/>
              <a:t>，只适合小容量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600" b="1" dirty="0"/>
              <a:t>cache</a:t>
            </a:r>
            <a:r>
              <a:rPr lang="zh-CN" altLang="en-US" sz="1600" b="1" dirty="0"/>
              <a:t>满时，载入新数据块需要利用替换算法进行替换，</a:t>
            </a:r>
            <a:r>
              <a:rPr lang="zh-CN" altLang="en-US" sz="1600" b="1" dirty="0">
                <a:solidFill>
                  <a:srgbClr val="FF0000"/>
                </a:solidFill>
              </a:rPr>
              <a:t>替换</a:t>
            </a:r>
            <a:r>
              <a:rPr lang="zh-CN" altLang="en-US" sz="1600" b="1" dirty="0"/>
              <a:t>策略和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较为</a:t>
            </a:r>
            <a:r>
              <a:rPr lang="zh-CN" altLang="en-US" sz="1600" b="1" dirty="0">
                <a:solidFill>
                  <a:srgbClr val="FF0000"/>
                </a:solidFill>
              </a:rPr>
              <a:t>复杂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330CA-F94F-4064-884E-87C7EE2F7B89}"/>
              </a:ext>
            </a:extLst>
          </p:cNvPr>
          <p:cNvGrpSpPr/>
          <p:nvPr/>
        </p:nvGrpSpPr>
        <p:grpSpPr>
          <a:xfrm>
            <a:off x="2448272" y="3861048"/>
            <a:ext cx="5508104" cy="3024336"/>
            <a:chOff x="2448272" y="3861048"/>
            <a:chExt cx="5508104" cy="30243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874A18F-816D-4619-B523-C6EF6B180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DCF98D1-D19B-4EFF-9C45-43E83E17B4E0}"/>
                </a:ext>
              </a:extLst>
            </p:cNvPr>
            <p:cNvSpPr txBox="1"/>
            <p:nvPr/>
          </p:nvSpPr>
          <p:spPr>
            <a:xfrm>
              <a:off x="4131315" y="6540154"/>
              <a:ext cx="3104981" cy="345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46093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93E1F75-D5D8-420F-B586-88140CCB99C1}"/>
              </a:ext>
            </a:extLst>
          </p:cNvPr>
          <p:cNvSpPr/>
          <p:nvPr/>
        </p:nvSpPr>
        <p:spPr>
          <a:xfrm>
            <a:off x="2997190" y="2569032"/>
            <a:ext cx="4311113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、直接相联映射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）直接相联映射基本原理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直接相联映射：主存的某一块只能映射到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的固定行（块）中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假设主存块号为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行号为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行，则有：</a:t>
            </a:r>
            <a:r>
              <a:rPr lang="en-US" altLang="zh-CN" sz="1400" b="1" dirty="0" err="1">
                <a:solidFill>
                  <a:srgbClr val="FF0000"/>
                </a:solidFill>
              </a:rPr>
              <a:t>i</a:t>
            </a:r>
            <a:r>
              <a:rPr lang="en-US" altLang="zh-CN" sz="1400" b="1" dirty="0">
                <a:solidFill>
                  <a:srgbClr val="FF0000"/>
                </a:solidFill>
              </a:rPr>
              <a:t> = j  mod  n</a:t>
            </a:r>
          </a:p>
          <a:p>
            <a:pPr lvl="3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1400" b="1" dirty="0"/>
              <a:t>主存地址 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区地址（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行索引（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块内偏移（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3" eaLnBrk="1" hangingPunct="1"/>
            <a:r>
              <a:rPr lang="zh-CN" altLang="en-US" sz="1400" b="1" dirty="0"/>
              <a:t>地址映射过程：根据主存地址中的行索引（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的对应行，将主存地址中的区地址（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）进行比较，比较相等且有效位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则为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FF0000"/>
                </a:solidFill>
              </a:rPr>
              <a:t>缺失</a:t>
            </a:r>
            <a:r>
              <a:rPr lang="zh-CN" altLang="en-US" sz="1400" b="1" dirty="0"/>
              <a:t>（比较不相等，或者是比较相等但有效位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ED11E9-FDDE-4B60-B246-F83D0583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645024"/>
            <a:ext cx="5300018" cy="2736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2726A3-7CC8-4833-8827-D4F5E0BEAD87}"/>
              </a:ext>
            </a:extLst>
          </p:cNvPr>
          <p:cNvSpPr txBox="1"/>
          <p:nvPr/>
        </p:nvSpPr>
        <p:spPr>
          <a:xfrm>
            <a:off x="3635896" y="6381328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931462C-8A67-4109-B207-2458CA818F55}"/>
              </a:ext>
            </a:extLst>
          </p:cNvPr>
          <p:cNvSpPr/>
          <p:nvPr/>
        </p:nvSpPr>
        <p:spPr>
          <a:xfrm>
            <a:off x="7668344" y="1628800"/>
            <a:ext cx="1296144" cy="360040"/>
          </a:xfrm>
          <a:prstGeom prst="wedgeRoundRectCallout">
            <a:avLst>
              <a:gd name="adj1" fmla="val -66295"/>
              <a:gd name="adj2" fmla="val 416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其实就是</a:t>
            </a:r>
            <a:r>
              <a:rPr lang="en-US" altLang="zh-CN" sz="1400" dirty="0"/>
              <a:t>n</a:t>
            </a:r>
            <a:r>
              <a:rPr lang="zh-CN" altLang="en-US" sz="1400" dirty="0"/>
              <a:t>块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C906A78E-7D8C-438F-9DCA-D3F09F8921BE}"/>
              </a:ext>
            </a:extLst>
          </p:cNvPr>
          <p:cNvSpPr/>
          <p:nvPr/>
        </p:nvSpPr>
        <p:spPr>
          <a:xfrm>
            <a:off x="5004048" y="2114058"/>
            <a:ext cx="1224136" cy="378838"/>
          </a:xfrm>
          <a:prstGeom prst="wedgeRoundRectCallout">
            <a:avLst>
              <a:gd name="adj1" fmla="val -1711"/>
              <a:gd name="adj2" fmla="val 815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cache</a:t>
            </a:r>
            <a:r>
              <a:rPr lang="zh-CN" altLang="en-US" sz="1400" dirty="0"/>
              <a:t>块地址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D4A22A0-9B5F-4E7A-B01D-16AE064E79F5}"/>
              </a:ext>
            </a:extLst>
          </p:cNvPr>
          <p:cNvSpPr/>
          <p:nvPr/>
        </p:nvSpPr>
        <p:spPr>
          <a:xfrm>
            <a:off x="3347864" y="2132856"/>
            <a:ext cx="1368152" cy="378838"/>
          </a:xfrm>
          <a:prstGeom prst="wedgeRoundRectCallout">
            <a:avLst>
              <a:gd name="adj1" fmla="val -4039"/>
              <a:gd name="adj2" fmla="val 791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主存字块标记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E821FE8-C87F-4AF4-858D-1974F676CB8C}"/>
              </a:ext>
            </a:extLst>
          </p:cNvPr>
          <p:cNvSpPr/>
          <p:nvPr/>
        </p:nvSpPr>
        <p:spPr>
          <a:xfrm>
            <a:off x="6686869" y="2167344"/>
            <a:ext cx="1224136" cy="378838"/>
          </a:xfrm>
          <a:prstGeom prst="wedgeRoundRectCallout">
            <a:avLst>
              <a:gd name="adj1" fmla="val -53201"/>
              <a:gd name="adj2" fmla="val 721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块内地址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7E9DBDD-4E16-464B-8C8E-1A2A7BC30950}"/>
              </a:ext>
            </a:extLst>
          </p:cNvPr>
          <p:cNvSpPr/>
          <p:nvPr/>
        </p:nvSpPr>
        <p:spPr>
          <a:xfrm>
            <a:off x="395537" y="2003152"/>
            <a:ext cx="1440160" cy="956742"/>
          </a:xfrm>
          <a:prstGeom prst="wedgeRoundRectCallout">
            <a:avLst>
              <a:gd name="adj1" fmla="val 61403"/>
              <a:gd name="adj2" fmla="val 668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行索引，实际是以</a:t>
            </a:r>
            <a:r>
              <a:rPr lang="en-US" altLang="zh-CN" sz="1400" dirty="0"/>
              <a:t>cache</a:t>
            </a:r>
            <a:r>
              <a:rPr lang="zh-CN" altLang="en-US" sz="1400" dirty="0"/>
              <a:t>块地址为索引，进行匹配。</a:t>
            </a:r>
          </a:p>
        </p:txBody>
      </p:sp>
    </p:spTree>
    <p:extLst>
      <p:ext uri="{BB962C8B-B14F-4D97-AF65-F5344CB8AC3E}">
        <p14:creationId xmlns:p14="http://schemas.microsoft.com/office/powerpoint/2010/main" val="38754231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27405B-9907-46D7-AB4E-276100FDEF2B}"/>
              </a:ext>
            </a:extLst>
          </p:cNvPr>
          <p:cNvSpPr/>
          <p:nvPr/>
        </p:nvSpPr>
        <p:spPr>
          <a:xfrm>
            <a:off x="3275856" y="836712"/>
            <a:ext cx="51845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位）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个区（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4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），每个区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26D26-28D5-4C9C-A7DB-3C4C823649E7}"/>
              </a:ext>
            </a:extLst>
          </p:cNvPr>
          <p:cNvCxnSpPr/>
          <p:nvPr/>
        </p:nvCxnSpPr>
        <p:spPr>
          <a:xfrm flipH="1">
            <a:off x="2843808" y="1196752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6B676B-DEFB-40D4-BECA-836BD8C23DD4}"/>
              </a:ext>
            </a:extLst>
          </p:cNvPr>
          <p:cNvCxnSpPr>
            <a:cxnSpLocks/>
          </p:cNvCxnSpPr>
          <p:nvPr/>
        </p:nvCxnSpPr>
        <p:spPr>
          <a:xfrm>
            <a:off x="4499992" y="1124744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E721A1A-4470-459F-A2A8-B422EE044060}"/>
              </a:ext>
            </a:extLst>
          </p:cNvPr>
          <p:cNvCxnSpPr>
            <a:cxnSpLocks/>
          </p:cNvCxnSpPr>
          <p:nvPr/>
        </p:nvCxnSpPr>
        <p:spPr>
          <a:xfrm>
            <a:off x="6156176" y="1133760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8EF8A55-177B-48D7-A75F-E43DD42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339864"/>
            <a:ext cx="6698560" cy="3840813"/>
          </a:xfrm>
          <a:prstGeom prst="rect">
            <a:avLst/>
          </a:prstGeom>
        </p:spPr>
      </p:pic>
      <p:sp>
        <p:nvSpPr>
          <p:cNvPr id="242" name="文本框 241">
            <a:extLst>
              <a:ext uri="{FF2B5EF4-FFF2-40B4-BE49-F238E27FC236}">
                <a16:creationId xmlns:a16="http://schemas.microsoft.com/office/drawing/2014/main" id="{E3CDD253-C255-4F48-A726-9A3EDED31FBC}"/>
              </a:ext>
            </a:extLst>
          </p:cNvPr>
          <p:cNvSpPr txBox="1"/>
          <p:nvPr/>
        </p:nvSpPr>
        <p:spPr>
          <a:xfrm>
            <a:off x="3200437" y="6197461"/>
            <a:ext cx="3747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4.39</a:t>
            </a:r>
            <a:r>
              <a:rPr lang="zh-CN" altLang="en-US" sz="1400" b="1" dirty="0"/>
              <a:t>    直接相联映射的硬件逻辑实现框图</a:t>
            </a:r>
            <a:endParaRPr lang="zh-CN" altLang="en-US" sz="1400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E7C1374-EF14-4700-AFB7-6449C55C3870}"/>
              </a:ext>
            </a:extLst>
          </p:cNvPr>
          <p:cNvSpPr/>
          <p:nvPr/>
        </p:nvSpPr>
        <p:spPr>
          <a:xfrm>
            <a:off x="3059832" y="3491992"/>
            <a:ext cx="504056" cy="179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1000</a:t>
            </a:r>
            <a:endParaRPr lang="zh-CN" altLang="en-US" sz="1200" dirty="0"/>
          </a:p>
        </p:txBody>
      </p:sp>
      <p:sp>
        <p:nvSpPr>
          <p:cNvPr id="244" name="对话气泡: 圆角矩形 243">
            <a:extLst>
              <a:ext uri="{FF2B5EF4-FFF2-40B4-BE49-F238E27FC236}">
                <a16:creationId xmlns:a16="http://schemas.microsoft.com/office/drawing/2014/main" id="{EB09A3DB-215D-4629-8159-FB549F422EAA}"/>
              </a:ext>
            </a:extLst>
          </p:cNvPr>
          <p:cNvSpPr/>
          <p:nvPr/>
        </p:nvSpPr>
        <p:spPr>
          <a:xfrm>
            <a:off x="6372200" y="2204865"/>
            <a:ext cx="1656184" cy="529458"/>
          </a:xfrm>
          <a:prstGeom prst="wedgeRoundRectCallout">
            <a:avLst>
              <a:gd name="adj1" fmla="val -64920"/>
              <a:gd name="adj2" fmla="val 1841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选中</a:t>
            </a:r>
            <a:r>
              <a:rPr lang="en-US" altLang="zh-CN" sz="1400" dirty="0"/>
              <a:t>107</a:t>
            </a:r>
          </a:p>
          <a:p>
            <a:pPr algn="ctr"/>
            <a:r>
              <a:rPr lang="zh-CN" altLang="en-US" sz="1400" dirty="0"/>
              <a:t>（地址偏移</a:t>
            </a:r>
            <a:r>
              <a:rPr lang="en-US" altLang="zh-CN" sz="1400" dirty="0"/>
              <a:t>11</a:t>
            </a:r>
            <a:r>
              <a:rPr lang="zh-CN" altLang="en-US" sz="1400" dirty="0"/>
              <a:t>）</a:t>
            </a:r>
          </a:p>
        </p:txBody>
      </p: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C6026098-0705-4D39-9D4F-441514535EC4}"/>
              </a:ext>
            </a:extLst>
          </p:cNvPr>
          <p:cNvCxnSpPr>
            <a:cxnSpLocks/>
          </p:cNvCxnSpPr>
          <p:nvPr/>
        </p:nvCxnSpPr>
        <p:spPr>
          <a:xfrm>
            <a:off x="6372200" y="3573016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CFD27275-023B-4E3D-B273-B0198D59A876}"/>
              </a:ext>
            </a:extLst>
          </p:cNvPr>
          <p:cNvCxnSpPr>
            <a:cxnSpLocks/>
          </p:cNvCxnSpPr>
          <p:nvPr/>
        </p:nvCxnSpPr>
        <p:spPr>
          <a:xfrm>
            <a:off x="6804248" y="3573016"/>
            <a:ext cx="0" cy="7200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076D8A1A-DD66-4823-8D2C-668B9F3D8400}"/>
              </a:ext>
            </a:extLst>
          </p:cNvPr>
          <p:cNvCxnSpPr>
            <a:cxnSpLocks/>
          </p:cNvCxnSpPr>
          <p:nvPr/>
        </p:nvCxnSpPr>
        <p:spPr>
          <a:xfrm>
            <a:off x="6804248" y="4298768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05EB9148-7301-4F8E-B739-C70F12A81A77}"/>
              </a:ext>
            </a:extLst>
          </p:cNvPr>
          <p:cNvCxnSpPr>
            <a:cxnSpLocks/>
          </p:cNvCxnSpPr>
          <p:nvPr/>
        </p:nvCxnSpPr>
        <p:spPr>
          <a:xfrm>
            <a:off x="7020272" y="4293096"/>
            <a:ext cx="0" cy="3600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76A13ED7-D0D3-4660-8892-72C089CE9F87}"/>
              </a:ext>
            </a:extLst>
          </p:cNvPr>
          <p:cNvCxnSpPr>
            <a:cxnSpLocks/>
          </p:cNvCxnSpPr>
          <p:nvPr/>
        </p:nvCxnSpPr>
        <p:spPr>
          <a:xfrm>
            <a:off x="7020272" y="4653136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059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个字，请给出直接相联映射的访问过程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行（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对应的行索引</a:t>
            </a:r>
            <a:r>
              <a:rPr lang="en-US" altLang="zh-CN" sz="1400" b="1" dirty="0"/>
              <a:t>=7</a:t>
            </a:r>
            <a:r>
              <a:rPr lang="zh-CN" altLang="en-US" sz="1400" b="1" dirty="0"/>
              <a:t>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index=5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行，并比较主存的区地址（</a:t>
            </a:r>
            <a:r>
              <a:rPr lang="en-US" altLang="zh-CN" sz="1400" b="1" dirty="0"/>
              <a:t>tag=0010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0010</a:t>
            </a:r>
            <a:r>
              <a:rPr lang="zh-CN" altLang="en-US" sz="1400" b="1" dirty="0"/>
              <a:t>），结果相同，且有效位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index=0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行，并比较主存区地址（</a:t>
            </a:r>
            <a:r>
              <a:rPr lang="en-US" altLang="zh-CN" sz="1400" b="1" dirty="0"/>
              <a:t>tag=1000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0001</a:t>
            </a:r>
            <a:r>
              <a:rPr lang="zh-CN" altLang="en-US" sz="1400" b="1" dirty="0"/>
              <a:t>），结果不相同，但有效位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行有数据（</a:t>
            </a:r>
            <a:r>
              <a:rPr lang="zh-CN" altLang="en-US" sz="1400" b="1" dirty="0">
                <a:highlight>
                  <a:srgbClr val="FFFF00"/>
                </a:highlight>
              </a:rPr>
              <a:t>冲突</a:t>
            </a:r>
            <a:r>
              <a:rPr lang="zh-CN" altLang="en-US" sz="1400" b="1" dirty="0"/>
              <a:t>），需要进行</a:t>
            </a:r>
            <a:r>
              <a:rPr lang="zh-CN" altLang="en-US" sz="1400" b="1" dirty="0">
                <a:solidFill>
                  <a:srgbClr val="FF0000"/>
                </a:solidFill>
              </a:rPr>
              <a:t>替换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80368"/>
              </p:ext>
            </p:extLst>
          </p:nvPr>
        </p:nvGraphicFramePr>
        <p:xfrm>
          <a:off x="179512" y="3743501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0000 111 11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0001</a:t>
                      </a:r>
                      <a:r>
                        <a:rPr lang="en-US" altLang="zh-CN" sz="1200" b="1" dirty="0"/>
                        <a:t> 000 00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0001 001 00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0010 010 00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1000</a:t>
                      </a:r>
                      <a:r>
                        <a:rPr lang="en-US" altLang="zh-CN" sz="1200" b="1" dirty="0"/>
                        <a:t> 000 11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0000"/>
                          </a:solidFill>
                        </a:rPr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C8095FF-B2D3-47F8-BF21-6C9E8B571004}"/>
              </a:ext>
            </a:extLst>
          </p:cNvPr>
          <p:cNvSpPr txBox="1"/>
          <p:nvPr/>
        </p:nvSpPr>
        <p:spPr>
          <a:xfrm>
            <a:off x="3150096" y="3409255"/>
            <a:ext cx="2790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4.5</a:t>
            </a:r>
            <a:r>
              <a:rPr lang="zh-CN" altLang="en-US" sz="1400" b="1" dirty="0"/>
              <a:t>    直接相联映射的访问过程</a:t>
            </a:r>
            <a:endParaRPr lang="zh-CN" altLang="en-US" sz="1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15FF58A-1AC6-4806-A190-7178F45CE9AA}"/>
              </a:ext>
            </a:extLst>
          </p:cNvPr>
          <p:cNvCxnSpPr/>
          <p:nvPr/>
        </p:nvCxnSpPr>
        <p:spPr>
          <a:xfrm>
            <a:off x="8172400" y="5229200"/>
            <a:ext cx="72008" cy="576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C900CC-3BB5-48EC-8D22-273C50ED8B46}"/>
              </a:ext>
            </a:extLst>
          </p:cNvPr>
          <p:cNvCxnSpPr>
            <a:cxnSpLocks/>
          </p:cNvCxnSpPr>
          <p:nvPr/>
        </p:nvCxnSpPr>
        <p:spPr>
          <a:xfrm>
            <a:off x="2843808" y="5157192"/>
            <a:ext cx="5328592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9833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直接相联映射方式的特点：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由于主存数据块只能映射到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的特定行（块），因此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FF0000"/>
                </a:solidFill>
              </a:rPr>
              <a:t>利用率低、命中率低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）相同的所有主存块都将映射到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的同一行，即使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未满，也会发生数据冲突，因此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FF0000"/>
                </a:solidFill>
              </a:rPr>
              <a:t>冲突率高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查找时只需要根据主存地址的行索引（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）访问对应的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行，并比较主存地址的区地址（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），因此只需要一个比较器（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路比较），</a:t>
            </a:r>
            <a:r>
              <a:rPr lang="zh-CN" altLang="en-US" sz="1600" b="1" dirty="0">
                <a:solidFill>
                  <a:srgbClr val="FF0000"/>
                </a:solidFill>
              </a:rPr>
              <a:t>硬件成本低</a:t>
            </a:r>
            <a:r>
              <a:rPr lang="zh-CN" altLang="en-US" sz="1600" b="1" dirty="0"/>
              <a:t>，适合于大容量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无须使用复杂的替换算法，</a:t>
            </a:r>
            <a:r>
              <a:rPr lang="zh-CN" altLang="en-US" sz="1600" b="1" dirty="0">
                <a:solidFill>
                  <a:srgbClr val="FF0000"/>
                </a:solidFill>
              </a:rPr>
              <a:t>直接替换</a:t>
            </a:r>
            <a:r>
              <a:rPr lang="zh-CN" altLang="en-US" sz="1600" b="1" dirty="0"/>
              <a:t>冲突的数据块即可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708063-F921-4AD4-850A-9A900FE8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933056"/>
            <a:ext cx="5300018" cy="27363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6DEC80-49F2-45CF-906B-2C9229240A1B}"/>
              </a:ext>
            </a:extLst>
          </p:cNvPr>
          <p:cNvSpPr txBox="1"/>
          <p:nvPr/>
        </p:nvSpPr>
        <p:spPr>
          <a:xfrm>
            <a:off x="3648596" y="6550744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78120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1944215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</a:t>
            </a:r>
            <a:r>
              <a:rPr lang="zh-CN" altLang="en-US" sz="1600" b="1" dirty="0">
                <a:highlight>
                  <a:srgbClr val="FFFF00"/>
                </a:highlight>
              </a:rPr>
              <a:t>计算机字长</a:t>
            </a:r>
            <a:r>
              <a:rPr lang="en-US" altLang="zh-CN" sz="1600" b="1" dirty="0">
                <a:highlight>
                  <a:srgbClr val="FFFF00"/>
                </a:highlight>
              </a:rPr>
              <a:t>32</a:t>
            </a:r>
            <a:r>
              <a:rPr lang="zh-CN" altLang="en-US" sz="1600" b="1" dirty="0">
                <a:highlight>
                  <a:srgbClr val="FFFF00"/>
                </a:highlight>
              </a:rPr>
              <a:t>位</a:t>
            </a:r>
            <a:r>
              <a:rPr lang="zh-CN" altLang="en-US" sz="1600" b="1" dirty="0"/>
              <a:t>，采用</a:t>
            </a:r>
            <a:r>
              <a:rPr lang="zh-CN" altLang="en-US" sz="1600" b="1" dirty="0">
                <a:solidFill>
                  <a:srgbClr val="FF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highlight>
                  <a:srgbClr val="FFFF00"/>
                </a:highlight>
              </a:rPr>
              <a:t>按字节编址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</a:t>
            </a:r>
            <a:r>
              <a:rPr lang="zh-CN" altLang="en-US" sz="1600" b="1" dirty="0">
                <a:highlight>
                  <a:srgbClr val="FFFF00"/>
                </a:highlight>
              </a:rPr>
              <a:t>字</a:t>
            </a:r>
            <a:r>
              <a:rPr lang="zh-CN" altLang="en-US" sz="1600" b="1" dirty="0"/>
              <a:t>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直接相联映射方式：主存地址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块地址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=4MB</a:t>
            </a:r>
            <a:r>
              <a:rPr lang="zh-CN" altLang="en-US" sz="1400" b="1" dirty="0"/>
              <a:t>，因此主存地址</a:t>
            </a:r>
            <a:r>
              <a:rPr lang="en-US" altLang="zh-CN" sz="1400" b="1" dirty="0"/>
              <a:t>=22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22</a:t>
            </a:r>
            <a:r>
              <a:rPr lang="en-US" altLang="zh-CN" sz="1400" b="1" dirty="0"/>
              <a:t>=4M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的数据块副本缓冲区容量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块长度为</a:t>
            </a:r>
            <a:r>
              <a:rPr lang="en-US" altLang="zh-CN" sz="1400" b="1" dirty="0">
                <a:highlight>
                  <a:srgbClr val="FFFF00"/>
                </a:highlight>
              </a:rPr>
              <a:t>8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en-US" altLang="zh-CN" sz="1400" b="1" dirty="0"/>
              <a:t>=8x32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=32B</a:t>
            </a:r>
            <a:r>
              <a:rPr lang="zh-CN" altLang="en-US" sz="1400" b="1" dirty="0"/>
              <a:t>（字长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位），因此</a:t>
            </a:r>
            <a:r>
              <a:rPr lang="en-US" altLang="zh-CN" sz="1400" b="1" dirty="0"/>
              <a:t>offset=5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=12-5=7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的块地址与主存的行索引相等，因此：</a:t>
            </a:r>
            <a:r>
              <a:rPr lang="en-US" altLang="zh-CN" sz="1400" b="1" dirty="0"/>
              <a:t>index=7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主存的区地址</a:t>
            </a:r>
            <a:r>
              <a:rPr lang="en-US" altLang="zh-CN" sz="1400" b="1" dirty="0"/>
              <a:t>=22-7-5=10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FF0000"/>
                </a:solidFill>
              </a:rPr>
              <a:t>主存地址（</a:t>
            </a:r>
            <a:r>
              <a:rPr lang="en-US" altLang="zh-CN" sz="1400" b="1" dirty="0">
                <a:solidFill>
                  <a:srgbClr val="FF0000"/>
                </a:solidFill>
              </a:rPr>
              <a:t>22</a:t>
            </a:r>
            <a:r>
              <a:rPr lang="zh-CN" altLang="en-US" sz="1400" b="1" dirty="0">
                <a:solidFill>
                  <a:srgbClr val="FF0000"/>
                </a:solidFill>
              </a:rPr>
              <a:t>位） </a:t>
            </a:r>
            <a:r>
              <a:rPr lang="en-US" altLang="zh-CN" sz="1400" b="1" dirty="0">
                <a:solidFill>
                  <a:srgbClr val="FF0000"/>
                </a:solidFill>
              </a:rPr>
              <a:t>= </a:t>
            </a:r>
            <a:r>
              <a:rPr lang="zh-CN" altLang="en-US" sz="1400" b="1" dirty="0">
                <a:solidFill>
                  <a:srgbClr val="FF0000"/>
                </a:solidFill>
              </a:rPr>
              <a:t>区地址（</a:t>
            </a:r>
            <a:r>
              <a:rPr lang="en-US" altLang="zh-CN" sz="1400" b="1" dirty="0">
                <a:solidFill>
                  <a:srgbClr val="FF0000"/>
                </a:solidFill>
              </a:rPr>
              <a:t>10</a:t>
            </a:r>
            <a:r>
              <a:rPr lang="zh-CN" altLang="en-US" sz="1400" b="1" dirty="0">
                <a:solidFill>
                  <a:srgbClr val="FF0000"/>
                </a:solidFill>
              </a:rPr>
              <a:t>位） </a:t>
            </a:r>
            <a:r>
              <a:rPr lang="en-US" altLang="zh-CN" sz="1400" b="1" dirty="0">
                <a:solidFill>
                  <a:srgbClr val="FF0000"/>
                </a:solidFill>
              </a:rPr>
              <a:t>+ </a:t>
            </a:r>
            <a:r>
              <a:rPr lang="zh-CN" altLang="en-US" sz="1400" b="1" dirty="0">
                <a:solidFill>
                  <a:srgbClr val="FF0000"/>
                </a:solidFill>
              </a:rPr>
              <a:t>行索引（</a:t>
            </a:r>
            <a:r>
              <a:rPr lang="en-US" altLang="zh-CN" sz="1400" b="1" dirty="0">
                <a:solidFill>
                  <a:srgbClr val="FF0000"/>
                </a:solidFill>
              </a:rPr>
              <a:t>7</a:t>
            </a:r>
            <a:r>
              <a:rPr lang="zh-CN" altLang="en-US" sz="1400" b="1" dirty="0">
                <a:solidFill>
                  <a:srgbClr val="FF0000"/>
                </a:solidFill>
              </a:rPr>
              <a:t>位） </a:t>
            </a:r>
            <a:r>
              <a:rPr lang="en-US" altLang="zh-CN" sz="1400" b="1" dirty="0">
                <a:solidFill>
                  <a:srgbClr val="FF0000"/>
                </a:solidFill>
              </a:rPr>
              <a:t>+ </a:t>
            </a:r>
            <a:r>
              <a:rPr lang="zh-CN" altLang="en-US" sz="1400" b="1" dirty="0">
                <a:solidFill>
                  <a:srgbClr val="FF0000"/>
                </a:solidFill>
              </a:rPr>
              <a:t>块内偏移（</a:t>
            </a:r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</a:rPr>
              <a:t>位）</a:t>
            </a:r>
            <a:endParaRPr lang="en-US" altLang="zh-CN" sz="10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F526CC9-D60C-470F-8B5B-EB88D30C3987}"/>
              </a:ext>
            </a:extLst>
          </p:cNvPr>
          <p:cNvSpPr/>
          <p:nvPr/>
        </p:nvSpPr>
        <p:spPr>
          <a:xfrm>
            <a:off x="4847206" y="5231985"/>
            <a:ext cx="1584176" cy="504056"/>
          </a:xfrm>
          <a:prstGeom prst="wedgeRoundRectCallout">
            <a:avLst>
              <a:gd name="adj1" fmla="val -4748"/>
              <a:gd name="adj2" fmla="val 906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4KB/(8*4B)=2^7</a:t>
            </a:r>
            <a:endParaRPr lang="zh-CN" altLang="en-US" sz="1400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B567152-246E-4D95-8B75-CBDF4393BB39}"/>
              </a:ext>
            </a:extLst>
          </p:cNvPr>
          <p:cNvSpPr/>
          <p:nvPr/>
        </p:nvSpPr>
        <p:spPr>
          <a:xfrm>
            <a:off x="6588224" y="5013176"/>
            <a:ext cx="2098576" cy="815535"/>
          </a:xfrm>
          <a:prstGeom prst="wedgeRoundRectCallout">
            <a:avLst>
              <a:gd name="adj1" fmla="val -36815"/>
              <a:gd name="adj2" fmla="val 73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按字节寻址，</a:t>
            </a:r>
            <a:r>
              <a:rPr lang="en-US" altLang="zh-CN" sz="1600" dirty="0"/>
              <a:t>8</a:t>
            </a:r>
            <a:r>
              <a:rPr lang="zh-CN" altLang="en-US" sz="1600" dirty="0"/>
              <a:t>个字相当于</a:t>
            </a:r>
            <a:r>
              <a:rPr lang="en-US" altLang="zh-CN" sz="1600" dirty="0"/>
              <a:t>32</a:t>
            </a:r>
            <a:r>
              <a:rPr lang="zh-CN" altLang="en-US" sz="1600" dirty="0"/>
              <a:t>个字节，所以</a:t>
            </a:r>
            <a:r>
              <a:rPr lang="en-US" altLang="zh-CN" sz="1600" dirty="0"/>
              <a:t>32=2^5</a:t>
            </a:r>
            <a:endParaRPr lang="zh-CN" altLang="en-US" sz="16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DBDE0441-C649-4196-8EB3-AC3059C4FB9C}"/>
              </a:ext>
            </a:extLst>
          </p:cNvPr>
          <p:cNvSpPr/>
          <p:nvPr/>
        </p:nvSpPr>
        <p:spPr>
          <a:xfrm>
            <a:off x="2818157" y="5278320"/>
            <a:ext cx="1872208" cy="504056"/>
          </a:xfrm>
          <a:prstGeom prst="wedgeRoundRectCallout">
            <a:avLst>
              <a:gd name="adj1" fmla="val 30255"/>
              <a:gd name="adj2" fmla="val 1065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4MB/4KB=1024=2^10</a:t>
            </a:r>
            <a:endParaRPr lang="zh-CN" altLang="en-US" sz="1400" dirty="0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561A5815-907B-41BA-ACCD-D6EF6A86DB1C}"/>
              </a:ext>
            </a:extLst>
          </p:cNvPr>
          <p:cNvSpPr/>
          <p:nvPr/>
        </p:nvSpPr>
        <p:spPr>
          <a:xfrm>
            <a:off x="6588224" y="3573016"/>
            <a:ext cx="1584176" cy="360040"/>
          </a:xfrm>
          <a:prstGeom prst="wedgeRoundRectCallout">
            <a:avLst>
              <a:gd name="adj1" fmla="val -44155"/>
              <a:gd name="adj2" fmla="val 907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内存按字节编址</a:t>
            </a:r>
          </a:p>
        </p:txBody>
      </p:sp>
    </p:spTree>
    <p:extLst>
      <p:ext uri="{BB962C8B-B14F-4D97-AF65-F5344CB8AC3E}">
        <p14:creationId xmlns:p14="http://schemas.microsoft.com/office/powerpoint/2010/main" val="382319333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FF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的每块有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个字（单元）；一开始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是空的，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号单元将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，并主存的将</a:t>
            </a:r>
            <a:r>
              <a:rPr lang="en-US" altLang="zh-CN" sz="1400" b="1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号单元装入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中，因此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号单元将命中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之后，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23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33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47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55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56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57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63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65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72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73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87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96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FF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99</a:t>
            </a:r>
            <a:r>
              <a:rPr lang="zh-CN" altLang="en-US" sz="1400" b="1" dirty="0"/>
              <a:t>号单元命中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接下去，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重复访问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次时，全部命中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1000</a:t>
            </a:r>
            <a:r>
              <a:rPr lang="zh-CN" altLang="en-US" sz="1400" b="1" dirty="0"/>
              <a:t>次访问，有</a:t>
            </a:r>
            <a:r>
              <a:rPr lang="en-US" altLang="zh-CN" sz="1400" b="1" dirty="0"/>
              <a:t>13</a:t>
            </a:r>
            <a:r>
              <a:rPr lang="zh-CN" altLang="en-US" sz="1400" b="1" dirty="0"/>
              <a:t>次不命中，其余</a:t>
            </a:r>
            <a:r>
              <a:rPr lang="en-US" altLang="zh-CN" sz="1400" b="1" dirty="0"/>
              <a:t>987</a:t>
            </a:r>
            <a:r>
              <a:rPr lang="zh-CN" altLang="en-US" sz="1400" b="1" dirty="0"/>
              <a:t>次都命中，命中率</a:t>
            </a:r>
            <a:r>
              <a:rPr lang="en-US" altLang="zh-CN" sz="1400" b="1" dirty="0"/>
              <a:t>=987/1000=98.7%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11843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EBBC90-322A-4536-887A-B2C6C6FFA2B4}"/>
              </a:ext>
            </a:extLst>
          </p:cNvPr>
          <p:cNvGrpSpPr/>
          <p:nvPr/>
        </p:nvGrpSpPr>
        <p:grpSpPr>
          <a:xfrm>
            <a:off x="991673" y="940927"/>
            <a:ext cx="6659457" cy="5800441"/>
            <a:chOff x="991673" y="548680"/>
            <a:chExt cx="6659457" cy="58004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1478F7C-CE51-4872-801A-3A720476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908720"/>
              <a:ext cx="5996737" cy="518457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C305549-57E8-46B5-AE25-6871ECA5AE04}"/>
                </a:ext>
              </a:extLst>
            </p:cNvPr>
            <p:cNvSpPr txBox="1"/>
            <p:nvPr/>
          </p:nvSpPr>
          <p:spPr>
            <a:xfrm>
              <a:off x="991673" y="980728"/>
              <a:ext cx="916031" cy="5368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endParaRPr lang="zh-CN" altLang="en-US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209ED3-27D1-4D90-930E-F7F0FA60700A}"/>
                </a:ext>
              </a:extLst>
            </p:cNvPr>
            <p:cNvSpPr txBox="1"/>
            <p:nvPr/>
          </p:nvSpPr>
          <p:spPr>
            <a:xfrm>
              <a:off x="1798409" y="548680"/>
              <a:ext cx="58527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A80A330-7570-4813-ADFF-FEE5C1680ED9}"/>
              </a:ext>
            </a:extLst>
          </p:cNvPr>
          <p:cNvSpPr txBox="1"/>
          <p:nvPr/>
        </p:nvSpPr>
        <p:spPr>
          <a:xfrm>
            <a:off x="3324128" y="345409"/>
            <a:ext cx="258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cache</a:t>
            </a:r>
            <a:r>
              <a:rPr lang="zh-CN" altLang="en-US" b="1" dirty="0"/>
              <a:t>数据块副本缓冲区</a:t>
            </a:r>
          </a:p>
        </p:txBody>
      </p:sp>
    </p:spTree>
    <p:extLst>
      <p:ext uri="{BB962C8B-B14F-4D97-AF65-F5344CB8AC3E}">
        <p14:creationId xmlns:p14="http://schemas.microsoft.com/office/powerpoint/2010/main" val="1236519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088231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FF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/>
          </a:p>
          <a:p>
            <a:pPr lvl="2"/>
            <a:r>
              <a:rPr lang="zh-CN" altLang="en-US" sz="1600" b="1" dirty="0"/>
              <a:t>平均访问时间：</a:t>
            </a:r>
            <a:r>
              <a:rPr lang="en-US" altLang="zh-CN" sz="1600" b="1" dirty="0">
                <a:solidFill>
                  <a:srgbClr val="FF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</a:rPr>
              <a:t>a</a:t>
            </a:r>
            <a:r>
              <a:rPr lang="en-US" altLang="zh-CN" sz="1600" b="1" dirty="0">
                <a:solidFill>
                  <a:srgbClr val="FF0000"/>
                </a:solidFill>
              </a:rPr>
              <a:t>=</a:t>
            </a:r>
            <a:r>
              <a:rPr lang="en-US" altLang="zh-CN" sz="1600" b="1" dirty="0" err="1">
                <a:solidFill>
                  <a:srgbClr val="FF0000"/>
                </a:solidFill>
              </a:rPr>
              <a:t>ht</a:t>
            </a:r>
            <a:r>
              <a:rPr lang="en-US" altLang="zh-CN" sz="1600" b="1" baseline="-25000" dirty="0" err="1">
                <a:solidFill>
                  <a:srgbClr val="FF0000"/>
                </a:solidFill>
              </a:rPr>
              <a:t>c</a:t>
            </a:r>
            <a:r>
              <a:rPr lang="en-US" altLang="zh-CN" sz="1600" b="1" dirty="0">
                <a:solidFill>
                  <a:srgbClr val="FF0000"/>
                </a:solidFill>
              </a:rPr>
              <a:t>+(1-h)t</a:t>
            </a:r>
            <a:r>
              <a:rPr lang="en-US" altLang="zh-CN" sz="1600" b="1" baseline="-25000" dirty="0">
                <a:solidFill>
                  <a:srgbClr val="FF0000"/>
                </a:solidFill>
              </a:rPr>
              <a:t>m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=20ns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=200ns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h=0.987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因此，</a:t>
            </a:r>
            <a:r>
              <a:rPr lang="en-US" altLang="zh-CN" sz="1600" b="1" dirty="0"/>
              <a:t> 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=0.987x20ns + (1-0.987)x200ns = 22.34ns</a:t>
            </a:r>
            <a:endParaRPr lang="en-US" altLang="zh-CN" sz="1200" b="1" dirty="0"/>
          </a:p>
          <a:p>
            <a:pPr lvl="2"/>
            <a:endParaRPr lang="en-US" altLang="zh-CN" sz="1400" b="1" dirty="0">
              <a:solidFill>
                <a:srgbClr val="FF0000"/>
              </a:solidFill>
            </a:endParaRPr>
          </a:p>
          <a:p>
            <a:pPr lvl="2"/>
            <a:endParaRPr lang="en-US" altLang="zh-CN" sz="1400" b="1" dirty="0">
              <a:solidFill>
                <a:srgbClr val="FF0000"/>
              </a:solidFill>
            </a:endParaRPr>
          </a:p>
          <a:p>
            <a:pPr lvl="2"/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endParaRPr lang="en-US" altLang="zh-CN" sz="1400" b="1" dirty="0"/>
          </a:p>
          <a:p>
            <a:pPr lvl="2"/>
            <a:r>
              <a:rPr lang="zh-CN" altLang="en-US" sz="1600" b="1" dirty="0"/>
              <a:t>访问效率：</a:t>
            </a:r>
            <a:r>
              <a:rPr lang="en-US" altLang="zh-CN" sz="1600" b="1" dirty="0">
                <a:solidFill>
                  <a:srgbClr val="FF0000"/>
                </a:solidFill>
              </a:rPr>
              <a:t>e = </a:t>
            </a:r>
            <a:r>
              <a:rPr lang="en-US" altLang="zh-CN" sz="1600" b="1" dirty="0" err="1">
                <a:solidFill>
                  <a:srgbClr val="FF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FF0000"/>
                </a:solidFill>
              </a:rPr>
              <a:t>c</a:t>
            </a:r>
            <a:r>
              <a:rPr lang="en-US" altLang="zh-CN" sz="1600" b="1" dirty="0">
                <a:solidFill>
                  <a:srgbClr val="FF0000"/>
                </a:solidFill>
              </a:rPr>
              <a:t>/t</a:t>
            </a:r>
            <a:r>
              <a:rPr lang="en-US" altLang="zh-CN" sz="1600" b="1" baseline="-25000" dirty="0">
                <a:solidFill>
                  <a:srgbClr val="FF0000"/>
                </a:solidFill>
              </a:rPr>
              <a:t>a</a:t>
            </a:r>
            <a:r>
              <a:rPr lang="en-US" altLang="zh-CN" sz="1600" b="1" dirty="0"/>
              <a:t>= 20ns/22.34ns = 89.5%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3884711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>
                <a:highlight>
                  <a:srgbClr val="FFFF00"/>
                </a:highlight>
              </a:rPr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>
                <a:highlight>
                  <a:srgbClr val="FFFF00"/>
                </a:highlight>
              </a:rPr>
              <a:t>32</a:t>
            </a:r>
            <a:r>
              <a:rPr lang="zh-CN" altLang="en-US" sz="1400" b="1" dirty="0">
                <a:highlight>
                  <a:srgbClr val="FFFF00"/>
                </a:highlight>
              </a:rPr>
              <a:t>位补码</a:t>
            </a:r>
            <a:r>
              <a:rPr lang="zh-CN" altLang="en-US" sz="1400" b="1" dirty="0"/>
              <a:t>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a[][]</a:t>
            </a:r>
            <a:r>
              <a:rPr lang="zh-CN" altLang="en-US" sz="1400" b="1" dirty="0">
                <a:highlight>
                  <a:srgbClr val="FFFF00"/>
                </a:highlight>
              </a:rPr>
              <a:t>按行优先方式存放</a:t>
            </a:r>
            <a:r>
              <a:rPr lang="zh-CN" altLang="en-US" sz="1400" b="1" dirty="0"/>
              <a:t>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行（块）号从零开始。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4F3AD07-E279-4BE3-A1D3-9AD0BD1E9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811662"/>
            <a:ext cx="3885231" cy="3394486"/>
          </a:xfrm>
          <a:prstGeom prst="rect">
            <a:avLst/>
          </a:prstGeom>
          <a:solidFill>
            <a:srgbClr val="99FF66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A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sum_array1()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(j = 0;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j++)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035B66C-92C6-4139-B3D4-24D153146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823" y="2780928"/>
            <a:ext cx="3885231" cy="3425219"/>
          </a:xfrm>
          <a:prstGeom prst="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B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sum_array2()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(j = 0; </a:t>
            </a:r>
            <a:r>
              <a:rPr 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j++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E74C68-1655-4A0D-8875-F0BA0A72CA1A}"/>
              </a:ext>
            </a:extLst>
          </p:cNvPr>
          <p:cNvSpPr/>
          <p:nvPr/>
        </p:nvSpPr>
        <p:spPr>
          <a:xfrm>
            <a:off x="2915816" y="5517232"/>
            <a:ext cx="1008112" cy="432048"/>
          </a:xfrm>
          <a:prstGeom prst="wedgeRoundRectCallout">
            <a:avLst>
              <a:gd name="adj1" fmla="val -67212"/>
              <a:gd name="adj2" fmla="val -587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利用空间局部性</a:t>
            </a:r>
            <a:r>
              <a:rPr lang="en-US" altLang="zh-CN" sz="1400" dirty="0"/>
              <a:t>hit</a:t>
            </a:r>
            <a:endParaRPr lang="zh-CN" altLang="en-US" sz="14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3AE61056-F61C-4641-9B11-19AC0D7042B2}"/>
              </a:ext>
            </a:extLst>
          </p:cNvPr>
          <p:cNvSpPr/>
          <p:nvPr/>
        </p:nvSpPr>
        <p:spPr>
          <a:xfrm>
            <a:off x="7236296" y="3789040"/>
            <a:ext cx="1224136" cy="704497"/>
          </a:xfrm>
          <a:prstGeom prst="wedgeRoundRectCallout">
            <a:avLst>
              <a:gd name="adj1" fmla="val -70429"/>
              <a:gd name="adj2" fmla="val 524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i,j</a:t>
            </a:r>
            <a:r>
              <a:rPr lang="en-US" altLang="zh-CN" sz="1400" dirty="0"/>
              <a:t> </a:t>
            </a:r>
            <a:r>
              <a:rPr lang="zh-CN" altLang="en-US" sz="1400" dirty="0"/>
              <a:t>行列互换导致</a:t>
            </a:r>
            <a:r>
              <a:rPr lang="en-US" altLang="zh-CN" sz="1400" dirty="0"/>
              <a:t>miss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690810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=256MB</a:t>
            </a:r>
            <a:r>
              <a:rPr lang="zh-CN" altLang="en-US" sz="1400" b="1" dirty="0"/>
              <a:t>，主存地址</a:t>
            </a:r>
            <a:r>
              <a:rPr lang="en-US" altLang="zh-CN" sz="1400" b="1" dirty="0"/>
              <a:t>=28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28</a:t>
            </a:r>
            <a:r>
              <a:rPr lang="en-US" altLang="zh-CN" sz="1400" b="1" dirty="0"/>
              <a:t>=256M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行，因此</a:t>
            </a:r>
            <a:r>
              <a:rPr lang="en-US" altLang="zh-CN" sz="1400" b="1" dirty="0"/>
              <a:t>index=3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</a:t>
            </a:r>
            <a:r>
              <a:rPr lang="en-US" altLang="zh-CN" sz="1400" b="1" dirty="0"/>
              <a:t>=64B</a:t>
            </a:r>
            <a:r>
              <a:rPr lang="zh-CN" altLang="en-US" sz="1400" b="1" dirty="0"/>
              <a:t>，故</a:t>
            </a:r>
            <a:r>
              <a:rPr lang="en-US" altLang="zh-CN" sz="1400" b="1" dirty="0"/>
              <a:t>offset=6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6</a:t>
            </a:r>
            <a:r>
              <a:rPr lang="en-US" altLang="zh-CN" sz="1400" b="1" dirty="0"/>
              <a:t>=64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tag=28-3-6=19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行包括：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数据块大小（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=20+64x8=532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=(532/8)</a:t>
            </a:r>
            <a:r>
              <a:rPr lang="zh-CN" altLang="en-US" sz="1400" b="1" dirty="0"/>
              <a:t>字节</a:t>
            </a:r>
            <a:r>
              <a:rPr lang="en-US" altLang="zh-CN" sz="1400" b="1" dirty="0"/>
              <a:t> =66.5B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总容量</a:t>
            </a:r>
            <a:r>
              <a:rPr lang="en-US" altLang="zh-CN" sz="1400" b="1" dirty="0"/>
              <a:t>=cache</a:t>
            </a:r>
            <a:r>
              <a:rPr lang="zh-CN" altLang="en-US" sz="1400" b="1" dirty="0"/>
              <a:t>行数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行大小</a:t>
            </a:r>
            <a:r>
              <a:rPr lang="en-US" altLang="zh-CN" sz="1400" b="1" dirty="0"/>
              <a:t>=8x66.5B=532B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9133520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ea typeface="等线" panose="02010600030101010101" pitchFamily="2" charset="-122"/>
              </a:rPr>
              <a:t>②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数组按行优先方式存放，首地址为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（十进制），每个数组元素占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个字节），则二维数组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在内存中的分布如下：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+ 31x4 = 444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=[444/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</a:t>
            </a:r>
            <a:r>
              <a:rPr lang="en-US" altLang="zh-CN" sz="1400" b="1" dirty="0">
                <a:highlight>
                  <a:srgbClr val="FFFF00"/>
                </a:highlight>
              </a:rPr>
              <a:t>256</a:t>
            </a:r>
            <a:r>
              <a:rPr lang="en-US" altLang="zh-CN" sz="1400" b="1" dirty="0"/>
              <a:t>x4 + 4 = 1348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=[1348/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]=21</a:t>
            </a:r>
          </a:p>
          <a:p>
            <a:pPr lvl="3" eaLnBrk="1" hangingPunct="1"/>
            <a:r>
              <a:rPr lang="en-US" altLang="zh-CN" sz="1200" b="1" dirty="0">
                <a:solidFill>
                  <a:srgbClr val="C00000"/>
                </a:solidFill>
              </a:rPr>
              <a:t>[   ]</a:t>
            </a:r>
            <a:r>
              <a:rPr lang="zh-CN" altLang="en-US" sz="1200" b="1" dirty="0">
                <a:solidFill>
                  <a:srgbClr val="C00000"/>
                </a:solidFill>
              </a:rPr>
              <a:t>表示取整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00" b="1" dirty="0"/>
          </a:p>
          <a:p>
            <a:pPr lvl="2" eaLnBrk="1" hangingPunct="1"/>
            <a:r>
              <a:rPr lang="zh-CN" altLang="en-US" sz="1400" b="1" dirty="0"/>
              <a:t>因为采用直接相联映射方式，主存块号与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行号的对应关系为：</a:t>
            </a:r>
            <a:endParaRPr lang="en-US" altLang="zh-CN" sz="1400" b="1" dirty="0"/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行号</a:t>
            </a:r>
            <a:r>
              <a:rPr lang="en-US" altLang="zh-CN" sz="1400" b="1" dirty="0">
                <a:solidFill>
                  <a:srgbClr val="C00000"/>
                </a:solidFill>
              </a:rPr>
              <a:t> = </a:t>
            </a:r>
            <a:r>
              <a:rPr lang="zh-CN" altLang="en-US" sz="1400" b="1" dirty="0">
                <a:solidFill>
                  <a:srgbClr val="C00000"/>
                </a:solidFill>
              </a:rPr>
              <a:t>主存块号</a:t>
            </a:r>
            <a:r>
              <a:rPr lang="en-US" altLang="zh-CN" sz="1400" b="1" dirty="0">
                <a:solidFill>
                  <a:srgbClr val="C00000"/>
                </a:solidFill>
              </a:rPr>
              <a:t>  mod  n</a:t>
            </a:r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n=8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有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行）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6 mod 8 = 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21 mod 8 = 5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31B52B08-E1FB-4D1F-980C-8B845E27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88806"/>
              </p:ext>
            </p:extLst>
          </p:nvPr>
        </p:nvGraphicFramePr>
        <p:xfrm>
          <a:off x="899593" y="3284984"/>
          <a:ext cx="7848871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78201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15597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44715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0953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763259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44886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798617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598320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0375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内存地址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444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7175281"/>
                  </a:ext>
                </a:extLst>
              </a:tr>
              <a:tr h="407246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行优先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a[0][0]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a[0][1]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a[0][3]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a[0][4]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a[0][31]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a[0][255]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a[1][0]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a[1][1]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782D87DF-6380-424C-9BA5-2759F79F028D}"/>
              </a:ext>
            </a:extLst>
          </p:cNvPr>
          <p:cNvSpPr/>
          <p:nvPr/>
        </p:nvSpPr>
        <p:spPr>
          <a:xfrm>
            <a:off x="8028384" y="4077072"/>
            <a:ext cx="864096" cy="540369"/>
          </a:xfrm>
          <a:prstGeom prst="wedgeRoundRectCallout">
            <a:avLst>
              <a:gd name="adj1" fmla="val -168778"/>
              <a:gd name="adj2" fmla="val -134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块大小为</a:t>
            </a:r>
            <a:r>
              <a:rPr lang="en-US" altLang="zh-CN" sz="1400" dirty="0"/>
              <a:t>64B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2694994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，其可以存放</a:t>
            </a:r>
            <a:r>
              <a:rPr lang="en-US" altLang="zh-CN" sz="1400" b="1" dirty="0"/>
              <a:t>64B/32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=64x8/32 = 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中数据的访问顺序与存储顺序相同（行优先方式），第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，缺失，需要载入数据块（载入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），后续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次访问均命中；程序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的所有数据访问都符合这一规律；因此命中率</a:t>
            </a:r>
            <a:r>
              <a:rPr lang="en-US" altLang="zh-CN" sz="1400" b="1" dirty="0"/>
              <a:t>=15/16=</a:t>
            </a:r>
            <a:r>
              <a:rPr lang="en-US" altLang="zh-CN" sz="1400" b="1" dirty="0">
                <a:solidFill>
                  <a:srgbClr val="FF0000"/>
                </a:solidFill>
              </a:rPr>
              <a:t>93.75%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按照数组的列执行外层循环，其数据访问顺序与存储顺序不同；第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，缺失，需要载入数据块（载入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）；第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a[1][0]</a:t>
            </a:r>
            <a:r>
              <a:rPr lang="zh-CN" altLang="en-US" sz="1400" b="1" dirty="0"/>
              <a:t>，仍然是缺失；程序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的所有数据访问都符合这一规律，均为缺失；因此命中率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比程序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执行时间更短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86E031D2-2AEE-495E-8BAF-594289358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17663"/>
              </p:ext>
            </p:extLst>
          </p:nvPr>
        </p:nvGraphicFramePr>
        <p:xfrm>
          <a:off x="611560" y="6242640"/>
          <a:ext cx="8424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60778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4337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46928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19280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访问顺序（列优先）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a[4][0]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a[256][0]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ED3CD5D4-4AAB-4B65-A926-8BD8DA6C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35708"/>
              </p:ext>
            </p:extLst>
          </p:nvPr>
        </p:nvGraphicFramePr>
        <p:xfrm>
          <a:off x="611562" y="5733256"/>
          <a:ext cx="8424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50193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53962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49822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67987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a[0][256]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312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、组相联映射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）组相联映射基本原理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600" b="1" dirty="0">
                <a:solidFill>
                  <a:srgbClr val="FF0000"/>
                </a:solidFill>
              </a:rPr>
              <a:t>全相联映射</a:t>
            </a:r>
            <a:r>
              <a:rPr lang="zh-CN" altLang="en-US" sz="1600" b="1" dirty="0"/>
              <a:t>命中率高，但是查找电路硬件成本也高；</a:t>
            </a:r>
            <a:r>
              <a:rPr lang="zh-CN" altLang="en-US" sz="1600" b="1" dirty="0">
                <a:solidFill>
                  <a:srgbClr val="FF0000"/>
                </a:solidFill>
              </a:rPr>
              <a:t>直接相联映射</a:t>
            </a:r>
            <a:r>
              <a:rPr lang="zh-CN" altLang="en-US" sz="1600" b="1" dirty="0"/>
              <a:t>查找电路硬件成本低，但是命中率也低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solidFill>
                  <a:srgbClr val="FF0000"/>
                </a:solidFill>
              </a:rPr>
              <a:t>组相联映射</a:t>
            </a:r>
            <a:r>
              <a:rPr lang="zh-CN" altLang="en-US" sz="1600" b="1" dirty="0"/>
              <a:t>是直接相联映射和全相联映射的折中，既能提高命中率，又能降低查找电路的硬件成本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组相联映射将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分成若干个固定大小的组，每个组有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行，称为</a:t>
            </a:r>
            <a:r>
              <a:rPr lang="en-US" altLang="zh-CN" sz="1600" b="1" dirty="0">
                <a:solidFill>
                  <a:srgbClr val="FF0000"/>
                </a:solidFill>
              </a:rPr>
              <a:t>k-</a:t>
            </a:r>
            <a:r>
              <a:rPr lang="zh-CN" altLang="en-US" sz="1600" b="1" dirty="0">
                <a:solidFill>
                  <a:srgbClr val="FF0000"/>
                </a:solidFill>
              </a:rPr>
              <a:t>路组相联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主存数据块首先采用直接相联映射方式映射到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的某一组，然后按照全相联映射方式映射到该组内的任意一行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假设主存块号为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组号为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组，则有：</a:t>
            </a:r>
            <a:r>
              <a:rPr lang="en-US" altLang="zh-CN" sz="1600" b="1" dirty="0" err="1">
                <a:solidFill>
                  <a:srgbClr val="FF0000"/>
                </a:solidFill>
              </a:rPr>
              <a:t>i</a:t>
            </a:r>
            <a:r>
              <a:rPr lang="en-US" altLang="zh-CN" sz="1600" b="1" dirty="0">
                <a:solidFill>
                  <a:srgbClr val="FF0000"/>
                </a:solidFill>
              </a:rPr>
              <a:t> = j  mod  n</a:t>
            </a:r>
          </a:p>
          <a:p>
            <a:pPr lvl="3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1600" b="1" dirty="0"/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6894271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03237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地址映射过程：根据主存地址中的组索引（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）找到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的对应组，将主存地址中的标记（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组的所有行的标记（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）进行比较，比较相等且有效位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则为</a:t>
            </a:r>
            <a:r>
              <a:rPr lang="zh-CN" altLang="en-US" sz="1600" b="1" dirty="0">
                <a:solidFill>
                  <a:srgbClr val="FF0000"/>
                </a:solidFill>
              </a:rPr>
              <a:t>命中</a:t>
            </a:r>
            <a:r>
              <a:rPr lang="zh-CN" altLang="en-US" sz="1600" b="1" dirty="0"/>
              <a:t>，否则为</a:t>
            </a:r>
            <a:r>
              <a:rPr lang="zh-CN" altLang="en-US" sz="1600" b="1" dirty="0">
                <a:solidFill>
                  <a:srgbClr val="FF0000"/>
                </a:solidFill>
              </a:rPr>
              <a:t>缺失</a:t>
            </a:r>
            <a:r>
              <a:rPr lang="zh-CN" altLang="en-US" sz="1600" b="1" dirty="0"/>
              <a:t>（没有一个比较相等，或者是比较相等但有效位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D8CE95-49FC-425F-A2A0-6279528C1945}"/>
              </a:ext>
            </a:extLst>
          </p:cNvPr>
          <p:cNvGrpSpPr/>
          <p:nvPr/>
        </p:nvGrpSpPr>
        <p:grpSpPr>
          <a:xfrm>
            <a:off x="1619672" y="2395974"/>
            <a:ext cx="6314361" cy="3861083"/>
            <a:chOff x="1619672" y="2395974"/>
            <a:chExt cx="6314361" cy="386108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8D5222-7256-4344-99E7-6085F58D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2395974"/>
              <a:ext cx="6314361" cy="330397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EFE7E62-E456-47E8-8856-41FF4C68B938}"/>
                </a:ext>
              </a:extLst>
            </p:cNvPr>
            <p:cNvSpPr txBox="1"/>
            <p:nvPr/>
          </p:nvSpPr>
          <p:spPr>
            <a:xfrm>
              <a:off x="3203848" y="5949280"/>
              <a:ext cx="457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4.41</a:t>
              </a:r>
              <a:r>
                <a:rPr lang="zh-CN" altLang="en-US" sz="1400" b="1" dirty="0"/>
                <a:t>    </a:t>
              </a:r>
              <a:r>
                <a:rPr lang="en-US" altLang="zh-CN" sz="1400" b="1" dirty="0"/>
                <a:t>2</a:t>
              </a:r>
              <a:r>
                <a:rPr lang="zh-CN" altLang="en-US" sz="1400" b="1" dirty="0"/>
                <a:t>路组相联映射逻辑示意图</a:t>
              </a:r>
              <a:endParaRPr lang="zh-CN" altLang="en-US" sz="14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108CF5E-31D7-4232-A29D-8803306E31E0}"/>
              </a:ext>
            </a:extLst>
          </p:cNvPr>
          <p:cNvSpPr txBox="1"/>
          <p:nvPr/>
        </p:nvSpPr>
        <p:spPr>
          <a:xfrm>
            <a:off x="5148064" y="1556792"/>
            <a:ext cx="3672408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/>
              <a:t>主存地址 = 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 + 组索引</a:t>
            </a:r>
            <a:r>
              <a:rPr lang="en-US" altLang="zh-CN" sz="1100" b="1" dirty="0"/>
              <a:t>(index) + </a:t>
            </a:r>
            <a:r>
              <a:rPr lang="zh-CN" altLang="en-US" sz="1100" b="1" dirty="0"/>
              <a:t>块内偏移</a:t>
            </a:r>
            <a:r>
              <a:rPr lang="en-US" altLang="zh-CN" sz="1100" b="1" dirty="0"/>
              <a:t>(offset)</a:t>
            </a:r>
            <a:endParaRPr lang="zh-CN" altLang="en-US" sz="11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B16651-E03D-46B2-99A5-FACDD85A887D}"/>
              </a:ext>
            </a:extLst>
          </p:cNvPr>
          <p:cNvSpPr txBox="1"/>
          <p:nvPr/>
        </p:nvSpPr>
        <p:spPr>
          <a:xfrm>
            <a:off x="5281736" y="1988840"/>
            <a:ext cx="3538736" cy="26161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每一行包括：有效位、标记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、数据块副本</a:t>
            </a:r>
          </a:p>
        </p:txBody>
      </p:sp>
    </p:spTree>
    <p:extLst>
      <p:ext uri="{BB962C8B-B14F-4D97-AF65-F5344CB8AC3E}">
        <p14:creationId xmlns:p14="http://schemas.microsoft.com/office/powerpoint/2010/main" val="6149060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）组相联映射硬件实现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假设：主存地址（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组索引为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路组相联映射，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每组有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行，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行；块内偏移为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的每一行数据块副本缓冲区中有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个字（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27E94E-2791-4D92-A45C-0C3ECFC1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33" y="5928874"/>
            <a:ext cx="640342" cy="8626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81B2BA-AEB2-4AD1-BE6A-F89D48F1DB31}"/>
              </a:ext>
            </a:extLst>
          </p:cNvPr>
          <p:cNvSpPr txBox="1"/>
          <p:nvPr/>
        </p:nvSpPr>
        <p:spPr>
          <a:xfrm>
            <a:off x="1835696" y="6505599"/>
            <a:ext cx="601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4.42  </a:t>
            </a:r>
            <a:r>
              <a:rPr lang="zh-CN" altLang="en-US" sz="1400" b="1" dirty="0"/>
              <a:t>  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路组相联映射的硬件逻辑实现框图（该图只有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，没有主存）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C0D01-F40A-4439-816F-A9D96512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6" y="2442922"/>
            <a:ext cx="6850974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111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）的任意一行（比如第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行），并将该行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00001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FF0000"/>
                </a:solidFill>
              </a:rPr>
              <a:t>载入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的字时，根据其组索引（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组，并比较主存的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00101</a:t>
            </a:r>
            <a:r>
              <a:rPr lang="zh-CN" altLang="en-US" sz="1400" b="1" dirty="0"/>
              <a:t>）与该组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，结果与第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行相同，且有效位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FF0000"/>
                </a:solidFill>
              </a:rPr>
              <a:t>命中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44075"/>
              </p:ext>
            </p:extLst>
          </p:nvPr>
        </p:nvGraphicFramePr>
        <p:xfrm>
          <a:off x="179512" y="3455469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00001</a:t>
                      </a:r>
                      <a:r>
                        <a:rPr lang="en-US" altLang="zh-CN" sz="1200" b="1" dirty="0"/>
                        <a:t> 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00100 10 00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00101</a:t>
                      </a:r>
                      <a:r>
                        <a:rPr lang="en-US" altLang="zh-CN" sz="1200" b="1" dirty="0"/>
                        <a:t> 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10000 00 11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组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3/6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1/2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2/4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DC74B75-E18F-42BD-81E1-639998CCF97F}"/>
              </a:ext>
            </a:extLst>
          </p:cNvPr>
          <p:cNvSpPr txBox="1"/>
          <p:nvPr/>
        </p:nvSpPr>
        <p:spPr>
          <a:xfrm>
            <a:off x="3150096" y="3121223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    组相联映射的访问过程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847277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363272" cy="2880538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比较表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（组相联映射）和表</a:t>
            </a:r>
            <a:r>
              <a:rPr lang="en-US" altLang="zh-CN" sz="1600" b="1" dirty="0"/>
              <a:t>4.5</a:t>
            </a:r>
            <a:r>
              <a:rPr lang="zh-CN" altLang="en-US" sz="1600" b="1" dirty="0"/>
              <a:t>（直接相联映射），组相联映射没有发生替换，其</a:t>
            </a:r>
            <a:r>
              <a:rPr lang="en-US" altLang="zh-CN" sz="1600" b="1" dirty="0"/>
              <a:t>cache</a:t>
            </a:r>
            <a:r>
              <a:rPr lang="zh-CN" altLang="en-US" sz="1600" b="1" dirty="0">
                <a:solidFill>
                  <a:srgbClr val="FF0000"/>
                </a:solidFill>
              </a:rPr>
              <a:t>利用率</a:t>
            </a:r>
            <a:r>
              <a:rPr lang="zh-CN" altLang="en-US" sz="1600" b="1" dirty="0"/>
              <a:t>比直接相联映射</a:t>
            </a:r>
            <a:r>
              <a:rPr lang="zh-CN" altLang="en-US" sz="1600" b="1" dirty="0">
                <a:solidFill>
                  <a:srgbClr val="FF0000"/>
                </a:solidFill>
              </a:rPr>
              <a:t>有所提高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比较图</a:t>
            </a:r>
            <a:r>
              <a:rPr lang="en-US" altLang="zh-CN" sz="1600" b="1" dirty="0"/>
              <a:t>4.41</a:t>
            </a:r>
            <a:r>
              <a:rPr lang="zh-CN" altLang="en-US" sz="1600" b="1" dirty="0"/>
              <a:t> （组相联映射）和图</a:t>
            </a:r>
            <a:r>
              <a:rPr lang="en-US" altLang="zh-CN" sz="1600" b="1" dirty="0"/>
              <a:t>4.36</a:t>
            </a:r>
            <a:r>
              <a:rPr lang="zh-CN" altLang="en-US" sz="1600" b="1" dirty="0"/>
              <a:t>（全相联映射） ，组相联映射只需要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路并发比较，而全相联映射需要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路并发比较，组相联映射的</a:t>
            </a:r>
            <a:r>
              <a:rPr lang="zh-CN" altLang="en-US" sz="1600" b="1" dirty="0">
                <a:solidFill>
                  <a:srgbClr val="FF0000"/>
                </a:solidFill>
              </a:rPr>
              <a:t>硬件成本更低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k=1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的每组只有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行（</a:t>
            </a:r>
            <a:r>
              <a:rPr lang="en-US" altLang="zh-CN" sz="1600" b="1" dirty="0"/>
              <a:t>1-</a:t>
            </a:r>
            <a:r>
              <a:rPr lang="zh-CN" altLang="en-US" sz="1600" b="1" dirty="0"/>
              <a:t>路组相联），此时组相联映射演变为直接相联映射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n=1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组，此时组相联映射演变为全相联映射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8B2D6-9D10-413F-BDAF-F5F7B07779FA}"/>
              </a:ext>
            </a:extLst>
          </p:cNvPr>
          <p:cNvSpPr txBox="1"/>
          <p:nvPr/>
        </p:nvSpPr>
        <p:spPr>
          <a:xfrm>
            <a:off x="2267744" y="3140968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4.7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5E093-554B-4388-BB49-4459A9A1DB4B}"/>
              </a:ext>
            </a:extLst>
          </p:cNvPr>
          <p:cNvSpPr txBox="1"/>
          <p:nvPr/>
        </p:nvSpPr>
        <p:spPr>
          <a:xfrm>
            <a:off x="6585598" y="3004383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4.5</a:t>
            </a:r>
            <a:endParaRPr lang="zh-CN" altLang="en-US" sz="12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08EE79-7884-4D05-91E3-83032C74DC8F}"/>
              </a:ext>
            </a:extLst>
          </p:cNvPr>
          <p:cNvGrpSpPr/>
          <p:nvPr/>
        </p:nvGrpSpPr>
        <p:grpSpPr>
          <a:xfrm>
            <a:off x="568471" y="3068960"/>
            <a:ext cx="8287497" cy="3753307"/>
            <a:chOff x="568471" y="3140968"/>
            <a:chExt cx="8287497" cy="375330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4E5AE6-A587-4D0A-B0B4-0942CD043B6A}"/>
                </a:ext>
              </a:extLst>
            </p:cNvPr>
            <p:cNvGrpSpPr/>
            <p:nvPr/>
          </p:nvGrpSpPr>
          <p:grpSpPr>
            <a:xfrm>
              <a:off x="568471" y="3140968"/>
              <a:ext cx="8287497" cy="1512168"/>
              <a:chOff x="568471" y="3140968"/>
              <a:chExt cx="8287497" cy="1512168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3C6C1086-848A-4F89-96F5-534D64169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8471" y="3204619"/>
                <a:ext cx="3923928" cy="1448517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B1BC1612-7F00-46E4-820C-085092E04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32" y="3171497"/>
                <a:ext cx="3995936" cy="1481639"/>
              </a:xfrm>
              <a:prstGeom prst="rect">
                <a:avLst/>
              </a:prstGeom>
            </p:spPr>
          </p:pic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08A865-D596-4D0A-9C23-F61939E7B9DE}"/>
                  </a:ext>
                </a:extLst>
              </p:cNvPr>
              <p:cNvSpPr txBox="1"/>
              <p:nvPr/>
            </p:nvSpPr>
            <p:spPr>
              <a:xfrm>
                <a:off x="2267744" y="3140968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4.7</a:t>
                </a:r>
                <a:endParaRPr lang="zh-CN" altLang="en-US" sz="12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2F0BD5B-577D-496C-81B6-DA898D031255}"/>
                  </a:ext>
                </a:extLst>
              </p:cNvPr>
              <p:cNvSpPr txBox="1"/>
              <p:nvPr/>
            </p:nvSpPr>
            <p:spPr>
              <a:xfrm>
                <a:off x="6606480" y="3152001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4.5</a:t>
                </a:r>
                <a:endParaRPr lang="zh-CN" altLang="en-US" sz="12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57EC66-DC45-4F20-B5EC-9FF6E44C0358}"/>
                </a:ext>
              </a:extLst>
            </p:cNvPr>
            <p:cNvGrpSpPr/>
            <p:nvPr/>
          </p:nvGrpSpPr>
          <p:grpSpPr>
            <a:xfrm>
              <a:off x="1291445" y="4880187"/>
              <a:ext cx="7132475" cy="2014088"/>
              <a:chOff x="1291445" y="4880187"/>
              <a:chExt cx="7132475" cy="201408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7D73127-BAB2-43E0-886E-AD52E7CDE417}"/>
                  </a:ext>
                </a:extLst>
              </p:cNvPr>
              <p:cNvSpPr txBox="1"/>
              <p:nvPr/>
            </p:nvSpPr>
            <p:spPr>
              <a:xfrm>
                <a:off x="2496288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4.41</a:t>
                </a:r>
                <a:endParaRPr lang="zh-CN" altLang="en-US" sz="12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8191151-62C4-49AC-9D0B-01BD876FA420}"/>
                  </a:ext>
                </a:extLst>
              </p:cNvPr>
              <p:cNvSpPr txBox="1"/>
              <p:nvPr/>
            </p:nvSpPr>
            <p:spPr>
              <a:xfrm>
                <a:off x="6858000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4.36</a:t>
                </a:r>
                <a:endParaRPr lang="zh-CN" altLang="en-US" sz="1200" dirty="0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8EEF1A32-C8AA-4FD4-9BFE-8A62A27B7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445" y="4880187"/>
                <a:ext cx="3059832" cy="1576500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E604AE68-2C90-4D93-A776-985E70374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4048" y="4886642"/>
                <a:ext cx="3419872" cy="15827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9798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、不同映射方式比较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主存地址：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全相联映射：主存地址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主存块地址（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s-r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组相联映射：主存地址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标记（</a:t>
            </a:r>
            <a:r>
              <a:rPr lang="en-US" altLang="zh-CN" sz="1400" b="1" dirty="0"/>
              <a:t>s-d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组索引（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并且：</a:t>
            </a:r>
            <a:r>
              <a:rPr lang="en-US" altLang="zh-CN" sz="1400" b="1" dirty="0"/>
              <a:t>s &gt; r &gt; d</a:t>
            </a:r>
            <a:r>
              <a:rPr lang="zh-CN" altLang="en-US" sz="1400" b="1" dirty="0"/>
              <a:t>；当</a:t>
            </a:r>
            <a:r>
              <a:rPr lang="en-US" altLang="zh-CN" sz="1400" b="1" dirty="0"/>
              <a:t>d=0</a:t>
            </a:r>
            <a:r>
              <a:rPr lang="zh-CN" altLang="en-US" sz="1400" b="1" dirty="0"/>
              <a:t>，组相联映射演变为全相联映射；当</a:t>
            </a:r>
            <a:r>
              <a:rPr lang="en-US" altLang="zh-CN" sz="1400" b="1" dirty="0"/>
              <a:t>d=r</a:t>
            </a:r>
            <a:r>
              <a:rPr lang="zh-CN" altLang="en-US" sz="1400" b="1" dirty="0"/>
              <a:t>，组相联映射演变为直接相联映射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直接相联映射：查找容易（主存的块对应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的唯一块），淘汰简单，但命中率较低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全相联映射：查找时并发比较的硬件成本最高，淘汰算法复杂，但命中率较高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组相联映射：兼具直接相联映射和全相联映射的优势，既能提高命中率，又能降低查找电路的硬件成本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0E4E34-E600-4A42-BB2A-913A1EEF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4" y="5085184"/>
            <a:ext cx="37283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423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9CFB2E-2A3B-45F7-BACE-23F36030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67" y="332656"/>
            <a:ext cx="3952981" cy="177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C340E6-FEDB-4203-9F28-E688A897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59" y="2564904"/>
            <a:ext cx="3930389" cy="16517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AD0DC1-41E0-4510-9FA0-27176796F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694988"/>
            <a:ext cx="3990954" cy="19023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ED27F0-0C1A-491B-9E03-A325275F5134}"/>
              </a:ext>
            </a:extLst>
          </p:cNvPr>
          <p:cNvSpPr txBox="1"/>
          <p:nvPr/>
        </p:nvSpPr>
        <p:spPr>
          <a:xfrm>
            <a:off x="539552" y="911042"/>
            <a:ext cx="3168352" cy="86177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全相联映射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zh-CN" altLang="en-US" sz="1000" b="1" dirty="0"/>
              <a:t>主存地址 </a:t>
            </a:r>
            <a:r>
              <a:rPr lang="en-US" altLang="zh-CN" sz="1000" b="1" dirty="0"/>
              <a:t>= </a:t>
            </a:r>
            <a:r>
              <a:rPr lang="zh-CN" altLang="en-US" sz="1000" b="1" dirty="0"/>
              <a:t>主存块地址（</a:t>
            </a:r>
            <a:r>
              <a:rPr lang="en-US" altLang="zh-CN" sz="1000" b="1" dirty="0">
                <a:solidFill>
                  <a:srgbClr val="FF0000"/>
                </a:solidFill>
              </a:rPr>
              <a:t>10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en-US" altLang="zh-CN" sz="1000" b="1" dirty="0"/>
              <a:t>cache</a:t>
            </a:r>
            <a:r>
              <a:rPr lang="zh-CN" altLang="en-US" sz="1000" b="1" dirty="0"/>
              <a:t>地址 </a:t>
            </a:r>
            <a:r>
              <a:rPr lang="en-US" altLang="zh-CN" sz="1000" b="1" dirty="0"/>
              <a:t>= cache</a:t>
            </a:r>
            <a:r>
              <a:rPr lang="zh-CN" altLang="en-US" sz="1000" b="1" dirty="0"/>
              <a:t>块地址（</a:t>
            </a:r>
            <a:r>
              <a:rPr lang="en-US" altLang="zh-CN" sz="1000" b="1" dirty="0">
                <a:solidFill>
                  <a:srgbClr val="FF0000"/>
                </a:solidFill>
              </a:rPr>
              <a:t>5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69EBF4-678A-4837-9A50-65EBDDE589A2}"/>
              </a:ext>
            </a:extLst>
          </p:cNvPr>
          <p:cNvSpPr txBox="1"/>
          <p:nvPr/>
        </p:nvSpPr>
        <p:spPr>
          <a:xfrm>
            <a:off x="539552" y="3208574"/>
            <a:ext cx="3744416" cy="86177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直接相联映射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zh-CN" altLang="en-US" sz="1000" b="1" dirty="0"/>
              <a:t>主存地址 </a:t>
            </a:r>
            <a:r>
              <a:rPr lang="en-US" altLang="zh-CN" sz="1000" b="1" dirty="0"/>
              <a:t>= </a:t>
            </a:r>
            <a:r>
              <a:rPr lang="zh-CN" altLang="en-US" sz="1000" b="1" dirty="0"/>
              <a:t>区地址（</a:t>
            </a:r>
            <a:r>
              <a:rPr lang="en-US" altLang="zh-CN" sz="1000" b="1" dirty="0">
                <a:solidFill>
                  <a:srgbClr val="FF0000"/>
                </a:solidFill>
              </a:rPr>
              <a:t>5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行索引（</a:t>
            </a:r>
            <a:r>
              <a:rPr lang="en-US" altLang="zh-CN" sz="1000" b="1" dirty="0">
                <a:solidFill>
                  <a:srgbClr val="FF0000"/>
                </a:solidFill>
              </a:rPr>
              <a:t>5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en-US" altLang="zh-CN" sz="1000" b="1" dirty="0"/>
              <a:t>cache</a:t>
            </a:r>
            <a:r>
              <a:rPr lang="zh-CN" altLang="en-US" sz="1000" b="1" dirty="0"/>
              <a:t>地址 </a:t>
            </a:r>
            <a:r>
              <a:rPr lang="en-US" altLang="zh-CN" sz="1000" b="1" dirty="0"/>
              <a:t>= cache</a:t>
            </a:r>
            <a:r>
              <a:rPr lang="zh-CN" altLang="en-US" sz="1000" b="1" dirty="0"/>
              <a:t>块地址（</a:t>
            </a:r>
            <a:r>
              <a:rPr lang="en-US" altLang="zh-CN" sz="1000" b="1" dirty="0">
                <a:solidFill>
                  <a:srgbClr val="FF0000"/>
                </a:solidFill>
              </a:rPr>
              <a:t>5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3C33C-BC28-4DCA-83AF-6829B624F28A}"/>
              </a:ext>
            </a:extLst>
          </p:cNvPr>
          <p:cNvSpPr txBox="1"/>
          <p:nvPr/>
        </p:nvSpPr>
        <p:spPr>
          <a:xfrm>
            <a:off x="539552" y="5445224"/>
            <a:ext cx="3888432" cy="86177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/>
              <a:t>2</a:t>
            </a:r>
            <a:r>
              <a:rPr lang="zh-CN" altLang="en-US" sz="1000" b="1" dirty="0"/>
              <a:t>路组相联映射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zh-CN" altLang="en-US" sz="1000" b="1" dirty="0"/>
              <a:t>主存地址 </a:t>
            </a:r>
            <a:r>
              <a:rPr lang="en-US" altLang="zh-CN" sz="1000" b="1" dirty="0"/>
              <a:t>= </a:t>
            </a:r>
            <a:r>
              <a:rPr lang="zh-CN" altLang="en-US" sz="1000" b="1" dirty="0"/>
              <a:t>标记（</a:t>
            </a:r>
            <a:r>
              <a:rPr lang="en-US" altLang="zh-CN" sz="1000" b="1" dirty="0">
                <a:solidFill>
                  <a:srgbClr val="FF0000"/>
                </a:solidFill>
              </a:rPr>
              <a:t>6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组索引（</a:t>
            </a:r>
            <a:r>
              <a:rPr lang="en-US" altLang="zh-CN" sz="1000" b="1" dirty="0">
                <a:solidFill>
                  <a:srgbClr val="FF0000"/>
                </a:solidFill>
              </a:rPr>
              <a:t>4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en-US" altLang="zh-CN" sz="1000" b="1" dirty="0"/>
              <a:t>cache</a:t>
            </a:r>
            <a:r>
              <a:rPr lang="zh-CN" altLang="en-US" sz="1000" b="1" dirty="0"/>
              <a:t>地址 </a:t>
            </a:r>
            <a:r>
              <a:rPr lang="en-US" altLang="zh-CN" sz="1000" b="1" dirty="0"/>
              <a:t>= cache</a:t>
            </a:r>
            <a:r>
              <a:rPr lang="zh-CN" altLang="en-US" sz="1000" b="1" dirty="0"/>
              <a:t>块地址（</a:t>
            </a:r>
            <a:r>
              <a:rPr lang="en-US" altLang="zh-CN" sz="1000" b="1" dirty="0">
                <a:solidFill>
                  <a:srgbClr val="FF0000"/>
                </a:solidFill>
              </a:rPr>
              <a:t>5</a:t>
            </a:r>
            <a:r>
              <a:rPr lang="zh-CN" altLang="en-US" sz="1000" b="1" dirty="0">
                <a:solidFill>
                  <a:srgbClr val="FF0000"/>
                </a:solidFill>
              </a:rPr>
              <a:t>位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块内偏移（</a:t>
            </a:r>
            <a:r>
              <a:rPr lang="en-US" altLang="zh-CN" sz="1000" b="1" dirty="0"/>
              <a:t>w</a:t>
            </a:r>
            <a:r>
              <a:rPr lang="zh-CN" altLang="en-US" sz="1000" b="1" dirty="0"/>
              <a:t>位）</a:t>
            </a:r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448656130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替换算法也称为淘汰算法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中已经装满数据，当新的数据块要载入时，必须从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中替换（淘汰）掉一个数据块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如果淘汰掉的数据块中存在脏数据（</a:t>
            </a:r>
            <a:r>
              <a:rPr lang="en-US" altLang="zh-CN" sz="1600" b="1" dirty="0">
                <a:solidFill>
                  <a:srgbClr val="FF0000"/>
                </a:solidFill>
              </a:rPr>
              <a:t>Dirty Data</a:t>
            </a:r>
            <a:r>
              <a:rPr lang="zh-CN" altLang="en-US" sz="1600" b="1" dirty="0"/>
              <a:t>），还需要将淘汰的数据同步到主存中，脏数据，即：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的数据与主存数据不一致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常用的替换算法有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种：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先进先出算法 </a:t>
            </a:r>
            <a:r>
              <a:rPr lang="en-US" altLang="zh-CN" sz="1600" b="1" dirty="0"/>
              <a:t>FIFO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最不经常使用算法</a:t>
            </a:r>
            <a:r>
              <a:rPr lang="en-US" altLang="zh-CN" sz="1600" b="1" dirty="0"/>
              <a:t>LFU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近期最少使用算法</a:t>
            </a:r>
            <a:r>
              <a:rPr lang="en-US" altLang="zh-CN" sz="1600" b="1" dirty="0"/>
              <a:t>LRU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随机替换算法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177385754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59221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、先进先出算法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先进先出：</a:t>
            </a:r>
            <a:r>
              <a:rPr lang="en-US" altLang="zh-CN" sz="1800" b="1" dirty="0"/>
              <a:t>First In First Out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FIFO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算法按照数据块进入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FF0000"/>
                </a:solidFill>
              </a:rPr>
              <a:t>先后</a:t>
            </a:r>
            <a:r>
              <a:rPr lang="zh-CN" altLang="en-US" sz="1800" b="1" dirty="0"/>
              <a:t>决定替换的</a:t>
            </a:r>
            <a:r>
              <a:rPr lang="zh-CN" altLang="en-US" sz="1800" b="1" dirty="0">
                <a:solidFill>
                  <a:srgbClr val="FF0000"/>
                </a:solidFill>
              </a:rPr>
              <a:t>顺序</a:t>
            </a:r>
            <a:r>
              <a:rPr lang="zh-CN" altLang="en-US" sz="1800" b="1" dirty="0"/>
              <a:t>，在需要进行替换时，选择最先被载入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的行（数据块）进行替换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算法需要记录每个数据块载入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FF0000"/>
                </a:solidFill>
              </a:rPr>
              <a:t>时间戳</a:t>
            </a:r>
            <a:r>
              <a:rPr lang="zh-CN" altLang="en-US" sz="1800" b="1" dirty="0"/>
              <a:t>或时间计数，以方便替换时比较先后顺序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FF0000"/>
                </a:solidFill>
              </a:rPr>
              <a:t>优点</a:t>
            </a:r>
            <a:r>
              <a:rPr lang="zh-CN" altLang="en-US" sz="1800" b="1" dirty="0"/>
              <a:t>：系统开销较小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FF0000"/>
                </a:solidFill>
              </a:rPr>
              <a:t>缺点</a:t>
            </a:r>
            <a:r>
              <a:rPr lang="zh-CN" altLang="en-US" sz="1800" b="1" dirty="0"/>
              <a:t>：没有考虑程序访问的局部性，可能会把一些需要经常使用的块（如循环程序块）也作为最早进入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的块而替换掉，从而导致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的命中率不高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26148207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、最不经常使用算法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最不经常使用：</a:t>
            </a:r>
            <a:r>
              <a:rPr lang="en-US" altLang="zh-CN" sz="1800" b="1" dirty="0"/>
              <a:t>Least Frequently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LFU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将访问次数最少的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行（数据块）淘汰掉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的每行设置一个计数器，每访问该行一次，计数器加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；当需要替换时，对所有可淘汰行的计数值进行比较，将</a:t>
            </a:r>
            <a:r>
              <a:rPr lang="zh-CN" altLang="en-US" sz="1800" b="1" dirty="0">
                <a:highlight>
                  <a:srgbClr val="FFFF00"/>
                </a:highlight>
              </a:rPr>
              <a:t>计数值最小的行淘汰掉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算法的不足：计数器记录的是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工作后的</a:t>
            </a:r>
            <a:r>
              <a:rPr lang="zh-CN" altLang="en-US" sz="1800" b="1" dirty="0">
                <a:solidFill>
                  <a:srgbClr val="C00000"/>
                </a:solidFill>
              </a:rPr>
              <a:t>历史访问</a:t>
            </a:r>
            <a:r>
              <a:rPr lang="zh-CN" altLang="en-US" sz="1800" b="1" dirty="0"/>
              <a:t>统计情况，并不能严格反映</a:t>
            </a:r>
            <a:r>
              <a:rPr lang="zh-CN" altLang="en-US" sz="1800" b="1" dirty="0">
                <a:solidFill>
                  <a:srgbClr val="C00000"/>
                </a:solidFill>
              </a:rPr>
              <a:t>近期访问</a:t>
            </a:r>
            <a:r>
              <a:rPr lang="zh-CN" altLang="en-US" sz="1800" b="1" dirty="0"/>
              <a:t>情况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例如，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两行，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行在前期多次被访问，而后期未被访问，但是其累计访问次数值很多；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行在前期不常用，而后期正被频繁访问，但是其累计访问次数值小于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行，因而被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算法淘汰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9204603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marL="857250" lvl="1" indent="-342900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、近期最少使用算法</a:t>
            </a:r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1257300" lvl="2" indent="-342900" eaLnBrk="1" hangingPunct="1"/>
            <a:r>
              <a:rPr lang="zh-CN" altLang="en-US" sz="1800" b="1" dirty="0"/>
              <a:t>近期最少使用：</a:t>
            </a:r>
            <a:r>
              <a:rPr lang="en-US" altLang="zh-CN" sz="1800" b="1" dirty="0"/>
              <a:t>Least Recently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将近期内最久未被访问过的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的每行设置一个计数器，当访问某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行时，该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行的计数器清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，其它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；因此</a:t>
            </a:r>
            <a:r>
              <a:rPr lang="zh-CN" altLang="en-US" sz="1800" b="1" dirty="0">
                <a:highlight>
                  <a:srgbClr val="FFFF00"/>
                </a:highlight>
              </a:rPr>
              <a:t>计数器是用于统计未被访问的次数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zh-CN" altLang="en-US" sz="1800" b="1" dirty="0"/>
              <a:t>当需要替换时，比较所有可淘汰行的计数值，将计数值最大的行淘汰掉（即近期最久未被访问的行）</a:t>
            </a:r>
            <a:endParaRPr lang="en-US" altLang="zh-CN" sz="1800" b="1" dirty="0"/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solidFill>
                  <a:srgbClr val="C00000"/>
                </a:solidFill>
              </a:rPr>
              <a:t>保护了刚载入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的新数据，符号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的工作原理（程序局部性），使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具有较高的命中率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算法的缺点：需要快速比较多个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行的计数器值，硬件实现比较复杂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678652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、随机替换算法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随机替换就是在需要进行替换时，从所有可淘汰行中，随机选取一行进行替换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优点是实现最容易，而且替换速度也比前面三种算法快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缺点是随机淘汰的数据，很可能马上又要使用，从而降低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的命中率和工作效率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模拟研究表明，随机替换算法的性能只是比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稍差一些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在虚拟存储器的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表中，为了提高替换速度，就采用了随机替换算法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TLB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：</a:t>
            </a:r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Translation Lookaside Buffer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，地址转换后援缓冲器，简称“</a:t>
            </a:r>
            <a:r>
              <a:rPr lang="zh-CN" altLang="en-US" sz="1800" b="1" dirty="0">
                <a:solidFill>
                  <a:srgbClr val="FF0000"/>
                </a:solidFill>
                <a:latin typeface="PingFang SC"/>
              </a:rPr>
              <a:t>快表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”，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的一种缓存，由存储器管理单元用于改进虚拟地址到物理地址的转换速度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8631529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</p:spPr>
        <p:txBody>
          <a:bodyPr/>
          <a:lstStyle/>
          <a:p>
            <a:r>
              <a:rPr lang="zh-CN" altLang="en-US" sz="2000" b="1" dirty="0"/>
              <a:t>替换算法与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的组织方式紧密相关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b="1" dirty="0"/>
              <a:t>直接相联映射方式：一个主存块对应唯一的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行，因此不需要替换算法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b="1" dirty="0"/>
              <a:t>全相联映射方式：一个主存块可以放置到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的任意一行，因此需要有替换算法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b="1" dirty="0"/>
              <a:t>组相联映射方式：一个主存块可以放置到唯一的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组中的任意一行，也需要有替换算法，只是这时是在一个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组中替换某一行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76407372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019789"/>
              </p:ext>
            </p:extLst>
          </p:nvPr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834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36004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前</a:t>
            </a:r>
            <a:r>
              <a:rPr lang="en-US" altLang="zh-CN" b="1" dirty="0"/>
              <a:t>3</a:t>
            </a:r>
            <a:r>
              <a:rPr lang="zh-CN" altLang="en-US" b="1" dirty="0"/>
              <a:t>次分别访问数据块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是空的，因此需要载入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6B4A81-519C-4D8B-A018-E9CD82EAA444}"/>
              </a:ext>
            </a:extLst>
          </p:cNvPr>
          <p:cNvCxnSpPr>
            <a:cxnSpLocks/>
          </p:cNvCxnSpPr>
          <p:nvPr/>
        </p:nvCxnSpPr>
        <p:spPr>
          <a:xfrm flipH="1">
            <a:off x="1187624" y="2924944"/>
            <a:ext cx="252028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3CB99AA-CB4A-4196-87CD-3073392CC618}"/>
              </a:ext>
            </a:extLst>
          </p:cNvPr>
          <p:cNvCxnSpPr>
            <a:cxnSpLocks/>
          </p:cNvCxnSpPr>
          <p:nvPr/>
        </p:nvCxnSpPr>
        <p:spPr>
          <a:xfrm flipH="1">
            <a:off x="1691680" y="2924944"/>
            <a:ext cx="2016224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231740" y="2924944"/>
            <a:ext cx="1476164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08808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528198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2</a:t>
            </a:r>
            <a:r>
              <a:rPr lang="zh-CN" altLang="en-US" b="1" dirty="0"/>
              <a:t>，为命中，同时将对数据块</a:t>
            </a:r>
            <a:r>
              <a:rPr lang="en-US" altLang="zh-CN" b="1" dirty="0"/>
              <a:t>2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627784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6648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20384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94598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3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707904" y="2904849"/>
            <a:ext cx="360040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98772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060848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的访问次数再加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4211960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15255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508104" y="2581683"/>
            <a:ext cx="309634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中没有，不命中，需要载入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64400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8762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348880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4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076056" y="2924944"/>
            <a:ext cx="216024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9805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260648"/>
            <a:ext cx="3312368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行、第</a:t>
            </a:r>
            <a:r>
              <a:rPr lang="en-US" altLang="zh-CN" b="1" dirty="0"/>
              <a:t>2</a:t>
            </a:r>
            <a:r>
              <a:rPr lang="zh-CN" altLang="en-US" b="1" dirty="0"/>
              <a:t>行、第</a:t>
            </a:r>
            <a:r>
              <a:rPr lang="en-US" altLang="zh-CN" b="1" dirty="0"/>
              <a:t>3</a:t>
            </a:r>
            <a:r>
              <a:rPr lang="zh-CN" altLang="en-US" b="1" dirty="0"/>
              <a:t>行的计数值相同（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 ，都是最小，此时可采用随机替换算法或</a:t>
            </a:r>
            <a:r>
              <a:rPr lang="en-US" altLang="zh-CN" b="1" dirty="0"/>
              <a:t>FIFO</a:t>
            </a:r>
            <a:r>
              <a:rPr lang="zh-CN" altLang="en-US" b="1" dirty="0"/>
              <a:t>算法确定从</a:t>
            </a:r>
            <a:r>
              <a:rPr lang="en-US" altLang="zh-CN" b="1" dirty="0"/>
              <a:t>3</a:t>
            </a:r>
            <a:r>
              <a:rPr lang="zh-CN" altLang="en-US" b="1" dirty="0"/>
              <a:t>行中替换那一行，这里采用</a:t>
            </a:r>
            <a:r>
              <a:rPr lang="en-US" altLang="zh-CN" b="1" dirty="0"/>
              <a:t>FIFO</a:t>
            </a:r>
            <a:r>
              <a:rPr lang="zh-CN" altLang="en-US" b="1" dirty="0"/>
              <a:t>算法，因此替换第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行（数据块</a:t>
            </a:r>
            <a:r>
              <a:rPr lang="en-US" altLang="zh-CN" b="1" dirty="0"/>
              <a:t>2</a:t>
            </a:r>
            <a:r>
              <a:rPr lang="zh-CN" altLang="en-US" b="1" dirty="0"/>
              <a:t>最先载入）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724128" y="3122970"/>
            <a:ext cx="1008112" cy="306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4925690" y="4274046"/>
            <a:ext cx="288032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3811589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228184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436096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4090864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660232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94015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5028018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164288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647595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4440755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668344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02027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9771016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164288" y="2780928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53067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7927305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678688" y="2814477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8041084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6273695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=5/16=31.25%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65458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11870"/>
              </p:ext>
            </p:extLst>
          </p:nvPr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7724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852936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87624" y="3176102"/>
            <a:ext cx="2376264" cy="612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35528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04056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91680" y="3026569"/>
            <a:ext cx="1872208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04179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195736" y="3026569"/>
            <a:ext cx="1368152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2818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99792" y="3039343"/>
            <a:ext cx="864096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1299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203848" y="3039343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996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363589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71650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139952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46010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71601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8679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14806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2340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2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2</a:t>
            </a:r>
            <a:r>
              <a:rPr lang="en-US" altLang="zh-CN" b="1" baseline="30000" dirty="0">
                <a:solidFill>
                  <a:srgbClr val="FF0000"/>
                </a:solidFill>
              </a:rPr>
              <a:t>5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65212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DA80AE1-D218-4426-91A0-DDA4B93AC266}"/>
              </a:ext>
            </a:extLst>
          </p:cNvPr>
          <p:cNvSpPr/>
          <p:nvPr/>
        </p:nvSpPr>
        <p:spPr>
          <a:xfrm>
            <a:off x="4912990" y="450912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04480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3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22818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3F81222-9D01-4A0B-AD7D-E58EA1D30B6C}"/>
              </a:ext>
            </a:extLst>
          </p:cNvPr>
          <p:cNvSpPr/>
          <p:nvPr/>
        </p:nvSpPr>
        <p:spPr>
          <a:xfrm>
            <a:off x="5455146" y="488821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4695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73224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689BAE3-CB09-4979-8150-291E860D19B2}"/>
              </a:ext>
            </a:extLst>
          </p:cNvPr>
          <p:cNvSpPr/>
          <p:nvPr/>
        </p:nvSpPr>
        <p:spPr>
          <a:xfrm>
            <a:off x="5965552" y="4096122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0504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164288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2744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740352" y="2996952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7610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6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720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82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7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5864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7384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=9/16=56.25%</a:t>
            </a:r>
            <a:r>
              <a:rPr lang="zh-CN" altLang="en-US" sz="1600" b="1" dirty="0"/>
              <a:t>；显然比</a:t>
            </a:r>
            <a:r>
              <a:rPr lang="en-US" altLang="zh-CN" sz="1600" b="1" dirty="0"/>
              <a:t>LFU</a:t>
            </a:r>
            <a:r>
              <a:rPr lang="zh-CN" altLang="en-US" sz="1600" b="1" dirty="0"/>
              <a:t>算法的命中率高（</a:t>
            </a:r>
            <a:r>
              <a:rPr lang="en-US" altLang="zh-CN" sz="1600" b="1" dirty="0"/>
              <a:t>5/16=31.25%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69662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、分离</a:t>
            </a:r>
            <a:r>
              <a:rPr lang="en-US" altLang="zh-CN" sz="2000" b="1" dirty="0"/>
              <a:t>cache</a:t>
            </a:r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早期的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中既存放指令又存放数据，称为</a:t>
            </a:r>
            <a:r>
              <a:rPr lang="zh-CN" altLang="en-US" sz="1600" b="1" dirty="0">
                <a:solidFill>
                  <a:srgbClr val="FF0000"/>
                </a:solidFill>
              </a:rPr>
              <a:t>统一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</a:t>
            </a:r>
            <a:r>
              <a:rPr lang="zh-CN" altLang="en-US" sz="1600" b="1" dirty="0">
                <a:solidFill>
                  <a:srgbClr val="FF0000"/>
                </a:solidFill>
              </a:rPr>
              <a:t>指令预取</a:t>
            </a:r>
            <a:r>
              <a:rPr lang="zh-CN" altLang="en-US" sz="1600" b="1" dirty="0"/>
              <a:t>等新技术的出现，需要将指令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I-cache</a:t>
            </a:r>
            <a:r>
              <a:rPr lang="zh-CN" altLang="en-US" sz="1600" b="1" dirty="0"/>
              <a:t>）和数据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D-cache</a:t>
            </a:r>
            <a:r>
              <a:rPr lang="zh-CN" altLang="en-US" sz="1600" b="1" dirty="0"/>
              <a:t>）分开设计，称为</a:t>
            </a:r>
            <a:r>
              <a:rPr lang="zh-CN" altLang="en-US" sz="1600" b="1" dirty="0">
                <a:solidFill>
                  <a:srgbClr val="FF0000"/>
                </a:solidFill>
              </a:rPr>
              <a:t>分离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分离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可以实现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在存取数据时（访问数据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），同时完成取指令的功能（访问指令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），从而提高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的速度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A39154-E7BA-4E77-8B05-1EB044BDDC70}"/>
              </a:ext>
            </a:extLst>
          </p:cNvPr>
          <p:cNvGrpSpPr/>
          <p:nvPr/>
        </p:nvGrpSpPr>
        <p:grpSpPr>
          <a:xfrm>
            <a:off x="2915816" y="3936178"/>
            <a:ext cx="3308407" cy="2805190"/>
            <a:chOff x="2915816" y="3936178"/>
            <a:chExt cx="3308407" cy="280519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3B1332-648A-4334-8D29-8E2B29D3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9832" y="3936178"/>
              <a:ext cx="3164391" cy="280519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BE74148-0896-41EA-81CF-648F471143AF}"/>
                </a:ext>
              </a:extLst>
            </p:cNvPr>
            <p:cNvSpPr txBox="1"/>
            <p:nvPr/>
          </p:nvSpPr>
          <p:spPr>
            <a:xfrm>
              <a:off x="5580112" y="579503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480AE2-8971-41E4-857E-D96D041CB59E}"/>
                </a:ext>
              </a:extLst>
            </p:cNvPr>
            <p:cNvSpPr txBox="1"/>
            <p:nvPr/>
          </p:nvSpPr>
          <p:spPr>
            <a:xfrm>
              <a:off x="2915816" y="580526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55270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、多级</a:t>
            </a:r>
            <a:r>
              <a:rPr lang="en-US" altLang="zh-CN" sz="20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和处理器集成在同一个芯片内，这个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称为第一级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</a:rPr>
              <a:t>L1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由于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芯片内，减少了对片外总线的访问，加快了存取的速度，提高了系统的性能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但是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的容量通常较小，此时可以在</a:t>
            </a:r>
            <a:r>
              <a:rPr lang="en-US" altLang="zh-CN" sz="1600" b="1" dirty="0"/>
              <a:t>L1</a:t>
            </a:r>
            <a:r>
              <a:rPr lang="zh-CN" altLang="en-US" sz="1600" b="1" dirty="0"/>
              <a:t>与主存之间再设置一个容量较大的第二级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L2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随着技术的发展，还出现了</a:t>
            </a:r>
            <a:r>
              <a:rPr lang="en-US" altLang="zh-CN" sz="1600" b="1" dirty="0"/>
              <a:t>L3 cache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L4 cache</a:t>
            </a:r>
            <a:r>
              <a:rPr lang="zh-CN" altLang="en-US" sz="1600" b="1" dirty="0"/>
              <a:t>，称为</a:t>
            </a:r>
            <a:r>
              <a:rPr lang="zh-CN" altLang="en-US" sz="1600" b="1" dirty="0">
                <a:solidFill>
                  <a:srgbClr val="FF0000"/>
                </a:solidFill>
              </a:rPr>
              <a:t>多级</a:t>
            </a:r>
            <a:r>
              <a:rPr lang="en-US" altLang="zh-CN" sz="1600" b="1" dirty="0">
                <a:solidFill>
                  <a:srgbClr val="FF0000"/>
                </a:solidFill>
              </a:rPr>
              <a:t>cache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7B0D76-B745-4A1A-B30F-F77496A85D75}"/>
              </a:ext>
            </a:extLst>
          </p:cNvPr>
          <p:cNvGrpSpPr/>
          <p:nvPr/>
        </p:nvGrpSpPr>
        <p:grpSpPr>
          <a:xfrm>
            <a:off x="3623158" y="3655335"/>
            <a:ext cx="3406531" cy="3086033"/>
            <a:chOff x="3623158" y="3655335"/>
            <a:chExt cx="3406531" cy="30860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B3A9027-A63F-4E64-97E9-EC0935C40DF5}"/>
                </a:ext>
              </a:extLst>
            </p:cNvPr>
            <p:cNvGrpSpPr/>
            <p:nvPr/>
          </p:nvGrpSpPr>
          <p:grpSpPr>
            <a:xfrm>
              <a:off x="3623158" y="3655335"/>
              <a:ext cx="3406531" cy="3086033"/>
              <a:chOff x="3623158" y="3655335"/>
              <a:chExt cx="3406531" cy="3086033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BADAE9F-9B95-4F83-8165-6A6DB424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23158" y="3655335"/>
                <a:ext cx="1966371" cy="3086033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485FB4-6D86-4FDE-BE36-083037C23F72}"/>
                  </a:ext>
                </a:extLst>
              </p:cNvPr>
              <p:cNvSpPr txBox="1"/>
              <p:nvPr/>
            </p:nvSpPr>
            <p:spPr>
              <a:xfrm>
                <a:off x="5589529" y="4437045"/>
                <a:ext cx="1440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（</a:t>
                </a:r>
                <a:r>
                  <a:rPr lang="en-US" altLang="zh-CN" sz="1200" b="1" dirty="0"/>
                  <a:t>L1</a:t>
                </a:r>
                <a:r>
                  <a:rPr lang="zh-CN" altLang="en-US" sz="1200" b="1" dirty="0"/>
                  <a:t>）</a:t>
                </a:r>
                <a:endParaRPr lang="zh-CN" altLang="en-US" sz="1200" dirty="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11041A-C085-476E-B128-6591D961A5F6}"/>
                </a:ext>
              </a:extLst>
            </p:cNvPr>
            <p:cNvSpPr txBox="1"/>
            <p:nvPr/>
          </p:nvSpPr>
          <p:spPr>
            <a:xfrm>
              <a:off x="4929622" y="590425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090515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、软件</a:t>
            </a:r>
            <a:r>
              <a:rPr lang="en-US" altLang="zh-CN" sz="20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如操作系统中的磁盘缓存</a:t>
            </a:r>
            <a:r>
              <a:rPr lang="en-US" altLang="zh-CN" sz="1600" b="1" dirty="0"/>
              <a:t>buffer cache</a:t>
            </a:r>
            <a:r>
              <a:rPr lang="zh-CN" altLang="en-US" sz="1600" b="1" dirty="0"/>
              <a:t>，其是通过软件方式实现的；磁盘缓存技术可以大大优化磁盘访问性能；此外在磁盘驱动器中也集成了硬件的缓存芯片（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在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访问中也使用了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技术，包括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代理服务器（</a:t>
            </a:r>
            <a:r>
              <a:rPr lang="en-US" altLang="zh-CN" sz="1600" b="1" dirty="0"/>
              <a:t>Web Proxy</a:t>
            </a:r>
            <a:r>
              <a:rPr lang="zh-CN" altLang="en-US" sz="1600" b="1" dirty="0"/>
              <a:t>）中的软件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和本地浏览器中的软件</a:t>
            </a:r>
            <a:r>
              <a:rPr lang="en-US" altLang="zh-CN" sz="16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7EBC89-8D3E-4C9A-BB63-95BA2AE2BF85}"/>
              </a:ext>
            </a:extLst>
          </p:cNvPr>
          <p:cNvGrpSpPr/>
          <p:nvPr/>
        </p:nvGrpSpPr>
        <p:grpSpPr>
          <a:xfrm>
            <a:off x="2080520" y="2636912"/>
            <a:ext cx="4982960" cy="3374288"/>
            <a:chOff x="2080520" y="2636912"/>
            <a:chExt cx="4982960" cy="33742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1C2C34-4B78-44B9-B2AC-2B7D5C13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0520" y="2636912"/>
              <a:ext cx="4982960" cy="337428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19AAD1F-4F39-428A-A7F7-5E69F63AC1A1}"/>
                </a:ext>
              </a:extLst>
            </p:cNvPr>
            <p:cNvSpPr txBox="1"/>
            <p:nvPr/>
          </p:nvSpPr>
          <p:spPr>
            <a:xfrm>
              <a:off x="2123728" y="368223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60F1290B-2920-4D2C-B168-7DAB6BA38F46}"/>
              </a:ext>
            </a:extLst>
          </p:cNvPr>
          <p:cNvSpPr txBox="1"/>
          <p:nvPr/>
        </p:nvSpPr>
        <p:spPr>
          <a:xfrm>
            <a:off x="1187624" y="4653136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硬件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2901D9-E4F6-47B6-B3DD-FFDDA62E58AE}"/>
              </a:ext>
            </a:extLst>
          </p:cNvPr>
          <p:cNvSpPr txBox="1"/>
          <p:nvPr/>
        </p:nvSpPr>
        <p:spPr>
          <a:xfrm>
            <a:off x="1187624" y="4221088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2CDEFE-EBCE-448C-B0BA-806F40D0BFD1}"/>
              </a:ext>
            </a:extLst>
          </p:cNvPr>
          <p:cNvCxnSpPr/>
          <p:nvPr/>
        </p:nvCxnSpPr>
        <p:spPr>
          <a:xfrm flipH="1">
            <a:off x="2080520" y="4005064"/>
            <a:ext cx="69128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9B4C69-BD6A-489A-9728-73D04E0C5CBC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155133" y="4807025"/>
            <a:ext cx="345640" cy="197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D0884F3-C63F-45D7-87BA-8AEF660E54AB}"/>
              </a:ext>
            </a:extLst>
          </p:cNvPr>
          <p:cNvSpPr txBox="1"/>
          <p:nvPr/>
        </p:nvSpPr>
        <p:spPr>
          <a:xfrm>
            <a:off x="7063480" y="4221088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FC6CD06-C4F6-4807-B36F-0A7948B12396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446813" y="4005064"/>
            <a:ext cx="616667" cy="369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CCD95A6-9A81-4A46-98D3-44D62EFAD0AD}"/>
              </a:ext>
            </a:extLst>
          </p:cNvPr>
          <p:cNvCxnSpPr>
            <a:cxnSpLocks/>
          </p:cNvCxnSpPr>
          <p:nvPr/>
        </p:nvCxnSpPr>
        <p:spPr>
          <a:xfrm flipV="1">
            <a:off x="6804248" y="4437112"/>
            <a:ext cx="25923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1128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4.6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虚拟存储器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DF2E91-B74A-4B28-B760-904061B88848}"/>
              </a:ext>
            </a:extLst>
          </p:cNvPr>
          <p:cNvSpPr txBox="1"/>
          <p:nvPr/>
        </p:nvSpPr>
        <p:spPr>
          <a:xfrm>
            <a:off x="5364088" y="338306"/>
            <a:ext cx="2664296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200" b="1" dirty="0"/>
              <a:t>4.6.1</a:t>
            </a:r>
            <a:r>
              <a:rPr lang="zh-CN" altLang="en-US" sz="1200" b="1" dirty="0"/>
              <a:t>　虚拟存储器的工作原理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4.6.1</a:t>
            </a:r>
            <a:r>
              <a:rPr lang="zh-CN" altLang="en-US" sz="1200" b="1" dirty="0"/>
              <a:t>　虚拟存储器的地址映射与变换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4.6.3</a:t>
            </a:r>
            <a:r>
              <a:rPr lang="zh-CN" altLang="en-US" sz="1200" b="1" dirty="0"/>
              <a:t>　页式虚拟存储器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0E745B6-C2D4-4E7C-A7AD-650510B64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11349"/>
            <a:ext cx="8229600" cy="5146651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存储系统设计的目标是设计一个</a:t>
            </a:r>
            <a:r>
              <a:rPr lang="zh-CN" altLang="en-US" sz="1600" b="1" dirty="0">
                <a:solidFill>
                  <a:srgbClr val="FF0000"/>
                </a:solidFill>
              </a:rPr>
              <a:t>访问速度快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FF0000"/>
                </a:solidFill>
              </a:rPr>
              <a:t>存储容量大</a:t>
            </a:r>
            <a:r>
              <a:rPr lang="zh-CN" altLang="en-US" sz="1600" b="1" dirty="0"/>
              <a:t>的存储系统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cache</a:t>
            </a:r>
            <a:r>
              <a:rPr lang="zh-CN" altLang="en-US" sz="1600" b="1" dirty="0"/>
              <a:t>技术可以大大提高主存的访问速度，但是并不能解决主存容量不足的问题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一方面，程序员总希望能够有一个</a:t>
            </a:r>
            <a:r>
              <a:rPr lang="zh-CN" altLang="en-US" sz="1600" b="1" dirty="0">
                <a:solidFill>
                  <a:srgbClr val="FF0000"/>
                </a:solidFill>
              </a:rPr>
              <a:t>大于主存空间的编程空</a:t>
            </a:r>
            <a:r>
              <a:rPr lang="zh-CN" altLang="en-US" sz="1600" b="1" dirty="0"/>
              <a:t>间，这样编写程序时不受实际主存大小的限制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另一方面，多任务操作系统的计算机中有</a:t>
            </a:r>
            <a:r>
              <a:rPr lang="zh-CN" altLang="en-US" sz="1600" b="1" dirty="0">
                <a:solidFill>
                  <a:srgbClr val="FF0000"/>
                </a:solidFill>
              </a:rPr>
              <a:t>多个用户程序的进程在运行</a:t>
            </a:r>
            <a:r>
              <a:rPr lang="zh-CN" altLang="en-US" sz="1600" b="1" dirty="0"/>
              <a:t>，每个进程都需要自己的独立地址空间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如何让更多的程序（程序的容量可能大于主存空间）在有限的主存空间中高效并发运行，并互不干扰，是</a:t>
            </a:r>
            <a:r>
              <a:rPr lang="zh-CN" altLang="en-US" sz="1600" b="1" dirty="0">
                <a:solidFill>
                  <a:srgbClr val="FF0000"/>
                </a:solidFill>
              </a:rPr>
              <a:t>虚拟存储器</a:t>
            </a:r>
            <a:r>
              <a:rPr lang="zh-CN" altLang="en-US" sz="1600" b="1" dirty="0"/>
              <a:t>需要解决的问题</a:t>
            </a:r>
          </a:p>
          <a:p>
            <a:pPr lvl="1" eaLnBrk="1" hangingPunct="1"/>
            <a:r>
              <a:rPr lang="zh-CN" altLang="en-US" sz="1600" dirty="0">
                <a:hlinkClick r:id="rId2"/>
              </a:rPr>
              <a:t>计算机体系结构</a:t>
            </a:r>
            <a:r>
              <a:rPr lang="en-US" altLang="zh-CN" sz="1600" dirty="0">
                <a:hlinkClick r:id="rId2"/>
              </a:rPr>
              <a:t>-</a:t>
            </a:r>
            <a:r>
              <a:rPr lang="zh-CN" altLang="en-US" sz="1600" dirty="0">
                <a:hlinkClick r:id="rId2"/>
              </a:rPr>
              <a:t>虚拟存储器 </a:t>
            </a:r>
            <a:r>
              <a:rPr lang="en-US" altLang="zh-CN" sz="1600" dirty="0">
                <a:hlinkClick r:id="rId2"/>
              </a:rPr>
              <a:t>- </a:t>
            </a:r>
            <a:r>
              <a:rPr lang="zh-CN" altLang="en-US" sz="1600" dirty="0">
                <a:hlinkClick r:id="rId2"/>
              </a:rPr>
              <a:t>知乎 </a:t>
            </a:r>
            <a:r>
              <a:rPr lang="en-US" altLang="zh-CN" sz="1600" dirty="0">
                <a:hlinkClick r:id="rId2"/>
              </a:rPr>
              <a:t>(zhihu.com)</a:t>
            </a:r>
            <a:endParaRPr lang="en-US" altLang="zh-CN" sz="1600" dirty="0"/>
          </a:p>
          <a:p>
            <a:pPr lvl="1" eaLnBrk="1" hangingPunct="1"/>
            <a:r>
              <a:rPr lang="zh-CN" altLang="en-US" sz="1600" dirty="0"/>
              <a:t>操作系统之虚拟存储器 </a:t>
            </a:r>
            <a:r>
              <a:rPr lang="en-US" altLang="zh-CN" sz="1600" dirty="0"/>
              <a:t>- </a:t>
            </a:r>
            <a:r>
              <a:rPr lang="zh-CN" altLang="en-US" sz="1600" dirty="0"/>
              <a:t>知乎  </a:t>
            </a:r>
            <a:r>
              <a:rPr lang="en-US" altLang="zh-CN" sz="1600" u="sng" dirty="0"/>
              <a:t>https://www.zhihu.com/zvideo/1618385883492835328</a:t>
            </a:r>
          </a:p>
        </p:txBody>
      </p:sp>
    </p:spTree>
    <p:extLst>
      <p:ext uri="{BB962C8B-B14F-4D97-AF65-F5344CB8AC3E}">
        <p14:creationId xmlns:p14="http://schemas.microsoft.com/office/powerpoint/2010/main" val="13560267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虚拟存储器是</a:t>
            </a:r>
            <a:r>
              <a:rPr lang="en-US" altLang="zh-CN" sz="1600" b="1" dirty="0"/>
              <a:t>1961</a:t>
            </a:r>
            <a:r>
              <a:rPr lang="zh-CN" altLang="en-US" sz="1600" b="1" dirty="0"/>
              <a:t>年英国曼彻斯特大学</a:t>
            </a:r>
            <a:r>
              <a:rPr lang="en-US" altLang="zh-CN" sz="1600" b="1" dirty="0"/>
              <a:t>Kilburn</a:t>
            </a:r>
            <a:r>
              <a:rPr lang="zh-CN" altLang="en-US" sz="1600" b="1" dirty="0"/>
              <a:t>等人提出的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虚拟存储器处于“</a:t>
            </a:r>
            <a:r>
              <a:rPr lang="zh-CN" altLang="en-US" sz="1600" b="1" dirty="0">
                <a:solidFill>
                  <a:srgbClr val="FF0000"/>
                </a:solidFill>
              </a:rPr>
              <a:t>主存</a:t>
            </a:r>
            <a:r>
              <a:rPr lang="en-US" altLang="zh-CN" sz="1600" b="1" dirty="0">
                <a:solidFill>
                  <a:srgbClr val="FF0000"/>
                </a:solidFill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</a:rPr>
              <a:t>辅存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FF0000"/>
                </a:solidFill>
              </a:rPr>
              <a:t>存储容量大</a:t>
            </a:r>
            <a:r>
              <a:rPr lang="zh-CN" altLang="en-US" sz="1600" b="1" dirty="0"/>
              <a:t>”的问题；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处于“</a:t>
            </a:r>
            <a:r>
              <a:rPr lang="en-US" altLang="zh-CN" sz="1600" b="1" dirty="0">
                <a:solidFill>
                  <a:srgbClr val="FF0000"/>
                </a:solidFill>
              </a:rPr>
              <a:t>CPU-</a:t>
            </a:r>
            <a:r>
              <a:rPr lang="zh-CN" altLang="en-US" sz="1600" b="1" dirty="0">
                <a:solidFill>
                  <a:srgbClr val="FF0000"/>
                </a:solidFill>
              </a:rPr>
              <a:t>主存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FF0000"/>
                </a:solidFill>
              </a:rPr>
              <a:t>访问速度快</a:t>
            </a:r>
            <a:r>
              <a:rPr lang="zh-CN" altLang="en-US" sz="1600" b="1" dirty="0"/>
              <a:t>”的问题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有了虚拟存储器，程序员可以使用</a:t>
            </a:r>
            <a:r>
              <a:rPr lang="zh-CN" altLang="en-US" sz="1600" b="1" dirty="0">
                <a:solidFill>
                  <a:srgbClr val="FF0000"/>
                </a:solidFill>
              </a:rPr>
              <a:t>虚拟地址</a:t>
            </a:r>
            <a:r>
              <a:rPr lang="zh-CN" altLang="en-US" sz="1600" b="1" dirty="0"/>
              <a:t>（虚拟地址空间比主存的物理地址空间要大很多）进行编程，这样程序员的编程</a:t>
            </a:r>
            <a:r>
              <a:rPr lang="zh-CN" altLang="en-US" sz="1600" b="1" dirty="0">
                <a:solidFill>
                  <a:srgbClr val="FF0000"/>
                </a:solidFill>
              </a:rPr>
              <a:t>不再受</a:t>
            </a:r>
            <a:r>
              <a:rPr lang="zh-CN" altLang="en-US" sz="1600" b="1" dirty="0"/>
              <a:t>实际</a:t>
            </a:r>
            <a:r>
              <a:rPr lang="zh-CN" altLang="en-US" sz="1600" b="1" dirty="0">
                <a:solidFill>
                  <a:srgbClr val="FF0000"/>
                </a:solidFill>
              </a:rPr>
              <a:t>主存空间大小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FF0000"/>
                </a:solidFill>
              </a:rPr>
              <a:t>限制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虚拟存储器也充分利用了</a:t>
            </a:r>
            <a:r>
              <a:rPr lang="zh-CN" altLang="en-US" sz="1600" b="1" dirty="0">
                <a:solidFill>
                  <a:srgbClr val="FF0000"/>
                </a:solidFill>
              </a:rPr>
              <a:t>程序的局部性</a:t>
            </a:r>
            <a:r>
              <a:rPr lang="zh-CN" altLang="en-US" sz="1600" b="1" dirty="0"/>
              <a:t>，采用按需加载的方式加载程序代码和数据；根据程序局部性原理，通常程序</a:t>
            </a:r>
            <a:r>
              <a:rPr lang="zh-CN" altLang="en-US" sz="1600" b="1" dirty="0">
                <a:solidFill>
                  <a:srgbClr val="FF0000"/>
                </a:solidFill>
              </a:rPr>
              <a:t>只需要加载很小一部分空间</a:t>
            </a:r>
            <a:r>
              <a:rPr lang="zh-CN" altLang="en-US" sz="1600" b="1" dirty="0"/>
              <a:t>即可运行，这种方式避免了将程序全部载入内存，大大提高了主存的利用率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虚拟存储器也采用了和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类似的技术，尽量将辅存中</a:t>
            </a:r>
            <a:r>
              <a:rPr lang="zh-CN" altLang="en-US" sz="1600" b="1" dirty="0">
                <a:solidFill>
                  <a:srgbClr val="FF0000"/>
                </a:solidFill>
              </a:rPr>
              <a:t>经常访问的</a:t>
            </a:r>
            <a:r>
              <a:rPr lang="zh-CN" altLang="en-US" sz="1600" b="1" dirty="0"/>
              <a:t>程序和数据的</a:t>
            </a:r>
            <a:r>
              <a:rPr lang="zh-CN" altLang="en-US" sz="1600" b="1" dirty="0">
                <a:solidFill>
                  <a:srgbClr val="FF0000"/>
                </a:solidFill>
              </a:rPr>
              <a:t>副本</a:t>
            </a:r>
            <a:r>
              <a:rPr lang="zh-CN" altLang="en-US" sz="1600" b="1" dirty="0"/>
              <a:t>调度到主存储器中，使得大部分数据都可以通过直接访问快速的主存获得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如果主存空间消耗完毕（</a:t>
            </a:r>
            <a:r>
              <a:rPr lang="zh-CN" altLang="en-US" sz="1600" b="1" dirty="0">
                <a:solidFill>
                  <a:srgbClr val="FF0000"/>
                </a:solidFill>
              </a:rPr>
              <a:t>内存满</a:t>
            </a:r>
            <a:r>
              <a:rPr lang="zh-CN" altLang="en-US" sz="1600" b="1" dirty="0"/>
              <a:t>），此时虚拟存储器选择最不经常访问的程序和数据进行</a:t>
            </a:r>
            <a:r>
              <a:rPr lang="zh-CN" altLang="en-US" sz="1600" b="1" dirty="0">
                <a:solidFill>
                  <a:srgbClr val="FF0000"/>
                </a:solidFill>
              </a:rPr>
              <a:t>淘汰</a:t>
            </a:r>
            <a:r>
              <a:rPr lang="zh-CN" altLang="en-US" sz="1600" b="1" dirty="0"/>
              <a:t>，然后载入新的数据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01833869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2869779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淘汰时，也存在</a:t>
            </a:r>
            <a:r>
              <a:rPr lang="zh-CN" altLang="en-US" sz="1600" b="1" dirty="0">
                <a:solidFill>
                  <a:srgbClr val="FF0000"/>
                </a:solidFill>
              </a:rPr>
              <a:t>主存与辅存数据一致性</a:t>
            </a:r>
            <a:r>
              <a:rPr lang="zh-CN" altLang="en-US" sz="1600" b="1" dirty="0"/>
              <a:t>的问题；对于静态代码和数据（这部分的代码和数据是不可以修改的），可以</a:t>
            </a:r>
            <a:r>
              <a:rPr lang="zh-CN" altLang="en-US" sz="1600" b="1" dirty="0">
                <a:highlight>
                  <a:srgbClr val="FFFF00"/>
                </a:highlight>
              </a:rPr>
              <a:t>直接丢弃</a:t>
            </a:r>
            <a:r>
              <a:rPr lang="zh-CN" altLang="en-US" sz="1600" b="1" dirty="0"/>
              <a:t>；对于动态数据（这部分的数据是可以修改的），在丢弃时，需要同时保存到辅助存储器中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总结：虚拟存储器的三个特性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highlight>
                  <a:srgbClr val="FFFF00"/>
                </a:highlight>
              </a:rPr>
              <a:t>多次性</a:t>
            </a:r>
            <a:r>
              <a:rPr lang="zh-CN" altLang="en-US" sz="1600" b="1" dirty="0"/>
              <a:t>：指一个作业中的程序和数据允许被多次调入内存运行，即只需当前要运行的那部分程序和数据装入内存即可开始运行。</a:t>
            </a:r>
          </a:p>
          <a:p>
            <a:pPr lvl="2"/>
            <a:r>
              <a:rPr lang="zh-CN" altLang="en-US" sz="1600" b="1" dirty="0">
                <a:highlight>
                  <a:srgbClr val="FFFF00"/>
                </a:highlight>
              </a:rPr>
              <a:t>对换性</a:t>
            </a:r>
            <a:r>
              <a:rPr lang="zh-CN" altLang="en-US" sz="1600" b="1" dirty="0"/>
              <a:t>：在进程运行期间，允许将那些暂不使用的代码和数据从内存调至外存的对换区，待以后需要时再将它们从外存调至内存。</a:t>
            </a:r>
          </a:p>
          <a:p>
            <a:pPr lvl="2"/>
            <a:r>
              <a:rPr lang="zh-CN" altLang="en-US" sz="1600" b="1" dirty="0">
                <a:highlight>
                  <a:srgbClr val="FFFF00"/>
                </a:highlight>
              </a:rPr>
              <a:t>虚拟性</a:t>
            </a:r>
            <a:r>
              <a:rPr lang="zh-CN" altLang="en-US" sz="1600" b="1" dirty="0"/>
              <a:t>：是指能从逻辑上扩充内存容量</a:t>
            </a:r>
          </a:p>
          <a:p>
            <a:pPr lvl="3" eaLnBrk="1" hangingPunct="1"/>
            <a:endParaRPr lang="en-US" altLang="zh-CN" sz="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89BC30-6919-49F1-851A-DD474FA3A3AC}"/>
              </a:ext>
            </a:extLst>
          </p:cNvPr>
          <p:cNvGrpSpPr/>
          <p:nvPr/>
        </p:nvGrpSpPr>
        <p:grpSpPr>
          <a:xfrm>
            <a:off x="2697350" y="3284984"/>
            <a:ext cx="2533066" cy="3040234"/>
            <a:chOff x="5220072" y="3776789"/>
            <a:chExt cx="2533066" cy="304023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321FCAA-2A65-4D09-9105-0E01E54B2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776789"/>
              <a:ext cx="1816306" cy="273887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F26D817-4158-4AEC-9945-39FF80A7B6AA}"/>
                </a:ext>
              </a:extLst>
            </p:cNvPr>
            <p:cNvSpPr txBox="1"/>
            <p:nvPr/>
          </p:nvSpPr>
          <p:spPr>
            <a:xfrm>
              <a:off x="5220072" y="6540024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4.45  </a:t>
              </a:r>
              <a:r>
                <a:rPr lang="zh-CN" altLang="en-US" sz="1200" b="1" dirty="0"/>
                <a:t>虚拟存储器的典型组织结构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7A15166-433E-48ED-A2D3-2DE0A24CE30B}"/>
              </a:ext>
            </a:extLst>
          </p:cNvPr>
          <p:cNvSpPr txBox="1"/>
          <p:nvPr/>
        </p:nvSpPr>
        <p:spPr>
          <a:xfrm>
            <a:off x="5461927" y="4343840"/>
            <a:ext cx="3456384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MMU</a:t>
            </a:r>
            <a:r>
              <a:rPr lang="zh-CN" altLang="en-US" sz="1100" b="1" dirty="0"/>
              <a:t>：</a:t>
            </a:r>
            <a:r>
              <a:rPr lang="en-US" altLang="zh-CN" sz="1100" b="1" dirty="0" err="1"/>
              <a:t>emory</a:t>
            </a:r>
            <a:r>
              <a:rPr lang="en-US" altLang="zh-CN" sz="1100" b="1" dirty="0"/>
              <a:t> Management Unit</a:t>
            </a:r>
            <a:r>
              <a:rPr lang="zh-CN" altLang="en-US" sz="1100" b="1" dirty="0"/>
              <a:t>，存储器管理单元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1532369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虚拟存储器的地址映射与变换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虚拟存储器中有</a:t>
            </a:r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</a:rPr>
              <a:t>种地址空间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200" b="1" dirty="0"/>
              <a:t>虚拟地址空间：也称为虚拟空间、虚地址空间，它是程序员用来编写程序的地址空间</a:t>
            </a:r>
            <a:endParaRPr lang="en-US" altLang="zh-CN" sz="12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200" b="1" dirty="0"/>
              <a:t>主存地址空间：也称物理地址空间、实地址空间</a:t>
            </a:r>
            <a:endParaRPr lang="en-US" altLang="zh-CN" sz="12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200" b="1" dirty="0"/>
              <a:t>辅存地址空间：也就是磁盘存储器的地址空间</a:t>
            </a:r>
            <a:endParaRPr lang="en-US" altLang="zh-CN" sz="1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对应</a:t>
            </a:r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</a:rPr>
              <a:t>种地址</a:t>
            </a:r>
            <a:r>
              <a:rPr lang="zh-CN" altLang="en-US" sz="1600" b="1" dirty="0"/>
              <a:t>：虚拟地址（虚地址）；主存物理地址（实地址）；磁盘存储器地址（磁盘地址、辅存地址）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FF0000"/>
                </a:solidFill>
              </a:rPr>
              <a:t>地址映射</a:t>
            </a:r>
            <a:r>
              <a:rPr lang="zh-CN" altLang="en-US" sz="1600" b="1" dirty="0"/>
              <a:t>：将</a:t>
            </a:r>
            <a:r>
              <a:rPr lang="zh-CN" altLang="en-US" sz="1600" b="1" dirty="0">
                <a:solidFill>
                  <a:srgbClr val="FF0000"/>
                </a:solidFill>
              </a:rPr>
              <a:t>虚拟地址</a:t>
            </a:r>
            <a:r>
              <a:rPr lang="zh-CN" altLang="en-US" sz="1600" b="1" dirty="0"/>
              <a:t>空间</a:t>
            </a:r>
            <a:r>
              <a:rPr lang="zh-CN" altLang="en-US" sz="1600" b="1" dirty="0">
                <a:solidFill>
                  <a:srgbClr val="FF0000"/>
                </a:solidFill>
              </a:rPr>
              <a:t>映射</a:t>
            </a:r>
            <a:r>
              <a:rPr lang="zh-CN" altLang="en-US" sz="1600" b="1" dirty="0"/>
              <a:t>到</a:t>
            </a:r>
            <a:r>
              <a:rPr lang="zh-CN" altLang="en-US" sz="1600" b="1" dirty="0">
                <a:solidFill>
                  <a:srgbClr val="FF0000"/>
                </a:solidFill>
              </a:rPr>
              <a:t>主存地址</a:t>
            </a:r>
            <a:r>
              <a:rPr lang="zh-CN" altLang="en-US" sz="1600" b="1" dirty="0"/>
              <a:t>空间，即将用户利用虚拟地址访问的内容按照某种规则，从辅存装入主存中，并建立</a:t>
            </a:r>
            <a:r>
              <a:rPr lang="zh-CN" altLang="en-US" sz="1600" b="1" dirty="0">
                <a:solidFill>
                  <a:srgbClr val="FF0000"/>
                </a:solidFill>
              </a:rPr>
              <a:t>虚地址</a:t>
            </a:r>
            <a:r>
              <a:rPr lang="zh-CN" altLang="en-US" sz="1600" b="1" dirty="0"/>
              <a:t>与</a:t>
            </a:r>
            <a:r>
              <a:rPr lang="zh-CN" altLang="en-US" sz="1600" b="1" dirty="0">
                <a:solidFill>
                  <a:srgbClr val="FF0000"/>
                </a:solidFill>
              </a:rPr>
              <a:t>实地址</a:t>
            </a:r>
            <a:r>
              <a:rPr lang="zh-CN" altLang="en-US" sz="1600" b="1" dirty="0"/>
              <a:t>之间的对应关系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FF0000"/>
                </a:solidFill>
              </a:rPr>
              <a:t>地址变换</a:t>
            </a:r>
            <a:r>
              <a:rPr lang="zh-CN" altLang="en-US" sz="1600" b="1" dirty="0"/>
              <a:t>（转换）：程序被装入主存后，在实际运行时，将虚拟地址转换为实地址或磁盘地址，以便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从主存或磁盘中读取相应的信息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MMU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Memory Management Unit</a:t>
            </a:r>
            <a:r>
              <a:rPr lang="zh-CN" altLang="en-US" sz="1600" b="1" dirty="0"/>
              <a:t>，存储器管理单元，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完成虚拟地址到物理地址的转换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种不同的类型：</a:t>
            </a:r>
            <a:r>
              <a:rPr lang="zh-CN" altLang="en-US" sz="1600" b="1" dirty="0">
                <a:solidFill>
                  <a:srgbClr val="FF0000"/>
                </a:solidFill>
              </a:rPr>
              <a:t>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FF0000"/>
                </a:solidFill>
              </a:rPr>
              <a:t>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FF0000"/>
                </a:solidFill>
              </a:rPr>
              <a:t>段页式</a:t>
            </a:r>
            <a:r>
              <a:rPr lang="zh-CN" altLang="en-US" sz="1600" b="1" dirty="0"/>
              <a:t>虚拟存储器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96643516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以页（</a:t>
            </a:r>
            <a:r>
              <a:rPr lang="en-US" altLang="zh-CN" sz="1600" b="1" dirty="0"/>
              <a:t>Page</a:t>
            </a:r>
            <a:r>
              <a:rPr lang="zh-CN" altLang="en-US" sz="1600" b="1" dirty="0"/>
              <a:t>）为逻辑结构划分信息传送单位的虚拟存储器，称为</a:t>
            </a:r>
            <a:r>
              <a:rPr lang="zh-CN" altLang="en-US" sz="1600" b="1" dirty="0">
                <a:solidFill>
                  <a:srgbClr val="FF0000"/>
                </a:solidFill>
              </a:rPr>
              <a:t>页式虚拟存储器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虚拟空间和主存空间均被划分为</a:t>
            </a:r>
            <a:r>
              <a:rPr lang="zh-CN" altLang="en-US" sz="1600" b="1" dirty="0">
                <a:solidFill>
                  <a:srgbClr val="FF0000"/>
                </a:solidFill>
              </a:rPr>
              <a:t>固定大小的页</a:t>
            </a:r>
            <a:r>
              <a:rPr lang="zh-CN" altLang="en-US" sz="1600" b="1" dirty="0"/>
              <a:t>，常见的页大小为</a:t>
            </a:r>
            <a:r>
              <a:rPr lang="en-US" altLang="zh-CN" sz="1600" b="1" dirty="0">
                <a:solidFill>
                  <a:srgbClr val="FF0000"/>
                </a:solidFill>
              </a:rPr>
              <a:t>4KB</a:t>
            </a:r>
            <a:r>
              <a:rPr lang="zh-CN" altLang="en-US" sz="1600" b="1" dirty="0"/>
              <a:t>，也有更大容量的页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、虚拟地址划分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虚拟地址（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虚拟页偏移（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物理页号（</a:t>
            </a:r>
            <a:r>
              <a:rPr lang="en-US" altLang="zh-CN" sz="1400" b="1" dirty="0"/>
              <a:t>PPN 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物理页偏移（</a:t>
            </a:r>
            <a:r>
              <a:rPr lang="en-US" altLang="zh-CN" sz="1400" b="1" dirty="0"/>
              <a:t>PPO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虚拟页号也称为虚页号；物理页号也称为页框号、实页号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虚拟页偏移和物理页偏移的大小是相等的，也就是页式虚拟存储器</a:t>
            </a:r>
            <a:r>
              <a:rPr lang="zh-CN" altLang="en-US" sz="1400" b="1" dirty="0">
                <a:solidFill>
                  <a:srgbClr val="FF0000"/>
                </a:solidFill>
              </a:rPr>
              <a:t>页的大小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0DC0B2-1E3C-4A44-A91A-35A726475B75}"/>
              </a:ext>
            </a:extLst>
          </p:cNvPr>
          <p:cNvGrpSpPr/>
          <p:nvPr/>
        </p:nvGrpSpPr>
        <p:grpSpPr>
          <a:xfrm>
            <a:off x="2219379" y="5076234"/>
            <a:ext cx="4464731" cy="1665134"/>
            <a:chOff x="2219379" y="5076234"/>
            <a:chExt cx="4464731" cy="166513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96F62CD-0605-467E-B3A3-9C5C592DC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9379" y="5076234"/>
              <a:ext cx="4464731" cy="114571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2DD8C31-AB20-40DC-BFCC-143BDD8C6C0E}"/>
                </a:ext>
              </a:extLst>
            </p:cNvPr>
            <p:cNvSpPr txBox="1"/>
            <p:nvPr/>
          </p:nvSpPr>
          <p:spPr>
            <a:xfrm>
              <a:off x="3635896" y="6464369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4.46  </a:t>
              </a:r>
              <a:r>
                <a:rPr lang="zh-CN" altLang="en-US" sz="1200" b="1" dirty="0"/>
                <a:t>页式虚拟存储器的地址划分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ED118-3070-4011-A591-CB4F36DB6706}"/>
              </a:ext>
            </a:extLst>
          </p:cNvPr>
          <p:cNvSpPr txBox="1"/>
          <p:nvPr/>
        </p:nvSpPr>
        <p:spPr>
          <a:xfrm>
            <a:off x="6677176" y="2852936"/>
            <a:ext cx="1924751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</a:p>
        </p:txBody>
      </p:sp>
    </p:spTree>
    <p:extLst>
      <p:ext uri="{BB962C8B-B14F-4D97-AF65-F5344CB8AC3E}">
        <p14:creationId xmlns:p14="http://schemas.microsoft.com/office/powerpoint/2010/main" val="325444873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、页表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虚拟地址到物理地址的映射，本质上就是将</a:t>
            </a:r>
            <a:r>
              <a:rPr lang="zh-CN" altLang="en-US" sz="1400" b="1" dirty="0">
                <a:solidFill>
                  <a:srgbClr val="FF0000"/>
                </a:solidFill>
              </a:rPr>
              <a:t>虚拟页号</a:t>
            </a:r>
            <a:r>
              <a:rPr lang="zh-CN" altLang="en-US" sz="1400" b="1" dirty="0"/>
              <a:t>（虚页号）转换为</a:t>
            </a:r>
            <a:r>
              <a:rPr lang="zh-CN" altLang="en-US" sz="1400" b="1" dirty="0">
                <a:solidFill>
                  <a:srgbClr val="FF0000"/>
                </a:solidFill>
              </a:rPr>
              <a:t>物理页号</a:t>
            </a:r>
            <a:r>
              <a:rPr lang="zh-CN" altLang="en-US" sz="1400" b="1" dirty="0"/>
              <a:t>（实页号）；页式虚拟存储器中虚拟地址到物理地址之间的转换是</a:t>
            </a:r>
            <a:r>
              <a:rPr lang="zh-CN" altLang="en-US" sz="1400" b="1" dirty="0">
                <a:solidFill>
                  <a:srgbClr val="FF0000"/>
                </a:solidFill>
              </a:rPr>
              <a:t>基于页表进行的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页表</a:t>
            </a:r>
            <a:r>
              <a:rPr lang="zh-CN" altLang="en-US" sz="1400" b="1" dirty="0"/>
              <a:t>是一张保存虚拟页号和物理页号对应关系的查找表，是一个由若干个表项组成的数组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页表（</a:t>
            </a:r>
            <a:r>
              <a:rPr lang="zh-CN" altLang="en-US" sz="1400" b="1" dirty="0">
                <a:solidFill>
                  <a:srgbClr val="FF0000"/>
                </a:solidFill>
              </a:rPr>
              <a:t>图</a:t>
            </a:r>
            <a:r>
              <a:rPr lang="en-US" altLang="zh-CN" sz="1400" b="1" dirty="0">
                <a:solidFill>
                  <a:srgbClr val="FF0000"/>
                </a:solidFill>
              </a:rPr>
              <a:t>4.47</a:t>
            </a:r>
            <a:r>
              <a:rPr lang="zh-CN" altLang="en-US" sz="1400" b="1" dirty="0"/>
              <a:t>）采用虚拟页号作为索引进行访问，每一个表项主要包括：</a:t>
            </a:r>
            <a:r>
              <a:rPr lang="zh-CN" altLang="en-US" sz="1400" b="1" dirty="0">
                <a:solidFill>
                  <a:srgbClr val="0512BB"/>
                </a:solidFill>
              </a:rPr>
              <a:t>有效位和物理页</a:t>
            </a:r>
            <a:r>
              <a:rPr lang="zh-CN" altLang="en-US" sz="1400" b="1" dirty="0"/>
              <a:t>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），另外还包括：修改位、使用位、权限位等信息（图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中没有给出）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有效位：有些页在执行程序的时候可能不在内存里，但是这些页肯定要在页表中存有记录，用有效位标记记录是否有效。</a:t>
            </a:r>
            <a:endParaRPr lang="en-US" altLang="zh-CN" sz="7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/>
              <a:t>页表中的每一行称为</a:t>
            </a:r>
            <a:r>
              <a:rPr lang="zh-CN" altLang="en-US" sz="1400" b="1" dirty="0">
                <a:solidFill>
                  <a:srgbClr val="FF0000"/>
                </a:solidFill>
              </a:rPr>
              <a:t>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Entry</a:t>
            </a:r>
            <a:r>
              <a:rPr lang="zh-CN" altLang="en-US" sz="1400" b="1" dirty="0"/>
              <a:t>），图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个页表项</a:t>
            </a:r>
            <a:r>
              <a:rPr lang="en-US" altLang="zh-CN" sz="1400" b="1" dirty="0"/>
              <a:t>PTE0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PTE7</a:t>
            </a:r>
            <a:r>
              <a:rPr lang="zh-CN" altLang="en-US" sz="1400" b="1" dirty="0"/>
              <a:t>；主存和磁盘都分为固定大小的页面，用于存放</a:t>
            </a:r>
            <a:r>
              <a:rPr lang="zh-CN" altLang="en-US" sz="1400" b="1" dirty="0">
                <a:solidFill>
                  <a:srgbClr val="FF0000"/>
                </a:solidFill>
              </a:rPr>
              <a:t>虚拟页面</a:t>
            </a:r>
            <a:r>
              <a:rPr lang="zh-CN" altLang="en-US" sz="1400" b="1" dirty="0"/>
              <a:t>（</a:t>
            </a:r>
            <a:r>
              <a:rPr lang="en-US" altLang="zh-CN" sz="1400" b="1" dirty="0" err="1"/>
              <a:t>vp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virtual page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磁盘中的</a:t>
            </a:r>
            <a:r>
              <a:rPr lang="zh-CN" altLang="en-US" sz="1400" b="1" dirty="0">
                <a:solidFill>
                  <a:srgbClr val="FF0000"/>
                </a:solidFill>
              </a:rPr>
              <a:t>交换分区</a:t>
            </a:r>
            <a:r>
              <a:rPr lang="zh-CN" altLang="en-US" sz="1400" b="1" dirty="0"/>
              <a:t>用于存放主存页面替换出来的</a:t>
            </a:r>
            <a:r>
              <a:rPr lang="zh-CN" altLang="en-US" sz="1400" b="1" dirty="0">
                <a:solidFill>
                  <a:srgbClr val="C00000"/>
                </a:solidFill>
              </a:rPr>
              <a:t>动态修改数据</a:t>
            </a:r>
            <a:r>
              <a:rPr lang="zh-CN" altLang="en-US" sz="1400" b="1" dirty="0"/>
              <a:t>，磁盘中的</a:t>
            </a:r>
            <a:r>
              <a:rPr lang="zh-CN" altLang="en-US" sz="1400" b="1" dirty="0">
                <a:solidFill>
                  <a:srgbClr val="FF0000"/>
                </a:solidFill>
              </a:rPr>
              <a:t>数据分区</a:t>
            </a:r>
            <a:r>
              <a:rPr lang="zh-CN" altLang="en-US" sz="1400" b="1" dirty="0"/>
              <a:t>用于存放用户程序和数据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6EFD22-1B20-4EFD-8A5A-25B3DD0C303D}"/>
              </a:ext>
            </a:extLst>
          </p:cNvPr>
          <p:cNvGrpSpPr/>
          <p:nvPr/>
        </p:nvGrpSpPr>
        <p:grpSpPr>
          <a:xfrm>
            <a:off x="2339752" y="4077072"/>
            <a:ext cx="4392488" cy="2736304"/>
            <a:chOff x="2915816" y="4077072"/>
            <a:chExt cx="4392488" cy="273630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E0E167-41BF-49B0-A70C-AA956576E6E2}"/>
                </a:ext>
              </a:extLst>
            </p:cNvPr>
            <p:cNvGrpSpPr/>
            <p:nvPr/>
          </p:nvGrpSpPr>
          <p:grpSpPr>
            <a:xfrm>
              <a:off x="3131840" y="4077072"/>
              <a:ext cx="4176464" cy="2736304"/>
              <a:chOff x="2529349" y="4057650"/>
              <a:chExt cx="4085301" cy="238243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CC5CEE62-ACD8-4A3B-B1D5-16E023A75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7BC516-2850-4F31-810D-A2EC08361E3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4E27C94-E89D-4C8A-80BA-E99EEA7F03CC}"/>
                </a:ext>
              </a:extLst>
            </p:cNvPr>
            <p:cNvSpPr txBox="1"/>
            <p:nvPr/>
          </p:nvSpPr>
          <p:spPr>
            <a:xfrm>
              <a:off x="2915816" y="5022911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5ACF171-2485-4215-A460-FF1D9B994DFB}"/>
              </a:ext>
            </a:extLst>
          </p:cNvPr>
          <p:cNvSpPr txBox="1"/>
          <p:nvPr/>
        </p:nvSpPr>
        <p:spPr>
          <a:xfrm>
            <a:off x="6948264" y="4411762"/>
            <a:ext cx="197971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  <a:endParaRPr lang="en-US" altLang="zh-CN" sz="800" b="1" dirty="0"/>
          </a:p>
          <a:p>
            <a:r>
              <a:rPr lang="en-US" altLang="zh-CN" sz="800" b="1" dirty="0" err="1"/>
              <a:t>vp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</a:t>
            </a:r>
            <a:r>
              <a:rPr lang="zh-CN" altLang="en-US" sz="800" b="1" dirty="0"/>
              <a:t>，虚拟页面</a:t>
            </a:r>
          </a:p>
        </p:txBody>
      </p:sp>
    </p:spTree>
    <p:extLst>
      <p:ext uri="{BB962C8B-B14F-4D97-AF65-F5344CB8AC3E}">
        <p14:creationId xmlns:p14="http://schemas.microsoft.com/office/powerpoint/2010/main" val="378053394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7213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，且标记为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的页表项，其对应的虚拟页可能是暂未分配页（图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，但没有标记为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的页表项，其对应的虚拟页在磁盘中（图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，其对应的虚拟页在主存中（图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页表常驻内存（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），即页表存放在主存中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9CA3F6-53B8-4B10-B5CE-E4A00D5BE6CB}"/>
              </a:ext>
            </a:extLst>
          </p:cNvPr>
          <p:cNvGrpSpPr/>
          <p:nvPr/>
        </p:nvGrpSpPr>
        <p:grpSpPr>
          <a:xfrm>
            <a:off x="1259632" y="3284984"/>
            <a:ext cx="5172963" cy="3528392"/>
            <a:chOff x="1775301" y="3284984"/>
            <a:chExt cx="5172963" cy="35283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1979712" y="3284984"/>
              <a:ext cx="4968552" cy="3528392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4BD6F2-779F-4308-8B1C-D5FF6208022F}"/>
                </a:ext>
              </a:extLst>
            </p:cNvPr>
            <p:cNvSpPr txBox="1"/>
            <p:nvPr/>
          </p:nvSpPr>
          <p:spPr>
            <a:xfrm>
              <a:off x="1775301" y="456026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2B3DB93-B208-4C83-9F0C-5A271FE017C5}"/>
              </a:ext>
            </a:extLst>
          </p:cNvPr>
          <p:cNvSpPr txBox="1"/>
          <p:nvPr/>
        </p:nvSpPr>
        <p:spPr>
          <a:xfrm>
            <a:off x="6948264" y="4411762"/>
            <a:ext cx="197971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  <a:endParaRPr lang="en-US" altLang="zh-CN" sz="800" b="1" dirty="0"/>
          </a:p>
          <a:p>
            <a:r>
              <a:rPr lang="en-US" altLang="zh-CN" sz="800" b="1" dirty="0" err="1"/>
              <a:t>vp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</a:t>
            </a:r>
            <a:r>
              <a:rPr lang="zh-CN" altLang="en-US" sz="800" b="1" dirty="0"/>
              <a:t>，虚拟页面</a:t>
            </a:r>
          </a:p>
        </p:txBody>
      </p:sp>
    </p:spTree>
    <p:extLst>
      <p:ext uri="{BB962C8B-B14F-4D97-AF65-F5344CB8AC3E}">
        <p14:creationId xmlns:p14="http://schemas.microsoft.com/office/powerpoint/2010/main" val="130709472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520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假设虚拟地址空间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B=4GB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位地址空间），页大小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，则页表项的数目（即页表中有多少行）</a:t>
            </a:r>
            <a:r>
              <a:rPr lang="en-US" altLang="zh-CN" sz="1400" b="1" dirty="0"/>
              <a:t>=4GB/4KB=2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=1M=</a:t>
            </a:r>
            <a:r>
              <a:rPr lang="en-US" altLang="zh-CN" sz="1400" b="1" dirty="0">
                <a:solidFill>
                  <a:srgbClr val="FF0000"/>
                </a:solidFill>
              </a:rPr>
              <a:t>1,048,576</a:t>
            </a:r>
            <a:r>
              <a:rPr lang="zh-CN" altLang="en-US" sz="1400" b="1" dirty="0">
                <a:solidFill>
                  <a:srgbClr val="FF0000"/>
                </a:solidFill>
              </a:rPr>
              <a:t>行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假设每个页表项大小（即页表的每行大小）位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位，则该</a:t>
            </a:r>
            <a:r>
              <a:rPr lang="zh-CN" altLang="en-US" sz="1400" b="1" dirty="0">
                <a:solidFill>
                  <a:srgbClr val="FF0000"/>
                </a:solidFill>
              </a:rPr>
              <a:t>页表的大小</a:t>
            </a:r>
            <a:r>
              <a:rPr lang="en-US" altLang="zh-CN" sz="1400" b="1" dirty="0"/>
              <a:t>=1Mx32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=4MB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由于每个进程都拥有独立的虚拟地址空间，因此每个进程都要一张完整的页表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页表在主存中的首地址记录在</a:t>
            </a:r>
            <a:r>
              <a:rPr lang="zh-CN" altLang="en-US" sz="1400" b="1" dirty="0">
                <a:solidFill>
                  <a:srgbClr val="FF0000"/>
                </a:solidFill>
              </a:rPr>
              <a:t>页表基址寄存器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Base Register</a:t>
            </a:r>
            <a:r>
              <a:rPr lang="zh-CN" altLang="en-US" sz="1400" b="1" dirty="0"/>
              <a:t>）中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进行进程切换时，只需要简单地切换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的值，就可以实现不同进程的页表的快速切换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446971-DCEE-43D0-BC28-D1F83E8D09D7}"/>
              </a:ext>
            </a:extLst>
          </p:cNvPr>
          <p:cNvGrpSpPr/>
          <p:nvPr/>
        </p:nvGrpSpPr>
        <p:grpSpPr>
          <a:xfrm>
            <a:off x="1547664" y="3717032"/>
            <a:ext cx="4608512" cy="2952328"/>
            <a:chOff x="2627784" y="3717032"/>
            <a:chExt cx="4608512" cy="295232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2771800" y="3717032"/>
              <a:ext cx="4464496" cy="2952328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BF98C2E-668E-4EF1-997A-5B437616F17A}"/>
                </a:ext>
              </a:extLst>
            </p:cNvPr>
            <p:cNvSpPr txBox="1"/>
            <p:nvPr/>
          </p:nvSpPr>
          <p:spPr>
            <a:xfrm>
              <a:off x="2627784" y="479715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2712130-674B-40EC-A464-3466DF5AD328}"/>
              </a:ext>
            </a:extLst>
          </p:cNvPr>
          <p:cNvSpPr txBox="1"/>
          <p:nvPr/>
        </p:nvSpPr>
        <p:spPr>
          <a:xfrm>
            <a:off x="6552728" y="4411762"/>
            <a:ext cx="241176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  <a:endParaRPr lang="en-US" altLang="zh-CN" sz="800" b="1" dirty="0"/>
          </a:p>
          <a:p>
            <a:r>
              <a:rPr lang="en-US" altLang="zh-CN" sz="800" b="1" dirty="0" err="1"/>
              <a:t>vp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</a:t>
            </a:r>
            <a:r>
              <a:rPr lang="zh-CN" altLang="en-US" sz="800" b="1" dirty="0"/>
              <a:t>，虚拟页面</a:t>
            </a:r>
            <a:endParaRPr lang="en-US" altLang="zh-CN" sz="800" b="1" dirty="0"/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</a:p>
        </p:txBody>
      </p:sp>
    </p:spTree>
    <p:extLst>
      <p:ext uri="{BB962C8B-B14F-4D97-AF65-F5344CB8AC3E}">
        <p14:creationId xmlns:p14="http://schemas.microsoft.com/office/powerpoint/2010/main" val="321156760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C74943-4631-4BF1-B543-66428BF5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3197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基于页表的虚拟地址与物理地址的转换过程：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VA = </a:t>
            </a:r>
            <a:r>
              <a:rPr lang="zh-CN" altLang="en-US" sz="1400" b="1" dirty="0"/>
              <a:t>虚拟页号</a:t>
            </a:r>
            <a:r>
              <a:rPr lang="en-US" altLang="zh-CN" sz="1400" b="1" dirty="0"/>
              <a:t>VPN + </a:t>
            </a:r>
            <a:r>
              <a:rPr lang="zh-CN" altLang="en-US" sz="1400" b="1" dirty="0"/>
              <a:t>虚拟页偏移</a:t>
            </a:r>
            <a:r>
              <a:rPr lang="en-US" altLang="zh-CN" sz="1400" b="1" dirty="0"/>
              <a:t>VPO</a:t>
            </a:r>
          </a:p>
          <a:p>
            <a:pPr lvl="3" eaLnBrk="1" hangingPunct="1"/>
            <a:r>
              <a:rPr lang="zh-CN" altLang="en-US" sz="1400" b="1" dirty="0"/>
              <a:t>物理地址</a:t>
            </a:r>
            <a:r>
              <a:rPr lang="en-US" altLang="zh-CN" sz="1400" b="1" dirty="0"/>
              <a:t>PA = </a:t>
            </a:r>
            <a:r>
              <a:rPr lang="zh-CN" altLang="en-US" sz="1400" b="1" dirty="0"/>
              <a:t>物理页号</a:t>
            </a:r>
            <a:r>
              <a:rPr lang="en-US" altLang="zh-CN" sz="1400" b="1" dirty="0"/>
              <a:t>PPN + </a:t>
            </a:r>
            <a:r>
              <a:rPr lang="zh-CN" altLang="en-US" sz="1400" b="1" dirty="0"/>
              <a:t>物理页偏移</a:t>
            </a:r>
            <a:r>
              <a:rPr lang="en-US" altLang="zh-CN" sz="1400" b="1" dirty="0"/>
              <a:t>PPO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将虚拟地址中的虚拟页号（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）与页表基址寄存器的内容（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）相加，结果作为页表项的地址（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），即根据相加的结果找到页表的某一行；如果该页表项（页表行）的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V=1</a:t>
            </a:r>
            <a:r>
              <a:rPr lang="zh-CN" altLang="en-US" sz="1400" b="1" dirty="0"/>
              <a:t>，表明当前页的数据在主存中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此时直接利用页表中的物理页号（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）和虚拟地址中的页内偏移（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），就可以得到物理地址（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如果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V=0</a:t>
            </a:r>
            <a:r>
              <a:rPr lang="zh-CN" altLang="en-US" sz="1400" b="1" dirty="0">
                <a:solidFill>
                  <a:srgbClr val="C00000"/>
                </a:solidFill>
              </a:rPr>
              <a:t>，表示缺页</a:t>
            </a:r>
            <a:r>
              <a:rPr lang="zh-CN" altLang="en-US" sz="1400" b="1" dirty="0"/>
              <a:t>，则由操作系统的缺页异常处理程序，将磁盘上对应的页载入主存中</a:t>
            </a:r>
            <a:endParaRPr lang="en-US" altLang="zh-CN" sz="1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9B0C65-1070-429E-9465-2A694A502C68}"/>
              </a:ext>
            </a:extLst>
          </p:cNvPr>
          <p:cNvSpPr txBox="1"/>
          <p:nvPr/>
        </p:nvSpPr>
        <p:spPr>
          <a:xfrm>
            <a:off x="6372200" y="76578"/>
            <a:ext cx="2367143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14CC70-C6CF-481C-9BAA-0CA6529300A4}"/>
              </a:ext>
            </a:extLst>
          </p:cNvPr>
          <p:cNvGrpSpPr/>
          <p:nvPr/>
        </p:nvGrpSpPr>
        <p:grpSpPr>
          <a:xfrm>
            <a:off x="2987824" y="4077072"/>
            <a:ext cx="4569920" cy="2649152"/>
            <a:chOff x="2987824" y="4077072"/>
            <a:chExt cx="4569920" cy="264915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F5B7A62-AC3F-4444-B246-29159E274F4B}"/>
                </a:ext>
              </a:extLst>
            </p:cNvPr>
            <p:cNvGrpSpPr/>
            <p:nvPr/>
          </p:nvGrpSpPr>
          <p:grpSpPr>
            <a:xfrm>
              <a:off x="2987824" y="4077072"/>
              <a:ext cx="4427984" cy="2649152"/>
              <a:chOff x="2987824" y="4077072"/>
              <a:chExt cx="4427984" cy="264915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03F0ED24-11CB-4844-816C-6879561AE5C8}"/>
                  </a:ext>
                </a:extLst>
              </p:cNvPr>
              <p:cNvGrpSpPr/>
              <p:nvPr/>
            </p:nvGrpSpPr>
            <p:grpSpPr>
              <a:xfrm>
                <a:off x="2987824" y="4077072"/>
                <a:ext cx="4427984" cy="2649152"/>
                <a:chOff x="2987824" y="4164224"/>
                <a:chExt cx="4427984" cy="2649152"/>
              </a:xfrm>
            </p:grpSpPr>
            <p:pic>
              <p:nvPicPr>
                <p:cNvPr id="6" name="图片 5">
                  <a:extLst>
                    <a:ext uri="{FF2B5EF4-FFF2-40B4-BE49-F238E27FC236}">
                      <a16:creationId xmlns:a16="http://schemas.microsoft.com/office/drawing/2014/main" id="{1C027072-D34E-4DDF-8775-64776CE2B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87824" y="4164224"/>
                  <a:ext cx="4427984" cy="228911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37C11A-CAC5-4BE1-9016-3494539D86DB}"/>
                    </a:ext>
                  </a:extLst>
                </p:cNvPr>
                <p:cNvSpPr txBox="1"/>
                <p:nvPr/>
              </p:nvSpPr>
              <p:spPr>
                <a:xfrm>
                  <a:off x="3563888" y="6536377"/>
                  <a:ext cx="361028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4.48  </a:t>
                  </a:r>
                  <a:r>
                    <a:rPr lang="zh-CN" altLang="en-US" sz="1200" b="1" dirty="0"/>
                    <a:t>基于页表的虚拟地址与物理地址的转换过程</a:t>
                  </a:r>
                </a:p>
              </p:txBody>
            </p:sp>
          </p:grp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4A7962-DE9A-48A5-AF95-AE5014F81B88}"/>
                  </a:ext>
                </a:extLst>
              </p:cNvPr>
              <p:cNvSpPr txBox="1"/>
              <p:nvPr/>
            </p:nvSpPr>
            <p:spPr>
              <a:xfrm>
                <a:off x="3656278" y="5114664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/>
                  <a:t>页表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CC0EAF-8A2E-420F-9A80-5FDF29622902}"/>
                </a:ext>
              </a:extLst>
            </p:cNvPr>
            <p:cNvSpPr txBox="1"/>
            <p:nvPr/>
          </p:nvSpPr>
          <p:spPr>
            <a:xfrm>
              <a:off x="6779967" y="6093353"/>
              <a:ext cx="777777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物理地址</a:t>
              </a:r>
              <a:r>
                <a:rPr lang="en-US" altLang="zh-CN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PA</a:t>
              </a:r>
              <a:endParaRPr lang="zh-CN" altLang="en-US" sz="9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41915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解：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，因此物理地址</a:t>
            </a:r>
            <a:r>
              <a:rPr lang="en-US" altLang="zh-CN" sz="1400" b="1" dirty="0"/>
              <a:t>=24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=4G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页面大小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zh-CN" altLang="en-US" sz="1400" b="1" dirty="0">
                <a:solidFill>
                  <a:srgbClr val="FF0000"/>
                </a:solidFill>
              </a:rPr>
              <a:t>页内偏移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12</a:t>
            </a:r>
            <a:r>
              <a:rPr lang="zh-CN" altLang="en-US" sz="1400" b="1" dirty="0">
                <a:solidFill>
                  <a:srgbClr val="FF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FF0000"/>
                </a:solidFill>
              </a:rPr>
              <a:t>物理页号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物理地址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=24-12=</a:t>
            </a:r>
            <a:r>
              <a:rPr lang="en-US" altLang="zh-CN" sz="1400" b="1" dirty="0">
                <a:solidFill>
                  <a:srgbClr val="FF0000"/>
                </a:solidFill>
              </a:rPr>
              <a:t>12</a:t>
            </a:r>
            <a:r>
              <a:rPr lang="zh-CN" altLang="en-US" sz="1400" b="1" dirty="0">
                <a:solidFill>
                  <a:srgbClr val="FF0000"/>
                </a:solidFill>
              </a:rPr>
              <a:t>位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FF0000"/>
                </a:solidFill>
              </a:rPr>
              <a:t>虚拟页号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虚拟地址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=32-12=</a:t>
            </a:r>
            <a:r>
              <a:rPr lang="en-US" altLang="zh-CN" sz="1400" b="1" dirty="0">
                <a:solidFill>
                  <a:srgbClr val="FF0000"/>
                </a:solidFill>
              </a:rPr>
              <a:t>20</a:t>
            </a:r>
            <a:r>
              <a:rPr lang="zh-CN" altLang="en-US" sz="1400" b="1" dirty="0">
                <a:solidFill>
                  <a:srgbClr val="FF0000"/>
                </a:solidFill>
              </a:rPr>
              <a:t>位</a:t>
            </a:r>
            <a:endParaRPr lang="en-US" altLang="zh-CN" sz="10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47817"/>
              </p:ext>
            </p:extLst>
          </p:nvPr>
        </p:nvGraphicFramePr>
        <p:xfrm>
          <a:off x="2220416" y="1556792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71106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解（续）：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页表项的数量（即页表中有多少行）与虚拟页号的位数有关；虚拟页号</a:t>
            </a:r>
            <a:r>
              <a:rPr lang="en-US" altLang="zh-CN" sz="1400" b="1" dirty="0"/>
              <a:t>=20</a:t>
            </a:r>
            <a:r>
              <a:rPr lang="zh-CN" altLang="en-US" sz="1400" b="1" dirty="0"/>
              <a:t>位，则页表项的数量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1,048,576</a:t>
            </a:r>
            <a:r>
              <a:rPr lang="zh-CN" altLang="en-US" sz="1400" b="1" dirty="0">
                <a:solidFill>
                  <a:srgbClr val="FF0000"/>
                </a:solidFill>
              </a:rPr>
              <a:t>项（行）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=00015240H=00015H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+ 240H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=03FFF180H=03FFFH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+ 180H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=00015H</a:t>
            </a:r>
            <a:r>
              <a:rPr lang="zh-CN" altLang="en-US" sz="1400" b="1" dirty="0"/>
              <a:t>，对应的实页号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，且有效位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对应的物理地址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+240H</a:t>
            </a:r>
            <a:r>
              <a:rPr lang="zh-CN" altLang="en-US" sz="1400" b="1" dirty="0"/>
              <a:t>（页内偏移）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035240H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=03FFFH</a:t>
            </a:r>
            <a:r>
              <a:rPr lang="zh-CN" altLang="en-US" sz="1400" b="1" dirty="0"/>
              <a:t>，对应的有效位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，表示该虚拟页不在主存中</a:t>
            </a:r>
            <a:endParaRPr lang="en-US" altLang="zh-CN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/>
        </p:nvGraphicFramePr>
        <p:xfrm>
          <a:off x="2220416" y="1556792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95F02-02A7-410D-87B3-CDF10EDB82A0}"/>
              </a:ext>
            </a:extLst>
          </p:cNvPr>
          <p:cNvSpPr/>
          <p:nvPr/>
        </p:nvSpPr>
        <p:spPr>
          <a:xfrm>
            <a:off x="4211960" y="4105881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20bit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A5A15C8-A2BC-4E1E-B3F9-990054D3FFBC}"/>
              </a:ext>
            </a:extLst>
          </p:cNvPr>
          <p:cNvSpPr/>
          <p:nvPr/>
        </p:nvSpPr>
        <p:spPr>
          <a:xfrm>
            <a:off x="5721409" y="4058492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35231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、虚拟存储器访问流程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页面命中时的访问流程：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FF0000"/>
                </a:solidFill>
              </a:rPr>
              <a:t>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FF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FF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FF0000"/>
                </a:solidFill>
              </a:rPr>
              <a:t>页表项</a:t>
            </a:r>
            <a:r>
              <a:rPr lang="en-US" altLang="zh-CN" sz="1200" b="1" dirty="0">
                <a:solidFill>
                  <a:srgbClr val="FF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>
                <a:solidFill>
                  <a:srgbClr val="FF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FF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63B8AB-E1DF-4290-A82D-45087A14583E}"/>
              </a:ext>
            </a:extLst>
          </p:cNvPr>
          <p:cNvSpPr txBox="1"/>
          <p:nvPr/>
        </p:nvSpPr>
        <p:spPr>
          <a:xfrm>
            <a:off x="5652120" y="2276872"/>
            <a:ext cx="300608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/>
            </a:lvl1pPr>
          </a:lstStyle>
          <a:p>
            <a:r>
              <a:rPr lang="zh-CN" altLang="en-US"/>
              <a:t>虚拟地址</a:t>
            </a:r>
            <a:r>
              <a:rPr lang="en-US" altLang="zh-CN" dirty="0"/>
              <a:t>VA = </a:t>
            </a:r>
            <a:r>
              <a:rPr lang="zh-CN" altLang="en-US" dirty="0"/>
              <a:t>虚拟</a:t>
            </a:r>
            <a:r>
              <a:rPr lang="zh-CN" altLang="en-US"/>
              <a:t>页号</a:t>
            </a:r>
            <a:r>
              <a:rPr lang="en-US" altLang="zh-CN" dirty="0"/>
              <a:t>VPN + </a:t>
            </a:r>
            <a:r>
              <a:rPr lang="zh-CN" altLang="en-US" dirty="0"/>
              <a:t>虚拟</a:t>
            </a:r>
            <a:r>
              <a:rPr lang="zh-CN" altLang="en-US"/>
              <a:t>页偏移</a:t>
            </a:r>
            <a:r>
              <a:rPr lang="en-US" altLang="zh-CN" dirty="0"/>
              <a:t>VPO</a:t>
            </a:r>
          </a:p>
          <a:p>
            <a:r>
              <a:rPr lang="zh-CN" altLang="en-US"/>
              <a:t>物理地址</a:t>
            </a:r>
            <a:r>
              <a:rPr lang="en-US" altLang="zh-CN" dirty="0"/>
              <a:t>PA = </a:t>
            </a:r>
            <a:r>
              <a:rPr lang="zh-CN" altLang="en-US" dirty="0"/>
              <a:t>物理</a:t>
            </a:r>
            <a:r>
              <a:rPr lang="zh-CN" altLang="en-US"/>
              <a:t>页号</a:t>
            </a:r>
            <a:r>
              <a:rPr lang="en-US" altLang="zh-CN" dirty="0"/>
              <a:t>PPN + </a:t>
            </a:r>
            <a:r>
              <a:rPr lang="zh-CN" altLang="en-US" dirty="0"/>
              <a:t>物理</a:t>
            </a:r>
            <a:r>
              <a:rPr lang="zh-CN" altLang="en-US"/>
              <a:t>页偏移</a:t>
            </a:r>
            <a:r>
              <a:rPr lang="en-US" altLang="zh-CN" dirty="0"/>
              <a:t>PPO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8E964EF-410E-42E7-A223-B49CDC725258}"/>
              </a:ext>
            </a:extLst>
          </p:cNvPr>
          <p:cNvGrpSpPr/>
          <p:nvPr/>
        </p:nvGrpSpPr>
        <p:grpSpPr>
          <a:xfrm>
            <a:off x="1968030" y="4150242"/>
            <a:ext cx="5889092" cy="2581255"/>
            <a:chOff x="1944216" y="4088105"/>
            <a:chExt cx="5889092" cy="258125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92A5868-EFF3-4937-818B-52CA6EF0FEB5}"/>
                </a:ext>
              </a:extLst>
            </p:cNvPr>
            <p:cNvGrpSpPr/>
            <p:nvPr/>
          </p:nvGrpSpPr>
          <p:grpSpPr>
            <a:xfrm>
              <a:off x="1944216" y="4088105"/>
              <a:ext cx="5889092" cy="2276063"/>
              <a:chOff x="1944216" y="4088105"/>
              <a:chExt cx="5889092" cy="227606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493F8641-303E-4E75-B2CB-9707F2513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44216" y="4221088"/>
                <a:ext cx="5868144" cy="2143080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414007-38CC-4EE8-9189-B475DABD4C65}"/>
                  </a:ext>
                </a:extLst>
              </p:cNvPr>
              <p:cNvSpPr txBox="1"/>
              <p:nvPr/>
            </p:nvSpPr>
            <p:spPr>
              <a:xfrm>
                <a:off x="6516216" y="4088105"/>
                <a:ext cx="13170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主存（含</a:t>
                </a:r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）</a:t>
                </a: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131840" y="6392361"/>
              <a:ext cx="38395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a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页式虚拟存储器的访问过程（页面命中）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1826D34-6783-4BC7-A9B0-F135233F2F9D}"/>
              </a:ext>
            </a:extLst>
          </p:cNvPr>
          <p:cNvSpPr txBox="1"/>
          <p:nvPr/>
        </p:nvSpPr>
        <p:spPr>
          <a:xfrm>
            <a:off x="6319657" y="259487"/>
            <a:ext cx="2367143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EE41DF4-E4CF-4D45-A2BA-D25FC8F9193A}"/>
              </a:ext>
            </a:extLst>
          </p:cNvPr>
          <p:cNvSpPr/>
          <p:nvPr/>
        </p:nvSpPr>
        <p:spPr>
          <a:xfrm>
            <a:off x="4912576" y="3873243"/>
            <a:ext cx="1603640" cy="276999"/>
          </a:xfrm>
          <a:prstGeom prst="wedgeRoundRectCallout">
            <a:avLst>
              <a:gd name="adj1" fmla="val 1824"/>
              <a:gd name="adj2" fmla="val 183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PTBR+VPN=PTEA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2377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027D289-C6C9-43CB-B8F6-16BC1A94129B}"/>
              </a:ext>
            </a:extLst>
          </p:cNvPr>
          <p:cNvGrpSpPr/>
          <p:nvPr/>
        </p:nvGrpSpPr>
        <p:grpSpPr>
          <a:xfrm>
            <a:off x="1403648" y="3911385"/>
            <a:ext cx="5688632" cy="2901991"/>
            <a:chOff x="1835696" y="3911385"/>
            <a:chExt cx="5688632" cy="290199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3A1F937-BA9C-4E83-8FA3-2A1D4741EC27}"/>
                </a:ext>
              </a:extLst>
            </p:cNvPr>
            <p:cNvGrpSpPr/>
            <p:nvPr/>
          </p:nvGrpSpPr>
          <p:grpSpPr>
            <a:xfrm>
              <a:off x="1835696" y="3911385"/>
              <a:ext cx="5688632" cy="2541951"/>
              <a:chOff x="1835696" y="4207791"/>
              <a:chExt cx="5688632" cy="254195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ECCA919-868C-443A-ADE2-C245A8C7F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5696" y="4207791"/>
                <a:ext cx="5688632" cy="2389561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1108A3D-CDE4-4BB0-AB5F-EA3BD98B659C}"/>
                  </a:ext>
                </a:extLst>
              </p:cNvPr>
              <p:cNvSpPr txBox="1"/>
              <p:nvPr/>
            </p:nvSpPr>
            <p:spPr>
              <a:xfrm>
                <a:off x="5148788" y="6488132"/>
                <a:ext cx="12234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主存（含</a:t>
                </a:r>
                <a:r>
                  <a:rPr lang="en-US" altLang="zh-CN" sz="1100" b="1" dirty="0"/>
                  <a:t>cache</a:t>
                </a:r>
                <a:r>
                  <a:rPr lang="zh-CN" altLang="en-US" sz="1100" b="1" dirty="0"/>
                  <a:t>）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920661-0AFA-4632-93E0-29AE6F34F242}"/>
                </a:ext>
              </a:extLst>
            </p:cNvPr>
            <p:cNvSpPr txBox="1"/>
            <p:nvPr/>
          </p:nvSpPr>
          <p:spPr>
            <a:xfrm>
              <a:off x="2987824" y="6536377"/>
              <a:ext cx="3847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b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页式虚拟存储器的访问过程（页面缺失）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26157DE-AB12-40C7-974F-9937C6C9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页面缺失时的访问流程：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FF0000"/>
                </a:solidFill>
              </a:rPr>
              <a:t>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FF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FF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FF0000"/>
                </a:solidFill>
              </a:rPr>
              <a:t>页表项</a:t>
            </a:r>
            <a:r>
              <a:rPr lang="en-US" altLang="zh-CN" sz="1200" b="1" dirty="0">
                <a:solidFill>
                  <a:srgbClr val="FF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，表示所访问的页不在主存中，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触发</a:t>
            </a:r>
            <a:r>
              <a:rPr lang="zh-CN" altLang="en-US" sz="1200" b="1" dirty="0">
                <a:solidFill>
                  <a:srgbClr val="FF0000"/>
                </a:solidFill>
              </a:rPr>
              <a:t>缺页异常</a:t>
            </a:r>
            <a:r>
              <a:rPr lang="zh-CN" altLang="en-US" sz="1200" b="1" dirty="0"/>
              <a:t>，调用操作系统内核中的缺页异常处理程序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如果主存页满，则需要根据替换算法确定换出页（哪一页被换出）；如果换出页的修改位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，则将该页换出到磁盘（</a:t>
            </a:r>
            <a:r>
              <a:rPr lang="zh-CN" altLang="en-US" sz="1200" b="1" dirty="0">
                <a:solidFill>
                  <a:srgbClr val="FF0000"/>
                </a:solidFill>
              </a:rPr>
              <a:t>调出页</a:t>
            </a:r>
            <a:r>
              <a:rPr lang="zh-CN" altLang="en-US" sz="1200" b="1" dirty="0"/>
              <a:t>），否则直接丢弃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缺页处理程序直接从磁盘中调入新的页（</a:t>
            </a:r>
            <a:r>
              <a:rPr lang="zh-CN" altLang="en-US" sz="1200" b="1" dirty="0">
                <a:solidFill>
                  <a:srgbClr val="FF0000"/>
                </a:solidFill>
              </a:rPr>
              <a:t>调入页</a:t>
            </a:r>
            <a:r>
              <a:rPr lang="zh-CN" altLang="en-US" sz="1200" b="1" dirty="0"/>
              <a:t>），并更新存储器中的页表项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</a:t>
            </a:r>
            <a:r>
              <a:rPr lang="zh-CN" altLang="en-US" sz="1200" b="1" dirty="0">
                <a:solidFill>
                  <a:srgbClr val="FF0000"/>
                </a:solidFill>
              </a:rPr>
              <a:t>返回</a:t>
            </a:r>
            <a:r>
              <a:rPr lang="zh-CN" altLang="en-US" sz="1200" b="1" dirty="0"/>
              <a:t>到原来的进程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AE0C3C-D8DB-4E53-8D60-A83F7396E76B}"/>
              </a:ext>
            </a:extLst>
          </p:cNvPr>
          <p:cNvSpPr txBox="1"/>
          <p:nvPr/>
        </p:nvSpPr>
        <p:spPr>
          <a:xfrm>
            <a:off x="7236296" y="3992815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F8E43CCC-BA5D-4E8C-80C9-3E168A23D09D}"/>
              </a:ext>
            </a:extLst>
          </p:cNvPr>
          <p:cNvSpPr/>
          <p:nvPr/>
        </p:nvSpPr>
        <p:spPr>
          <a:xfrm>
            <a:off x="2195736" y="4077072"/>
            <a:ext cx="1224136" cy="360040"/>
          </a:xfrm>
          <a:prstGeom prst="wedgeRoundRectCallout">
            <a:avLst>
              <a:gd name="adj1" fmla="val 69851"/>
              <a:gd name="adj2" fmla="val 455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中断过程</a:t>
            </a:r>
          </a:p>
        </p:txBody>
      </p:sp>
    </p:spTree>
    <p:extLst>
      <p:ext uri="{BB962C8B-B14F-4D97-AF65-F5344CB8AC3E}">
        <p14:creationId xmlns:p14="http://schemas.microsoft.com/office/powerpoint/2010/main" val="235217045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、结合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的虚拟存储器访问流程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4.49</a:t>
            </a:r>
            <a:r>
              <a:rPr lang="zh-CN" altLang="en-US" sz="1400" b="1" dirty="0"/>
              <a:t>中的主存和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是合在一起的；结合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和主存是分开来的（图</a:t>
            </a:r>
            <a:r>
              <a:rPr lang="en-US" altLang="zh-CN" sz="1400" b="1" dirty="0"/>
              <a:t>4.50</a:t>
            </a:r>
            <a:r>
              <a:rPr lang="zh-CN" altLang="en-US" sz="1400" b="1" dirty="0"/>
              <a:t>），此时部分页表块放在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的虚拟存储器访问流程：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FF0000"/>
                </a:solidFill>
              </a:rPr>
              <a:t>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FF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FF0000"/>
                </a:solidFill>
              </a:rPr>
              <a:t>PTEA</a:t>
            </a:r>
            <a:r>
              <a:rPr lang="zh-CN" altLang="en-US" sz="1200" b="1" dirty="0"/>
              <a:t>访问位于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，则直接向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FF0000"/>
                </a:solidFill>
              </a:rPr>
              <a:t>页表项</a:t>
            </a:r>
            <a:r>
              <a:rPr lang="en-US" altLang="zh-CN" sz="1200" b="1" dirty="0">
                <a:solidFill>
                  <a:srgbClr val="FF0000"/>
                </a:solidFill>
              </a:rPr>
              <a:t>PTE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命中）；如果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中的页表没有该页表项地址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缺失），则需要从位于主存的页表中得到页表项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>
                <a:solidFill>
                  <a:srgbClr val="FF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，如果直接从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中访问得到</a:t>
            </a:r>
            <a:r>
              <a:rPr lang="zh-CN" altLang="en-US" sz="1200" b="1" dirty="0">
                <a:solidFill>
                  <a:srgbClr val="FF0000"/>
                </a:solidFill>
              </a:rPr>
              <a:t>数据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命中），并返回给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；若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中访问不到数据（表示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缺失），则需要从主存中访问数据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1BA7F1-479B-4078-AA12-A22DA243F880}"/>
              </a:ext>
            </a:extLst>
          </p:cNvPr>
          <p:cNvGrpSpPr/>
          <p:nvPr/>
        </p:nvGrpSpPr>
        <p:grpSpPr>
          <a:xfrm>
            <a:off x="2123728" y="4653136"/>
            <a:ext cx="4371808" cy="2093548"/>
            <a:chOff x="2555776" y="4725144"/>
            <a:chExt cx="4371808" cy="209354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32B990-EF41-4DD8-B1F4-616E16A74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4725144"/>
              <a:ext cx="4371808" cy="1896692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33208E-BD5D-4D3B-A7FD-5A3419187E76}"/>
                </a:ext>
              </a:extLst>
            </p:cNvPr>
            <p:cNvSpPr txBox="1"/>
            <p:nvPr/>
          </p:nvSpPr>
          <p:spPr>
            <a:xfrm>
              <a:off x="2987824" y="6541693"/>
              <a:ext cx="33577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4.50  </a:t>
              </a:r>
              <a:r>
                <a:rPr lang="zh-CN" altLang="en-US" sz="1200" b="1" dirty="0"/>
                <a:t>结合</a:t>
              </a:r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的页式虚拟存储器的访问过程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46BC868-5E6A-4988-9C95-C67FBE82343C}"/>
              </a:ext>
            </a:extLst>
          </p:cNvPr>
          <p:cNvSpPr txBox="1"/>
          <p:nvPr/>
        </p:nvSpPr>
        <p:spPr>
          <a:xfrm>
            <a:off x="7092280" y="4725144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B8BA4EB-FEFA-4835-AA13-833AEF00BB2A}"/>
              </a:ext>
            </a:extLst>
          </p:cNvPr>
          <p:cNvSpPr/>
          <p:nvPr/>
        </p:nvSpPr>
        <p:spPr>
          <a:xfrm>
            <a:off x="198977" y="4941168"/>
            <a:ext cx="1852743" cy="1624681"/>
          </a:xfrm>
          <a:prstGeom prst="wedgeRoundRectCallout">
            <a:avLst>
              <a:gd name="adj1" fmla="val 82236"/>
              <a:gd name="adj2" fmla="val 46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此图中的</a:t>
            </a:r>
            <a:r>
              <a:rPr lang="en-US" altLang="zh-CN" sz="1400" dirty="0"/>
              <a:t>cache</a:t>
            </a:r>
            <a:r>
              <a:rPr lang="zh-CN" altLang="en-US" sz="1400" dirty="0"/>
              <a:t>里面既有</a:t>
            </a:r>
            <a:r>
              <a:rPr lang="en-US" altLang="zh-CN" sz="1400" dirty="0"/>
              <a:t>data</a:t>
            </a:r>
            <a:r>
              <a:rPr lang="zh-CN" altLang="en-US" sz="1400" dirty="0"/>
              <a:t>也有页表块；</a:t>
            </a:r>
            <a:endParaRPr lang="en-US" altLang="zh-CN" sz="1400" dirty="0"/>
          </a:p>
          <a:p>
            <a:r>
              <a:rPr lang="zh-CN" altLang="en-US" sz="1400" dirty="0"/>
              <a:t>一旦出现</a:t>
            </a:r>
            <a:r>
              <a:rPr lang="en-US" altLang="zh-CN" sz="1400" dirty="0"/>
              <a:t>miss</a:t>
            </a:r>
            <a:r>
              <a:rPr lang="zh-CN" altLang="en-US" sz="1400" dirty="0"/>
              <a:t>，则均需要从</a:t>
            </a:r>
            <a:r>
              <a:rPr lang="en-US" altLang="zh-CN" sz="1400" dirty="0"/>
              <a:t>mem</a:t>
            </a:r>
            <a:r>
              <a:rPr lang="zh-CN" altLang="en-US" sz="1400" dirty="0"/>
              <a:t>中提取，并更新对应的</a:t>
            </a:r>
            <a:r>
              <a:rPr lang="en-US" altLang="zh-CN" sz="1400" dirty="0"/>
              <a:t>cache</a:t>
            </a:r>
            <a:r>
              <a:rPr lang="zh-CN" altLang="en-US" sz="1400" dirty="0"/>
              <a:t>中内容</a:t>
            </a:r>
          </a:p>
        </p:txBody>
      </p:sp>
    </p:spTree>
    <p:extLst>
      <p:ext uri="{BB962C8B-B14F-4D97-AF65-F5344CB8AC3E}">
        <p14:creationId xmlns:p14="http://schemas.microsoft.com/office/powerpoint/2010/main" val="382433521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、利用</a:t>
            </a:r>
            <a:r>
              <a:rPr lang="en-US" altLang="zh-CN" sz="2000" b="1" dirty="0"/>
              <a:t>TLB</a:t>
            </a:r>
            <a:r>
              <a:rPr lang="zh-CN" altLang="en-US" sz="2000" b="1" dirty="0"/>
              <a:t>加速虚拟存储器地址转换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为了进一步提高虚拟存储器地址转换的速度，现代计算机中都设置一个</a:t>
            </a:r>
            <a:r>
              <a:rPr lang="zh-CN" altLang="en-US" sz="1400" b="1" dirty="0">
                <a:solidFill>
                  <a:srgbClr val="FF0000"/>
                </a:solidFill>
              </a:rPr>
              <a:t>转换旁路缓冲区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Translation Look-aside Buffer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solidFill>
                  <a:srgbClr val="FF0000"/>
                </a:solidFill>
              </a:rPr>
              <a:t>TLB</a:t>
            </a:r>
            <a:r>
              <a:rPr lang="zh-CN" altLang="en-US" sz="1400" b="1" dirty="0"/>
              <a:t>），用于</a:t>
            </a:r>
            <a:r>
              <a:rPr lang="zh-CN" altLang="en-US" sz="1400" b="1" dirty="0">
                <a:highlight>
                  <a:srgbClr val="FFFF00"/>
                </a:highlight>
              </a:rPr>
              <a:t>缓冲经常访问的页表项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，即页表中经常会被访问的行）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本质上就是一个容量较小的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，为提高查找速度，大多采用全相联或组相联方式，且采用随机替换算法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也称为</a:t>
            </a:r>
            <a:r>
              <a:rPr lang="zh-CN" altLang="en-US" sz="1400" b="1" dirty="0">
                <a:solidFill>
                  <a:srgbClr val="C00000"/>
                </a:solidFill>
              </a:rPr>
              <a:t>快表</a:t>
            </a:r>
            <a:r>
              <a:rPr lang="zh-CN" altLang="en-US" sz="1400" b="1" dirty="0"/>
              <a:t>，存放在主存中的页表称为</a:t>
            </a:r>
            <a:r>
              <a:rPr lang="zh-CN" altLang="en-US" sz="1400" b="1" dirty="0">
                <a:solidFill>
                  <a:srgbClr val="C00000"/>
                </a:solidFill>
              </a:rPr>
              <a:t>慢表</a:t>
            </a:r>
            <a:r>
              <a:rPr lang="zh-CN" altLang="en-US" sz="1400" b="1" dirty="0"/>
              <a:t>；快表是按</a:t>
            </a:r>
            <a:r>
              <a:rPr lang="zh-CN" altLang="en-US" sz="1400" b="1" dirty="0">
                <a:highlight>
                  <a:srgbClr val="FFFF00"/>
                </a:highlight>
              </a:rPr>
              <a:t>内容</a:t>
            </a:r>
            <a:r>
              <a:rPr lang="zh-CN" altLang="en-US" sz="1400" b="1" dirty="0"/>
              <a:t>访问的，慢表是按</a:t>
            </a:r>
            <a:r>
              <a:rPr lang="zh-CN" altLang="en-US" sz="1400" b="1" dirty="0">
                <a:highlight>
                  <a:srgbClr val="FFFF00"/>
                </a:highlight>
              </a:rPr>
              <a:t>地址</a:t>
            </a:r>
            <a:r>
              <a:rPr lang="zh-CN" altLang="en-US" sz="1400" b="1" dirty="0"/>
              <a:t>访问的；基于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的虚拟地址与物理地址的转换逻辑如表</a:t>
            </a:r>
            <a:r>
              <a:rPr lang="en-US" altLang="zh-CN" sz="1400" b="1" dirty="0"/>
              <a:t>4.52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在进行地址转换时，往往同时查快表和慢表，如果查快表命中，则从快表中得到物理页号，同时终止查慢表的过程；如果查快表不命中，则从慢表中得到物理页号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744C60-6443-4EFA-A748-52576AC95DC8}"/>
              </a:ext>
            </a:extLst>
          </p:cNvPr>
          <p:cNvGrpSpPr/>
          <p:nvPr/>
        </p:nvGrpSpPr>
        <p:grpSpPr>
          <a:xfrm>
            <a:off x="2411760" y="4071756"/>
            <a:ext cx="3755959" cy="2669612"/>
            <a:chOff x="2472224" y="3789040"/>
            <a:chExt cx="4199551" cy="30296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E50AB2D-D747-45C7-8F24-912A9CEB2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2224" y="3789040"/>
              <a:ext cx="4199551" cy="266429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5B2E4F9-C937-4D99-9AD5-17BFD3803560}"/>
                </a:ext>
              </a:extLst>
            </p:cNvPr>
            <p:cNvSpPr txBox="1"/>
            <p:nvPr/>
          </p:nvSpPr>
          <p:spPr>
            <a:xfrm>
              <a:off x="2843808" y="6541693"/>
              <a:ext cx="35317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4.52  </a:t>
              </a:r>
              <a:r>
                <a:rPr lang="zh-CN" altLang="en-US" sz="1200" b="1" dirty="0"/>
                <a:t>基于</a:t>
              </a:r>
              <a:r>
                <a:rPr lang="en-US" altLang="zh-CN" sz="1200" b="1" dirty="0"/>
                <a:t>TLB</a:t>
              </a:r>
              <a:r>
                <a:rPr lang="zh-CN" altLang="en-US" sz="1200" b="1" dirty="0"/>
                <a:t>的虚拟地址与物理地址的转换逻辑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D9778A9-889E-4EC8-9AED-0E17458F238C}"/>
              </a:ext>
            </a:extLst>
          </p:cNvPr>
          <p:cNvSpPr txBox="1"/>
          <p:nvPr/>
        </p:nvSpPr>
        <p:spPr>
          <a:xfrm>
            <a:off x="7092280" y="4149080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</p:spTree>
    <p:extLst>
      <p:ext uri="{BB962C8B-B14F-4D97-AF65-F5344CB8AC3E}">
        <p14:creationId xmlns:p14="http://schemas.microsoft.com/office/powerpoint/2010/main" val="6384865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（处理器）给出一个</a:t>
            </a:r>
            <a:r>
              <a:rPr lang="zh-CN" altLang="en-US" sz="1400" b="1" dirty="0">
                <a:solidFill>
                  <a:srgbClr val="FF0000"/>
                </a:solidFill>
              </a:rPr>
              <a:t>虚拟地址</a:t>
            </a:r>
            <a:r>
              <a:rPr lang="en-US" altLang="zh-CN" sz="1400" b="1" dirty="0">
                <a:solidFill>
                  <a:srgbClr val="FF0000"/>
                </a:solidFill>
              </a:rPr>
              <a:t>VA</a:t>
            </a:r>
            <a:r>
              <a:rPr lang="zh-CN" altLang="en-US" sz="1400" b="1" dirty="0"/>
              <a:t>，并送到</a:t>
            </a:r>
            <a:r>
              <a:rPr lang="en-US" altLang="zh-CN" sz="14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根据虚拟地址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中的</a:t>
            </a:r>
            <a:r>
              <a:rPr lang="zh-CN" altLang="en-US" sz="1400" b="1" dirty="0">
                <a:solidFill>
                  <a:srgbClr val="FF0000"/>
                </a:solidFill>
              </a:rPr>
              <a:t>虚拟页号</a:t>
            </a:r>
            <a:r>
              <a:rPr lang="en-US" altLang="zh-CN" sz="1400" b="1" dirty="0">
                <a:solidFill>
                  <a:srgbClr val="FF0000"/>
                </a:solidFill>
              </a:rPr>
              <a:t>VPN</a:t>
            </a:r>
            <a:r>
              <a:rPr lang="zh-CN" altLang="en-US" sz="1400" b="1" dirty="0"/>
              <a:t>，查询</a:t>
            </a:r>
            <a:r>
              <a:rPr lang="en-US" altLang="zh-CN" sz="14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访问命中，则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向</a:t>
            </a:r>
            <a:r>
              <a:rPr lang="en-US" altLang="zh-CN" sz="1400" b="1" dirty="0"/>
              <a:t>MMU</a:t>
            </a:r>
            <a:r>
              <a:rPr lang="zh-CN" altLang="en-US" sz="1400" b="1" dirty="0"/>
              <a:t>返回与虚拟页号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对应的</a:t>
            </a:r>
            <a:r>
              <a:rPr lang="zh-CN" altLang="en-US" sz="1400" b="1" dirty="0">
                <a:solidFill>
                  <a:srgbClr val="FF0000"/>
                </a:solidFill>
              </a:rPr>
              <a:t>物理页号</a:t>
            </a:r>
            <a:r>
              <a:rPr lang="en-US" altLang="zh-CN" sz="1400" b="1" dirty="0">
                <a:solidFill>
                  <a:srgbClr val="FF0000"/>
                </a:solidFill>
              </a:rPr>
              <a:t>PPN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根据物理页号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和虚拟地址中的页内偏移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，构成</a:t>
            </a:r>
            <a:r>
              <a:rPr lang="zh-CN" altLang="en-US" sz="1400" b="1" dirty="0">
                <a:solidFill>
                  <a:srgbClr val="FF0000"/>
                </a:solidFill>
              </a:rPr>
              <a:t>物理地址</a:t>
            </a:r>
            <a:r>
              <a:rPr lang="en-US" altLang="zh-CN" sz="1400" b="1" dirty="0">
                <a:solidFill>
                  <a:srgbClr val="FF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由物理地址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，从</a:t>
            </a:r>
            <a:r>
              <a:rPr lang="en-US" altLang="zh-CN" sz="1400" b="1" dirty="0"/>
              <a:t>cache/</a:t>
            </a:r>
            <a:r>
              <a:rPr lang="zh-CN" altLang="en-US" sz="1400" b="1" dirty="0"/>
              <a:t>主存中访问得到</a:t>
            </a:r>
            <a:r>
              <a:rPr lang="zh-CN" altLang="en-US" sz="1400" b="1" dirty="0">
                <a:solidFill>
                  <a:srgbClr val="FF0000"/>
                </a:solidFill>
              </a:rPr>
              <a:t>数据</a:t>
            </a:r>
            <a:r>
              <a:rPr lang="zh-CN" altLang="en-US" sz="1400" b="1" dirty="0"/>
              <a:t>，并返回给</a:t>
            </a:r>
            <a:r>
              <a:rPr lang="en-US" altLang="zh-CN" sz="1400" b="1" dirty="0"/>
              <a:t>CPU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D89158-548A-42F7-B024-5CB99BD2CBBC}"/>
              </a:ext>
            </a:extLst>
          </p:cNvPr>
          <p:cNvGrpSpPr/>
          <p:nvPr/>
        </p:nvGrpSpPr>
        <p:grpSpPr>
          <a:xfrm>
            <a:off x="2699792" y="3573016"/>
            <a:ext cx="3839513" cy="2808312"/>
            <a:chOff x="3131839" y="3717032"/>
            <a:chExt cx="3839513" cy="280831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4102663" y="6248345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4.53    TLB</a:t>
              </a:r>
              <a:r>
                <a:rPr lang="zh-CN" altLang="en-US" sz="1200" b="1" dirty="0"/>
                <a:t>命中访问流程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9FCF14-B7CB-44CF-80BE-7B6F0D86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1839" y="3717032"/>
              <a:ext cx="3839513" cy="2401120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C1566E8-B96E-4C8B-8501-790149966039}"/>
              </a:ext>
            </a:extLst>
          </p:cNvPr>
          <p:cNvSpPr txBox="1"/>
          <p:nvPr/>
        </p:nvSpPr>
        <p:spPr>
          <a:xfrm>
            <a:off x="6983226" y="3665580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</p:spTree>
    <p:extLst>
      <p:ext uri="{BB962C8B-B14F-4D97-AF65-F5344CB8AC3E}">
        <p14:creationId xmlns:p14="http://schemas.microsoft.com/office/powerpoint/2010/main" val="113132043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不命中（缺失）时的访问流程：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FF0000"/>
                </a:solidFill>
              </a:rPr>
              <a:t>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</a:t>
            </a:r>
            <a:r>
              <a:rPr lang="zh-CN" altLang="en-US" sz="1200" b="1" dirty="0">
                <a:solidFill>
                  <a:srgbClr val="FF0000"/>
                </a:solidFill>
              </a:rPr>
              <a:t>虚拟页号</a:t>
            </a:r>
            <a:r>
              <a:rPr lang="en-US" altLang="zh-CN" sz="1200" b="1" dirty="0">
                <a:solidFill>
                  <a:srgbClr val="FF0000"/>
                </a:solidFill>
              </a:rPr>
              <a:t>VPN</a:t>
            </a:r>
            <a:r>
              <a:rPr lang="zh-CN" altLang="en-US" sz="1200" b="1" dirty="0"/>
              <a:t>，查询</a:t>
            </a:r>
            <a:r>
              <a:rPr lang="en-US" altLang="zh-CN" sz="12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访问不命中（缺失），则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en-US" altLang="zh-CN" sz="1200" b="1" dirty="0">
                <a:solidFill>
                  <a:srgbClr val="FF0000"/>
                </a:solidFill>
              </a:rPr>
              <a:t>TLB</a:t>
            </a:r>
            <a:r>
              <a:rPr lang="zh-CN" altLang="en-US" sz="1200" b="1" dirty="0">
                <a:solidFill>
                  <a:srgbClr val="FF0000"/>
                </a:solidFill>
              </a:rPr>
              <a:t>访问缺失</a:t>
            </a:r>
            <a:r>
              <a:rPr lang="zh-CN" altLang="en-US" sz="1200" b="1" dirty="0"/>
              <a:t>信息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FF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FF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FF0000"/>
                </a:solidFill>
              </a:rPr>
              <a:t>页表项</a:t>
            </a:r>
            <a:r>
              <a:rPr lang="en-US" altLang="zh-CN" sz="1200" b="1" dirty="0">
                <a:solidFill>
                  <a:srgbClr val="FF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，则需要</a:t>
            </a:r>
            <a:r>
              <a:rPr lang="zh-CN" altLang="en-US" sz="1200" b="1" dirty="0">
                <a:highlight>
                  <a:srgbClr val="FFFF00"/>
                </a:highlight>
              </a:rPr>
              <a:t>更新</a:t>
            </a:r>
            <a:r>
              <a:rPr lang="en-US" altLang="zh-CN" sz="1200" b="1" dirty="0">
                <a:highlight>
                  <a:srgbClr val="FFFF00"/>
                </a:highlight>
              </a:rPr>
              <a:t>TLB</a:t>
            </a:r>
            <a:r>
              <a:rPr lang="zh-CN" altLang="en-US" sz="1200" b="1" dirty="0"/>
              <a:t>；同时根据页表项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>
                <a:solidFill>
                  <a:srgbClr val="FF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FF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82B02F-0B47-46F3-A1DE-781B21F792E9}"/>
              </a:ext>
            </a:extLst>
          </p:cNvPr>
          <p:cNvGrpSpPr/>
          <p:nvPr/>
        </p:nvGrpSpPr>
        <p:grpSpPr>
          <a:xfrm>
            <a:off x="2699792" y="4005064"/>
            <a:ext cx="3766538" cy="2725271"/>
            <a:chOff x="3203848" y="4005064"/>
            <a:chExt cx="3766538" cy="272527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851920" y="6453336"/>
              <a:ext cx="2678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4.54    TLB</a:t>
              </a:r>
              <a:r>
                <a:rPr lang="zh-CN" altLang="en-US" sz="1200" b="1" dirty="0"/>
                <a:t>不命中（缺失）访问流程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302F70A-1779-4E9E-A819-A283CDAF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005064"/>
              <a:ext cx="3766538" cy="2374739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05EE51A-87D8-411A-8323-EB5C46BEEAC3}"/>
              </a:ext>
            </a:extLst>
          </p:cNvPr>
          <p:cNvSpPr txBox="1"/>
          <p:nvPr/>
        </p:nvSpPr>
        <p:spPr>
          <a:xfrm>
            <a:off x="7092280" y="3933056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</p:spTree>
    <p:extLst>
      <p:ext uri="{BB962C8B-B14F-4D97-AF65-F5344CB8AC3E}">
        <p14:creationId xmlns:p14="http://schemas.microsoft.com/office/powerpoint/2010/main" val="10659365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访存过程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实地址模式：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只能用物理地址访问主存，也称实模式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虚地址模式；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只能使用虚拟地址访问主存，也称保护模式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在一个具有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、虚拟存储器的系统中，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的一次完整的虚存访问操作流程如下所示：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C6A792-B6D2-4355-AECF-EC2DCC93AB0D}"/>
              </a:ext>
            </a:extLst>
          </p:cNvPr>
          <p:cNvSpPr txBox="1"/>
          <p:nvPr/>
        </p:nvSpPr>
        <p:spPr>
          <a:xfrm>
            <a:off x="7020272" y="188640"/>
            <a:ext cx="1852743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VA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Address</a:t>
            </a:r>
            <a:r>
              <a:rPr lang="zh-CN" altLang="en-US" sz="600" b="1" dirty="0"/>
              <a:t>，虚拟地址</a:t>
            </a:r>
            <a:endParaRPr lang="en-US" altLang="zh-CN" sz="600" b="1" dirty="0"/>
          </a:p>
          <a:p>
            <a:r>
              <a:rPr lang="en-US" altLang="zh-CN" sz="600" b="1" dirty="0"/>
              <a:t>VPN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Number</a:t>
            </a:r>
            <a:r>
              <a:rPr lang="zh-CN" altLang="en-US" sz="600" b="1" dirty="0"/>
              <a:t>，虚页号</a:t>
            </a:r>
            <a:endParaRPr lang="en-US" altLang="zh-CN" sz="600" b="1" dirty="0"/>
          </a:p>
          <a:p>
            <a:r>
              <a:rPr lang="en-US" altLang="zh-CN" sz="600" b="1" dirty="0"/>
              <a:t>VPO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Virtual Page Offset</a:t>
            </a:r>
            <a:r>
              <a:rPr lang="zh-CN" altLang="en-US" sz="600" b="1" dirty="0"/>
              <a:t>，虚拟页偏移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Address</a:t>
            </a:r>
            <a:r>
              <a:rPr lang="zh-CN" altLang="en-US" sz="600" b="1" dirty="0"/>
              <a:t>，物理地址</a:t>
            </a:r>
            <a:r>
              <a:rPr lang="en-US" altLang="zh-CN" sz="600" b="1" dirty="0"/>
              <a:t> </a:t>
            </a:r>
          </a:p>
          <a:p>
            <a:r>
              <a:rPr lang="en-US" altLang="zh-CN" sz="600" b="1" dirty="0"/>
              <a:t>PPN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Number</a:t>
            </a:r>
            <a:r>
              <a:rPr lang="zh-CN" altLang="en-US" sz="600" b="1" dirty="0"/>
              <a:t>，物理页号</a:t>
            </a:r>
            <a:endParaRPr lang="en-US" altLang="zh-CN" sz="600" b="1" dirty="0"/>
          </a:p>
          <a:p>
            <a:r>
              <a:rPr lang="en-US" altLang="zh-CN" sz="600" b="1" dirty="0"/>
              <a:t>PPO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Physical Page Offset</a:t>
            </a:r>
            <a:r>
              <a:rPr lang="zh-CN" altLang="en-US" sz="600" b="1" dirty="0"/>
              <a:t>，物理页偏移</a:t>
            </a:r>
            <a:endParaRPr lang="en-US" altLang="zh-CN" sz="600" b="1" dirty="0"/>
          </a:p>
          <a:p>
            <a:endParaRPr lang="en-US" altLang="zh-CN" sz="600" b="1" dirty="0"/>
          </a:p>
          <a:p>
            <a:r>
              <a:rPr lang="en-US" altLang="zh-CN" sz="600" b="1" dirty="0"/>
              <a:t>PTE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</a:t>
            </a:r>
            <a:r>
              <a:rPr lang="zh-CN" altLang="en-US" sz="600" b="1" dirty="0"/>
              <a:t>，页表项</a:t>
            </a:r>
          </a:p>
          <a:p>
            <a:r>
              <a:rPr lang="en-US" altLang="zh-CN" sz="600" b="1" dirty="0"/>
              <a:t>PTBR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Base Register</a:t>
            </a:r>
            <a:r>
              <a:rPr lang="zh-CN" altLang="en-US" sz="600" b="1" dirty="0"/>
              <a:t>，页表基址寄存器</a:t>
            </a:r>
            <a:endParaRPr lang="en-US" altLang="zh-CN" sz="600" b="1" dirty="0"/>
          </a:p>
          <a:p>
            <a:r>
              <a:rPr lang="en-US" altLang="zh-CN" sz="600" b="1" dirty="0"/>
              <a:t>PTEA</a:t>
            </a:r>
            <a:r>
              <a:rPr lang="zh-CN" altLang="en-US" sz="600" b="1" dirty="0"/>
              <a:t>：</a:t>
            </a:r>
            <a:r>
              <a:rPr lang="en-US" altLang="zh-CN" sz="600" b="1" dirty="0"/>
              <a:t>Page Table Entry Address</a:t>
            </a:r>
            <a:r>
              <a:rPr lang="zh-CN" altLang="en-US" sz="600" b="1" dirty="0"/>
              <a:t>，页表项地址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12E3A60-CF6A-4EDC-9768-E7859163FCCD}"/>
              </a:ext>
            </a:extLst>
          </p:cNvPr>
          <p:cNvGrpSpPr/>
          <p:nvPr/>
        </p:nvGrpSpPr>
        <p:grpSpPr>
          <a:xfrm>
            <a:off x="179512" y="1907512"/>
            <a:ext cx="8889238" cy="4905864"/>
            <a:chOff x="179512" y="1907512"/>
            <a:chExt cx="8889238" cy="490586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EEE97A5-4F09-46C8-8A3E-4ABF55DFAA02}"/>
                </a:ext>
              </a:extLst>
            </p:cNvPr>
            <p:cNvGrpSpPr/>
            <p:nvPr/>
          </p:nvGrpSpPr>
          <p:grpSpPr>
            <a:xfrm>
              <a:off x="179512" y="1907512"/>
              <a:ext cx="8889238" cy="4905864"/>
              <a:chOff x="179512" y="1907512"/>
              <a:chExt cx="8889238" cy="4905864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AE2BB0D3-8352-43D8-BC5D-460A2E50EC8A}"/>
                  </a:ext>
                </a:extLst>
              </p:cNvPr>
              <p:cNvGrpSpPr/>
              <p:nvPr/>
            </p:nvGrpSpPr>
            <p:grpSpPr>
              <a:xfrm>
                <a:off x="2184165" y="2060848"/>
                <a:ext cx="5556187" cy="4752528"/>
                <a:chOff x="2184165" y="2060848"/>
                <a:chExt cx="5556187" cy="4752528"/>
              </a:xfrm>
            </p:grpSpPr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D0CEC95E-2EE3-4D92-8EF5-9A5150092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184165" y="2060848"/>
                  <a:ext cx="5556187" cy="4392488"/>
                </a:xfrm>
                <a:prstGeom prst="rect">
                  <a:avLst/>
                </a:prstGeom>
              </p:spPr>
            </p:pic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CC524B1-7E9F-482D-BB3F-D970BC163232}"/>
                    </a:ext>
                  </a:extLst>
                </p:cNvPr>
                <p:cNvSpPr txBox="1"/>
                <p:nvPr/>
              </p:nvSpPr>
              <p:spPr>
                <a:xfrm>
                  <a:off x="4096123" y="6536377"/>
                  <a:ext cx="19880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4.55    </a:t>
                  </a:r>
                  <a:r>
                    <a:rPr lang="zh-CN" altLang="en-US" sz="1200" b="1" dirty="0"/>
                    <a:t>虚存访问操作流程</a:t>
                  </a: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A41AEAA6-784A-4C79-AC25-571446AE13A1}"/>
                  </a:ext>
                </a:extLst>
              </p:cNvPr>
              <p:cNvGrpSpPr/>
              <p:nvPr/>
            </p:nvGrpSpPr>
            <p:grpSpPr>
              <a:xfrm>
                <a:off x="179512" y="1907512"/>
                <a:ext cx="8889238" cy="3371630"/>
                <a:chOff x="179512" y="1907512"/>
                <a:chExt cx="8889238" cy="3371630"/>
              </a:xfrm>
            </p:grpSpPr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95FBB6-D534-4998-8410-0682FB3418BE}"/>
                    </a:ext>
                  </a:extLst>
                </p:cNvPr>
                <p:cNvSpPr txBox="1"/>
                <p:nvPr/>
              </p:nvSpPr>
              <p:spPr>
                <a:xfrm>
                  <a:off x="179512" y="3420567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中的虚页号</a:t>
                  </a:r>
                  <a:r>
                    <a:rPr lang="en-US" altLang="zh-CN" sz="1000" b="1" dirty="0"/>
                    <a:t>VPN</a:t>
                  </a:r>
                  <a:r>
                    <a:rPr lang="zh-CN" altLang="en-US" sz="1000" b="1" dirty="0"/>
                    <a:t>，查找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表，如果命中，则得到物理页号</a:t>
                  </a:r>
                  <a:r>
                    <a:rPr lang="en-US" altLang="zh-CN" sz="1000" b="1" dirty="0"/>
                    <a:t>PPN</a:t>
                  </a:r>
                  <a:endParaRPr lang="zh-CN" altLang="en-US" sz="1000" b="1" dirty="0"/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829CD83-E85A-4A25-89B0-B35314D3C37F}"/>
                    </a:ext>
                  </a:extLst>
                </p:cNvPr>
                <p:cNvSpPr txBox="1"/>
                <p:nvPr/>
              </p:nvSpPr>
              <p:spPr>
                <a:xfrm>
                  <a:off x="179512" y="467520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由物理页号</a:t>
                  </a:r>
                  <a:r>
                    <a:rPr lang="en-US" altLang="zh-CN" sz="1000" b="1" dirty="0"/>
                    <a:t>PPN</a:t>
                  </a:r>
                  <a:r>
                    <a:rPr lang="zh-CN" altLang="en-US" sz="1000" b="1" dirty="0"/>
                    <a:t>和虚拟地址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中的页偏移</a:t>
                  </a:r>
                  <a:r>
                    <a:rPr lang="en-US" altLang="zh-CN" sz="1000" b="1" dirty="0"/>
                    <a:t>VPO</a:t>
                  </a:r>
                  <a:r>
                    <a:rPr lang="zh-CN" altLang="en-US" sz="1000" b="1" dirty="0"/>
                    <a:t>，得到物理地址</a:t>
                  </a:r>
                  <a:r>
                    <a:rPr lang="en-US" altLang="zh-CN" sz="1000" b="1" dirty="0"/>
                    <a:t>PA</a:t>
                  </a:r>
                  <a:endParaRPr lang="zh-CN" altLang="en-US" sz="1000" b="1" dirty="0"/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4BB1916-1163-4CBA-847D-119D90A2DBA5}"/>
                    </a:ext>
                  </a:extLst>
                </p:cNvPr>
                <p:cNvSpPr txBox="1"/>
                <p:nvPr/>
              </p:nvSpPr>
              <p:spPr>
                <a:xfrm>
                  <a:off x="4427985" y="1916832"/>
                  <a:ext cx="2086608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，从位于</a:t>
                  </a:r>
                  <a:r>
                    <a:rPr lang="en-US" altLang="zh-CN" sz="1000" b="1" dirty="0"/>
                    <a:t>cache</a:t>
                  </a:r>
                  <a:r>
                    <a:rPr lang="zh-CN" altLang="en-US" sz="1000" b="1" dirty="0"/>
                    <a:t>的页表中查找，如果命中，则得到页表项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4885D87-604F-4935-854B-8D365732A8A6}"/>
                    </a:ext>
                  </a:extLst>
                </p:cNvPr>
                <p:cNvSpPr txBox="1"/>
                <p:nvPr/>
              </p:nvSpPr>
              <p:spPr>
                <a:xfrm>
                  <a:off x="7101001" y="190751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，从主存的页表中查找，得到页表项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5D65FE9-F512-4FE1-9F29-3FC61296288F}"/>
                    </a:ext>
                  </a:extLst>
                </p:cNvPr>
                <p:cNvSpPr txBox="1"/>
                <p:nvPr/>
              </p:nvSpPr>
              <p:spPr>
                <a:xfrm>
                  <a:off x="7812360" y="4725144"/>
                  <a:ext cx="1254391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sz="1000" b="1" dirty="0"/>
                    <a:t>若页表项</a:t>
                  </a:r>
                  <a:r>
                    <a:rPr lang="en-US" altLang="zh-CN" sz="1000" b="1" dirty="0"/>
                    <a:t>PTE</a:t>
                  </a:r>
                  <a:r>
                    <a:rPr lang="zh-CN" altLang="en-US" sz="1000" b="1" dirty="0"/>
                    <a:t>中的有效位</a:t>
                  </a:r>
                  <a:r>
                    <a:rPr lang="en-US" altLang="zh-CN" sz="1000" b="1" dirty="0"/>
                    <a:t>=1</a:t>
                  </a:r>
                  <a:r>
                    <a:rPr lang="zh-CN" altLang="en-US" sz="1000" b="1" dirty="0"/>
                    <a:t>，则需要更新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表项</a:t>
                  </a:r>
                  <a:endParaRPr lang="zh-CN" altLang="en-US" dirty="0"/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E93EEF9-1B83-4BFB-8303-E89A7EB27C30}"/>
                    </a:ext>
                  </a:extLst>
                </p:cNvPr>
                <p:cNvSpPr txBox="1"/>
                <p:nvPr/>
              </p:nvSpPr>
              <p:spPr>
                <a:xfrm>
                  <a:off x="7814359" y="3068960"/>
                  <a:ext cx="1254391" cy="101566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dirty="0"/>
                    <a:t>若页表项</a:t>
                  </a:r>
                  <a:r>
                    <a:rPr lang="en-US" altLang="zh-CN" dirty="0"/>
                    <a:t>PTE</a:t>
                  </a:r>
                  <a:r>
                    <a:rPr lang="zh-CN" altLang="en-US" dirty="0"/>
                    <a:t>中的有效位</a:t>
                  </a:r>
                  <a:r>
                    <a:rPr lang="en-US" altLang="zh-CN" dirty="0"/>
                    <a:t>=0</a:t>
                  </a:r>
                  <a:r>
                    <a:rPr lang="zh-CN" altLang="en-US" dirty="0"/>
                    <a:t>，表示所访问的页不在主存中，</a:t>
                  </a:r>
                  <a:r>
                    <a:rPr lang="en-US" altLang="zh-CN" dirty="0"/>
                    <a:t>MMU</a:t>
                  </a:r>
                  <a:r>
                    <a:rPr lang="zh-CN" altLang="en-US" dirty="0"/>
                    <a:t>调用操作系统内核中的缺页异常处理程序</a:t>
                  </a:r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71913BF9-0AB4-47C8-A19E-E6283B984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3169042"/>
                  <a:ext cx="756989" cy="52852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>
                  <a:extLst>
                    <a:ext uri="{FF2B5EF4-FFF2-40B4-BE49-F238E27FC236}">
                      <a16:creationId xmlns:a16="http://schemas.microsoft.com/office/drawing/2014/main" id="{4798C262-32AC-4324-8DE6-71F6A565A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4642595"/>
                  <a:ext cx="468957" cy="3045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8B677D7F-BE8B-4064-A663-68872D589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80312" y="2492896"/>
                  <a:ext cx="504056" cy="57606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>
                  <a:extLst>
                    <a:ext uri="{FF2B5EF4-FFF2-40B4-BE49-F238E27FC236}">
                      <a16:creationId xmlns:a16="http://schemas.microsoft.com/office/drawing/2014/main" id="{2C33C673-B4CC-45FF-BB39-CD6A66AF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4250" y="4322274"/>
                  <a:ext cx="1008110" cy="67986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93B1628D-24C5-43A6-964E-434C16066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77742" y="3567745"/>
                  <a:ext cx="434618" cy="25574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C94B938-AE34-40BF-A201-38E1CBE96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5204" y="2492896"/>
              <a:ext cx="606085" cy="3902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321232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365099F-81A3-414B-8B83-886A9142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3197"/>
            <a:ext cx="8229600" cy="4525963"/>
          </a:xfrm>
        </p:spPr>
        <p:txBody>
          <a:bodyPr/>
          <a:lstStyle/>
          <a:p>
            <a:pPr lvl="2"/>
            <a:r>
              <a:rPr lang="zh-CN" altLang="en-US" sz="1400" b="1" dirty="0"/>
              <a:t>最左边的路径（红色）为最短路径，访问性能最优</a:t>
            </a:r>
            <a:endParaRPr lang="zh-CN" altLang="en-US" sz="6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2ADF96-80E0-4C4B-9C0D-E0DED06F84CC}"/>
              </a:ext>
            </a:extLst>
          </p:cNvPr>
          <p:cNvGrpSpPr/>
          <p:nvPr/>
        </p:nvGrpSpPr>
        <p:grpSpPr>
          <a:xfrm>
            <a:off x="1547664" y="1484784"/>
            <a:ext cx="5556187" cy="4813503"/>
            <a:chOff x="1547664" y="1484784"/>
            <a:chExt cx="5556187" cy="481350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3F8494D-9450-4CF6-AE0F-B7D1B6B63AB9}"/>
                </a:ext>
              </a:extLst>
            </p:cNvPr>
            <p:cNvGrpSpPr/>
            <p:nvPr/>
          </p:nvGrpSpPr>
          <p:grpSpPr>
            <a:xfrm>
              <a:off x="1547664" y="1484784"/>
              <a:ext cx="5556187" cy="4392488"/>
              <a:chOff x="1547664" y="1124744"/>
              <a:chExt cx="5556187" cy="4392488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0F25DC5-AAB8-4566-B64A-0E1E50104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7664" y="1124744"/>
                <a:ext cx="5556187" cy="4392488"/>
              </a:xfrm>
              <a:prstGeom prst="rect">
                <a:avLst/>
              </a:prstGeom>
            </p:spPr>
          </p:pic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F69B4367-F3D1-45B2-A16A-C0EACD4F0A45}"/>
                  </a:ext>
                </a:extLst>
              </p:cNvPr>
              <p:cNvCxnSpPr/>
              <p:nvPr/>
            </p:nvCxnSpPr>
            <p:spPr>
              <a:xfrm>
                <a:off x="2379864" y="1540844"/>
                <a:ext cx="0" cy="43204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72A1CDA6-33D8-43EE-96E4-80485242A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180" y="2282188"/>
                <a:ext cx="0" cy="10801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798C2CA-BB75-4120-AE8D-94FF295DA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3660972"/>
                <a:ext cx="0" cy="5654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E465C80-66B0-4BAB-B572-628CD330F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4541016"/>
                <a:ext cx="0" cy="6161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3894DB8-4ACC-4A41-B71F-1E1A320FCB18}"/>
                </a:ext>
              </a:extLst>
            </p:cNvPr>
            <p:cNvSpPr txBox="1"/>
            <p:nvPr/>
          </p:nvSpPr>
          <p:spPr>
            <a:xfrm>
              <a:off x="3520059" y="6021288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40440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9908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28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1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4404" y="5085184"/>
            <a:ext cx="5243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264"/>
            <a:ext cx="531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00834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93073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2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47864" y="5661248"/>
            <a:ext cx="7200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4524156" y="5805889"/>
            <a:ext cx="0" cy="6185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3563888" y="6424395"/>
            <a:ext cx="957368" cy="12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2598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34940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8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3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3707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821330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4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295DCED-F73F-4A21-8915-869DC2142657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34483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626849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6842414" y="529677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5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4575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200208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6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81DC396-3E3E-422B-91E4-F9A505BA173B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26CE97A-9D05-4E82-AABC-0015216FC492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AC85CAE-DD49-4B65-9F21-0F798436F6D2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500B6-181A-45DC-BD0D-27C3A768C742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9666401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37793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7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6BC067E-91B7-4722-8490-8F993EEAF1FB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2875068334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74915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8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3475691-7FF4-48DD-8422-C77999E52336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132287058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4163"/>
              </p:ext>
            </p:extLst>
          </p:nvPr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2722"/>
              </p:ext>
            </p:extLst>
          </p:nvPr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4213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1F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513E9-749F-4535-8E30-064314C06EB4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7016053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25817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012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1F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2A912-6870-4184-9F79-197A270B539A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</a:t>
            </a:r>
            <a:r>
              <a:rPr lang="en-US" altLang="zh-CN" sz="1050" b="1" dirty="0">
                <a:solidFill>
                  <a:srgbClr val="FF0000"/>
                </a:solidFill>
              </a:rPr>
              <a:t>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2438207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r>
              <a:rPr lang="zh-CN" altLang="en-US" sz="1200" b="1" dirty="0">
                <a:solidFill>
                  <a:srgbClr val="FF0000"/>
                </a:solidFill>
              </a:rPr>
              <a:t>）虚拟地址共有几位？哪几位表示虚页号？物理地址共有几位？哪几位表示页框号（物理页号）？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400" b="1" dirty="0"/>
              <a:t>解：（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虚拟地址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虚页号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，因此，</a:t>
            </a:r>
            <a:r>
              <a:rPr lang="zh-CN" altLang="en-US" sz="1200" b="1" dirty="0">
                <a:solidFill>
                  <a:srgbClr val="FF0000"/>
                </a:solidFill>
              </a:rPr>
              <a:t>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=24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24</a:t>
            </a:r>
            <a:r>
              <a:rPr lang="en-US" altLang="zh-CN" sz="1200" b="1" dirty="0"/>
              <a:t>=16M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，因此，页偏移</a:t>
            </a:r>
            <a:r>
              <a:rPr lang="en-US" altLang="zh-CN" sz="1200" b="1" dirty="0"/>
              <a:t>=12</a:t>
            </a:r>
            <a:r>
              <a:rPr lang="zh-CN" altLang="en-US" sz="1200" b="1" dirty="0"/>
              <a:t>位（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12</a:t>
            </a:r>
            <a:r>
              <a:rPr lang="en-US" altLang="zh-CN" sz="1200" b="1" dirty="0"/>
              <a:t>=4K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因此，</a:t>
            </a:r>
            <a:r>
              <a:rPr lang="zh-CN" altLang="en-US" sz="1200" b="1" dirty="0">
                <a:solidFill>
                  <a:srgbClr val="FF0000"/>
                </a:solidFill>
              </a:rPr>
              <a:t>虚页号</a:t>
            </a:r>
            <a:r>
              <a:rPr lang="en-US" altLang="zh-CN" sz="1200" b="1" dirty="0"/>
              <a:t>=24-12=</a:t>
            </a:r>
            <a:r>
              <a:rPr lang="en-US" altLang="zh-CN" sz="1200" b="1" dirty="0">
                <a:solidFill>
                  <a:srgbClr val="FF0000"/>
                </a:solidFill>
              </a:rPr>
              <a:t>12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物理地址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，因此，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>
                <a:solidFill>
                  <a:srgbClr val="FF0000"/>
                </a:solidFill>
              </a:rPr>
              <a:t>=20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20</a:t>
            </a:r>
            <a:r>
              <a:rPr lang="en-US" altLang="zh-CN" sz="1200" b="1" dirty="0"/>
              <a:t>=1M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因此，</a:t>
            </a:r>
            <a:r>
              <a:rPr lang="zh-CN" altLang="en-US" sz="1200" b="1" dirty="0">
                <a:solidFill>
                  <a:srgbClr val="FF0000"/>
                </a:solidFill>
              </a:rPr>
              <a:t>页框号</a:t>
            </a:r>
            <a:r>
              <a:rPr lang="zh-CN" altLang="en-US" sz="1200" b="1" dirty="0"/>
              <a:t>（物理页号）</a:t>
            </a:r>
            <a:r>
              <a:rPr lang="en-US" altLang="zh-CN" sz="1200" b="1" dirty="0"/>
              <a:t>=20-12=</a:t>
            </a:r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endParaRPr lang="zh-CN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16558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r>
              <a:rPr lang="zh-CN" altLang="en-US" sz="1200" b="1" dirty="0">
                <a:solidFill>
                  <a:srgbClr val="FF0000"/>
                </a:solidFill>
              </a:rPr>
              <a:t>）使用物理地址访问</a:t>
            </a:r>
            <a:r>
              <a:rPr lang="en-US" altLang="zh-CN" sz="1200" b="1" dirty="0">
                <a:solidFill>
                  <a:srgbClr val="FF0000"/>
                </a:solidFill>
              </a:rPr>
              <a:t>cache</a:t>
            </a:r>
            <a:r>
              <a:rPr lang="zh-CN" altLang="en-US" sz="1200" b="1" dirty="0">
                <a:solidFill>
                  <a:srgbClr val="FF0000"/>
                </a:solidFill>
              </a:rPr>
              <a:t>时，物理地址应划分为哪几个字段？请说明每个字段的位数及在物理地址中的位置。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400" b="1" dirty="0"/>
              <a:t>解：（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因为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采用直接相联映射方式，因此，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物理地址（主存地址）</a:t>
            </a:r>
            <a:r>
              <a:rPr lang="en-US" altLang="zh-CN" sz="1200" b="1" dirty="0">
                <a:solidFill>
                  <a:srgbClr val="FF0000"/>
                </a:solidFill>
              </a:rPr>
              <a:t>=</a:t>
            </a:r>
            <a:r>
              <a:rPr lang="zh-CN" altLang="en-US" sz="1200" b="1" dirty="0">
                <a:solidFill>
                  <a:srgbClr val="FF0000"/>
                </a:solidFill>
              </a:rPr>
              <a:t>标记</a:t>
            </a:r>
            <a:r>
              <a:rPr lang="en-US" altLang="zh-CN" sz="1200" b="1" dirty="0">
                <a:solidFill>
                  <a:srgbClr val="FF0000"/>
                </a:solidFill>
              </a:rPr>
              <a:t>tag + </a:t>
            </a:r>
            <a:r>
              <a:rPr lang="zh-CN" altLang="en-US" sz="1200" b="1" dirty="0">
                <a:solidFill>
                  <a:srgbClr val="FF0000"/>
                </a:solidFill>
              </a:rPr>
              <a:t>行索引字段</a:t>
            </a:r>
            <a:r>
              <a:rPr lang="en-US" altLang="zh-CN" sz="1200" b="1" dirty="0">
                <a:solidFill>
                  <a:srgbClr val="FF0000"/>
                </a:solidFill>
              </a:rPr>
              <a:t>index + </a:t>
            </a:r>
            <a:r>
              <a:rPr lang="zh-CN" altLang="en-US" sz="1200" b="1" dirty="0">
                <a:solidFill>
                  <a:srgbClr val="FF0000"/>
                </a:solidFill>
              </a:rPr>
              <a:t>块内偏移</a:t>
            </a:r>
            <a:r>
              <a:rPr lang="en-US" altLang="zh-CN" sz="1200" b="1" dirty="0">
                <a:solidFill>
                  <a:srgbClr val="FF0000"/>
                </a:solidFill>
              </a:rPr>
              <a:t>offset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，因此</a:t>
            </a:r>
            <a:r>
              <a:rPr lang="zh-CN" altLang="en-US" sz="1200" b="1" dirty="0">
                <a:solidFill>
                  <a:srgbClr val="FF0000"/>
                </a:solidFill>
              </a:rPr>
              <a:t>块内偏移</a:t>
            </a:r>
            <a:r>
              <a:rPr lang="en-US" altLang="zh-CN" sz="1200" b="1" dirty="0">
                <a:solidFill>
                  <a:srgbClr val="FF0000"/>
                </a:solidFill>
              </a:rPr>
              <a:t>=5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5</a:t>
            </a:r>
            <a:r>
              <a:rPr lang="en-US" altLang="zh-CN" sz="1200" b="1" dirty="0"/>
              <a:t>=32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en-US" altLang="zh-CN" sz="1200" b="1" dirty="0"/>
              <a:t>cache</a:t>
            </a:r>
            <a:r>
              <a:rPr lang="zh-CN" altLang="en-US" sz="1200" b="1" dirty="0"/>
              <a:t>共有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行，因此</a:t>
            </a:r>
            <a:r>
              <a:rPr lang="zh-CN" altLang="en-US" sz="1200" b="1" dirty="0">
                <a:solidFill>
                  <a:srgbClr val="FF0000"/>
                </a:solidFill>
              </a:rPr>
              <a:t>行索引字段</a:t>
            </a:r>
            <a:r>
              <a:rPr lang="en-US" altLang="zh-CN" sz="1200" b="1" dirty="0">
                <a:solidFill>
                  <a:srgbClr val="FF0000"/>
                </a:solidFill>
              </a:rPr>
              <a:t>=3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3</a:t>
            </a:r>
            <a:r>
              <a:rPr lang="en-US" altLang="zh-CN" sz="1200" b="1" dirty="0"/>
              <a:t>=8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，因此，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>
                <a:solidFill>
                  <a:srgbClr val="FF0000"/>
                </a:solidFill>
              </a:rPr>
              <a:t>=20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20</a:t>
            </a:r>
            <a:r>
              <a:rPr lang="en-US" altLang="zh-CN" sz="1200" b="1" dirty="0"/>
              <a:t>=1M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因此，</a:t>
            </a:r>
            <a:r>
              <a:rPr lang="zh-CN" altLang="en-US" sz="1200" b="1" dirty="0">
                <a:solidFill>
                  <a:srgbClr val="FF0000"/>
                </a:solidFill>
              </a:rPr>
              <a:t>标记</a:t>
            </a:r>
            <a:r>
              <a:rPr lang="en-US" altLang="zh-CN" sz="1200" b="1" dirty="0">
                <a:solidFill>
                  <a:srgbClr val="FF0000"/>
                </a:solidFill>
              </a:rPr>
              <a:t>tag</a:t>
            </a:r>
            <a:r>
              <a:rPr lang="en-US" altLang="zh-CN" sz="1200" b="1" dirty="0"/>
              <a:t>=20-3-5=</a:t>
            </a:r>
            <a:r>
              <a:rPr lang="en-US" altLang="zh-CN" sz="1200" b="1" dirty="0">
                <a:solidFill>
                  <a:srgbClr val="FF0000"/>
                </a:solidFill>
              </a:rPr>
              <a:t>12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物理地址（主存地址）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tag + </a:t>
            </a:r>
            <a:r>
              <a:rPr lang="zh-CN" altLang="en-US" sz="1200" b="1" dirty="0"/>
              <a:t>行索引字段</a:t>
            </a:r>
            <a:r>
              <a:rPr lang="en-US" altLang="zh-CN" sz="1200" b="1" dirty="0"/>
              <a:t>index + </a:t>
            </a:r>
            <a:r>
              <a:rPr lang="zh-CN" altLang="en-US" sz="1200" b="1" dirty="0"/>
              <a:t>块内偏移</a:t>
            </a:r>
            <a:r>
              <a:rPr lang="en-US" altLang="zh-CN" sz="1200" b="1" dirty="0"/>
              <a:t>offset = </a:t>
            </a:r>
            <a:r>
              <a:rPr lang="en-US" altLang="zh-CN" sz="1200" b="1" dirty="0">
                <a:solidFill>
                  <a:srgbClr val="FF0000"/>
                </a:solidFill>
              </a:rPr>
              <a:t>12</a:t>
            </a:r>
            <a:r>
              <a:rPr lang="zh-CN" altLang="en-US" sz="1200" b="1" dirty="0">
                <a:solidFill>
                  <a:srgbClr val="FF0000"/>
                </a:solidFill>
              </a:rPr>
              <a:t>位 </a:t>
            </a:r>
            <a:r>
              <a:rPr lang="en-US" altLang="zh-CN" sz="1200" b="1" dirty="0">
                <a:solidFill>
                  <a:srgbClr val="FF0000"/>
                </a:solidFill>
              </a:rPr>
              <a:t>+ 3</a:t>
            </a:r>
            <a:r>
              <a:rPr lang="zh-CN" altLang="en-US" sz="1200" b="1" dirty="0">
                <a:solidFill>
                  <a:srgbClr val="FF0000"/>
                </a:solidFill>
              </a:rPr>
              <a:t>位 </a:t>
            </a:r>
            <a:r>
              <a:rPr lang="en-US" altLang="zh-CN" sz="1200" b="1" dirty="0">
                <a:solidFill>
                  <a:srgbClr val="FF0000"/>
                </a:solidFill>
              </a:rPr>
              <a:t>+ 5</a:t>
            </a:r>
            <a:r>
              <a:rPr lang="zh-CN" altLang="en-US" sz="1200" b="1" dirty="0">
                <a:solidFill>
                  <a:srgbClr val="FF0000"/>
                </a:solidFill>
              </a:rPr>
              <a:t>位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95934780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r>
              <a:rPr lang="zh-CN" altLang="en-US" sz="1200" b="1" dirty="0">
                <a:solidFill>
                  <a:srgbClr val="FF0000"/>
                </a:solidFill>
              </a:rPr>
              <a:t>）虚拟地址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001C60H</a:t>
            </a:r>
            <a:r>
              <a:rPr lang="zh-CN" altLang="en-US" sz="1200" b="1" dirty="0">
                <a:solidFill>
                  <a:srgbClr val="FF0000"/>
                </a:solidFill>
              </a:rPr>
              <a:t>所在的页面是否在主存中？若在主存中，则该虚拟地址对应的物理地址是什么？访问该地址时</a:t>
            </a:r>
            <a:r>
              <a:rPr lang="en-US" altLang="zh-CN" sz="1200" b="1" dirty="0">
                <a:solidFill>
                  <a:srgbClr val="FF0000"/>
                </a:solidFill>
              </a:rPr>
              <a:t>cache</a:t>
            </a:r>
            <a:r>
              <a:rPr lang="zh-CN" altLang="en-US" sz="1200" b="1" dirty="0">
                <a:solidFill>
                  <a:srgbClr val="FF0000"/>
                </a:solidFill>
              </a:rPr>
              <a:t>是否命中？请说明理由。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400" b="1" dirty="0"/>
              <a:t>解：（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虚拟地址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虚页号</a:t>
            </a:r>
            <a:r>
              <a:rPr lang="en-US" altLang="zh-CN" sz="1200" b="1" dirty="0"/>
              <a:t>+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12</a:t>
            </a:r>
            <a:r>
              <a:rPr lang="zh-CN" altLang="en-US" sz="1200" b="1" dirty="0"/>
              <a:t>位 </a:t>
            </a:r>
            <a:r>
              <a:rPr lang="en-US" altLang="zh-CN" sz="1200" b="1" dirty="0"/>
              <a:t>+ 12</a:t>
            </a:r>
            <a:r>
              <a:rPr lang="zh-CN" altLang="en-US" sz="1200" b="1" dirty="0"/>
              <a:t>位；虚拟地址</a:t>
            </a:r>
            <a:r>
              <a:rPr lang="en-US" altLang="zh-CN" sz="1200" b="1" dirty="0"/>
              <a:t>001C60H = 001H + C60H</a:t>
            </a:r>
            <a:r>
              <a:rPr lang="zh-CN" altLang="en-US" sz="1200" b="1" dirty="0"/>
              <a:t>；虚页号</a:t>
            </a:r>
            <a:r>
              <a:rPr lang="en-US" altLang="zh-CN" sz="1200" b="1" dirty="0"/>
              <a:t>=001=</a:t>
            </a:r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r>
              <a:rPr lang="zh-CN" altLang="en-US" sz="1200" b="1" dirty="0"/>
              <a:t>，查页表（图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）），有效位</a:t>
            </a:r>
            <a:r>
              <a:rPr lang="en-US" altLang="zh-CN" sz="1200" b="1" dirty="0"/>
              <a:t>=</a:t>
            </a:r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r>
              <a:rPr lang="zh-CN" altLang="en-US" sz="1200" b="1" dirty="0"/>
              <a:t>，表示</a:t>
            </a:r>
            <a:r>
              <a:rPr lang="zh-CN" altLang="en-US" sz="1200" b="1" dirty="0">
                <a:solidFill>
                  <a:srgbClr val="FF0000"/>
                </a:solidFill>
              </a:rPr>
              <a:t>命中</a:t>
            </a:r>
            <a:r>
              <a:rPr lang="zh-CN" altLang="en-US" sz="1200" b="1" dirty="0"/>
              <a:t>，即虚拟地址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</a:t>
            </a:r>
            <a:r>
              <a:rPr lang="zh-CN" altLang="en-US" sz="1200" b="1" dirty="0">
                <a:solidFill>
                  <a:srgbClr val="FF0000"/>
                </a:solidFill>
              </a:rPr>
              <a:t>页面在主存中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由图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），该虚拟地址其对应的页框号</a:t>
            </a:r>
            <a:r>
              <a:rPr lang="en-US" altLang="zh-CN" sz="1200" b="1" dirty="0"/>
              <a:t>=</a:t>
            </a:r>
            <a:r>
              <a:rPr lang="en-US" altLang="zh-CN" sz="1200" b="1" dirty="0">
                <a:solidFill>
                  <a:srgbClr val="FF0000"/>
                </a:solidFill>
              </a:rPr>
              <a:t>04</a:t>
            </a:r>
            <a:r>
              <a:rPr lang="zh-CN" altLang="en-US" sz="1200" b="1" dirty="0"/>
              <a:t>；因此，</a:t>
            </a:r>
            <a:r>
              <a:rPr lang="zh-CN" altLang="en-US" sz="1200" b="1" dirty="0">
                <a:solidFill>
                  <a:srgbClr val="FF0000"/>
                </a:solidFill>
              </a:rPr>
              <a:t>物理地址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</a:t>
            </a:r>
            <a:r>
              <a:rPr lang="zh-CN" altLang="en-US" sz="1200" b="1" dirty="0"/>
              <a:t>页偏移</a:t>
            </a:r>
            <a:r>
              <a:rPr lang="en-US" altLang="zh-CN" sz="1200" b="1" dirty="0"/>
              <a:t>=04 + C60H = </a:t>
            </a:r>
            <a:r>
              <a:rPr lang="en-US" altLang="zh-CN" sz="1200" b="1" dirty="0">
                <a:solidFill>
                  <a:srgbClr val="FF0000"/>
                </a:solidFill>
              </a:rPr>
              <a:t>04C60H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又根据：物理地址（主存地址）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tag + </a:t>
            </a:r>
            <a:r>
              <a:rPr lang="zh-CN" altLang="en-US" sz="1200" b="1" dirty="0"/>
              <a:t>行索引字段</a:t>
            </a:r>
            <a:r>
              <a:rPr lang="en-US" altLang="zh-CN" sz="1200" b="1" dirty="0"/>
              <a:t>index + </a:t>
            </a:r>
            <a:r>
              <a:rPr lang="zh-CN" altLang="en-US" sz="1200" b="1" dirty="0"/>
              <a:t>块内偏移</a:t>
            </a:r>
            <a:r>
              <a:rPr lang="en-US" altLang="zh-CN" sz="1200" b="1" dirty="0"/>
              <a:t>offset=12</a:t>
            </a:r>
            <a:r>
              <a:rPr lang="zh-CN" altLang="en-US" sz="1200" b="1" dirty="0"/>
              <a:t>位</a:t>
            </a:r>
            <a:r>
              <a:rPr lang="en-US" altLang="zh-CN" sz="1200" b="1" dirty="0"/>
              <a:t>+3</a:t>
            </a:r>
            <a:r>
              <a:rPr lang="zh-CN" altLang="en-US" sz="1200" b="1" dirty="0"/>
              <a:t>位</a:t>
            </a:r>
            <a:r>
              <a:rPr lang="en-US" altLang="zh-CN" sz="1200" b="1" dirty="0"/>
              <a:t>+5</a:t>
            </a:r>
            <a:r>
              <a:rPr lang="zh-CN" altLang="en-US" sz="1200" b="1" dirty="0"/>
              <a:t>位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物理地址（主存地址）</a:t>
            </a:r>
            <a:r>
              <a:rPr lang="en-US" altLang="zh-CN" sz="1200" b="1" dirty="0"/>
              <a:t>=04C60H = </a:t>
            </a:r>
            <a:r>
              <a:rPr lang="en-US" altLang="zh-CN" sz="1200" b="1" dirty="0">
                <a:solidFill>
                  <a:srgbClr val="00B050"/>
                </a:solidFill>
              </a:rPr>
              <a:t>0000 0100 1100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rgbClr val="7030A0"/>
                </a:solidFill>
              </a:rPr>
              <a:t>011</a:t>
            </a:r>
            <a:r>
              <a:rPr lang="en-US" altLang="zh-CN" sz="1200" b="1" dirty="0">
                <a:solidFill>
                  <a:srgbClr val="00B0F0"/>
                </a:solidFill>
              </a:rPr>
              <a:t>0 0000</a:t>
            </a:r>
            <a:r>
              <a:rPr lang="en-US" altLang="zh-CN" sz="1200" b="1" dirty="0"/>
              <a:t> = 04C + 3 + 0</a:t>
            </a:r>
            <a:r>
              <a:rPr lang="zh-CN" altLang="en-US" sz="1200" b="1" dirty="0"/>
              <a:t>；标记</a:t>
            </a:r>
            <a:r>
              <a:rPr lang="en-US" altLang="zh-CN" sz="1200" b="1" dirty="0"/>
              <a:t>=04C</a:t>
            </a:r>
            <a:r>
              <a:rPr lang="zh-CN" altLang="en-US" sz="1200" b="1" dirty="0"/>
              <a:t>，行索引字段</a:t>
            </a:r>
            <a:r>
              <a:rPr lang="en-US" altLang="zh-CN" sz="1200" b="1" dirty="0"/>
              <a:t>=011=3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根据行索引字段</a:t>
            </a:r>
            <a:r>
              <a:rPr lang="en-US" altLang="zh-CN" sz="1200" b="1" dirty="0"/>
              <a:t>=</a:t>
            </a:r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r>
              <a:rPr lang="zh-CN" altLang="en-US" sz="1200" b="1" dirty="0"/>
              <a:t>，查图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），有效位</a:t>
            </a:r>
            <a:r>
              <a:rPr lang="en-US" altLang="zh-CN" sz="1200" b="1" dirty="0"/>
              <a:t>=</a:t>
            </a:r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r>
              <a:rPr lang="zh-CN" altLang="en-US" sz="1200" b="1" dirty="0"/>
              <a:t>，但是标记</a:t>
            </a:r>
            <a:r>
              <a:rPr lang="en-US" altLang="zh-CN" sz="1200" b="1" dirty="0"/>
              <a:t>=</a:t>
            </a:r>
            <a:r>
              <a:rPr lang="en-US" altLang="zh-CN" sz="1200" b="1" dirty="0">
                <a:solidFill>
                  <a:srgbClr val="FF0000"/>
                </a:solidFill>
              </a:rPr>
              <a:t>105</a:t>
            </a:r>
            <a:r>
              <a:rPr lang="zh-CN" altLang="en-US" sz="1200" b="1" dirty="0"/>
              <a:t>，与主存地址的标记</a:t>
            </a:r>
            <a:r>
              <a:rPr lang="en-US" altLang="zh-CN" sz="1200" b="1" dirty="0"/>
              <a:t>04C</a:t>
            </a:r>
            <a:r>
              <a:rPr lang="zh-CN" altLang="en-US" sz="1200" b="1" dirty="0"/>
              <a:t>，不相等，表示</a:t>
            </a:r>
            <a:r>
              <a:rPr lang="en-US" altLang="zh-CN" sz="1200" b="1" dirty="0">
                <a:solidFill>
                  <a:srgbClr val="FF0000"/>
                </a:solidFill>
              </a:rPr>
              <a:t>cache</a:t>
            </a:r>
            <a:r>
              <a:rPr lang="zh-CN" altLang="en-US" sz="1200" b="1" dirty="0">
                <a:solidFill>
                  <a:srgbClr val="FF0000"/>
                </a:solidFill>
              </a:rPr>
              <a:t>不命中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7EE80-40F3-4090-94A9-D0AA9B76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5257056"/>
            <a:ext cx="1292291" cy="15844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98E70-9A5F-4209-934A-5FCAA04B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5304173"/>
            <a:ext cx="1266040" cy="149017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65D0575-2B4E-4D01-AFA1-B04EA403300D}"/>
              </a:ext>
            </a:extLst>
          </p:cNvPr>
          <p:cNvCxnSpPr/>
          <p:nvPr/>
        </p:nvCxnSpPr>
        <p:spPr>
          <a:xfrm>
            <a:off x="4716016" y="5157192"/>
            <a:ext cx="648072" cy="792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621AE41-3F40-42EA-8405-24CAA582E5EC}"/>
              </a:ext>
            </a:extLst>
          </p:cNvPr>
          <p:cNvCxnSpPr/>
          <p:nvPr/>
        </p:nvCxnSpPr>
        <p:spPr>
          <a:xfrm>
            <a:off x="2051720" y="3212976"/>
            <a:ext cx="720080" cy="2448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70211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r>
              <a:rPr lang="zh-CN" altLang="en-US" sz="1200" b="1" dirty="0">
                <a:solidFill>
                  <a:srgbClr val="FF0000"/>
                </a:solidFill>
              </a:rPr>
              <a:t>）假设为该计算机配置一个四路组相联的</a:t>
            </a:r>
            <a:r>
              <a:rPr lang="en-US" altLang="zh-CN" sz="1200" b="1" dirty="0">
                <a:solidFill>
                  <a:srgbClr val="FF0000"/>
                </a:solidFill>
              </a:rPr>
              <a:t>TLB</a:t>
            </a:r>
            <a:r>
              <a:rPr lang="zh-CN" altLang="en-US" sz="1200" b="1" dirty="0">
                <a:solidFill>
                  <a:srgbClr val="FF0000"/>
                </a:solidFill>
              </a:rPr>
              <a:t>（可存放</a:t>
            </a:r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r>
              <a:rPr lang="zh-CN" altLang="en-US" sz="1200" b="1" dirty="0">
                <a:solidFill>
                  <a:srgbClr val="FF0000"/>
                </a:solidFill>
              </a:rPr>
              <a:t>个页表项），若其当前内容如图</a:t>
            </a:r>
            <a:r>
              <a:rPr lang="en-US" altLang="zh-CN" sz="1200" b="1" dirty="0">
                <a:solidFill>
                  <a:srgbClr val="FF0000"/>
                </a:solidFill>
              </a:rPr>
              <a:t>4.56</a:t>
            </a:r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</a:rPr>
              <a:t>）所示（十六进制），则此时虚拟地址</a:t>
            </a:r>
            <a:r>
              <a:rPr lang="en-US" altLang="zh-CN" sz="1200" b="1" dirty="0">
                <a:solidFill>
                  <a:srgbClr val="FF0000"/>
                </a:solidFill>
              </a:rPr>
              <a:t>024BACH</a:t>
            </a:r>
            <a:r>
              <a:rPr lang="zh-CN" altLang="en-US" sz="1200" b="1" dirty="0">
                <a:solidFill>
                  <a:srgbClr val="FF0000"/>
                </a:solidFill>
              </a:rPr>
              <a:t>所在的页面是否存在于主存中？请说明理由。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endParaRPr lang="en-US" altLang="zh-CN" sz="1200" b="1" dirty="0"/>
          </a:p>
          <a:p>
            <a:r>
              <a:rPr lang="zh-CN" altLang="en-US" sz="1400" b="1" dirty="0"/>
              <a:t>解：（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，虚拟地址（</a:t>
            </a:r>
            <a:r>
              <a:rPr lang="en-US" altLang="zh-CN" sz="1200" b="1" dirty="0"/>
              <a:t>24</a:t>
            </a:r>
            <a:r>
              <a:rPr lang="zh-CN" altLang="en-US" sz="1200" b="1" dirty="0"/>
              <a:t>位）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虚页号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因为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只有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个页表项，四路组相联映射的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有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组、每组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行，即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位（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1</a:t>
            </a:r>
            <a:r>
              <a:rPr lang="en-US" altLang="zh-CN" sz="1200" b="1" dirty="0"/>
              <a:t>=2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页偏移</a:t>
            </a:r>
            <a:r>
              <a:rPr lang="en-US" altLang="zh-CN" sz="1200" b="1" dirty="0"/>
              <a:t>=12</a:t>
            </a:r>
            <a:r>
              <a:rPr lang="zh-CN" altLang="en-US" sz="1200" b="1" dirty="0"/>
              <a:t>位，因此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=24-1-12=11</a:t>
            </a:r>
            <a:r>
              <a:rPr lang="zh-CN" altLang="en-US" sz="1200" b="1" dirty="0"/>
              <a:t>位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虚拟地址</a:t>
            </a:r>
            <a:r>
              <a:rPr lang="en-US" altLang="zh-CN" sz="1200" b="1" dirty="0"/>
              <a:t>=024BACH= </a:t>
            </a:r>
            <a:r>
              <a:rPr lang="en-US" altLang="zh-CN" sz="1200" b="1" dirty="0">
                <a:solidFill>
                  <a:srgbClr val="00B050"/>
                </a:solidFill>
              </a:rPr>
              <a:t>0000 0010 010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rgbClr val="7030A0"/>
                </a:solidFill>
              </a:rPr>
              <a:t>1011 1010 1100</a:t>
            </a:r>
            <a:r>
              <a:rPr lang="en-US" altLang="zh-CN" sz="1200" b="1" dirty="0"/>
              <a:t> 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r>
              <a:rPr lang="en-US" altLang="zh-CN" sz="1200" b="1" dirty="0"/>
              <a:t>=12H + 0 + BACH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，表示是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solidFill>
                  <a:srgbClr val="FF0000"/>
                </a:solidFill>
              </a:rPr>
              <a:t>第</a:t>
            </a:r>
            <a:r>
              <a:rPr lang="en-US" altLang="zh-CN" sz="1200" b="1" dirty="0">
                <a:solidFill>
                  <a:srgbClr val="FF0000"/>
                </a:solidFill>
              </a:rPr>
              <a:t>0</a:t>
            </a:r>
            <a:r>
              <a:rPr lang="zh-CN" altLang="en-US" sz="1200" b="1" dirty="0">
                <a:solidFill>
                  <a:srgbClr val="FF0000"/>
                </a:solidFill>
              </a:rPr>
              <a:t>组</a:t>
            </a:r>
            <a:r>
              <a:rPr lang="zh-CN" altLang="en-US" sz="1200" b="1" dirty="0"/>
              <a:t>；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=0000 0010 010=</a:t>
            </a:r>
            <a:r>
              <a:rPr lang="en-US" altLang="zh-CN" sz="1200" b="1" dirty="0">
                <a:solidFill>
                  <a:srgbClr val="FF0000"/>
                </a:solidFill>
              </a:rPr>
              <a:t>012H</a:t>
            </a:r>
            <a:r>
              <a:rPr lang="zh-CN" altLang="en-US" sz="1200" b="1" dirty="0"/>
              <a:t>，查图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），有效位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，表示</a:t>
            </a:r>
            <a:r>
              <a:rPr lang="zh-CN" altLang="en-US" sz="1200" b="1" dirty="0">
                <a:solidFill>
                  <a:srgbClr val="FF0000"/>
                </a:solidFill>
              </a:rPr>
              <a:t>页面在主存中</a:t>
            </a:r>
            <a:r>
              <a:rPr lang="zh-CN" altLang="en-US" sz="1200" b="1" dirty="0"/>
              <a:t>；页框号</a:t>
            </a:r>
            <a:r>
              <a:rPr lang="en-US" altLang="zh-CN" sz="1200" b="1" dirty="0"/>
              <a:t>=1FH</a:t>
            </a:r>
            <a:r>
              <a:rPr lang="zh-CN" altLang="en-US" sz="1200" b="1" dirty="0"/>
              <a:t>，则</a:t>
            </a:r>
            <a:r>
              <a:rPr lang="zh-CN" altLang="en-US" sz="1200" b="1" dirty="0">
                <a:solidFill>
                  <a:srgbClr val="FF0000"/>
                </a:solidFill>
              </a:rPr>
              <a:t>主存地址（物理地址）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1FH + BACH = </a:t>
            </a:r>
            <a:r>
              <a:rPr lang="en-US" altLang="zh-CN" sz="1200" b="1" dirty="0">
                <a:solidFill>
                  <a:srgbClr val="FF0000"/>
                </a:solidFill>
              </a:rPr>
              <a:t>1FBACH</a:t>
            </a: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zh-CN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4E2BC4-A581-412A-992E-F7964407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5373216"/>
            <a:ext cx="5703270" cy="1306657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B80258-9E57-4C1A-9B67-AFC01861DDBE}"/>
              </a:ext>
            </a:extLst>
          </p:cNvPr>
          <p:cNvCxnSpPr/>
          <p:nvPr/>
        </p:nvCxnSpPr>
        <p:spPr>
          <a:xfrm flipH="1">
            <a:off x="2123728" y="4725144"/>
            <a:ext cx="1224136" cy="1301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7D0798E-389F-4A2A-AAD3-C348031E7C0E}"/>
              </a:ext>
            </a:extLst>
          </p:cNvPr>
          <p:cNvCxnSpPr>
            <a:cxnSpLocks/>
          </p:cNvCxnSpPr>
          <p:nvPr/>
        </p:nvCxnSpPr>
        <p:spPr>
          <a:xfrm>
            <a:off x="5436096" y="4725144"/>
            <a:ext cx="1440160" cy="1152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93671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ABCAA924-FA1B-4DEE-9DF5-E49CBFFEB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7ADDD4-B122-48C2-9DAA-1B072C8A0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存储器的分类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按存储介质分类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按存取方式分类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按信息的可改写性分类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按信息的可保存性分类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按功能和存取速度分类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1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存储器技术指标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存储容量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存取速度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1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存储系统层次结构</a:t>
            </a:r>
            <a:endParaRPr lang="en-US" altLang="zh-CN" sz="1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主存的基本结构</a:t>
            </a:r>
            <a:endParaRPr lang="en-US" altLang="zh-CN" sz="1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主存中数据的存放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存储字长、数据字长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地址访问模式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小端方式（</a:t>
            </a:r>
            <a:r>
              <a:rPr lang="en-US" altLang="zh-CN" sz="1400" b="1" dirty="0"/>
              <a:t>Little-Endian</a:t>
            </a:r>
            <a:r>
              <a:rPr lang="zh-CN" altLang="en-US" sz="1400" b="1" dirty="0"/>
              <a:t>）、大端方式（</a:t>
            </a:r>
            <a:r>
              <a:rPr lang="en-US" altLang="zh-CN" sz="1400" b="1" dirty="0"/>
              <a:t>Big-Endian</a:t>
            </a:r>
            <a:r>
              <a:rPr lang="zh-CN" altLang="en-US" sz="1400" b="1" dirty="0"/>
              <a:t>）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数据的边界对齐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5E09EC-44A7-4D00-B4B2-33D8D874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103" y="3284984"/>
            <a:ext cx="4618385" cy="241503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2ACE74A-9FCA-4181-8940-C9CA2F6E7FD2}"/>
              </a:ext>
            </a:extLst>
          </p:cNvPr>
          <p:cNvCxnSpPr>
            <a:cxnSpLocks/>
          </p:cNvCxnSpPr>
          <p:nvPr/>
        </p:nvCxnSpPr>
        <p:spPr>
          <a:xfrm>
            <a:off x="2771800" y="4437112"/>
            <a:ext cx="15841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385868-5693-4CDE-9170-2269FB56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静态</a:t>
            </a:r>
            <a:r>
              <a:rPr lang="en-US" altLang="zh-CN" sz="1800" b="1" dirty="0"/>
              <a:t>MOS</a:t>
            </a:r>
            <a:r>
              <a:rPr lang="zh-CN" altLang="en-US" sz="1800" b="1" dirty="0"/>
              <a:t>存储器：静态随机存取存储器（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）</a:t>
            </a:r>
          </a:p>
          <a:p>
            <a:pPr lvl="1"/>
            <a:r>
              <a:rPr lang="zh-CN" altLang="en-US" sz="1400" b="1" dirty="0"/>
              <a:t>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存储单元：</a:t>
            </a:r>
            <a:endParaRPr lang="en-US" altLang="zh-CN" sz="1400" b="1" dirty="0"/>
          </a:p>
          <a:p>
            <a:pPr lvl="2"/>
            <a:r>
              <a:rPr lang="en-US" altLang="zh-CN" sz="1000" b="1" dirty="0"/>
              <a:t>6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MOS</a:t>
            </a:r>
            <a:r>
              <a:rPr lang="zh-CN" altLang="en-US" sz="1000" b="1" dirty="0"/>
              <a:t>管，存放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位二进制数</a:t>
            </a:r>
          </a:p>
          <a:p>
            <a:pPr lvl="1"/>
            <a:r>
              <a:rPr lang="zh-CN" altLang="en-US" sz="1400" b="1" dirty="0"/>
              <a:t>存储单元扩展：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行扩展，行列扩展</a:t>
            </a:r>
          </a:p>
          <a:p>
            <a:pPr lvl="1"/>
            <a:r>
              <a:rPr lang="zh-CN" altLang="en-US" sz="1400" b="1" dirty="0"/>
              <a:t>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存储器的结构</a:t>
            </a:r>
          </a:p>
          <a:p>
            <a:pPr lvl="1"/>
            <a:r>
              <a:rPr lang="zh-CN" altLang="en-US" sz="1400" b="1" dirty="0"/>
              <a:t>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存储器芯片实例：</a:t>
            </a:r>
            <a:endParaRPr lang="en-US" altLang="zh-CN" sz="1400" b="1" dirty="0"/>
          </a:p>
          <a:p>
            <a:pPr lvl="2"/>
            <a:r>
              <a:rPr lang="en-US" altLang="zh-CN" sz="1000" b="1" dirty="0"/>
              <a:t>Intel 2114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1Kx4</a:t>
            </a:r>
            <a:r>
              <a:rPr lang="zh-CN" altLang="en-US" sz="1000" b="1" dirty="0"/>
              <a:t>位</a:t>
            </a:r>
          </a:p>
          <a:p>
            <a:pPr lvl="1"/>
            <a:r>
              <a:rPr lang="en-US" altLang="zh-CN" sz="1400" b="1" dirty="0"/>
              <a:t>SRAM</a:t>
            </a:r>
            <a:r>
              <a:rPr lang="zh-CN" altLang="en-US" sz="1400" b="1" dirty="0"/>
              <a:t>读写时序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endParaRPr lang="en-US" altLang="zh-CN" sz="1400" b="1" dirty="0"/>
          </a:p>
          <a:p>
            <a:r>
              <a:rPr lang="zh-CN" altLang="en-US" sz="1800" b="1" dirty="0"/>
              <a:t>动态</a:t>
            </a:r>
            <a:r>
              <a:rPr lang="en-US" altLang="zh-CN" sz="1800" b="1" dirty="0"/>
              <a:t>MOS</a:t>
            </a:r>
            <a:r>
              <a:rPr lang="zh-CN" altLang="en-US" sz="1800" b="1" dirty="0"/>
              <a:t>存储器：动态随机存取存储器（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）</a:t>
            </a:r>
          </a:p>
          <a:p>
            <a:pPr lvl="1"/>
            <a:r>
              <a:rPr lang="zh-CN" altLang="en-US" sz="1400" b="1" dirty="0"/>
              <a:t>单管动态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存储单元：</a:t>
            </a:r>
            <a:endParaRPr lang="en-US" altLang="zh-CN" sz="1400" b="1" dirty="0"/>
          </a:p>
          <a:p>
            <a:pPr lvl="2"/>
            <a:r>
              <a:rPr lang="en-US" altLang="zh-CN" sz="1000" b="1" dirty="0"/>
              <a:t>1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MOS</a:t>
            </a:r>
            <a:r>
              <a:rPr lang="zh-CN" altLang="en-US" sz="1000" b="1" dirty="0"/>
              <a:t>管和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个电容，存放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位二进制数</a:t>
            </a:r>
          </a:p>
          <a:p>
            <a:pPr lvl="1"/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工作原理</a:t>
            </a:r>
            <a:endParaRPr lang="en-US" altLang="zh-CN" sz="1400" b="1" dirty="0"/>
          </a:p>
          <a:p>
            <a:pPr lvl="1"/>
            <a:r>
              <a:rPr lang="zh-CN" altLang="en-US" sz="1400" b="1" dirty="0"/>
              <a:t>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存储的刷新：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按行刷新（每次刷新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行）</a:t>
            </a:r>
            <a:endParaRPr lang="en-US" altLang="zh-CN" sz="1000" b="1" dirty="0"/>
          </a:p>
          <a:p>
            <a:pPr lvl="2"/>
            <a:r>
              <a:rPr lang="zh-CN" altLang="en-US" sz="1000" b="1" dirty="0"/>
              <a:t>集中刷新方式、分散刷新方式、异步刷新方式</a:t>
            </a:r>
          </a:p>
          <a:p>
            <a:pPr lvl="1"/>
            <a:r>
              <a:rPr lang="zh-CN" altLang="en-US" sz="1400" b="1" dirty="0"/>
              <a:t>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存储芯片举例：</a:t>
            </a:r>
            <a:endParaRPr lang="en-US" altLang="zh-CN" sz="1400" b="1" dirty="0"/>
          </a:p>
          <a:p>
            <a:pPr lvl="2"/>
            <a:r>
              <a:rPr lang="en-US" altLang="zh-CN" sz="1000" b="1" dirty="0"/>
              <a:t>Intel 2116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16Kx1</a:t>
            </a:r>
            <a:r>
              <a:rPr lang="zh-CN" altLang="en-US" sz="1000" b="1" dirty="0"/>
              <a:t>位</a:t>
            </a:r>
            <a:endParaRPr lang="en-US" altLang="zh-CN" sz="1000" b="1" dirty="0"/>
          </a:p>
          <a:p>
            <a:pPr lvl="2"/>
            <a:r>
              <a:rPr lang="zh-CN" altLang="en-US" sz="1000" b="1" dirty="0"/>
              <a:t>行地址和列地址分开</a:t>
            </a:r>
            <a:endParaRPr lang="en-US" altLang="zh-CN" sz="1000" b="1" dirty="0"/>
          </a:p>
          <a:p>
            <a:pPr lvl="2"/>
            <a:r>
              <a:rPr lang="en-US" altLang="zh-CN" sz="1000" b="1" dirty="0"/>
              <a:t>/RAS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/CAS</a:t>
            </a:r>
            <a:endParaRPr lang="zh-CN" altLang="en-US" sz="1000" b="1" dirty="0"/>
          </a:p>
          <a:p>
            <a:pPr lvl="1"/>
            <a:r>
              <a:rPr lang="zh-CN" altLang="en-US" sz="1400" b="1" dirty="0"/>
              <a:t>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存储器的读写周期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5EE620-75D0-4987-9A10-F512E10C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020" y="764704"/>
            <a:ext cx="2958913" cy="2130626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968AC67-81B6-4374-BA9D-097F5F05F08E}"/>
              </a:ext>
            </a:extLst>
          </p:cNvPr>
          <p:cNvCxnSpPr>
            <a:cxnSpLocks/>
          </p:cNvCxnSpPr>
          <p:nvPr/>
        </p:nvCxnSpPr>
        <p:spPr>
          <a:xfrm flipV="1">
            <a:off x="3131840" y="1412776"/>
            <a:ext cx="2592288" cy="417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C202657-B0F5-4853-9EA2-A58689D37307}"/>
              </a:ext>
            </a:extLst>
          </p:cNvPr>
          <p:cNvGrpSpPr/>
          <p:nvPr/>
        </p:nvGrpSpPr>
        <p:grpSpPr>
          <a:xfrm>
            <a:off x="6300192" y="4061216"/>
            <a:ext cx="2520280" cy="2258556"/>
            <a:chOff x="6300192" y="4061216"/>
            <a:chExt cx="2520280" cy="225855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0D0CA67-259C-4BA1-AD07-311E41612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0192" y="4061216"/>
              <a:ext cx="2520280" cy="188283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E9EEABC-8D22-40CD-91F1-F70BB63303E8}"/>
                </a:ext>
              </a:extLst>
            </p:cNvPr>
            <p:cNvSpPr txBox="1"/>
            <p:nvPr/>
          </p:nvSpPr>
          <p:spPr>
            <a:xfrm>
              <a:off x="6516216" y="6073551"/>
              <a:ext cx="147989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图</a:t>
              </a:r>
              <a:r>
                <a:rPr lang="en-US" altLang="zh-CN" sz="1000" b="1" dirty="0"/>
                <a:t>4.11    Intel 2114 </a:t>
              </a:r>
              <a:r>
                <a:rPr lang="zh-CN" altLang="en-US" sz="1000" b="1" dirty="0"/>
                <a:t>结构</a:t>
              </a:r>
            </a:p>
          </p:txBody>
        </p:sp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1C28590-15A0-4395-A9A6-E79C577E8EB5}"/>
              </a:ext>
            </a:extLst>
          </p:cNvPr>
          <p:cNvCxnSpPr>
            <a:cxnSpLocks/>
          </p:cNvCxnSpPr>
          <p:nvPr/>
        </p:nvCxnSpPr>
        <p:spPr>
          <a:xfrm>
            <a:off x="3203848" y="4941168"/>
            <a:ext cx="288032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52852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54E148-D2B5-44E2-A382-25A695228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只读存储器</a:t>
            </a:r>
            <a:r>
              <a:rPr lang="en-US" altLang="zh-CN" sz="1800" b="1" dirty="0"/>
              <a:t>ROM</a:t>
            </a:r>
            <a:r>
              <a:rPr lang="zh-CN" altLang="en-US" sz="1800" b="1" dirty="0"/>
              <a:t>：</a:t>
            </a:r>
          </a:p>
          <a:p>
            <a:pPr lvl="1"/>
            <a:r>
              <a:rPr lang="zh-CN" altLang="en-US" sz="1400" b="1" dirty="0"/>
              <a:t>掩模式只读存储器：</a:t>
            </a:r>
            <a:r>
              <a:rPr lang="en-US" altLang="zh-CN" sz="1400" b="1" dirty="0"/>
              <a:t>MROM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Mask ROM</a:t>
            </a:r>
          </a:p>
          <a:p>
            <a:pPr lvl="1"/>
            <a:r>
              <a:rPr lang="zh-CN" altLang="en-US" sz="1400" b="1" dirty="0"/>
              <a:t>可编程只读存储器：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Programmable ROM</a:t>
            </a:r>
          </a:p>
          <a:p>
            <a:pPr lvl="1"/>
            <a:r>
              <a:rPr lang="zh-CN" altLang="en-US" sz="1400" b="1" dirty="0"/>
              <a:t>可擦除可编程只读存储器：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Erasable Programmable ROM</a:t>
            </a:r>
          </a:p>
          <a:p>
            <a:pPr lvl="1"/>
            <a:r>
              <a:rPr lang="zh-CN" altLang="en-US" sz="1400" b="1" dirty="0"/>
              <a:t>电可擦除可编程只读存储器：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Electrically Erasable Programmable 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</a:p>
          <a:p>
            <a:pPr lvl="1"/>
            <a:r>
              <a:rPr lang="zh-CN" altLang="en-US" sz="1400" b="1" dirty="0"/>
              <a:t>闪存：</a:t>
            </a:r>
            <a:r>
              <a:rPr lang="en-US" altLang="zh-CN" sz="1400" b="1" dirty="0"/>
              <a:t>Flash ROM</a:t>
            </a:r>
          </a:p>
          <a:p>
            <a:pPr lvl="2"/>
            <a:r>
              <a:rPr lang="en-US" altLang="zh-CN" sz="1200" b="1" dirty="0"/>
              <a:t>NOR Flash</a:t>
            </a:r>
            <a:r>
              <a:rPr lang="zh-CN" altLang="en-US" sz="1200" b="1" dirty="0"/>
              <a:t>（容量小、价格高、随机读写）</a:t>
            </a:r>
          </a:p>
          <a:p>
            <a:pPr lvl="2"/>
            <a:r>
              <a:rPr lang="en-US" altLang="zh-CN" sz="1200" b="1" dirty="0"/>
              <a:t>NAND Flash</a:t>
            </a:r>
            <a:r>
              <a:rPr lang="zh-CN" altLang="en-US" sz="1200" b="1" dirty="0"/>
              <a:t>（容量大、价格低、顺序读写）</a:t>
            </a:r>
            <a:endParaRPr lang="en-US" altLang="zh-CN" sz="1000" b="1" dirty="0"/>
          </a:p>
          <a:p>
            <a:pPr lvl="2"/>
            <a:endParaRPr lang="en-US" altLang="zh-CN" sz="1000" b="1" dirty="0"/>
          </a:p>
          <a:p>
            <a:endParaRPr lang="en-US" altLang="zh-CN" sz="1800" b="1" dirty="0"/>
          </a:p>
          <a:p>
            <a:r>
              <a:rPr lang="en-US" altLang="zh-CN" sz="1800" b="1" dirty="0"/>
              <a:t>DRAM</a:t>
            </a:r>
            <a:r>
              <a:rPr lang="zh-CN" altLang="en-US" sz="1800" b="1" dirty="0"/>
              <a:t>的发展：</a:t>
            </a:r>
          </a:p>
          <a:p>
            <a:pPr lvl="1"/>
            <a:r>
              <a:rPr lang="en-US" altLang="zh-CN" sz="1400" b="1" dirty="0"/>
              <a:t>FPM-DRAM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Fast Page Mode DRAM</a:t>
            </a:r>
            <a:r>
              <a:rPr lang="zh-CN" altLang="en-US" sz="1400" b="1" dirty="0"/>
              <a:t>，快页模式</a:t>
            </a:r>
            <a:r>
              <a:rPr lang="en-US" altLang="zh-CN" sz="1400" b="1" dirty="0"/>
              <a:t>DRAM</a:t>
            </a:r>
          </a:p>
          <a:p>
            <a:pPr lvl="1"/>
            <a:r>
              <a:rPr lang="en-US" altLang="zh-CN" sz="1400" b="1" dirty="0"/>
              <a:t>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 Data Out DRAM</a:t>
            </a:r>
            <a:r>
              <a:rPr lang="zh-CN" altLang="en-US" sz="1400" b="1" dirty="0"/>
              <a:t>，扩展数据输出</a:t>
            </a:r>
            <a:r>
              <a:rPr lang="en-US" altLang="zh-CN" sz="1400" b="1" dirty="0"/>
              <a:t>DRAM</a:t>
            </a:r>
          </a:p>
          <a:p>
            <a:pPr lvl="1"/>
            <a:r>
              <a:rPr lang="en-US" altLang="zh-CN" sz="1400" b="1" dirty="0"/>
              <a:t>BEDO-DRAM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Burst Extend Data Out DRAM</a:t>
            </a:r>
            <a:r>
              <a:rPr lang="zh-CN" altLang="en-US" sz="1400" b="1" dirty="0"/>
              <a:t>，突发式扩展数据输出</a:t>
            </a:r>
            <a:r>
              <a:rPr lang="en-US" altLang="zh-CN" sz="1400" b="1" dirty="0"/>
              <a:t>DRAM</a:t>
            </a:r>
          </a:p>
          <a:p>
            <a:pPr lvl="1"/>
            <a:r>
              <a:rPr lang="en-US" altLang="zh-CN" sz="1400" b="1" dirty="0"/>
              <a:t>SDRAM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Synchronous DRAM</a:t>
            </a:r>
            <a:r>
              <a:rPr lang="zh-CN" altLang="en-US" sz="1400" b="1" dirty="0"/>
              <a:t>，同步</a:t>
            </a:r>
            <a:r>
              <a:rPr lang="en-US" altLang="zh-CN" sz="1400" b="1" dirty="0"/>
              <a:t>DRAM</a:t>
            </a:r>
          </a:p>
          <a:p>
            <a:pPr lvl="1"/>
            <a:r>
              <a:rPr lang="en-US" altLang="zh-CN" sz="1400" b="1" dirty="0"/>
              <a:t>DDR SDRAM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Double Data Rate</a:t>
            </a:r>
            <a:r>
              <a:rPr lang="zh-CN" altLang="en-US" sz="1400" b="1" dirty="0"/>
              <a:t>，双倍数据速率同步</a:t>
            </a:r>
            <a:r>
              <a:rPr lang="en-US" altLang="zh-CN" sz="1400" b="1" dirty="0"/>
              <a:t>DRAM</a:t>
            </a:r>
          </a:p>
          <a:p>
            <a:pPr lvl="2"/>
            <a:r>
              <a:rPr lang="en-US" altLang="zh-CN" sz="1200" b="1" dirty="0"/>
              <a:t>DDR2 SDRAM</a:t>
            </a:r>
          </a:p>
          <a:p>
            <a:pPr lvl="2"/>
            <a:r>
              <a:rPr lang="en-US" altLang="zh-CN" sz="1200" b="1" dirty="0"/>
              <a:t>DDR3 SDRAM</a:t>
            </a:r>
          </a:p>
          <a:p>
            <a:pPr lvl="2"/>
            <a:r>
              <a:rPr lang="en-US" altLang="zh-CN" sz="1200" b="1" dirty="0"/>
              <a:t>DDR4 SDRAM</a:t>
            </a:r>
          </a:p>
          <a:p>
            <a:pPr lvl="2"/>
            <a:r>
              <a:rPr lang="en-US" altLang="zh-CN" sz="1200" b="1" dirty="0"/>
              <a:t>DDR5 SDRAM</a:t>
            </a:r>
            <a:endParaRPr lang="en-US" altLang="zh-CN" sz="1000" b="1" dirty="0"/>
          </a:p>
          <a:p>
            <a:pPr lvl="2"/>
            <a:endParaRPr lang="en-US" altLang="zh-CN" sz="1000" b="1" dirty="0"/>
          </a:p>
          <a:p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7951049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22A4F-1121-4922-8660-94D9CD92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存储器与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的连接</a:t>
            </a:r>
          </a:p>
          <a:p>
            <a:endParaRPr lang="en-US" altLang="zh-CN" sz="1800" b="1" dirty="0"/>
          </a:p>
          <a:p>
            <a:r>
              <a:rPr lang="zh-CN" altLang="en-US" sz="1800" b="1" dirty="0"/>
              <a:t>存储器的扩展：</a:t>
            </a:r>
            <a:endParaRPr lang="en-US" altLang="zh-CN" sz="1800" b="1" dirty="0"/>
          </a:p>
          <a:p>
            <a:pPr lvl="1"/>
            <a:r>
              <a:rPr lang="zh-CN" altLang="en-US" sz="1200" b="1" dirty="0"/>
              <a:t>位扩展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字扩展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字位同时扩展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r>
              <a:rPr lang="zh-CN" altLang="en-US" sz="1800" b="1" dirty="0"/>
              <a:t>并行主存系统</a:t>
            </a:r>
          </a:p>
          <a:p>
            <a:pPr lvl="1"/>
            <a:r>
              <a:rPr lang="zh-CN" altLang="en-US" sz="1200" b="1" dirty="0"/>
              <a:t>双端口存储器</a:t>
            </a:r>
          </a:p>
          <a:p>
            <a:pPr lvl="1"/>
            <a:r>
              <a:rPr lang="zh-CN" altLang="en-US" sz="1200" b="1" dirty="0"/>
              <a:t>单体多字存储器</a:t>
            </a:r>
          </a:p>
          <a:p>
            <a:pPr lvl="1"/>
            <a:r>
              <a:rPr lang="zh-CN" altLang="en-US" sz="1200" b="1" dirty="0"/>
              <a:t>多体交叉存储器</a:t>
            </a:r>
          </a:p>
          <a:p>
            <a:pPr lvl="2"/>
            <a:r>
              <a:rPr lang="zh-CN" altLang="en-US" sz="1100" b="1" dirty="0"/>
              <a:t>高位多体交叉</a:t>
            </a:r>
          </a:p>
          <a:p>
            <a:pPr lvl="2"/>
            <a:r>
              <a:rPr lang="zh-CN" altLang="en-US" sz="1100" b="1" dirty="0"/>
              <a:t>低位多体交叉</a:t>
            </a:r>
            <a:endParaRPr lang="en-US" altLang="zh-CN" sz="1200" b="1" dirty="0"/>
          </a:p>
          <a:p>
            <a:pPr lvl="2"/>
            <a:endParaRPr lang="zh-CN" altLang="en-US" sz="1200" b="1" dirty="0"/>
          </a:p>
          <a:p>
            <a:r>
              <a:rPr lang="en-US" altLang="zh-CN" sz="1800" b="1" dirty="0"/>
              <a:t>cache</a:t>
            </a:r>
            <a:r>
              <a:rPr lang="zh-CN" altLang="en-US" sz="1800" b="1" dirty="0"/>
              <a:t>工作原理</a:t>
            </a:r>
            <a:endParaRPr lang="zh-CN" altLang="en-US" sz="14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程序局部性</a:t>
            </a:r>
          </a:p>
          <a:p>
            <a:pPr lvl="1"/>
            <a:r>
              <a:rPr lang="zh-CN" altLang="en-US" sz="1200" b="1" dirty="0"/>
              <a:t>时间局部性、空间局部性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cache</a:t>
            </a:r>
            <a:r>
              <a:rPr lang="zh-CN" altLang="en-US" sz="1600" b="1" dirty="0"/>
              <a:t>的基本概念</a:t>
            </a:r>
            <a:endParaRPr lang="zh-CN" altLang="en-US" sz="1400" b="1" dirty="0"/>
          </a:p>
          <a:p>
            <a:pPr lvl="1"/>
            <a:r>
              <a:rPr lang="zh-CN" altLang="en-US" sz="1200" b="1" dirty="0"/>
              <a:t>命中</a:t>
            </a:r>
          </a:p>
          <a:p>
            <a:pPr lvl="1"/>
            <a:r>
              <a:rPr lang="zh-CN" altLang="en-US" sz="1200" b="1" dirty="0"/>
              <a:t>数据缺失</a:t>
            </a:r>
          </a:p>
          <a:p>
            <a:pPr lvl="1"/>
            <a:r>
              <a:rPr lang="zh-CN" altLang="en-US" sz="1200" b="1" dirty="0"/>
              <a:t>命中率</a:t>
            </a:r>
          </a:p>
          <a:p>
            <a:pPr lvl="1"/>
            <a:r>
              <a:rPr lang="zh-CN" altLang="en-US" sz="1200" b="1" dirty="0"/>
              <a:t>缺失率</a:t>
            </a:r>
          </a:p>
          <a:p>
            <a:pPr lvl="1"/>
            <a:r>
              <a:rPr lang="zh-CN" altLang="en-US" sz="1200" b="1" dirty="0"/>
              <a:t>访问效率</a:t>
            </a:r>
            <a:endParaRPr lang="zh-CN" altLang="en-US" sz="1400" b="1" dirty="0"/>
          </a:p>
          <a:p>
            <a:pPr lvl="2"/>
            <a:endParaRPr lang="zh-CN" altLang="en-US" sz="1200" b="1" dirty="0"/>
          </a:p>
          <a:p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9109798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B8106-39C3-4C33-8673-AF34CC364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r>
              <a:rPr lang="en-US" altLang="zh-CN" sz="1800" b="1" dirty="0"/>
              <a:t>cache</a:t>
            </a:r>
            <a:r>
              <a:rPr lang="zh-CN" altLang="en-US" sz="1800" b="1" dirty="0"/>
              <a:t>读流程</a:t>
            </a:r>
          </a:p>
          <a:p>
            <a:endParaRPr lang="en-US" altLang="zh-CN" sz="600" b="1" dirty="0"/>
          </a:p>
          <a:p>
            <a:r>
              <a:rPr lang="en-US" altLang="zh-CN" sz="1800" b="1" dirty="0"/>
              <a:t>cache</a:t>
            </a:r>
            <a:r>
              <a:rPr lang="zh-CN" altLang="en-US" sz="1800" b="1" dirty="0"/>
              <a:t>写流程</a:t>
            </a:r>
          </a:p>
          <a:p>
            <a:pPr lvl="1"/>
            <a:r>
              <a:rPr lang="zh-CN" altLang="en-US" sz="1200" b="1" dirty="0"/>
              <a:t>写回策略</a:t>
            </a:r>
          </a:p>
          <a:p>
            <a:pPr lvl="1"/>
            <a:r>
              <a:rPr lang="zh-CN" altLang="en-US" sz="1200" b="1" dirty="0"/>
              <a:t>写穿策略</a:t>
            </a:r>
          </a:p>
          <a:p>
            <a:pPr lvl="1"/>
            <a:r>
              <a:rPr lang="zh-CN" altLang="en-US" sz="1200" b="1" dirty="0"/>
              <a:t>脏数据</a:t>
            </a:r>
            <a:endParaRPr lang="zh-CN" altLang="en-US" sz="1400" b="1" dirty="0"/>
          </a:p>
          <a:p>
            <a:endParaRPr lang="zh-CN" altLang="en-US" sz="600" b="1" dirty="0"/>
          </a:p>
          <a:p>
            <a:r>
              <a:rPr lang="en-US" altLang="zh-CN" sz="1800" b="1" dirty="0"/>
              <a:t>cache</a:t>
            </a:r>
            <a:r>
              <a:rPr lang="zh-CN" altLang="en-US" sz="1800" b="1" dirty="0"/>
              <a:t>实现关键技术</a:t>
            </a:r>
          </a:p>
          <a:p>
            <a:pPr lvl="1"/>
            <a:r>
              <a:rPr lang="zh-CN" altLang="en-US" sz="1400" b="1" dirty="0"/>
              <a:t>数据查找：即如何快速查找数据是否在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中？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相联存储器：</a:t>
            </a:r>
            <a:r>
              <a:rPr lang="en-US" altLang="zh-CN" sz="1000" b="1" dirty="0"/>
              <a:t>CAM</a:t>
            </a:r>
            <a:r>
              <a:rPr lang="zh-CN" altLang="en-US" sz="1000" b="1" dirty="0"/>
              <a:t>，按内容访问的存储器</a:t>
            </a:r>
          </a:p>
          <a:p>
            <a:pPr lvl="1"/>
            <a:endParaRPr lang="zh-CN" altLang="en-US" sz="600" b="1" dirty="0"/>
          </a:p>
          <a:p>
            <a:pPr lvl="1"/>
            <a:r>
              <a:rPr lang="zh-CN" altLang="en-US" sz="1400" b="1" dirty="0"/>
              <a:t>地址映射：主存中的数据块应如何放置到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中？</a:t>
            </a:r>
          </a:p>
          <a:p>
            <a:pPr lvl="2"/>
            <a:r>
              <a:rPr lang="zh-CN" altLang="en-US" sz="1000" b="1" dirty="0"/>
              <a:t>全相联映射</a:t>
            </a:r>
            <a:endParaRPr lang="en-US" altLang="zh-CN" sz="1000" b="1" dirty="0"/>
          </a:p>
          <a:p>
            <a:pPr lvl="2"/>
            <a:r>
              <a:rPr lang="zh-CN" altLang="en-US" sz="1000" b="1" dirty="0"/>
              <a:t>直接相联映射</a:t>
            </a:r>
            <a:endParaRPr lang="en-US" altLang="zh-CN" sz="1000" b="1" dirty="0"/>
          </a:p>
          <a:p>
            <a:pPr lvl="2"/>
            <a:r>
              <a:rPr lang="zh-CN" altLang="en-US" sz="1000" b="1" dirty="0"/>
              <a:t>组相联映射</a:t>
            </a:r>
            <a:endParaRPr lang="en-US" altLang="zh-CN" sz="1000" b="1" dirty="0"/>
          </a:p>
          <a:p>
            <a:pPr lvl="2"/>
            <a:endParaRPr lang="zh-CN" altLang="en-US" sz="600" b="1" dirty="0"/>
          </a:p>
          <a:p>
            <a:pPr lvl="1"/>
            <a:r>
              <a:rPr lang="zh-CN" altLang="en-US" sz="1400" b="1" dirty="0"/>
              <a:t>替换策略：在将主存数据块放置到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中时，如果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满了，则需要将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中的某个数据块替换或淘汰掉，替换时采用什么策略？</a:t>
            </a:r>
            <a:endParaRPr lang="en-US" altLang="zh-CN" sz="1400" b="1" dirty="0"/>
          </a:p>
          <a:p>
            <a:pPr lvl="2" eaLnBrk="1" hangingPunct="1"/>
            <a:r>
              <a:rPr lang="zh-CN" altLang="en-US" sz="1000" b="1" dirty="0"/>
              <a:t>先进先出算法</a:t>
            </a:r>
            <a:endParaRPr lang="en-US" altLang="zh-CN" sz="1000" b="1" dirty="0"/>
          </a:p>
          <a:p>
            <a:pPr lvl="2" eaLnBrk="1" hangingPunct="1"/>
            <a:r>
              <a:rPr lang="zh-CN" altLang="en-US" sz="1000" b="1" dirty="0"/>
              <a:t>最不经常使用算法</a:t>
            </a:r>
            <a:endParaRPr lang="en-US" altLang="zh-CN" sz="1000" b="1" dirty="0"/>
          </a:p>
          <a:p>
            <a:pPr lvl="2" eaLnBrk="1" hangingPunct="1"/>
            <a:r>
              <a:rPr lang="zh-CN" altLang="en-US" sz="1000" b="1" dirty="0"/>
              <a:t>近期最少使用算法</a:t>
            </a:r>
            <a:endParaRPr lang="en-US" altLang="zh-CN" sz="1000" b="1" dirty="0"/>
          </a:p>
          <a:p>
            <a:pPr lvl="2" eaLnBrk="1" hangingPunct="1"/>
            <a:r>
              <a:rPr lang="zh-CN" altLang="en-US" sz="1000" b="1" dirty="0"/>
              <a:t>随机替换算法</a:t>
            </a:r>
          </a:p>
          <a:p>
            <a:pPr lvl="1"/>
            <a:endParaRPr lang="zh-CN" altLang="en-US" sz="600" b="1" dirty="0"/>
          </a:p>
          <a:p>
            <a:pPr lvl="1"/>
            <a:r>
              <a:rPr lang="zh-CN" altLang="en-US" sz="1400" b="1" dirty="0"/>
              <a:t>写入策略：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写回策略</a:t>
            </a:r>
          </a:p>
          <a:p>
            <a:pPr lvl="2"/>
            <a:r>
              <a:rPr lang="zh-CN" altLang="en-US" sz="1000" b="1" dirty="0"/>
              <a:t>写穿策略</a:t>
            </a:r>
            <a:endParaRPr lang="en-US" altLang="zh-CN" sz="1000" b="1" dirty="0"/>
          </a:p>
          <a:p>
            <a:pPr lvl="2"/>
            <a:endParaRPr lang="en-US" altLang="zh-CN" sz="600" b="1" dirty="0"/>
          </a:p>
          <a:p>
            <a:r>
              <a:rPr lang="en-US" altLang="zh-CN" sz="1800" b="1" dirty="0"/>
              <a:t>cache</a:t>
            </a:r>
            <a:r>
              <a:rPr lang="zh-CN" altLang="en-US" sz="1800" b="1" dirty="0"/>
              <a:t>应用</a:t>
            </a:r>
            <a:endParaRPr lang="zh-CN" altLang="en-US" sz="1400" b="1" dirty="0"/>
          </a:p>
          <a:p>
            <a:pPr lvl="1"/>
            <a:r>
              <a:rPr lang="zh-CN" altLang="en-US" sz="1000" b="1" dirty="0"/>
              <a:t>分离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：指令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、数据</a:t>
            </a:r>
            <a:r>
              <a:rPr lang="en-US" altLang="zh-CN" sz="1000" b="1" dirty="0"/>
              <a:t>cache</a:t>
            </a:r>
          </a:p>
          <a:p>
            <a:pPr lvl="1"/>
            <a:r>
              <a:rPr lang="zh-CN" altLang="en-US" sz="1000" b="1" dirty="0"/>
              <a:t>多级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L1 cache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L2 cache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L3 cache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L4 cache</a:t>
            </a:r>
          </a:p>
          <a:p>
            <a:pPr lvl="1"/>
            <a:r>
              <a:rPr lang="zh-CN" altLang="en-US" sz="1000" b="1" dirty="0"/>
              <a:t>软件</a:t>
            </a:r>
            <a:r>
              <a:rPr lang="en-US" altLang="zh-CN" sz="1000" b="1" dirty="0"/>
              <a:t>cache</a:t>
            </a:r>
            <a:endParaRPr lang="zh-CN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84541991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B0898-659B-4776-877E-A55F1621C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r>
              <a:rPr lang="zh-CN" altLang="en-US" sz="1600" b="1" dirty="0"/>
              <a:t>虚拟存储器的工作原理：</a:t>
            </a:r>
            <a:endParaRPr lang="en-US" altLang="zh-CN" sz="1600" b="1" dirty="0"/>
          </a:p>
          <a:p>
            <a:pPr lvl="1"/>
            <a:r>
              <a:rPr lang="zh-CN" altLang="en-US" sz="1200" b="1" dirty="0"/>
              <a:t>虚拟存储器处于“主存</a:t>
            </a:r>
            <a:r>
              <a:rPr lang="en-US" altLang="zh-CN" sz="1200" b="1" dirty="0"/>
              <a:t>-</a:t>
            </a:r>
            <a:r>
              <a:rPr lang="zh-CN" altLang="en-US" sz="1200" b="1" dirty="0"/>
              <a:t>辅存”存储层次，是为了解决存储系统“存储容量大”的问题</a:t>
            </a:r>
            <a:endParaRPr lang="en-US" altLang="zh-CN" sz="1200" b="1" dirty="0"/>
          </a:p>
          <a:p>
            <a:pPr lvl="1"/>
            <a:endParaRPr lang="zh-CN" altLang="en-US" sz="1200" b="1" dirty="0"/>
          </a:p>
          <a:p>
            <a:pPr lvl="1"/>
            <a:r>
              <a:rPr lang="zh-CN" altLang="en-US" sz="1200" b="1" dirty="0"/>
              <a:t>有了虚拟存储器，程序员可以使用虚拟地址（虚拟地址空间比主存的物理地址空间要大很多）进行编程，这样程序员的编程不再受实际主存空间大小的限制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r>
              <a:rPr lang="zh-CN" altLang="en-US" sz="1600" b="1" dirty="0"/>
              <a:t>虚拟存储器中有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种地址空间：</a:t>
            </a:r>
          </a:p>
          <a:p>
            <a:pPr lvl="1"/>
            <a:r>
              <a:rPr lang="zh-CN" altLang="en-US" sz="1200" b="1" dirty="0"/>
              <a:t>虚拟地址空间：也称为虚拟空间、虚地址空间，它是程序员用来编写程序的地址空间</a:t>
            </a:r>
          </a:p>
          <a:p>
            <a:pPr lvl="1"/>
            <a:r>
              <a:rPr lang="zh-CN" altLang="en-US" sz="1200" b="1" dirty="0"/>
              <a:t>主存地址空间：也称物理地址空间、实地址空间</a:t>
            </a:r>
          </a:p>
          <a:p>
            <a:pPr lvl="1"/>
            <a:r>
              <a:rPr lang="zh-CN" altLang="en-US" sz="1200" b="1" dirty="0"/>
              <a:t>辅存地址空间：也就是磁盘存储器的地址空间</a:t>
            </a:r>
          </a:p>
          <a:p>
            <a:endParaRPr lang="zh-CN" altLang="en-US" sz="1600" b="1" dirty="0"/>
          </a:p>
          <a:p>
            <a:r>
              <a:rPr lang="zh-CN" altLang="en-US" sz="1600" b="1" dirty="0"/>
              <a:t>虚拟存储器的地址映射：将虚拟地址空间映射到主存地址空间，即将用户利用虚拟地址访问的内容按照某种规则，从辅存装入主存中，并建立虚地址与实地址之间的对应关系</a:t>
            </a:r>
          </a:p>
          <a:p>
            <a:endParaRPr lang="zh-CN" altLang="en-US" sz="1600" b="1" dirty="0"/>
          </a:p>
          <a:p>
            <a:r>
              <a:rPr lang="zh-CN" altLang="en-US" sz="1600" b="1" dirty="0"/>
              <a:t>虚拟存储器分为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种不同的类型：</a:t>
            </a:r>
            <a:endParaRPr lang="en-US" altLang="zh-CN" sz="1600" b="1" dirty="0"/>
          </a:p>
          <a:p>
            <a:pPr lvl="1"/>
            <a:r>
              <a:rPr lang="zh-CN" altLang="en-US" sz="1200" b="1" dirty="0"/>
              <a:t>页式虚拟存储器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段式虚拟存储器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段页式虚拟存储器</a:t>
            </a:r>
          </a:p>
          <a:p>
            <a:endParaRPr lang="zh-CN" altLang="en-US" sz="1600" b="1" dirty="0"/>
          </a:p>
          <a:p>
            <a:endParaRPr lang="zh-CN" altLang="en-US" sz="1600" b="1" dirty="0"/>
          </a:p>
          <a:p>
            <a:endParaRPr lang="zh-CN" altLang="en-US" sz="1600" b="1" dirty="0"/>
          </a:p>
          <a:p>
            <a:pPr lvl="1"/>
            <a:endParaRPr lang="zh-CN" altLang="en-US" sz="1200" b="1" dirty="0"/>
          </a:p>
          <a:p>
            <a:pPr lvl="1"/>
            <a:endParaRPr lang="zh-CN" altLang="en-US" sz="1200" b="1" dirty="0"/>
          </a:p>
          <a:p>
            <a:pPr lvl="1"/>
            <a:endParaRPr lang="zh-CN" altLang="en-US" sz="1200" b="1" dirty="0"/>
          </a:p>
          <a:p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0402414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3BA6D-7F87-40B3-B3C3-CE2F056E4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页式虚拟存储器</a:t>
            </a:r>
          </a:p>
          <a:p>
            <a:pPr lvl="1"/>
            <a:endParaRPr lang="en-US" altLang="zh-CN" sz="1800" b="1" dirty="0"/>
          </a:p>
          <a:p>
            <a:pPr lvl="1"/>
            <a:r>
              <a:rPr lang="zh-CN" altLang="en-US" sz="1400" b="1" dirty="0"/>
              <a:t>虚拟地址划分</a:t>
            </a:r>
          </a:p>
          <a:p>
            <a:pPr lvl="2"/>
            <a:r>
              <a:rPr lang="zh-CN" altLang="en-US" sz="1000" b="1" dirty="0"/>
              <a:t>虚拟地址（</a:t>
            </a:r>
            <a:r>
              <a:rPr lang="en-US" altLang="zh-CN" sz="1000" b="1" dirty="0"/>
              <a:t>VA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= </a:t>
            </a:r>
            <a:r>
              <a:rPr lang="zh-CN" altLang="en-US" sz="1000" b="1" dirty="0"/>
              <a:t>虚拟页号（</a:t>
            </a:r>
            <a:r>
              <a:rPr lang="en-US" altLang="zh-CN" sz="1000" b="1" dirty="0"/>
              <a:t>VPN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虚拟页偏移（</a:t>
            </a:r>
            <a:r>
              <a:rPr lang="en-US" altLang="zh-CN" sz="1000" b="1" dirty="0"/>
              <a:t>VPO</a:t>
            </a:r>
            <a:r>
              <a:rPr lang="zh-CN" altLang="en-US" sz="1000" b="1" dirty="0"/>
              <a:t>）</a:t>
            </a:r>
          </a:p>
          <a:p>
            <a:pPr lvl="2"/>
            <a:r>
              <a:rPr lang="zh-CN" altLang="en-US" sz="1000" b="1" dirty="0"/>
              <a:t>物理地址（</a:t>
            </a:r>
            <a:r>
              <a:rPr lang="en-US" altLang="zh-CN" sz="1000" b="1" dirty="0"/>
              <a:t>PA</a:t>
            </a:r>
            <a:r>
              <a:rPr lang="zh-CN" altLang="en-US" sz="1000" b="1" dirty="0"/>
              <a:t>） </a:t>
            </a:r>
            <a:r>
              <a:rPr lang="en-US" altLang="zh-CN" sz="1000" b="1" dirty="0"/>
              <a:t>= </a:t>
            </a:r>
            <a:r>
              <a:rPr lang="zh-CN" altLang="en-US" sz="1000" b="1" dirty="0"/>
              <a:t>物理页号（</a:t>
            </a:r>
            <a:r>
              <a:rPr lang="en-US" altLang="zh-CN" sz="1000" b="1" dirty="0"/>
              <a:t>PPN 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+ </a:t>
            </a:r>
            <a:r>
              <a:rPr lang="zh-CN" altLang="en-US" sz="1000" b="1" dirty="0"/>
              <a:t>物理页偏移（</a:t>
            </a:r>
            <a:r>
              <a:rPr lang="en-US" altLang="zh-CN" sz="1000" b="1" dirty="0"/>
              <a:t>PPO</a:t>
            </a:r>
            <a:r>
              <a:rPr lang="zh-CN" altLang="en-US" sz="1000" b="1" dirty="0"/>
              <a:t>）</a:t>
            </a:r>
          </a:p>
          <a:p>
            <a:pPr lvl="1"/>
            <a:endParaRPr lang="zh-CN" altLang="en-US" sz="1400" b="1" dirty="0"/>
          </a:p>
          <a:p>
            <a:pPr lvl="1"/>
            <a:r>
              <a:rPr lang="zh-CN" altLang="en-US" sz="1400" b="1" dirty="0"/>
              <a:t>页表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页表是一张保存虚拟页号和物理页号对应关系的查找表，是一个由若干个表项组成的数组</a:t>
            </a:r>
          </a:p>
          <a:p>
            <a:pPr lvl="1"/>
            <a:endParaRPr lang="zh-CN" altLang="en-US" sz="1400" b="1" dirty="0"/>
          </a:p>
          <a:p>
            <a:pPr lvl="1"/>
            <a:r>
              <a:rPr lang="zh-CN" altLang="en-US" sz="1400" b="1" dirty="0"/>
              <a:t>虚拟存储器访问流程</a:t>
            </a:r>
          </a:p>
          <a:p>
            <a:pPr lvl="2"/>
            <a:r>
              <a:rPr lang="zh-CN" altLang="en-US" sz="1000" b="1" dirty="0"/>
              <a:t>页面命中时的访问流程</a:t>
            </a:r>
          </a:p>
          <a:p>
            <a:pPr lvl="2"/>
            <a:endParaRPr lang="en-US" altLang="zh-CN" sz="1000" b="1" dirty="0"/>
          </a:p>
          <a:p>
            <a:pPr lvl="2"/>
            <a:r>
              <a:rPr lang="zh-CN" altLang="en-US" sz="1000" b="1" dirty="0"/>
              <a:t>页面缺失时的访问流程</a:t>
            </a:r>
          </a:p>
          <a:p>
            <a:pPr lvl="1"/>
            <a:endParaRPr lang="zh-CN" altLang="en-US" sz="1400" b="1" dirty="0"/>
          </a:p>
          <a:p>
            <a:pPr lvl="1"/>
            <a:r>
              <a:rPr lang="zh-CN" altLang="en-US" sz="1400" b="1" dirty="0"/>
              <a:t>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的虚拟存储器访问流程</a:t>
            </a:r>
            <a:endParaRPr lang="en-US" altLang="zh-CN" sz="1400" b="1" dirty="0"/>
          </a:p>
          <a:p>
            <a:pPr lvl="2"/>
            <a:r>
              <a:rPr lang="zh-CN" altLang="en-US" sz="1000" b="1" dirty="0"/>
              <a:t>页表的部分数据块放在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中</a:t>
            </a:r>
          </a:p>
          <a:p>
            <a:endParaRPr lang="zh-CN" altLang="en-US" sz="1800" b="1" dirty="0"/>
          </a:p>
          <a:p>
            <a:pPr lvl="1"/>
            <a:r>
              <a:rPr lang="zh-CN" altLang="en-US" sz="1400" b="1" dirty="0"/>
              <a:t>利用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加速虚拟存储器地址转换</a:t>
            </a:r>
            <a:endParaRPr lang="en-US" altLang="zh-CN" sz="1400" b="1" dirty="0"/>
          </a:p>
          <a:p>
            <a:pPr lvl="2"/>
            <a:r>
              <a:rPr lang="en-US" altLang="zh-CN" sz="1000" b="1" dirty="0"/>
              <a:t>TLB</a:t>
            </a:r>
            <a:r>
              <a:rPr lang="zh-CN" altLang="en-US" sz="1000" b="1" dirty="0"/>
              <a:t>（转换旁路缓冲区，</a:t>
            </a:r>
            <a:r>
              <a:rPr lang="en-US" altLang="zh-CN" sz="1000" b="1" dirty="0"/>
              <a:t>Translation Look-aside Buffer</a:t>
            </a:r>
            <a:r>
              <a:rPr lang="zh-CN" altLang="en-US" sz="1000" b="1" dirty="0"/>
              <a:t>）：用于缓冲经常访问的页表项（即页表中经常会被访问的行）</a:t>
            </a:r>
            <a:endParaRPr lang="en-US" altLang="zh-CN" sz="1000" b="1" dirty="0"/>
          </a:p>
          <a:p>
            <a:pPr lvl="2"/>
            <a:endParaRPr lang="en-US" altLang="zh-CN" sz="1000" b="1" dirty="0"/>
          </a:p>
          <a:p>
            <a:pPr lvl="2"/>
            <a:r>
              <a:rPr lang="en-US" altLang="zh-CN" sz="1000" b="1" dirty="0"/>
              <a:t>TLB</a:t>
            </a:r>
            <a:r>
              <a:rPr lang="zh-CN" altLang="en-US" sz="1000" b="1" dirty="0"/>
              <a:t>一般采用相联存储器（</a:t>
            </a:r>
            <a:r>
              <a:rPr lang="en-US" altLang="zh-CN" sz="1000" b="1" dirty="0"/>
              <a:t>CAM</a:t>
            </a:r>
            <a:r>
              <a:rPr lang="zh-CN" altLang="en-US" sz="1000" b="1" dirty="0"/>
              <a:t>）</a:t>
            </a:r>
            <a:endParaRPr lang="en-US" altLang="zh-CN" sz="1000" b="1" dirty="0"/>
          </a:p>
          <a:p>
            <a:pPr lvl="2"/>
            <a:endParaRPr lang="en-US" altLang="zh-CN" sz="1000" b="1" dirty="0"/>
          </a:p>
          <a:p>
            <a:pPr lvl="2"/>
            <a:r>
              <a:rPr lang="en-US" altLang="zh-CN" sz="1000" b="1" dirty="0"/>
              <a:t>TLB</a:t>
            </a:r>
            <a:r>
              <a:rPr lang="zh-CN" altLang="en-US" sz="1000" b="1" dirty="0"/>
              <a:t>也称为快表，存放在主存中的页表，称为慢表</a:t>
            </a:r>
          </a:p>
          <a:p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81109148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习题（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P147-152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200" b="1" dirty="0">
                <a:solidFill>
                  <a:srgbClr val="FF0000"/>
                </a:solidFill>
              </a:rPr>
              <a:t>4.1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FF0000"/>
                </a:solidFill>
              </a:rPr>
              <a:t>4.2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FF0000"/>
                </a:solidFill>
              </a:rPr>
              <a:t>4.3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FF0000"/>
                </a:solidFill>
              </a:rPr>
              <a:t>4.6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FF0000"/>
                </a:solidFill>
              </a:rPr>
              <a:t>4.8</a:t>
            </a:r>
          </a:p>
          <a:p>
            <a:pPr>
              <a:defRPr/>
            </a:pPr>
            <a:r>
              <a:rPr lang="en-US" altLang="zh-CN" sz="2200" b="1" dirty="0"/>
              <a:t>4.11</a:t>
            </a:r>
          </a:p>
          <a:p>
            <a:pPr>
              <a:defRPr/>
            </a:pPr>
            <a:r>
              <a:rPr lang="en-US" altLang="zh-CN" sz="2200" b="1" dirty="0"/>
              <a:t>4.13</a:t>
            </a:r>
          </a:p>
          <a:p>
            <a:pPr>
              <a:defRPr/>
            </a:pPr>
            <a:r>
              <a:rPr lang="en-US" altLang="zh-CN" sz="2200" b="1" dirty="0"/>
              <a:t>4.14</a:t>
            </a:r>
          </a:p>
          <a:p>
            <a:pPr>
              <a:defRPr/>
            </a:pPr>
            <a:r>
              <a:rPr lang="en-US" altLang="zh-CN" sz="2200" b="1" dirty="0"/>
              <a:t>4.17</a:t>
            </a:r>
          </a:p>
          <a:p>
            <a:pPr>
              <a:defRPr/>
            </a:pPr>
            <a:endParaRPr lang="en-US" altLang="zh-CN" sz="2200" b="1" dirty="0"/>
          </a:p>
          <a:p>
            <a:pPr>
              <a:defRPr/>
            </a:pPr>
            <a:endParaRPr lang="zh-CN" altLang="en-US" sz="2200" b="1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实践训练（实验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ROM</a:t>
            </a:r>
            <a:r>
              <a:rPr lang="zh-CN" altLang="en-US" sz="1800" b="1" dirty="0"/>
              <a:t>组件构建能显示</a:t>
            </a:r>
            <a:r>
              <a:rPr lang="en-US" altLang="zh-CN" sz="1800" b="1" dirty="0"/>
              <a:t>16X16</a:t>
            </a:r>
            <a:r>
              <a:rPr lang="zh-CN" altLang="en-US" sz="1800" b="1" dirty="0"/>
              <a:t>点阵的汉字字库存储系统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RAM</a:t>
            </a:r>
            <a:r>
              <a:rPr lang="zh-CN" altLang="en-US" sz="1800" b="1" dirty="0"/>
              <a:t>组件构建能同时支持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位数据访问的存储器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中利用给定的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框架分别设计直接相联、全相联、组相联映射</a:t>
            </a:r>
            <a:r>
              <a:rPr lang="en-US" altLang="zh-CN" sz="1800" b="1" dirty="0"/>
              <a:t>cache</a:t>
            </a:r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01094061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内容占位符 2">
            <a:extLst>
              <a:ext uri="{FF2B5EF4-FFF2-40B4-BE49-F238E27FC236}">
                <a16:creationId xmlns:a16="http://schemas.microsoft.com/office/drawing/2014/main" id="{6EC51430-0B4B-40D0-9DB9-1F2F6CB7A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903538"/>
            <a:ext cx="8229600" cy="1454150"/>
          </a:xfrm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7200" b="1">
                <a:solidFill>
                  <a:srgbClr val="7030A0"/>
                </a:solidFill>
              </a:rPr>
              <a:t>Thanks</a:t>
            </a:r>
            <a:endParaRPr lang="zh-CN" altLang="en-US" sz="7200" b="1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62740</TotalTime>
  <Words>40249</Words>
  <Application>Microsoft Office PowerPoint</Application>
  <PresentationFormat>全屏显示(4:3)</PresentationFormat>
  <Paragraphs>7478</Paragraphs>
  <Slides>212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212</vt:i4>
      </vt:variant>
    </vt:vector>
  </HeadingPairs>
  <TitlesOfParts>
    <vt:vector size="223" baseType="lpstr">
      <vt:lpstr>-apple-system</vt:lpstr>
      <vt:lpstr>PingFang SC</vt:lpstr>
      <vt:lpstr>等线</vt:lpstr>
      <vt:lpstr>黑体</vt:lpstr>
      <vt:lpstr>宋体</vt:lpstr>
      <vt:lpstr>Arial</vt:lpstr>
      <vt:lpstr>Calibri</vt:lpstr>
      <vt:lpstr>Courier New</vt:lpstr>
      <vt:lpstr>Tahoma</vt:lpstr>
      <vt:lpstr>Wingdings</vt:lpstr>
      <vt:lpstr>Office 主题</vt:lpstr>
      <vt:lpstr>《计算机组成原理》 （第四讲）</vt:lpstr>
      <vt:lpstr>目录</vt:lpstr>
      <vt:lpstr>第4章    存储系统</vt:lpstr>
      <vt:lpstr>4.1    存储器概述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   半导体存储器</vt:lpstr>
      <vt:lpstr>MOS（场效应管）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DDR4  SDRAM</vt:lpstr>
      <vt:lpstr>DDR5  SDARM</vt:lpstr>
      <vt:lpstr>PowerPoint 演示文稿</vt:lpstr>
      <vt:lpstr>PowerPoint 演示文稿</vt:lpstr>
      <vt:lpstr>PowerPoint 演示文稿</vt:lpstr>
      <vt:lpstr>参考资料</vt:lpstr>
      <vt:lpstr>4.3  主存的组织及与CPU 的连接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   并行主存系统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    高速缓冲存储器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4.6    虚拟存储器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习题（P147-152）</vt:lpstr>
      <vt:lpstr>实践训练（实验3）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687</cp:revision>
  <dcterms:created xsi:type="dcterms:W3CDTF">2018-06-12T02:23:51Z</dcterms:created>
  <dcterms:modified xsi:type="dcterms:W3CDTF">2024-03-23T09:37:22Z</dcterms:modified>
</cp:coreProperties>
</file>