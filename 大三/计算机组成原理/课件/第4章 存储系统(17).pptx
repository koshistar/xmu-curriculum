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217"/>
  </p:notesMasterIdLst>
  <p:sldIdLst>
    <p:sldId id="256" r:id="rId2"/>
    <p:sldId id="620" r:id="rId3"/>
    <p:sldId id="509" r:id="rId4"/>
    <p:sldId id="1111" r:id="rId5"/>
    <p:sldId id="1210" r:id="rId6"/>
    <p:sldId id="1211" r:id="rId7"/>
    <p:sldId id="1212" r:id="rId8"/>
    <p:sldId id="1214" r:id="rId9"/>
    <p:sldId id="1215" r:id="rId10"/>
    <p:sldId id="1219" r:id="rId11"/>
    <p:sldId id="1216" r:id="rId12"/>
    <p:sldId id="1220" r:id="rId13"/>
    <p:sldId id="1217" r:id="rId14"/>
    <p:sldId id="1218" r:id="rId15"/>
    <p:sldId id="1221" r:id="rId16"/>
    <p:sldId id="1201" r:id="rId17"/>
    <p:sldId id="1398" r:id="rId18"/>
    <p:sldId id="1222" r:id="rId19"/>
    <p:sldId id="1223" r:id="rId20"/>
    <p:sldId id="1224" r:id="rId21"/>
    <p:sldId id="1225" r:id="rId22"/>
    <p:sldId id="1226" r:id="rId23"/>
    <p:sldId id="1227" r:id="rId24"/>
    <p:sldId id="1229" r:id="rId25"/>
    <p:sldId id="1230" r:id="rId26"/>
    <p:sldId id="1231" r:id="rId27"/>
    <p:sldId id="1232" r:id="rId28"/>
    <p:sldId id="1233" r:id="rId29"/>
    <p:sldId id="1234" r:id="rId30"/>
    <p:sldId id="1235" r:id="rId31"/>
    <p:sldId id="1427" r:id="rId32"/>
    <p:sldId id="1428" r:id="rId33"/>
    <p:sldId id="1236" r:id="rId34"/>
    <p:sldId id="1237" r:id="rId35"/>
    <p:sldId id="1238" r:id="rId36"/>
    <p:sldId id="1436" r:id="rId37"/>
    <p:sldId id="1429" r:id="rId38"/>
    <p:sldId id="1239" r:id="rId39"/>
    <p:sldId id="1240" r:id="rId40"/>
    <p:sldId id="1241" r:id="rId41"/>
    <p:sldId id="1242" r:id="rId42"/>
    <p:sldId id="1243" r:id="rId43"/>
    <p:sldId id="1417" r:id="rId44"/>
    <p:sldId id="1244" r:id="rId45"/>
    <p:sldId id="1245" r:id="rId46"/>
    <p:sldId id="1246" r:id="rId47"/>
    <p:sldId id="1247" r:id="rId48"/>
    <p:sldId id="1415" r:id="rId49"/>
    <p:sldId id="1248" r:id="rId50"/>
    <p:sldId id="1250" r:id="rId51"/>
    <p:sldId id="1303" r:id="rId52"/>
    <p:sldId id="1251" r:id="rId53"/>
    <p:sldId id="1252" r:id="rId54"/>
    <p:sldId id="1253" r:id="rId55"/>
    <p:sldId id="1254" r:id="rId56"/>
    <p:sldId id="1255" r:id="rId57"/>
    <p:sldId id="1426" r:id="rId58"/>
    <p:sldId id="1425" r:id="rId59"/>
    <p:sldId id="1416" r:id="rId60"/>
    <p:sldId id="1418" r:id="rId61"/>
    <p:sldId id="1439" r:id="rId62"/>
    <p:sldId id="1437" r:id="rId63"/>
    <p:sldId id="1424" r:id="rId64"/>
    <p:sldId id="1433" r:id="rId65"/>
    <p:sldId id="1434" r:id="rId66"/>
    <p:sldId id="1435" r:id="rId67"/>
    <p:sldId id="1203" r:id="rId68"/>
    <p:sldId id="1257" r:id="rId69"/>
    <p:sldId id="1258" r:id="rId70"/>
    <p:sldId id="1259" r:id="rId71"/>
    <p:sldId id="1260" r:id="rId72"/>
    <p:sldId id="1407" r:id="rId73"/>
    <p:sldId id="1408" r:id="rId74"/>
    <p:sldId id="1409" r:id="rId75"/>
    <p:sldId id="1410" r:id="rId76"/>
    <p:sldId id="1440" r:id="rId77"/>
    <p:sldId id="1441" r:id="rId78"/>
    <p:sldId id="1413" r:id="rId79"/>
    <p:sldId id="1414" r:id="rId80"/>
    <p:sldId id="1430" r:id="rId81"/>
    <p:sldId id="1431" r:id="rId82"/>
    <p:sldId id="1432" r:id="rId83"/>
    <p:sldId id="1205" r:id="rId84"/>
    <p:sldId id="1262" r:id="rId85"/>
    <p:sldId id="1263" r:id="rId86"/>
    <p:sldId id="1264" r:id="rId87"/>
    <p:sldId id="1265" r:id="rId88"/>
    <p:sldId id="1267" r:id="rId89"/>
    <p:sldId id="1266" r:id="rId90"/>
    <p:sldId id="1268" r:id="rId91"/>
    <p:sldId id="1444" r:id="rId92"/>
    <p:sldId id="1207" r:id="rId93"/>
    <p:sldId id="1269" r:id="rId94"/>
    <p:sldId id="1270" r:id="rId95"/>
    <p:sldId id="1271" r:id="rId96"/>
    <p:sldId id="1272" r:id="rId97"/>
    <p:sldId id="1419" r:id="rId98"/>
    <p:sldId id="1273" r:id="rId99"/>
    <p:sldId id="1274" r:id="rId100"/>
    <p:sldId id="1301" r:id="rId101"/>
    <p:sldId id="1423" r:id="rId102"/>
    <p:sldId id="1344" r:id="rId103"/>
    <p:sldId id="1422" r:id="rId104"/>
    <p:sldId id="1420" r:id="rId105"/>
    <p:sldId id="1421" r:id="rId106"/>
    <p:sldId id="1445" r:id="rId107"/>
    <p:sldId id="1275" r:id="rId108"/>
    <p:sldId id="1276" r:id="rId109"/>
    <p:sldId id="1277" r:id="rId110"/>
    <p:sldId id="1278" r:id="rId111"/>
    <p:sldId id="1030" r:id="rId112"/>
    <p:sldId id="1402" r:id="rId113"/>
    <p:sldId id="1403" r:id="rId114"/>
    <p:sldId id="1279" r:id="rId115"/>
    <p:sldId id="1281" r:id="rId116"/>
    <p:sldId id="1282" r:id="rId117"/>
    <p:sldId id="1280" r:id="rId118"/>
    <p:sldId id="1283" r:id="rId119"/>
    <p:sldId id="1284" r:id="rId120"/>
    <p:sldId id="1285" r:id="rId121"/>
    <p:sldId id="1286" r:id="rId122"/>
    <p:sldId id="1287" r:id="rId123"/>
    <p:sldId id="1288" r:id="rId124"/>
    <p:sldId id="1404" r:id="rId125"/>
    <p:sldId id="1289" r:id="rId126"/>
    <p:sldId id="1290" r:id="rId127"/>
    <p:sldId id="1291" r:id="rId128"/>
    <p:sldId id="1292" r:id="rId129"/>
    <p:sldId id="1293" r:id="rId130"/>
    <p:sldId id="1442" r:id="rId131"/>
    <p:sldId id="1294" r:id="rId132"/>
    <p:sldId id="1297" r:id="rId133"/>
    <p:sldId id="1443" r:id="rId134"/>
    <p:sldId id="1295" r:id="rId135"/>
    <p:sldId id="1296" r:id="rId136"/>
    <p:sldId id="1298" r:id="rId137"/>
    <p:sldId id="1299" r:id="rId138"/>
    <p:sldId id="1405" r:id="rId139"/>
    <p:sldId id="1300" r:id="rId140"/>
    <p:sldId id="1304" r:id="rId141"/>
    <p:sldId id="1305" r:id="rId142"/>
    <p:sldId id="1306" r:id="rId143"/>
    <p:sldId id="1307" r:id="rId144"/>
    <p:sldId id="1308" r:id="rId145"/>
    <p:sldId id="1309" r:id="rId146"/>
    <p:sldId id="1310" r:id="rId147"/>
    <p:sldId id="1311" r:id="rId148"/>
    <p:sldId id="1312" r:id="rId149"/>
    <p:sldId id="1313" r:id="rId150"/>
    <p:sldId id="1314" r:id="rId151"/>
    <p:sldId id="1315" r:id="rId152"/>
    <p:sldId id="1316" r:id="rId153"/>
    <p:sldId id="1317" r:id="rId154"/>
    <p:sldId id="1318" r:id="rId155"/>
    <p:sldId id="1319" r:id="rId156"/>
    <p:sldId id="1320" r:id="rId157"/>
    <p:sldId id="1321" r:id="rId158"/>
    <p:sldId id="1322" r:id="rId159"/>
    <p:sldId id="1323" r:id="rId160"/>
    <p:sldId id="1324" r:id="rId161"/>
    <p:sldId id="1325" r:id="rId162"/>
    <p:sldId id="1326" r:id="rId163"/>
    <p:sldId id="1327" r:id="rId164"/>
    <p:sldId id="1329" r:id="rId165"/>
    <p:sldId id="1330" r:id="rId166"/>
    <p:sldId id="1331" r:id="rId167"/>
    <p:sldId id="1332" r:id="rId168"/>
    <p:sldId id="1333" r:id="rId169"/>
    <p:sldId id="1334" r:id="rId170"/>
    <p:sldId id="1335" r:id="rId171"/>
    <p:sldId id="1336" r:id="rId172"/>
    <p:sldId id="1337" r:id="rId173"/>
    <p:sldId id="1338" r:id="rId174"/>
    <p:sldId id="1339" r:id="rId175"/>
    <p:sldId id="1340" r:id="rId176"/>
    <p:sldId id="1341" r:id="rId177"/>
    <p:sldId id="1342" r:id="rId178"/>
    <p:sldId id="1343" r:id="rId179"/>
    <p:sldId id="1302" r:id="rId180"/>
    <p:sldId id="1345" r:id="rId181"/>
    <p:sldId id="1346" r:id="rId182"/>
    <p:sldId id="1209" r:id="rId183"/>
    <p:sldId id="1347" r:id="rId184"/>
    <p:sldId id="1349" r:id="rId185"/>
    <p:sldId id="1348" r:id="rId186"/>
    <p:sldId id="1351" r:id="rId187"/>
    <p:sldId id="1352" r:id="rId188"/>
    <p:sldId id="1353" r:id="rId189"/>
    <p:sldId id="1355" r:id="rId190"/>
    <p:sldId id="1354" r:id="rId191"/>
    <p:sldId id="1356" r:id="rId192"/>
    <p:sldId id="1357" r:id="rId193"/>
    <p:sldId id="1358" r:id="rId194"/>
    <p:sldId id="1359" r:id="rId195"/>
    <p:sldId id="1360" r:id="rId196"/>
    <p:sldId id="1361" r:id="rId197"/>
    <p:sldId id="1362" r:id="rId198"/>
    <p:sldId id="1363" r:id="rId199"/>
    <p:sldId id="1364" r:id="rId200"/>
    <p:sldId id="1365" r:id="rId201"/>
    <p:sldId id="1366" r:id="rId202"/>
    <p:sldId id="1371" r:id="rId203"/>
    <p:sldId id="1372" r:id="rId204"/>
    <p:sldId id="1373" r:id="rId205"/>
    <p:sldId id="1374" r:id="rId206"/>
    <p:sldId id="1379" r:id="rId207"/>
    <p:sldId id="1378" r:id="rId208"/>
    <p:sldId id="1377" r:id="rId209"/>
    <p:sldId id="1380" r:id="rId210"/>
    <p:sldId id="1385" r:id="rId211"/>
    <p:sldId id="1381" r:id="rId212"/>
    <p:sldId id="1382" r:id="rId213"/>
    <p:sldId id="1383" r:id="rId214"/>
    <p:sldId id="1384" r:id="rId215"/>
    <p:sldId id="1396" r:id="rId2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12BB"/>
    <a:srgbClr val="00000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040" autoAdjust="0"/>
  </p:normalViewPr>
  <p:slideViewPr>
    <p:cSldViewPr>
      <p:cViewPr>
        <p:scale>
          <a:sx n="85" d="100"/>
          <a:sy n="85" d="100"/>
        </p:scale>
        <p:origin x="130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16" Type="http://schemas.openxmlformats.org/officeDocument/2006/relationships/slide" Target="slides/slide215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217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commentAuthors" Target="commentAuthor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219" Type="http://schemas.openxmlformats.org/officeDocument/2006/relationships/presProps" Target="presProps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0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openxmlformats.org/officeDocument/2006/relationships/slide" Target="slides/slide209.xml"/><Relationship Id="rId215" Type="http://schemas.openxmlformats.org/officeDocument/2006/relationships/slide" Target="slides/slide214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theme" Target="theme/theme1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tableStyles" Target="tableStyles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52DBD42-2C63-481F-813D-CAE2454CDE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18952D2-03C2-4B96-9630-2331BC34FD5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77116216-E016-4B76-AEEC-3FFB15D14D27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A3AD8C60-1A6F-4C5C-8C44-228686A1FE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69C83C59-9895-4ECD-B5F3-A66E506D6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6A8E6F-5058-4DCE-9789-3D66AEB17B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80F092-B945-406D-8067-D2C31A2AD3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C47AE3C-1DE6-4E0A-AD26-BD7437C7171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3237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13E6E0F4-1EA0-4D17-A3AC-374020F02C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C6519C1-9376-46A5-8946-CFE1D43B7833}" type="slidenum">
              <a:rPr lang="en-US" altLang="zh-CN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CAA62F16-6539-4201-BCBB-081228715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22E2CFF6-E793-444B-B46B-D03B896AB4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不细讲！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330398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47AE3C-1DE6-4E0A-AD26-BD7437C7171C}" type="slidenum">
              <a:rPr lang="zh-CN" altLang="en-US" smtClean="0"/>
              <a:pPr>
                <a:defRPr/>
              </a:pPr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245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C47AE3C-1DE6-4E0A-AD26-BD7437C7171C}" type="slidenum">
              <a:rPr lang="zh-CN" altLang="en-US" smtClean="0"/>
              <a:pPr>
                <a:defRPr/>
              </a:pPr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806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7D9785-5C7C-4F10-8696-7F05E158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48122B-93DA-46DE-9610-EFF7EE7DD5FC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E52011-B46A-4944-8C51-1943B4148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31FAC-2703-4162-A301-9F501FEE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7E44C-73CA-48B5-AE6A-DDCB330A82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917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2904AB-5841-4947-A79C-7E35D3614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6A4B3-12BB-490F-8891-B94234E77CF4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4FBA67-120B-405B-8426-51A0383DA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AD0F94-1AB1-4BD7-9306-AECB8B779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0F85F-C65F-4FAE-BA2E-C3210F53E03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2808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594F3D-1D1C-4095-8EB8-2D6C429B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C9D99B-A1C0-474F-96E4-4C1120D30DC9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0AC6EE-A21E-441B-84A0-3692BD2D0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FD9A28-A97D-4BA5-9160-56B82B6D8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4CC8E1-49DA-4C51-B9D4-F7C3DC4A3D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17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7E5A64BC-89AB-4087-809B-42E87D11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8EC72-6A9C-4741-8D08-1245CB3638E3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091B858D-E1E3-4E33-B2DA-DD316AD46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387B345-6BD2-4E5F-8FD2-2A6F06EA7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A0695-1EB0-4F43-913E-96909EAC1A8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29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3E49FF18-9105-4833-9BE5-812192C06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B9C12D-BE55-4B5C-9A38-D818C97C70E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D475A787-2948-4D4B-B851-DD2729B6F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B04E18FD-A1F0-40E5-AF8D-BEA517EF7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5C04A9-3724-45A9-A06E-398ADA06653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636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DCB68C34-71DE-43C5-9C60-0E8D3B303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D5D32-0D73-4DCA-91CC-9B64AEB79E4B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199978B7-6A31-4E65-8D9E-C31AB14F3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89E72CF-EF1D-4C25-8A53-60573873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45FA4-6130-4543-B237-595F1B0C86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472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753B55F2-ECC5-4415-8856-F1BB357C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9A4DCA-AA70-4692-BB81-2D97E8E107F3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5A6E98F5-3F92-452A-AD85-1C36C9B4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5E3825F0-07F7-4BD2-8344-51CF7DD8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B14EA-4D3E-4D21-8452-AAE2EC8D9C1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064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8F3A628-D5D8-4F65-B2F9-F04D30C91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7140A8-829B-494E-A7D4-A1F6B09A2556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5814225-16DD-4D91-ACE2-C41258D38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DCDE03EB-25C6-478C-A3E2-1F68EF6B3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DA5B8-61B4-4F08-A79D-25537C49118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5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AF2AA31C-11AB-4A7E-A7EF-66D05557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840377-E043-48D2-8B8F-C00CC3880533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83A22B02-FF94-4E23-8EC2-0677CC0D7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48CC61F0-6E2C-44A0-A860-73B23C23D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3A315E-8F34-42D5-9C91-3D8A7D5B4DF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124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500693-A621-4E02-9E78-476E2E820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FBFFA-C194-4431-88C9-D5FCBBE240B3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85B89E-DACC-471B-B5FD-C7AD056A4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A3DFA-9FD4-4B69-ADD0-1F6F9A3D3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DC924C-B605-44AB-89D0-F7DF7B995E9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58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CDD970-B98B-437B-A1C8-A240FD13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BBFE46-1C2F-4F1F-BBDA-C7B419CCDEC8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6E74AF-2C67-48F8-9733-91721B62B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0FB892-8A7A-4DCF-AF4A-401C9C62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80542-B643-46BD-B6CE-8DDCC0FDCCE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4982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27CF18A3-CD77-4585-BC64-9AE38406B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B5DF22B-6CE9-4FB4-983B-B032DF1AF4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720A8704-ECA6-453C-95E9-32D2194C44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12A0AA-0961-4A87-BBA1-6CAD824F1E5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125595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id="{5B93B2B8-EC58-4A25-939F-19A8F2B1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id="{548A247D-4DFB-4E99-9C54-4A1F119FC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B2D97B-20CC-4390-A624-F82CC12228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583D615-11C0-439E-BFAB-ACEFAD82FDBE}" type="datetimeFigureOut">
              <a:rPr lang="zh-CN" altLang="en-US"/>
              <a:pPr>
                <a:defRPr/>
              </a:pPr>
              <a:t>2026/4/28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D119DE-A8B4-42F9-A1F9-B72738CE4B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00D18B-88B4-4CFE-8E9C-00AA8653A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8788B66-C6FA-417C-9679-4985C0C12B3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4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zhuanlan.zhihu.com/p/489415485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zhuanlan.zhihu.com/p/395031458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jpeg"/><Relationship Id="rId4" Type="http://schemas.openxmlformats.org/officeDocument/2006/relationships/image" Target="../media/image60.jpe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AD%98%E5%82%A8" TargetMode="External"/><Relationship Id="rId2" Type="http://schemas.openxmlformats.org/officeDocument/2006/relationships/hyperlink" Target="https://baike.baidu.com/item/%E8%A1%8C%E5%9C%B0%E5%9D%8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hyperlink" Target="https://baike.baidu.com/item/%E6%95%B0%E6%8D%AE%E8%BE%93%E5%87%BA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q=%E6%8E%A5%E5%8F%A3%E9%80%9F%E5%BA%A6&amp;search_source=Entity&amp;hybrid_search_source=Entity&amp;hybrid_search_extra=%7b%22sourceType%22:%22article%22,%22sourceId%22:%2220940759%22%7d" TargetMode="External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631577556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hyperlink" Target="https://zhuanlan.zhihu.com/p/440249238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5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hihu.com/search?q=%E5%86%99%E5%85%A5&amp;search_source=Entity&amp;hybrid_search_source=Entity&amp;hybrid_search_extra=%7b%22sourceType%22:%22article%22,%22sourceId%22:%22571429282%22%7d" TargetMode="External"/><Relationship Id="rId2" Type="http://schemas.openxmlformats.org/officeDocument/2006/relationships/image" Target="../media/image117.jp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4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4.png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hyperlink" Target="https://zhuanlan.zhihu.com/p/570527388" TargetMode="Externa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">
            <a:extLst>
              <a:ext uri="{FF2B5EF4-FFF2-40B4-BE49-F238E27FC236}">
                <a16:creationId xmlns:a16="http://schemas.microsoft.com/office/drawing/2014/main" id="{295215EF-3CBC-4710-B012-4A2768D0A7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268760"/>
            <a:ext cx="9144000" cy="1470025"/>
          </a:xfrm>
        </p:spPr>
        <p:txBody>
          <a:bodyPr/>
          <a:lstStyle/>
          <a:p>
            <a:pPr eaLnBrk="1" hangingPunct="1"/>
            <a:r>
              <a:rPr lang="en-US" altLang="zh-CN" sz="7200" b="1" dirty="0">
                <a:solidFill>
                  <a:srgbClr val="0070C0"/>
                </a:solidFill>
              </a:rPr>
              <a:t>《</a:t>
            </a:r>
            <a:r>
              <a:rPr lang="zh-CN" altLang="en-US" sz="7200" b="1" dirty="0">
                <a:solidFill>
                  <a:srgbClr val="0070C0"/>
                </a:solidFill>
              </a:rPr>
              <a:t>计算机组成原理</a:t>
            </a:r>
            <a:r>
              <a:rPr lang="en-US" altLang="zh-CN" sz="7200" b="1" dirty="0">
                <a:solidFill>
                  <a:srgbClr val="0070C0"/>
                </a:solidFill>
              </a:rPr>
              <a:t>》</a:t>
            </a:r>
            <a:br>
              <a:rPr lang="en-US" altLang="zh-CN" sz="6000" b="1" dirty="0"/>
            </a:br>
            <a:r>
              <a:rPr lang="zh-CN" altLang="en-US" sz="4000" b="1" dirty="0">
                <a:solidFill>
                  <a:srgbClr val="0070C0"/>
                </a:solidFill>
              </a:rPr>
              <a:t>（第四讲）</a:t>
            </a:r>
            <a:endParaRPr lang="zh-CN" altLang="en-US" sz="6000" b="1" dirty="0">
              <a:solidFill>
                <a:srgbClr val="0070C0"/>
              </a:solidFill>
            </a:endParaRPr>
          </a:p>
        </p:txBody>
      </p:sp>
      <p:sp>
        <p:nvSpPr>
          <p:cNvPr id="4099" name="副标题 2">
            <a:extLst>
              <a:ext uri="{FF2B5EF4-FFF2-40B4-BE49-F238E27FC236}">
                <a16:creationId xmlns:a16="http://schemas.microsoft.com/office/drawing/2014/main" id="{2DA7DAB7-E8C0-4043-8A20-FF892A4D1E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4748213"/>
            <a:ext cx="9144000" cy="1752600"/>
          </a:xfrm>
        </p:spPr>
        <p:txBody>
          <a:bodyPr/>
          <a:lstStyle/>
          <a:p>
            <a:pPr eaLnBrk="1" hangingPunct="1"/>
            <a:r>
              <a:rPr lang="zh-CN" altLang="en-US" sz="2800" b="1" dirty="0">
                <a:solidFill>
                  <a:srgbClr val="002060"/>
                </a:solidFill>
              </a:rPr>
              <a:t>厦门大学信息学院软件工程系  张海英</a:t>
            </a:r>
            <a:endParaRPr lang="en-US" altLang="zh-CN" sz="2800" b="1" dirty="0">
              <a:solidFill>
                <a:srgbClr val="002060"/>
              </a:solidFill>
            </a:endParaRPr>
          </a:p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</a:rPr>
              <a:t>2026</a:t>
            </a:r>
            <a:r>
              <a:rPr lang="zh-CN" altLang="en-US" sz="2800" b="1" dirty="0">
                <a:solidFill>
                  <a:srgbClr val="002060"/>
                </a:solidFill>
              </a:rPr>
              <a:t>年</a:t>
            </a:r>
            <a:r>
              <a:rPr lang="en-US" altLang="zh-CN" sz="2800" b="1" dirty="0">
                <a:solidFill>
                  <a:srgbClr val="002060"/>
                </a:solidFill>
              </a:rPr>
              <a:t>4</a:t>
            </a:r>
            <a:r>
              <a:rPr lang="zh-CN" altLang="en-US" sz="2800" b="1" dirty="0">
                <a:solidFill>
                  <a:srgbClr val="002060"/>
                </a:solidFill>
              </a:rPr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>
            <a:extLst>
              <a:ext uri="{FF2B5EF4-FFF2-40B4-BE49-F238E27FC236}">
                <a16:creationId xmlns:a16="http://schemas.microsoft.com/office/drawing/2014/main" id="{BC7DA5A3-741B-4316-B689-929D02FEF7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196975"/>
            <a:ext cx="8029575" cy="5545138"/>
          </a:xfrm>
        </p:spPr>
        <p:txBody>
          <a:bodyPr rtlCol="0">
            <a:normAutofit fontScale="92500" lnSpcReduction="10000"/>
          </a:bodyPr>
          <a:lstStyle/>
          <a:p>
            <a:pPr lvl="1" eaLnBrk="1" fontAlgn="auto" hangingPunct="1">
              <a:lnSpc>
                <a:spcPct val="80000"/>
              </a:lnSpc>
              <a:spcAft>
                <a:spcPts val="0"/>
              </a:spcAft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章　计算机系统概论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章　数据信息的表示 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章　运算方法与运算器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>
                <a:solidFill>
                  <a:srgbClr val="C00000"/>
                </a:solidFill>
              </a:rPr>
              <a:t>第</a:t>
            </a:r>
            <a:r>
              <a:rPr lang="en-US" altLang="zh-CN" b="1" dirty="0">
                <a:solidFill>
                  <a:srgbClr val="C00000"/>
                </a:solidFill>
              </a:rPr>
              <a:t>4</a:t>
            </a:r>
            <a:r>
              <a:rPr lang="zh-CN" altLang="en-US" b="1" dirty="0">
                <a:solidFill>
                  <a:srgbClr val="C00000"/>
                </a:solidFill>
              </a:rPr>
              <a:t>章　存储系统　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章　指令系统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章　中央处理器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章　指令流水线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章　总线系统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章　输入输出系统　</a:t>
            </a:r>
            <a:endParaRPr lang="en-US" altLang="zh-CN" b="1" dirty="0"/>
          </a:p>
          <a:p>
            <a:pPr marL="857250" lvl="2" indent="0" eaLnBrk="1" fontAlgn="auto" hangingPunct="1">
              <a:lnSpc>
                <a:spcPct val="8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zh-CN" alt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FDF042-D2FF-4287-BE4A-112B23C84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1772816"/>
            <a:ext cx="2919785" cy="4039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3EA1DE9-A480-42DF-9BF1-3530731C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ECEDD-52BA-4709-B6A3-077E33697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第</a:t>
            </a:r>
            <a:r>
              <a:rPr lang="en-US" altLang="zh-CN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4</a:t>
            </a:r>
            <a:r>
              <a:rPr lang="zh-CN" altLang="en-US" b="1" dirty="0">
                <a:solidFill>
                  <a:schemeClr val="tx2"/>
                </a:solidFill>
                <a:latin typeface="+mn-lt"/>
                <a:ea typeface="黑体" pitchFamily="49" charset="-122"/>
              </a:rPr>
              <a:t>章    存储系统</a:t>
            </a:r>
            <a:endParaRPr lang="zh-CN" altLang="en-US" dirty="0">
              <a:solidFill>
                <a:schemeClr val="tx2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B6EC2CD-ED79-448C-A492-355A716928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484784"/>
            <a:ext cx="8229600" cy="4525963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4.1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存储器概述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4.2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半导体存储器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4.3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主存的组织及与</a:t>
            </a: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CPU 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的连接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4.4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并行主存系统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4.5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高速缓冲存储器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4.6</a:t>
            </a:r>
            <a:r>
              <a:rPr lang="zh-CN" altLang="en-US" sz="2800" b="1" dirty="0">
                <a:solidFill>
                  <a:srgbClr val="002060"/>
                </a:solidFill>
                <a:ea typeface="黑体" panose="02010609060101010101" pitchFamily="49" charset="-122"/>
              </a:rPr>
              <a:t>　虚拟存储器</a:t>
            </a:r>
            <a:endParaRPr lang="en-US" altLang="zh-CN" sz="2800" b="1" dirty="0">
              <a:solidFill>
                <a:srgbClr val="002060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4.1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存储器概述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173ACA72-1E9B-471B-8F81-50886F0D9F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7715200" cy="452596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4.1.1　存储器分类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、按存储介质分类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）磁存储器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硬盘</a:t>
            </a:r>
            <a:r>
              <a:rPr lang="zh-CN" altLang="en-US" sz="1400" b="1" dirty="0"/>
              <a:t>、磁带，早期的软盘、磁芯（属于内存）</a:t>
            </a:r>
            <a:endParaRPr lang="en-US" altLang="zh-CN" sz="16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）半导体存储器</a:t>
            </a:r>
            <a:endParaRPr lang="en-US" altLang="zh-CN" sz="18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双极型存储器（</a:t>
            </a:r>
            <a:r>
              <a:rPr lang="en-US" altLang="zh-CN" sz="1400" b="1" dirty="0"/>
              <a:t>TTL</a:t>
            </a:r>
            <a:r>
              <a:rPr lang="zh-CN" altLang="en-US" sz="1400" b="1" dirty="0"/>
              <a:t>型和</a:t>
            </a:r>
            <a:r>
              <a:rPr lang="en-US" altLang="zh-CN" sz="1400" b="1" dirty="0"/>
              <a:t>ECL</a:t>
            </a:r>
            <a:r>
              <a:rPr lang="zh-CN" altLang="en-US" sz="1400" b="1" dirty="0"/>
              <a:t>型）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金属氧化物半导体存储器（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存储器）：静态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存储器（</a:t>
            </a:r>
            <a:r>
              <a:rPr lang="en-US" altLang="zh-CN" sz="1400" b="1" dirty="0">
                <a:solidFill>
                  <a:srgbClr val="C00000"/>
                </a:solidFill>
              </a:rPr>
              <a:t>SRAM</a:t>
            </a:r>
            <a:r>
              <a:rPr lang="zh-CN" altLang="en-US" sz="1400" b="1" dirty="0"/>
              <a:t>）、动态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存储器（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  <a:r>
              <a:rPr lang="zh-CN" altLang="en-US" sz="1400" b="1" dirty="0"/>
              <a:t>）；如内存条就属于</a:t>
            </a:r>
            <a:r>
              <a:rPr lang="en-US" altLang="zh-CN" sz="1400" b="1" dirty="0"/>
              <a:t>DRAM</a:t>
            </a:r>
            <a:endParaRPr lang="en-US" altLang="zh-CN" sz="16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）光存储器</a:t>
            </a:r>
            <a:endParaRPr lang="en-US" altLang="zh-CN" sz="1800" b="1" dirty="0"/>
          </a:p>
          <a:p>
            <a:pPr lvl="3" eaLnBrk="1" hangingPunct="1"/>
            <a:r>
              <a:rPr lang="zh-CN" altLang="en-US" sz="1400" b="1" dirty="0"/>
              <a:t>光盘：</a:t>
            </a:r>
            <a:r>
              <a:rPr lang="en-US" altLang="zh-CN" sz="1400" b="1" dirty="0"/>
              <a:t>CD-ROM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DVD-ROM</a:t>
            </a:r>
            <a:endParaRPr lang="en-US" altLang="zh-CN" sz="18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C2FE2F9-B55D-4957-862B-2EEA93E66E86}"/>
              </a:ext>
            </a:extLst>
          </p:cNvPr>
          <p:cNvSpPr txBox="1"/>
          <p:nvPr/>
        </p:nvSpPr>
        <p:spPr>
          <a:xfrm>
            <a:off x="4572000" y="4933397"/>
            <a:ext cx="4446240" cy="17081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050" b="1" dirty="0"/>
              <a:t>TTL：Transistor Transistor Logic，晶体管-晶体管逻辑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ECL：Emitter Coupled Logic，发射极耦合逻辑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MOS：Metal-Oxide-Semiconductor Field-Effect Transistor，金属-氧化物半导体场效应晶体管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SRAM：Static Random-Access Memory，静态随机存取存储器</a:t>
            </a:r>
          </a:p>
          <a:p>
            <a:endParaRPr lang="en-US" altLang="zh-CN" sz="1050" b="1" dirty="0"/>
          </a:p>
          <a:p>
            <a:r>
              <a:rPr lang="zh-CN" altLang="en-US" sz="1050" b="1" dirty="0"/>
              <a:t>DRAM：Dynamic Random Access Memory，动态随机存取存储器</a:t>
            </a:r>
          </a:p>
        </p:txBody>
      </p:sp>
    </p:spTree>
    <p:extLst>
      <p:ext uri="{BB962C8B-B14F-4D97-AF65-F5344CB8AC3E}">
        <p14:creationId xmlns:p14="http://schemas.microsoft.com/office/powerpoint/2010/main" val="863832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A7F42C-B1A5-4B7B-9C84-73654D3CB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4.1.1　存储器分类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054E1-C4D3-49B7-8CF9-281A1E048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0060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、按存取方式分类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）随机存储器：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Random Access Memory 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可按照地址随机读写数据存储单元，且存取访问时间与存储单元的位置无关，如</a:t>
            </a:r>
            <a:r>
              <a:rPr lang="en-US" altLang="zh-CN" sz="1200" b="1" dirty="0">
                <a:solidFill>
                  <a:srgbClr val="C00000"/>
                </a:solidFill>
              </a:rPr>
              <a:t>SRAM</a:t>
            </a:r>
            <a:r>
              <a:rPr lang="zh-CN" altLang="en-US" sz="1200" b="1" dirty="0">
                <a:solidFill>
                  <a:srgbClr val="C00000"/>
                </a:solidFill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）顺序存储器：</a:t>
            </a:r>
            <a:r>
              <a:rPr lang="en-US" altLang="zh-CN" sz="1600" b="1" dirty="0"/>
              <a:t>SAM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Sequential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存储单元中的内容只能依地址顺序访问，且访问的速度与存储单元的位置有关，如</a:t>
            </a:r>
            <a:r>
              <a:rPr lang="zh-CN" altLang="en-US" sz="1200" b="1" dirty="0">
                <a:solidFill>
                  <a:srgbClr val="C00000"/>
                </a:solidFill>
              </a:rPr>
              <a:t>磁带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05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）直接存储器：</a:t>
            </a:r>
            <a:r>
              <a:rPr lang="en-US" altLang="zh-CN" sz="1600" b="1" dirty="0"/>
              <a:t>DAM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Direct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不必经过顺序搜索就能在存储器中直接存取信息，如</a:t>
            </a:r>
            <a:r>
              <a:rPr lang="zh-CN" altLang="en-US" sz="1200" b="1" dirty="0">
                <a:solidFill>
                  <a:srgbClr val="C00000"/>
                </a:solidFill>
              </a:rPr>
              <a:t>磁盘：磁道随机访问，扇区顺序访问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3" eaLnBrk="1" hangingPunct="1"/>
            <a:r>
              <a:rPr lang="zh-CN" altLang="en-US" sz="1200" b="1" dirty="0">
                <a:solidFill>
                  <a:srgbClr val="C00000"/>
                </a:solidFill>
              </a:rPr>
              <a:t>硬盘的读写原理详解 </a:t>
            </a:r>
            <a:r>
              <a:rPr lang="en-US" altLang="zh-CN" sz="1200" b="1" dirty="0">
                <a:solidFill>
                  <a:srgbClr val="C00000"/>
                </a:solidFill>
              </a:rPr>
              <a:t>- </a:t>
            </a:r>
            <a:r>
              <a:rPr lang="zh-CN" altLang="en-US" sz="1200" b="1" dirty="0">
                <a:solidFill>
                  <a:srgbClr val="C00000"/>
                </a:solidFill>
              </a:rPr>
              <a:t>知乎  </a:t>
            </a:r>
            <a:r>
              <a:rPr lang="en-US" altLang="zh-CN" sz="1200" b="1" dirty="0">
                <a:solidFill>
                  <a:srgbClr val="C00000"/>
                </a:solidFill>
              </a:rPr>
              <a:t>https://zhuanlan.zhihu.com/p/379550433</a:t>
            </a:r>
          </a:p>
          <a:p>
            <a:pPr lvl="3" eaLnBrk="1" hangingPunct="1"/>
            <a:endParaRPr lang="en-US" altLang="zh-CN" sz="1050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、按信息的可改写性分类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）读写存储器：如</a:t>
            </a:r>
            <a:r>
              <a:rPr lang="en-US" altLang="zh-CN" sz="1600" b="1" dirty="0">
                <a:solidFill>
                  <a:srgbClr val="C00000"/>
                </a:solidFill>
              </a:rPr>
              <a:t>RAM</a:t>
            </a:r>
            <a:r>
              <a:rPr lang="zh-CN" altLang="en-US" sz="1600" b="1" dirty="0"/>
              <a:t>（Random Access Memory）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）只读存储器：</a:t>
            </a:r>
            <a:r>
              <a:rPr lang="en-US" altLang="zh-CN" sz="1600" b="1" dirty="0">
                <a:solidFill>
                  <a:srgbClr val="C00000"/>
                </a:solidFill>
              </a:rPr>
              <a:t>ROM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Read Only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、按信息的可保存性分类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）易失性存储器：断电后存储器中的信息会丢失，如</a:t>
            </a:r>
            <a:r>
              <a:rPr lang="en-US" altLang="zh-CN" sz="1600" b="1" dirty="0">
                <a:solidFill>
                  <a:srgbClr val="C00000"/>
                </a:solidFill>
              </a:rPr>
              <a:t>RAM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）非易失性存储器：断电后存储器中的信息不会丢失，如</a:t>
            </a:r>
            <a:r>
              <a:rPr lang="en-US" altLang="zh-CN" sz="1600" b="1" dirty="0">
                <a:solidFill>
                  <a:srgbClr val="C00000"/>
                </a:solidFill>
              </a:rPr>
              <a:t>ROM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硬盘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390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FAAC3A-8E9B-4A63-8074-F2C738DD9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4.1.1　存储器分类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C054E1-C4D3-49B7-8CF9-281A1E048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417344"/>
          </a:xfrm>
        </p:spPr>
        <p:txBody>
          <a:bodyPr/>
          <a:lstStyle/>
          <a:p>
            <a:pPr lvl="1" eaLnBrk="1" hangingPunct="1"/>
            <a:r>
              <a:rPr lang="en-US" altLang="zh-CN" b="1" dirty="0"/>
              <a:t>5</a:t>
            </a:r>
            <a:r>
              <a:rPr lang="zh-CN" altLang="en-US" b="1" dirty="0"/>
              <a:t>、按功能和存取速度分类</a:t>
            </a:r>
            <a:endParaRPr lang="en-US" altLang="zh-CN" sz="20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）寄存器存储器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由多个寄存器（在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中）组成的存储器</a:t>
            </a:r>
            <a:endParaRPr lang="en-US" altLang="zh-CN" sz="9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）高速缓存存储器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高速缓存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/>
              <a:t>，位于寄存器（在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中）和主存之间的一个高速小容量存储器，一般采用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构成，用于缓冲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与慢速主存之间的性能差异</a:t>
            </a:r>
            <a:endParaRPr lang="en-US" altLang="zh-CN" sz="9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）主存储器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简称</a:t>
            </a:r>
            <a:r>
              <a:rPr lang="zh-CN" altLang="en-US" sz="1600" b="1" dirty="0">
                <a:solidFill>
                  <a:srgbClr val="C00000"/>
                </a:solidFill>
              </a:rPr>
              <a:t>主存</a:t>
            </a:r>
            <a:r>
              <a:rPr lang="zh-CN" altLang="en-US" sz="1600" b="1" dirty="0"/>
              <a:t>，一般由半导体存储器构成；如内存条就属于主存，采用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  <a:r>
              <a:rPr lang="zh-CN" altLang="en-US" sz="1600" b="1" dirty="0"/>
              <a:t>存储器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主存还包括</a:t>
            </a:r>
            <a:r>
              <a:rPr lang="en-US" altLang="zh-CN" sz="1600" b="1" dirty="0"/>
              <a:t>BIOS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Basic Input Output System</a:t>
            </a:r>
            <a:r>
              <a:rPr lang="zh-CN" altLang="en-US" sz="1600" b="1" dirty="0"/>
              <a:t>）、硬件端口等</a:t>
            </a:r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）外存储器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简称外存或辅助存储器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包括：硬盘、磁带、光盘存储器、磁盘阵列和网络存储系统</a:t>
            </a:r>
            <a:endParaRPr lang="en-US" altLang="zh-CN" sz="1600" b="1" dirty="0"/>
          </a:p>
          <a:p>
            <a:pPr lvl="3" eaLnBrk="1" hangingPunct="1"/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7781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7D0170-F236-4D1B-898F-6725AA6EE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存储器技术指标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75F61ED-3B40-4A2E-AFC3-48DBFFBED8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0858" y="1227578"/>
            <a:ext cx="8229600" cy="1869798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、存储容量</a:t>
            </a:r>
            <a:endParaRPr lang="en-US" altLang="zh-CN" sz="18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）位表示法</a:t>
            </a:r>
            <a:endParaRPr lang="en-US" altLang="zh-CN" sz="2000" b="1" dirty="0"/>
          </a:p>
          <a:p>
            <a:pPr lvl="3" eaLnBrk="1" hangingPunct="1"/>
            <a:r>
              <a:rPr lang="en-US" altLang="zh-CN" sz="1600" b="1" dirty="0"/>
              <a:t>1Kx4</a:t>
            </a:r>
            <a:r>
              <a:rPr lang="zh-CN" altLang="en-US" sz="1600" b="1" dirty="0"/>
              <a:t>位：表示有</a:t>
            </a:r>
            <a:r>
              <a:rPr lang="en-US" altLang="zh-CN" sz="1600" b="1" dirty="0"/>
              <a:t>1K</a:t>
            </a:r>
            <a:r>
              <a:rPr lang="zh-CN" altLang="en-US" sz="1600" b="1" dirty="0"/>
              <a:t>个单元（</a:t>
            </a:r>
            <a:r>
              <a:rPr lang="en-US" altLang="zh-CN" sz="1600" b="1" dirty="0"/>
              <a:t>1024</a:t>
            </a:r>
            <a:r>
              <a:rPr lang="zh-CN" altLang="en-US" sz="1600" b="1" dirty="0"/>
              <a:t>个单元），每个单元存放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）字节表示法</a:t>
            </a:r>
            <a:endParaRPr lang="en-US" altLang="zh-CN" sz="2000" b="1" dirty="0"/>
          </a:p>
          <a:p>
            <a:pPr lvl="3" eaLnBrk="1" hangingPunct="1"/>
            <a:r>
              <a:rPr lang="en-US" altLang="zh-CN" sz="1400" b="1" dirty="0"/>
              <a:t>128B</a:t>
            </a:r>
            <a:r>
              <a:rPr lang="zh-CN" altLang="en-US" sz="1400" b="1" dirty="0"/>
              <a:t>：表示有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个单元，每个单元存放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个字节（</a:t>
            </a:r>
            <a:r>
              <a:rPr lang="en-US" altLang="zh-CN" sz="1400" b="1" dirty="0"/>
              <a:t>1B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Byte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E87B965-FC61-4528-A6F0-54C4E760D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36" y="3317101"/>
            <a:ext cx="3240360" cy="26206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E474738-D2F0-4E08-91E3-6C4BE14DDA5A}"/>
              </a:ext>
            </a:extLst>
          </p:cNvPr>
          <p:cNvSpPr txBox="1"/>
          <p:nvPr/>
        </p:nvSpPr>
        <p:spPr>
          <a:xfrm>
            <a:off x="4572000" y="4961881"/>
            <a:ext cx="3497560" cy="16004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b="1" dirty="0"/>
              <a:t>5TB</a:t>
            </a:r>
            <a:r>
              <a:rPr lang="zh-CN" altLang="en-US" sz="1400" b="1" dirty="0"/>
              <a:t>移动硬盘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en-US" altLang="zh-CN" sz="1400" b="1" dirty="0">
                <a:solidFill>
                  <a:srgbClr val="C00000"/>
                </a:solidFill>
              </a:rPr>
              <a:t>5TB</a:t>
            </a:r>
            <a:r>
              <a:rPr lang="en-US" altLang="zh-CN" sz="1400" b="1" dirty="0"/>
              <a:t>=5x1000x1000x1000x1000</a:t>
            </a:r>
          </a:p>
          <a:p>
            <a:r>
              <a:rPr lang="en-US" altLang="zh-CN" sz="1400" b="1" dirty="0"/>
              <a:t>=5x10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B/(1024x1024x1024x1024)≈</a:t>
            </a:r>
            <a:r>
              <a:rPr lang="en-US" altLang="zh-CN" sz="1400" b="1" dirty="0">
                <a:solidFill>
                  <a:srgbClr val="C00000"/>
                </a:solidFill>
              </a:rPr>
              <a:t>4.54TiB</a:t>
            </a:r>
          </a:p>
          <a:p>
            <a:endParaRPr lang="en-US" altLang="zh-CN" sz="1400" b="1" dirty="0"/>
          </a:p>
          <a:p>
            <a:r>
              <a:rPr lang="en-US" altLang="zh-CN" sz="1400" b="1" dirty="0"/>
              <a:t>5,000,945,201,152/(1024x1024x1024x1024)</a:t>
            </a:r>
          </a:p>
          <a:p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4.54TiB</a:t>
            </a:r>
            <a:endParaRPr lang="zh-CN" altLang="en-US" sz="1400" b="1" dirty="0">
              <a:solidFill>
                <a:srgbClr val="C0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141AEC-0019-4963-B335-B4F75D678AB3}"/>
              </a:ext>
            </a:extLst>
          </p:cNvPr>
          <p:cNvSpPr txBox="1"/>
          <p:nvPr/>
        </p:nvSpPr>
        <p:spPr>
          <a:xfrm>
            <a:off x="4572000" y="2924944"/>
            <a:ext cx="1527584" cy="19543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100" b="1" dirty="0"/>
              <a:t>1KiB=1024B=2</a:t>
            </a:r>
            <a:r>
              <a:rPr lang="en-US" altLang="zh-CN" sz="1100" b="1" baseline="30000" dirty="0"/>
              <a:t>10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1MiB=1024KB=2</a:t>
            </a:r>
            <a:r>
              <a:rPr lang="en-US" altLang="zh-CN" sz="1100" b="1" baseline="30000" dirty="0"/>
              <a:t>20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1GiB=1024MB=2</a:t>
            </a:r>
            <a:r>
              <a:rPr lang="en-US" altLang="zh-CN" sz="1100" b="1" baseline="30000" dirty="0"/>
              <a:t>30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1TiB=1024GB=2</a:t>
            </a:r>
            <a:r>
              <a:rPr lang="en-US" altLang="zh-CN" sz="1100" b="1" baseline="30000" dirty="0"/>
              <a:t>40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1PiB=1024TB=2</a:t>
            </a:r>
            <a:r>
              <a:rPr lang="en-US" altLang="zh-CN" sz="1100" b="1" baseline="30000" dirty="0"/>
              <a:t>50</a:t>
            </a:r>
            <a:r>
              <a:rPr lang="en-US" altLang="zh-CN" sz="1100" b="1" dirty="0"/>
              <a:t>B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1KB=1000B=10</a:t>
            </a:r>
            <a:r>
              <a:rPr lang="en-US" altLang="zh-CN" sz="1100" b="1" baseline="30000" dirty="0"/>
              <a:t>3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1MB=1000KiB=10</a:t>
            </a:r>
            <a:r>
              <a:rPr lang="en-US" altLang="zh-CN" sz="1100" b="1" baseline="30000" dirty="0"/>
              <a:t>6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1GB=1000MiB=10</a:t>
            </a:r>
            <a:r>
              <a:rPr lang="en-US" altLang="zh-CN" sz="1100" b="1" baseline="30000" dirty="0"/>
              <a:t>9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1TB=1000GiB=10</a:t>
            </a:r>
            <a:r>
              <a:rPr lang="en-US" altLang="zh-CN" sz="1100" b="1" baseline="30000" dirty="0"/>
              <a:t>12</a:t>
            </a:r>
            <a:r>
              <a:rPr lang="en-US" altLang="zh-CN" sz="1100" b="1" dirty="0"/>
              <a:t>B</a:t>
            </a:r>
          </a:p>
          <a:p>
            <a:r>
              <a:rPr lang="en-US" altLang="zh-CN" sz="1100" b="1" dirty="0"/>
              <a:t>1PB=1000TiB=10</a:t>
            </a:r>
            <a:r>
              <a:rPr lang="en-US" altLang="zh-CN" sz="1100" b="1" baseline="30000" dirty="0"/>
              <a:t>15</a:t>
            </a:r>
            <a:r>
              <a:rPr lang="en-US" altLang="zh-CN" sz="1100" b="1" dirty="0"/>
              <a:t>B</a:t>
            </a:r>
            <a:endParaRPr lang="zh-CN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645559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F36E72-2C2D-4D4A-ACD5-F8ADC23B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存储器技术指标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CC88B89-9A1E-492B-A843-2C5B88085D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550334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、存取速度</a:t>
            </a:r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）存取时间</a:t>
            </a:r>
            <a:endParaRPr lang="en-US" altLang="zh-CN" sz="2000" b="1" dirty="0"/>
          </a:p>
          <a:p>
            <a:pPr lvl="3" eaLnBrk="1" hangingPunct="1"/>
            <a:r>
              <a:rPr lang="zh-CN" altLang="en-US" sz="1600" b="1" dirty="0"/>
              <a:t>也称存储器的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访问时间</a:t>
            </a:r>
            <a:r>
              <a:rPr lang="zh-CN" altLang="en-US" sz="1600" b="1" dirty="0"/>
              <a:t>，指启动一次存储器操作（读或写）到该操作完成所经历的时间，</a:t>
            </a:r>
            <a:r>
              <a:rPr lang="zh-CN" altLang="en-US" sz="1600" b="1" dirty="0">
                <a:solidFill>
                  <a:srgbClr val="C00000"/>
                </a:solidFill>
              </a:rPr>
              <a:t>读时间</a:t>
            </a:r>
            <a:r>
              <a:rPr lang="zh-CN" altLang="en-US" sz="1600" b="1" dirty="0"/>
              <a:t>和</a:t>
            </a:r>
            <a:r>
              <a:rPr lang="zh-CN" altLang="en-US" sz="1600" b="1" dirty="0">
                <a:solidFill>
                  <a:srgbClr val="C00000"/>
                </a:solidFill>
              </a:rPr>
              <a:t>写时间</a:t>
            </a:r>
            <a:r>
              <a:rPr lang="zh-CN" altLang="en-US" sz="1600" b="1" dirty="0"/>
              <a:t>可能不同，例如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读慢写快，闪存（</a:t>
            </a:r>
            <a:r>
              <a:rPr lang="en-US" altLang="zh-CN" sz="1600" b="1" dirty="0"/>
              <a:t>U</a:t>
            </a:r>
            <a:r>
              <a:rPr lang="zh-CN" altLang="en-US" sz="1600" b="1" dirty="0"/>
              <a:t>盘）读快写慢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）存取周期</a:t>
            </a:r>
            <a:endParaRPr lang="en-US" altLang="zh-CN" sz="2000" b="1" dirty="0"/>
          </a:p>
          <a:p>
            <a:pPr lvl="3" eaLnBrk="1" hangingPunct="1"/>
            <a:r>
              <a:rPr lang="zh-CN" altLang="en-US" sz="1400" b="1" dirty="0"/>
              <a:t>指连续启动两次访问操作之间的最短时间间隔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存取周期 </a:t>
            </a:r>
            <a:r>
              <a:rPr lang="en-US" altLang="zh-CN" sz="1400" b="1" dirty="0">
                <a:solidFill>
                  <a:srgbClr val="C00000"/>
                </a:solidFill>
              </a:rPr>
              <a:t>&gt; </a:t>
            </a:r>
            <a:r>
              <a:rPr lang="zh-CN" altLang="en-US" sz="1400" b="1" dirty="0">
                <a:solidFill>
                  <a:srgbClr val="C00000"/>
                </a:solidFill>
              </a:rPr>
              <a:t>存取时间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存取周期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存取时间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恢复时间（存储器状态的稳定恢复时间）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2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）存储器带宽</a:t>
            </a:r>
            <a:endParaRPr lang="en-US" altLang="zh-CN" sz="2000" b="1" dirty="0"/>
          </a:p>
          <a:p>
            <a:pPr lvl="3" eaLnBrk="1" hangingPunct="1"/>
            <a:r>
              <a:rPr lang="zh-CN" altLang="en-US" sz="1400" b="1" dirty="0"/>
              <a:t>指单位时间内存储器所能传输的信息量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>
                <a:solidFill>
                  <a:srgbClr val="C00000"/>
                </a:solidFill>
              </a:rPr>
              <a:t>存储器带宽</a:t>
            </a:r>
            <a:r>
              <a:rPr lang="zh-CN" altLang="en-US" sz="1400" b="1" dirty="0"/>
              <a:t>的单位：位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秒，</a:t>
            </a:r>
            <a:r>
              <a:rPr lang="en-US" altLang="zh-CN" sz="1400" b="1" dirty="0"/>
              <a:t>b/s</a:t>
            </a:r>
            <a:r>
              <a:rPr lang="zh-CN" altLang="en-US" sz="1400" b="1" dirty="0"/>
              <a:t>；字节</a:t>
            </a:r>
            <a:r>
              <a:rPr lang="en-US" altLang="zh-CN" sz="1400" b="1" dirty="0"/>
              <a:t>/</a:t>
            </a:r>
            <a:r>
              <a:rPr lang="zh-CN" altLang="en-US" sz="1400" b="1" dirty="0"/>
              <a:t>秒，</a:t>
            </a:r>
            <a:r>
              <a:rPr lang="en-US" altLang="zh-CN" sz="1400" b="1" dirty="0"/>
              <a:t>B/s</a:t>
            </a:r>
          </a:p>
          <a:p>
            <a:pPr lvl="3" eaLnBrk="1" hangingPunct="1"/>
            <a:r>
              <a:rPr lang="zh-CN" altLang="en-US" sz="1400" b="1" dirty="0"/>
              <a:t>存储器带宽与存取时间的长短和一次传输的数据位的多少有关</a:t>
            </a:r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存取时间越短、数据位越宽，存储器带宽越高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3388214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515752DA-868D-41EC-949E-82AF86FD5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36" y="3801119"/>
            <a:ext cx="5825060" cy="286824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E5B774D-4AD6-411E-9941-9D87D7DDF472}"/>
              </a:ext>
            </a:extLst>
          </p:cNvPr>
          <p:cNvSpPr txBox="1"/>
          <p:nvPr/>
        </p:nvSpPr>
        <p:spPr>
          <a:xfrm>
            <a:off x="3131840" y="6361583"/>
            <a:ext cx="23762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    </a:t>
            </a:r>
            <a:r>
              <a:rPr lang="zh-CN" altLang="en-US" sz="1400" b="1" dirty="0"/>
              <a:t>存储系统的分级结构</a:t>
            </a:r>
            <a:endParaRPr lang="zh-CN" altLang="en-US" sz="1400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B4F5996-8E69-4F1F-957A-07141E54CE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66" y="1286612"/>
            <a:ext cx="8229600" cy="2646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zh-CN" altLang="en-US" sz="1600" b="1" dirty="0"/>
              <a:t>存储系统层次结构利用程序局部性的原理，从系统级角度将</a:t>
            </a:r>
            <a:r>
              <a:rPr lang="zh-CN" altLang="en-US" sz="1600" b="1" dirty="0">
                <a:solidFill>
                  <a:srgbClr val="C00000"/>
                </a:solidFill>
              </a:rPr>
              <a:t>速度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容量</a:t>
            </a:r>
            <a:r>
              <a:rPr lang="zh-CN" altLang="en-US" sz="1600" b="1" dirty="0"/>
              <a:t>、</a:t>
            </a:r>
            <a:r>
              <a:rPr lang="zh-CN" altLang="en-US" sz="1600" b="1" dirty="0">
                <a:solidFill>
                  <a:srgbClr val="C00000"/>
                </a:solidFill>
              </a:rPr>
              <a:t>成本</a:t>
            </a:r>
            <a:r>
              <a:rPr lang="zh-CN" altLang="en-US" sz="1600" b="1" dirty="0"/>
              <a:t>各异的存储器有机组合在一起，全方位优化存储系统的各项性能指标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上层存储器可以为下层存储器做缓冲，将经常使用数据的副本调度到上层，这样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只需要访问上层快速的小容量存储器，即可获得大部分数据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寄存器：通常在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高速缓冲（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）：通常采用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，位于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与主存之间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主存：通常采用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，也称内存条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7DAC5FB-7F2E-4324-BA74-9E4B24EE9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存储系统层次结构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1100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5714C4A3-C1D1-438E-A602-722C9A86C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主存的基本结构</a:t>
            </a:r>
            <a:endParaRPr lang="zh-CN" altLang="en-US" b="1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60A3351-C868-403C-BE1C-CFA63C408D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91867" y="1213375"/>
            <a:ext cx="8229600" cy="1881355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主存可以看作是一个一维数组：</a:t>
            </a:r>
            <a:r>
              <a:rPr lang="en-US" altLang="zh-CN" sz="1600" b="1" dirty="0"/>
              <a:t>mem[</a:t>
            </a:r>
            <a:r>
              <a:rPr lang="en-US" altLang="zh-CN" sz="1600" b="1" dirty="0" err="1"/>
              <a:t>addr</a:t>
            </a:r>
            <a:r>
              <a:rPr lang="en-US" altLang="zh-CN" sz="1600" b="1" dirty="0"/>
              <a:t>]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假设主存的地址</a:t>
            </a:r>
            <a:r>
              <a:rPr lang="en-US" altLang="zh-CN" sz="1600" b="1" dirty="0" err="1"/>
              <a:t>addr</a:t>
            </a:r>
            <a:r>
              <a:rPr lang="zh-CN" altLang="en-US" sz="1600" b="1" dirty="0"/>
              <a:t>为</a:t>
            </a:r>
            <a:r>
              <a:rPr lang="en-US" altLang="zh-CN" sz="1600" b="1" dirty="0">
                <a:solidFill>
                  <a:srgbClr val="C00000"/>
                </a:solidFill>
              </a:rPr>
              <a:t>n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，数组</a:t>
            </a:r>
            <a:r>
              <a:rPr lang="en-US" altLang="zh-CN" sz="1600" b="1" dirty="0"/>
              <a:t>mem[]</a:t>
            </a:r>
            <a:r>
              <a:rPr lang="zh-CN" altLang="en-US" sz="1600" b="1" dirty="0"/>
              <a:t>的宽度为</a:t>
            </a:r>
            <a:r>
              <a:rPr lang="en-US" altLang="zh-CN" sz="1600" b="1" dirty="0">
                <a:solidFill>
                  <a:srgbClr val="C00000"/>
                </a:solidFill>
              </a:rPr>
              <a:t>m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；则主存数组有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n</a:t>
            </a:r>
            <a:r>
              <a:rPr lang="zh-CN" altLang="en-US" sz="1600" b="1" dirty="0"/>
              <a:t>个存储单元（地址为：</a:t>
            </a:r>
            <a:r>
              <a:rPr lang="en-US" altLang="zh-CN" sz="1600" b="1" dirty="0"/>
              <a:t>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en-US" altLang="zh-CN" sz="1600" b="1" baseline="30000" dirty="0">
                <a:latin typeface="等线" panose="02010600030101010101" pitchFamily="2" charset="-122"/>
                <a:ea typeface="等线" panose="02010600030101010101" pitchFamily="2" charset="-122"/>
              </a:rPr>
              <a:t>n</a:t>
            </a:r>
            <a:r>
              <a:rPr lang="en-US" altLang="zh-CN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-1</a:t>
            </a:r>
            <a:r>
              <a:rPr lang="zh-CN" altLang="en-US" sz="1600" b="1" dirty="0"/>
              <a:t>），每个存储单元存放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位数据。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C</a:t>
            </a:r>
            <a:r>
              <a:rPr lang="zh-CN" altLang="en-US" sz="1600" b="1" dirty="0"/>
              <a:t>语言的指针：本质上就是主存地址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66213423-D43F-4709-BF9D-C72A8402AB35}"/>
              </a:ext>
            </a:extLst>
          </p:cNvPr>
          <p:cNvGrpSpPr/>
          <p:nvPr/>
        </p:nvGrpSpPr>
        <p:grpSpPr>
          <a:xfrm>
            <a:off x="1835696" y="3098679"/>
            <a:ext cx="4701989" cy="2994611"/>
            <a:chOff x="2160311" y="4093695"/>
            <a:chExt cx="4355905" cy="2670964"/>
          </a:xfrm>
        </p:grpSpPr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FD708580-47FC-47EB-81B9-9F2F9D30401E}"/>
                </a:ext>
              </a:extLst>
            </p:cNvPr>
            <p:cNvGrpSpPr/>
            <p:nvPr/>
          </p:nvGrpSpPr>
          <p:grpSpPr>
            <a:xfrm>
              <a:off x="2160311" y="4093695"/>
              <a:ext cx="4355905" cy="2143617"/>
              <a:chOff x="1728942" y="3105328"/>
              <a:chExt cx="4355905" cy="2143617"/>
            </a:xfrm>
          </p:grpSpPr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21BBB8B2-DF91-4B32-B366-181D9AF8C313}"/>
                  </a:ext>
                </a:extLst>
              </p:cNvPr>
              <p:cNvGrpSpPr/>
              <p:nvPr/>
            </p:nvGrpSpPr>
            <p:grpSpPr>
              <a:xfrm>
                <a:off x="1763688" y="3105328"/>
                <a:ext cx="3742675" cy="2143617"/>
                <a:chOff x="1763688" y="3105328"/>
                <a:chExt cx="3742675" cy="2143617"/>
              </a:xfrm>
            </p:grpSpPr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661D463A-D8CA-4E35-94FC-784C53AFD59A}"/>
                    </a:ext>
                  </a:extLst>
                </p:cNvPr>
                <p:cNvSpPr txBox="1"/>
                <p:nvPr/>
              </p:nvSpPr>
              <p:spPr>
                <a:xfrm>
                  <a:off x="4860032" y="3676872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存储体</a:t>
                  </a:r>
                </a:p>
              </p:txBody>
            </p:sp>
            <p:grpSp>
              <p:nvGrpSpPr>
                <p:cNvPr id="52" name="组合 51">
                  <a:extLst>
                    <a:ext uri="{FF2B5EF4-FFF2-40B4-BE49-F238E27FC236}">
                      <a16:creationId xmlns:a16="http://schemas.microsoft.com/office/drawing/2014/main" id="{CFAA181D-163D-4D29-A288-40CF62EF7A2C}"/>
                    </a:ext>
                  </a:extLst>
                </p:cNvPr>
                <p:cNvGrpSpPr/>
                <p:nvPr/>
              </p:nvGrpSpPr>
              <p:grpSpPr>
                <a:xfrm>
                  <a:off x="1763688" y="3105328"/>
                  <a:ext cx="3636979" cy="2143617"/>
                  <a:chOff x="1763688" y="3105328"/>
                  <a:chExt cx="3636979" cy="2143617"/>
                </a:xfrm>
              </p:grpSpPr>
              <p:grpSp>
                <p:nvGrpSpPr>
                  <p:cNvPr id="43" name="组合 42">
                    <a:extLst>
                      <a:ext uri="{FF2B5EF4-FFF2-40B4-BE49-F238E27FC236}">
                        <a16:creationId xmlns:a16="http://schemas.microsoft.com/office/drawing/2014/main" id="{EC543A21-9EC3-49A2-B2B5-47F359F45447}"/>
                      </a:ext>
                    </a:extLst>
                  </p:cNvPr>
                  <p:cNvGrpSpPr/>
                  <p:nvPr/>
                </p:nvGrpSpPr>
                <p:grpSpPr>
                  <a:xfrm>
                    <a:off x="1763688" y="3140972"/>
                    <a:ext cx="3636979" cy="2107973"/>
                    <a:chOff x="1763688" y="3140972"/>
                    <a:chExt cx="3636979" cy="2107973"/>
                  </a:xfrm>
                </p:grpSpPr>
                <p:grpSp>
                  <p:nvGrpSpPr>
                    <p:cNvPr id="41" name="组合 40">
                      <a:extLst>
                        <a:ext uri="{FF2B5EF4-FFF2-40B4-BE49-F238E27FC236}">
                          <a16:creationId xmlns:a16="http://schemas.microsoft.com/office/drawing/2014/main" id="{EA7FAB90-2B46-4A4D-BDBC-985EE0A381D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3688" y="3140972"/>
                      <a:ext cx="3312368" cy="2107973"/>
                      <a:chOff x="1763688" y="3140972"/>
                      <a:chExt cx="3312368" cy="2107973"/>
                    </a:xfrm>
                  </p:grpSpPr>
                  <p:grpSp>
                    <p:nvGrpSpPr>
                      <p:cNvPr id="34" name="组合 33">
                        <a:extLst>
                          <a:ext uri="{FF2B5EF4-FFF2-40B4-BE49-F238E27FC236}">
                            <a16:creationId xmlns:a16="http://schemas.microsoft.com/office/drawing/2014/main" id="{991A0B45-D950-4B0F-9883-32E40A0A519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63688" y="3140972"/>
                        <a:ext cx="3312368" cy="2107973"/>
                        <a:chOff x="1763688" y="3140972"/>
                        <a:chExt cx="3312368" cy="2107973"/>
                      </a:xfrm>
                    </p:grpSpPr>
                    <p:grpSp>
                      <p:nvGrpSpPr>
                        <p:cNvPr id="21" name="组合 20">
                          <a:extLst>
                            <a:ext uri="{FF2B5EF4-FFF2-40B4-BE49-F238E27FC236}">
                              <a16:creationId xmlns:a16="http://schemas.microsoft.com/office/drawing/2014/main" id="{7386BFB6-740C-4DC1-8E02-D9D3A35C1AB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63688" y="3140972"/>
                          <a:ext cx="3312368" cy="2107973"/>
                          <a:chOff x="1763688" y="3140972"/>
                          <a:chExt cx="3312368" cy="2107973"/>
                        </a:xfrm>
                      </p:grpSpPr>
                      <p:sp>
                        <p:nvSpPr>
                          <p:cNvPr id="2" name="文本框 1">
                            <a:extLst>
                              <a:ext uri="{FF2B5EF4-FFF2-40B4-BE49-F238E27FC236}">
                                <a16:creationId xmlns:a16="http://schemas.microsoft.com/office/drawing/2014/main" id="{82044889-7126-44FA-BA2D-0339405BD8D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443698" y="3140972"/>
                            <a:ext cx="400110" cy="1296140"/>
                          </a:xfrm>
                          <a:prstGeom prst="rect">
                            <a:avLst/>
                          </a:prstGeom>
                          <a:solidFill>
                            <a:schemeClr val="bg2">
                              <a:lumMod val="75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vert="eaVert"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zh-CN" altLang="en-US" sz="1400" b="1" dirty="0"/>
                              <a:t>地址译码器</a:t>
                            </a:r>
                          </a:p>
                        </p:txBody>
                      </p:sp>
                      <p:grpSp>
                        <p:nvGrpSpPr>
                          <p:cNvPr id="15" name="组合 14">
                            <a:extLst>
                              <a:ext uri="{FF2B5EF4-FFF2-40B4-BE49-F238E27FC236}">
                                <a16:creationId xmlns:a16="http://schemas.microsoft.com/office/drawing/2014/main" id="{9657D903-B1DA-4DE4-9ECB-907A566AEE4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067944" y="3212976"/>
                            <a:ext cx="792088" cy="1152128"/>
                            <a:chOff x="4572000" y="3212976"/>
                            <a:chExt cx="792088" cy="1152128"/>
                          </a:xfrm>
                        </p:grpSpPr>
                        <p:grpSp>
                          <p:nvGrpSpPr>
                            <p:cNvPr id="14" name="组合 13">
                              <a:extLst>
                                <a:ext uri="{FF2B5EF4-FFF2-40B4-BE49-F238E27FC236}">
                                  <a16:creationId xmlns:a16="http://schemas.microsoft.com/office/drawing/2014/main" id="{177DFEAC-EE86-4E54-8EC9-A4E7F229E308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572000" y="3356992"/>
                              <a:ext cx="792088" cy="864096"/>
                              <a:chOff x="4572000" y="3356992"/>
                              <a:chExt cx="792088" cy="864096"/>
                            </a:xfrm>
                          </p:grpSpPr>
                          <p:sp>
                            <p:nvSpPr>
                              <p:cNvPr id="7" name="矩形 6">
                                <a:extLst>
                                  <a:ext uri="{FF2B5EF4-FFF2-40B4-BE49-F238E27FC236}">
                                    <a16:creationId xmlns:a16="http://schemas.microsoft.com/office/drawing/2014/main" id="{FA09C4D7-0195-43DB-B858-A9ECE0CA1EBA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3356992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9" name="矩形 8">
                                <a:extLst>
                                  <a:ext uri="{FF2B5EF4-FFF2-40B4-BE49-F238E27FC236}">
                                    <a16:creationId xmlns:a16="http://schemas.microsoft.com/office/drawing/2014/main" id="{AE76B8E8-42C7-43C8-B890-7203570B063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3645024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2" name="矩形 11">
                                <a:extLst>
                                  <a:ext uri="{FF2B5EF4-FFF2-40B4-BE49-F238E27FC236}">
                                    <a16:creationId xmlns:a16="http://schemas.microsoft.com/office/drawing/2014/main" id="{47FF8677-7343-4110-A19C-73532978EEE3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572000" y="4077072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  <p:grpSp>
                          <p:nvGrpSpPr>
                            <p:cNvPr id="5" name="组合 4">
                              <a:extLst>
                                <a:ext uri="{FF2B5EF4-FFF2-40B4-BE49-F238E27FC236}">
                                  <a16:creationId xmlns:a16="http://schemas.microsoft.com/office/drawing/2014/main" id="{5A03AE68-4A85-42EA-84C3-6D5EB1B53D84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572000" y="3212976"/>
                              <a:ext cx="792088" cy="1152128"/>
                              <a:chOff x="4283968" y="3212976"/>
                              <a:chExt cx="792088" cy="1152128"/>
                            </a:xfrm>
                          </p:grpSpPr>
                          <p:sp>
                            <p:nvSpPr>
                              <p:cNvPr id="3" name="矩形 2">
                                <a:extLst>
                                  <a:ext uri="{FF2B5EF4-FFF2-40B4-BE49-F238E27FC236}">
                                    <a16:creationId xmlns:a16="http://schemas.microsoft.com/office/drawing/2014/main" id="{E291D33D-69D0-4EDA-86F8-FC86445F128F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212976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8" name="矩形 7">
                                <a:extLst>
                                  <a:ext uri="{FF2B5EF4-FFF2-40B4-BE49-F238E27FC236}">
                                    <a16:creationId xmlns:a16="http://schemas.microsoft.com/office/drawing/2014/main" id="{7834907D-5633-4F85-B3BB-5761BD3384FD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501008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0" name="矩形 9">
                                <a:extLst>
                                  <a:ext uri="{FF2B5EF4-FFF2-40B4-BE49-F238E27FC236}">
                                    <a16:creationId xmlns:a16="http://schemas.microsoft.com/office/drawing/2014/main" id="{3CD92291-AD3B-4F34-8432-98A7023FDA89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789040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1" name="矩形 10">
                                <a:extLst>
                                  <a:ext uri="{FF2B5EF4-FFF2-40B4-BE49-F238E27FC236}">
                                    <a16:creationId xmlns:a16="http://schemas.microsoft.com/office/drawing/2014/main" id="{8A71AF91-D4DC-4FE2-A33B-C4879DE8CDE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3933056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  <p:sp>
                            <p:nvSpPr>
                              <p:cNvPr id="13" name="矩形 12">
                                <a:extLst>
                                  <a:ext uri="{FF2B5EF4-FFF2-40B4-BE49-F238E27FC236}">
                                    <a16:creationId xmlns:a16="http://schemas.microsoft.com/office/drawing/2014/main" id="{44F4BA7F-F244-4C32-B2ED-EFBA620110F4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4283968" y="4221088"/>
                                <a:ext cx="792088" cy="144016"/>
                              </a:xfrm>
                              <a:prstGeom prst="rect">
                                <a:avLst/>
                              </a:prstGeom>
                              <a:noFill/>
                              <a:ln w="12700">
                                <a:solidFill>
                                  <a:schemeClr val="tx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/>
                              </a:p>
                            </p:txBody>
                          </p:sp>
                        </p:grpSp>
                      </p:grpSp>
                      <p:sp>
                        <p:nvSpPr>
                          <p:cNvPr id="16" name="文本框 15">
                            <a:extLst>
                              <a:ext uri="{FF2B5EF4-FFF2-40B4-BE49-F238E27FC236}">
                                <a16:creationId xmlns:a16="http://schemas.microsoft.com/office/drawing/2014/main" id="{BE526056-1A9C-4F80-B244-71075EF9879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195736" y="4941168"/>
                            <a:ext cx="936104" cy="307777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zh-CN" altLang="en-US" sz="1400" b="1" dirty="0"/>
                              <a:t>读写控制</a:t>
                            </a:r>
                          </a:p>
                        </p:txBody>
                      </p:sp>
                      <p:sp>
                        <p:nvSpPr>
                          <p:cNvPr id="17" name="文本框 16">
                            <a:extLst>
                              <a:ext uri="{FF2B5EF4-FFF2-40B4-BE49-F238E27FC236}">
                                <a16:creationId xmlns:a16="http://schemas.microsoft.com/office/drawing/2014/main" id="{36FE3820-ED09-4D7C-BE87-FBA533BB74AE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923928" y="4941168"/>
                            <a:ext cx="1152128" cy="307777"/>
                          </a:xfrm>
                          <a:prstGeom prst="rect">
                            <a:avLst/>
                          </a:prstGeom>
                          <a:solidFill>
                            <a:schemeClr val="tx2">
                              <a:lumMod val="40000"/>
                              <a:lumOff val="60000"/>
                            </a:schemeClr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>
                            <a:defPPr>
                              <a:defRPr lang="zh-CN"/>
                            </a:defPPr>
                            <a:lvl1pPr algn="ctr">
                              <a:defRPr sz="1400" b="1"/>
                            </a:lvl1pPr>
                          </a:lstStyle>
                          <a:p>
                            <a:r>
                              <a:rPr lang="zh-CN" altLang="en-US" dirty="0"/>
                              <a:t>数据寄存器</a:t>
                            </a:r>
                          </a:p>
                        </p:txBody>
                      </p:sp>
                      <p:sp>
                        <p:nvSpPr>
                          <p:cNvPr id="18" name="箭头: 右 17">
                            <a:extLst>
                              <a:ext uri="{FF2B5EF4-FFF2-40B4-BE49-F238E27FC236}">
                                <a16:creationId xmlns:a16="http://schemas.microsoft.com/office/drawing/2014/main" id="{25C38EDC-B95B-4FB2-93DF-BC64E8F6EE2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763688" y="3789040"/>
                            <a:ext cx="680010" cy="144016"/>
                          </a:xfrm>
                          <a:prstGeom prst="rightArrow">
                            <a:avLst/>
                          </a:prstGeom>
                          <a:no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20" name="箭头: 上下 19">
                            <a:extLst>
                              <a:ext uri="{FF2B5EF4-FFF2-40B4-BE49-F238E27FC236}">
                                <a16:creationId xmlns:a16="http://schemas.microsoft.com/office/drawing/2014/main" id="{62E5FABC-C4A8-4E9C-9111-B04045FA6F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4375298" y="4381362"/>
                            <a:ext cx="124694" cy="559805"/>
                          </a:xfrm>
                          <a:prstGeom prst="upDownArrow">
                            <a:avLst/>
                          </a:prstGeom>
                          <a:noFill/>
                          <a:ln w="12700"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cxnSp>
                      <p:nvCxnSpPr>
                        <p:cNvPr id="25" name="直接箭头连接符 24">
                          <a:extLst>
                            <a:ext uri="{FF2B5EF4-FFF2-40B4-BE49-F238E27FC236}">
                              <a16:creationId xmlns:a16="http://schemas.microsoft.com/office/drawing/2014/main" id="{C7733D0E-8999-4194-B871-D742461D733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2627784" y="4437112"/>
                          <a:ext cx="0" cy="504058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" name="直接箭头连接符 28">
                          <a:extLst>
                            <a:ext uri="{FF2B5EF4-FFF2-40B4-BE49-F238E27FC236}">
                              <a16:creationId xmlns:a16="http://schemas.microsoft.com/office/drawing/2014/main" id="{14E5055D-971A-46F3-826F-F3BDADBF625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142034" y="5095054"/>
                          <a:ext cx="792088" cy="2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32" name="直接箭头连接符 31">
                          <a:extLst>
                            <a:ext uri="{FF2B5EF4-FFF2-40B4-BE49-F238E27FC236}">
                              <a16:creationId xmlns:a16="http://schemas.microsoft.com/office/drawing/2014/main" id="{18291239-7DF9-44EC-8293-2A7FBC3CBE85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1763688" y="5110832"/>
                          <a:ext cx="434982" cy="0"/>
                        </a:xfrm>
                        <a:prstGeom prst="straightConnector1">
                          <a:avLst/>
                        </a:prstGeom>
                        <a:ln>
                          <a:solidFill>
                            <a:schemeClr val="tx1"/>
                          </a:solidFill>
                          <a:tailEnd type="triangle"/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cxnSp>
                    <p:nvCxnSpPr>
                      <p:cNvPr id="36" name="直接箭头连接符 35">
                        <a:extLst>
                          <a:ext uri="{FF2B5EF4-FFF2-40B4-BE49-F238E27FC236}">
                            <a16:creationId xmlns:a16="http://schemas.microsoft.com/office/drawing/2014/main" id="{5A2CCEBE-0FC5-46CA-8588-65F837D26CE2}"/>
                          </a:ext>
                        </a:extLst>
                      </p:cNvPr>
                      <p:cNvCxnSpPr>
                        <a:cxnSpLocks/>
                        <a:endCxn id="3" idx="1"/>
                      </p:cNvCxnSpPr>
                      <p:nvPr/>
                    </p:nvCxnSpPr>
                    <p:spPr>
                      <a:xfrm flipV="1">
                        <a:off x="2843808" y="3284984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9" name="直接箭头连接符 38">
                        <a:extLst>
                          <a:ext uri="{FF2B5EF4-FFF2-40B4-BE49-F238E27FC236}">
                            <a16:creationId xmlns:a16="http://schemas.microsoft.com/office/drawing/2014/main" id="{6F12082F-5226-4571-B4F9-067AAB11AE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843808" y="3421436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0" name="直接箭头连接符 39">
                        <a:extLst>
                          <a:ext uri="{FF2B5EF4-FFF2-40B4-BE49-F238E27FC236}">
                            <a16:creationId xmlns:a16="http://schemas.microsoft.com/office/drawing/2014/main" id="{C23F5F66-8DC7-45F9-9788-79577E1D9A5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2843808" y="4292808"/>
                        <a:ext cx="1224136" cy="288"/>
                      </a:xfrm>
                      <a:prstGeom prst="straightConnector1">
                        <a:avLst/>
                      </a:prstGeom>
                      <a:ln>
                        <a:solidFill>
                          <a:schemeClr val="tx1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42" name="箭头: 上下 41">
                      <a:extLst>
                        <a:ext uri="{FF2B5EF4-FFF2-40B4-BE49-F238E27FC236}">
                          <a16:creationId xmlns:a16="http://schemas.microsoft.com/office/drawing/2014/main" id="{12F69B47-67EF-4BB9-8B6F-3316CE400752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5171042" y="4915581"/>
                      <a:ext cx="134065" cy="325185"/>
                    </a:xfrm>
                    <a:prstGeom prst="upDownArrow">
                      <a:avLst/>
                    </a:prstGeom>
                    <a:noFill/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51" name="组合 50">
                    <a:extLst>
                      <a:ext uri="{FF2B5EF4-FFF2-40B4-BE49-F238E27FC236}">
                        <a16:creationId xmlns:a16="http://schemas.microsoft.com/office/drawing/2014/main" id="{B1B2CA7C-FFEE-4557-9B4F-961C54D3AF87}"/>
                      </a:ext>
                    </a:extLst>
                  </p:cNvPr>
                  <p:cNvGrpSpPr/>
                  <p:nvPr/>
                </p:nvGrpSpPr>
                <p:grpSpPr>
                  <a:xfrm>
                    <a:off x="3203848" y="3105328"/>
                    <a:ext cx="401072" cy="1238004"/>
                    <a:chOff x="3594864" y="3105328"/>
                    <a:chExt cx="401072" cy="1238004"/>
                  </a:xfrm>
                </p:grpSpPr>
                <p:sp>
                  <p:nvSpPr>
                    <p:cNvPr id="48" name="文本框 47">
                      <a:extLst>
                        <a:ext uri="{FF2B5EF4-FFF2-40B4-BE49-F238E27FC236}">
                          <a16:creationId xmlns:a16="http://schemas.microsoft.com/office/drawing/2014/main" id="{9E11FCD2-9A1C-4D81-B13A-6E44E247A4E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17859" y="3224009"/>
                      <a:ext cx="250390" cy="246221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p:txBody>
                </p:sp>
                <p:grpSp>
                  <p:nvGrpSpPr>
                    <p:cNvPr id="50" name="组合 49">
                      <a:extLst>
                        <a:ext uri="{FF2B5EF4-FFF2-40B4-BE49-F238E27FC236}">
                          <a16:creationId xmlns:a16="http://schemas.microsoft.com/office/drawing/2014/main" id="{4369A002-9B63-4194-94B3-6E669DC4CA3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594864" y="3105328"/>
                      <a:ext cx="401072" cy="1238004"/>
                      <a:chOff x="3281299" y="3105328"/>
                      <a:chExt cx="401072" cy="1238004"/>
                    </a:xfrm>
                  </p:grpSpPr>
                  <p:sp>
                    <p:nvSpPr>
                      <p:cNvPr id="47" name="文本框 46">
                        <a:extLst>
                          <a:ext uri="{FF2B5EF4-FFF2-40B4-BE49-F238E27FC236}">
                            <a16:creationId xmlns:a16="http://schemas.microsoft.com/office/drawing/2014/main" id="{C27960AF-D49D-44EE-B9DB-A7699539BD4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06205" y="3105328"/>
                        <a:ext cx="250390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/>
                          <a:t>0</a:t>
                        </a:r>
                        <a:endParaRPr lang="zh-CN" altLang="en-US" sz="1000" b="1" dirty="0"/>
                      </a:p>
                    </p:txBody>
                  </p:sp>
                  <p:sp>
                    <p:nvSpPr>
                      <p:cNvPr id="49" name="文本框 48">
                        <a:extLst>
                          <a:ext uri="{FF2B5EF4-FFF2-40B4-BE49-F238E27FC236}">
                            <a16:creationId xmlns:a16="http://schemas.microsoft.com/office/drawing/2014/main" id="{7A0B149A-E1EE-401F-8A8A-188E1D8BC27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81299" y="4097111"/>
                        <a:ext cx="401072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/>
                          <a:t>2</a:t>
                        </a:r>
                        <a:r>
                          <a:rPr lang="en-US" altLang="zh-CN" sz="1000" b="1" baseline="30000" dirty="0"/>
                          <a:t>n</a:t>
                        </a:r>
                        <a:r>
                          <a:rPr lang="en-US" altLang="zh-CN" sz="1000" b="1" dirty="0"/>
                          <a:t>-1</a:t>
                        </a:r>
                        <a:endParaRPr lang="zh-CN" altLang="en-US" sz="1000" b="1" dirty="0"/>
                      </a:p>
                    </p:txBody>
                  </p:sp>
                </p:grpSp>
              </p:grpSp>
            </p:grpSp>
          </p:grp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32CA6A7C-FF96-45F1-B84F-89E4AFE7CCFB}"/>
                  </a:ext>
                </a:extLst>
              </p:cNvPr>
              <p:cNvSpPr txBox="1"/>
              <p:nvPr/>
            </p:nvSpPr>
            <p:spPr>
              <a:xfrm>
                <a:off x="1763688" y="3553705"/>
                <a:ext cx="63831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n</a:t>
                </a:r>
                <a:r>
                  <a:rPr lang="zh-CN" altLang="en-US" sz="1000" b="1" dirty="0"/>
                  <a:t>位地址</a:t>
                </a: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7424657-FD89-4FAF-8237-2C8A6AD598DA}"/>
                  </a:ext>
                </a:extLst>
              </p:cNvPr>
              <p:cNvSpPr txBox="1"/>
              <p:nvPr/>
            </p:nvSpPr>
            <p:spPr>
              <a:xfrm>
                <a:off x="1728942" y="4889199"/>
                <a:ext cx="46679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R/-W</a:t>
                </a:r>
                <a:endParaRPr lang="zh-CN" altLang="en-US" sz="1000" b="1" dirty="0"/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EFCA3E2D-1B8B-4207-ADBC-5EB5C9B3C46F}"/>
                  </a:ext>
                </a:extLst>
              </p:cNvPr>
              <p:cNvSpPr txBox="1"/>
              <p:nvPr/>
            </p:nvSpPr>
            <p:spPr>
              <a:xfrm>
                <a:off x="4435877" y="4537608"/>
                <a:ext cx="6735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m</a:t>
                </a:r>
                <a:r>
                  <a:rPr lang="zh-CN" altLang="en-US" sz="1000" b="1" dirty="0"/>
                  <a:t>位数据</a:t>
                </a: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DA54B6E0-20F5-4AE1-BF9F-F183CE209C57}"/>
                  </a:ext>
                </a:extLst>
              </p:cNvPr>
              <p:cNvSpPr txBox="1"/>
              <p:nvPr/>
            </p:nvSpPr>
            <p:spPr>
              <a:xfrm>
                <a:off x="5411265" y="4955062"/>
                <a:ext cx="67358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/>
                  <a:t>m</a:t>
                </a:r>
                <a:r>
                  <a:rPr lang="zh-CN" altLang="en-US" sz="1000" b="1" dirty="0"/>
                  <a:t>位数据</a:t>
                </a:r>
              </a:p>
            </p:txBody>
          </p:sp>
        </p:grp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F3540E38-883F-4ECD-B616-0E8E0335A006}"/>
                </a:ext>
              </a:extLst>
            </p:cNvPr>
            <p:cNvSpPr txBox="1"/>
            <p:nvPr/>
          </p:nvSpPr>
          <p:spPr>
            <a:xfrm>
              <a:off x="2953826" y="6456882"/>
              <a:ext cx="241026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4.2    </a:t>
              </a:r>
              <a:r>
                <a:rPr lang="zh-CN" altLang="en-US" sz="1400" b="1" dirty="0"/>
                <a:t>主存的硬件内部结构</a:t>
              </a:r>
            </a:p>
          </p:txBody>
        </p:sp>
      </p:grp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598542A1-B298-4927-988C-2581A1843CA3}"/>
              </a:ext>
            </a:extLst>
          </p:cNvPr>
          <p:cNvGrpSpPr/>
          <p:nvPr/>
        </p:nvGrpSpPr>
        <p:grpSpPr>
          <a:xfrm>
            <a:off x="6876256" y="3314417"/>
            <a:ext cx="1601721" cy="738664"/>
            <a:chOff x="6822891" y="4381338"/>
            <a:chExt cx="1601721" cy="738664"/>
          </a:xfrm>
          <a:solidFill>
            <a:schemeClr val="bg1">
              <a:lumMod val="85000"/>
            </a:schemeClr>
          </a:solidFill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A6B22B8-55F2-47CA-877D-28B68F88B05D}"/>
                </a:ext>
              </a:extLst>
            </p:cNvPr>
            <p:cNvSpPr txBox="1"/>
            <p:nvPr/>
          </p:nvSpPr>
          <p:spPr>
            <a:xfrm>
              <a:off x="6822891" y="4381338"/>
              <a:ext cx="1601721" cy="73866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W</a:t>
              </a:r>
              <a:r>
                <a:rPr lang="zh-CN" altLang="en-US" sz="1400" b="1" dirty="0"/>
                <a:t>的低电平表示：</a:t>
              </a:r>
              <a:endParaRPr lang="en-US" altLang="zh-CN" sz="1400" b="1" dirty="0"/>
            </a:p>
            <a:p>
              <a:endParaRPr lang="en-US" altLang="zh-CN" sz="1400" b="1" dirty="0"/>
            </a:p>
            <a:p>
              <a:r>
                <a:rPr lang="en-US" altLang="zh-CN" sz="1400" b="1" dirty="0"/>
                <a:t>W      /W     -W</a:t>
              </a:r>
              <a:endParaRPr lang="zh-CN" altLang="en-US" sz="1400" b="1" dirty="0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92B96CC8-B5E9-4B6D-9611-53168385840E}"/>
                </a:ext>
              </a:extLst>
            </p:cNvPr>
            <p:cNvCxnSpPr/>
            <p:nvPr/>
          </p:nvCxnSpPr>
          <p:spPr>
            <a:xfrm>
              <a:off x="6916368" y="4869160"/>
              <a:ext cx="144016" cy="0"/>
            </a:xfrm>
            <a:prstGeom prst="lin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</p:cxnSp>
      </p:grpSp>
    </p:spTree>
    <p:extLst>
      <p:ext uri="{BB962C8B-B14F-4D97-AF65-F5344CB8AC3E}">
        <p14:creationId xmlns:p14="http://schemas.microsoft.com/office/powerpoint/2010/main" val="3479463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A1F43F2-1421-4C15-992A-B42275D1E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905053D-1FF7-4C9D-B1D7-60CA50A1A7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3672407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、存储字长与数据字长的概念</a:t>
            </a:r>
            <a:endParaRPr lang="en-US" altLang="zh-CN" sz="20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）存储字长：主存的一个存储单元所存储的二进制位数（如</a:t>
            </a:r>
            <a:r>
              <a:rPr lang="en-US" altLang="zh-CN" sz="1400" b="1" dirty="0">
                <a:solidFill>
                  <a:srgbClr val="C00000"/>
                </a:solidFill>
              </a:rPr>
              <a:t>m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）数据字长（机器字长，简称</a:t>
            </a:r>
            <a:r>
              <a:rPr lang="zh-CN" altLang="en-US" sz="1400" b="1" dirty="0">
                <a:solidFill>
                  <a:srgbClr val="C00000"/>
                </a:solidFill>
              </a:rPr>
              <a:t>字长</a:t>
            </a:r>
            <a:r>
              <a:rPr lang="zh-CN" altLang="en-US" sz="1400" b="1" dirty="0"/>
              <a:t>）：计算机一次能处理的二进制数的位数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存储字长和数据字长不一定相同，如字长为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位的计算机，存储字长可以是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位或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、地址访问模式</a:t>
            </a:r>
            <a:endParaRPr lang="en-US" altLang="zh-CN" sz="2000" b="1" dirty="0"/>
          </a:p>
          <a:p>
            <a:pPr lvl="2" eaLnBrk="1" hangingPunct="1"/>
            <a:r>
              <a:rPr lang="zh-CN" altLang="en-US" sz="1400" b="1" dirty="0"/>
              <a:t>存储字长都是字节的整数倍：如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位、</a:t>
            </a:r>
            <a:r>
              <a:rPr lang="en-US" altLang="zh-CN" sz="1400" b="1" dirty="0"/>
              <a:t>……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主存通常按字节进行编址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例如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位计算机，主存既可以按字节访问（</a:t>
            </a:r>
            <a:r>
              <a:rPr lang="zh-CN" altLang="en-US" sz="1400" b="1" dirty="0">
                <a:solidFill>
                  <a:srgbClr val="C00000"/>
                </a:solidFill>
              </a:rPr>
              <a:t>字节地址</a:t>
            </a:r>
            <a:r>
              <a:rPr lang="zh-CN" altLang="en-US" sz="1400" b="1" dirty="0"/>
              <a:t>），也可以按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位半字访问（</a:t>
            </a:r>
            <a:r>
              <a:rPr lang="zh-CN" altLang="en-US" sz="1400" b="1" dirty="0">
                <a:solidFill>
                  <a:srgbClr val="C00000"/>
                </a:solidFill>
              </a:rPr>
              <a:t>半字地址</a:t>
            </a:r>
            <a:r>
              <a:rPr lang="zh-CN" altLang="en-US" sz="1400" b="1" dirty="0"/>
              <a:t>），还可以按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位字进行访问（</a:t>
            </a:r>
            <a:r>
              <a:rPr lang="zh-CN" altLang="en-US" sz="1400" b="1" dirty="0">
                <a:solidFill>
                  <a:srgbClr val="C00000"/>
                </a:solidFill>
              </a:rPr>
              <a:t>字地址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E05B4B40-0F39-47E5-BCAC-BE5FA3D0AFD7}"/>
              </a:ext>
            </a:extLst>
          </p:cNvPr>
          <p:cNvGrpSpPr/>
          <p:nvPr/>
        </p:nvGrpSpPr>
        <p:grpSpPr>
          <a:xfrm>
            <a:off x="1763688" y="5036501"/>
            <a:ext cx="6228184" cy="1589316"/>
            <a:chOff x="1619672" y="5296068"/>
            <a:chExt cx="6228184" cy="1589316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1D6D8482-FD67-4314-B20A-EEF35E1A8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5296068"/>
              <a:ext cx="6228184" cy="130128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E5798E7-3B8A-455E-AEC4-7CDFB5259A8F}"/>
                </a:ext>
              </a:extLst>
            </p:cNvPr>
            <p:cNvSpPr txBox="1"/>
            <p:nvPr/>
          </p:nvSpPr>
          <p:spPr>
            <a:xfrm>
              <a:off x="3275856" y="6577607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8403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437D11A5-D8BF-48F1-BDAB-B1AB064430BB}"/>
              </a:ext>
            </a:extLst>
          </p:cNvPr>
          <p:cNvSpPr txBox="1"/>
          <p:nvPr/>
        </p:nvSpPr>
        <p:spPr>
          <a:xfrm>
            <a:off x="1187624" y="5710461"/>
            <a:ext cx="5974287" cy="3385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注：指令中给出的主存地址实际上是字节地址，并且是起始地址</a:t>
            </a:r>
            <a:endParaRPr lang="en-US" altLang="zh-CN" sz="1600" b="1" dirty="0">
              <a:solidFill>
                <a:srgbClr val="C00000"/>
              </a:solidFill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3A149AF0-BB9A-4A84-91FB-EE32E6325085}"/>
              </a:ext>
            </a:extLst>
          </p:cNvPr>
          <p:cNvGrpSpPr/>
          <p:nvPr/>
        </p:nvGrpSpPr>
        <p:grpSpPr>
          <a:xfrm>
            <a:off x="1475656" y="3753715"/>
            <a:ext cx="6527382" cy="1675929"/>
            <a:chOff x="1115616" y="188640"/>
            <a:chExt cx="6527382" cy="16759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7171707A-5577-424D-96DC-C8AE16860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5616" y="188640"/>
              <a:ext cx="6527382" cy="1363797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E989FCB-2C83-4FB7-AF38-80A396DCBC7A}"/>
                </a:ext>
              </a:extLst>
            </p:cNvPr>
            <p:cNvSpPr txBox="1"/>
            <p:nvPr/>
          </p:nvSpPr>
          <p:spPr>
            <a:xfrm>
              <a:off x="2987824" y="1556792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1F6329BB-13FA-440A-A1A9-801AAE501DE2}"/>
              </a:ext>
            </a:extLst>
          </p:cNvPr>
          <p:cNvSpPr/>
          <p:nvPr/>
        </p:nvSpPr>
        <p:spPr>
          <a:xfrm>
            <a:off x="6125344" y="1367355"/>
            <a:ext cx="1440160" cy="496391"/>
          </a:xfrm>
          <a:prstGeom prst="wedgeRoundRectCallout">
            <a:avLst>
              <a:gd name="adj1" fmla="val -74178"/>
              <a:gd name="adj2" fmla="val 7259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小端对齐</a:t>
            </a:r>
          </a:p>
        </p:txBody>
      </p:sp>
      <p:sp>
        <p:nvSpPr>
          <p:cNvPr id="13" name="标题 12">
            <a:extLst>
              <a:ext uri="{FF2B5EF4-FFF2-40B4-BE49-F238E27FC236}">
                <a16:creationId xmlns:a16="http://schemas.microsoft.com/office/drawing/2014/main" id="{7359FCE0-34B3-4713-9F43-C61359F62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15" name="内容占位符 14">
            <a:extLst>
              <a:ext uri="{FF2B5EF4-FFF2-40B4-BE49-F238E27FC236}">
                <a16:creationId xmlns:a16="http://schemas.microsoft.com/office/drawing/2014/main" id="{CEEAF43A-05C8-4460-A92A-288A6B7BF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1306519"/>
            <a:ext cx="7088638" cy="2306787"/>
          </a:xfrm>
        </p:spPr>
        <p:txBody>
          <a:bodyPr/>
          <a:lstStyle/>
          <a:p>
            <a:r>
              <a:rPr lang="zh-CN" altLang="en-US" sz="2400" b="1" dirty="0"/>
              <a:t>举例：</a:t>
            </a:r>
            <a:endParaRPr lang="en-US" altLang="zh-CN" sz="2400" b="1" dirty="0"/>
          </a:p>
          <a:p>
            <a:pPr lvl="1"/>
            <a:r>
              <a:rPr lang="en-US" altLang="zh-CN" sz="2000" b="1" dirty="0"/>
              <a:t>mov ah,[8]   ;</a:t>
            </a:r>
            <a:r>
              <a:rPr lang="zh-CN" altLang="en-US" sz="2000" b="1" dirty="0"/>
              <a:t>按字节访存，</a:t>
            </a:r>
            <a:r>
              <a:rPr lang="en-US" altLang="zh-CN" sz="2000" b="1" dirty="0"/>
              <a:t>ah=0x12</a:t>
            </a:r>
          </a:p>
          <a:p>
            <a:pPr lvl="1"/>
            <a:r>
              <a:rPr lang="en-US" altLang="zh-CN" sz="2000" b="1" dirty="0"/>
              <a:t>mov ax,[8]   ;</a:t>
            </a:r>
            <a:r>
              <a:rPr lang="zh-CN" altLang="en-US" sz="2000" b="1" dirty="0"/>
              <a:t>按半字访存， </a:t>
            </a:r>
            <a:r>
              <a:rPr lang="en-US" altLang="zh-CN" sz="2000" b="1" dirty="0"/>
              <a:t>ax=0x3412</a:t>
            </a:r>
          </a:p>
          <a:p>
            <a:pPr lvl="1"/>
            <a:r>
              <a:rPr lang="en-US" altLang="zh-CN" sz="2000" b="1" dirty="0"/>
              <a:t>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,[8] ;</a:t>
            </a:r>
            <a:r>
              <a:rPr lang="zh-CN" altLang="en-US" sz="2000" b="1" dirty="0"/>
              <a:t>按字访存，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=0x78563412</a:t>
            </a:r>
          </a:p>
          <a:p>
            <a:pPr lvl="1"/>
            <a:r>
              <a:rPr lang="en-US" altLang="zh-CN" sz="2000" b="1" dirty="0"/>
              <a:t>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,[9]; </a:t>
            </a:r>
            <a:r>
              <a:rPr lang="zh-CN" altLang="en-US" sz="2000" b="1" dirty="0"/>
              <a:t>未对齐，产生异常</a:t>
            </a:r>
            <a:endParaRPr lang="en-US" altLang="zh-CN" sz="2000" b="1" dirty="0"/>
          </a:p>
          <a:p>
            <a:pPr lvl="1"/>
            <a:r>
              <a:rPr lang="en-US" altLang="zh-CN" sz="2000" b="1" dirty="0"/>
              <a:t>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,[0]  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 [4], mov </a:t>
            </a:r>
            <a:r>
              <a:rPr lang="en-US" altLang="zh-CN" sz="2000" b="1" dirty="0" err="1"/>
              <a:t>eax</a:t>
            </a:r>
            <a:r>
              <a:rPr lang="en-US" altLang="zh-CN" sz="2000" b="1" dirty="0"/>
              <a:t>,[8]</a:t>
            </a:r>
            <a:r>
              <a:rPr lang="zh-CN" altLang="en-US" sz="2000" b="1" dirty="0"/>
              <a:t>为正确指令</a:t>
            </a:r>
            <a:endParaRPr lang="en-US" altLang="zh-CN" b="1" dirty="0"/>
          </a:p>
          <a:p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5576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D1BDD5FD-5D24-46D2-9BF0-C3B8FF4D1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96D5641C-AA6B-4709-98F3-800296ED10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229600" cy="524259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、大端和小端方式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小端</a:t>
            </a:r>
            <a:r>
              <a:rPr lang="zh-CN" altLang="en-US" sz="1600" b="1" dirty="0"/>
              <a:t>方式（</a:t>
            </a:r>
            <a:r>
              <a:rPr lang="en-US" altLang="zh-CN" sz="1600" b="1" dirty="0"/>
              <a:t>Little-Endian</a:t>
            </a:r>
            <a:r>
              <a:rPr lang="zh-CN" altLang="en-US" sz="1600" b="1" dirty="0"/>
              <a:t>）：存储器的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低</a:t>
            </a:r>
            <a:r>
              <a:rPr lang="zh-CN" altLang="en-US" sz="1600" b="1" dirty="0"/>
              <a:t>字节地址单元中存放的是数据的最</a:t>
            </a:r>
            <a:r>
              <a:rPr lang="zh-CN" altLang="en-US" sz="1600" b="1" dirty="0">
                <a:solidFill>
                  <a:srgbClr val="C00000"/>
                </a:solidFill>
              </a:rPr>
              <a:t>低</a:t>
            </a:r>
            <a:r>
              <a:rPr lang="zh-CN" altLang="en-US" sz="1600" b="1" dirty="0"/>
              <a:t>字节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大端</a:t>
            </a:r>
            <a:r>
              <a:rPr lang="zh-CN" altLang="en-US" sz="1600" b="1" dirty="0"/>
              <a:t>方式（</a:t>
            </a:r>
            <a:r>
              <a:rPr lang="en-US" altLang="zh-CN" sz="1600" b="1" dirty="0"/>
              <a:t>Big-Endian</a:t>
            </a:r>
            <a:r>
              <a:rPr lang="zh-CN" altLang="en-US" sz="1600" b="1" dirty="0"/>
              <a:t>）：存储器的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低</a:t>
            </a:r>
            <a:r>
              <a:rPr lang="zh-CN" altLang="en-US" sz="1600" b="1" dirty="0"/>
              <a:t>字节地址单元中存放的是数据的最</a:t>
            </a:r>
            <a:r>
              <a:rPr lang="zh-CN" altLang="en-US" sz="1600" b="1" dirty="0">
                <a:solidFill>
                  <a:srgbClr val="C00000"/>
                </a:solidFill>
              </a:rPr>
              <a:t>高</a:t>
            </a:r>
            <a:r>
              <a:rPr lang="zh-CN" altLang="en-US" sz="1600" b="1" dirty="0"/>
              <a:t>字节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如果按照</a:t>
            </a:r>
            <a:r>
              <a:rPr lang="zh-CN" altLang="en-US" sz="1400" b="1" dirty="0">
                <a:solidFill>
                  <a:srgbClr val="C00000"/>
                </a:solidFill>
              </a:rPr>
              <a:t>小端</a:t>
            </a:r>
            <a:r>
              <a:rPr lang="zh-CN" altLang="en-US" sz="1400" b="1" dirty="0"/>
              <a:t>方式，指令“</a:t>
            </a:r>
            <a:r>
              <a:rPr lang="en-US" altLang="zh-CN" sz="1400" b="1" dirty="0"/>
              <a:t>MOV EAX, [8]</a:t>
            </a:r>
            <a:r>
              <a:rPr lang="zh-CN" altLang="en-US" sz="1400" b="1" dirty="0"/>
              <a:t>”得到的数据是：</a:t>
            </a:r>
            <a:r>
              <a:rPr lang="en-US" altLang="zh-CN" sz="1400" b="1" dirty="0"/>
              <a:t>EAX=0x78563412</a:t>
            </a:r>
          </a:p>
          <a:p>
            <a:pPr lvl="2" eaLnBrk="1" hangingPunct="1"/>
            <a:r>
              <a:rPr lang="zh-CN" altLang="en-US" sz="1400" b="1" dirty="0"/>
              <a:t>如果按照</a:t>
            </a:r>
            <a:r>
              <a:rPr lang="zh-CN" altLang="en-US" sz="1400" b="1" dirty="0">
                <a:solidFill>
                  <a:srgbClr val="C00000"/>
                </a:solidFill>
              </a:rPr>
              <a:t>大端</a:t>
            </a:r>
            <a:r>
              <a:rPr lang="zh-CN" altLang="en-US" sz="1400" b="1" dirty="0"/>
              <a:t>方式，指令“</a:t>
            </a:r>
            <a:r>
              <a:rPr lang="en-US" altLang="zh-CN" sz="1400" b="1" dirty="0"/>
              <a:t>MOV EAX, [8]</a:t>
            </a:r>
            <a:r>
              <a:rPr lang="zh-CN" altLang="en-US" sz="1400" b="1" dirty="0"/>
              <a:t>”得到的数据是：</a:t>
            </a:r>
            <a:r>
              <a:rPr lang="en-US" altLang="zh-CN" sz="1400" b="1" dirty="0"/>
              <a:t>EAX=0x12345678</a:t>
            </a:r>
          </a:p>
          <a:p>
            <a:pPr lvl="2" eaLnBrk="1" hangingPunct="1"/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大端</a:t>
            </a:r>
            <a:r>
              <a:rPr lang="zh-CN" altLang="en-US" sz="1400" b="1" dirty="0"/>
              <a:t>方式更符合</a:t>
            </a:r>
            <a:r>
              <a:rPr lang="zh-CN" altLang="en-US" sz="1400" b="1" dirty="0">
                <a:solidFill>
                  <a:srgbClr val="C00000"/>
                </a:solidFill>
              </a:rPr>
              <a:t>人的思维习惯</a:t>
            </a:r>
            <a:r>
              <a:rPr lang="zh-CN" altLang="en-US" sz="1400" b="1" dirty="0"/>
              <a:t>，而采用</a:t>
            </a:r>
            <a:r>
              <a:rPr lang="zh-CN" altLang="en-US" sz="1400" b="1" dirty="0">
                <a:solidFill>
                  <a:srgbClr val="C00000"/>
                </a:solidFill>
              </a:rPr>
              <a:t>小端</a:t>
            </a:r>
            <a:r>
              <a:rPr lang="zh-CN" altLang="en-US" sz="1400" b="1" dirty="0"/>
              <a:t>方式则有利于</a:t>
            </a:r>
            <a:r>
              <a:rPr lang="zh-CN" altLang="en-US" sz="1400" b="1" dirty="0">
                <a:solidFill>
                  <a:srgbClr val="C00000"/>
                </a:solidFill>
              </a:rPr>
              <a:t>计算机处理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主流处理器（如</a:t>
            </a:r>
            <a:r>
              <a:rPr lang="en-US" altLang="zh-CN" sz="1400" b="1" dirty="0"/>
              <a:t>Intel x86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IA64</a:t>
            </a:r>
            <a:r>
              <a:rPr lang="zh-CN" altLang="en-US" sz="1400" b="1" dirty="0"/>
              <a:t>处理器、</a:t>
            </a:r>
            <a:r>
              <a:rPr lang="en-US" altLang="zh-CN" sz="1400" b="1" dirty="0"/>
              <a:t>RISC-V</a:t>
            </a:r>
            <a:r>
              <a:rPr lang="zh-CN" altLang="en-US" sz="1400" b="1" dirty="0"/>
              <a:t>处理器）一般都采用小端方式进行数据存放；</a:t>
            </a:r>
            <a:r>
              <a:rPr lang="en-US" altLang="zh-CN" sz="1400" b="1" dirty="0"/>
              <a:t>PowerPC</a:t>
            </a:r>
            <a:r>
              <a:rPr lang="zh-CN" altLang="en-US" sz="1400" b="1" dirty="0"/>
              <a:t>处理器则采用大端方式；</a:t>
            </a:r>
            <a:r>
              <a:rPr lang="en-US" altLang="zh-CN" sz="1400" b="1" dirty="0"/>
              <a:t>ARM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MIPS</a:t>
            </a:r>
            <a:r>
              <a:rPr lang="zh-CN" altLang="en-US" sz="1400" b="1" dirty="0"/>
              <a:t>处理器同时支持小端方式和大端方式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6657F96-844F-4388-8680-1FED055584F9}"/>
              </a:ext>
            </a:extLst>
          </p:cNvPr>
          <p:cNvGrpSpPr/>
          <p:nvPr/>
        </p:nvGrpSpPr>
        <p:grpSpPr>
          <a:xfrm>
            <a:off x="1331640" y="3088096"/>
            <a:ext cx="7031438" cy="1747937"/>
            <a:chOff x="1331640" y="2276872"/>
            <a:chExt cx="7031438" cy="174793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C526C120-309D-44B7-A6F2-649B0CC028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31640" y="2276872"/>
              <a:ext cx="7031438" cy="1469112"/>
            </a:xfrm>
            <a:prstGeom prst="rect">
              <a:avLst/>
            </a:prstGeom>
          </p:spPr>
        </p:pic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B7D82A5E-9C44-41DF-8DB9-7E44B2E576DF}"/>
                </a:ext>
              </a:extLst>
            </p:cNvPr>
            <p:cNvSpPr txBox="1"/>
            <p:nvPr/>
          </p:nvSpPr>
          <p:spPr>
            <a:xfrm>
              <a:off x="3275856" y="3717032"/>
              <a:ext cx="273630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4.3    </a:t>
              </a:r>
              <a:r>
                <a:rPr lang="zh-CN" altLang="en-US" sz="1400" b="1" dirty="0"/>
                <a:t>不同的主存地址访问模式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7760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421DEC8-1195-47E2-AD09-858A7AC9C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66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B9C420E4-837D-4A44-B0DD-AC6A7C8BE0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9188" y="1268760"/>
            <a:ext cx="8229600" cy="532859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、数据的边界对齐</a:t>
            </a:r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C</a:t>
            </a:r>
            <a:r>
              <a:rPr lang="zh-CN" altLang="en-US" sz="1600" b="1" dirty="0"/>
              <a:t>语言中不同数据类型变量的字节长度（表</a:t>
            </a:r>
            <a:r>
              <a:rPr lang="en-US" altLang="zh-CN" sz="1600" b="1" dirty="0"/>
              <a:t>4.1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假设计算机的字长为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位（即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个字</a:t>
            </a:r>
            <a:r>
              <a:rPr lang="en-US" altLang="zh-CN" sz="1600" b="1" dirty="0"/>
              <a:t>=32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字节），则边界对齐要求：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双字数据（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字节）起始字节地址最末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000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单字数据（</a:t>
            </a:r>
            <a:r>
              <a:rPr lang="en-US" altLang="zh-CN" sz="1400" b="1" dirty="0">
                <a:solidFill>
                  <a:srgbClr val="C00000"/>
                </a:solidFill>
              </a:rPr>
              <a:t>32</a:t>
            </a:r>
            <a:r>
              <a:rPr lang="zh-CN" altLang="en-US" sz="1400" b="1" dirty="0">
                <a:solidFill>
                  <a:srgbClr val="C00000"/>
                </a:solidFill>
              </a:rPr>
              <a:t>位，</a:t>
            </a:r>
            <a:r>
              <a:rPr lang="en-US" altLang="zh-CN" sz="1400" b="1" dirty="0">
                <a:solidFill>
                  <a:srgbClr val="C00000"/>
                </a:solidFill>
              </a:rPr>
              <a:t>4</a:t>
            </a:r>
            <a:r>
              <a:rPr lang="zh-CN" altLang="en-US" sz="1400" b="1" dirty="0">
                <a:solidFill>
                  <a:srgbClr val="C00000"/>
                </a:solidFill>
              </a:rPr>
              <a:t>字节</a:t>
            </a:r>
            <a:r>
              <a:rPr lang="zh-CN" altLang="en-US" sz="1400" b="1" dirty="0"/>
              <a:t>）起始字节地址最末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半字数据（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字节）起始字节地址最末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位为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的倍数）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单字节数据（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字节）起始字节地址可以任意</a:t>
            </a:r>
            <a:endParaRPr lang="en-US" altLang="zh-CN" sz="1400" b="1" dirty="0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A60F253B-8A8B-4F23-9187-B1A5DFA735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879931"/>
              </p:ext>
            </p:extLst>
          </p:nvPr>
        </p:nvGraphicFramePr>
        <p:xfrm>
          <a:off x="1161036" y="2709069"/>
          <a:ext cx="72007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3360006159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115347494"/>
                    </a:ext>
                  </a:extLst>
                </a:gridCol>
                <a:gridCol w="936103">
                  <a:extLst>
                    <a:ext uri="{9D8B030D-6E8A-4147-A177-3AD203B41FA5}">
                      <a16:colId xmlns:a16="http://schemas.microsoft.com/office/drawing/2014/main" val="970867350"/>
                    </a:ext>
                  </a:extLst>
                </a:gridCol>
                <a:gridCol w="1872209">
                  <a:extLst>
                    <a:ext uri="{9D8B030D-6E8A-4147-A177-3AD203B41FA5}">
                      <a16:colId xmlns:a16="http://schemas.microsoft.com/office/drawing/2014/main" val="121118783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82417743"/>
                    </a:ext>
                  </a:extLst>
                </a:gridCol>
                <a:gridCol w="792086">
                  <a:extLst>
                    <a:ext uri="{9D8B030D-6E8A-4147-A177-3AD203B41FA5}">
                      <a16:colId xmlns:a16="http://schemas.microsoft.com/office/drawing/2014/main" val="2359610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</a:t>
                      </a:r>
                      <a:r>
                        <a:rPr lang="zh-CN" altLang="en-US" sz="1400" b="1" dirty="0"/>
                        <a:t>语言数据类型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x86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IA-64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</a:t>
                      </a:r>
                      <a:r>
                        <a:rPr lang="zh-CN" altLang="en-US" sz="1400" b="1" dirty="0"/>
                        <a:t>语言数据类型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x86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IA-64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72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char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float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692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short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2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double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363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int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long double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N/A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16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9722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long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pointer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4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8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082468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DB6B729-36A4-4FDC-B204-71CB61D80825}"/>
              </a:ext>
            </a:extLst>
          </p:cNvPr>
          <p:cNvSpPr txBox="1"/>
          <p:nvPr/>
        </p:nvSpPr>
        <p:spPr>
          <a:xfrm>
            <a:off x="6225851" y="1749494"/>
            <a:ext cx="2343428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x86</a:t>
            </a:r>
            <a:r>
              <a:rPr lang="zh-CN" altLang="en-US" sz="1400" b="1" dirty="0"/>
              <a:t>：x86通常是指32位系统</a:t>
            </a:r>
          </a:p>
          <a:p>
            <a:endParaRPr lang="zh-CN" altLang="en-US" sz="1400" b="1" dirty="0"/>
          </a:p>
          <a:p>
            <a:r>
              <a:rPr lang="zh-CN" altLang="en-US" sz="1400" b="1" dirty="0">
                <a:solidFill>
                  <a:srgbClr val="C00000"/>
                </a:solidFill>
              </a:rPr>
              <a:t>IA-64</a:t>
            </a:r>
            <a:r>
              <a:rPr lang="zh-CN" altLang="en-US" sz="1400" b="1" dirty="0"/>
              <a:t>：64位的英特尔架构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E7BAC72-C450-4B32-A05B-22E9FE1FCC15}"/>
              </a:ext>
            </a:extLst>
          </p:cNvPr>
          <p:cNvSpPr txBox="1"/>
          <p:nvPr/>
        </p:nvSpPr>
        <p:spPr>
          <a:xfrm>
            <a:off x="2957594" y="2334270"/>
            <a:ext cx="30963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dirty="0"/>
              <a:t>表</a:t>
            </a:r>
            <a:r>
              <a:rPr lang="en-US" altLang="zh-CN" sz="1400" b="1" dirty="0"/>
              <a:t>4.1    </a:t>
            </a:r>
            <a:r>
              <a:rPr lang="zh-CN" altLang="en-US" sz="1400" b="1" dirty="0"/>
              <a:t>不同数据类型变量的字节字长</a:t>
            </a:r>
          </a:p>
        </p:txBody>
      </p:sp>
    </p:spTree>
    <p:extLst>
      <p:ext uri="{BB962C8B-B14F-4D97-AF65-F5344CB8AC3E}">
        <p14:creationId xmlns:p14="http://schemas.microsoft.com/office/powerpoint/2010/main" val="1779264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0E44CF-ED3F-44CA-82D2-67204030CBE6}"/>
              </a:ext>
            </a:extLst>
          </p:cNvPr>
          <p:cNvSpPr txBox="1"/>
          <p:nvPr/>
        </p:nvSpPr>
        <p:spPr>
          <a:xfrm>
            <a:off x="697537" y="3750654"/>
            <a:ext cx="3816424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对齐方式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优点：访问变量</a:t>
            </a:r>
            <a:r>
              <a:rPr lang="en-US" altLang="zh-CN" sz="1600" b="1" dirty="0" err="1"/>
              <a:t>i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k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j</a:t>
            </a:r>
            <a:r>
              <a:rPr lang="zh-CN" altLang="en-US" sz="1600" b="1" dirty="0"/>
              <a:t>只需要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个存储周期，访问变量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需要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个存储周期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缺点：造成存储空间的浪费（浪费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个字节的存储空间）</a:t>
            </a:r>
            <a:endParaRPr lang="en-US" altLang="zh-CN" sz="16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9E9120-51CE-41BC-8613-CF71CC07EB59}"/>
              </a:ext>
            </a:extLst>
          </p:cNvPr>
          <p:cNvSpPr txBox="1"/>
          <p:nvPr/>
        </p:nvSpPr>
        <p:spPr>
          <a:xfrm>
            <a:off x="4932040" y="3750654"/>
            <a:ext cx="3816424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/>
            </a:lvl1pPr>
          </a:lstStyle>
          <a:p>
            <a:r>
              <a:rPr lang="zh-CN" altLang="en-US" sz="1600" dirty="0">
                <a:solidFill>
                  <a:srgbClr val="C00000"/>
                </a:solidFill>
              </a:rPr>
              <a:t>未对齐方式</a:t>
            </a:r>
            <a:r>
              <a:rPr lang="zh-CN" altLang="en-US" sz="1600" dirty="0"/>
              <a:t>：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优点：不浪费存储空间</a:t>
            </a:r>
            <a:endParaRPr lang="en-US" altLang="zh-CN" sz="1600" dirty="0"/>
          </a:p>
          <a:p>
            <a:endParaRPr lang="en-US" altLang="zh-CN" sz="1600" dirty="0"/>
          </a:p>
          <a:p>
            <a:r>
              <a:rPr lang="zh-CN" altLang="en-US" sz="1600" dirty="0"/>
              <a:t>缺点：访问变量</a:t>
            </a:r>
            <a:r>
              <a:rPr lang="en-US" altLang="zh-CN" sz="1600" dirty="0"/>
              <a:t>x</a:t>
            </a:r>
            <a:r>
              <a:rPr lang="zh-CN" altLang="en-US" sz="1600" dirty="0"/>
              <a:t>需要</a:t>
            </a:r>
            <a:r>
              <a:rPr lang="en-US" altLang="zh-CN" sz="1600" dirty="0"/>
              <a:t>3</a:t>
            </a:r>
            <a:r>
              <a:rPr lang="zh-CN" altLang="en-US" sz="1600" dirty="0"/>
              <a:t>个存储周期，访问变量</a:t>
            </a:r>
            <a:r>
              <a:rPr lang="en-US" altLang="zh-CN" sz="1600" dirty="0"/>
              <a:t>j</a:t>
            </a:r>
            <a:r>
              <a:rPr lang="zh-CN" altLang="en-US" sz="1600" dirty="0"/>
              <a:t>需要</a:t>
            </a:r>
            <a:r>
              <a:rPr lang="en-US" altLang="zh-CN" sz="1600" dirty="0"/>
              <a:t>2</a:t>
            </a:r>
            <a:r>
              <a:rPr lang="zh-CN" altLang="en-US" sz="1600" dirty="0"/>
              <a:t>个存储周期，只有访问变量</a:t>
            </a:r>
            <a:r>
              <a:rPr lang="en-US" altLang="zh-CN" sz="1600" dirty="0" err="1"/>
              <a:t>i</a:t>
            </a:r>
            <a:r>
              <a:rPr lang="zh-CN" altLang="en-US" sz="1600" dirty="0"/>
              <a:t>、</a:t>
            </a:r>
            <a:r>
              <a:rPr lang="en-US" altLang="zh-CN" sz="1600" dirty="0"/>
              <a:t>k</a:t>
            </a:r>
            <a:r>
              <a:rPr lang="zh-CN" altLang="en-US" sz="1600" dirty="0"/>
              <a:t>、</a:t>
            </a:r>
            <a:r>
              <a:rPr lang="en-US" altLang="zh-CN" sz="1600" dirty="0"/>
              <a:t>c</a:t>
            </a:r>
            <a:r>
              <a:rPr lang="zh-CN" altLang="en-US" sz="1600" dirty="0"/>
              <a:t>需要</a:t>
            </a:r>
            <a:r>
              <a:rPr lang="en-US" altLang="zh-CN" sz="1600" dirty="0"/>
              <a:t>1</a:t>
            </a:r>
            <a:r>
              <a:rPr lang="zh-CN" altLang="en-US" sz="1600" dirty="0"/>
              <a:t>个存储周期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03231CA-426D-473A-B035-4EB9DDF2F93D}"/>
              </a:ext>
            </a:extLst>
          </p:cNvPr>
          <p:cNvGrpSpPr/>
          <p:nvPr/>
        </p:nvGrpSpPr>
        <p:grpSpPr>
          <a:xfrm>
            <a:off x="395537" y="1268760"/>
            <a:ext cx="8291264" cy="2339519"/>
            <a:chOff x="295590" y="980728"/>
            <a:chExt cx="8552819" cy="232342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95735C4F-F227-4EF9-B6D2-925D0E3A73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5590" y="980728"/>
              <a:ext cx="8552819" cy="2165936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5EE28F5-CFEC-48CC-BEEE-FA7B2D9888FD}"/>
                </a:ext>
              </a:extLst>
            </p:cNvPr>
            <p:cNvSpPr txBox="1"/>
            <p:nvPr/>
          </p:nvSpPr>
          <p:spPr>
            <a:xfrm>
              <a:off x="5580112" y="2780928"/>
              <a:ext cx="273630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altLang="zh-CN" sz="1400" b="1" dirty="0"/>
            </a:p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4.4    </a:t>
              </a:r>
              <a:r>
                <a:rPr lang="zh-CN" altLang="en-US" sz="1400" b="1" dirty="0"/>
                <a:t>未对齐方式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64690463-5112-407C-A144-CBD277C75A17}"/>
                </a:ext>
              </a:extLst>
            </p:cNvPr>
            <p:cNvSpPr txBox="1"/>
            <p:nvPr/>
          </p:nvSpPr>
          <p:spPr>
            <a:xfrm>
              <a:off x="1043608" y="2780928"/>
              <a:ext cx="2736304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endParaRPr lang="en-US" altLang="zh-CN" sz="1400" b="1" dirty="0"/>
            </a:p>
            <a:p>
              <a:pPr algn="ctr"/>
              <a:r>
                <a:rPr lang="zh-CN" altLang="en-US" sz="1400" b="1" dirty="0"/>
                <a:t>图</a:t>
              </a:r>
              <a:r>
                <a:rPr lang="en-US" altLang="zh-CN" sz="1400" b="1" dirty="0"/>
                <a:t>4.5    </a:t>
              </a:r>
              <a:r>
                <a:rPr lang="zh-CN" altLang="en-US" sz="1400" b="1" dirty="0"/>
                <a:t>对齐方式</a:t>
              </a:r>
            </a:p>
          </p:txBody>
        </p:sp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09A68BCF-B324-4484-A337-92A5AED50ED8}"/>
              </a:ext>
            </a:extLst>
          </p:cNvPr>
          <p:cNvSpPr/>
          <p:nvPr/>
        </p:nvSpPr>
        <p:spPr>
          <a:xfrm>
            <a:off x="706702" y="5635843"/>
            <a:ext cx="21371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512BB"/>
                </a:solidFill>
                <a:hlinkClick r:id="rId3"/>
              </a:rPr>
              <a:t>参： 内存对齐问题 </a:t>
            </a:r>
            <a:endParaRPr lang="en-US" altLang="zh-CN" b="1" dirty="0">
              <a:solidFill>
                <a:srgbClr val="0512BB"/>
              </a:solidFill>
            </a:endParaRPr>
          </a:p>
          <a:p>
            <a:r>
              <a:rPr lang="zh-CN" altLang="en-US" b="1" dirty="0">
                <a:solidFill>
                  <a:srgbClr val="0512BB"/>
                </a:solidFill>
                <a:hlinkClick r:id="rId4"/>
              </a:rPr>
              <a:t>          内存地址对齐 </a:t>
            </a:r>
            <a:endParaRPr lang="zh-CN" altLang="en-US" b="1" dirty="0">
              <a:solidFill>
                <a:srgbClr val="0512BB"/>
              </a:solidFill>
            </a:endParaRPr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269F87EF-6B0B-4504-9554-12D083728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4.1.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主存中数据的存放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1354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4.2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半导体存储器</a:t>
            </a:r>
            <a:endParaRPr lang="zh-CN" altLang="en-US" dirty="0">
              <a:solidFill>
                <a:srgbClr val="002060"/>
              </a:solidFill>
              <a:latin typeface="+mn-lt"/>
              <a:ea typeface="黑体" pitchFamily="49" charset="-122"/>
            </a:endParaRP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06DCD8A-8810-4D74-976B-22FDC7126E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1311974"/>
            <a:ext cx="8229600" cy="542939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MOS</a:t>
            </a:r>
            <a:r>
              <a:rPr lang="zh-CN" altLang="en-US" sz="1600" b="1" dirty="0"/>
              <a:t>：Metal Oxide Semiconductor Field Effect Transistor，金属氧化物半导体场效应晶体管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存储体以静态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存储元为基本单元组成的存储器称为静态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存储器，也称为</a:t>
            </a:r>
            <a:r>
              <a:rPr lang="zh-CN" altLang="en-US" sz="1600" b="1" dirty="0">
                <a:solidFill>
                  <a:srgbClr val="C00000"/>
                </a:solidFill>
              </a:rPr>
              <a:t>静态随机存取存储器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SRAM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Static Random Access Memory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存储单元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存储单元：也称为存储元，存放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存储单元电路的基本功能：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/>
              <a:t>具有两种稳定状态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/>
              <a:t>两种稳定状态经外部信号控制可以相互转换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/>
              <a:t>经控制后能读出其中的信息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/>
              <a:t>无外部原因，其中的信息能长期保存</a:t>
            </a: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827478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1A4C7E-A0F0-4489-BD8A-FC149416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655FBA-C198-49A2-8D42-20E38D8B2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600" b="1" dirty="0"/>
              <a:t>MOS</a:t>
            </a:r>
            <a:r>
              <a:rPr lang="zh-CN" altLang="en-US" sz="1600" b="1" dirty="0"/>
              <a:t>，是</a:t>
            </a:r>
            <a:r>
              <a:rPr lang="en-US" altLang="zh-CN" sz="1600" b="1" dirty="0"/>
              <a:t>MOSFET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Metal Oxide Semiconductor Field Effect Transistor</a:t>
            </a:r>
            <a:r>
              <a:rPr lang="zh-CN" altLang="en-US" sz="1600" b="1" dirty="0"/>
              <a:t>）的缩写，金属氧化物半导体场效应晶体管，简称</a:t>
            </a:r>
            <a:r>
              <a:rPr lang="zh-CN" altLang="en-US" sz="1600" b="1" dirty="0">
                <a:solidFill>
                  <a:srgbClr val="C00000"/>
                </a:solidFill>
              </a:rPr>
              <a:t>场效应管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endParaRPr lang="zh-CN" altLang="en-US" sz="1600" b="1" dirty="0"/>
          </a:p>
          <a:p>
            <a:r>
              <a:rPr lang="en-US" altLang="zh-CN" sz="1600" b="1" dirty="0"/>
              <a:t>G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Gate </a:t>
            </a:r>
            <a:r>
              <a:rPr lang="zh-CN" altLang="en-US" sz="1600" b="1" dirty="0"/>
              <a:t>栅极；</a:t>
            </a:r>
            <a:r>
              <a:rPr lang="en-US" altLang="zh-CN" sz="1600" b="1" dirty="0"/>
              <a:t>S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Source </a:t>
            </a:r>
            <a:r>
              <a:rPr lang="zh-CN" altLang="en-US" sz="1600" b="1" dirty="0"/>
              <a:t>源极；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Drain </a:t>
            </a:r>
            <a:r>
              <a:rPr lang="zh-CN" altLang="en-US" sz="1600" b="1" dirty="0"/>
              <a:t>漏极。</a:t>
            </a:r>
          </a:p>
          <a:p>
            <a:endParaRPr lang="en-US" altLang="zh-CN" sz="1600" b="1" dirty="0"/>
          </a:p>
          <a:p>
            <a:r>
              <a:rPr lang="zh-CN" altLang="en-US" sz="1600" b="1" dirty="0"/>
              <a:t>场效应管分为</a:t>
            </a:r>
            <a:r>
              <a:rPr lang="en-US" altLang="zh-CN" sz="1600" b="1" dirty="0">
                <a:solidFill>
                  <a:srgbClr val="C00000"/>
                </a:solidFill>
              </a:rPr>
              <a:t>PMOS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P</a:t>
            </a:r>
            <a:r>
              <a:rPr lang="zh-CN" altLang="en-US" sz="1600" b="1" dirty="0"/>
              <a:t>沟道型）和</a:t>
            </a:r>
            <a:r>
              <a:rPr lang="en-US" altLang="zh-CN" sz="1600" b="1" dirty="0">
                <a:solidFill>
                  <a:srgbClr val="C00000"/>
                </a:solidFill>
              </a:rPr>
              <a:t>NMOS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沟道型），属于绝缘栅场效应管。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52B569E-9A09-4271-353C-819182600E49}"/>
              </a:ext>
            </a:extLst>
          </p:cNvPr>
          <p:cNvGrpSpPr/>
          <p:nvPr/>
        </p:nvGrpSpPr>
        <p:grpSpPr>
          <a:xfrm>
            <a:off x="1043608" y="3645024"/>
            <a:ext cx="7272809" cy="1916832"/>
            <a:chOff x="252610" y="4293096"/>
            <a:chExt cx="8756502" cy="2276872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C0A8FD2-E2C4-48F3-A66D-270A8F1A2E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12261" y="4740089"/>
              <a:ext cx="3888432" cy="13719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9C1ADFED-8004-4C7F-85B0-AA9700F8BB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2240" y="4293096"/>
              <a:ext cx="2276872" cy="2276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DF569933-EC8E-4563-A724-4B3CC0642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610" y="4653136"/>
              <a:ext cx="1181869" cy="14155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01238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标题 15">
            <a:extLst>
              <a:ext uri="{FF2B5EF4-FFF2-40B4-BE49-F238E27FC236}">
                <a16:creationId xmlns:a16="http://schemas.microsoft.com/office/drawing/2014/main" id="{E3D2651A-0300-4C1D-A7E0-AF44559AA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5987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33E6FB-DF20-41B7-8907-A80BAB1F5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17" y="1242675"/>
            <a:ext cx="8229600" cy="1725863"/>
          </a:xfrm>
        </p:spPr>
        <p:txBody>
          <a:bodyPr/>
          <a:lstStyle/>
          <a:p>
            <a:pPr lvl="1"/>
            <a:r>
              <a:rPr lang="zh-CN" altLang="en-US" sz="2200" b="1" dirty="0"/>
              <a:t>（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）</a:t>
            </a:r>
            <a:r>
              <a:rPr lang="en-US" altLang="zh-CN" sz="2200" b="1" dirty="0"/>
              <a:t>6</a:t>
            </a:r>
            <a:r>
              <a:rPr lang="zh-CN" altLang="en-US" sz="2200" b="1" dirty="0"/>
              <a:t>管</a:t>
            </a:r>
            <a:r>
              <a:rPr lang="en-US" altLang="zh-CN" sz="2200" b="1" dirty="0"/>
              <a:t>MOS</a:t>
            </a:r>
            <a:r>
              <a:rPr lang="zh-CN" altLang="en-US" sz="2200" b="1" dirty="0"/>
              <a:t>存储单元</a:t>
            </a:r>
            <a:endParaRPr lang="en-US" altLang="zh-CN" sz="2200" b="1" dirty="0"/>
          </a:p>
          <a:p>
            <a:pPr lvl="2"/>
            <a:r>
              <a:rPr lang="en-US" altLang="zh-CN" sz="1800" b="1" dirty="0"/>
              <a:t>6</a:t>
            </a:r>
            <a:r>
              <a:rPr lang="zh-CN" altLang="en-US" sz="1800" b="1" dirty="0"/>
              <a:t>个</a:t>
            </a:r>
            <a:r>
              <a:rPr lang="en-US" altLang="zh-CN" sz="1800" b="1" dirty="0">
                <a:solidFill>
                  <a:srgbClr val="C00000"/>
                </a:solidFill>
              </a:rPr>
              <a:t>MOS</a:t>
            </a:r>
            <a:r>
              <a:rPr lang="zh-CN" altLang="en-US" sz="1800" b="1" dirty="0">
                <a:solidFill>
                  <a:srgbClr val="C00000"/>
                </a:solidFill>
              </a:rPr>
              <a:t>管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6</a:t>
            </a:r>
            <a:r>
              <a:rPr lang="zh-CN" altLang="en-US" sz="1800" b="1" dirty="0"/>
              <a:t>）组成存放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位二进制数的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存储单元（图</a:t>
            </a:r>
            <a:r>
              <a:rPr lang="en-US" altLang="zh-CN" sz="1800" b="1" dirty="0"/>
              <a:t>4.6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2"/>
            <a:r>
              <a:rPr lang="en-US" altLang="zh-CN" sz="1800" b="1" dirty="0"/>
              <a:t>T</a:t>
            </a:r>
            <a:r>
              <a:rPr lang="en-US" altLang="zh-CN" sz="1800" b="1" baseline="-25000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2</a:t>
            </a:r>
            <a:r>
              <a:rPr lang="zh-CN" altLang="en-US" sz="1800" b="1" dirty="0"/>
              <a:t>：工作管；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4</a:t>
            </a:r>
            <a:r>
              <a:rPr lang="zh-CN" altLang="en-US" sz="1800" b="1" dirty="0"/>
              <a:t>：负载管；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8</a:t>
            </a:r>
            <a:r>
              <a:rPr lang="zh-CN" altLang="en-US" sz="1800" b="1" dirty="0"/>
              <a:t>：门控管；其中，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T</a:t>
            </a:r>
            <a:r>
              <a:rPr lang="en-US" altLang="zh-CN" sz="1800" b="1" baseline="-25000" dirty="0"/>
              <a:t>8</a:t>
            </a:r>
            <a:r>
              <a:rPr lang="zh-CN" altLang="en-US" sz="1800" b="1" dirty="0"/>
              <a:t>为各个存储单元共用</a:t>
            </a:r>
            <a:endParaRPr lang="en-US" altLang="zh-CN" sz="1200" b="1" dirty="0"/>
          </a:p>
          <a:p>
            <a:endParaRPr lang="en-US" altLang="zh-CN" sz="2000" b="1" dirty="0"/>
          </a:p>
          <a:p>
            <a:endParaRPr lang="en-US" altLang="zh-CN" sz="2000" b="1" dirty="0"/>
          </a:p>
          <a:p>
            <a:pPr lvl="1"/>
            <a:endParaRPr lang="zh-CN" altLang="en-US" sz="16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86722BB-3C31-4642-B1FC-E4F6D9646481}"/>
              </a:ext>
            </a:extLst>
          </p:cNvPr>
          <p:cNvGrpSpPr/>
          <p:nvPr/>
        </p:nvGrpSpPr>
        <p:grpSpPr>
          <a:xfrm>
            <a:off x="4412404" y="2643025"/>
            <a:ext cx="3687988" cy="3522280"/>
            <a:chOff x="1979712" y="1484784"/>
            <a:chExt cx="4320480" cy="4218440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E9BEC114-E5F7-4498-BB15-A61A6BCB93D7}"/>
                </a:ext>
              </a:extLst>
            </p:cNvPr>
            <p:cNvGrpSpPr/>
            <p:nvPr/>
          </p:nvGrpSpPr>
          <p:grpSpPr>
            <a:xfrm>
              <a:off x="1979712" y="1484784"/>
              <a:ext cx="4320480" cy="3910663"/>
              <a:chOff x="2195736" y="1390545"/>
              <a:chExt cx="4630630" cy="4076910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7EA68C31-E900-4536-B905-65F307872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1108672D-F1D4-4A5F-A045-519B0D8521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CA6A65E9-DE78-4D7D-8DDA-9148EA09CB9B}"/>
                </a:ext>
              </a:extLst>
            </p:cNvPr>
            <p:cNvSpPr txBox="1"/>
            <p:nvPr/>
          </p:nvSpPr>
          <p:spPr>
            <a:xfrm>
              <a:off x="2267744" y="1916832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CE4ED47A-5AB8-4DA3-9EF2-F1999DDB81D5}"/>
                </a:ext>
              </a:extLst>
            </p:cNvPr>
            <p:cNvSpPr txBox="1"/>
            <p:nvPr/>
          </p:nvSpPr>
          <p:spPr>
            <a:xfrm>
              <a:off x="4499992" y="5395447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DD71E76-BB99-4DDC-BB80-D8A41AC4A6FC}"/>
                </a:ext>
              </a:extLst>
            </p:cNvPr>
            <p:cNvSpPr txBox="1"/>
            <p:nvPr/>
          </p:nvSpPr>
          <p:spPr>
            <a:xfrm>
              <a:off x="4139952" y="2698288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3528BF2B-9851-47AD-97B1-550AD33E792D}"/>
                </a:ext>
              </a:extLst>
            </p:cNvPr>
            <p:cNvSpPr txBox="1"/>
            <p:nvPr/>
          </p:nvSpPr>
          <p:spPr>
            <a:xfrm>
              <a:off x="5191448" y="2709321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B9C835F-9A18-4DDA-94C9-2F151FBA934C}"/>
              </a:ext>
            </a:extLst>
          </p:cNvPr>
          <p:cNvSpPr txBox="1"/>
          <p:nvPr/>
        </p:nvSpPr>
        <p:spPr>
          <a:xfrm>
            <a:off x="5580112" y="6283764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BB766AA-9E7C-43D2-99FB-55A631FBA3C1}"/>
              </a:ext>
            </a:extLst>
          </p:cNvPr>
          <p:cNvSpPr txBox="1"/>
          <p:nvPr/>
        </p:nvSpPr>
        <p:spPr>
          <a:xfrm>
            <a:off x="3039208" y="3727308"/>
            <a:ext cx="153279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存放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位二进制数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09E5AEA-058A-4785-88BD-10426A8E4A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508" y="3036901"/>
            <a:ext cx="2477077" cy="15315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B145E7A-1F26-4C6C-9B93-4B6F92548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27" y="4592141"/>
            <a:ext cx="2439157" cy="1695642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AB6695C-3FE1-4E9E-BA09-D261A1F75F31}"/>
              </a:ext>
            </a:extLst>
          </p:cNvPr>
          <p:cNvSpPr txBox="1"/>
          <p:nvPr/>
        </p:nvSpPr>
        <p:spPr>
          <a:xfrm>
            <a:off x="3010397" y="4241764"/>
            <a:ext cx="13863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</a:t>
            </a:r>
            <a:r>
              <a:rPr lang="zh-CN" altLang="en-US" b="1" dirty="0"/>
              <a:t>：栅极</a:t>
            </a:r>
            <a:endParaRPr lang="en-US" altLang="zh-CN" b="1" dirty="0"/>
          </a:p>
          <a:p>
            <a:r>
              <a:rPr lang="en-US" altLang="zh-CN" b="1" dirty="0"/>
              <a:t>S</a:t>
            </a:r>
            <a:r>
              <a:rPr lang="zh-CN" altLang="en-US" b="1" dirty="0"/>
              <a:t>：源极</a:t>
            </a:r>
            <a:endParaRPr lang="en-US" altLang="zh-CN" b="1" dirty="0"/>
          </a:p>
          <a:p>
            <a:r>
              <a:rPr lang="en-US" altLang="zh-CN" b="1" dirty="0"/>
              <a:t>D</a:t>
            </a:r>
            <a:r>
              <a:rPr lang="zh-CN" altLang="en-US" b="1" dirty="0"/>
              <a:t>：漏极</a:t>
            </a:r>
          </a:p>
        </p:txBody>
      </p:sp>
    </p:spTree>
    <p:extLst>
      <p:ext uri="{BB962C8B-B14F-4D97-AF65-F5344CB8AC3E}">
        <p14:creationId xmlns:p14="http://schemas.microsoft.com/office/powerpoint/2010/main" val="2266649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67C0E84-4942-4D21-A3E2-0ADDC39D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12" y="5559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92" y="1273080"/>
            <a:ext cx="8229600" cy="1402245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）电路状态</a:t>
            </a:r>
            <a:endParaRPr lang="en-US" altLang="zh-CN" sz="2000" b="1" dirty="0"/>
          </a:p>
          <a:p>
            <a:pPr lvl="2"/>
            <a:r>
              <a:rPr lang="en-US" altLang="zh-CN" sz="1800" b="1" dirty="0"/>
              <a:t>A</a:t>
            </a:r>
            <a:r>
              <a:rPr lang="zh-CN" altLang="en-US" sz="1800" b="1" dirty="0"/>
              <a:t>点高电平、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点低电平，表示</a:t>
            </a:r>
            <a:r>
              <a:rPr lang="zh-CN" altLang="en-US" sz="1800" b="1" dirty="0">
                <a:solidFill>
                  <a:srgbClr val="C00000"/>
                </a:solidFill>
              </a:rPr>
              <a:t>存储数据“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”</a:t>
            </a:r>
            <a:r>
              <a:rPr lang="en-US" altLang="zh-CN" sz="1800" b="1" dirty="0">
                <a:solidFill>
                  <a:srgbClr val="C00000"/>
                </a:solidFill>
              </a:rPr>
              <a:t> T1</a:t>
            </a:r>
            <a:r>
              <a:rPr lang="zh-CN" altLang="en-US" sz="1800" b="1" dirty="0">
                <a:solidFill>
                  <a:srgbClr val="C00000"/>
                </a:solidFill>
              </a:rPr>
              <a:t>截止，</a:t>
            </a:r>
            <a:r>
              <a:rPr lang="en-US" altLang="zh-CN" sz="1800" b="1" dirty="0">
                <a:solidFill>
                  <a:srgbClr val="C00000"/>
                </a:solidFill>
              </a:rPr>
              <a:t>T2</a:t>
            </a:r>
            <a:r>
              <a:rPr lang="zh-CN" altLang="en-US" sz="1800" b="1" dirty="0">
                <a:solidFill>
                  <a:srgbClr val="C00000"/>
                </a:solidFill>
              </a:rPr>
              <a:t>导通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2"/>
            <a:r>
              <a:rPr lang="en-US" altLang="zh-CN" sz="1800" b="1" dirty="0"/>
              <a:t>A</a:t>
            </a:r>
            <a:r>
              <a:rPr lang="zh-CN" altLang="en-US" sz="1800" b="1" dirty="0"/>
              <a:t>点低电平、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点高电平，表示</a:t>
            </a:r>
            <a:r>
              <a:rPr lang="zh-CN" altLang="en-US" sz="1800" b="1" dirty="0">
                <a:solidFill>
                  <a:srgbClr val="C00000"/>
                </a:solidFill>
              </a:rPr>
              <a:t>存储数据“</a:t>
            </a:r>
            <a:r>
              <a:rPr lang="en-US" altLang="zh-CN" sz="1800" b="1" dirty="0">
                <a:solidFill>
                  <a:srgbClr val="C00000"/>
                </a:solidFill>
              </a:rPr>
              <a:t>0</a:t>
            </a:r>
            <a:r>
              <a:rPr lang="zh-CN" altLang="en-US" sz="1800" b="1" dirty="0">
                <a:solidFill>
                  <a:srgbClr val="C00000"/>
                </a:solidFill>
              </a:rPr>
              <a:t>”</a:t>
            </a:r>
            <a:r>
              <a:rPr lang="zh-CN" altLang="en-US" sz="1200" b="1" dirty="0">
                <a:solidFill>
                  <a:srgbClr val="C00000"/>
                </a:solidFill>
              </a:rPr>
              <a:t>  </a:t>
            </a:r>
            <a:r>
              <a:rPr lang="en-US" altLang="zh-CN" sz="1200" b="1" dirty="0">
                <a:solidFill>
                  <a:srgbClr val="C00000"/>
                </a:solidFill>
              </a:rPr>
              <a:t>  </a:t>
            </a:r>
            <a:r>
              <a:rPr lang="en-US" altLang="zh-CN" sz="1800" b="1" dirty="0">
                <a:solidFill>
                  <a:srgbClr val="C00000"/>
                </a:solidFill>
              </a:rPr>
              <a:t>T1</a:t>
            </a:r>
            <a:r>
              <a:rPr lang="zh-CN" altLang="en-US" sz="1800" b="1" dirty="0">
                <a:solidFill>
                  <a:srgbClr val="C00000"/>
                </a:solidFill>
              </a:rPr>
              <a:t>导通，</a:t>
            </a:r>
            <a:r>
              <a:rPr lang="en-US" altLang="zh-CN" sz="1800" b="1" dirty="0">
                <a:solidFill>
                  <a:srgbClr val="C00000"/>
                </a:solidFill>
              </a:rPr>
              <a:t>T2</a:t>
            </a:r>
            <a:r>
              <a:rPr lang="zh-CN" altLang="en-US" sz="1800" b="1" dirty="0">
                <a:solidFill>
                  <a:srgbClr val="C00000"/>
                </a:solidFill>
              </a:rPr>
              <a:t>截止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1"/>
            <a:endParaRPr lang="zh-CN" altLang="en-US" sz="1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1BD234-92F0-4491-BD7D-81F4BF429AE5}"/>
              </a:ext>
            </a:extLst>
          </p:cNvPr>
          <p:cNvGrpSpPr/>
          <p:nvPr/>
        </p:nvGrpSpPr>
        <p:grpSpPr>
          <a:xfrm>
            <a:off x="2555776" y="2600908"/>
            <a:ext cx="3888432" cy="3636404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0A94179-3701-4D67-9681-5107EF91173E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4E9AB2E-FC86-4A1B-AAE0-4DC5F7FEA715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969021C-1E81-4EB1-8A17-E5A5AB8E3EF8}"/>
              </a:ext>
            </a:extLst>
          </p:cNvPr>
          <p:cNvSpPr txBox="1"/>
          <p:nvPr/>
        </p:nvSpPr>
        <p:spPr>
          <a:xfrm>
            <a:off x="3923928" y="6284688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26322064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7333A0C-F5A1-4845-9AB2-92FAC23A9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437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88" y="1166018"/>
            <a:ext cx="8229600" cy="4525963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）写操作</a:t>
            </a:r>
            <a:endParaRPr lang="en-US" altLang="zh-CN" sz="2000" b="1" dirty="0"/>
          </a:p>
          <a:p>
            <a:pPr lvl="2"/>
            <a:r>
              <a:rPr lang="zh-CN" altLang="en-US" sz="1600" b="1" dirty="0"/>
              <a:t>首先给出行选通和列选通信号，使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8</a:t>
            </a:r>
            <a:r>
              <a:rPr lang="zh-CN" altLang="en-US" sz="1600" b="1" dirty="0"/>
              <a:t>门控管打开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写入数据“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zh-CN" altLang="en-US" sz="1600" b="1" dirty="0"/>
              <a:t>：输入数据为高电平（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高电平，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低电平），则使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点高电平、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点低电平，则写入数据“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写入数据“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/>
              <a:t>”：输入数据为低电平（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低电平，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高电平），则使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点低电平、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点高电平，则写入数据“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</a:t>
            </a:r>
            <a:endParaRPr lang="en-US" altLang="zh-CN" sz="1100" b="1" dirty="0"/>
          </a:p>
          <a:p>
            <a:pPr lvl="1"/>
            <a:endParaRPr lang="zh-CN" altLang="en-US" sz="16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CCA7BC7-34ED-42D1-84EC-7A991297225C}"/>
              </a:ext>
            </a:extLst>
          </p:cNvPr>
          <p:cNvGrpSpPr/>
          <p:nvPr/>
        </p:nvGrpSpPr>
        <p:grpSpPr>
          <a:xfrm>
            <a:off x="2547982" y="2996952"/>
            <a:ext cx="3749612" cy="3418776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BBBF854D-5B6B-4C14-A0A0-13DEC61C587F}"/>
              </a:ext>
            </a:extLst>
          </p:cNvPr>
          <p:cNvSpPr txBox="1"/>
          <p:nvPr/>
        </p:nvSpPr>
        <p:spPr>
          <a:xfrm>
            <a:off x="3923928" y="6505599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4032660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E3A11D4-6C39-4890-A1A7-95C71F8E2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099" y="9680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68" y="1268761"/>
            <a:ext cx="8229600" cy="2068486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）读操作</a:t>
            </a:r>
            <a:endParaRPr lang="en-US" altLang="zh-CN" sz="20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600" b="1" dirty="0"/>
              <a:t>首先给出行选通和列选通信号，使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8</a:t>
            </a:r>
            <a:r>
              <a:rPr lang="zh-CN" altLang="en-US" sz="1600" b="1" dirty="0"/>
              <a:t>门控管打开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读出数据“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zh-CN" altLang="en-US" sz="1600" b="1" dirty="0"/>
              <a:t>：因为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点是高电平、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点是低电平，因此输出数据为高电平（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高电平，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低电平），表示读出数据“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读出数据“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r>
              <a:rPr lang="zh-CN" altLang="en-US" sz="1600" b="1" dirty="0"/>
              <a:t>：因为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点是低电平、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点是高电平，因此输出数据为低电平（</a:t>
            </a:r>
            <a:r>
              <a:rPr lang="en-US" altLang="zh-CN" sz="1600" b="1" dirty="0"/>
              <a:t>I/O=</a:t>
            </a:r>
            <a:r>
              <a:rPr lang="zh-CN" altLang="en-US" sz="1600" b="1" dirty="0"/>
              <a:t>低电平，</a:t>
            </a:r>
            <a:r>
              <a:rPr lang="en-US" altLang="zh-CN" sz="1600" b="1" dirty="0"/>
              <a:t>-I/O=</a:t>
            </a:r>
            <a:r>
              <a:rPr lang="zh-CN" altLang="en-US" sz="1600" b="1" dirty="0"/>
              <a:t>高电平），表示读出数据“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</a:t>
            </a:r>
            <a:endParaRPr lang="en-US" altLang="zh-CN" sz="1100" b="1" dirty="0"/>
          </a:p>
          <a:p>
            <a:pPr lvl="1"/>
            <a:endParaRPr lang="zh-CN" altLang="en-US" sz="16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516238-E09F-4515-BE0C-FBCFA427257A}"/>
              </a:ext>
            </a:extLst>
          </p:cNvPr>
          <p:cNvGrpSpPr/>
          <p:nvPr/>
        </p:nvGrpSpPr>
        <p:grpSpPr>
          <a:xfrm>
            <a:off x="3189739" y="3337247"/>
            <a:ext cx="2880320" cy="3107882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6A0A957-9D4E-4B0C-B43C-4E31BC623EE2}"/>
              </a:ext>
            </a:extLst>
          </p:cNvPr>
          <p:cNvSpPr txBox="1"/>
          <p:nvPr/>
        </p:nvSpPr>
        <p:spPr>
          <a:xfrm>
            <a:off x="3668608" y="6445129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066116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9961309-0D03-4478-AAC0-562C3B13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693" y="81847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33915E1-4D77-4EAD-9AD5-71244FC02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693" y="1336141"/>
            <a:ext cx="8229600" cy="1588803"/>
          </a:xfrm>
        </p:spPr>
        <p:txBody>
          <a:bodyPr/>
          <a:lstStyle/>
          <a:p>
            <a:pPr lvl="1"/>
            <a:r>
              <a:rPr lang="zh-CN" altLang="en-US" sz="2000" b="1" dirty="0"/>
              <a:t>（</a:t>
            </a:r>
            <a:r>
              <a:rPr lang="en-US" altLang="zh-CN" sz="2000" b="1" dirty="0"/>
              <a:t>5</a:t>
            </a:r>
            <a:r>
              <a:rPr lang="zh-CN" altLang="en-US" sz="2000" b="1" dirty="0"/>
              <a:t>）信息的保持</a:t>
            </a:r>
            <a:endParaRPr lang="en-US" altLang="zh-CN" sz="20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600" b="1" dirty="0"/>
              <a:t>不给出行选通和列选通信号，因此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8</a:t>
            </a:r>
            <a:r>
              <a:rPr lang="zh-CN" altLang="en-US" sz="1600" b="1" dirty="0"/>
              <a:t>门控管截止</a:t>
            </a:r>
            <a:endParaRPr lang="en-US" altLang="zh-CN" sz="1600" b="1" dirty="0"/>
          </a:p>
          <a:p>
            <a:pPr lvl="2"/>
            <a:r>
              <a:rPr lang="zh-CN" altLang="en-US" sz="1600" b="1" dirty="0"/>
              <a:t>只要电源不断，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点和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点的信息将保持不变，存储单元的状态就一直不变，并且在读出时也不会破坏原有</a:t>
            </a:r>
            <a:r>
              <a:rPr lang="zh-CN" altLang="en-US" sz="1800" b="1" dirty="0"/>
              <a:t>数据</a:t>
            </a:r>
            <a:endParaRPr lang="zh-CN" altLang="en-US" sz="12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0030A2B-6A3D-4785-904D-EA4BEC40565C}"/>
              </a:ext>
            </a:extLst>
          </p:cNvPr>
          <p:cNvGrpSpPr/>
          <p:nvPr/>
        </p:nvGrpSpPr>
        <p:grpSpPr>
          <a:xfrm>
            <a:off x="2889301" y="2975607"/>
            <a:ext cx="3456384" cy="3051720"/>
            <a:chOff x="2339752" y="2852936"/>
            <a:chExt cx="3888432" cy="388843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DBEF7B39-2441-435D-9D5C-6ABC18F40877}"/>
                </a:ext>
              </a:extLst>
            </p:cNvPr>
            <p:cNvGrpSpPr/>
            <p:nvPr/>
          </p:nvGrpSpPr>
          <p:grpSpPr>
            <a:xfrm>
              <a:off x="2339752" y="2852936"/>
              <a:ext cx="3888432" cy="3622631"/>
              <a:chOff x="2195736" y="1390545"/>
              <a:chExt cx="4630630" cy="4076910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B825CE41-D90C-47D4-BDA1-86D7C568D1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317634" y="1390545"/>
                <a:ext cx="4508732" cy="4076910"/>
              </a:xfrm>
              <a:prstGeom prst="rect">
                <a:avLst/>
              </a:prstGeom>
            </p:spPr>
          </p:pic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2A64EDF2-AD1F-4D08-A66D-815DABA4AA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95736" y="4077072"/>
                <a:ext cx="1054154" cy="1193977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912F08B-F4AD-4EAC-AE15-3CD81225F80A}"/>
                </a:ext>
              </a:extLst>
            </p:cNvPr>
            <p:cNvSpPr txBox="1"/>
            <p:nvPr/>
          </p:nvSpPr>
          <p:spPr>
            <a:xfrm>
              <a:off x="4283968" y="3933056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A</a:t>
              </a:r>
              <a:endParaRPr lang="zh-CN" altLang="en-US" sz="1200" b="1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20B8C871-BE52-42BA-AED5-65A40801B1AA}"/>
                </a:ext>
              </a:extLst>
            </p:cNvPr>
            <p:cNvSpPr txBox="1"/>
            <p:nvPr/>
          </p:nvSpPr>
          <p:spPr>
            <a:xfrm>
              <a:off x="5220072" y="3944089"/>
              <a:ext cx="271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B</a:t>
              </a:r>
              <a:endParaRPr lang="zh-CN" altLang="en-US" sz="1200" b="1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5BE09E5-BFDF-47C9-84E2-32D842043D20}"/>
                </a:ext>
              </a:extLst>
            </p:cNvPr>
            <p:cNvSpPr txBox="1"/>
            <p:nvPr/>
          </p:nvSpPr>
          <p:spPr>
            <a:xfrm>
              <a:off x="2624589" y="3265239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行选通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BB6C867D-941E-4E67-AD13-4213A207B4EF}"/>
                </a:ext>
              </a:extLst>
            </p:cNvPr>
            <p:cNvSpPr txBox="1"/>
            <p:nvPr/>
          </p:nvSpPr>
          <p:spPr>
            <a:xfrm>
              <a:off x="4568805" y="6433591"/>
              <a:ext cx="72327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列选通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33725ABD-49EC-4545-9416-D10DC2ADE631}"/>
              </a:ext>
            </a:extLst>
          </p:cNvPr>
          <p:cNvSpPr txBox="1"/>
          <p:nvPr/>
        </p:nvSpPr>
        <p:spPr>
          <a:xfrm>
            <a:off x="3923928" y="6093296"/>
            <a:ext cx="219643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4.6    6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991746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FDC95FDC-8804-4FF7-92B7-4B7EF2ADF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247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4377" y="1238961"/>
            <a:ext cx="8229600" cy="139795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、存储单元扩展</a:t>
            </a:r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位二进制数的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管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存储单元（图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SRAM</a:t>
            </a:r>
            <a:r>
              <a:rPr lang="zh-CN" altLang="en-US" sz="1600" b="1" dirty="0"/>
              <a:t>存储单元的</a:t>
            </a:r>
            <a:r>
              <a:rPr lang="zh-CN" altLang="en-US" sz="1600" b="1" dirty="0">
                <a:solidFill>
                  <a:srgbClr val="C00000"/>
                </a:solidFill>
              </a:rPr>
              <a:t>行扩展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4.8a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SRAM</a:t>
            </a:r>
            <a:r>
              <a:rPr lang="zh-CN" altLang="en-US" sz="1600" b="1" dirty="0"/>
              <a:t>存储单元的</a:t>
            </a:r>
            <a:r>
              <a:rPr lang="zh-CN" altLang="en-US" sz="1600" b="1" dirty="0">
                <a:solidFill>
                  <a:srgbClr val="C00000"/>
                </a:solidFill>
              </a:rPr>
              <a:t>行列扩展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4.8b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0739317-4E51-4227-AE68-634CD4989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2355" y="2740722"/>
            <a:ext cx="2833139" cy="261675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4716016" y="5915761"/>
            <a:ext cx="2823209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4.8    SRAM</a:t>
            </a:r>
            <a:r>
              <a:rPr lang="zh-CN" altLang="en-US" sz="1400" b="1" dirty="0"/>
              <a:t>存储单元的行列扩展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60FF543-50B2-4DB2-8D18-0CE6BB8EA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470" y="2784575"/>
            <a:ext cx="1601027" cy="2572906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B107BCAB-BB8D-4CD7-AD63-44750E672412}"/>
              </a:ext>
            </a:extLst>
          </p:cNvPr>
          <p:cNvGrpSpPr/>
          <p:nvPr/>
        </p:nvGrpSpPr>
        <p:grpSpPr>
          <a:xfrm>
            <a:off x="1293949" y="2740722"/>
            <a:ext cx="1912703" cy="1624607"/>
            <a:chOff x="6732240" y="260648"/>
            <a:chExt cx="2560530" cy="2227133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3B3E2A3C-6A9D-4FB2-90E5-E7BBF4BD3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948264" y="260648"/>
              <a:ext cx="1618708" cy="1713258"/>
            </a:xfrm>
            <a:prstGeom prst="rect">
              <a:avLst/>
            </a:prstGeom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0BA307D-ECB8-464A-8B93-6E8BD79A4665}"/>
                </a:ext>
              </a:extLst>
            </p:cNvPr>
            <p:cNvSpPr txBox="1"/>
            <p:nvPr/>
          </p:nvSpPr>
          <p:spPr>
            <a:xfrm>
              <a:off x="6732240" y="2108050"/>
              <a:ext cx="2560530" cy="3797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4.7    6</a:t>
              </a:r>
              <a:r>
                <a:rPr lang="zh-CN" altLang="en-US" sz="1200" b="1" dirty="0"/>
                <a:t>管</a:t>
              </a:r>
              <a:r>
                <a:rPr lang="en-US" altLang="zh-CN" sz="1200" b="1" dirty="0"/>
                <a:t>SRAM</a:t>
              </a:r>
              <a:r>
                <a:rPr lang="zh-CN" altLang="en-US" sz="1200" b="1" dirty="0"/>
                <a:t>存储单元</a:t>
              </a:r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B0E6A6F1-BBFB-43D3-B8F9-D3638DCB5006}"/>
              </a:ext>
            </a:extLst>
          </p:cNvPr>
          <p:cNvSpPr txBox="1"/>
          <p:nvPr/>
        </p:nvSpPr>
        <p:spPr>
          <a:xfrm>
            <a:off x="4078330" y="5505143"/>
            <a:ext cx="4248472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（</a:t>
            </a:r>
            <a:r>
              <a:rPr lang="en-US" altLang="zh-CN" sz="1050" b="1" dirty="0"/>
              <a:t>a</a:t>
            </a:r>
            <a:r>
              <a:rPr lang="zh-CN" altLang="en-US" sz="1050" b="1" dirty="0"/>
              <a:t>）一维行扩展                                              （</a:t>
            </a:r>
            <a:r>
              <a:rPr lang="en-US" altLang="zh-CN" sz="1050" b="1" dirty="0"/>
              <a:t>b</a:t>
            </a:r>
            <a:r>
              <a:rPr lang="zh-CN" altLang="en-US" sz="1050" b="1" dirty="0"/>
              <a:t>）二维行列扩展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06627C-D79F-4731-9765-426F56AEEFBE}"/>
              </a:ext>
            </a:extLst>
          </p:cNvPr>
          <p:cNvGrpSpPr/>
          <p:nvPr/>
        </p:nvGrpSpPr>
        <p:grpSpPr>
          <a:xfrm>
            <a:off x="1405306" y="4420205"/>
            <a:ext cx="1244517" cy="2336570"/>
            <a:chOff x="2173372" y="3593418"/>
            <a:chExt cx="1750556" cy="2630522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F76A052C-957E-47F3-ADB7-EA5B9018B19C}"/>
                </a:ext>
              </a:extLst>
            </p:cNvPr>
            <p:cNvGrpSpPr/>
            <p:nvPr/>
          </p:nvGrpSpPr>
          <p:grpSpPr>
            <a:xfrm>
              <a:off x="2173372" y="3593418"/>
              <a:ext cx="1750556" cy="2355862"/>
              <a:chOff x="2640398" y="2852924"/>
              <a:chExt cx="1750556" cy="2355862"/>
            </a:xfrm>
          </p:grpSpPr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05364068-FA93-46A5-AE3D-989BC0D280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40398" y="3389194"/>
                <a:ext cx="1750556" cy="1819592"/>
              </a:xfrm>
              <a:prstGeom prst="rect">
                <a:avLst/>
              </a:prstGeom>
            </p:spPr>
          </p:pic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8A863BAD-0D55-4AD3-A1F2-7A660C36FA7B}"/>
                  </a:ext>
                </a:extLst>
              </p:cNvPr>
              <p:cNvSpPr txBox="1"/>
              <p:nvPr/>
            </p:nvSpPr>
            <p:spPr>
              <a:xfrm>
                <a:off x="3370482" y="2852924"/>
                <a:ext cx="748923" cy="261610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位存储体</a:t>
                </a:r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FC1C5209-77EC-414F-A16F-C9738442C31C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 flipH="1">
                <a:off x="3670382" y="3114534"/>
                <a:ext cx="74562" cy="345176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A88D98E-9A03-49DC-9D0C-019A17A8538F}"/>
                </a:ext>
              </a:extLst>
            </p:cNvPr>
            <p:cNvSpPr txBox="1"/>
            <p:nvPr/>
          </p:nvSpPr>
          <p:spPr>
            <a:xfrm>
              <a:off x="2213943" y="5977719"/>
              <a:ext cx="1622560" cy="24622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000" b="1" dirty="0"/>
                <a:t>图</a:t>
              </a:r>
              <a:r>
                <a:rPr lang="en-US" altLang="zh-CN" sz="1000" b="1" dirty="0"/>
                <a:t>4.6    6</a:t>
              </a:r>
              <a:r>
                <a:rPr lang="zh-CN" altLang="en-US" sz="1000" b="1" dirty="0"/>
                <a:t>管</a:t>
              </a:r>
              <a:r>
                <a:rPr lang="en-US" altLang="zh-CN" sz="1000" b="1" dirty="0"/>
                <a:t>SRAM</a:t>
              </a:r>
              <a:r>
                <a:rPr lang="zh-CN" altLang="en-US" sz="1000" b="1" dirty="0"/>
                <a:t>存储单元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86621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9EAC4-2DEE-47E4-B54B-C197AAB5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5375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AAC38-9757-47B0-93A7-21747A69A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7214"/>
            <a:ext cx="8229600" cy="1552148"/>
          </a:xfrm>
        </p:spPr>
        <p:txBody>
          <a:bodyPr/>
          <a:lstStyle/>
          <a:p>
            <a:pPr lvl="2"/>
            <a:r>
              <a:rPr lang="zh-CN" altLang="en-US" sz="1800" b="1" dirty="0">
                <a:solidFill>
                  <a:srgbClr val="C00000"/>
                </a:solidFill>
              </a:rPr>
              <a:t>单译码结构</a:t>
            </a:r>
            <a:r>
              <a:rPr lang="zh-CN" altLang="en-US" sz="1800" b="1" dirty="0"/>
              <a:t>：图</a:t>
            </a:r>
            <a:r>
              <a:rPr lang="en-US" altLang="zh-CN" sz="1800" b="1" dirty="0"/>
              <a:t>4.9a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n</a:t>
            </a:r>
            <a:r>
              <a:rPr lang="zh-CN" altLang="en-US" sz="1800" b="1" dirty="0"/>
              <a:t>位地址译码后得到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n</a:t>
            </a:r>
            <a:r>
              <a:rPr lang="zh-CN" altLang="en-US" sz="1800" b="1" dirty="0"/>
              <a:t>个译码线（</a:t>
            </a:r>
            <a:r>
              <a:rPr lang="en-US" altLang="zh-CN" sz="1800" b="1" dirty="0"/>
              <a:t>0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n</a:t>
            </a:r>
            <a:r>
              <a:rPr lang="zh-CN" altLang="en-US" sz="1800" b="1" dirty="0"/>
              <a:t>），共有</a:t>
            </a:r>
            <a:r>
              <a:rPr lang="en-US" altLang="zh-CN" sz="1800" b="1" dirty="0"/>
              <a:t>2</a:t>
            </a:r>
            <a:r>
              <a:rPr lang="en-US" altLang="zh-CN" sz="1800" b="1" baseline="30000" dirty="0"/>
              <a:t>n</a:t>
            </a:r>
            <a:r>
              <a:rPr lang="zh-CN" altLang="en-US" sz="1800" b="1" dirty="0"/>
              <a:t>个存储单元</a:t>
            </a:r>
            <a:endParaRPr lang="en-US" altLang="zh-CN" sz="1800" b="1" dirty="0"/>
          </a:p>
          <a:p>
            <a:pPr lvl="2"/>
            <a:endParaRPr lang="en-US" altLang="zh-CN" sz="1800" b="1" dirty="0"/>
          </a:p>
          <a:p>
            <a:pPr lvl="2"/>
            <a:r>
              <a:rPr lang="zh-CN" altLang="en-US" sz="1800" b="1" dirty="0">
                <a:solidFill>
                  <a:srgbClr val="C00000"/>
                </a:solidFill>
              </a:rPr>
              <a:t>双译码结构</a:t>
            </a:r>
            <a:r>
              <a:rPr lang="zh-CN" altLang="en-US" sz="1800" b="1" dirty="0"/>
              <a:t>：图</a:t>
            </a:r>
            <a:r>
              <a:rPr lang="en-US" altLang="zh-CN" sz="1800" b="1" dirty="0"/>
              <a:t>4.9b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X</a:t>
            </a:r>
            <a:r>
              <a:rPr lang="zh-CN" altLang="en-US" sz="1800" b="1" dirty="0"/>
              <a:t>地址译码后得到</a:t>
            </a:r>
            <a:r>
              <a:rPr lang="en-US" altLang="zh-CN" sz="1800" b="1" dirty="0"/>
              <a:t>k</a:t>
            </a:r>
            <a:r>
              <a:rPr lang="zh-CN" altLang="en-US" sz="1800" b="1" dirty="0"/>
              <a:t>行，</a:t>
            </a:r>
            <a:r>
              <a:rPr lang="en-US" altLang="zh-CN" sz="1800" b="1" dirty="0"/>
              <a:t>Y</a:t>
            </a:r>
            <a:r>
              <a:rPr lang="zh-CN" altLang="en-US" sz="1800" b="1" dirty="0"/>
              <a:t>地址译码后得到</a:t>
            </a:r>
            <a:r>
              <a:rPr lang="en-US" altLang="zh-CN" sz="1800" b="1" dirty="0"/>
              <a:t>n</a:t>
            </a:r>
            <a:r>
              <a:rPr lang="zh-CN" altLang="en-US" sz="1800" b="1" dirty="0"/>
              <a:t>列，共有</a:t>
            </a:r>
            <a:r>
              <a:rPr lang="en-US" altLang="zh-CN" sz="1800" b="1" dirty="0" err="1"/>
              <a:t>kn</a:t>
            </a:r>
            <a:r>
              <a:rPr lang="zh-CN" altLang="en-US" sz="1800" b="1" dirty="0"/>
              <a:t>个存储单元</a:t>
            </a:r>
            <a:endParaRPr lang="zh-CN" altLang="en-US" sz="1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082511-AE5B-4CF0-8644-AD27E25E0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312" y="3068960"/>
            <a:ext cx="3251269" cy="25922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ACAAA9C-ACA4-45A6-B05A-9EFB1E4E8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40" y="3133780"/>
            <a:ext cx="3024336" cy="25838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519F273-7892-4BA9-A6F1-D690CE946206}"/>
              </a:ext>
            </a:extLst>
          </p:cNvPr>
          <p:cNvSpPr txBox="1"/>
          <p:nvPr/>
        </p:nvSpPr>
        <p:spPr>
          <a:xfrm>
            <a:off x="1763688" y="5838588"/>
            <a:ext cx="1741182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4.9a    </a:t>
            </a:r>
            <a:r>
              <a:rPr lang="zh-CN" altLang="en-US" sz="1400" b="1" dirty="0"/>
              <a:t>单译码结构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3F91591-2520-4827-9A0B-14C157A91357}"/>
              </a:ext>
            </a:extLst>
          </p:cNvPr>
          <p:cNvSpPr txBox="1"/>
          <p:nvPr/>
        </p:nvSpPr>
        <p:spPr>
          <a:xfrm>
            <a:off x="5724128" y="5740786"/>
            <a:ext cx="1749197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4.9b    </a:t>
            </a:r>
            <a:r>
              <a:rPr lang="zh-CN" altLang="en-US" sz="1400" b="1" dirty="0"/>
              <a:t>双译码结构</a:t>
            </a:r>
          </a:p>
        </p:txBody>
      </p:sp>
    </p:spTree>
    <p:extLst>
      <p:ext uri="{BB962C8B-B14F-4D97-AF65-F5344CB8AC3E}">
        <p14:creationId xmlns:p14="http://schemas.microsoft.com/office/powerpoint/2010/main" val="18568531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AF5C1-F365-44EE-A493-FC6F920B7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C298CE-BD58-4232-B65E-BB49A3DA1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302" y="1304834"/>
            <a:ext cx="8229600" cy="1476094"/>
          </a:xfrm>
        </p:spPr>
        <p:txBody>
          <a:bodyPr/>
          <a:lstStyle/>
          <a:p>
            <a:pPr lvl="2"/>
            <a:r>
              <a:rPr lang="zh-CN" altLang="en-US" sz="2000" b="1" dirty="0">
                <a:solidFill>
                  <a:srgbClr val="C00000"/>
                </a:solidFill>
              </a:rPr>
              <a:t>译码器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3-8</a:t>
            </a:r>
            <a:r>
              <a:rPr lang="zh-CN" altLang="en-US" sz="2000" b="1" dirty="0"/>
              <a:t>译码器</a:t>
            </a:r>
            <a:endParaRPr lang="en-US" altLang="zh-CN" sz="2000" b="1" dirty="0"/>
          </a:p>
          <a:p>
            <a:pPr lvl="3"/>
            <a:r>
              <a:rPr lang="zh-CN" altLang="en-US" sz="1600" b="1" dirty="0"/>
              <a:t>输入：</a:t>
            </a:r>
            <a:r>
              <a:rPr lang="en-US" altLang="zh-CN" sz="1600" b="1" dirty="0"/>
              <a:t>A2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A1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A0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OE</a:t>
            </a:r>
            <a:r>
              <a:rPr lang="zh-CN" altLang="en-US" sz="1600" b="1" dirty="0"/>
              <a:t>（</a:t>
            </a:r>
            <a:r>
              <a:rPr lang="en-US" altLang="zh-CN" sz="1600" b="1" dirty="0">
                <a:highlight>
                  <a:srgbClr val="FFFF00"/>
                </a:highlight>
              </a:rPr>
              <a:t>OE</a:t>
            </a:r>
            <a:r>
              <a:rPr lang="zh-CN" altLang="en-US" sz="1600" b="1" dirty="0">
                <a:highlight>
                  <a:srgbClr val="FFFF00"/>
                </a:highlight>
              </a:rPr>
              <a:t>为输出允许信号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OE=1</a:t>
            </a:r>
            <a:r>
              <a:rPr lang="zh-CN" altLang="en-US" sz="1600" b="1" dirty="0"/>
              <a:t>译码器工作，</a:t>
            </a:r>
            <a:r>
              <a:rPr lang="en-US" altLang="zh-CN" sz="1600" b="1" dirty="0"/>
              <a:t>OE=0</a:t>
            </a:r>
            <a:r>
              <a:rPr lang="zh-CN" altLang="en-US" sz="1600" b="1" dirty="0"/>
              <a:t>译码器不工作）</a:t>
            </a:r>
            <a:endParaRPr lang="en-US" altLang="zh-CN" sz="1600" b="1" dirty="0"/>
          </a:p>
          <a:p>
            <a:pPr lvl="3"/>
            <a:r>
              <a:rPr lang="zh-CN" altLang="en-US" sz="1600" b="1" dirty="0"/>
              <a:t>输出：</a:t>
            </a:r>
            <a:r>
              <a:rPr lang="en-US" altLang="zh-CN" sz="1600" b="1" dirty="0"/>
              <a:t>Y7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Y3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Y0</a:t>
            </a:r>
          </a:p>
          <a:p>
            <a:pPr lvl="3"/>
            <a:r>
              <a:rPr lang="en-US" altLang="zh-CN" sz="1600" b="1" dirty="0"/>
              <a:t>x</a:t>
            </a:r>
            <a:r>
              <a:rPr lang="zh-CN" altLang="en-US" sz="1600" b="1" dirty="0"/>
              <a:t>：表示任意（可能是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，也可能是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/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2"/>
            <a:endParaRPr lang="zh-CN" altLang="en-US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7740E58-C2D4-408B-B7BD-47FDCA05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3275188"/>
            <a:ext cx="1574189" cy="21560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28111A7-969F-4590-B06C-6C7937B17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158" y="3286406"/>
            <a:ext cx="1994458" cy="2193471"/>
          </a:xfrm>
          <a:prstGeom prst="rect">
            <a:avLst/>
          </a:prstGeom>
        </p:spPr>
      </p:pic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92B13CE1-C558-4B86-B5A9-2CD639D4DE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0864573"/>
              </p:ext>
            </p:extLst>
          </p:nvPr>
        </p:nvGraphicFramePr>
        <p:xfrm>
          <a:off x="1026384" y="3352801"/>
          <a:ext cx="2952328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338075770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27827124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/>
                        <a:t>输入</a:t>
                      </a:r>
                      <a:endParaRPr lang="en-US" altLang="zh-CN" sz="1050" b="1" dirty="0"/>
                    </a:p>
                    <a:p>
                      <a:pPr algn="ctr"/>
                      <a:r>
                        <a:rPr lang="en-US" altLang="zh-CN" sz="1050" b="1" dirty="0"/>
                        <a:t>A2 A1 A0   OE</a:t>
                      </a:r>
                      <a:endParaRPr lang="zh-CN" altLang="en-US" sz="105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/>
                        <a:t>输出</a:t>
                      </a:r>
                      <a:endParaRPr lang="en-US" altLang="zh-CN" sz="1050" b="1" dirty="0"/>
                    </a:p>
                    <a:p>
                      <a:pPr algn="ctr"/>
                      <a:r>
                        <a:rPr lang="en-US" altLang="zh-CN" sz="1050" b="1" dirty="0"/>
                        <a:t>Y7  Y6  Y5  Y4  Y3  Y2  Y1  Y0</a:t>
                      </a:r>
                      <a:endParaRPr lang="zh-CN" altLang="en-US" sz="105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26943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0  0  0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0   0   0   0   0   0   0   1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0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0  0  1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0   0   0   0   0   0   1   0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15123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0  1  0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0   0   0   0   0   1   0   0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33107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0  1  1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0   0   0   0   1   0   0   0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88405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1  0  0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0   0   0   1   0   0   0   0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494897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1  0  1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0   0   1   0   0   0   0   0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179076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1  1  0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0   1   0   0   0   0   0   0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7431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1  1  1      </a:t>
                      </a:r>
                      <a:r>
                        <a:rPr lang="en-US" altLang="zh-CN" sz="14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1   0   0   0   0   0   0   0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35152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    0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1" dirty="0"/>
                        <a:t>x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 </a:t>
                      </a:r>
                      <a:r>
                        <a:rPr lang="en-US" altLang="zh-CN" sz="1400" b="1" dirty="0" err="1"/>
                        <a:t>x</a:t>
                      </a:r>
                      <a:r>
                        <a:rPr lang="en-US" altLang="zh-CN" sz="1400" b="1" dirty="0"/>
                        <a:t>   </a:t>
                      </a:r>
                      <a:r>
                        <a:rPr lang="en-US" altLang="zh-CN" sz="1400" b="1" dirty="0" err="1"/>
                        <a:t>x</a:t>
                      </a:r>
                      <a:endParaRPr lang="zh-CN" alt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68083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2772F365-9F4C-4352-9FB9-76B77E2F5144}"/>
              </a:ext>
            </a:extLst>
          </p:cNvPr>
          <p:cNvSpPr txBox="1"/>
          <p:nvPr/>
        </p:nvSpPr>
        <p:spPr>
          <a:xfrm>
            <a:off x="1079939" y="2991650"/>
            <a:ext cx="280424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/>
              <a:t>3-8</a:t>
            </a:r>
            <a:r>
              <a:rPr lang="zh-CN" altLang="en-US" sz="1600" b="1" dirty="0"/>
              <a:t>译码器的输入输出关系</a:t>
            </a:r>
            <a:endParaRPr lang="zh-CN" altLang="en-US" sz="16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0B1BB13-F46F-4923-B1D9-9B930DB940B5}"/>
              </a:ext>
            </a:extLst>
          </p:cNvPr>
          <p:cNvSpPr txBox="1"/>
          <p:nvPr/>
        </p:nvSpPr>
        <p:spPr>
          <a:xfrm>
            <a:off x="3953255" y="5664717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3-8</a:t>
            </a:r>
            <a:r>
              <a:rPr lang="zh-CN" altLang="en-US" sz="1400" b="1" dirty="0"/>
              <a:t>译码器的符号</a:t>
            </a:r>
            <a:endParaRPr lang="zh-CN" altLang="en-US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F01DEC-232A-4102-B062-260AE1CCE37C}"/>
              </a:ext>
            </a:extLst>
          </p:cNvPr>
          <p:cNvSpPr txBox="1"/>
          <p:nvPr/>
        </p:nvSpPr>
        <p:spPr>
          <a:xfrm>
            <a:off x="6123158" y="5588530"/>
            <a:ext cx="2376264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1400" b="1" dirty="0"/>
              <a:t>Logisim</a:t>
            </a:r>
            <a:r>
              <a:rPr lang="zh-CN" altLang="en-US" sz="1400" b="1" dirty="0"/>
              <a:t>实现的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04874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9097B8-37A4-4934-B9F2-7806065D1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413445"/>
            <a:ext cx="7992888" cy="143949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存储器的结构</a:t>
            </a:r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静态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存储器包括：</a:t>
            </a:r>
            <a:r>
              <a:rPr lang="zh-CN" altLang="en-US" sz="1600" b="1" dirty="0">
                <a:solidFill>
                  <a:srgbClr val="C00000"/>
                </a:solidFill>
              </a:rPr>
              <a:t>存储体</a:t>
            </a:r>
            <a:r>
              <a:rPr lang="zh-CN" altLang="en-US" sz="1600" b="1" dirty="0"/>
              <a:t>（存储单元阵列）、</a:t>
            </a:r>
            <a:r>
              <a:rPr lang="zh-CN" altLang="en-US" sz="1600" b="1" dirty="0">
                <a:solidFill>
                  <a:srgbClr val="C00000"/>
                </a:solidFill>
              </a:rPr>
              <a:t>地址译码电路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向地址译码器、</a:t>
            </a:r>
            <a:r>
              <a:rPr lang="en-US" altLang="zh-CN" sz="1600" b="1" dirty="0"/>
              <a:t>Y</a:t>
            </a:r>
            <a:r>
              <a:rPr lang="zh-CN" altLang="en-US" sz="1600" b="1" dirty="0"/>
              <a:t>向地址译码器、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向驱动器、</a:t>
            </a:r>
            <a:r>
              <a:rPr lang="en-US" altLang="zh-CN" sz="1600" b="1" dirty="0"/>
              <a:t>Y</a:t>
            </a:r>
            <a:r>
              <a:rPr lang="zh-CN" altLang="en-US" sz="1600" b="1" dirty="0"/>
              <a:t>向驱动器）、</a:t>
            </a:r>
            <a:r>
              <a:rPr lang="en-US" altLang="zh-CN" sz="1600" b="1" dirty="0">
                <a:solidFill>
                  <a:srgbClr val="C00000"/>
                </a:solidFill>
              </a:rPr>
              <a:t>I/O</a:t>
            </a:r>
            <a:r>
              <a:rPr lang="zh-CN" altLang="en-US" sz="1600" b="1" dirty="0">
                <a:solidFill>
                  <a:srgbClr val="C00000"/>
                </a:solidFill>
              </a:rPr>
              <a:t>电路和控制电路</a:t>
            </a:r>
            <a:r>
              <a:rPr lang="zh-CN" altLang="en-US" sz="1600" b="1" dirty="0"/>
              <a:t>等（图</a:t>
            </a:r>
            <a:r>
              <a:rPr lang="en-US" altLang="zh-CN" sz="1600" b="1" dirty="0"/>
              <a:t>4.10</a:t>
            </a:r>
            <a:r>
              <a:rPr lang="zh-CN" altLang="en-US" sz="1600" b="1" dirty="0"/>
              <a:t>）</a:t>
            </a:r>
            <a:endParaRPr lang="en-US" altLang="zh-CN" sz="20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2946186" y="5932274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5C4EDAF-9AEB-46D8-BE71-94F402F63C66}"/>
              </a:ext>
            </a:extLst>
          </p:cNvPr>
          <p:cNvGrpSpPr/>
          <p:nvPr/>
        </p:nvGrpSpPr>
        <p:grpSpPr>
          <a:xfrm>
            <a:off x="1175208" y="2597817"/>
            <a:ext cx="6451644" cy="3343558"/>
            <a:chOff x="1184896" y="1844824"/>
            <a:chExt cx="6451644" cy="334355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4EA2FB7-2861-4291-B445-D3F3B5C12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7459" y="1844824"/>
              <a:ext cx="6129081" cy="334355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A72D257B-FBE1-4C79-B671-4550A5B236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4896" y="4434618"/>
              <a:ext cx="2883048" cy="660434"/>
            </a:xfrm>
            <a:prstGeom prst="rect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0583917F-33FD-4752-9D31-2B5860DC2871}"/>
              </a:ext>
            </a:extLst>
          </p:cNvPr>
          <p:cNvSpPr txBox="1"/>
          <p:nvPr/>
        </p:nvSpPr>
        <p:spPr>
          <a:xfrm>
            <a:off x="1535579" y="3139035"/>
            <a:ext cx="1093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2A4656E-371F-4C32-B525-A5F224EB0F25}"/>
              </a:ext>
            </a:extLst>
          </p:cNvPr>
          <p:cNvSpPr txBox="1"/>
          <p:nvPr/>
        </p:nvSpPr>
        <p:spPr>
          <a:xfrm>
            <a:off x="3200942" y="5036245"/>
            <a:ext cx="10871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</p:spTree>
    <p:extLst>
      <p:ext uri="{BB962C8B-B14F-4D97-AF65-F5344CB8AC3E}">
        <p14:creationId xmlns:p14="http://schemas.microsoft.com/office/powerpoint/2010/main" val="25199685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323528" y="1217165"/>
            <a:ext cx="8229600" cy="915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b="1" dirty="0"/>
              <a:t>（</a:t>
            </a:r>
            <a:r>
              <a:rPr lang="en-US" altLang="zh-CN" b="1" dirty="0"/>
              <a:t>1</a:t>
            </a:r>
            <a:r>
              <a:rPr lang="zh-CN" altLang="en-US" b="1" dirty="0"/>
              <a:t>）存储体</a:t>
            </a:r>
            <a:endParaRPr lang="en-US" altLang="zh-CN" b="1" dirty="0"/>
          </a:p>
          <a:p>
            <a:pPr lvl="3"/>
            <a:endParaRPr lang="en-US" altLang="zh-CN" sz="1400" b="1" dirty="0"/>
          </a:p>
          <a:p>
            <a:pPr lvl="3"/>
            <a:r>
              <a:rPr lang="zh-CN" altLang="en-US" sz="1800" b="1" dirty="0"/>
              <a:t>图</a:t>
            </a:r>
            <a:r>
              <a:rPr lang="en-US" altLang="zh-CN" sz="1800" b="1" dirty="0"/>
              <a:t>4.10</a:t>
            </a:r>
            <a:r>
              <a:rPr lang="zh-CN" altLang="en-US" sz="1800" b="1" dirty="0"/>
              <a:t>的存储单元阵列（存储体）包括</a:t>
            </a:r>
            <a:r>
              <a:rPr lang="en-US" altLang="zh-CN" sz="1800" b="1" dirty="0">
                <a:solidFill>
                  <a:srgbClr val="C00000"/>
                </a:solidFill>
              </a:rPr>
              <a:t>4</a:t>
            </a:r>
            <a:r>
              <a:rPr lang="zh-CN" altLang="en-US" sz="1800" b="1" dirty="0">
                <a:solidFill>
                  <a:srgbClr val="C00000"/>
                </a:solidFill>
              </a:rPr>
              <a:t>片</a:t>
            </a:r>
            <a:r>
              <a:rPr lang="en-US" altLang="zh-CN" sz="1800" b="1" dirty="0">
                <a:solidFill>
                  <a:srgbClr val="C00000"/>
                </a:solidFill>
              </a:rPr>
              <a:t>64x64</a:t>
            </a:r>
            <a:r>
              <a:rPr lang="zh-CN" altLang="en-US" sz="1800" b="1" dirty="0">
                <a:solidFill>
                  <a:srgbClr val="C00000"/>
                </a:solidFill>
              </a:rPr>
              <a:t>位</a:t>
            </a:r>
            <a:r>
              <a:rPr lang="zh-CN" altLang="en-US" sz="1800" b="1" dirty="0"/>
              <a:t>的存储矩阵</a:t>
            </a:r>
            <a:endParaRPr lang="zh-CN" altLang="en-US" sz="10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9CDA9B-C1AC-4428-A4BD-EC2F80348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963" y="2604640"/>
            <a:ext cx="4702073" cy="303619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8CF011B-80BC-4CF9-BE43-81CCF2ED1267}"/>
              </a:ext>
            </a:extLst>
          </p:cNvPr>
          <p:cNvSpPr txBox="1"/>
          <p:nvPr/>
        </p:nvSpPr>
        <p:spPr>
          <a:xfrm>
            <a:off x="3923928" y="5855760"/>
            <a:ext cx="1529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64x64</a:t>
            </a:r>
            <a:r>
              <a:rPr lang="zh-CN" altLang="en-US" sz="1400" b="1" dirty="0"/>
              <a:t>位存储矩阵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1131D9-435B-43C5-B7EB-EE3FE09BD174}"/>
              </a:ext>
            </a:extLst>
          </p:cNvPr>
          <p:cNvSpPr txBox="1"/>
          <p:nvPr/>
        </p:nvSpPr>
        <p:spPr>
          <a:xfrm>
            <a:off x="7141729" y="3511997"/>
            <a:ext cx="814647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共有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片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FB9187A-562B-422F-B508-E63EA87E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4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3020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268058" y="1133372"/>
            <a:ext cx="8229600" cy="2488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）地址译码器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包括：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向地址译码器、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向地址译码器；其中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向地址译码器和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向地址译码器都是</a:t>
            </a:r>
            <a:r>
              <a:rPr lang="en-US" altLang="zh-CN" sz="1400" b="1" dirty="0">
                <a:solidFill>
                  <a:srgbClr val="C00000"/>
                </a:solidFill>
              </a:rPr>
              <a:t>6-64</a:t>
            </a:r>
            <a:r>
              <a:rPr lang="zh-CN" altLang="en-US" sz="1400" b="1" dirty="0">
                <a:solidFill>
                  <a:srgbClr val="C00000"/>
                </a:solidFill>
              </a:rPr>
              <a:t>译码器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个输入、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个输出）</a:t>
            </a:r>
            <a:endParaRPr lang="en-US" altLang="zh-CN" sz="1400" b="1" dirty="0"/>
          </a:p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）驱动器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zh-CN" altLang="en-US" sz="1400" b="1" dirty="0"/>
              <a:t>包括：</a:t>
            </a:r>
            <a:r>
              <a:rPr lang="en-US" altLang="zh-CN" sz="1400" b="1" dirty="0"/>
              <a:t>X</a:t>
            </a:r>
            <a:r>
              <a:rPr lang="zh-CN" altLang="en-US" sz="1400" b="1" dirty="0"/>
              <a:t>向驱动器、</a:t>
            </a:r>
            <a:r>
              <a:rPr lang="en-US" altLang="zh-CN" sz="1400" b="1" dirty="0"/>
              <a:t>Y</a:t>
            </a:r>
            <a:r>
              <a:rPr lang="zh-CN" altLang="en-US" sz="1400" b="1" dirty="0"/>
              <a:t>向驱动器；驱动器的输出和输入在逻辑上是相等的，其目的是增强负载能力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871DD7-AA64-48C2-BBD0-71186C562A2A}"/>
              </a:ext>
            </a:extLst>
          </p:cNvPr>
          <p:cNvGrpSpPr/>
          <p:nvPr/>
        </p:nvGrpSpPr>
        <p:grpSpPr>
          <a:xfrm>
            <a:off x="1691680" y="3108481"/>
            <a:ext cx="6451644" cy="3559582"/>
            <a:chOff x="1187624" y="2749738"/>
            <a:chExt cx="6451644" cy="355958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135939-6656-4944-9CC1-610570EECB88}"/>
                </a:ext>
              </a:extLst>
            </p:cNvPr>
            <p:cNvGrpSpPr/>
            <p:nvPr/>
          </p:nvGrpSpPr>
          <p:grpSpPr>
            <a:xfrm>
              <a:off x="1187624" y="2749738"/>
              <a:ext cx="6451644" cy="3343558"/>
              <a:chOff x="1184896" y="1844824"/>
              <a:chExt cx="6451644" cy="3343558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A54ABAC-4581-4D6E-AC34-8637A73F0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07459" y="1844824"/>
                <a:ext cx="6129081" cy="3343558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DC7C6FF-240F-472F-ADEA-CBDFBD9B8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896" y="4434618"/>
                <a:ext cx="2883048" cy="660434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88DE62E-38B4-4387-80B9-2F42F396B360}"/>
                </a:ext>
              </a:extLst>
            </p:cNvPr>
            <p:cNvSpPr txBox="1"/>
            <p:nvPr/>
          </p:nvSpPr>
          <p:spPr>
            <a:xfrm>
              <a:off x="1535579" y="3841303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X</a:t>
              </a:r>
              <a:r>
                <a:rPr lang="zh-CN" altLang="en-US" sz="1400" b="1" dirty="0"/>
                <a:t>向地址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EDFBBFB-6585-451D-9C6F-5E49AF5A0EB7}"/>
                </a:ext>
              </a:extLst>
            </p:cNvPr>
            <p:cNvSpPr txBox="1"/>
            <p:nvPr/>
          </p:nvSpPr>
          <p:spPr>
            <a:xfrm>
              <a:off x="4382556" y="6001543"/>
              <a:ext cx="1087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Y</a:t>
              </a:r>
              <a:r>
                <a:rPr lang="zh-CN" altLang="en-US" sz="1400" b="1" dirty="0"/>
                <a:t>向地址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992B29D4-8223-4DBD-95B0-6E3D1B5EDAAE}"/>
              </a:ext>
            </a:extLst>
          </p:cNvPr>
          <p:cNvSpPr txBox="1"/>
          <p:nvPr/>
        </p:nvSpPr>
        <p:spPr>
          <a:xfrm>
            <a:off x="3152160" y="6433591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C5C2716-679F-48B0-81F2-F72CDA672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6201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66261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EEF81E3-D654-4DB5-B1F4-14630359DF19}"/>
              </a:ext>
            </a:extLst>
          </p:cNvPr>
          <p:cNvSpPr txBox="1">
            <a:spLocks/>
          </p:cNvSpPr>
          <p:nvPr/>
        </p:nvSpPr>
        <p:spPr bwMode="auto">
          <a:xfrm>
            <a:off x="457200" y="55922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B871DD7-AA64-48C2-BBD0-71186C562A2A}"/>
              </a:ext>
            </a:extLst>
          </p:cNvPr>
          <p:cNvGrpSpPr/>
          <p:nvPr/>
        </p:nvGrpSpPr>
        <p:grpSpPr>
          <a:xfrm>
            <a:off x="2627784" y="2853985"/>
            <a:ext cx="6451644" cy="3559582"/>
            <a:chOff x="1187624" y="2749738"/>
            <a:chExt cx="6451644" cy="355958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4135939-6656-4944-9CC1-610570EECB88}"/>
                </a:ext>
              </a:extLst>
            </p:cNvPr>
            <p:cNvGrpSpPr/>
            <p:nvPr/>
          </p:nvGrpSpPr>
          <p:grpSpPr>
            <a:xfrm>
              <a:off x="1187624" y="2749738"/>
              <a:ext cx="6451644" cy="3343558"/>
              <a:chOff x="1184896" y="1844824"/>
              <a:chExt cx="6451644" cy="3343558"/>
            </a:xfrm>
          </p:grpSpPr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6A54ABAC-4581-4D6E-AC34-8637A73F01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07459" y="1844824"/>
                <a:ext cx="6129081" cy="3343558"/>
              </a:xfrm>
              <a:prstGeom prst="rect">
                <a:avLst/>
              </a:prstGeom>
            </p:spPr>
          </p:pic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7DC7C6FF-240F-472F-ADEA-CBDFBD9B80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4896" y="4434618"/>
                <a:ext cx="2883048" cy="660434"/>
              </a:xfrm>
              <a:prstGeom prst="rect">
                <a:avLst/>
              </a:prstGeom>
            </p:spPr>
          </p:pic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88DE62E-38B4-4387-80B9-2F42F396B360}"/>
                </a:ext>
              </a:extLst>
            </p:cNvPr>
            <p:cNvSpPr txBox="1"/>
            <p:nvPr/>
          </p:nvSpPr>
          <p:spPr>
            <a:xfrm>
              <a:off x="1535579" y="3841303"/>
              <a:ext cx="109356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X</a:t>
              </a:r>
              <a:r>
                <a:rPr lang="zh-CN" altLang="en-US" sz="1400" b="1" dirty="0"/>
                <a:t>向地址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EDFBBFB-6585-451D-9C6F-5E49AF5A0EB7}"/>
                </a:ext>
              </a:extLst>
            </p:cNvPr>
            <p:cNvSpPr txBox="1"/>
            <p:nvPr/>
          </p:nvSpPr>
          <p:spPr>
            <a:xfrm>
              <a:off x="4382556" y="6001543"/>
              <a:ext cx="108715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6</a:t>
              </a:r>
              <a:r>
                <a:rPr lang="zh-CN" altLang="en-US" sz="1400" b="1" dirty="0"/>
                <a:t>位</a:t>
              </a:r>
              <a:r>
                <a:rPr lang="en-US" altLang="zh-CN" sz="1400" b="1" dirty="0"/>
                <a:t>Y</a:t>
              </a:r>
              <a:r>
                <a:rPr lang="zh-CN" altLang="en-US" sz="1400" b="1" dirty="0"/>
                <a:t>向地址</a:t>
              </a:r>
            </a:p>
          </p:txBody>
        </p:sp>
      </p:grp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3A32BDF1-B165-4B58-B2F7-99493766F478}"/>
              </a:ext>
            </a:extLst>
          </p:cNvPr>
          <p:cNvSpPr txBox="1">
            <a:spLocks/>
          </p:cNvSpPr>
          <p:nvPr/>
        </p:nvSpPr>
        <p:spPr bwMode="auto">
          <a:xfrm>
            <a:off x="35496" y="126704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）</a:t>
            </a:r>
            <a:r>
              <a:rPr lang="en-US" altLang="zh-CN" sz="1800" b="1" dirty="0"/>
              <a:t>I/O</a:t>
            </a:r>
            <a:r>
              <a:rPr lang="zh-CN" altLang="en-US" sz="1800" b="1" dirty="0"/>
              <a:t>电路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en-US" altLang="zh-CN" sz="1400" b="1" dirty="0"/>
              <a:t>I/O</a:t>
            </a:r>
            <a:r>
              <a:rPr lang="zh-CN" altLang="en-US" sz="1400" b="1" dirty="0"/>
              <a:t>电路用来控制数据的输入（写操作）和输出（读操作）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DBUS</a:t>
            </a:r>
            <a:r>
              <a:rPr lang="zh-CN" altLang="en-US" sz="1400" b="1" dirty="0"/>
              <a:t>：数据总线（</a:t>
            </a:r>
            <a:r>
              <a:rPr lang="en-US" altLang="zh-CN" sz="1400" b="1" dirty="0"/>
              <a:t>Data Bus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/>
            <a:endParaRPr lang="en-US" altLang="zh-CN" sz="1400" b="1" dirty="0"/>
          </a:p>
          <a:p>
            <a:pPr lvl="2"/>
            <a:r>
              <a:rPr lang="zh-CN" altLang="en-US" sz="1800" b="1" dirty="0"/>
              <a:t>（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）片选和读写控制电路</a:t>
            </a:r>
            <a:endParaRPr lang="en-US" altLang="zh-CN" sz="1800" b="1" dirty="0"/>
          </a:p>
          <a:p>
            <a:pPr lvl="3"/>
            <a:endParaRPr lang="en-US" altLang="zh-CN" sz="1100" b="1" dirty="0"/>
          </a:p>
          <a:p>
            <a:pPr lvl="3"/>
            <a:r>
              <a:rPr lang="en-US" altLang="zh-CN" sz="1400" b="1" dirty="0"/>
              <a:t>CS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Chip Select</a:t>
            </a:r>
            <a:r>
              <a:rPr lang="zh-CN" altLang="en-US" sz="1400" b="1" dirty="0"/>
              <a:t>，片选信号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WR</a:t>
            </a:r>
            <a:r>
              <a:rPr lang="zh-CN" altLang="en-US" sz="1400" b="1" dirty="0"/>
              <a:t>：写信号</a:t>
            </a:r>
            <a:endParaRPr lang="en-US" altLang="zh-CN" sz="1400" b="1" dirty="0"/>
          </a:p>
          <a:p>
            <a:pPr lvl="3"/>
            <a:r>
              <a:rPr lang="en-US" altLang="zh-CN" sz="1400" b="1" dirty="0"/>
              <a:t>RD</a:t>
            </a:r>
            <a:r>
              <a:rPr lang="zh-CN" altLang="en-US" sz="1400" b="1" dirty="0"/>
              <a:t>：读信号</a:t>
            </a:r>
            <a:endParaRPr lang="en-US" altLang="zh-CN" sz="1400" b="1" dirty="0"/>
          </a:p>
          <a:p>
            <a:pPr lvl="3"/>
            <a:endParaRPr lang="zh-CN" altLang="en-US" sz="800" b="1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92FD735-1E23-400C-8149-9BB36157B79C}"/>
              </a:ext>
            </a:extLst>
          </p:cNvPr>
          <p:cNvSpPr txBox="1"/>
          <p:nvPr/>
        </p:nvSpPr>
        <p:spPr>
          <a:xfrm>
            <a:off x="4153293" y="6429473"/>
            <a:ext cx="372409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4.10    4096x4</a:t>
            </a:r>
            <a:r>
              <a:rPr lang="zh-CN" altLang="en-US" sz="1400" b="1" dirty="0"/>
              <a:t>位的静态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存储器结构框图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1800160-88D3-41F0-9CD6-D879C69E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99598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1347B3-E255-41A7-B022-C542CACCB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9575" y="1317065"/>
            <a:ext cx="8229600" cy="211193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存储器芯片实例</a:t>
            </a:r>
            <a:endParaRPr lang="en-US" altLang="zh-CN" sz="20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Intel 2114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公司推出的</a:t>
            </a:r>
            <a:r>
              <a:rPr lang="en-US" altLang="zh-CN" sz="1400" b="1" dirty="0"/>
              <a:t>1Kx4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芯片，其容量为</a:t>
            </a:r>
            <a:r>
              <a:rPr lang="en-US" altLang="zh-CN" sz="1400" b="1" dirty="0"/>
              <a:t>1024x4</a:t>
            </a:r>
            <a:r>
              <a:rPr lang="zh-CN" altLang="en-US" sz="1400" b="1" dirty="0"/>
              <a:t>位，即有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个单元、每个单元存放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位二进制数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地址线：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9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10</a:t>
            </a:r>
            <a:r>
              <a:rPr lang="en-US" altLang="zh-CN" sz="1400" b="1" dirty="0"/>
              <a:t>=1024</a:t>
            </a:r>
            <a:r>
              <a:rPr lang="zh-CN" altLang="en-US" sz="1400" b="1" dirty="0"/>
              <a:t>）；数据线：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I/O</a:t>
            </a:r>
            <a:r>
              <a:rPr lang="en-US" altLang="zh-CN" sz="1400" b="1" baseline="-25000" dirty="0"/>
              <a:t>3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I/O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/CS</a:t>
            </a:r>
            <a:r>
              <a:rPr lang="zh-CN" altLang="en-US" sz="1400" b="1" dirty="0"/>
              <a:t>：片选信号（低电平有效）；</a:t>
            </a:r>
            <a:r>
              <a:rPr lang="en-US" altLang="zh-CN" sz="1400" b="1" dirty="0"/>
              <a:t>/WE</a:t>
            </a:r>
            <a:r>
              <a:rPr lang="zh-CN" altLang="en-US" sz="1400" b="1" dirty="0"/>
              <a:t>：读写控制信号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读操作时：</a:t>
            </a:r>
            <a:r>
              <a:rPr lang="en-US" altLang="zh-CN" sz="1400" b="1" dirty="0"/>
              <a:t>/WE=</a:t>
            </a:r>
            <a:r>
              <a:rPr lang="zh-CN" altLang="en-US" sz="1400" b="1" dirty="0"/>
              <a:t>高电平；写操作时：</a:t>
            </a:r>
            <a:r>
              <a:rPr lang="en-US" altLang="zh-CN" sz="1400" b="1" dirty="0"/>
              <a:t>/WE=</a:t>
            </a:r>
            <a:r>
              <a:rPr lang="zh-CN" altLang="en-US" sz="1400" b="1" dirty="0"/>
              <a:t>低电平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C29C573-4BF5-406E-BEC9-274D96AA89C9}"/>
              </a:ext>
            </a:extLst>
          </p:cNvPr>
          <p:cNvSpPr txBox="1"/>
          <p:nvPr/>
        </p:nvSpPr>
        <p:spPr>
          <a:xfrm>
            <a:off x="4022282" y="6324134"/>
            <a:ext cx="19890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4.11    Intel 2114 </a:t>
            </a:r>
            <a:r>
              <a:rPr lang="zh-CN" altLang="en-US" sz="1400" b="1" dirty="0"/>
              <a:t>结构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9E831B7-47B6-4BB7-814D-BD8270708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08" y="3614802"/>
            <a:ext cx="3813259" cy="200989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527942AB-672B-4ABB-B96D-1B202A616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433" y="3241136"/>
            <a:ext cx="4007158" cy="2883967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A9985F10-FF6A-426D-B095-878B29E4D09D}"/>
              </a:ext>
            </a:extLst>
          </p:cNvPr>
          <p:cNvSpPr txBox="1"/>
          <p:nvPr/>
        </p:nvSpPr>
        <p:spPr>
          <a:xfrm>
            <a:off x="1264570" y="6045532"/>
            <a:ext cx="7629021" cy="2539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1050" b="1" dirty="0"/>
              <a:t>（</a:t>
            </a:r>
            <a:r>
              <a:rPr lang="en-US" altLang="zh-CN" sz="1050" b="1" dirty="0"/>
              <a:t>a</a:t>
            </a:r>
            <a:r>
              <a:rPr lang="zh-CN" altLang="en-US" sz="1050" b="1" dirty="0"/>
              <a:t>）封装引脚                                                                                                                                                              （</a:t>
            </a:r>
            <a:r>
              <a:rPr lang="en-US" altLang="zh-CN" sz="1050" b="1" dirty="0"/>
              <a:t>b</a:t>
            </a:r>
            <a:r>
              <a:rPr lang="zh-CN" altLang="en-US" sz="1050" b="1" dirty="0"/>
              <a:t>）内部结构</a:t>
            </a:r>
          </a:p>
        </p:txBody>
      </p:sp>
    </p:spTree>
    <p:extLst>
      <p:ext uri="{BB962C8B-B14F-4D97-AF65-F5344CB8AC3E}">
        <p14:creationId xmlns:p14="http://schemas.microsoft.com/office/powerpoint/2010/main" val="9821616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6F1888A-631B-494A-8E4A-0EB012F22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062" y="1321825"/>
            <a:ext cx="6422355" cy="469946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582D16D-6182-401B-B1FC-2BA83D3CB088}"/>
              </a:ext>
            </a:extLst>
          </p:cNvPr>
          <p:cNvSpPr txBox="1"/>
          <p:nvPr/>
        </p:nvSpPr>
        <p:spPr>
          <a:xfrm>
            <a:off x="1311824" y="6021288"/>
            <a:ext cx="7488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注：</a:t>
            </a:r>
            <a:r>
              <a:rPr lang="en-US" altLang="zh-CN" b="1" dirty="0">
                <a:highlight>
                  <a:srgbClr val="FFFF00"/>
                </a:highlight>
              </a:rPr>
              <a:t>64</a:t>
            </a:r>
            <a:r>
              <a:rPr lang="zh-CN" altLang="en-US" b="1" dirty="0">
                <a:highlight>
                  <a:srgbClr val="FFFF00"/>
                </a:highlight>
              </a:rPr>
              <a:t>行</a:t>
            </a:r>
            <a:r>
              <a:rPr lang="en-US" altLang="zh-CN" b="1" dirty="0">
                <a:highlight>
                  <a:srgbClr val="FFFF00"/>
                </a:highlight>
              </a:rPr>
              <a:t>*64</a:t>
            </a:r>
            <a:r>
              <a:rPr lang="zh-CN" altLang="en-US" b="1" dirty="0">
                <a:highlight>
                  <a:srgbClr val="FFFF00"/>
                </a:highlight>
              </a:rPr>
              <a:t>列（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组</a:t>
            </a:r>
            <a:r>
              <a:rPr lang="en-US" altLang="zh-CN" b="1" dirty="0">
                <a:highlight>
                  <a:srgbClr val="FFFF00"/>
                </a:highlight>
              </a:rPr>
              <a:t>*16</a:t>
            </a:r>
            <a:r>
              <a:rPr lang="zh-CN" altLang="en-US" b="1" dirty="0">
                <a:highlight>
                  <a:srgbClr val="FFFF00"/>
                </a:highlight>
              </a:rPr>
              <a:t>列）行地址译码后选中某一行，列地址译码后，选中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组中的某一列，从而满足</a:t>
            </a:r>
            <a:r>
              <a:rPr lang="en-US" altLang="zh-CN" b="1" dirty="0">
                <a:highlight>
                  <a:srgbClr val="FFFF00"/>
                </a:highlight>
              </a:rPr>
              <a:t>4</a:t>
            </a:r>
            <a:r>
              <a:rPr lang="zh-CN" altLang="en-US" b="1" dirty="0">
                <a:highlight>
                  <a:srgbClr val="FFFF00"/>
                </a:highlight>
              </a:rPr>
              <a:t>路</a:t>
            </a:r>
            <a:r>
              <a:rPr lang="en-US" altLang="zh-CN" b="1" dirty="0">
                <a:highlight>
                  <a:srgbClr val="FFFF00"/>
                </a:highlight>
              </a:rPr>
              <a:t>I/O</a:t>
            </a:r>
            <a:r>
              <a:rPr lang="zh-CN" altLang="en-US" b="1" dirty="0">
                <a:highlight>
                  <a:srgbClr val="FFFF00"/>
                </a:highlight>
              </a:rPr>
              <a:t>输出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A89E12F-FB2B-4CCF-91F8-8A828515E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59923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191C1E5-D9E8-4740-9FF8-1B6534ECE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417638"/>
            <a:ext cx="6599492" cy="484674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B54E948C-47AE-4E89-8E8D-0A41B6BA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1443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94B56-7BD4-4E3A-892E-1A4E1A7E4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818" y="21510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.1　静态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39C3CF99-1A13-451F-BA65-A94B063FA4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8246" y="1308258"/>
            <a:ext cx="3620891" cy="43024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SRAM</a:t>
            </a:r>
            <a:r>
              <a:rPr lang="zh-CN" altLang="en-US" sz="2000" b="1" dirty="0"/>
              <a:t>读写时序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46CABA2-17B2-441D-BC98-99E53345FB54}"/>
              </a:ext>
            </a:extLst>
          </p:cNvPr>
          <p:cNvSpPr txBox="1"/>
          <p:nvPr/>
        </p:nvSpPr>
        <p:spPr>
          <a:xfrm>
            <a:off x="4599683" y="3176688"/>
            <a:ext cx="4171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chemeClr val="bg1"/>
                </a:solidFill>
              </a:rPr>
              <a:t>4</a:t>
            </a:r>
            <a:r>
              <a:rPr lang="zh-CN" altLang="en-US" sz="1200" b="1" dirty="0">
                <a:solidFill>
                  <a:schemeClr val="bg1"/>
                </a:solidFill>
              </a:rPr>
              <a:t>片</a:t>
            </a: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D7FD4872-A3D8-4223-8DE6-F735E8D77086}"/>
              </a:ext>
            </a:extLst>
          </p:cNvPr>
          <p:cNvSpPr txBox="1"/>
          <p:nvPr/>
        </p:nvSpPr>
        <p:spPr>
          <a:xfrm>
            <a:off x="454818" y="1845676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读周期</a:t>
            </a: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4403D182-EAE1-4453-A110-D9E2727551C1}"/>
              </a:ext>
            </a:extLst>
          </p:cNvPr>
          <p:cNvSpPr txBox="1"/>
          <p:nvPr/>
        </p:nvSpPr>
        <p:spPr>
          <a:xfrm>
            <a:off x="285919" y="5818804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写周期</a:t>
            </a: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F093BC5F-CD78-4543-95BD-F16C01D93227}"/>
              </a:ext>
            </a:extLst>
          </p:cNvPr>
          <p:cNvSpPr txBox="1"/>
          <p:nvPr/>
        </p:nvSpPr>
        <p:spPr>
          <a:xfrm>
            <a:off x="1032654" y="6438277"/>
            <a:ext cx="3874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4.12    Intel 2114</a:t>
            </a:r>
            <a:r>
              <a:rPr lang="zh-CN" altLang="en-US" sz="1400" b="1" dirty="0"/>
              <a:t>的读写周期时序及时间参数</a:t>
            </a:r>
          </a:p>
        </p:txBody>
      </p: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C955E687-E519-4F1F-9973-9FEEC2812566}"/>
              </a:ext>
            </a:extLst>
          </p:cNvPr>
          <p:cNvGrpSpPr/>
          <p:nvPr/>
        </p:nvGrpSpPr>
        <p:grpSpPr>
          <a:xfrm>
            <a:off x="58803" y="1682305"/>
            <a:ext cx="6264696" cy="1892204"/>
            <a:chOff x="107504" y="764704"/>
            <a:chExt cx="6264696" cy="1892204"/>
          </a:xfrm>
        </p:grpSpPr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4434FD3E-4549-4174-A152-6E112BE257A9}"/>
                </a:ext>
              </a:extLst>
            </p:cNvPr>
            <p:cNvGrpSpPr/>
            <p:nvPr/>
          </p:nvGrpSpPr>
          <p:grpSpPr>
            <a:xfrm>
              <a:off x="107504" y="764704"/>
              <a:ext cx="6264696" cy="1892204"/>
              <a:chOff x="1187624" y="1042339"/>
              <a:chExt cx="6264696" cy="1892204"/>
            </a:xfrm>
          </p:grpSpPr>
          <p:grpSp>
            <p:nvGrpSpPr>
              <p:cNvPr id="65" name="组合 64">
                <a:extLst>
                  <a:ext uri="{FF2B5EF4-FFF2-40B4-BE49-F238E27FC236}">
                    <a16:creationId xmlns:a16="http://schemas.microsoft.com/office/drawing/2014/main" id="{A54FCB48-90C4-4D86-B7D0-DE6C9FAB7119}"/>
                  </a:ext>
                </a:extLst>
              </p:cNvPr>
              <p:cNvGrpSpPr/>
              <p:nvPr/>
            </p:nvGrpSpPr>
            <p:grpSpPr>
              <a:xfrm>
                <a:off x="1187624" y="1268760"/>
                <a:ext cx="6264696" cy="1665783"/>
                <a:chOff x="1187624" y="1268760"/>
                <a:chExt cx="6264696" cy="1665783"/>
              </a:xfrm>
            </p:grpSpPr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B05EE3EA-7A6D-4A0A-82FC-DFAD2C63F2F9}"/>
                    </a:ext>
                  </a:extLst>
                </p:cNvPr>
                <p:cNvGrpSpPr/>
                <p:nvPr/>
              </p:nvGrpSpPr>
              <p:grpSpPr>
                <a:xfrm>
                  <a:off x="2524492" y="2276872"/>
                  <a:ext cx="3415660" cy="181255"/>
                  <a:chOff x="2256670" y="2897340"/>
                  <a:chExt cx="3415660" cy="181255"/>
                </a:xfrm>
              </p:grpSpPr>
              <p:cxnSp>
                <p:nvCxnSpPr>
                  <p:cNvPr id="19" name="直接连接符 18">
                    <a:extLst>
                      <a:ext uri="{FF2B5EF4-FFF2-40B4-BE49-F238E27FC236}">
                        <a16:creationId xmlns:a16="http://schemas.microsoft.com/office/drawing/2014/main" id="{473D60DA-F102-4DEE-AE19-A786D69450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256670" y="2924944"/>
                    <a:ext cx="159525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接连接符 19">
                    <a:extLst>
                      <a:ext uri="{FF2B5EF4-FFF2-40B4-BE49-F238E27FC236}">
                        <a16:creationId xmlns:a16="http://schemas.microsoft.com/office/drawing/2014/main" id="{19814A87-A0A0-4DD4-A865-343F4C5C336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36356" y="3068960"/>
                    <a:ext cx="771878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直接连接符 21">
                    <a:extLst>
                      <a:ext uri="{FF2B5EF4-FFF2-40B4-BE49-F238E27FC236}">
                        <a16:creationId xmlns:a16="http://schemas.microsoft.com/office/drawing/2014/main" id="{35157848-21EE-46CF-AF55-511FCBC869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952250" y="2905302"/>
                    <a:ext cx="720080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直接连接符 23">
                    <a:extLst>
                      <a:ext uri="{FF2B5EF4-FFF2-40B4-BE49-F238E27FC236}">
                        <a16:creationId xmlns:a16="http://schemas.microsoft.com/office/drawing/2014/main" id="{32167048-9651-478D-879F-EFCEDED665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51920" y="2924944"/>
                    <a:ext cx="181255" cy="144016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连接符 27">
                    <a:extLst>
                      <a:ext uri="{FF2B5EF4-FFF2-40B4-BE49-F238E27FC236}">
                        <a16:creationId xmlns:a16="http://schemas.microsoft.com/office/drawing/2014/main" id="{1A93C552-8E5F-4A96-9CD6-83AEF02194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4789614" y="2915960"/>
                    <a:ext cx="181255" cy="144016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64" name="组合 63">
                  <a:extLst>
                    <a:ext uri="{FF2B5EF4-FFF2-40B4-BE49-F238E27FC236}">
                      <a16:creationId xmlns:a16="http://schemas.microsoft.com/office/drawing/2014/main" id="{E7350C3B-68E2-4084-9316-002E467088A3}"/>
                    </a:ext>
                  </a:extLst>
                </p:cNvPr>
                <p:cNvGrpSpPr/>
                <p:nvPr/>
              </p:nvGrpSpPr>
              <p:grpSpPr>
                <a:xfrm>
                  <a:off x="1187624" y="1268760"/>
                  <a:ext cx="6264696" cy="1665783"/>
                  <a:chOff x="1187624" y="1268760"/>
                  <a:chExt cx="6264696" cy="1665783"/>
                </a:xfrm>
              </p:grpSpPr>
              <p:grpSp>
                <p:nvGrpSpPr>
                  <p:cNvPr id="8" name="组合 7">
                    <a:extLst>
                      <a:ext uri="{FF2B5EF4-FFF2-40B4-BE49-F238E27FC236}">
                        <a16:creationId xmlns:a16="http://schemas.microsoft.com/office/drawing/2014/main" id="{94EECDAF-0FBF-4004-B880-EC0BE0916F9B}"/>
                      </a:ext>
                    </a:extLst>
                  </p:cNvPr>
                  <p:cNvGrpSpPr/>
                  <p:nvPr/>
                </p:nvGrpSpPr>
                <p:grpSpPr>
                  <a:xfrm>
                    <a:off x="1187624" y="1474329"/>
                    <a:ext cx="6264696" cy="882885"/>
                    <a:chOff x="210796" y="2027454"/>
                    <a:chExt cx="6264696" cy="882885"/>
                  </a:xfrm>
                </p:grpSpPr>
                <p:grpSp>
                  <p:nvGrpSpPr>
                    <p:cNvPr id="5" name="组合 4">
                      <a:extLst>
                        <a:ext uri="{FF2B5EF4-FFF2-40B4-BE49-F238E27FC236}">
                          <a16:creationId xmlns:a16="http://schemas.microsoft.com/office/drawing/2014/main" id="{72AE3FF9-D2C3-4F44-9075-1463586480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23528" y="2375133"/>
                      <a:ext cx="5782681" cy="152976"/>
                      <a:chOff x="174611" y="2325859"/>
                      <a:chExt cx="5782681" cy="152976"/>
                    </a:xfrm>
                  </p:grpSpPr>
                  <p:sp>
                    <p:nvSpPr>
                      <p:cNvPr id="3" name="箭头: 五边形 2">
                        <a:extLst>
                          <a:ext uri="{FF2B5EF4-FFF2-40B4-BE49-F238E27FC236}">
                            <a16:creationId xmlns:a16="http://schemas.microsoft.com/office/drawing/2014/main" id="{4FBE5E4B-F833-4162-91E4-A55C214FD14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10914" y="2334819"/>
                        <a:ext cx="1678225" cy="135056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sp>
                    <p:nvSpPr>
                      <p:cNvPr id="10" name="箭头: 五边形 9">
                        <a:extLst>
                          <a:ext uri="{FF2B5EF4-FFF2-40B4-BE49-F238E27FC236}">
                            <a16:creationId xmlns:a16="http://schemas.microsoft.com/office/drawing/2014/main" id="{4A3C0526-DE3A-4A94-9F5F-ECB0E2D9DE48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1542764" y="2330337"/>
                        <a:ext cx="1368152" cy="144016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1" name="箭头: 五边形 10">
                        <a:extLst>
                          <a:ext uri="{FF2B5EF4-FFF2-40B4-BE49-F238E27FC236}">
                            <a16:creationId xmlns:a16="http://schemas.microsoft.com/office/drawing/2014/main" id="{80F62E94-898E-424D-B8E6-D4335D7803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74611" y="2334819"/>
                        <a:ext cx="1368152" cy="144016"/>
                      </a:xfrm>
                      <a:prstGeom prst="homePlat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2" name="箭头: 五边形 11">
                        <a:extLst>
                          <a:ext uri="{FF2B5EF4-FFF2-40B4-BE49-F238E27FC236}">
                            <a16:creationId xmlns:a16="http://schemas.microsoft.com/office/drawing/2014/main" id="{F234903B-8EF2-4AC8-98A3-516D657D78FA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589140" y="2325859"/>
                        <a:ext cx="1368152" cy="144016"/>
                      </a:xfrm>
                      <a:prstGeom prst="homePlate">
                        <a:avLst/>
                      </a:prstGeom>
                      <a:noFill/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</p:grpSp>
                <p:pic>
                  <p:nvPicPr>
                    <p:cNvPr id="7" name="图片 6">
                      <a:extLst>
                        <a:ext uri="{FF2B5EF4-FFF2-40B4-BE49-F238E27FC236}">
                          <a16:creationId xmlns:a16="http://schemas.microsoft.com/office/drawing/2014/main" id="{B6419E6A-4492-44D0-AEC6-4A502907830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210796" y="2027454"/>
                      <a:ext cx="1336868" cy="857294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7" name="图片 16">
                      <a:extLst>
                        <a:ext uri="{FF2B5EF4-FFF2-40B4-BE49-F238E27FC236}">
                          <a16:creationId xmlns:a16="http://schemas.microsoft.com/office/drawing/2014/main" id="{71C11176-80E2-47E5-A666-25BE5FBFEA0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2"/>
                    <a:stretch>
                      <a:fillRect/>
                    </a:stretch>
                  </p:blipFill>
                  <p:spPr>
                    <a:xfrm>
                      <a:off x="5138624" y="2053045"/>
                      <a:ext cx="1336868" cy="857294"/>
                    </a:xfrm>
                    <a:prstGeom prst="rect">
                      <a:avLst/>
                    </a:prstGeom>
                  </p:spPr>
                </p:pic>
              </p:grpSp>
              <p:grpSp>
                <p:nvGrpSpPr>
                  <p:cNvPr id="39" name="组合 38">
                    <a:extLst>
                      <a:ext uri="{FF2B5EF4-FFF2-40B4-BE49-F238E27FC236}">
                        <a16:creationId xmlns:a16="http://schemas.microsoft.com/office/drawing/2014/main" id="{3C3CBB6C-0A37-48C0-8B42-077B6284C6AA}"/>
                      </a:ext>
                    </a:extLst>
                  </p:cNvPr>
                  <p:cNvGrpSpPr/>
                  <p:nvPr/>
                </p:nvGrpSpPr>
                <p:grpSpPr>
                  <a:xfrm>
                    <a:off x="2524492" y="2788598"/>
                    <a:ext cx="3559676" cy="145945"/>
                    <a:chOff x="2524492" y="2788598"/>
                    <a:chExt cx="3559676" cy="145945"/>
                  </a:xfrm>
                </p:grpSpPr>
                <p:grpSp>
                  <p:nvGrpSpPr>
                    <p:cNvPr id="34" name="组合 33">
                      <a:extLst>
                        <a:ext uri="{FF2B5EF4-FFF2-40B4-BE49-F238E27FC236}">
                          <a16:creationId xmlns:a16="http://schemas.microsoft.com/office/drawing/2014/main" id="{1CB9CA17-95FE-4D8B-83EC-0872AA78048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91290" y="2788598"/>
                      <a:ext cx="948862" cy="145945"/>
                      <a:chOff x="4274766" y="2953131"/>
                      <a:chExt cx="948862" cy="145945"/>
                    </a:xfrm>
                  </p:grpSpPr>
                  <p:sp>
                    <p:nvSpPr>
                      <p:cNvPr id="32" name="箭头: 五边形 31">
                        <a:extLst>
                          <a:ext uri="{FF2B5EF4-FFF2-40B4-BE49-F238E27FC236}">
                            <a16:creationId xmlns:a16="http://schemas.microsoft.com/office/drawing/2014/main" id="{A12B029F-076D-4C98-95DC-752203A0B640}"/>
                          </a:ext>
                        </a:extLst>
                      </p:cNvPr>
                      <p:cNvSpPr/>
                      <p:nvPr/>
                    </p:nvSpPr>
                    <p:spPr>
                      <a:xfrm rot="10800000">
                        <a:off x="4274766" y="2968089"/>
                        <a:ext cx="915216" cy="130987"/>
                      </a:xfrm>
                      <a:prstGeom prst="homePlate">
                        <a:avLst/>
                      </a:prstGeom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 dirty="0"/>
                      </a:p>
                    </p:txBody>
                  </p:sp>
                  <p:sp>
                    <p:nvSpPr>
                      <p:cNvPr id="33" name="菱形 32">
                        <a:extLst>
                          <a:ext uri="{FF2B5EF4-FFF2-40B4-BE49-F238E27FC236}">
                            <a16:creationId xmlns:a16="http://schemas.microsoft.com/office/drawing/2014/main" id="{8E4A2E15-BBBD-40C8-BD01-C9A00553AC4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156340" y="2953131"/>
                        <a:ext cx="67288" cy="144008"/>
                      </a:xfrm>
                      <a:prstGeom prst="diamond">
                        <a:avLst/>
                      </a:prstGeom>
                      <a:solidFill>
                        <a:schemeClr val="bg1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</p:grpSp>
                <p:cxnSp>
                  <p:nvCxnSpPr>
                    <p:cNvPr id="35" name="直接连接符 34">
                      <a:extLst>
                        <a:ext uri="{FF2B5EF4-FFF2-40B4-BE49-F238E27FC236}">
                          <a16:creationId xmlns:a16="http://schemas.microsoft.com/office/drawing/2014/main" id="{2D255D95-2CDB-4810-8F7D-FC3B5AE9173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524492" y="2857737"/>
                      <a:ext cx="2845133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直接连接符 36">
                      <a:extLst>
                        <a:ext uri="{FF2B5EF4-FFF2-40B4-BE49-F238E27FC236}">
                          <a16:creationId xmlns:a16="http://schemas.microsoft.com/office/drawing/2014/main" id="{437D56A7-E97D-4A04-A463-4E502D074E6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940152" y="2857737"/>
                      <a:ext cx="144016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41" name="直接连接符 40">
                    <a:extLst>
                      <a:ext uri="{FF2B5EF4-FFF2-40B4-BE49-F238E27FC236}">
                        <a16:creationId xmlns:a16="http://schemas.microsoft.com/office/drawing/2014/main" id="{A0BE35E4-D755-4289-9D74-E0361D66DFE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66067" y="1340768"/>
                    <a:ext cx="3058061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接连接符 42">
                    <a:extLst>
                      <a:ext uri="{FF2B5EF4-FFF2-40B4-BE49-F238E27FC236}">
                        <a16:creationId xmlns:a16="http://schemas.microsoft.com/office/drawing/2014/main" id="{0A862A5E-2A6F-49E6-BE3A-5FDE59750F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70788" y="1628800"/>
                    <a:ext cx="2474426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接连接符 44">
                    <a:extLst>
                      <a:ext uri="{FF2B5EF4-FFF2-40B4-BE49-F238E27FC236}">
                        <a16:creationId xmlns:a16="http://schemas.microsoft.com/office/drawing/2014/main" id="{98B70CFF-A379-4835-B6CD-5EA29B141A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46445" y="2564904"/>
                    <a:ext cx="79370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接连接符 45">
                    <a:extLst>
                      <a:ext uri="{FF2B5EF4-FFF2-40B4-BE49-F238E27FC236}">
                        <a16:creationId xmlns:a16="http://schemas.microsoft.com/office/drawing/2014/main" id="{33BB6BAA-2E63-413B-9C95-B2C0F55FD9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29997" y="2564904"/>
                    <a:ext cx="915217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接连接符 49">
                    <a:extLst>
                      <a:ext uri="{FF2B5EF4-FFF2-40B4-BE49-F238E27FC236}">
                        <a16:creationId xmlns:a16="http://schemas.microsoft.com/office/drawing/2014/main" id="{113EF34A-C369-4CD3-955D-C44CEBA0D45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68508" y="1268760"/>
                    <a:ext cx="677" cy="114167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接连接符 51">
                    <a:extLst>
                      <a:ext uri="{FF2B5EF4-FFF2-40B4-BE49-F238E27FC236}">
                        <a16:creationId xmlns:a16="http://schemas.microsoft.com/office/drawing/2014/main" id="{1A76A068-B7B9-48CD-9D06-D953BFC284C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145214" y="1495239"/>
                    <a:ext cx="677" cy="114167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接连接符 52">
                    <a:extLst>
                      <a:ext uri="{FF2B5EF4-FFF2-40B4-BE49-F238E27FC236}">
                        <a16:creationId xmlns:a16="http://schemas.microsoft.com/office/drawing/2014/main" id="{E9A5BD84-8FD5-4291-B981-BFE120CC5F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13328" y="1268760"/>
                    <a:ext cx="0" cy="801996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接连接符 53">
                    <a:extLst>
                      <a:ext uri="{FF2B5EF4-FFF2-40B4-BE49-F238E27FC236}">
                        <a16:creationId xmlns:a16="http://schemas.microsoft.com/office/drawing/2014/main" id="{4B43D178-955F-4A3C-99FF-9CD1312D558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942746" y="2458128"/>
                    <a:ext cx="0" cy="46091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接连接符 54">
                    <a:extLst>
                      <a:ext uri="{FF2B5EF4-FFF2-40B4-BE49-F238E27FC236}">
                        <a16:creationId xmlns:a16="http://schemas.microsoft.com/office/drawing/2014/main" id="{892D39A5-D4FC-4A8C-802E-D42C079C79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229997" y="2126561"/>
                    <a:ext cx="6024" cy="51035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C50ACD67-473C-4A97-B05B-8A916745B2E8}"/>
                  </a:ext>
                </a:extLst>
              </p:cNvPr>
              <p:cNvSpPr txBox="1"/>
              <p:nvPr/>
            </p:nvSpPr>
            <p:spPr>
              <a:xfrm>
                <a:off x="4016881" y="1042339"/>
                <a:ext cx="34567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RC</a:t>
                </a:r>
                <a:endParaRPr lang="zh-CN" altLang="en-US" sz="1200" b="1" baseline="-25000" dirty="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A3ADCC6-3216-48DB-977D-4DCF1F40E3CE}"/>
                  </a:ext>
                </a:extLst>
              </p:cNvPr>
              <p:cNvSpPr txBox="1"/>
              <p:nvPr/>
            </p:nvSpPr>
            <p:spPr>
              <a:xfrm>
                <a:off x="3517905" y="1351801"/>
                <a:ext cx="3000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A</a:t>
                </a:r>
                <a:endParaRPr lang="zh-CN" altLang="en-US" sz="1200" b="1" baseline="-25000" dirty="0"/>
              </a:p>
            </p:txBody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742B29F8-B923-4E03-9C34-3DC035300445}"/>
                  </a:ext>
                </a:extLst>
              </p:cNvPr>
              <p:cNvSpPr txBox="1"/>
              <p:nvPr/>
            </p:nvSpPr>
            <p:spPr>
              <a:xfrm>
                <a:off x="4586368" y="2503929"/>
                <a:ext cx="36022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CO</a:t>
                </a:r>
                <a:endParaRPr lang="zh-CN" altLang="en-US" sz="1200" b="1" baseline="-25000" dirty="0"/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0AA94D5E-446A-41C2-890F-BB9A9BB918EE}"/>
                  </a:ext>
                </a:extLst>
              </p:cNvPr>
              <p:cNvSpPr txBox="1"/>
              <p:nvPr/>
            </p:nvSpPr>
            <p:spPr>
              <a:xfrm>
                <a:off x="5378456" y="2304087"/>
                <a:ext cx="41966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 err="1"/>
                  <a:t>t</a:t>
                </a:r>
                <a:r>
                  <a:rPr lang="en-US" altLang="zh-CN" sz="1200" b="1" baseline="-25000" dirty="0" err="1"/>
                  <a:t>OTD</a:t>
                </a:r>
                <a:endParaRPr lang="zh-CN" altLang="en-US" sz="1200" b="1" baseline="-25000" dirty="0"/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C3DFC2DB-5D7D-4052-8644-253459C7E2C0}"/>
                  </a:ext>
                </a:extLst>
              </p:cNvPr>
              <p:cNvSpPr txBox="1"/>
              <p:nvPr/>
            </p:nvSpPr>
            <p:spPr>
              <a:xfrm>
                <a:off x="1444373" y="1751216"/>
                <a:ext cx="15010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地址：</a:t>
                </a:r>
                <a:r>
                  <a:rPr lang="en-US" altLang="zh-CN" sz="1200" b="1" dirty="0" err="1"/>
                  <a:t>Addr</a:t>
                </a:r>
                <a:endParaRPr lang="zh-CN" altLang="en-US" sz="1200" b="1" baseline="-25000" dirty="0"/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74E63FBF-FD43-401D-B400-66217B0DB7FC}"/>
                  </a:ext>
                </a:extLst>
              </p:cNvPr>
              <p:cNvSpPr txBox="1"/>
              <p:nvPr/>
            </p:nvSpPr>
            <p:spPr>
              <a:xfrm>
                <a:off x="1614188" y="2130922"/>
                <a:ext cx="7120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片选</a:t>
                </a:r>
                <a:r>
                  <a:rPr lang="en-US" altLang="zh-CN" sz="1200" b="1" dirty="0"/>
                  <a:t>/CS</a:t>
                </a:r>
                <a:endParaRPr lang="zh-CN" altLang="en-US" sz="1200" b="1" baseline="-25000" dirty="0"/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6E3970E5-7364-4A1A-8A2F-7B63CA3FEC63}"/>
                  </a:ext>
                </a:extLst>
              </p:cNvPr>
              <p:cNvSpPr txBox="1"/>
              <p:nvPr/>
            </p:nvSpPr>
            <p:spPr>
              <a:xfrm>
                <a:off x="1462462" y="2625340"/>
                <a:ext cx="163686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b="1" dirty="0"/>
                  <a:t>输出数据</a:t>
                </a:r>
                <a:r>
                  <a:rPr lang="en-US" altLang="zh-CN" sz="1200" b="1" dirty="0"/>
                  <a:t>D</a:t>
                </a:r>
                <a:r>
                  <a:rPr lang="en-US" altLang="zh-CN" sz="1200" b="1" baseline="-25000" dirty="0"/>
                  <a:t>OUT</a:t>
                </a:r>
                <a:endParaRPr lang="zh-CN" altLang="en-US" sz="1200" b="1" baseline="-25000" dirty="0"/>
              </a:p>
            </p:txBody>
          </p:sp>
        </p:grpSp>
        <p:pic>
          <p:nvPicPr>
            <p:cNvPr id="185" name="图片 184">
              <a:extLst>
                <a:ext uri="{FF2B5EF4-FFF2-40B4-BE49-F238E27FC236}">
                  <a16:creationId xmlns:a16="http://schemas.microsoft.com/office/drawing/2014/main" id="{196E1CBE-569D-4B2B-B90F-5F308CCC5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4176" y="1573863"/>
              <a:ext cx="209561" cy="107956"/>
            </a:xfrm>
            <a:prstGeom prst="rect">
              <a:avLst/>
            </a:prstGeom>
          </p:spPr>
        </p:pic>
      </p:grpSp>
      <p:grpSp>
        <p:nvGrpSpPr>
          <p:cNvPr id="189" name="组合 188">
            <a:extLst>
              <a:ext uri="{FF2B5EF4-FFF2-40B4-BE49-F238E27FC236}">
                <a16:creationId xmlns:a16="http://schemas.microsoft.com/office/drawing/2014/main" id="{90CBD5A6-2D03-4134-BFF4-F3607A1CF642}"/>
              </a:ext>
            </a:extLst>
          </p:cNvPr>
          <p:cNvGrpSpPr/>
          <p:nvPr/>
        </p:nvGrpSpPr>
        <p:grpSpPr>
          <a:xfrm>
            <a:off x="155358" y="3798825"/>
            <a:ext cx="6044703" cy="2934493"/>
            <a:chOff x="251520" y="3429000"/>
            <a:chExt cx="6044703" cy="2934493"/>
          </a:xfrm>
        </p:grpSpPr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5FE11633-1313-4548-B85A-E94004DBEF65}"/>
                </a:ext>
              </a:extLst>
            </p:cNvPr>
            <p:cNvGrpSpPr/>
            <p:nvPr/>
          </p:nvGrpSpPr>
          <p:grpSpPr>
            <a:xfrm>
              <a:off x="251520" y="3429000"/>
              <a:ext cx="6044703" cy="2934493"/>
              <a:chOff x="683568" y="1196752"/>
              <a:chExt cx="6044703" cy="2934493"/>
            </a:xfrm>
          </p:grpSpPr>
          <p:grpSp>
            <p:nvGrpSpPr>
              <p:cNvPr id="115" name="组合 114">
                <a:extLst>
                  <a:ext uri="{FF2B5EF4-FFF2-40B4-BE49-F238E27FC236}">
                    <a16:creationId xmlns:a16="http://schemas.microsoft.com/office/drawing/2014/main" id="{E48E378A-C865-4919-9318-2EB773F8C915}"/>
                  </a:ext>
                </a:extLst>
              </p:cNvPr>
              <p:cNvGrpSpPr/>
              <p:nvPr/>
            </p:nvGrpSpPr>
            <p:grpSpPr>
              <a:xfrm>
                <a:off x="683568" y="1196752"/>
                <a:ext cx="6044703" cy="2934493"/>
                <a:chOff x="683568" y="1196752"/>
                <a:chExt cx="6044703" cy="2934493"/>
              </a:xfrm>
            </p:grpSpPr>
            <p:grpSp>
              <p:nvGrpSpPr>
                <p:cNvPr id="117" name="组合 116">
                  <a:extLst>
                    <a:ext uri="{FF2B5EF4-FFF2-40B4-BE49-F238E27FC236}">
                      <a16:creationId xmlns:a16="http://schemas.microsoft.com/office/drawing/2014/main" id="{36DCB5E7-E0EC-4AF4-8F84-934A1B5E32A0}"/>
                    </a:ext>
                  </a:extLst>
                </p:cNvPr>
                <p:cNvGrpSpPr/>
                <p:nvPr/>
              </p:nvGrpSpPr>
              <p:grpSpPr>
                <a:xfrm>
                  <a:off x="683568" y="1196752"/>
                  <a:ext cx="6044703" cy="2934493"/>
                  <a:chOff x="683568" y="1196752"/>
                  <a:chExt cx="6044703" cy="2934493"/>
                </a:xfrm>
              </p:grpSpPr>
              <p:grpSp>
                <p:nvGrpSpPr>
                  <p:cNvPr id="120" name="组合 119">
                    <a:extLst>
                      <a:ext uri="{FF2B5EF4-FFF2-40B4-BE49-F238E27FC236}">
                        <a16:creationId xmlns:a16="http://schemas.microsoft.com/office/drawing/2014/main" id="{28F43622-802B-43CE-A0DC-C426B70DD603}"/>
                      </a:ext>
                    </a:extLst>
                  </p:cNvPr>
                  <p:cNvGrpSpPr/>
                  <p:nvPr/>
                </p:nvGrpSpPr>
                <p:grpSpPr>
                  <a:xfrm>
                    <a:off x="683568" y="1196752"/>
                    <a:ext cx="6044703" cy="2934493"/>
                    <a:chOff x="683568" y="1196752"/>
                    <a:chExt cx="6044703" cy="2934493"/>
                  </a:xfrm>
                </p:grpSpPr>
                <p:grpSp>
                  <p:nvGrpSpPr>
                    <p:cNvPr id="126" name="组合 125">
                      <a:extLst>
                        <a:ext uri="{FF2B5EF4-FFF2-40B4-BE49-F238E27FC236}">
                          <a16:creationId xmlns:a16="http://schemas.microsoft.com/office/drawing/2014/main" id="{ADBD3773-5E5D-46FC-8D18-9E09A918A7C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3568" y="1196752"/>
                      <a:ext cx="6044703" cy="2934493"/>
                      <a:chOff x="179512" y="1351801"/>
                      <a:chExt cx="6044703" cy="2934493"/>
                    </a:xfrm>
                  </p:grpSpPr>
                  <p:grpSp>
                    <p:nvGrpSpPr>
                      <p:cNvPr id="129" name="组合 128">
                        <a:extLst>
                          <a:ext uri="{FF2B5EF4-FFF2-40B4-BE49-F238E27FC236}">
                            <a16:creationId xmlns:a16="http://schemas.microsoft.com/office/drawing/2014/main" id="{1D06493A-6B44-4540-AA5C-107A4CF92EF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526096" y="3429000"/>
                        <a:ext cx="4237332" cy="857294"/>
                        <a:chOff x="1526096" y="3952000"/>
                        <a:chExt cx="4237332" cy="857294"/>
                      </a:xfrm>
                    </p:grpSpPr>
                    <p:grpSp>
                      <p:nvGrpSpPr>
                        <p:cNvPr id="173" name="组合 172">
                          <a:extLst>
                            <a:ext uri="{FF2B5EF4-FFF2-40B4-BE49-F238E27FC236}">
                              <a16:creationId xmlns:a16="http://schemas.microsoft.com/office/drawing/2014/main" id="{3A7C4E26-C07C-4650-A584-DAA4638A477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26096" y="4132373"/>
                          <a:ext cx="3662779" cy="175180"/>
                          <a:chOff x="1331640" y="6310812"/>
                          <a:chExt cx="3662779" cy="175180"/>
                        </a:xfrm>
                      </p:grpSpPr>
                      <p:grpSp>
                        <p:nvGrpSpPr>
                          <p:cNvPr id="175" name="组合 174">
                            <a:extLst>
                              <a:ext uri="{FF2B5EF4-FFF2-40B4-BE49-F238E27FC236}">
                                <a16:creationId xmlns:a16="http://schemas.microsoft.com/office/drawing/2014/main" id="{7344ED93-0A2F-43FB-BBCC-FD32316ACED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331640" y="6313673"/>
                            <a:ext cx="3662779" cy="172319"/>
                            <a:chOff x="1668780" y="6313673"/>
                            <a:chExt cx="3662779" cy="172319"/>
                          </a:xfrm>
                        </p:grpSpPr>
                        <p:sp>
                          <p:nvSpPr>
                            <p:cNvPr id="177" name="箭头: 五边形 176">
                              <a:extLst>
                                <a:ext uri="{FF2B5EF4-FFF2-40B4-BE49-F238E27FC236}">
                                  <a16:creationId xmlns:a16="http://schemas.microsoft.com/office/drawing/2014/main" id="{61ECD1D3-4586-4D06-B36F-2F1DBA74B6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 rot="10800000">
                              <a:off x="3563888" y="6313673"/>
                              <a:ext cx="1767671" cy="172319"/>
                            </a:xfrm>
                            <a:prstGeom prst="homePlate">
                              <a:avLst/>
                            </a:prstGeom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178" name="直接连接符 177">
                              <a:extLst>
                                <a:ext uri="{FF2B5EF4-FFF2-40B4-BE49-F238E27FC236}">
                                  <a16:creationId xmlns:a16="http://schemas.microsoft.com/office/drawing/2014/main" id="{5214EE0D-3756-4A76-B699-E9BA837DAE5A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668780" y="6376526"/>
                              <a:ext cx="2845133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sp>
                        <p:nvSpPr>
                          <p:cNvPr id="176" name="菱形 175">
                            <a:extLst>
                              <a:ext uri="{FF2B5EF4-FFF2-40B4-BE49-F238E27FC236}">
                                <a16:creationId xmlns:a16="http://schemas.microsoft.com/office/drawing/2014/main" id="{510C13BA-4754-48B6-91F8-9A8B90DAB1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21885" y="6310812"/>
                            <a:ext cx="145348" cy="159409"/>
                          </a:xfrm>
                          <a:prstGeom prst="diamond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</p:grpSp>
                    <p:pic>
                      <p:nvPicPr>
                        <p:cNvPr id="174" name="图片 173">
                          <a:extLst>
                            <a:ext uri="{FF2B5EF4-FFF2-40B4-BE49-F238E27FC236}">
                              <a16:creationId xmlns:a16="http://schemas.microsoft.com/office/drawing/2014/main" id="{B9536A26-9909-4B81-8F90-BF63E0D48F07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44236" y="3952000"/>
                          <a:ext cx="819192" cy="857294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130" name="组合 129">
                        <a:extLst>
                          <a:ext uri="{FF2B5EF4-FFF2-40B4-BE49-F238E27FC236}">
                            <a16:creationId xmlns:a16="http://schemas.microsoft.com/office/drawing/2014/main" id="{361658E5-A9A4-427A-80B8-E588F4A44C4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9512" y="1351801"/>
                        <a:ext cx="6044703" cy="2437239"/>
                        <a:chOff x="179512" y="1351801"/>
                        <a:chExt cx="6044703" cy="2437239"/>
                      </a:xfrm>
                    </p:grpSpPr>
                    <p:grpSp>
                      <p:nvGrpSpPr>
                        <p:cNvPr id="132" name="组合 131">
                          <a:extLst>
                            <a:ext uri="{FF2B5EF4-FFF2-40B4-BE49-F238E27FC236}">
                              <a16:creationId xmlns:a16="http://schemas.microsoft.com/office/drawing/2014/main" id="{9F300723-818E-4247-A493-695F1203DC7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13509" y="2166284"/>
                          <a:ext cx="3402693" cy="195066"/>
                          <a:chOff x="2668508" y="4469667"/>
                          <a:chExt cx="3369175" cy="166280"/>
                        </a:xfrm>
                      </p:grpSpPr>
                      <p:cxnSp>
                        <p:nvCxnSpPr>
                          <p:cNvPr id="168" name="直接连接符 167">
                            <a:extLst>
                              <a:ext uri="{FF2B5EF4-FFF2-40B4-BE49-F238E27FC236}">
                                <a16:creationId xmlns:a16="http://schemas.microsoft.com/office/drawing/2014/main" id="{E920FDF2-1DC6-42D2-952B-F1EAFB65B47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491931"/>
                            <a:ext cx="443122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9" name="直接连接符 168">
                            <a:extLst>
                              <a:ext uri="{FF2B5EF4-FFF2-40B4-BE49-F238E27FC236}">
                                <a16:creationId xmlns:a16="http://schemas.microsoft.com/office/drawing/2014/main" id="{A67823BC-9579-4D1F-8936-F31BABBF1557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635947"/>
                            <a:ext cx="3352711" cy="0"/>
                          </a:xfrm>
                          <a:prstGeom prst="line">
                            <a:avLst/>
                          </a:prstGeom>
                          <a:ln w="1905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0" name="直接连接符 169">
                            <a:extLst>
                              <a:ext uri="{FF2B5EF4-FFF2-40B4-BE49-F238E27FC236}">
                                <a16:creationId xmlns:a16="http://schemas.microsoft.com/office/drawing/2014/main" id="{A718F3FA-E0E8-4CB8-B746-F19B3FB1554F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454589" y="4469667"/>
                            <a:ext cx="583094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1" name="直接连接符 170">
                            <a:extLst>
                              <a:ext uri="{FF2B5EF4-FFF2-40B4-BE49-F238E27FC236}">
                                <a16:creationId xmlns:a16="http://schemas.microsoft.com/office/drawing/2014/main" id="{019EA0B7-DE42-448D-B211-CAC95A6ECFF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111630" y="4491931"/>
                            <a:ext cx="181255" cy="14401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72" name="直接连接符 171">
                            <a:extLst>
                              <a:ext uri="{FF2B5EF4-FFF2-40B4-BE49-F238E27FC236}">
                                <a16:creationId xmlns:a16="http://schemas.microsoft.com/office/drawing/2014/main" id="{BB1555C4-5289-42AD-8B5A-A76A361B4AAB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260796" y="4473312"/>
                            <a:ext cx="195516" cy="15558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3" name="组合 132">
                          <a:extLst>
                            <a:ext uri="{FF2B5EF4-FFF2-40B4-BE49-F238E27FC236}">
                              <a16:creationId xmlns:a16="http://schemas.microsoft.com/office/drawing/2014/main" id="{CB9FFCC0-B264-42B2-8F42-422243753DD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13018" y="2732176"/>
                          <a:ext cx="3402693" cy="195066"/>
                          <a:chOff x="2668508" y="4469667"/>
                          <a:chExt cx="3369175" cy="166280"/>
                        </a:xfrm>
                      </p:grpSpPr>
                      <p:cxnSp>
                        <p:nvCxnSpPr>
                          <p:cNvPr id="163" name="直接连接符 162">
                            <a:extLst>
                              <a:ext uri="{FF2B5EF4-FFF2-40B4-BE49-F238E27FC236}">
                                <a16:creationId xmlns:a16="http://schemas.microsoft.com/office/drawing/2014/main" id="{4142DC63-9FB4-4540-8E81-4CE80C5F37A1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668508" y="4491931"/>
                            <a:ext cx="443122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4" name="直接连接符 163">
                            <a:extLst>
                              <a:ext uri="{FF2B5EF4-FFF2-40B4-BE49-F238E27FC236}">
                                <a16:creationId xmlns:a16="http://schemas.microsoft.com/office/drawing/2014/main" id="{F5C0D606-982D-4638-BD3A-9875768087B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292884" y="4628285"/>
                            <a:ext cx="1967911" cy="7662"/>
                          </a:xfrm>
                          <a:prstGeom prst="line">
                            <a:avLst/>
                          </a:prstGeom>
                          <a:ln w="19050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5" name="直接连接符 164">
                            <a:extLst>
                              <a:ext uri="{FF2B5EF4-FFF2-40B4-BE49-F238E27FC236}">
                                <a16:creationId xmlns:a16="http://schemas.microsoft.com/office/drawing/2014/main" id="{57B374CF-646D-486E-9826-8242020ABD61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454589" y="4469667"/>
                            <a:ext cx="583094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6" name="直接连接符 165">
                            <a:extLst>
                              <a:ext uri="{FF2B5EF4-FFF2-40B4-BE49-F238E27FC236}">
                                <a16:creationId xmlns:a16="http://schemas.microsoft.com/office/drawing/2014/main" id="{25C93478-8DE0-4403-89E6-66BD85908849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111630" y="4491931"/>
                            <a:ext cx="181255" cy="14401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167" name="直接连接符 166">
                            <a:extLst>
                              <a:ext uri="{FF2B5EF4-FFF2-40B4-BE49-F238E27FC236}">
                                <a16:creationId xmlns:a16="http://schemas.microsoft.com/office/drawing/2014/main" id="{A66542D2-0090-4B29-AA98-E5FE2FFCFE1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260796" y="4473312"/>
                            <a:ext cx="195516" cy="15558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grpSp>
                      <p:nvGrpSpPr>
                        <p:cNvPr id="134" name="组合 133">
                          <a:extLst>
                            <a:ext uri="{FF2B5EF4-FFF2-40B4-BE49-F238E27FC236}">
                              <a16:creationId xmlns:a16="http://schemas.microsoft.com/office/drawing/2014/main" id="{C189C715-76BA-4311-BB6D-124EB006C7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9512" y="1351801"/>
                          <a:ext cx="6044703" cy="2437239"/>
                          <a:chOff x="179512" y="1351801"/>
                          <a:chExt cx="6044703" cy="2437239"/>
                        </a:xfrm>
                      </p:grpSpPr>
                      <p:grpSp>
                        <p:nvGrpSpPr>
                          <p:cNvPr id="135" name="组合 134">
                            <a:extLst>
                              <a:ext uri="{FF2B5EF4-FFF2-40B4-BE49-F238E27FC236}">
                                <a16:creationId xmlns:a16="http://schemas.microsoft.com/office/drawing/2014/main" id="{93CB02B0-A157-4107-B37D-043AB9E534C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79512" y="1351801"/>
                            <a:ext cx="6044703" cy="1695808"/>
                            <a:chOff x="1187624" y="1351801"/>
                            <a:chExt cx="6044703" cy="1695808"/>
                          </a:xfrm>
                        </p:grpSpPr>
                        <p:grpSp>
                          <p:nvGrpSpPr>
                            <p:cNvPr id="143" name="组合 142">
                              <a:extLst>
                                <a:ext uri="{FF2B5EF4-FFF2-40B4-BE49-F238E27FC236}">
                                  <a16:creationId xmlns:a16="http://schemas.microsoft.com/office/drawing/2014/main" id="{559E7629-6E9C-43EC-A0C7-F52552577477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87624" y="1474329"/>
                              <a:ext cx="6044703" cy="1573280"/>
                              <a:chOff x="1187624" y="1474329"/>
                              <a:chExt cx="6044703" cy="1573280"/>
                            </a:xfrm>
                          </p:grpSpPr>
                          <p:grpSp>
                            <p:nvGrpSpPr>
                              <p:cNvPr id="149" name="组合 148">
                                <a:extLst>
                                  <a:ext uri="{FF2B5EF4-FFF2-40B4-BE49-F238E27FC236}">
                                    <a16:creationId xmlns:a16="http://schemas.microsoft.com/office/drawing/2014/main" id="{298D9E47-B6BC-4F63-8415-402DC45F101A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87624" y="1474329"/>
                                <a:ext cx="6044703" cy="882885"/>
                                <a:chOff x="210796" y="2027454"/>
                                <a:chExt cx="6044703" cy="882885"/>
                              </a:xfrm>
                            </p:grpSpPr>
                            <p:grpSp>
                              <p:nvGrpSpPr>
                                <p:cNvPr id="156" name="组合 155">
                                  <a:extLst>
                                    <a:ext uri="{FF2B5EF4-FFF2-40B4-BE49-F238E27FC236}">
                                      <a16:creationId xmlns:a16="http://schemas.microsoft.com/office/drawing/2014/main" id="{35FC033C-441C-4B39-8380-F064827D31BE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323528" y="2375133"/>
                                  <a:ext cx="5782681" cy="152976"/>
                                  <a:chOff x="174611" y="2325859"/>
                                  <a:chExt cx="5782681" cy="152976"/>
                                </a:xfrm>
                              </p:grpSpPr>
                              <p:sp>
                                <p:nvSpPr>
                                  <p:cNvPr id="159" name="箭头: 五边形 158">
                                    <a:extLst>
                                      <a:ext uri="{FF2B5EF4-FFF2-40B4-BE49-F238E27FC236}">
                                        <a16:creationId xmlns:a16="http://schemas.microsoft.com/office/drawing/2014/main" id="{180558E2-410B-42E6-8F92-7140492F5C3E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2910914" y="2334819"/>
                                    <a:ext cx="1678225" cy="135056"/>
                                  </a:xfrm>
                                  <a:prstGeom prst="homePlate">
                                    <a:avLst/>
                                  </a:prstGeom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 dirty="0"/>
                                  </a:p>
                                </p:txBody>
                              </p:sp>
                              <p:sp>
                                <p:nvSpPr>
                                  <p:cNvPr id="160" name="箭头: 五边形 159">
                                    <a:extLst>
                                      <a:ext uri="{FF2B5EF4-FFF2-40B4-BE49-F238E27FC236}">
                                        <a16:creationId xmlns:a16="http://schemas.microsoft.com/office/drawing/2014/main" id="{E07C0921-9559-45B7-B4C2-62263D72B29B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 rot="10800000">
                                    <a:off x="1542764" y="2330337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  <p:sp>
                                <p:nvSpPr>
                                  <p:cNvPr id="161" name="箭头: 五边形 160">
                                    <a:extLst>
                                      <a:ext uri="{FF2B5EF4-FFF2-40B4-BE49-F238E27FC236}">
                                        <a16:creationId xmlns:a16="http://schemas.microsoft.com/office/drawing/2014/main" id="{8ADC0F5E-83CE-43EE-B3F1-184183864BAD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74611" y="2334819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  <a:noFill/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/>
                                  </a:p>
                                </p:txBody>
                              </p:sp>
                              <p:sp>
                                <p:nvSpPr>
                                  <p:cNvPr id="162" name="箭头: 五边形 161">
                                    <a:extLst>
                                      <a:ext uri="{FF2B5EF4-FFF2-40B4-BE49-F238E27FC236}">
                                        <a16:creationId xmlns:a16="http://schemas.microsoft.com/office/drawing/2014/main" id="{6F112B22-8759-43FF-81FB-2FFEAC5B45C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 rot="10800000">
                                    <a:off x="4589140" y="2325859"/>
                                    <a:ext cx="1368152" cy="144016"/>
                                  </a:xfrm>
                                  <a:prstGeom prst="homePlate">
                                    <a:avLst/>
                                  </a:prstGeom>
                                  <a:noFill/>
                                </p:spPr>
                                <p:style>
                                  <a:lnRef idx="2">
                                    <a:schemeClr val="accent1">
                                      <a:shade val="50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zh-CN" altLang="en-US" dirty="0"/>
                                  </a:p>
                                </p:txBody>
                              </p:sp>
                            </p:grpSp>
                            <p:pic>
                              <p:nvPicPr>
                                <p:cNvPr id="157" name="图片 156">
                                  <a:extLst>
                                    <a:ext uri="{FF2B5EF4-FFF2-40B4-BE49-F238E27FC236}">
                                      <a16:creationId xmlns:a16="http://schemas.microsoft.com/office/drawing/2014/main" id="{D94F271C-D20E-42C8-B896-42CF914DE512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210796" y="2027454"/>
                                  <a:ext cx="1336868" cy="857294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  <p:pic>
                              <p:nvPicPr>
                                <p:cNvPr id="158" name="图片 157">
                                  <a:extLst>
                                    <a:ext uri="{FF2B5EF4-FFF2-40B4-BE49-F238E27FC236}">
                                      <a16:creationId xmlns:a16="http://schemas.microsoft.com/office/drawing/2014/main" id="{663B9B49-C5B1-48B1-91C7-CCC7722F1A46}"/>
                                    </a:ext>
                                  </a:extLst>
                                </p:cNvPr>
                                <p:cNvPicPr>
                                  <a:picLocks noChangeAspect="1"/>
                                </p:cNvPicPr>
                                <p:nvPr/>
                              </p:nvPicPr>
                              <p:blipFill>
                                <a:blip r:embed="rId2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4918631" y="2053045"/>
                                  <a:ext cx="1336868" cy="857294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grpSp>
                          <p:cxnSp>
                            <p:nvCxnSpPr>
                              <p:cNvPr id="150" name="直接连接符 149">
                                <a:extLst>
                                  <a:ext uri="{FF2B5EF4-FFF2-40B4-BE49-F238E27FC236}">
                                    <a16:creationId xmlns:a16="http://schemas.microsoft.com/office/drawing/2014/main" id="{62C61A03-033C-4796-BD0B-2E0A531252BF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6067" y="1628800"/>
                                <a:ext cx="3058061" cy="0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1" name="直接连接符 150">
                                <a:extLst>
                                  <a:ext uri="{FF2B5EF4-FFF2-40B4-BE49-F238E27FC236}">
                                    <a16:creationId xmlns:a16="http://schemas.microsoft.com/office/drawing/2014/main" id="{22E1DDB1-C567-4FB1-86CB-99BD857B89E9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3059832" y="2636912"/>
                                <a:ext cx="2079375" cy="11033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2" name="直接连接符 151">
                                <a:extLst>
                                  <a:ext uri="{FF2B5EF4-FFF2-40B4-BE49-F238E27FC236}">
                                    <a16:creationId xmlns:a16="http://schemas.microsoft.com/office/drawing/2014/main" id="{5DF9E0FD-FFEC-44A8-A718-6C1E081CEDC5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6067" y="2503929"/>
                                <a:ext cx="393765" cy="0"/>
                              </a:xfrm>
                              <a:prstGeom prst="line">
                                <a:avLst/>
                              </a:prstGeom>
                              <a:ln w="12700">
                                <a:solidFill>
                                  <a:schemeClr val="tx1"/>
                                </a:solidFill>
                                <a:headEnd type="arrow" w="med" len="med"/>
                                <a:tailEnd type="arrow" w="med" len="med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3" name="直接连接符 152">
                                <a:extLst>
                                  <a:ext uri="{FF2B5EF4-FFF2-40B4-BE49-F238E27FC236}">
                                    <a16:creationId xmlns:a16="http://schemas.microsoft.com/office/drawing/2014/main" id="{0773F9A8-1C89-4C8B-93E1-77F22ECB116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2668508" y="1495239"/>
                                <a:ext cx="677" cy="1141673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4" name="直接连接符 153">
                                <a:extLst>
                                  <a:ext uri="{FF2B5EF4-FFF2-40B4-BE49-F238E27FC236}">
                                    <a16:creationId xmlns:a16="http://schemas.microsoft.com/office/drawing/2014/main" id="{3C880CFA-FB02-4B03-9124-A1BF4135D92D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3059832" y="2060848"/>
                                <a:ext cx="0" cy="986761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  <p:cxnSp>
                            <p:nvCxnSpPr>
                              <p:cNvPr id="155" name="直接连接符 154">
                                <a:extLst>
                                  <a:ext uri="{FF2B5EF4-FFF2-40B4-BE49-F238E27FC236}">
                                    <a16:creationId xmlns:a16="http://schemas.microsoft.com/office/drawing/2014/main" id="{634FD34C-B55B-4ABD-955F-3F835DC79273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>
                                <a:off x="5713328" y="1474876"/>
                                <a:ext cx="10800" cy="1162036"/>
                              </a:xfrm>
                              <a:prstGeom prst="line">
                                <a:avLst/>
                              </a:prstGeom>
                              <a:ln>
                                <a:solidFill>
                                  <a:schemeClr val="tx1"/>
                                </a:solidFill>
                                <a:prstDash val="lgDash"/>
                              </a:ln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sp>
                          <p:nvSpPr>
                            <p:cNvPr id="144" name="文本框 143">
                              <a:extLst>
                                <a:ext uri="{FF2B5EF4-FFF2-40B4-BE49-F238E27FC236}">
                                  <a16:creationId xmlns:a16="http://schemas.microsoft.com/office/drawing/2014/main" id="{AC6DEF06-53F3-4C56-B861-0EE16E3E3F57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016881" y="1351801"/>
                              <a:ext cx="383759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WC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5" name="文本框 144">
                              <a:extLst>
                                <a:ext uri="{FF2B5EF4-FFF2-40B4-BE49-F238E27FC236}">
                                  <a16:creationId xmlns:a16="http://schemas.microsoft.com/office/drawing/2014/main" id="{1CB79082-F8C9-4C49-A265-E1FE633EFE9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693969" y="2460065"/>
                              <a:ext cx="389017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AW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6" name="文本框 145">
                              <a:extLst>
                                <a:ext uri="{FF2B5EF4-FFF2-40B4-BE49-F238E27FC236}">
                                  <a16:creationId xmlns:a16="http://schemas.microsoft.com/office/drawing/2014/main" id="{B5474827-D6F6-4E43-8CE7-A1E703780215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058147" y="2370946"/>
                              <a:ext cx="330540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t</a:t>
                              </a:r>
                              <a:r>
                                <a:rPr lang="en-US" altLang="zh-CN" sz="1200" b="1" baseline="-25000" dirty="0" err="1"/>
                                <a:t>W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7" name="文本框 146">
                              <a:extLst>
                                <a:ext uri="{FF2B5EF4-FFF2-40B4-BE49-F238E27FC236}">
                                  <a16:creationId xmlns:a16="http://schemas.microsoft.com/office/drawing/2014/main" id="{061F1C15-2CBA-4EE2-B92F-7F81ADB449E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984913" y="1764476"/>
                              <a:ext cx="498855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 err="1"/>
                                <a:t>Addr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  <p:sp>
                          <p:nvSpPr>
                            <p:cNvPr id="148" name="文本框 147">
                              <a:extLst>
                                <a:ext uri="{FF2B5EF4-FFF2-40B4-BE49-F238E27FC236}">
                                  <a16:creationId xmlns:a16="http://schemas.microsoft.com/office/drawing/2014/main" id="{99944F01-6BB0-4FCB-BECB-D2FD36967691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018368" y="2166910"/>
                              <a:ext cx="404278" cy="276999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none" rtlCol="0">
                              <a:spAutoFit/>
                            </a:bodyPr>
                            <a:lstStyle/>
                            <a:p>
                              <a:r>
                                <a:rPr lang="en-US" altLang="zh-CN" sz="1200" b="1" dirty="0"/>
                                <a:t>/CS</a:t>
                              </a:r>
                              <a:endParaRPr lang="zh-CN" altLang="en-US" sz="1200" b="1" baseline="-25000" dirty="0"/>
                            </a:p>
                          </p:txBody>
                        </p:sp>
                      </p:grpSp>
                      <p:grpSp>
                        <p:nvGrpSpPr>
                          <p:cNvPr id="136" name="组合 135">
                            <a:extLst>
                              <a:ext uri="{FF2B5EF4-FFF2-40B4-BE49-F238E27FC236}">
                                <a16:creationId xmlns:a16="http://schemas.microsoft.com/office/drawing/2014/main" id="{394195EA-C214-4393-9092-238D8A341D7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27922" y="2967581"/>
                            <a:ext cx="3887789" cy="533427"/>
                            <a:chOff x="827584" y="4526378"/>
                            <a:chExt cx="3887789" cy="533427"/>
                          </a:xfrm>
                        </p:grpSpPr>
                        <p:grpSp>
                          <p:nvGrpSpPr>
                            <p:cNvPr id="139" name="组合 138">
                              <a:extLst>
                                <a:ext uri="{FF2B5EF4-FFF2-40B4-BE49-F238E27FC236}">
                                  <a16:creationId xmlns:a16="http://schemas.microsoft.com/office/drawing/2014/main" id="{CD05F204-419A-4041-9393-7C679152E80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187624" y="4660562"/>
                              <a:ext cx="3527749" cy="170047"/>
                              <a:chOff x="1187624" y="4660562"/>
                              <a:chExt cx="3527749" cy="170047"/>
                            </a:xfrm>
                          </p:grpSpPr>
                          <p:sp>
                            <p:nvSpPr>
                              <p:cNvPr id="141" name="箭头: 五边形 140">
                                <a:extLst>
                                  <a:ext uri="{FF2B5EF4-FFF2-40B4-BE49-F238E27FC236}">
                                    <a16:creationId xmlns:a16="http://schemas.microsoft.com/office/drawing/2014/main" id="{E5D60653-7EAB-493C-A6A8-4117ADC0BD3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187624" y="4660562"/>
                                <a:ext cx="1137687" cy="170047"/>
                              </a:xfrm>
                              <a:prstGeom prst="homePlate">
                                <a:avLst/>
                              </a:prstGeom>
                              <a:solidFill>
                                <a:schemeClr val="bg1"/>
                              </a:solidFill>
                            </p:spPr>
                            <p:style>
                              <a:lnRef idx="2">
                                <a:schemeClr val="accent1">
                                  <a:shade val="50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zh-CN" altLang="en-US" dirty="0"/>
                              </a:p>
                            </p:txBody>
                          </p:sp>
                          <p:cxnSp>
                            <p:nvCxnSpPr>
                              <p:cNvPr id="142" name="直接连接符 141">
                                <a:extLst>
                                  <a:ext uri="{FF2B5EF4-FFF2-40B4-BE49-F238E27FC236}">
                                    <a16:creationId xmlns:a16="http://schemas.microsoft.com/office/drawing/2014/main" id="{8F6AA016-7460-4253-928F-902DD26E66A7}"/>
                                  </a:ext>
                                </a:extLst>
                              </p:cNvPr>
                              <p:cNvCxnSpPr>
                                <a:cxnSpLocks/>
                              </p:cNvCxnSpPr>
                              <p:nvPr/>
                            </p:nvCxnSpPr>
                            <p:spPr>
                              <a:xfrm flipV="1">
                                <a:off x="2306371" y="4730778"/>
                                <a:ext cx="2409002" cy="20390"/>
                              </a:xfrm>
                              <a:prstGeom prst="line">
                                <a:avLst/>
                              </a:prstGeom>
                              <a:ln w="28575"/>
                            </p:spPr>
                            <p:style>
                              <a:lnRef idx="1">
                                <a:schemeClr val="accent1"/>
                              </a:lnRef>
                              <a:fillRef idx="0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tx1"/>
                              </a:fontRef>
                            </p:style>
                          </p:cxnSp>
                        </p:grpSp>
                        <p:pic>
                          <p:nvPicPr>
                            <p:cNvPr id="140" name="图片 139">
                              <a:extLst>
                                <a:ext uri="{FF2B5EF4-FFF2-40B4-BE49-F238E27FC236}">
                                  <a16:creationId xmlns:a16="http://schemas.microsoft.com/office/drawing/2014/main" id="{22DC07D8-9F70-4FFA-9407-650A8F9DA634}"/>
                                </a:ext>
                              </a:extLst>
                            </p:cNvPr>
                            <p:cNvPicPr>
                              <a:picLocks noChangeAspect="1"/>
                            </p:cNvPicPr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27584" y="4526378"/>
                              <a:ext cx="495325" cy="533427"/>
                            </a:xfrm>
                            <a:prstGeom prst="rect">
                              <a:avLst/>
                            </a:prstGeom>
                          </p:spPr>
                        </p:pic>
                      </p:grpSp>
                      <p:sp>
                        <p:nvSpPr>
                          <p:cNvPr id="137" name="文本框 136">
                            <a:extLst>
                              <a:ext uri="{FF2B5EF4-FFF2-40B4-BE49-F238E27FC236}">
                                <a16:creationId xmlns:a16="http://schemas.microsoft.com/office/drawing/2014/main" id="{621C110B-3FEB-4CF9-8AEC-128F0DF7156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999370" y="2647945"/>
                            <a:ext cx="465192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1200" b="1" dirty="0"/>
                              <a:t>/WE</a:t>
                            </a:r>
                            <a:endParaRPr lang="zh-CN" altLang="en-US" sz="1200" b="1" baseline="-25000" dirty="0"/>
                          </a:p>
                        </p:txBody>
                      </p:sp>
                      <p:sp>
                        <p:nvSpPr>
                          <p:cNvPr id="138" name="文本框 137">
                            <a:extLst>
                              <a:ext uri="{FF2B5EF4-FFF2-40B4-BE49-F238E27FC236}">
                                <a16:creationId xmlns:a16="http://schemas.microsoft.com/office/drawing/2014/main" id="{A1D921EC-37C4-46EF-975C-138B74081124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005656" y="3512041"/>
                            <a:ext cx="377026" cy="276999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none" rtlCol="0">
                            <a:spAutoFit/>
                          </a:bodyPr>
                          <a:lstStyle/>
                          <a:p>
                            <a:r>
                              <a:rPr lang="en-US" altLang="zh-CN" sz="1200" b="1" dirty="0"/>
                              <a:t>D</a:t>
                            </a:r>
                            <a:r>
                              <a:rPr lang="en-US" altLang="zh-CN" sz="1200" b="1" baseline="-25000" dirty="0"/>
                              <a:t>IN</a:t>
                            </a:r>
                            <a:endParaRPr lang="zh-CN" altLang="en-US" sz="1200" b="1" baseline="-25000" dirty="0"/>
                          </a:p>
                        </p:txBody>
                      </p:sp>
                    </p:grpSp>
                  </p:grpSp>
                  <p:cxnSp>
                    <p:nvCxnSpPr>
                      <p:cNvPr id="131" name="直接连接符 130">
                        <a:extLst>
                          <a:ext uri="{FF2B5EF4-FFF2-40B4-BE49-F238E27FC236}">
                            <a16:creationId xmlns:a16="http://schemas.microsoft.com/office/drawing/2014/main" id="{93C8C66D-5897-4576-8E7A-EC895325E58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139952" y="2082199"/>
                        <a:ext cx="0" cy="148633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prstDash val="lgDash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27" name="直接连接符 126">
                      <a:extLst>
                        <a:ext uri="{FF2B5EF4-FFF2-40B4-BE49-F238E27FC236}">
                          <a16:creationId xmlns:a16="http://schemas.microsoft.com/office/drawing/2014/main" id="{0A95D9A1-34CD-4E97-9620-F6AB32DD2E5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35151" y="2340320"/>
                      <a:ext cx="574121" cy="768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28" name="文本框 127">
                      <a:extLst>
                        <a:ext uri="{FF2B5EF4-FFF2-40B4-BE49-F238E27FC236}">
                          <a16:creationId xmlns:a16="http://schemas.microsoft.com/office/drawing/2014/main" id="{6706FA60-E5C2-489F-B926-46832436AA9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16016" y="2276872"/>
                      <a:ext cx="388248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 err="1"/>
                        <a:t>t</a:t>
                      </a:r>
                      <a:r>
                        <a:rPr lang="en-US" altLang="zh-CN" sz="1200" b="1" baseline="-25000" dirty="0" err="1"/>
                        <a:t>WR</a:t>
                      </a:r>
                      <a:endParaRPr lang="zh-CN" altLang="en-US" sz="1200" b="1" baseline="-25000" dirty="0"/>
                    </a:p>
                  </p:txBody>
                </p:sp>
              </p:grpSp>
              <p:grpSp>
                <p:nvGrpSpPr>
                  <p:cNvPr id="121" name="组合 120">
                    <a:extLst>
                      <a:ext uri="{FF2B5EF4-FFF2-40B4-BE49-F238E27FC236}">
                        <a16:creationId xmlns:a16="http://schemas.microsoft.com/office/drawing/2014/main" id="{E7DE5B04-B6F6-43D2-A6D7-F2C58DAC3A71}"/>
                      </a:ext>
                    </a:extLst>
                  </p:cNvPr>
                  <p:cNvGrpSpPr/>
                  <p:nvPr/>
                </p:nvGrpSpPr>
                <p:grpSpPr>
                  <a:xfrm>
                    <a:off x="3993071" y="3202101"/>
                    <a:ext cx="1111193" cy="252223"/>
                    <a:chOff x="3993071" y="3202101"/>
                    <a:chExt cx="1111193" cy="252223"/>
                  </a:xfrm>
                </p:grpSpPr>
                <p:cxnSp>
                  <p:nvCxnSpPr>
                    <p:cNvPr id="122" name="直接连接符 121">
                      <a:extLst>
                        <a:ext uri="{FF2B5EF4-FFF2-40B4-BE49-F238E27FC236}">
                          <a16:creationId xmlns:a16="http://schemas.microsoft.com/office/drawing/2014/main" id="{86F8A8EB-C6BC-443E-A2AC-193183D05F1A}"/>
                        </a:ext>
                      </a:extLst>
                    </p:cNvPr>
                    <p:cNvCxnSpPr>
                      <a:cxnSpLocks/>
                      <a:endCxn id="176" idx="0"/>
                    </p:cNvCxnSpPr>
                    <p:nvPr/>
                  </p:nvCxnSpPr>
                  <p:spPr>
                    <a:xfrm>
                      <a:off x="3993071" y="3202101"/>
                      <a:ext cx="0" cy="252223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3" name="直接连接符 122">
                      <a:extLst>
                        <a:ext uri="{FF2B5EF4-FFF2-40B4-BE49-F238E27FC236}">
                          <a16:creationId xmlns:a16="http://schemas.microsoft.com/office/drawing/2014/main" id="{B8ADBB2D-A0D1-481F-A01B-86590FF8A78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097828" y="3202101"/>
                      <a:ext cx="0" cy="21057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4" name="直接连接符 123">
                      <a:extLst>
                        <a:ext uri="{FF2B5EF4-FFF2-40B4-BE49-F238E27FC236}">
                          <a16:creationId xmlns:a16="http://schemas.microsoft.com/office/drawing/2014/main" id="{64241925-C8F8-4C67-B485-858A50D989B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652375" y="3291497"/>
                      <a:ext cx="451889" cy="585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25" name="直接连接符 124">
                      <a:extLst>
                        <a:ext uri="{FF2B5EF4-FFF2-40B4-BE49-F238E27FC236}">
                          <a16:creationId xmlns:a16="http://schemas.microsoft.com/office/drawing/2014/main" id="{657C322A-F47E-43C6-A0C8-23AB312DC1A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993071" y="3284984"/>
                      <a:ext cx="650937" cy="11177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  <a:headEnd type="arrow" w="med" len="med"/>
                      <a:tailEnd type="arrow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18" name="文本框 117">
                  <a:extLst>
                    <a:ext uri="{FF2B5EF4-FFF2-40B4-BE49-F238E27FC236}">
                      <a16:creationId xmlns:a16="http://schemas.microsoft.com/office/drawing/2014/main" id="{E687433D-9E70-47DC-9BE3-8FD196709010}"/>
                    </a:ext>
                  </a:extLst>
                </p:cNvPr>
                <p:cNvSpPr txBox="1"/>
                <p:nvPr/>
              </p:nvSpPr>
              <p:spPr>
                <a:xfrm>
                  <a:off x="4169452" y="3035200"/>
                  <a:ext cx="39363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b="1" dirty="0" err="1"/>
                    <a:t>t</a:t>
                  </a:r>
                  <a:r>
                    <a:rPr lang="en-US" altLang="zh-CN" sz="1200" b="1" baseline="-25000" dirty="0" err="1"/>
                    <a:t>DW</a:t>
                  </a:r>
                  <a:endParaRPr lang="zh-CN" altLang="en-US" sz="1200" b="1" baseline="-25000" dirty="0"/>
                </a:p>
              </p:txBody>
            </p:sp>
            <p:sp>
              <p:nvSpPr>
                <p:cNvPr id="119" name="文本框 118">
                  <a:extLst>
                    <a:ext uri="{FF2B5EF4-FFF2-40B4-BE49-F238E27FC236}">
                      <a16:creationId xmlns:a16="http://schemas.microsoft.com/office/drawing/2014/main" id="{BF12A233-C6A5-4FEC-AA12-EC29CF390022}"/>
                    </a:ext>
                  </a:extLst>
                </p:cNvPr>
                <p:cNvSpPr txBox="1"/>
                <p:nvPr/>
              </p:nvSpPr>
              <p:spPr>
                <a:xfrm>
                  <a:off x="4707415" y="3040496"/>
                  <a:ext cx="36580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200" b="1" dirty="0" err="1"/>
                    <a:t>t</a:t>
                  </a:r>
                  <a:r>
                    <a:rPr lang="en-US" altLang="zh-CN" sz="1200" b="1" baseline="-25000" dirty="0" err="1"/>
                    <a:t>DH</a:t>
                  </a:r>
                  <a:endParaRPr lang="zh-CN" altLang="en-US" sz="1200" b="1" baseline="-25000" dirty="0"/>
                </a:p>
              </p:txBody>
            </p:sp>
          </p:grpSp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010621FE-11EB-4D01-953D-D6E5F1A2659F}"/>
                  </a:ext>
                </a:extLst>
              </p:cNvPr>
              <p:cNvSpPr txBox="1"/>
              <p:nvPr/>
            </p:nvSpPr>
            <p:spPr>
              <a:xfrm>
                <a:off x="1514349" y="2891184"/>
                <a:ext cx="4700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D</a:t>
                </a:r>
                <a:r>
                  <a:rPr lang="en-US" altLang="zh-CN" sz="1200" b="1" baseline="-25000" dirty="0"/>
                  <a:t>OUT</a:t>
                </a:r>
                <a:endParaRPr lang="zh-CN" altLang="en-US" sz="1200" b="1" baseline="-25000" dirty="0"/>
              </a:p>
            </p:txBody>
          </p:sp>
        </p:grpSp>
        <p:pic>
          <p:nvPicPr>
            <p:cNvPr id="188" name="图片 187">
              <a:extLst>
                <a:ext uri="{FF2B5EF4-FFF2-40B4-BE49-F238E27FC236}">
                  <a16:creationId xmlns:a16="http://schemas.microsoft.com/office/drawing/2014/main" id="{EC0755EB-E27F-4C95-A8A7-93BF3336C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25690" y="3927613"/>
              <a:ext cx="209561" cy="107956"/>
            </a:xfrm>
            <a:prstGeom prst="rect">
              <a:avLst/>
            </a:prstGeom>
          </p:spPr>
        </p:pic>
      </p:grpSp>
      <p:sp>
        <p:nvSpPr>
          <p:cNvPr id="190" name="文本框 189">
            <a:extLst>
              <a:ext uri="{FF2B5EF4-FFF2-40B4-BE49-F238E27FC236}">
                <a16:creationId xmlns:a16="http://schemas.microsoft.com/office/drawing/2014/main" id="{A6051886-C3B0-481F-AEA0-587E246A7418}"/>
              </a:ext>
            </a:extLst>
          </p:cNvPr>
          <p:cNvSpPr txBox="1"/>
          <p:nvPr/>
        </p:nvSpPr>
        <p:spPr>
          <a:xfrm>
            <a:off x="5458265" y="3615868"/>
            <a:ext cx="3332523" cy="26776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WC</a:t>
            </a:r>
            <a:r>
              <a:rPr lang="zh-CN" altLang="en-US" sz="1400" b="1" dirty="0">
                <a:solidFill>
                  <a:schemeClr val="tx1"/>
                </a:solidFill>
              </a:rPr>
              <a:t>：写周期时间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W</a:t>
            </a:r>
            <a:r>
              <a:rPr lang="zh-CN" altLang="en-US" sz="1400" b="1" dirty="0">
                <a:solidFill>
                  <a:schemeClr val="tx1"/>
                </a:solidFill>
              </a:rPr>
              <a:t>：写数据时间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WR</a:t>
            </a:r>
            <a:r>
              <a:rPr lang="zh-CN" altLang="en-US" sz="1400" b="1" dirty="0">
                <a:solidFill>
                  <a:schemeClr val="tx1"/>
                </a:solidFill>
              </a:rPr>
              <a:t>：写恢复时间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DW</a:t>
            </a:r>
            <a:r>
              <a:rPr lang="zh-CN" altLang="en-US" sz="1400" b="1" dirty="0">
                <a:solidFill>
                  <a:schemeClr val="tx1"/>
                </a:solidFill>
              </a:rPr>
              <a:t>：数据有效时间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DH</a:t>
            </a:r>
            <a:r>
              <a:rPr lang="zh-CN" altLang="en-US" sz="1400" b="1" dirty="0">
                <a:solidFill>
                  <a:schemeClr val="tx1"/>
                </a:solidFill>
              </a:rPr>
              <a:t>：写信号无效后数据保持时间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AW</a:t>
            </a:r>
            <a:r>
              <a:rPr lang="zh-CN" altLang="en-US" sz="1400" b="1" dirty="0">
                <a:solidFill>
                  <a:schemeClr val="tx1"/>
                </a:solidFill>
              </a:rPr>
              <a:t>：地址有效到写信号有效之间的时间间隔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9DD027CB-BFAC-4575-B3B0-6D21F8A62A4D}"/>
              </a:ext>
            </a:extLst>
          </p:cNvPr>
          <p:cNvSpPr txBox="1"/>
          <p:nvPr/>
        </p:nvSpPr>
        <p:spPr>
          <a:xfrm>
            <a:off x="5432831" y="1377357"/>
            <a:ext cx="3305562" cy="20313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RC</a:t>
            </a:r>
            <a:r>
              <a:rPr lang="zh-CN" altLang="en-US" sz="1400" b="1" dirty="0">
                <a:solidFill>
                  <a:schemeClr val="tx1"/>
                </a:solidFill>
              </a:rPr>
              <a:t>：读周期时间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A</a:t>
            </a:r>
            <a:r>
              <a:rPr lang="zh-CN" altLang="en-US" sz="1400" b="1" dirty="0">
                <a:solidFill>
                  <a:schemeClr val="tx1"/>
                </a:solidFill>
              </a:rPr>
              <a:t>：读数据时间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CO</a:t>
            </a:r>
            <a:r>
              <a:rPr lang="zh-CN" altLang="en-US" sz="1400" b="1" dirty="0">
                <a:solidFill>
                  <a:schemeClr val="tx1"/>
                </a:solidFill>
              </a:rPr>
              <a:t>：片选有效到数据稳定输出之间的时间延迟</a:t>
            </a:r>
            <a:endParaRPr lang="en-US" altLang="zh-CN" sz="1400" b="1" dirty="0">
              <a:solidFill>
                <a:schemeClr val="tx1"/>
              </a:solidFill>
            </a:endParaRPr>
          </a:p>
          <a:p>
            <a:endParaRPr lang="en-US" altLang="zh-CN" sz="1400" b="1" dirty="0">
              <a:solidFill>
                <a:schemeClr val="tx1"/>
              </a:solidFill>
            </a:endParaRPr>
          </a:p>
          <a:p>
            <a:r>
              <a:rPr lang="en-US" altLang="zh-CN" sz="1400" b="1" dirty="0" err="1">
                <a:solidFill>
                  <a:schemeClr val="tx1"/>
                </a:solidFill>
              </a:rPr>
              <a:t>t</a:t>
            </a:r>
            <a:r>
              <a:rPr lang="en-US" altLang="zh-CN" sz="1400" b="1" baseline="-25000" dirty="0" err="1">
                <a:solidFill>
                  <a:schemeClr val="tx1"/>
                </a:solidFill>
              </a:rPr>
              <a:t>OTD</a:t>
            </a:r>
            <a:r>
              <a:rPr lang="zh-CN" altLang="en-US" sz="1400" b="1" dirty="0">
                <a:solidFill>
                  <a:schemeClr val="tx1"/>
                </a:solidFill>
              </a:rPr>
              <a:t>：片选断开到输出端数据还能保持的时间</a:t>
            </a:r>
            <a:endParaRPr lang="en-US" altLang="zh-CN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1855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AA7C7-DBA7-4C25-A514-B74CD0BE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1328" y="1484784"/>
            <a:ext cx="7859216" cy="496855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存储体以动态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存储元为基本单元组成的存储器称为动态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存储器，也称为</a:t>
            </a:r>
            <a:r>
              <a:rPr lang="zh-CN" altLang="en-US" sz="2000" b="1" dirty="0">
                <a:solidFill>
                  <a:srgbClr val="C00000"/>
                </a:solidFill>
              </a:rPr>
              <a:t>动态随机存取存储器</a:t>
            </a:r>
            <a:r>
              <a:rPr lang="zh-CN" altLang="en-US" sz="2000" b="1" dirty="0"/>
              <a:t>（</a:t>
            </a:r>
            <a:r>
              <a:rPr lang="en-US" altLang="zh-CN" sz="2000" b="1" dirty="0">
                <a:solidFill>
                  <a:srgbClr val="C00000"/>
                </a:solidFill>
              </a:rPr>
              <a:t>DRAM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Dynamic Random Access Memory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静态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存储器（</a:t>
            </a:r>
            <a:r>
              <a:rPr lang="en-US" altLang="zh-CN" sz="2000" b="1" dirty="0"/>
              <a:t>SRAM</a:t>
            </a:r>
            <a:r>
              <a:rPr lang="zh-CN" altLang="en-US" sz="2000" b="1" dirty="0"/>
              <a:t>）存储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位二进制数需要</a:t>
            </a:r>
            <a:r>
              <a:rPr lang="en-US" altLang="zh-CN" sz="2000" b="1" dirty="0"/>
              <a:t>6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管，其存储密度较低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2000" b="1" dirty="0"/>
              <a:t>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存储器（</a:t>
            </a:r>
            <a:r>
              <a:rPr lang="en-US" altLang="zh-CN" sz="2000" b="1" dirty="0"/>
              <a:t>DRAM</a:t>
            </a:r>
            <a:r>
              <a:rPr lang="zh-CN" altLang="en-US" sz="2000" b="1" dirty="0"/>
              <a:t>）则采用数量较少的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管（如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管、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管、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管）和</a:t>
            </a:r>
            <a:r>
              <a:rPr lang="zh-CN" altLang="en-US" sz="2000" b="1" dirty="0">
                <a:solidFill>
                  <a:srgbClr val="C00000"/>
                </a:solidFill>
              </a:rPr>
              <a:t>存储电容</a:t>
            </a:r>
            <a:r>
              <a:rPr lang="zh-CN" altLang="en-US" sz="2000" b="1" dirty="0"/>
              <a:t>来存储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位二进制数，其</a:t>
            </a:r>
            <a:r>
              <a:rPr lang="zh-CN" altLang="en-US" sz="2000" b="1" dirty="0">
                <a:solidFill>
                  <a:srgbClr val="C00000"/>
                </a:solidFill>
              </a:rPr>
              <a:t>存储密度较高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endParaRPr lang="en-US" altLang="zh-CN" sz="2400" b="1" dirty="0"/>
          </a:p>
        </p:txBody>
      </p:sp>
    </p:spTree>
    <p:extLst>
      <p:ext uri="{BB962C8B-B14F-4D97-AF65-F5344CB8AC3E}">
        <p14:creationId xmlns:p14="http://schemas.microsoft.com/office/powerpoint/2010/main" val="41042804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712E8F37-D370-4700-BE07-C30524D5B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9958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375C67-753B-4ABC-85E8-1CCAC5623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2" y="1700809"/>
            <a:ext cx="8603522" cy="720080"/>
          </a:xfrm>
        </p:spPr>
        <p:txBody>
          <a:bodyPr/>
          <a:lstStyle/>
          <a:p>
            <a:pPr lvl="2"/>
            <a:r>
              <a:rPr lang="zh-CN" altLang="en-US" sz="1600" b="1" dirty="0"/>
              <a:t>使用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</a:t>
            </a:r>
            <a:r>
              <a:rPr lang="en-US" altLang="zh-CN" sz="1600" b="1" dirty="0"/>
              <a:t>MOS</a:t>
            </a:r>
            <a:r>
              <a:rPr lang="zh-CN" altLang="en-US" sz="1600" b="1" dirty="0"/>
              <a:t>管（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）和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个电容（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）构成存储单元，存放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/>
            <a:r>
              <a:rPr lang="zh-CN" altLang="en-US" sz="1600" b="1" dirty="0">
                <a:solidFill>
                  <a:srgbClr val="C00000"/>
                </a:solidFill>
              </a:rPr>
              <a:t>电容</a:t>
            </a:r>
            <a:r>
              <a:rPr lang="en-US" altLang="zh-CN" sz="1600" b="1" dirty="0">
                <a:solidFill>
                  <a:srgbClr val="C00000"/>
                </a:solidFill>
              </a:rPr>
              <a:t>C</a:t>
            </a:r>
            <a:r>
              <a:rPr lang="zh-CN" altLang="en-US" sz="1600" b="1" dirty="0">
                <a:solidFill>
                  <a:srgbClr val="C00000"/>
                </a:solidFill>
              </a:rPr>
              <a:t>有电荷</a:t>
            </a:r>
            <a:r>
              <a:rPr lang="zh-CN" altLang="en-US" sz="1600" b="1" dirty="0"/>
              <a:t>，表示存放数据“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”；</a:t>
            </a:r>
            <a:r>
              <a:rPr lang="zh-CN" altLang="en-US" sz="1600" b="1" dirty="0">
                <a:solidFill>
                  <a:srgbClr val="C00000"/>
                </a:solidFill>
              </a:rPr>
              <a:t>电容</a:t>
            </a:r>
            <a:r>
              <a:rPr lang="en-US" altLang="zh-CN" sz="1600" b="1" dirty="0">
                <a:solidFill>
                  <a:srgbClr val="C00000"/>
                </a:solidFill>
              </a:rPr>
              <a:t>C</a:t>
            </a:r>
            <a:r>
              <a:rPr lang="zh-CN" altLang="en-US" sz="1600" b="1" dirty="0">
                <a:solidFill>
                  <a:srgbClr val="C00000"/>
                </a:solidFill>
              </a:rPr>
              <a:t>无电荷</a:t>
            </a:r>
            <a:r>
              <a:rPr lang="zh-CN" altLang="en-US" sz="1600" b="1" dirty="0"/>
              <a:t>，表示存放数据“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/>
            <a:endParaRPr lang="en-US" altLang="zh-CN" sz="1600" b="1" dirty="0"/>
          </a:p>
          <a:p>
            <a:pPr lvl="2"/>
            <a:endParaRPr lang="zh-CN" altLang="en-US" sz="11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0B389F0-2130-469C-99BD-495A09B8712E}"/>
              </a:ext>
            </a:extLst>
          </p:cNvPr>
          <p:cNvSpPr txBox="1"/>
          <p:nvPr/>
        </p:nvSpPr>
        <p:spPr>
          <a:xfrm>
            <a:off x="251520" y="1103811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、单管动态</a:t>
            </a:r>
            <a:r>
              <a:rPr lang="en-US" altLang="zh-CN" sz="2400" b="1" dirty="0"/>
              <a:t>MOS</a:t>
            </a:r>
            <a:r>
              <a:rPr lang="zh-CN" altLang="en-US" sz="2400" b="1" dirty="0"/>
              <a:t>存储单元</a:t>
            </a:r>
            <a:endParaRPr lang="en-US" altLang="zh-CN" sz="2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90EA2B1-93BB-4430-9B1E-77776F0EFB84}"/>
              </a:ext>
            </a:extLst>
          </p:cNvPr>
          <p:cNvSpPr txBox="1"/>
          <p:nvPr/>
        </p:nvSpPr>
        <p:spPr>
          <a:xfrm>
            <a:off x="827584" y="2506327"/>
            <a:ext cx="7704856" cy="3861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/>
              <a:t>单管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的特点：</a:t>
            </a:r>
            <a:endParaRPr lang="en-US" altLang="zh-CN" sz="1600" b="1" dirty="0"/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500" b="1" dirty="0"/>
              <a:t>因为电容的充放电过程较慢，因此单管</a:t>
            </a:r>
            <a:r>
              <a:rPr lang="en-US" altLang="zh-CN" sz="1500" b="1" dirty="0"/>
              <a:t>DRAM</a:t>
            </a:r>
            <a:r>
              <a:rPr lang="zh-CN" altLang="en-US" sz="1500" b="1" dirty="0"/>
              <a:t>的</a:t>
            </a:r>
            <a:r>
              <a:rPr lang="zh-CN" altLang="en-US" sz="1500" b="1" dirty="0">
                <a:solidFill>
                  <a:srgbClr val="C00000"/>
                </a:solidFill>
              </a:rPr>
              <a:t>读写速度比</a:t>
            </a:r>
            <a:r>
              <a:rPr lang="en-US" altLang="zh-CN" sz="1500" b="1" dirty="0"/>
              <a:t>SRAM</a:t>
            </a:r>
            <a:r>
              <a:rPr lang="zh-CN" altLang="en-US" sz="1500" b="1" dirty="0">
                <a:solidFill>
                  <a:srgbClr val="C00000"/>
                </a:solidFill>
              </a:rPr>
              <a:t>慢</a:t>
            </a:r>
            <a:endParaRPr lang="en-US" altLang="zh-CN" sz="1500" b="1" dirty="0">
              <a:solidFill>
                <a:srgbClr val="C00000"/>
              </a:solidFill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500" b="1" dirty="0"/>
              <a:t>单管</a:t>
            </a:r>
            <a:r>
              <a:rPr lang="en-US" altLang="zh-CN" sz="1500" b="1" dirty="0"/>
              <a:t>DRAM</a:t>
            </a:r>
            <a:r>
              <a:rPr lang="zh-CN" altLang="en-US" sz="1500" b="1" dirty="0"/>
              <a:t>读出时，会引起电容电荷的减少，从而破坏原有数据，为避免数据丢失，在读出后需要将数据重新写入，该过程称为</a:t>
            </a:r>
            <a:r>
              <a:rPr lang="zh-CN" altLang="en-US" sz="1500" b="1" dirty="0">
                <a:solidFill>
                  <a:srgbClr val="C00000"/>
                </a:solidFill>
              </a:rPr>
              <a:t>数据恢复（再生）</a:t>
            </a:r>
            <a:endParaRPr lang="en-US" altLang="zh-CN" sz="15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500" b="1" dirty="0">
                <a:solidFill>
                  <a:srgbClr val="C00000"/>
                </a:solidFill>
              </a:rPr>
              <a:t>注：在读操作中，电容器中的电荷通过位线传输到放大器，放大器放大信号并保持原有单元的内容，这个过程不仅读取了存取单元的数据，还通过位线的电压变化恢复电容器的电荷，从而实现了数据的再生和刷新（隐式刷新</a:t>
            </a:r>
            <a:r>
              <a:rPr lang="en-US" altLang="zh-CN" sz="1500" b="1" dirty="0">
                <a:solidFill>
                  <a:srgbClr val="C00000"/>
                </a:solidFill>
              </a:rPr>
              <a:t>:</a:t>
            </a:r>
            <a:r>
              <a:rPr lang="zh-CN" altLang="en-US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读操作带来的被动结果</a:t>
            </a:r>
            <a:r>
              <a:rPr lang="zh-CN" altLang="en-US" sz="1500" b="1" dirty="0">
                <a:solidFill>
                  <a:srgbClr val="C00000"/>
                </a:solidFill>
              </a:rPr>
              <a:t>）</a:t>
            </a:r>
            <a:endParaRPr lang="en-US" altLang="zh-CN" sz="1500" b="1" dirty="0">
              <a:solidFill>
                <a:srgbClr val="C00000"/>
              </a:solidFill>
            </a:endParaRPr>
          </a:p>
          <a:p>
            <a:pPr marL="800100" lvl="1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en-US" sz="1500" b="1" dirty="0"/>
              <a:t>数据恢复以及读出信号需要</a:t>
            </a:r>
            <a:r>
              <a:rPr lang="zh-CN" altLang="en-US" sz="1500" b="1" dirty="0">
                <a:solidFill>
                  <a:srgbClr val="C00000"/>
                </a:solidFill>
              </a:rPr>
              <a:t>再生放大电路</a:t>
            </a:r>
            <a:r>
              <a:rPr lang="zh-CN" altLang="en-US" sz="1500" b="1" dirty="0"/>
              <a:t>，该电路为该列上所有的存储单元共享</a:t>
            </a:r>
            <a:endParaRPr lang="en-US" altLang="zh-CN" sz="1500" b="1" dirty="0"/>
          </a:p>
          <a:p>
            <a:pPr marL="800100" lvl="1" indent="-342900">
              <a:lnSpc>
                <a:spcPct val="150000"/>
              </a:lnSpc>
              <a:buFont typeface="+mj-ea"/>
              <a:buAutoNum type="circleNumDbPlain" startAt="3"/>
            </a:pPr>
            <a:r>
              <a:rPr lang="zh-CN" altLang="en-US" sz="1500" b="1" dirty="0"/>
              <a:t>因为电容上的电荷会逐渐泄露，数据只能保存较短的时间，为避免数据丢失，必须定期采用类似读操作的方式对存储单元补充电荷，这个过程称为</a:t>
            </a:r>
            <a:r>
              <a:rPr lang="zh-CN" altLang="en-US" sz="1500" b="1" dirty="0">
                <a:solidFill>
                  <a:srgbClr val="C00000"/>
                </a:solidFill>
              </a:rPr>
              <a:t>刷新（</a:t>
            </a:r>
            <a:r>
              <a:rPr lang="zh-CN" altLang="en-US" sz="1500" b="1" dirty="0">
                <a:solidFill>
                  <a:srgbClr val="C00000"/>
                </a:solidFill>
                <a:highlight>
                  <a:srgbClr val="FFFF00"/>
                </a:highlight>
              </a:rPr>
              <a:t>防止数据丢失的主动操作</a:t>
            </a:r>
            <a:r>
              <a:rPr lang="zh-CN" altLang="en-US" sz="1500" b="1" dirty="0">
                <a:solidFill>
                  <a:srgbClr val="C00000"/>
                </a:solidFill>
              </a:rPr>
              <a:t>）</a:t>
            </a:r>
            <a:endParaRPr lang="en-US" altLang="zh-CN" sz="15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30809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49BCA-7E5A-410C-BDCB-0CC7350E2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7823"/>
            <a:ext cx="8229600" cy="1143000"/>
          </a:xfrm>
        </p:spPr>
        <p:txBody>
          <a:bodyPr/>
          <a:lstStyle/>
          <a:p>
            <a:r>
              <a:rPr lang="zh-CN" altLang="en-US" dirty="0"/>
              <a:t>再生放大电路与刷新电路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A749A7-0919-4FFD-938F-4052D22C6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92" y="1320823"/>
            <a:ext cx="8229600" cy="52547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再生放大电路</a:t>
            </a:r>
            <a:r>
              <a:rPr lang="zh-CN" altLang="en-US" sz="2000" b="1" dirty="0"/>
              <a:t>：灵敏放大器。像一个“精密天平”能从存储单元微弱的电荷信号中准确分辨出</a:t>
            </a:r>
            <a:r>
              <a:rPr lang="en-US" altLang="zh-CN" sz="2000" b="1" dirty="0"/>
              <a:t>0</a:t>
            </a:r>
            <a:r>
              <a:rPr lang="zh-CN" altLang="en-US" sz="2000" b="1" dirty="0"/>
              <a:t>或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，并自动将信号放大，恢复到满幅电平再写回存储单元。这个“放大并写回”的动作，在物理上就是对一行存储单元的刷新。读操作和刷新命令都会用到它。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刷新电路</a:t>
            </a:r>
            <a:r>
              <a:rPr lang="zh-CN" altLang="en-US" sz="2000" b="1" dirty="0"/>
              <a:t>：是一个控制逻辑系统。负责决定何时刷新、刷新哪一行。典型组成包括：一个刷新计数器（逐行产生行地址）、一个定时器（确保在刷新周期内所有行都被刷新一遍），以及控制刷新操作与正常读写操作冲突时如何仲裁的电路。</a:t>
            </a:r>
            <a:endParaRPr lang="en-US" altLang="zh-CN" sz="2000" b="1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C00000"/>
                </a:solidFill>
              </a:rPr>
              <a:t>两者关系</a:t>
            </a:r>
            <a:r>
              <a:rPr lang="zh-CN" altLang="en-US" sz="2400" b="1" dirty="0"/>
              <a:t>：</a:t>
            </a:r>
            <a:endParaRPr lang="en-US" altLang="zh-CN" sz="24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再生放大电路像</a:t>
            </a:r>
            <a:r>
              <a:rPr lang="zh-CN" altLang="en-US" sz="1600" b="1" dirty="0">
                <a:solidFill>
                  <a:srgbClr val="C00000"/>
                </a:solidFill>
              </a:rPr>
              <a:t>发动机</a:t>
            </a:r>
            <a:r>
              <a:rPr lang="zh-CN" altLang="en-US" sz="1600" b="1" dirty="0"/>
              <a:t>，产生刷新所需动力</a:t>
            </a:r>
            <a:endParaRPr lang="en-US" altLang="zh-CN" sz="16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刷新电路属于</a:t>
            </a:r>
            <a:r>
              <a:rPr lang="zh-CN" altLang="en-US" sz="1600" b="1" dirty="0">
                <a:solidFill>
                  <a:srgbClr val="C00000"/>
                </a:solidFill>
              </a:rPr>
              <a:t>行车电脑</a:t>
            </a:r>
            <a:r>
              <a:rPr lang="zh-CN" altLang="en-US" sz="1600" b="1" dirty="0"/>
              <a:t>，负责决定什么时候启动，该走哪条路，多久保养一次。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911416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FCAFCF-185B-4D4C-A387-447A8FDAB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B6CAFF-7B0C-465E-BDD5-7CC3DF3EB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192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    1</a:t>
            </a:r>
            <a:r>
              <a:rPr lang="zh-CN" altLang="en-US" sz="2400" b="1" dirty="0"/>
              <a:t>、单管动态</a:t>
            </a:r>
            <a:r>
              <a:rPr lang="en-US" altLang="zh-CN" sz="2400" b="1" dirty="0"/>
              <a:t>MOS</a:t>
            </a:r>
            <a:r>
              <a:rPr lang="zh-CN" altLang="en-US" sz="2400" b="1" dirty="0"/>
              <a:t>存储单元</a:t>
            </a:r>
            <a:endParaRPr lang="en-US" altLang="zh-CN" sz="2400" b="1" dirty="0"/>
          </a:p>
          <a:p>
            <a:endParaRPr lang="zh-CN" altLang="en-US" sz="2800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2B2B376-4ED4-48A3-B63B-91D514DFE1C0}"/>
              </a:ext>
            </a:extLst>
          </p:cNvPr>
          <p:cNvGrpSpPr/>
          <p:nvPr/>
        </p:nvGrpSpPr>
        <p:grpSpPr>
          <a:xfrm>
            <a:off x="5425135" y="2420888"/>
            <a:ext cx="3384376" cy="3271280"/>
            <a:chOff x="3563888" y="4509120"/>
            <a:chExt cx="2520280" cy="2340733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37C9D53-2543-4ECA-A366-9A38DE7D9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35896" y="4509120"/>
              <a:ext cx="2007724" cy="2121138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70269E1-784A-426D-B4DB-46DF9345B024}"/>
                </a:ext>
              </a:extLst>
            </p:cNvPr>
            <p:cNvSpPr txBox="1"/>
            <p:nvPr/>
          </p:nvSpPr>
          <p:spPr>
            <a:xfrm>
              <a:off x="3563888" y="6603632"/>
              <a:ext cx="252028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b="1" dirty="0"/>
                <a:t>图</a:t>
              </a:r>
              <a:r>
                <a:rPr lang="en-US" altLang="zh-CN" sz="1000" b="1" dirty="0"/>
                <a:t>4.13    </a:t>
              </a:r>
              <a:r>
                <a:rPr lang="zh-CN" altLang="en-US" sz="1000" b="1" dirty="0"/>
                <a:t>单管</a:t>
              </a:r>
              <a:r>
                <a:rPr lang="en-US" altLang="zh-CN" sz="1000" b="1" dirty="0"/>
                <a:t>DRAM</a:t>
              </a:r>
              <a:r>
                <a:rPr lang="zh-CN" altLang="en-US" sz="1000" b="1" dirty="0"/>
                <a:t>内部电路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E4545CA-1801-458F-B253-1C4BC58A3E9E}"/>
              </a:ext>
            </a:extLst>
          </p:cNvPr>
          <p:cNvSpPr txBox="1"/>
          <p:nvPr/>
        </p:nvSpPr>
        <p:spPr>
          <a:xfrm>
            <a:off x="323528" y="2160063"/>
            <a:ext cx="5035308" cy="3271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zh-CN" altLang="en-US" sz="2000" b="1" dirty="0"/>
              <a:t>如图</a:t>
            </a:r>
            <a:r>
              <a:rPr lang="en-US" altLang="zh-CN" sz="2000" b="1" dirty="0"/>
              <a:t>4.13</a:t>
            </a:r>
            <a:r>
              <a:rPr lang="zh-CN" altLang="en-US" sz="2000" b="1" dirty="0"/>
              <a:t>所示，与</a:t>
            </a:r>
            <a:r>
              <a:rPr lang="en-US" altLang="zh-CN" sz="2000" b="1" dirty="0"/>
              <a:t>SRAM</a:t>
            </a:r>
            <a:r>
              <a:rPr lang="zh-CN" altLang="en-US" sz="2000" b="1" dirty="0"/>
              <a:t>类似，包含两条对称的位线，每一列包含共享的预充电路和读出放大再生电路，其由</a:t>
            </a:r>
            <a:r>
              <a:rPr lang="en-US" altLang="zh-CN" sz="2000" b="1" dirty="0"/>
              <a:t>4</a:t>
            </a:r>
            <a:r>
              <a:rPr lang="zh-CN" altLang="en-US" sz="2000" b="1" dirty="0"/>
              <a:t>个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管构成，类似一个跷跷板，</a:t>
            </a:r>
            <a:r>
              <a:rPr lang="zh-CN" altLang="en-US" sz="2000" b="1" dirty="0">
                <a:solidFill>
                  <a:srgbClr val="C00000"/>
                </a:solidFill>
              </a:rPr>
              <a:t>当位线上的电压存在微弱电压差时，跷跷板平衡打破，电压略高一端变成稳定的高电平‘</a:t>
            </a:r>
            <a:r>
              <a:rPr lang="en-US" altLang="zh-CN" sz="2000" b="1" dirty="0">
                <a:solidFill>
                  <a:srgbClr val="C00000"/>
                </a:solidFill>
              </a:rPr>
              <a:t>1</a:t>
            </a:r>
            <a:r>
              <a:rPr lang="zh-CN" altLang="en-US" sz="2000" b="1" dirty="0">
                <a:solidFill>
                  <a:srgbClr val="C00000"/>
                </a:solidFill>
              </a:rPr>
              <a:t>’，另一端变成‘</a:t>
            </a:r>
            <a:r>
              <a:rPr lang="en-US" altLang="zh-CN" sz="2000" b="1" dirty="0">
                <a:solidFill>
                  <a:srgbClr val="C00000"/>
                </a:solidFill>
              </a:rPr>
              <a:t>0</a:t>
            </a:r>
            <a:r>
              <a:rPr lang="zh-CN" altLang="en-US" sz="2000" b="1" dirty="0">
                <a:solidFill>
                  <a:srgbClr val="C00000"/>
                </a:solidFill>
              </a:rPr>
              <a:t>’</a:t>
            </a:r>
            <a:r>
              <a:rPr lang="zh-CN" altLang="en-US" sz="2000" b="1" dirty="0"/>
              <a:t>。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5558897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7070F-269F-439F-8E0D-B8F741CA1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0039" y="1166018"/>
            <a:ext cx="5236097" cy="5691982"/>
          </a:xfrm>
        </p:spPr>
        <p:txBody>
          <a:bodyPr/>
          <a:lstStyle/>
          <a:p>
            <a:pPr marL="457200" lvl="1" indent="0" eaLnBrk="1" hangingPunct="1">
              <a:buNone/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、单管</a:t>
            </a:r>
            <a:r>
              <a:rPr lang="en-US" altLang="zh-CN" sz="2400" b="1" dirty="0"/>
              <a:t>DRAM</a:t>
            </a:r>
            <a:r>
              <a:rPr lang="zh-CN" altLang="en-US" sz="2400" b="1" dirty="0"/>
              <a:t>工作原理</a:t>
            </a:r>
            <a:endParaRPr lang="en-US" altLang="zh-CN" sz="2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读操作</a:t>
            </a:r>
            <a:r>
              <a:rPr lang="zh-CN" altLang="en-US" sz="1600" b="1" dirty="0"/>
              <a:t>：预充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访问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检测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恢复</a:t>
            </a:r>
            <a:r>
              <a:rPr lang="en-US" altLang="zh-CN" sz="1600" b="1" dirty="0"/>
              <a:t>-&gt;</a:t>
            </a:r>
            <a:r>
              <a:rPr lang="zh-CN" altLang="en-US" sz="1600" b="1" dirty="0"/>
              <a:t>读出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行选通和列选通信号使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与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导通；如果电容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上有电荷（表示存放的是“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”），则使输出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为高电平（表示读出“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”）；如果如果电容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上无电荷（表示存放的是“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”），则使输出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为低电平（表示读出“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”）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注：行选和列选并不同时给出，</a:t>
            </a:r>
            <a:r>
              <a:rPr lang="en-US" altLang="zh-CN" sz="1600" b="1" dirty="0">
                <a:highlight>
                  <a:srgbClr val="FFFF00"/>
                </a:highlight>
              </a:rPr>
              <a:t>DRAM</a:t>
            </a:r>
            <a:r>
              <a:rPr lang="zh-CN" altLang="en-US" sz="1600" b="1" dirty="0">
                <a:highlight>
                  <a:srgbClr val="FFFF00"/>
                </a:highlight>
              </a:rPr>
              <a:t>通常将行列地址复用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>
              <a:lnSpc>
                <a:spcPct val="150000"/>
              </a:lnSpc>
            </a:pPr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写操作</a:t>
            </a:r>
            <a:r>
              <a:rPr lang="zh-CN" altLang="en-US" sz="1600" b="1" dirty="0"/>
              <a:t>：行选通和列选通信号使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与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导通；如果是写“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”，则输入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上的高电平将对电容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充电（表示写入“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”）；如果是写“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”，则输入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上的低电平将对电容</a:t>
            </a:r>
            <a:r>
              <a:rPr lang="en-US" altLang="zh-CN" sz="1600" b="1" dirty="0"/>
              <a:t>C</a:t>
            </a:r>
            <a:r>
              <a:rPr lang="zh-CN" altLang="en-US" sz="1600" b="1" dirty="0"/>
              <a:t>放电（表示写入“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”）</a:t>
            </a:r>
            <a:endParaRPr lang="en-US" altLang="zh-CN" sz="1600" b="1" dirty="0"/>
          </a:p>
          <a:p>
            <a:pPr marL="457200" lvl="1" indent="0" eaLnBrk="1" hangingPunct="1">
              <a:buNone/>
            </a:pPr>
            <a:endParaRPr lang="en-US" altLang="zh-CN" sz="16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B5A69E8-6A8E-46F6-85D1-CE923618D1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7" y="1720354"/>
            <a:ext cx="3029913" cy="320106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E4815D2-6618-489D-AB2C-BA79BD58ED68}"/>
              </a:ext>
            </a:extLst>
          </p:cNvPr>
          <p:cNvSpPr txBox="1"/>
          <p:nvPr/>
        </p:nvSpPr>
        <p:spPr>
          <a:xfrm>
            <a:off x="6069950" y="5189710"/>
            <a:ext cx="2520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/>
              <a:t>图</a:t>
            </a:r>
            <a:r>
              <a:rPr lang="en-US" altLang="zh-CN" sz="1400" b="1" dirty="0"/>
              <a:t>4.13    </a:t>
            </a:r>
            <a:r>
              <a:rPr lang="zh-CN" altLang="en-US" sz="1400" b="1" dirty="0"/>
              <a:t>单管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内部电路</a:t>
            </a:r>
          </a:p>
        </p:txBody>
      </p:sp>
    </p:spTree>
    <p:extLst>
      <p:ext uri="{BB962C8B-B14F-4D97-AF65-F5344CB8AC3E}">
        <p14:creationId xmlns:p14="http://schemas.microsoft.com/office/powerpoint/2010/main" val="41416383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B55976-9706-450E-AEE1-E3777C66C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42126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8"/>
            <a:ext cx="8229600" cy="5691982"/>
          </a:xfrm>
        </p:spPr>
        <p:txBody>
          <a:bodyPr/>
          <a:lstStyle/>
          <a:p>
            <a:pPr marL="457200" lvl="1" indent="0" eaLnBrk="1" hangingPunct="1">
              <a:buNone/>
            </a:pPr>
            <a:r>
              <a:rPr lang="en-US" altLang="zh-CN" sz="2000" b="1" dirty="0"/>
              <a:t>3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存储的刷新</a:t>
            </a:r>
            <a:endParaRPr lang="en-US" altLang="zh-CN" sz="2000" b="1" dirty="0"/>
          </a:p>
          <a:p>
            <a:pPr lvl="1" eaLnBrk="1" hangingPunct="1"/>
            <a:r>
              <a:rPr lang="zh-CN" altLang="en-US" sz="1600" b="1" dirty="0"/>
              <a:t>因为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电容上的电荷会逐渐泄露，数据只能保存较短的时间，为避免数据丢失，必须定期采用</a:t>
            </a:r>
            <a:r>
              <a:rPr lang="zh-CN" altLang="en-US" sz="1600" b="1" dirty="0">
                <a:highlight>
                  <a:srgbClr val="FFFF00"/>
                </a:highlight>
              </a:rPr>
              <a:t>类似读操作的方式</a:t>
            </a:r>
            <a:r>
              <a:rPr lang="zh-CN" altLang="en-US" sz="1600" b="1" dirty="0"/>
              <a:t>对存储单元补充电荷，这个过程称为</a:t>
            </a:r>
            <a:r>
              <a:rPr lang="zh-CN" altLang="en-US" sz="1600" b="1" dirty="0">
                <a:solidFill>
                  <a:srgbClr val="C00000"/>
                </a:solidFill>
              </a:rPr>
              <a:t>刷新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最大刷新周期</a:t>
            </a:r>
            <a:r>
              <a:rPr lang="zh-CN" altLang="en-US" sz="1600" b="1" dirty="0"/>
              <a:t>：信息存储到数据丢失之前的时间称为最大刷新周期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刷新周期</a:t>
            </a:r>
            <a:r>
              <a:rPr lang="zh-CN" altLang="en-US" sz="1600" b="1" dirty="0"/>
              <a:t>：存储器实际完成两次完整刷新之间的时间间隔，常见的有</a:t>
            </a:r>
            <a:r>
              <a:rPr lang="en-US" altLang="zh-CN" sz="1600" b="1" dirty="0"/>
              <a:t>2ms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4ms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8ms</a:t>
            </a:r>
            <a:r>
              <a:rPr lang="zh-CN" altLang="en-US" sz="1600" b="1" dirty="0"/>
              <a:t>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DRAM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刷新是按行进行</a:t>
            </a:r>
            <a:r>
              <a:rPr lang="zh-CN" altLang="en-US" sz="1600" b="1" dirty="0"/>
              <a:t>的，每次完成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行的刷新，刷新操作只需要给出存储器的行地址，不需要给出存储器的列地址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内存争用：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刷新是由内存控制器完成，此时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不能访问存储器，称为内存争用问题（也称</a:t>
            </a:r>
            <a:r>
              <a:rPr lang="zh-CN" altLang="en-US" sz="1600" b="1" dirty="0">
                <a:solidFill>
                  <a:srgbClr val="C00000"/>
                </a:solidFill>
              </a:rPr>
              <a:t>死区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/>
              <a:t>常见的刷新方式：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集中刷新方式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分散刷新方式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异步刷新方式</a:t>
            </a:r>
            <a:endParaRPr lang="en-US" altLang="zh-CN" sz="1400" b="1" dirty="0"/>
          </a:p>
          <a:p>
            <a:pPr lvl="1" eaLnBrk="1" hangingPunct="1"/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/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0250935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组合 27">
            <a:extLst>
              <a:ext uri="{FF2B5EF4-FFF2-40B4-BE49-F238E27FC236}">
                <a16:creationId xmlns:a16="http://schemas.microsoft.com/office/drawing/2014/main" id="{97A4EAB9-05DC-47C8-8A9C-574D5E2E9C4F}"/>
              </a:ext>
            </a:extLst>
          </p:cNvPr>
          <p:cNvGrpSpPr/>
          <p:nvPr/>
        </p:nvGrpSpPr>
        <p:grpSpPr>
          <a:xfrm>
            <a:off x="107505" y="1052736"/>
            <a:ext cx="6034734" cy="5302480"/>
            <a:chOff x="107505" y="1206044"/>
            <a:chExt cx="6034734" cy="5302480"/>
          </a:xfrm>
        </p:grpSpPr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DBE5D0B7-827A-454D-8BE1-F787CC75920B}"/>
                </a:ext>
              </a:extLst>
            </p:cNvPr>
            <p:cNvGrpSpPr/>
            <p:nvPr/>
          </p:nvGrpSpPr>
          <p:grpSpPr>
            <a:xfrm>
              <a:off x="107505" y="1206044"/>
              <a:ext cx="6034734" cy="5302480"/>
              <a:chOff x="107505" y="1206044"/>
              <a:chExt cx="6034734" cy="5302480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A7F17C34-FB61-408A-B1B8-D45C5AC5ECBE}"/>
                  </a:ext>
                </a:extLst>
              </p:cNvPr>
              <p:cNvGrpSpPr/>
              <p:nvPr/>
            </p:nvGrpSpPr>
            <p:grpSpPr>
              <a:xfrm>
                <a:off x="107505" y="1206044"/>
                <a:ext cx="6034734" cy="5302480"/>
                <a:chOff x="107504" y="1207785"/>
                <a:chExt cx="6034734" cy="5302480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798657C3-F6CE-4122-B91B-67AD878E123E}"/>
                    </a:ext>
                  </a:extLst>
                </p:cNvPr>
                <p:cNvGrpSpPr/>
                <p:nvPr/>
              </p:nvGrpSpPr>
              <p:grpSpPr>
                <a:xfrm>
                  <a:off x="107504" y="1207785"/>
                  <a:ext cx="6034734" cy="5302480"/>
                  <a:chOff x="755576" y="1207785"/>
                  <a:chExt cx="6034734" cy="5302480"/>
                </a:xfrm>
              </p:grpSpPr>
              <p:pic>
                <p:nvPicPr>
                  <p:cNvPr id="5" name="图片 4">
                    <a:extLst>
                      <a:ext uri="{FF2B5EF4-FFF2-40B4-BE49-F238E27FC236}">
                        <a16:creationId xmlns:a16="http://schemas.microsoft.com/office/drawing/2014/main" id="{4C4C11CA-07CB-4B9C-A6C5-F530F60674C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755576" y="1207785"/>
                    <a:ext cx="5831410" cy="1471556"/>
                  </a:xfrm>
                  <a:prstGeom prst="rect">
                    <a:avLst/>
                  </a:prstGeom>
                </p:spPr>
              </p:pic>
              <p:pic>
                <p:nvPicPr>
                  <p:cNvPr id="7" name="图片 6">
                    <a:extLst>
                      <a:ext uri="{FF2B5EF4-FFF2-40B4-BE49-F238E27FC236}">
                        <a16:creationId xmlns:a16="http://schemas.microsoft.com/office/drawing/2014/main" id="{D772643A-82F4-4585-9725-C2678932FD9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755576" y="3152001"/>
                    <a:ext cx="5819142" cy="1471556"/>
                  </a:xfrm>
                  <a:prstGeom prst="rect">
                    <a:avLst/>
                  </a:prstGeom>
                </p:spPr>
              </p:pic>
              <p:pic>
                <p:nvPicPr>
                  <p:cNvPr id="9" name="图片 8">
                    <a:extLst>
                      <a:ext uri="{FF2B5EF4-FFF2-40B4-BE49-F238E27FC236}">
                        <a16:creationId xmlns:a16="http://schemas.microsoft.com/office/drawing/2014/main" id="{C3458B65-C8D8-4B58-95EE-BF9D9640E3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27584" y="5085184"/>
                    <a:ext cx="5962726" cy="1193410"/>
                  </a:xfrm>
                  <a:prstGeom prst="rect">
                    <a:avLst/>
                  </a:prstGeom>
                </p:spPr>
              </p:pic>
              <p:sp>
                <p:nvSpPr>
                  <p:cNvPr id="11" name="文本框 10">
                    <a:extLst>
                      <a:ext uri="{FF2B5EF4-FFF2-40B4-BE49-F238E27FC236}">
                        <a16:creationId xmlns:a16="http://schemas.microsoft.com/office/drawing/2014/main" id="{2E4F9DA4-0ABD-4C8E-B372-ABB0A2809378}"/>
                      </a:ext>
                    </a:extLst>
                  </p:cNvPr>
                  <p:cNvSpPr txBox="1"/>
                  <p:nvPr/>
                </p:nvSpPr>
                <p:spPr>
                  <a:xfrm>
                    <a:off x="3017075" y="2577678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集中刷新方式</a:t>
                    </a:r>
                  </a:p>
                </p:txBody>
              </p:sp>
              <p:sp>
                <p:nvSpPr>
                  <p:cNvPr id="12" name="文本框 11">
                    <a:extLst>
                      <a:ext uri="{FF2B5EF4-FFF2-40B4-BE49-F238E27FC236}">
                        <a16:creationId xmlns:a16="http://schemas.microsoft.com/office/drawing/2014/main" id="{9DAE1E71-5F42-4509-A598-34DBA081AE28}"/>
                      </a:ext>
                    </a:extLst>
                  </p:cNvPr>
                  <p:cNvSpPr txBox="1"/>
                  <p:nvPr/>
                </p:nvSpPr>
                <p:spPr>
                  <a:xfrm>
                    <a:off x="3018580" y="4521894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分散刷新方式</a:t>
                    </a:r>
                  </a:p>
                </p:txBody>
              </p:sp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2177718A-6F8A-494B-8BB1-D032B4A136B2}"/>
                      </a:ext>
                    </a:extLst>
                  </p:cNvPr>
                  <p:cNvSpPr txBox="1"/>
                  <p:nvPr/>
                </p:nvSpPr>
                <p:spPr>
                  <a:xfrm>
                    <a:off x="3059832" y="6233266"/>
                    <a:ext cx="1296144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zh-CN" altLang="en-US" sz="1200" b="1" dirty="0">
                        <a:solidFill>
                          <a:srgbClr val="C00000"/>
                        </a:solidFill>
                      </a:rPr>
                      <a:t>异步刷新方式</a:t>
                    </a:r>
                  </a:p>
                </p:txBody>
              </p:sp>
            </p:grp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039A45A7-297A-4292-80C0-BB34E98817F4}"/>
                    </a:ext>
                  </a:extLst>
                </p:cNvPr>
                <p:cNvSpPr txBox="1"/>
                <p:nvPr/>
              </p:nvSpPr>
              <p:spPr>
                <a:xfrm>
                  <a:off x="755576" y="2096343"/>
                  <a:ext cx="498339" cy="25391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50" b="1" dirty="0"/>
                    <a:t>0.5</a:t>
                  </a:r>
                  <a:r>
                    <a:rPr lang="el-GR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μ</a:t>
                  </a:r>
                  <a:r>
                    <a:rPr lang="en-US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s</a:t>
                  </a:r>
                  <a:endParaRPr lang="zh-CN" altLang="en-US" sz="1050" dirty="0"/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A75445EF-C823-4144-A7A6-580D7B8E74D2}"/>
                    </a:ext>
                  </a:extLst>
                </p:cNvPr>
                <p:cNvSpPr txBox="1"/>
                <p:nvPr/>
              </p:nvSpPr>
              <p:spPr>
                <a:xfrm>
                  <a:off x="3048473" y="2096343"/>
                  <a:ext cx="498339" cy="253916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r>
                    <a:rPr lang="en-US" altLang="zh-CN" sz="1050" b="1" dirty="0"/>
                    <a:t>0.5</a:t>
                  </a:r>
                  <a:r>
                    <a:rPr lang="el-GR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μ</a:t>
                  </a:r>
                  <a:r>
                    <a:rPr lang="en-US" altLang="zh-CN" sz="1050" b="1" dirty="0">
                      <a:latin typeface="等线" panose="02010600030101010101" pitchFamily="2" charset="-122"/>
                      <a:ea typeface="等线" panose="02010600030101010101" pitchFamily="2" charset="-122"/>
                    </a:rPr>
                    <a:t>s</a:t>
                  </a:r>
                  <a:endParaRPr lang="zh-CN" altLang="en-US" sz="1050" dirty="0"/>
                </a:p>
              </p:txBody>
            </p:sp>
          </p:grp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BBFF598-194D-41F4-9093-2DFE4C178DEA}"/>
                  </a:ext>
                </a:extLst>
              </p:cNvPr>
              <p:cNvSpPr txBox="1"/>
              <p:nvPr/>
            </p:nvSpPr>
            <p:spPr>
              <a:xfrm>
                <a:off x="771524" y="4021012"/>
                <a:ext cx="498339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050" b="1" dirty="0"/>
                  <a:t>0.5</a:t>
                </a:r>
                <a:r>
                  <a:rPr lang="el-GR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μ</a:t>
                </a:r>
                <a:r>
                  <a:rPr lang="en-US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s</a:t>
                </a:r>
                <a:endParaRPr lang="zh-CN" altLang="en-US" sz="1050" dirty="0"/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6C0D248D-B6D5-4783-8C8F-91FEF6B99366}"/>
                  </a:ext>
                </a:extLst>
              </p:cNvPr>
              <p:cNvSpPr txBox="1"/>
              <p:nvPr/>
            </p:nvSpPr>
            <p:spPr>
              <a:xfrm>
                <a:off x="1353305" y="4017916"/>
                <a:ext cx="498339" cy="25391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zh-CN" sz="1050" b="1" dirty="0"/>
                  <a:t>0.5</a:t>
                </a:r>
                <a:r>
                  <a:rPr lang="el-GR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μ</a:t>
                </a:r>
                <a:r>
                  <a:rPr lang="en-US" altLang="zh-CN" sz="1050" b="1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s</a:t>
                </a:r>
                <a:endParaRPr lang="zh-CN" altLang="en-US" sz="1050" dirty="0"/>
              </a:p>
            </p:txBody>
          </p:sp>
        </p:grp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30F5796-9BA0-4021-B810-99330B236DB5}"/>
                </a:ext>
              </a:extLst>
            </p:cNvPr>
            <p:cNvSpPr txBox="1"/>
            <p:nvPr/>
          </p:nvSpPr>
          <p:spPr>
            <a:xfrm>
              <a:off x="827584" y="5716628"/>
              <a:ext cx="498339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050" b="1" dirty="0"/>
                <a:t>0.5</a:t>
              </a:r>
              <a:r>
                <a:rPr lang="el-GR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μ</a:t>
              </a:r>
              <a:r>
                <a:rPr lang="en-US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s</a:t>
              </a:r>
              <a:endParaRPr lang="zh-CN" altLang="en-US" sz="105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559A502B-BAAB-4EE0-AE10-494B2AD5964F}"/>
                </a:ext>
              </a:extLst>
            </p:cNvPr>
            <p:cNvSpPr txBox="1"/>
            <p:nvPr/>
          </p:nvSpPr>
          <p:spPr>
            <a:xfrm>
              <a:off x="2633501" y="5722624"/>
              <a:ext cx="498339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zh-CN" sz="1050" b="1" dirty="0"/>
                <a:t>0.5</a:t>
              </a:r>
              <a:r>
                <a:rPr lang="el-GR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μ</a:t>
              </a:r>
              <a:r>
                <a:rPr lang="en-US" altLang="zh-CN" sz="1050" b="1" dirty="0">
                  <a:latin typeface="等线" panose="02010600030101010101" pitchFamily="2" charset="-122"/>
                  <a:ea typeface="等线" panose="02010600030101010101" pitchFamily="2" charset="-122"/>
                </a:rPr>
                <a:t>s</a:t>
              </a:r>
              <a:endParaRPr lang="zh-CN" altLang="en-US" sz="1050" dirty="0"/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6AD9CEB3-C548-4C5A-BF2D-42DCFECB3CD8}"/>
              </a:ext>
            </a:extLst>
          </p:cNvPr>
          <p:cNvSpPr txBox="1"/>
          <p:nvPr/>
        </p:nvSpPr>
        <p:spPr>
          <a:xfrm>
            <a:off x="5956590" y="1003684"/>
            <a:ext cx="2678234" cy="156966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优点：读写操作期间不受刷新操作的影响，因此存储器的速度比较快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缺点：存在较长时间的“死区”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死区率</a:t>
            </a:r>
            <a:r>
              <a:rPr lang="en-US" altLang="zh-CN" sz="1200" b="1" dirty="0"/>
              <a:t>=128/4000=3.2%</a:t>
            </a:r>
          </a:p>
          <a:p>
            <a:endParaRPr lang="en-US" altLang="zh-CN" sz="1200" b="1" dirty="0"/>
          </a:p>
          <a:p>
            <a:r>
              <a:rPr lang="en-US" altLang="zh-CN" sz="1200" b="1" dirty="0"/>
              <a:t>4000=2ms/0.5</a:t>
            </a:r>
            <a:r>
              <a:rPr lang="el-GR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endParaRPr lang="zh-CN" altLang="en-US" sz="1200" b="1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239CC4-5A61-462D-B5DD-9C46A858D1C2}"/>
              </a:ext>
            </a:extLst>
          </p:cNvPr>
          <p:cNvSpPr txBox="1"/>
          <p:nvPr/>
        </p:nvSpPr>
        <p:spPr>
          <a:xfrm>
            <a:off x="5938915" y="3114567"/>
            <a:ext cx="2672079" cy="120032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优点：不存在“死区”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缺点：存储周期增加（存储周期</a:t>
            </a:r>
            <a:r>
              <a:rPr lang="en-US" altLang="zh-CN" sz="1200" b="1" dirty="0"/>
              <a:t>=1</a:t>
            </a:r>
            <a:r>
              <a:rPr lang="el-GR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），降低存储器的速度</a:t>
            </a:r>
            <a:endParaRPr lang="en-US" altLang="zh-CN" sz="1200" b="1" dirty="0"/>
          </a:p>
          <a:p>
            <a:r>
              <a:rPr lang="zh-CN" altLang="en-US" sz="1200" b="1" dirty="0"/>
              <a:t>刷新太过频繁</a:t>
            </a:r>
            <a:endParaRPr lang="en-US" altLang="zh-CN" sz="1200" b="1" dirty="0"/>
          </a:p>
          <a:p>
            <a:r>
              <a:rPr lang="zh-CN" altLang="en-US" sz="1200" b="1" dirty="0"/>
              <a:t>刷新周期是</a:t>
            </a:r>
            <a:r>
              <a:rPr lang="en-US" altLang="zh-CN" sz="1200" b="1" dirty="0">
                <a:highlight>
                  <a:srgbClr val="FFFF00"/>
                </a:highlight>
              </a:rPr>
              <a:t>128*1us=128us&lt;2ms</a:t>
            </a:r>
            <a:endParaRPr lang="zh-CN" altLang="en-US" sz="1200" b="1" dirty="0">
              <a:highlight>
                <a:srgbClr val="FFFF00"/>
              </a:highlight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ABBA58-18FE-4A35-A254-976452071FC2}"/>
              </a:ext>
            </a:extLst>
          </p:cNvPr>
          <p:cNvSpPr txBox="1"/>
          <p:nvPr/>
        </p:nvSpPr>
        <p:spPr>
          <a:xfrm>
            <a:off x="5906196" y="4766464"/>
            <a:ext cx="2914276" cy="193899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是集中刷新方式和分散刷新方式的结合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既没有增加存储周期，也没有较长时间的“死区”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zh-CN" altLang="en-US" sz="1200" b="1" dirty="0"/>
              <a:t>是常用的刷新方式</a:t>
            </a:r>
            <a:endParaRPr lang="en-US" altLang="zh-CN" sz="1200" b="1" dirty="0"/>
          </a:p>
          <a:p>
            <a:r>
              <a:rPr lang="zh-CN" altLang="en-US" sz="1200" b="1" dirty="0"/>
              <a:t>保证</a:t>
            </a:r>
            <a:r>
              <a:rPr lang="en-US" altLang="zh-CN" sz="1200" b="1" dirty="0"/>
              <a:t>2ms</a:t>
            </a:r>
            <a:r>
              <a:rPr lang="zh-CN" altLang="en-US" sz="1200" b="1" dirty="0"/>
              <a:t>内刷新一次就好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>
                <a:highlight>
                  <a:srgbClr val="FFFF00"/>
                </a:highlight>
              </a:rPr>
              <a:t>2ms/128=15.625</a:t>
            </a:r>
            <a:r>
              <a:rPr lang="el-GR" altLang="zh-CN" sz="120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20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s≈15.5</a:t>
            </a:r>
            <a:r>
              <a:rPr lang="el-GR" altLang="zh-CN" sz="120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μ</a:t>
            </a:r>
            <a:r>
              <a:rPr lang="en-US" altLang="zh-CN" sz="1200" b="1" dirty="0">
                <a:highlight>
                  <a:srgbClr val="FFFF00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s</a:t>
            </a:r>
            <a:endParaRPr lang="zh-CN" altLang="en-US" sz="1200" b="1" dirty="0">
              <a:highlight>
                <a:srgbClr val="FFFF00"/>
              </a:highlight>
            </a:endParaRPr>
          </a:p>
          <a:p>
            <a:endParaRPr lang="zh-CN" altLang="en-US" sz="12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76231E-ED8F-43E6-8339-EE67AF9E7E1D}"/>
              </a:ext>
            </a:extLst>
          </p:cNvPr>
          <p:cNvSpPr txBox="1"/>
          <p:nvPr/>
        </p:nvSpPr>
        <p:spPr>
          <a:xfrm>
            <a:off x="877707" y="260648"/>
            <a:ext cx="4278735" cy="60016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1100" b="1" dirty="0">
                <a:latin typeface="+mn-lt"/>
              </a:rPr>
              <a:t>假设</a:t>
            </a:r>
            <a:r>
              <a:rPr lang="en-US" altLang="zh-CN" sz="1100" b="1" dirty="0">
                <a:latin typeface="+mn-lt"/>
              </a:rPr>
              <a:t>DRAM</a:t>
            </a:r>
            <a:r>
              <a:rPr lang="zh-CN" altLang="en-US" sz="1100" b="1" dirty="0">
                <a:latin typeface="+mn-lt"/>
              </a:rPr>
              <a:t>存储体为</a:t>
            </a:r>
            <a:r>
              <a:rPr lang="en-US" altLang="zh-CN" sz="1100" b="1" dirty="0">
                <a:latin typeface="+mn-lt"/>
              </a:rPr>
              <a:t>128</a:t>
            </a:r>
            <a:r>
              <a:rPr lang="zh-CN" altLang="en-US" sz="1100" b="1" dirty="0">
                <a:latin typeface="+mn-lt"/>
              </a:rPr>
              <a:t>行</a:t>
            </a:r>
            <a:r>
              <a:rPr lang="en-US" altLang="zh-CN" sz="1100" b="1" dirty="0">
                <a:latin typeface="+mn-lt"/>
              </a:rPr>
              <a:t>x128</a:t>
            </a:r>
            <a:r>
              <a:rPr lang="zh-CN" altLang="en-US" sz="1100" b="1" dirty="0">
                <a:latin typeface="+mn-lt"/>
              </a:rPr>
              <a:t>列的结构，存储器的读写周期</a:t>
            </a:r>
            <a:r>
              <a:rPr lang="en-US" altLang="zh-CN" sz="1100" b="1" dirty="0">
                <a:latin typeface="+mn-lt"/>
              </a:rPr>
              <a:t>=0.5</a:t>
            </a:r>
            <a:r>
              <a:rPr lang="el-GR" altLang="zh-CN" sz="1100" b="1" dirty="0">
                <a:latin typeface="+mn-lt"/>
                <a:ea typeface="等线" panose="02010600030101010101" pitchFamily="2" charset="-122"/>
              </a:rPr>
              <a:t>μ</a:t>
            </a:r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s</a:t>
            </a:r>
          </a:p>
          <a:p>
            <a:endParaRPr lang="en-US" altLang="zh-CN" sz="1100" b="1" dirty="0">
              <a:latin typeface="+mn-lt"/>
              <a:ea typeface="等线" panose="02010600030101010101" pitchFamily="2" charset="-122"/>
            </a:endParaRPr>
          </a:p>
          <a:p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2ms</a:t>
            </a:r>
            <a:r>
              <a:rPr lang="zh-CN" altLang="en-US" sz="1100" b="1" dirty="0">
                <a:latin typeface="+mn-lt"/>
                <a:ea typeface="等线" panose="02010600030101010101" pitchFamily="2" charset="-122"/>
              </a:rPr>
              <a:t>内需要完成</a:t>
            </a:r>
            <a:r>
              <a:rPr lang="en-US" altLang="zh-CN" sz="1100" b="1" dirty="0">
                <a:latin typeface="+mn-lt"/>
                <a:ea typeface="等线" panose="02010600030101010101" pitchFamily="2" charset="-122"/>
              </a:rPr>
              <a:t>128</a:t>
            </a:r>
            <a:r>
              <a:rPr lang="zh-CN" altLang="en-US" sz="1100" b="1" dirty="0">
                <a:latin typeface="+mn-lt"/>
                <a:ea typeface="等线" panose="02010600030101010101" pitchFamily="2" charset="-122"/>
              </a:rPr>
              <a:t>行的刷新</a:t>
            </a:r>
            <a:endParaRPr lang="zh-CN" altLang="en-US" sz="1100" b="1" dirty="0">
              <a:latin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C3CED06-5BED-49B0-9E71-A2568150695B}"/>
              </a:ext>
            </a:extLst>
          </p:cNvPr>
          <p:cNvSpPr txBox="1"/>
          <p:nvPr/>
        </p:nvSpPr>
        <p:spPr>
          <a:xfrm>
            <a:off x="2267744" y="6505599"/>
            <a:ext cx="1923925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4.14    </a:t>
            </a:r>
            <a:r>
              <a:rPr lang="zh-CN" altLang="en-US" sz="1400" b="1" dirty="0"/>
              <a:t>刷新时间分配</a:t>
            </a:r>
          </a:p>
        </p:txBody>
      </p:sp>
    </p:spTree>
    <p:extLst>
      <p:ext uri="{BB962C8B-B14F-4D97-AF65-F5344CB8AC3E}">
        <p14:creationId xmlns:p14="http://schemas.microsoft.com/office/powerpoint/2010/main" val="11784321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ED658-A77E-410D-A269-691B4D64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　动态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</a:rPr>
              <a:t>MOS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</a:rPr>
              <a:t>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75955"/>
            <a:ext cx="8229600" cy="2846222"/>
          </a:xfrm>
        </p:spPr>
        <p:txBody>
          <a:bodyPr/>
          <a:lstStyle/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存储芯片举例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400" b="1" dirty="0"/>
              <a:t>Intel 2116</a:t>
            </a:r>
            <a:r>
              <a:rPr lang="zh-CN" altLang="en-US" sz="1400" b="1" dirty="0"/>
              <a:t>：是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公司生产的容量为</a:t>
            </a:r>
            <a:r>
              <a:rPr lang="en-US" altLang="zh-CN" sz="1400" b="1" dirty="0"/>
              <a:t>16Kx1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；存储矩阵为</a:t>
            </a:r>
            <a:r>
              <a:rPr lang="en-US" altLang="zh-CN" sz="1400" b="1" dirty="0"/>
              <a:t>128x128=16Kx1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地址复用技术</a:t>
            </a:r>
            <a:r>
              <a:rPr lang="zh-CN" altLang="en-US" sz="1400" b="1" dirty="0"/>
              <a:t>，由</a:t>
            </a:r>
            <a:r>
              <a:rPr lang="en-US" altLang="zh-CN" sz="1400" b="1" dirty="0"/>
              <a:t>/RAS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/CAS</a:t>
            </a:r>
            <a:r>
              <a:rPr lang="zh-CN" altLang="en-US" sz="1400" b="1" dirty="0"/>
              <a:t>先后将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位地址分别送到行地址锁存器和列地址锁存器中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/>
              <a:t>DRAM</a:t>
            </a:r>
            <a:r>
              <a:rPr lang="zh-CN" altLang="en-US" sz="1600" b="1" dirty="0"/>
              <a:t>的结构与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的结构的不同点：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DRAM</a:t>
            </a:r>
            <a:r>
              <a:rPr lang="zh-CN" altLang="en-US" sz="1400" b="1" dirty="0"/>
              <a:t>的地址线一般采用</a:t>
            </a:r>
            <a:r>
              <a:rPr lang="zh-CN" altLang="en-US" sz="1400" b="1" dirty="0">
                <a:highlight>
                  <a:srgbClr val="FFFF00"/>
                </a:highlight>
              </a:rPr>
              <a:t>复用</a:t>
            </a:r>
            <a:r>
              <a:rPr lang="zh-CN" altLang="en-US" sz="1400" b="1" dirty="0"/>
              <a:t>技术，即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分时传送行、列地址，节省一半的地址线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DRAM</a:t>
            </a:r>
            <a:r>
              <a:rPr lang="zh-CN" altLang="en-US" sz="1400" b="1" dirty="0">
                <a:highlight>
                  <a:srgbClr val="FFFF00"/>
                </a:highlight>
              </a:rPr>
              <a:t>无片选</a:t>
            </a:r>
            <a:r>
              <a:rPr lang="zh-CN" altLang="en-US" sz="1400" b="1" dirty="0"/>
              <a:t>信号，通常可由</a:t>
            </a:r>
            <a:r>
              <a:rPr lang="en-US" altLang="zh-CN" sz="1400" b="1" dirty="0"/>
              <a:t>/RAS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/CAS</a:t>
            </a:r>
            <a:r>
              <a:rPr lang="zh-CN" altLang="en-US" sz="1400" b="1" dirty="0"/>
              <a:t>选通信号代替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数据输入（</a:t>
            </a:r>
            <a:r>
              <a:rPr lang="en-US" altLang="zh-CN" sz="1400" b="1" dirty="0"/>
              <a:t>DIN</a:t>
            </a:r>
            <a:r>
              <a:rPr lang="zh-CN" altLang="en-US" sz="1400" b="1" dirty="0"/>
              <a:t>）和数据输出（</a:t>
            </a:r>
            <a:r>
              <a:rPr lang="en-US" altLang="zh-CN" sz="1400" b="1" dirty="0"/>
              <a:t>DOUT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highlight>
                  <a:srgbClr val="FFFF00"/>
                </a:highlight>
              </a:rPr>
              <a:t>分开且可锁存</a:t>
            </a:r>
            <a:endParaRPr lang="en-US" altLang="zh-CN" sz="1400" b="1" dirty="0">
              <a:highlight>
                <a:srgbClr val="FFFF00"/>
              </a:highlight>
            </a:endParaRPr>
          </a:p>
          <a:p>
            <a:pPr marL="914400" lvl="2" indent="0" eaLnBrk="1" hangingPunct="1">
              <a:lnSpc>
                <a:spcPct val="150000"/>
              </a:lnSpc>
              <a:buNone/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F137BBD-53B3-42DC-9B1B-9925EED70998}"/>
              </a:ext>
            </a:extLst>
          </p:cNvPr>
          <p:cNvGrpSpPr/>
          <p:nvPr/>
        </p:nvGrpSpPr>
        <p:grpSpPr>
          <a:xfrm>
            <a:off x="282697" y="3688010"/>
            <a:ext cx="8645787" cy="2976957"/>
            <a:chOff x="63632" y="2684262"/>
            <a:chExt cx="8645787" cy="297695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515A9E7-2216-4588-8F18-3882742A9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5789" y="2684262"/>
              <a:ext cx="3743630" cy="2796771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5F24C9A-5698-4507-A151-90FB4A577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32" y="2994940"/>
              <a:ext cx="1759153" cy="2175413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1629E49-ADC5-4866-89C5-35EB5ADF50F5}"/>
                </a:ext>
              </a:extLst>
            </p:cNvPr>
            <p:cNvSpPr txBox="1"/>
            <p:nvPr/>
          </p:nvSpPr>
          <p:spPr>
            <a:xfrm>
              <a:off x="324443" y="5407303"/>
              <a:ext cx="7128792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050" b="1" dirty="0"/>
                <a:t>（</a:t>
              </a:r>
              <a:r>
                <a:rPr lang="en-US" altLang="zh-CN" sz="1050" b="1" dirty="0"/>
                <a:t>a</a:t>
              </a:r>
              <a:r>
                <a:rPr lang="zh-CN" altLang="en-US" sz="1050" b="1" dirty="0"/>
                <a:t>）封装引脚                                                                                                                                                              （</a:t>
              </a:r>
              <a:r>
                <a:rPr lang="en-US" altLang="zh-CN" sz="1050" b="1" dirty="0"/>
                <a:t>b</a:t>
              </a:r>
              <a:r>
                <a:rPr lang="zh-CN" altLang="en-US" sz="1050" b="1" dirty="0"/>
                <a:t>）内部结构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0C5D0C60-FB42-4F13-AF23-AA69A7CEF637}"/>
              </a:ext>
            </a:extLst>
          </p:cNvPr>
          <p:cNvSpPr txBox="1"/>
          <p:nvPr/>
        </p:nvSpPr>
        <p:spPr>
          <a:xfrm>
            <a:off x="2207653" y="4576325"/>
            <a:ext cx="2880320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eaLnBrk="1" hangingPunct="1"/>
            <a:r>
              <a:rPr lang="en-US" altLang="zh-CN" sz="800" b="1" dirty="0"/>
              <a:t>/RAS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Row Address Strobe</a:t>
            </a:r>
            <a:r>
              <a:rPr lang="zh-CN" altLang="en-US" sz="800" b="1" dirty="0"/>
              <a:t>，行地址选通脉冲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/CAS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Column Address Strobe</a:t>
            </a:r>
            <a:r>
              <a:rPr lang="zh-CN" altLang="en-US" sz="800" b="1" dirty="0"/>
              <a:t>，列地址选通脉冲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D</a:t>
            </a:r>
            <a:r>
              <a:rPr lang="en-US" altLang="zh-CN" sz="800" b="1" baseline="-25000" dirty="0"/>
              <a:t>IN</a:t>
            </a:r>
            <a:r>
              <a:rPr lang="zh-CN" altLang="en-US" sz="800" b="1" dirty="0"/>
              <a:t>：写入操作时的输入数据；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D</a:t>
            </a:r>
            <a:r>
              <a:rPr lang="en-US" altLang="zh-CN" sz="800" b="1" baseline="-25000" dirty="0"/>
              <a:t>OUT</a:t>
            </a:r>
            <a:r>
              <a:rPr lang="zh-CN" altLang="en-US" sz="800" b="1" dirty="0"/>
              <a:t>：读出操作时的输出数据</a:t>
            </a:r>
            <a:endParaRPr lang="en-US" altLang="zh-CN" sz="800" b="1" dirty="0"/>
          </a:p>
          <a:p>
            <a:pPr eaLnBrk="1" hangingPunct="1"/>
            <a:endParaRPr lang="en-US" altLang="zh-CN" sz="800" b="1" dirty="0"/>
          </a:p>
          <a:p>
            <a:pPr eaLnBrk="1" hangingPunct="1"/>
            <a:r>
              <a:rPr lang="en-US" altLang="zh-CN" sz="800" b="1" dirty="0"/>
              <a:t>/WE</a:t>
            </a:r>
            <a:r>
              <a:rPr lang="zh-CN" altLang="en-US" sz="800" b="1" dirty="0"/>
              <a:t>：读写控制信号；</a:t>
            </a:r>
            <a:r>
              <a:rPr lang="en-US" altLang="zh-CN" sz="800" b="1" dirty="0"/>
              <a:t>/WE=0</a:t>
            </a:r>
            <a:r>
              <a:rPr lang="zh-CN" altLang="en-US" sz="800" b="1" dirty="0"/>
              <a:t>，写入操作；</a:t>
            </a:r>
            <a:r>
              <a:rPr lang="en-US" altLang="zh-CN" sz="800" b="1" dirty="0"/>
              <a:t>/WE=1</a:t>
            </a:r>
            <a:r>
              <a:rPr lang="zh-CN" altLang="en-US" sz="800" b="1" dirty="0"/>
              <a:t>，读出操作</a:t>
            </a:r>
            <a:endParaRPr lang="zh-CN" altLang="en-US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8AEDFB8-D749-4456-940A-56EA66C1ADE6}"/>
              </a:ext>
            </a:extLst>
          </p:cNvPr>
          <p:cNvSpPr txBox="1"/>
          <p:nvPr/>
        </p:nvSpPr>
        <p:spPr>
          <a:xfrm>
            <a:off x="3015042" y="6505599"/>
            <a:ext cx="1989006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4.15    Intel 2116 </a:t>
            </a:r>
            <a:r>
              <a:rPr lang="zh-CN" altLang="en-US" sz="1400" b="1" dirty="0"/>
              <a:t>结构</a:t>
            </a:r>
          </a:p>
        </p:txBody>
      </p:sp>
    </p:spTree>
    <p:extLst>
      <p:ext uri="{BB962C8B-B14F-4D97-AF65-F5344CB8AC3E}">
        <p14:creationId xmlns:p14="http://schemas.microsoft.com/office/powerpoint/2010/main" val="16242134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、动态</a:t>
            </a:r>
            <a:r>
              <a:rPr lang="en-US" altLang="zh-CN" sz="2000" b="1" dirty="0"/>
              <a:t>MOS</a:t>
            </a:r>
            <a:r>
              <a:rPr lang="zh-CN" altLang="en-US" sz="2000" b="1" dirty="0"/>
              <a:t>存储器的读写周期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9BB28A33-46D6-462C-BBE9-BBF266DCD830}"/>
              </a:ext>
            </a:extLst>
          </p:cNvPr>
          <p:cNvSpPr txBox="1"/>
          <p:nvPr/>
        </p:nvSpPr>
        <p:spPr>
          <a:xfrm>
            <a:off x="6234384" y="995607"/>
            <a:ext cx="2366871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/>
              <a:t> </a:t>
            </a:r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RC</a:t>
            </a:r>
            <a:r>
              <a:rPr lang="zh-CN" altLang="en-US" sz="1200" b="1" dirty="0"/>
              <a:t>：读周期时间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/RAS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CAS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RCH</a:t>
            </a:r>
            <a:r>
              <a:rPr lang="zh-CN" altLang="en-US" sz="1200" b="1" dirty="0"/>
              <a:t>：读命令保持时间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DOH</a:t>
            </a:r>
            <a:r>
              <a:rPr lang="zh-CN" altLang="en-US" sz="1200" b="1" dirty="0"/>
              <a:t>：数据输出保持时间</a:t>
            </a:r>
            <a:endParaRPr lang="en-US" altLang="zh-CN" sz="1200" b="1" dirty="0"/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650CB4A0-C354-434D-A30E-5EC37E82FD9B}"/>
              </a:ext>
            </a:extLst>
          </p:cNvPr>
          <p:cNvGrpSpPr/>
          <p:nvPr/>
        </p:nvGrpSpPr>
        <p:grpSpPr>
          <a:xfrm>
            <a:off x="899593" y="3625667"/>
            <a:ext cx="4536504" cy="2379012"/>
            <a:chOff x="899592" y="3979862"/>
            <a:chExt cx="5327241" cy="2575679"/>
          </a:xfrm>
        </p:grpSpPr>
        <p:grpSp>
          <p:nvGrpSpPr>
            <p:cNvPr id="349" name="组合 348">
              <a:extLst>
                <a:ext uri="{FF2B5EF4-FFF2-40B4-BE49-F238E27FC236}">
                  <a16:creationId xmlns:a16="http://schemas.microsoft.com/office/drawing/2014/main" id="{28CB16AE-2EE8-42E7-A1A6-91B8B7DC4740}"/>
                </a:ext>
              </a:extLst>
            </p:cNvPr>
            <p:cNvGrpSpPr/>
            <p:nvPr/>
          </p:nvGrpSpPr>
          <p:grpSpPr>
            <a:xfrm>
              <a:off x="899592" y="3979862"/>
              <a:ext cx="5327241" cy="2575679"/>
              <a:chOff x="899592" y="3979862"/>
              <a:chExt cx="5327241" cy="2575679"/>
            </a:xfrm>
          </p:grpSpPr>
          <p:cxnSp>
            <p:nvCxnSpPr>
              <p:cNvPr id="301" name="直接连接符 300">
                <a:extLst>
                  <a:ext uri="{FF2B5EF4-FFF2-40B4-BE49-F238E27FC236}">
                    <a16:creationId xmlns:a16="http://schemas.microsoft.com/office/drawing/2014/main" id="{553AA325-04FF-47FC-BE62-D1D303539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03848" y="4912301"/>
                <a:ext cx="14607" cy="38890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直接连接符 304">
                <a:extLst>
                  <a:ext uri="{FF2B5EF4-FFF2-40B4-BE49-F238E27FC236}">
                    <a16:creationId xmlns:a16="http://schemas.microsoft.com/office/drawing/2014/main" id="{B8C3910B-E93D-4ED2-B711-3DAA96A8BCB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701506" y="5301208"/>
                <a:ext cx="6398" cy="34553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7" name="组合 346">
                <a:extLst>
                  <a:ext uri="{FF2B5EF4-FFF2-40B4-BE49-F238E27FC236}">
                    <a16:creationId xmlns:a16="http://schemas.microsoft.com/office/drawing/2014/main" id="{01DA910D-150B-4CAB-AB86-701134ABFB33}"/>
                  </a:ext>
                </a:extLst>
              </p:cNvPr>
              <p:cNvGrpSpPr/>
              <p:nvPr/>
            </p:nvGrpSpPr>
            <p:grpSpPr>
              <a:xfrm>
                <a:off x="899592" y="3979862"/>
                <a:ext cx="5327241" cy="2575679"/>
                <a:chOff x="899592" y="3979862"/>
                <a:chExt cx="5327241" cy="2575679"/>
              </a:xfrm>
            </p:grpSpPr>
            <p:grpSp>
              <p:nvGrpSpPr>
                <p:cNvPr id="342" name="组合 341">
                  <a:extLst>
                    <a:ext uri="{FF2B5EF4-FFF2-40B4-BE49-F238E27FC236}">
                      <a16:creationId xmlns:a16="http://schemas.microsoft.com/office/drawing/2014/main" id="{DE9FDE3A-3BC8-4C8C-B21C-1C8537049DBC}"/>
                    </a:ext>
                  </a:extLst>
                </p:cNvPr>
                <p:cNvGrpSpPr/>
                <p:nvPr/>
              </p:nvGrpSpPr>
              <p:grpSpPr>
                <a:xfrm>
                  <a:off x="899592" y="3979862"/>
                  <a:ext cx="5327241" cy="2575679"/>
                  <a:chOff x="899592" y="3979862"/>
                  <a:chExt cx="5327241" cy="2575679"/>
                </a:xfrm>
              </p:grpSpPr>
              <p:grpSp>
                <p:nvGrpSpPr>
                  <p:cNvPr id="298" name="组合 297">
                    <a:extLst>
                      <a:ext uri="{FF2B5EF4-FFF2-40B4-BE49-F238E27FC236}">
                        <a16:creationId xmlns:a16="http://schemas.microsoft.com/office/drawing/2014/main" id="{D498FB0F-79AE-45D7-819C-8036A4E68237}"/>
                      </a:ext>
                    </a:extLst>
                  </p:cNvPr>
                  <p:cNvGrpSpPr/>
                  <p:nvPr/>
                </p:nvGrpSpPr>
                <p:grpSpPr>
                  <a:xfrm>
                    <a:off x="899592" y="3979862"/>
                    <a:ext cx="5327241" cy="2391333"/>
                    <a:chOff x="899592" y="3979862"/>
                    <a:chExt cx="5327241" cy="2391333"/>
                  </a:xfrm>
                </p:grpSpPr>
                <p:grpSp>
                  <p:nvGrpSpPr>
                    <p:cNvPr id="254" name="组合 253">
                      <a:extLst>
                        <a:ext uri="{FF2B5EF4-FFF2-40B4-BE49-F238E27FC236}">
                          <a16:creationId xmlns:a16="http://schemas.microsoft.com/office/drawing/2014/main" id="{1ADF9FFB-111E-4FAD-BC7F-1CBE38C3A58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28277" y="3979862"/>
                      <a:ext cx="4698556" cy="2391333"/>
                      <a:chOff x="1600285" y="775970"/>
                      <a:chExt cx="4561639" cy="2391333"/>
                    </a:xfrm>
                  </p:grpSpPr>
                  <p:grpSp>
                    <p:nvGrpSpPr>
                      <p:cNvPr id="255" name="组合 254">
                        <a:extLst>
                          <a:ext uri="{FF2B5EF4-FFF2-40B4-BE49-F238E27FC236}">
                            <a16:creationId xmlns:a16="http://schemas.microsoft.com/office/drawing/2014/main" id="{F85F00D8-910B-4EAB-B454-F6FA1091D1A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6033" y="775970"/>
                        <a:ext cx="4555891" cy="480579"/>
                        <a:chOff x="1380627" y="2965799"/>
                        <a:chExt cx="4173801" cy="480579"/>
                      </a:xfrm>
                    </p:grpSpPr>
                    <p:grpSp>
                      <p:nvGrpSpPr>
                        <p:cNvPr id="286" name="组合 285">
                          <a:extLst>
                            <a:ext uri="{FF2B5EF4-FFF2-40B4-BE49-F238E27FC236}">
                              <a16:creationId xmlns:a16="http://schemas.microsoft.com/office/drawing/2014/main" id="{9F72D543-6797-4E68-A74F-053FE4F7603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547664" y="2965799"/>
                          <a:ext cx="4006764" cy="480579"/>
                          <a:chOff x="1714468" y="2965799"/>
                          <a:chExt cx="3840198" cy="480579"/>
                        </a:xfrm>
                      </p:grpSpPr>
                      <p:pic>
                        <p:nvPicPr>
                          <p:cNvPr id="288" name="图片 287">
                            <a:extLst>
                              <a:ext uri="{FF2B5EF4-FFF2-40B4-BE49-F238E27FC236}">
                                <a16:creationId xmlns:a16="http://schemas.microsoft.com/office/drawing/2014/main" id="{1F12E4ED-AB40-4612-A687-46E6D01AE5CA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714468" y="2965799"/>
                            <a:ext cx="476274" cy="444523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89" name="图片 288">
                            <a:extLst>
                              <a:ext uri="{FF2B5EF4-FFF2-40B4-BE49-F238E27FC236}">
                                <a16:creationId xmlns:a16="http://schemas.microsoft.com/office/drawing/2014/main" id="{B52A3D52-7355-4AC1-A754-B3D14BD4FD6D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2190742" y="3004760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0" name="图片 289">
                            <a:extLst>
                              <a:ext uri="{FF2B5EF4-FFF2-40B4-BE49-F238E27FC236}">
                                <a16:creationId xmlns:a16="http://schemas.microsoft.com/office/drawing/2014/main" id="{115949E9-F632-4453-84BF-936C793F426F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 rot="10800000">
                            <a:off x="2744332" y="3040816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1" name="图片 290">
                            <a:extLst>
                              <a:ext uri="{FF2B5EF4-FFF2-40B4-BE49-F238E27FC236}">
                                <a16:creationId xmlns:a16="http://schemas.microsoft.com/office/drawing/2014/main" id="{B8BCCDCB-467B-4525-B5FD-38322E74B653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3039621" y="2999147"/>
                            <a:ext cx="590580" cy="405562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292" name="图片 291">
                            <a:extLst>
                              <a:ext uri="{FF2B5EF4-FFF2-40B4-BE49-F238E27FC236}">
                                <a16:creationId xmlns:a16="http://schemas.microsoft.com/office/drawing/2014/main" id="{B51542CB-BD9E-423C-A68A-2868FD3A2556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3624970" y="3004760"/>
                            <a:ext cx="1929696" cy="417330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287" name="图片 286">
                          <a:extLst>
                            <a:ext uri="{FF2B5EF4-FFF2-40B4-BE49-F238E27FC236}">
                              <a16:creationId xmlns:a16="http://schemas.microsoft.com/office/drawing/2014/main" id="{97E749B8-485A-4D9B-828A-9B259E6A2545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380627" y="3029610"/>
                          <a:ext cx="279414" cy="361290"/>
                        </a:xfrm>
                        <a:prstGeom prst="rect">
                          <a:avLst/>
                        </a:prstGeom>
                      </p:spPr>
                    </p:pic>
                  </p:grpSp>
                  <p:grpSp>
                    <p:nvGrpSpPr>
                      <p:cNvPr id="256" name="组合 255">
                        <a:extLst>
                          <a:ext uri="{FF2B5EF4-FFF2-40B4-BE49-F238E27FC236}">
                            <a16:creationId xmlns:a16="http://schemas.microsoft.com/office/drawing/2014/main" id="{5253853F-AD49-4A08-8218-F15CEFC3C7B6}"/>
                          </a:ext>
                        </a:extLst>
                      </p:cNvPr>
                      <p:cNvGrpSpPr/>
                      <p:nvPr/>
                    </p:nvGrpSpPr>
                    <p:grpSpPr>
                      <a:xfrm rot="10800000">
                        <a:off x="1618907" y="2204864"/>
                        <a:ext cx="3687961" cy="237986"/>
                        <a:chOff x="708980" y="2532548"/>
                        <a:chExt cx="3687961" cy="237986"/>
                      </a:xfrm>
                    </p:grpSpPr>
                    <p:cxnSp>
                      <p:nvCxnSpPr>
                        <p:cNvPr id="281" name="直接连接符 280">
                          <a:extLst>
                            <a:ext uri="{FF2B5EF4-FFF2-40B4-BE49-F238E27FC236}">
                              <a16:creationId xmlns:a16="http://schemas.microsoft.com/office/drawing/2014/main" id="{2160E5B0-36B8-4F69-A9D8-911EE64DA61E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3065120" y="2750844"/>
                          <a:ext cx="1331821" cy="9043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2" name="直接连接符 281">
                          <a:extLst>
                            <a:ext uri="{FF2B5EF4-FFF2-40B4-BE49-F238E27FC236}">
                              <a16:creationId xmlns:a16="http://schemas.microsoft.com/office/drawing/2014/main" id="{4EDAB359-88FC-4298-9A0C-A8B989D41F4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2387729" y="2539078"/>
                          <a:ext cx="530357" cy="0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3" name="直接连接符 282">
                          <a:extLst>
                            <a:ext uri="{FF2B5EF4-FFF2-40B4-BE49-F238E27FC236}">
                              <a16:creationId xmlns:a16="http://schemas.microsoft.com/office/drawing/2014/main" id="{7E6D4315-5922-45FE-B22B-C2E4ED86D6A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rot="10800000">
                          <a:off x="708980" y="2763926"/>
                          <a:ext cx="1486667" cy="0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4" name="直接连接符 283">
                          <a:extLst>
                            <a:ext uri="{FF2B5EF4-FFF2-40B4-BE49-F238E27FC236}">
                              <a16:creationId xmlns:a16="http://schemas.microsoft.com/office/drawing/2014/main" id="{3F7729B6-5E41-4DD7-8B53-67C10E7A16F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2915727" y="2532548"/>
                          <a:ext cx="149392" cy="203318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85" name="直接连接符 284">
                          <a:extLst>
                            <a:ext uri="{FF2B5EF4-FFF2-40B4-BE49-F238E27FC236}">
                              <a16:creationId xmlns:a16="http://schemas.microsoft.com/office/drawing/2014/main" id="{5AAAAA04-259E-4C57-82FC-6683A7B4F9F3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2195647" y="2534640"/>
                          <a:ext cx="187376" cy="235894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7" name="组合 256">
                        <a:extLst>
                          <a:ext uri="{FF2B5EF4-FFF2-40B4-BE49-F238E27FC236}">
                            <a16:creationId xmlns:a16="http://schemas.microsoft.com/office/drawing/2014/main" id="{4D6F2A3A-5590-4FF0-A559-1DCE37199F6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0285" y="1446328"/>
                        <a:ext cx="3691795" cy="192829"/>
                        <a:chOff x="1600285" y="1446328"/>
                        <a:chExt cx="3691795" cy="192829"/>
                      </a:xfrm>
                    </p:grpSpPr>
                    <p:grpSp>
                      <p:nvGrpSpPr>
                        <p:cNvPr id="273" name="组合 272">
                          <a:extLst>
                            <a:ext uri="{FF2B5EF4-FFF2-40B4-BE49-F238E27FC236}">
                              <a16:creationId xmlns:a16="http://schemas.microsoft.com/office/drawing/2014/main" id="{84093638-6D85-47FE-8A39-34663D047E6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00285" y="1446328"/>
                          <a:ext cx="2717722" cy="192829"/>
                          <a:chOff x="3634437" y="1633943"/>
                          <a:chExt cx="2717722" cy="192829"/>
                        </a:xfrm>
                      </p:grpSpPr>
                      <p:cxnSp>
                        <p:nvCxnSpPr>
                          <p:cNvPr id="276" name="直接连接符 275">
                            <a:extLst>
                              <a:ext uri="{FF2B5EF4-FFF2-40B4-BE49-F238E27FC236}">
                                <a16:creationId xmlns:a16="http://schemas.microsoft.com/office/drawing/2014/main" id="{A0DEAE44-4190-4282-B0A0-F3625CE6F2C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V="1">
                            <a:off x="3634437" y="1645419"/>
                            <a:ext cx="476591" cy="8059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7" name="直接连接符 276">
                            <a:extLst>
                              <a:ext uri="{FF2B5EF4-FFF2-40B4-BE49-F238E27FC236}">
                                <a16:creationId xmlns:a16="http://schemas.microsoft.com/office/drawing/2014/main" id="{50ACB0DF-8696-4011-B211-8BD45C859393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265723" y="1815029"/>
                            <a:ext cx="1478615" cy="5719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8" name="直接连接符 277">
                            <a:extLst>
                              <a:ext uri="{FF2B5EF4-FFF2-40B4-BE49-F238E27FC236}">
                                <a16:creationId xmlns:a16="http://schemas.microsoft.com/office/drawing/2014/main" id="{2D48750D-0645-4770-A8F1-E59A815E6358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5866851" y="1653478"/>
                            <a:ext cx="485308" cy="0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79" name="直接连接符 278">
                            <a:extLst>
                              <a:ext uri="{FF2B5EF4-FFF2-40B4-BE49-F238E27FC236}">
                                <a16:creationId xmlns:a16="http://schemas.microsoft.com/office/drawing/2014/main" id="{AD98C8EE-3D04-4A0A-AE92-6A9BC81E324C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101670" y="1633943"/>
                            <a:ext cx="164053" cy="182614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80" name="直接连接符 279">
                            <a:extLst>
                              <a:ext uri="{FF2B5EF4-FFF2-40B4-BE49-F238E27FC236}">
                                <a16:creationId xmlns:a16="http://schemas.microsoft.com/office/drawing/2014/main" id="{F69294FE-9164-4542-955E-1023F205C74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5722835" y="1645516"/>
                            <a:ext cx="144016" cy="181256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274" name="直接连接符 273">
                          <a:extLst>
                            <a:ext uri="{FF2B5EF4-FFF2-40B4-BE49-F238E27FC236}">
                              <a16:creationId xmlns:a16="http://schemas.microsoft.com/office/drawing/2014/main" id="{FBA2FBC0-3FEE-4D3D-971B-BF89B44F465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4307700" y="1457804"/>
                          <a:ext cx="130277" cy="160935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75" name="直接连接符 274">
                          <a:extLst>
                            <a:ext uri="{FF2B5EF4-FFF2-40B4-BE49-F238E27FC236}">
                              <a16:creationId xmlns:a16="http://schemas.microsoft.com/office/drawing/2014/main" id="{0AE90C3E-E175-485C-91BA-97F146D9308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4436209" y="1618739"/>
                          <a:ext cx="855871" cy="3971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8" name="组合 257">
                        <a:extLst>
                          <a:ext uri="{FF2B5EF4-FFF2-40B4-BE49-F238E27FC236}">
                            <a16:creationId xmlns:a16="http://schemas.microsoft.com/office/drawing/2014/main" id="{E157D627-3B29-40AB-A471-F7B25FBB745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600285" y="1772816"/>
                        <a:ext cx="3706583" cy="198281"/>
                        <a:chOff x="1600285" y="1966517"/>
                        <a:chExt cx="3706583" cy="198281"/>
                      </a:xfrm>
                    </p:grpSpPr>
                    <p:grpSp>
                      <p:nvGrpSpPr>
                        <p:cNvPr id="262" name="组合 261">
                          <a:extLst>
                            <a:ext uri="{FF2B5EF4-FFF2-40B4-BE49-F238E27FC236}">
                              <a16:creationId xmlns:a16="http://schemas.microsoft.com/office/drawing/2014/main" id="{CDF4FC70-618E-4747-8BDB-BF02B087F8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00285" y="1966517"/>
                          <a:ext cx="3706583" cy="192829"/>
                          <a:chOff x="1354023" y="1446328"/>
                          <a:chExt cx="3706583" cy="192829"/>
                        </a:xfrm>
                      </p:grpSpPr>
                      <p:grpSp>
                        <p:nvGrpSpPr>
                          <p:cNvPr id="265" name="组合 264">
                            <a:extLst>
                              <a:ext uri="{FF2B5EF4-FFF2-40B4-BE49-F238E27FC236}">
                                <a16:creationId xmlns:a16="http://schemas.microsoft.com/office/drawing/2014/main" id="{CF53E18E-133D-40CE-9F70-978584B5CCB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354023" y="1446328"/>
                            <a:ext cx="2963984" cy="192829"/>
                            <a:chOff x="3388175" y="1633943"/>
                            <a:chExt cx="2963984" cy="192829"/>
                          </a:xfrm>
                        </p:grpSpPr>
                        <p:cxnSp>
                          <p:nvCxnSpPr>
                            <p:cNvPr id="268" name="直接连接符 267">
                              <a:extLst>
                                <a:ext uri="{FF2B5EF4-FFF2-40B4-BE49-F238E27FC236}">
                                  <a16:creationId xmlns:a16="http://schemas.microsoft.com/office/drawing/2014/main" id="{AC57FD4F-44A4-4254-B042-AE3599C6F44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V="1">
                              <a:off x="3388175" y="1645419"/>
                              <a:ext cx="1547884" cy="17203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69" name="直接连接符 268">
                              <a:extLst>
                                <a:ext uri="{FF2B5EF4-FFF2-40B4-BE49-F238E27FC236}">
                                  <a16:creationId xmlns:a16="http://schemas.microsoft.com/office/drawing/2014/main" id="{7FA1543F-4D5D-4D69-B641-9E0D57BA0BB1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761975" y="1820748"/>
                              <a:ext cx="982363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0" name="直接连接符 269">
                              <a:extLst>
                                <a:ext uri="{FF2B5EF4-FFF2-40B4-BE49-F238E27FC236}">
                                  <a16:creationId xmlns:a16="http://schemas.microsoft.com/office/drawing/2014/main" id="{4197467E-D164-4B1C-8AC8-1D8DA2A1C2CD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5866851" y="1653478"/>
                              <a:ext cx="485308" cy="0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1" name="直接连接符 270">
                              <a:extLst>
                                <a:ext uri="{FF2B5EF4-FFF2-40B4-BE49-F238E27FC236}">
                                  <a16:creationId xmlns:a16="http://schemas.microsoft.com/office/drawing/2014/main" id="{58EC8413-7A07-4254-8800-2CA56DA5CF74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4933469" y="1633943"/>
                              <a:ext cx="144884" cy="186805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72" name="直接连接符 271">
                              <a:extLst>
                                <a:ext uri="{FF2B5EF4-FFF2-40B4-BE49-F238E27FC236}">
                                  <a16:creationId xmlns:a16="http://schemas.microsoft.com/office/drawing/2014/main" id="{2637E5A7-F1F1-4193-8907-A0DDAFC52552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 flipH="1">
                              <a:off x="5722835" y="1645516"/>
                              <a:ext cx="144016" cy="181256"/>
                            </a:xfrm>
                            <a:prstGeom prst="line">
                              <a:avLst/>
                            </a:prstGeom>
                            <a:ln w="28575"/>
                          </p:spPr>
                          <p:style>
                            <a:lnRef idx="1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  <p:cxnSp>
                        <p:nvCxnSpPr>
                          <p:cNvPr id="266" name="直接连接符 265">
                            <a:extLst>
                              <a:ext uri="{FF2B5EF4-FFF2-40B4-BE49-F238E27FC236}">
                                <a16:creationId xmlns:a16="http://schemas.microsoft.com/office/drawing/2014/main" id="{724FA671-E1E0-4441-885B-677813C671B5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307700" y="1457804"/>
                            <a:ext cx="130277" cy="160935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67" name="直接连接符 266">
                            <a:extLst>
                              <a:ext uri="{FF2B5EF4-FFF2-40B4-BE49-F238E27FC236}">
                                <a16:creationId xmlns:a16="http://schemas.microsoft.com/office/drawing/2014/main" id="{2DDEECA2-31D0-4FE6-88AC-E11F49CCE7FA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4436209" y="1622710"/>
                            <a:ext cx="624397" cy="10423"/>
                          </a:xfrm>
                          <a:prstGeom prst="line">
                            <a:avLst/>
                          </a:prstGeom>
                          <a:ln w="28575"/>
                        </p:spPr>
                        <p:style>
                          <a:lnRef idx="1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  <p:cxnSp>
                      <p:nvCxnSpPr>
                        <p:cNvPr id="263" name="直接连接符 262">
                          <a:extLst>
                            <a:ext uri="{FF2B5EF4-FFF2-40B4-BE49-F238E27FC236}">
                              <a16:creationId xmlns:a16="http://schemas.microsoft.com/office/drawing/2014/main" id="{AD55C3FD-B6E7-4846-8247-301B29A4A202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987824" y="1971921"/>
                          <a:ext cx="151288" cy="192877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64" name="直接连接符 263">
                          <a:extLst>
                            <a:ext uri="{FF2B5EF4-FFF2-40B4-BE49-F238E27FC236}">
                              <a16:creationId xmlns:a16="http://schemas.microsoft.com/office/drawing/2014/main" id="{F60605A5-AC60-4BAC-9232-2E22EB1EF0D1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>
                          <a:off x="2843808" y="1988840"/>
                          <a:ext cx="130277" cy="160935"/>
                        </a:xfrm>
                        <a:prstGeom prst="line">
                          <a:avLst/>
                        </a:prstGeom>
                        <a:ln w="28575"/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grpSp>
                    <p:nvGrpSpPr>
                      <p:cNvPr id="259" name="组合 258">
                        <a:extLst>
                          <a:ext uri="{FF2B5EF4-FFF2-40B4-BE49-F238E27FC236}">
                            <a16:creationId xmlns:a16="http://schemas.microsoft.com/office/drawing/2014/main" id="{A86CDD1A-5F92-48A5-9A73-C70DD7A0674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499840" y="2524035"/>
                        <a:ext cx="2768278" cy="643268"/>
                        <a:chOff x="2174736" y="3647435"/>
                        <a:chExt cx="2768278" cy="750568"/>
                      </a:xfrm>
                    </p:grpSpPr>
                    <p:pic>
                      <p:nvPicPr>
                        <p:cNvPr id="260" name="图片 259">
                          <a:extLst>
                            <a:ext uri="{FF2B5EF4-FFF2-40B4-BE49-F238E27FC236}">
                              <a16:creationId xmlns:a16="http://schemas.microsoft.com/office/drawing/2014/main" id="{FD6D7808-7C9E-4687-B38F-1ED0C07A9770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74736" y="3647435"/>
                          <a:ext cx="1143059" cy="711237"/>
                        </a:xfrm>
                        <a:prstGeom prst="rect">
                          <a:avLst/>
                        </a:prstGeom>
                      </p:spPr>
                    </p:pic>
                    <p:pic>
                      <p:nvPicPr>
                        <p:cNvPr id="261" name="图片 260">
                          <a:extLst>
                            <a:ext uri="{FF2B5EF4-FFF2-40B4-BE49-F238E27FC236}">
                              <a16:creationId xmlns:a16="http://schemas.microsoft.com/office/drawing/2014/main" id="{2B77D617-15C3-4BFE-A437-CDD91E6487FB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275856" y="3724868"/>
                          <a:ext cx="1667158" cy="673135"/>
                        </a:xfrm>
                        <a:prstGeom prst="rect">
                          <a:avLst/>
                        </a:prstGeom>
                      </p:spPr>
                    </p:pic>
                  </p:grpSp>
                </p:grpSp>
                <p:sp>
                  <p:nvSpPr>
                    <p:cNvPr id="293" name="文本框 292">
                      <a:extLst>
                        <a:ext uri="{FF2B5EF4-FFF2-40B4-BE49-F238E27FC236}">
                          <a16:creationId xmlns:a16="http://schemas.microsoft.com/office/drawing/2014/main" id="{6638FFED-A01B-48BD-B886-494C751841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9592" y="4093255"/>
                      <a:ext cx="49885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 err="1"/>
                        <a:t>Addr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4" name="文本框 293">
                      <a:extLst>
                        <a:ext uri="{FF2B5EF4-FFF2-40B4-BE49-F238E27FC236}">
                          <a16:creationId xmlns:a16="http://schemas.microsoft.com/office/drawing/2014/main" id="{8542BB00-F956-46A5-93FF-43F3FC80903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15829" y="4507479"/>
                      <a:ext cx="50206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/RAS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5" name="文本框 294">
                      <a:extLst>
                        <a:ext uri="{FF2B5EF4-FFF2-40B4-BE49-F238E27FC236}">
                          <a16:creationId xmlns:a16="http://schemas.microsoft.com/office/drawing/2014/main" id="{D4C55739-E1CE-47CB-9680-8BAF516FA4A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66643" y="5949280"/>
                      <a:ext cx="377026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D</a:t>
                      </a:r>
                      <a:r>
                        <a:rPr lang="en-US" altLang="zh-CN" sz="1200" b="1" baseline="-25000" dirty="0"/>
                        <a:t>IN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6" name="文本框 295">
                      <a:extLst>
                        <a:ext uri="{FF2B5EF4-FFF2-40B4-BE49-F238E27FC236}">
                          <a16:creationId xmlns:a16="http://schemas.microsoft.com/office/drawing/2014/main" id="{817F604D-3EC6-4D2A-8A1F-AC28A392756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20928" y="4869160"/>
                      <a:ext cx="49725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/CAS</a:t>
                      </a:r>
                      <a:endParaRPr lang="zh-CN" altLang="en-US" sz="1200" b="1" baseline="-25000" dirty="0"/>
                    </a:p>
                  </p:txBody>
                </p:sp>
                <p:sp>
                  <p:nvSpPr>
                    <p:cNvPr id="297" name="文本框 296">
                      <a:extLst>
                        <a:ext uri="{FF2B5EF4-FFF2-40B4-BE49-F238E27FC236}">
                          <a16:creationId xmlns:a16="http://schemas.microsoft.com/office/drawing/2014/main" id="{5D99B37C-7C02-4D7D-9AC2-4B8823B628B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2788" y="5301208"/>
                      <a:ext cx="465192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altLang="zh-CN" sz="1200" b="1" dirty="0"/>
                        <a:t>/WE</a:t>
                      </a:r>
                      <a:endParaRPr lang="zh-CN" altLang="en-US" sz="1200" b="1" baseline="-25000" dirty="0"/>
                    </a:p>
                  </p:txBody>
                </p:sp>
              </p:grpSp>
              <p:grpSp>
                <p:nvGrpSpPr>
                  <p:cNvPr id="341" name="组合 340">
                    <a:extLst>
                      <a:ext uri="{FF2B5EF4-FFF2-40B4-BE49-F238E27FC236}">
                        <a16:creationId xmlns:a16="http://schemas.microsoft.com/office/drawing/2014/main" id="{93A7143E-C080-4630-B667-74E3E4E5F6BB}"/>
                      </a:ext>
                    </a:extLst>
                  </p:cNvPr>
                  <p:cNvGrpSpPr/>
                  <p:nvPr/>
                </p:nvGrpSpPr>
                <p:grpSpPr>
                  <a:xfrm>
                    <a:off x="2104875" y="4275921"/>
                    <a:ext cx="2279472" cy="2279620"/>
                    <a:chOff x="2104875" y="4275921"/>
                    <a:chExt cx="2279472" cy="2279620"/>
                  </a:xfrm>
                </p:grpSpPr>
                <p:grpSp>
                  <p:nvGrpSpPr>
                    <p:cNvPr id="339" name="组合 338">
                      <a:extLst>
                        <a:ext uri="{FF2B5EF4-FFF2-40B4-BE49-F238E27FC236}">
                          <a16:creationId xmlns:a16="http://schemas.microsoft.com/office/drawing/2014/main" id="{10A97F7F-248C-41AE-BE3E-9A4563899E7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104875" y="4494590"/>
                      <a:ext cx="2279472" cy="1842897"/>
                      <a:chOff x="2104875" y="4494590"/>
                      <a:chExt cx="2279472" cy="1842897"/>
                    </a:xfrm>
                  </p:grpSpPr>
                  <p:cxnSp>
                    <p:nvCxnSpPr>
                      <p:cNvPr id="27" name="直接连接符 26">
                        <a:extLst>
                          <a:ext uri="{FF2B5EF4-FFF2-40B4-BE49-F238E27FC236}">
                            <a16:creationId xmlns:a16="http://schemas.microsoft.com/office/drawing/2014/main" id="{F3B3B00A-D495-4B21-B96F-13537BA5044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111610" y="4494590"/>
                        <a:ext cx="2272737" cy="1453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8" name="直接连接符 27">
                        <a:extLst>
                          <a:ext uri="{FF2B5EF4-FFF2-40B4-BE49-F238E27FC236}">
                            <a16:creationId xmlns:a16="http://schemas.microsoft.com/office/drawing/2014/main" id="{847AA237-52C0-4AE7-B207-92F81551379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192148" y="5005387"/>
                        <a:ext cx="81442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" name="直接连接符 28">
                        <a:extLst>
                          <a:ext uri="{FF2B5EF4-FFF2-40B4-BE49-F238E27FC236}">
                            <a16:creationId xmlns:a16="http://schemas.microsoft.com/office/drawing/2014/main" id="{8B0ABFB6-A796-4194-B8A2-EE3D3D43742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104875" y="4615924"/>
                        <a:ext cx="1655526" cy="6148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3" name="直接连接符 312">
                        <a:extLst>
                          <a:ext uri="{FF2B5EF4-FFF2-40B4-BE49-F238E27FC236}">
                            <a16:creationId xmlns:a16="http://schemas.microsoft.com/office/drawing/2014/main" id="{7F2F7876-9C9F-40D4-9919-4BDB62430CF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980766" y="5449737"/>
                        <a:ext cx="720740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9" name="直接连接符 318">
                        <a:extLst>
                          <a:ext uri="{FF2B5EF4-FFF2-40B4-BE49-F238E27FC236}">
                            <a16:creationId xmlns:a16="http://schemas.microsoft.com/office/drawing/2014/main" id="{56E13DB2-B974-4965-9C1F-32CAD0CE084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407614" y="6337487"/>
                        <a:ext cx="732338" cy="0"/>
                      </a:xfrm>
                      <a:prstGeom prst="line">
                        <a:avLst/>
                      </a:prstGeom>
                      <a:ln w="12700">
                        <a:solidFill>
                          <a:schemeClr val="tx1"/>
                        </a:solidFill>
                        <a:headEnd type="arrow" w="med" len="med"/>
                        <a:tailEnd type="arrow" w="med" len="med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grpSp>
                  <p:nvGrpSpPr>
                    <p:cNvPr id="340" name="组合 339">
                      <a:extLst>
                        <a:ext uri="{FF2B5EF4-FFF2-40B4-BE49-F238E27FC236}">
                          <a16:creationId xmlns:a16="http://schemas.microsoft.com/office/drawing/2014/main" id="{497944E1-31CE-4F36-87CB-A76F20C2D89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87824" y="4275921"/>
                      <a:ext cx="914618" cy="2279620"/>
                      <a:chOff x="2987824" y="4275921"/>
                      <a:chExt cx="914618" cy="2279620"/>
                    </a:xfrm>
                  </p:grpSpPr>
                  <p:sp>
                    <p:nvSpPr>
                      <p:cNvPr id="328" name="文本框 327">
                        <a:extLst>
                          <a:ext uri="{FF2B5EF4-FFF2-40B4-BE49-F238E27FC236}">
                            <a16:creationId xmlns:a16="http://schemas.microsoft.com/office/drawing/2014/main" id="{A3D9BCE9-CB2C-4B00-B269-2D794C3A928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05334" y="4275921"/>
                        <a:ext cx="35137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WC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29" name="文本框 328">
                        <a:extLst>
                          <a:ext uri="{FF2B5EF4-FFF2-40B4-BE49-F238E27FC236}">
                            <a16:creationId xmlns:a16="http://schemas.microsoft.com/office/drawing/2014/main" id="{3A99E5F4-AB0C-4AF5-A192-1FFEC640EA8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987824" y="4581128"/>
                        <a:ext cx="369012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RAS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3" name="文本框 332">
                        <a:extLst>
                          <a:ext uri="{FF2B5EF4-FFF2-40B4-BE49-F238E27FC236}">
                            <a16:creationId xmlns:a16="http://schemas.microsoft.com/office/drawing/2014/main" id="{E496FB46-731E-48A8-A270-40D487E840E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356526" y="4797152"/>
                        <a:ext cx="365806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CAS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4" name="文本框 333">
                        <a:extLst>
                          <a:ext uri="{FF2B5EF4-FFF2-40B4-BE49-F238E27FC236}">
                            <a16:creationId xmlns:a16="http://schemas.microsoft.com/office/drawing/2014/main" id="{92953A21-4E04-43D0-884B-484D51209F6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12510" y="5199003"/>
                        <a:ext cx="35137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WP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5" name="文本框 334">
                        <a:extLst>
                          <a:ext uri="{FF2B5EF4-FFF2-40B4-BE49-F238E27FC236}">
                            <a16:creationId xmlns:a16="http://schemas.microsoft.com/office/drawing/2014/main" id="{C70CE75D-E7AE-402C-9B20-B7E61D5EC0D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419872" y="5703059"/>
                        <a:ext cx="388248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WCL</a:t>
                        </a:r>
                        <a:endParaRPr lang="zh-CN" altLang="en-US" sz="1000" b="1" baseline="-25000" dirty="0"/>
                      </a:p>
                    </p:txBody>
                  </p:sp>
                  <p:sp>
                    <p:nvSpPr>
                      <p:cNvPr id="336" name="文本框 335">
                        <a:extLst>
                          <a:ext uri="{FF2B5EF4-FFF2-40B4-BE49-F238E27FC236}">
                            <a16:creationId xmlns:a16="http://schemas.microsoft.com/office/drawing/2014/main" id="{95B082A3-013C-4A81-8211-6E3A54C0C3D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63888" y="6309320"/>
                        <a:ext cx="338554" cy="24622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en-US" altLang="zh-CN" sz="1000" b="1" dirty="0" err="1"/>
                          <a:t>t</a:t>
                        </a:r>
                        <a:r>
                          <a:rPr lang="en-US" altLang="zh-CN" sz="1000" b="1" baseline="-25000" dirty="0" err="1"/>
                          <a:t>DH</a:t>
                        </a:r>
                        <a:endParaRPr lang="zh-CN" altLang="en-US" sz="1000" b="1" baseline="-25000" dirty="0"/>
                      </a:p>
                    </p:txBody>
                  </p:sp>
                </p:grpSp>
              </p:grpSp>
            </p:grpSp>
            <p:grpSp>
              <p:nvGrpSpPr>
                <p:cNvPr id="346" name="组合 345">
                  <a:extLst>
                    <a:ext uri="{FF2B5EF4-FFF2-40B4-BE49-F238E27FC236}">
                      <a16:creationId xmlns:a16="http://schemas.microsoft.com/office/drawing/2014/main" id="{4A71F666-611E-471D-9DAD-2BE42787B4BF}"/>
                    </a:ext>
                  </a:extLst>
                </p:cNvPr>
                <p:cNvGrpSpPr/>
                <p:nvPr/>
              </p:nvGrpSpPr>
              <p:grpSpPr>
                <a:xfrm>
                  <a:off x="2104875" y="4365104"/>
                  <a:ext cx="2279472" cy="2088232"/>
                  <a:chOff x="2104875" y="4365104"/>
                  <a:chExt cx="2279472" cy="2088232"/>
                </a:xfrm>
              </p:grpSpPr>
              <p:grpSp>
                <p:nvGrpSpPr>
                  <p:cNvPr id="345" name="组合 344">
                    <a:extLst>
                      <a:ext uri="{FF2B5EF4-FFF2-40B4-BE49-F238E27FC236}">
                        <a16:creationId xmlns:a16="http://schemas.microsoft.com/office/drawing/2014/main" id="{B569B0FF-F76B-4340-B281-C66CD39F7FAD}"/>
                      </a:ext>
                    </a:extLst>
                  </p:cNvPr>
                  <p:cNvGrpSpPr/>
                  <p:nvPr/>
                </p:nvGrpSpPr>
                <p:grpSpPr>
                  <a:xfrm>
                    <a:off x="2104875" y="4365104"/>
                    <a:ext cx="2279472" cy="1513009"/>
                    <a:chOff x="2104875" y="4365104"/>
                    <a:chExt cx="2279472" cy="1513009"/>
                  </a:xfrm>
                </p:grpSpPr>
                <p:cxnSp>
                  <p:nvCxnSpPr>
                    <p:cNvPr id="33" name="直接连接符 32">
                      <a:extLst>
                        <a:ext uri="{FF2B5EF4-FFF2-40B4-BE49-F238E27FC236}">
                          <a16:creationId xmlns:a16="http://schemas.microsoft.com/office/drawing/2014/main" id="{B1F07389-8753-4C4D-BBFF-1058E38FB2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104875" y="4365104"/>
                      <a:ext cx="0" cy="46091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9" name="直接连接符 298">
                      <a:extLst>
                        <a:ext uri="{FF2B5EF4-FFF2-40B4-BE49-F238E27FC236}">
                          <a16:creationId xmlns:a16="http://schemas.microsoft.com/office/drawing/2014/main" id="{F3F3EF1B-B8AD-4A49-A91D-CF82A15E1BC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760691" y="4581128"/>
                      <a:ext cx="0" cy="340228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0" name="直接连接符 299">
                      <a:extLst>
                        <a:ext uri="{FF2B5EF4-FFF2-40B4-BE49-F238E27FC236}">
                          <a16:creationId xmlns:a16="http://schemas.microsoft.com/office/drawing/2014/main" id="{80C80FF4-F09C-4BB4-B0DD-751C740C4EE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84347" y="4370420"/>
                      <a:ext cx="0" cy="460915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2" name="直接连接符 301">
                      <a:extLst>
                        <a:ext uri="{FF2B5EF4-FFF2-40B4-BE49-F238E27FC236}">
                          <a16:creationId xmlns:a16="http://schemas.microsoft.com/office/drawing/2014/main" id="{62B64D7E-A27B-411C-A48A-5DCC4402176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006568" y="4912301"/>
                      <a:ext cx="14607" cy="965812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prstDash val="lg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343" name="直接连接符 342">
                    <a:extLst>
                      <a:ext uri="{FF2B5EF4-FFF2-40B4-BE49-F238E27FC236}">
                        <a16:creationId xmlns:a16="http://schemas.microsoft.com/office/drawing/2014/main" id="{20540974-63C0-49EB-9E9F-95E4F3DC05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39952" y="5963554"/>
                    <a:ext cx="0" cy="48978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直接连接符 343">
                    <a:extLst>
                      <a:ext uri="{FF2B5EF4-FFF2-40B4-BE49-F238E27FC236}">
                        <a16:creationId xmlns:a16="http://schemas.microsoft.com/office/drawing/2014/main" id="{2EFEA323-FB0B-4EBE-8E30-BEE826930D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414556" y="5992421"/>
                    <a:ext cx="0" cy="46091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352" name="文本框 351">
              <a:extLst>
                <a:ext uri="{FF2B5EF4-FFF2-40B4-BE49-F238E27FC236}">
                  <a16:creationId xmlns:a16="http://schemas.microsoft.com/office/drawing/2014/main" id="{CB109D97-B50A-4EF3-B68A-896183989E80}"/>
                </a:ext>
              </a:extLst>
            </p:cNvPr>
            <p:cNvSpPr txBox="1"/>
            <p:nvPr/>
          </p:nvSpPr>
          <p:spPr>
            <a:xfrm>
              <a:off x="2144992" y="4139028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行地址</a:t>
              </a:r>
            </a:p>
          </p:txBody>
        </p:sp>
        <p:sp>
          <p:nvSpPr>
            <p:cNvPr id="353" name="文本框 352">
              <a:extLst>
                <a:ext uri="{FF2B5EF4-FFF2-40B4-BE49-F238E27FC236}">
                  <a16:creationId xmlns:a16="http://schemas.microsoft.com/office/drawing/2014/main" id="{DB9558BE-F4AA-4D3D-8AC7-581C529ED680}"/>
                </a:ext>
              </a:extLst>
            </p:cNvPr>
            <p:cNvSpPr txBox="1"/>
            <p:nvPr/>
          </p:nvSpPr>
          <p:spPr>
            <a:xfrm>
              <a:off x="3222956" y="4140001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列地址</a:t>
              </a:r>
            </a:p>
          </p:txBody>
        </p:sp>
      </p:grpSp>
      <p:grpSp>
        <p:nvGrpSpPr>
          <p:cNvPr id="355" name="组合 354">
            <a:extLst>
              <a:ext uri="{FF2B5EF4-FFF2-40B4-BE49-F238E27FC236}">
                <a16:creationId xmlns:a16="http://schemas.microsoft.com/office/drawing/2014/main" id="{754B3DE8-BA36-483C-8376-9EF71BF1127F}"/>
              </a:ext>
            </a:extLst>
          </p:cNvPr>
          <p:cNvGrpSpPr/>
          <p:nvPr/>
        </p:nvGrpSpPr>
        <p:grpSpPr>
          <a:xfrm>
            <a:off x="888253" y="635351"/>
            <a:ext cx="4835875" cy="2414950"/>
            <a:chOff x="888253" y="776068"/>
            <a:chExt cx="5195915" cy="2429613"/>
          </a:xfrm>
        </p:grpSpPr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4E9B9A15-5EE2-4AB2-B88A-DEF6FAAE04E7}"/>
                </a:ext>
              </a:extLst>
            </p:cNvPr>
            <p:cNvGrpSpPr/>
            <p:nvPr/>
          </p:nvGrpSpPr>
          <p:grpSpPr>
            <a:xfrm>
              <a:off x="888253" y="776068"/>
              <a:ext cx="5195915" cy="2429613"/>
              <a:chOff x="960261" y="776068"/>
              <a:chExt cx="5195915" cy="2429613"/>
            </a:xfrm>
          </p:grpSpPr>
          <p:grpSp>
            <p:nvGrpSpPr>
              <p:cNvPr id="246" name="组合 245">
                <a:extLst>
                  <a:ext uri="{FF2B5EF4-FFF2-40B4-BE49-F238E27FC236}">
                    <a16:creationId xmlns:a16="http://schemas.microsoft.com/office/drawing/2014/main" id="{02D14B44-E00D-4C52-8F84-EEB18231371F}"/>
                  </a:ext>
                </a:extLst>
              </p:cNvPr>
              <p:cNvGrpSpPr/>
              <p:nvPr/>
            </p:nvGrpSpPr>
            <p:grpSpPr>
              <a:xfrm>
                <a:off x="960261" y="776068"/>
                <a:ext cx="5195915" cy="2429613"/>
                <a:chOff x="960261" y="776068"/>
                <a:chExt cx="5195915" cy="2429613"/>
              </a:xfrm>
            </p:grpSpPr>
            <p:grpSp>
              <p:nvGrpSpPr>
                <p:cNvPr id="194" name="组合 193">
                  <a:extLst>
                    <a:ext uri="{FF2B5EF4-FFF2-40B4-BE49-F238E27FC236}">
                      <a16:creationId xmlns:a16="http://schemas.microsoft.com/office/drawing/2014/main" id="{46554296-ED90-418A-9B1D-0D121459EC54}"/>
                    </a:ext>
                  </a:extLst>
                </p:cNvPr>
                <p:cNvGrpSpPr/>
                <p:nvPr/>
              </p:nvGrpSpPr>
              <p:grpSpPr>
                <a:xfrm>
                  <a:off x="1600285" y="2312691"/>
                  <a:ext cx="3700050" cy="252213"/>
                  <a:chOff x="1312982" y="2539079"/>
                  <a:chExt cx="3700050" cy="252213"/>
                </a:xfrm>
              </p:grpSpPr>
              <p:cxnSp>
                <p:nvCxnSpPr>
                  <p:cNvPr id="138" name="直接连接符 137">
                    <a:extLst>
                      <a:ext uri="{FF2B5EF4-FFF2-40B4-BE49-F238E27FC236}">
                        <a16:creationId xmlns:a16="http://schemas.microsoft.com/office/drawing/2014/main" id="{8D01F06C-3080-4789-89D8-C95E6F1A2B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468712" y="2785823"/>
                    <a:ext cx="544320" cy="5469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9" name="直接连接符 138">
                    <a:extLst>
                      <a:ext uri="{FF2B5EF4-FFF2-40B4-BE49-F238E27FC236}">
                        <a16:creationId xmlns:a16="http://schemas.microsoft.com/office/drawing/2014/main" id="{E85B63CA-45F1-4C91-8530-E8962629CE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2119534" y="2547279"/>
                    <a:ext cx="2212263" cy="13974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0" name="直接连接符 139">
                    <a:extLst>
                      <a:ext uri="{FF2B5EF4-FFF2-40B4-BE49-F238E27FC236}">
                        <a16:creationId xmlns:a16="http://schemas.microsoft.com/office/drawing/2014/main" id="{7D8AF3E3-5A8F-47E6-BBFC-76D0C32BF9D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1312982" y="2768365"/>
                    <a:ext cx="653984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1" name="直接连接符 140">
                    <a:extLst>
                      <a:ext uri="{FF2B5EF4-FFF2-40B4-BE49-F238E27FC236}">
                        <a16:creationId xmlns:a16="http://schemas.microsoft.com/office/drawing/2014/main" id="{77AAA23D-0A09-4DFF-9834-7DCC6C4EBB9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4319320" y="2571655"/>
                    <a:ext cx="149392" cy="203318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2" name="直接连接符 141">
                    <a:extLst>
                      <a:ext uri="{FF2B5EF4-FFF2-40B4-BE49-F238E27FC236}">
                        <a16:creationId xmlns:a16="http://schemas.microsoft.com/office/drawing/2014/main" id="{A863266A-96ED-4735-BA64-F4E48B56C8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966966" y="2539079"/>
                    <a:ext cx="187376" cy="235894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57" name="组合 156">
                  <a:extLst>
                    <a:ext uri="{FF2B5EF4-FFF2-40B4-BE49-F238E27FC236}">
                      <a16:creationId xmlns:a16="http://schemas.microsoft.com/office/drawing/2014/main" id="{B42DB291-64EC-4BBA-BCAE-990D601D72A2}"/>
                    </a:ext>
                  </a:extLst>
                </p:cNvPr>
                <p:cNvGrpSpPr/>
                <p:nvPr/>
              </p:nvGrpSpPr>
              <p:grpSpPr>
                <a:xfrm>
                  <a:off x="1600285" y="1446328"/>
                  <a:ext cx="3691795" cy="192829"/>
                  <a:chOff x="1600285" y="1446328"/>
                  <a:chExt cx="3691795" cy="192829"/>
                </a:xfrm>
              </p:grpSpPr>
              <p:grpSp>
                <p:nvGrpSpPr>
                  <p:cNvPr id="22" name="组合 21">
                    <a:extLst>
                      <a:ext uri="{FF2B5EF4-FFF2-40B4-BE49-F238E27FC236}">
                        <a16:creationId xmlns:a16="http://schemas.microsoft.com/office/drawing/2014/main" id="{89079E0E-F4A8-4F8F-B2A6-40F26FB0F3AC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1446328"/>
                    <a:ext cx="2717722" cy="192829"/>
                    <a:chOff x="3634437" y="1633943"/>
                    <a:chExt cx="2717722" cy="192829"/>
                  </a:xfrm>
                </p:grpSpPr>
                <p:cxnSp>
                  <p:nvCxnSpPr>
                    <p:cNvPr id="47" name="直接连接符 46">
                      <a:extLst>
                        <a:ext uri="{FF2B5EF4-FFF2-40B4-BE49-F238E27FC236}">
                          <a16:creationId xmlns:a16="http://schemas.microsoft.com/office/drawing/2014/main" id="{31C0D1B6-F37B-437D-A5A1-8C7FBE4FF7D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634437" y="1645419"/>
                      <a:ext cx="476591" cy="8059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直接连接符 47">
                      <a:extLst>
                        <a:ext uri="{FF2B5EF4-FFF2-40B4-BE49-F238E27FC236}">
                          <a16:creationId xmlns:a16="http://schemas.microsoft.com/office/drawing/2014/main" id="{490FCD12-2183-40F7-9561-7D18B7AFF81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265723" y="1815029"/>
                      <a:ext cx="1478615" cy="5719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直接连接符 48">
                      <a:extLst>
                        <a:ext uri="{FF2B5EF4-FFF2-40B4-BE49-F238E27FC236}">
                          <a16:creationId xmlns:a16="http://schemas.microsoft.com/office/drawing/2014/main" id="{D76231C6-B365-42D5-85E7-5CC341C717A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5866851" y="1653478"/>
                      <a:ext cx="485308" cy="0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直接连接符 49">
                      <a:extLst>
                        <a:ext uri="{FF2B5EF4-FFF2-40B4-BE49-F238E27FC236}">
                          <a16:creationId xmlns:a16="http://schemas.microsoft.com/office/drawing/2014/main" id="{5D49DEC7-F3DA-4DC7-8EE5-65A89C0E5CA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101670" y="1633943"/>
                      <a:ext cx="164053" cy="182614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直接连接符 50">
                      <a:extLst>
                        <a:ext uri="{FF2B5EF4-FFF2-40B4-BE49-F238E27FC236}">
                          <a16:creationId xmlns:a16="http://schemas.microsoft.com/office/drawing/2014/main" id="{65E828C5-1811-4EA3-9B16-83938295599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5722835" y="1645516"/>
                      <a:ext cx="144016" cy="181256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54" name="直接连接符 153">
                    <a:extLst>
                      <a:ext uri="{FF2B5EF4-FFF2-40B4-BE49-F238E27FC236}">
                        <a16:creationId xmlns:a16="http://schemas.microsoft.com/office/drawing/2014/main" id="{C0DAA63C-FB06-41D9-9932-2CCD4D6967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07700" y="1457804"/>
                    <a:ext cx="130277" cy="160935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6" name="直接连接符 155">
                    <a:extLst>
                      <a:ext uri="{FF2B5EF4-FFF2-40B4-BE49-F238E27FC236}">
                        <a16:creationId xmlns:a16="http://schemas.microsoft.com/office/drawing/2014/main" id="{E2F9799B-9DBE-4C8D-B82C-542675111B9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436209" y="1618739"/>
                    <a:ext cx="855871" cy="3971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80" name="组合 179">
                  <a:extLst>
                    <a:ext uri="{FF2B5EF4-FFF2-40B4-BE49-F238E27FC236}">
                      <a16:creationId xmlns:a16="http://schemas.microsoft.com/office/drawing/2014/main" id="{93703A03-0BFA-410F-A7BC-201A8A7E7F02}"/>
                    </a:ext>
                  </a:extLst>
                </p:cNvPr>
                <p:cNvGrpSpPr/>
                <p:nvPr/>
              </p:nvGrpSpPr>
              <p:grpSpPr>
                <a:xfrm>
                  <a:off x="1600285" y="1966517"/>
                  <a:ext cx="3706583" cy="198281"/>
                  <a:chOff x="1600285" y="1966517"/>
                  <a:chExt cx="3706583" cy="198281"/>
                </a:xfrm>
              </p:grpSpPr>
              <p:grpSp>
                <p:nvGrpSpPr>
                  <p:cNvPr id="165" name="组合 164">
                    <a:extLst>
                      <a:ext uri="{FF2B5EF4-FFF2-40B4-BE49-F238E27FC236}">
                        <a16:creationId xmlns:a16="http://schemas.microsoft.com/office/drawing/2014/main" id="{D00CA1F0-2669-4145-8312-11459CB5C046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1966517"/>
                    <a:ext cx="3706583" cy="192829"/>
                    <a:chOff x="1354023" y="1446328"/>
                    <a:chExt cx="3706583" cy="192829"/>
                  </a:xfrm>
                </p:grpSpPr>
                <p:grpSp>
                  <p:nvGrpSpPr>
                    <p:cNvPr id="166" name="组合 165">
                      <a:extLst>
                        <a:ext uri="{FF2B5EF4-FFF2-40B4-BE49-F238E27FC236}">
                          <a16:creationId xmlns:a16="http://schemas.microsoft.com/office/drawing/2014/main" id="{AA766E25-CB8B-4660-AE80-39643D7073D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354023" y="1446328"/>
                      <a:ext cx="2963984" cy="192829"/>
                      <a:chOff x="3388175" y="1633943"/>
                      <a:chExt cx="2963984" cy="192829"/>
                    </a:xfrm>
                  </p:grpSpPr>
                  <p:cxnSp>
                    <p:nvCxnSpPr>
                      <p:cNvPr id="169" name="直接连接符 168">
                        <a:extLst>
                          <a:ext uri="{FF2B5EF4-FFF2-40B4-BE49-F238E27FC236}">
                            <a16:creationId xmlns:a16="http://schemas.microsoft.com/office/drawing/2014/main" id="{0E83EF16-1C9D-4A8D-94D4-0291D4F7945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388175" y="1645419"/>
                        <a:ext cx="1547884" cy="17203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0" name="直接连接符 169">
                        <a:extLst>
                          <a:ext uri="{FF2B5EF4-FFF2-40B4-BE49-F238E27FC236}">
                            <a16:creationId xmlns:a16="http://schemas.microsoft.com/office/drawing/2014/main" id="{3366A5E9-4044-46C6-B09C-C7843741FC8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761975" y="1820748"/>
                        <a:ext cx="982363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1" name="直接连接符 170">
                        <a:extLst>
                          <a:ext uri="{FF2B5EF4-FFF2-40B4-BE49-F238E27FC236}">
                            <a16:creationId xmlns:a16="http://schemas.microsoft.com/office/drawing/2014/main" id="{AC549299-ED1F-460B-92E7-7DE2873F455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866851" y="1653478"/>
                        <a:ext cx="485308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2" name="直接连接符 171">
                        <a:extLst>
                          <a:ext uri="{FF2B5EF4-FFF2-40B4-BE49-F238E27FC236}">
                            <a16:creationId xmlns:a16="http://schemas.microsoft.com/office/drawing/2014/main" id="{1E6100D9-F9AD-4518-AB31-35F1812B047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33469" y="1633943"/>
                        <a:ext cx="144884" cy="186805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3" name="直接连接符 172">
                        <a:extLst>
                          <a:ext uri="{FF2B5EF4-FFF2-40B4-BE49-F238E27FC236}">
                            <a16:creationId xmlns:a16="http://schemas.microsoft.com/office/drawing/2014/main" id="{004B53AB-1278-4B5C-A3E7-49B250C7485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722835" y="1645516"/>
                        <a:ext cx="144016" cy="181256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167" name="直接连接符 166">
                      <a:extLst>
                        <a:ext uri="{FF2B5EF4-FFF2-40B4-BE49-F238E27FC236}">
                          <a16:creationId xmlns:a16="http://schemas.microsoft.com/office/drawing/2014/main" id="{13B8CD67-C10D-40CF-8DCC-683E46C4F75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307700" y="1457804"/>
                      <a:ext cx="130277" cy="160935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8" name="直接连接符 167">
                      <a:extLst>
                        <a:ext uri="{FF2B5EF4-FFF2-40B4-BE49-F238E27FC236}">
                          <a16:creationId xmlns:a16="http://schemas.microsoft.com/office/drawing/2014/main" id="{059DCF3E-B662-4DED-BCF7-CCD782DC238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4436209" y="1622710"/>
                      <a:ext cx="624397" cy="10423"/>
                    </a:xfrm>
                    <a:prstGeom prst="line">
                      <a:avLst/>
                    </a:prstGeom>
                    <a:ln w="28575"/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74" name="直接连接符 173">
                    <a:extLst>
                      <a:ext uri="{FF2B5EF4-FFF2-40B4-BE49-F238E27FC236}">
                        <a16:creationId xmlns:a16="http://schemas.microsoft.com/office/drawing/2014/main" id="{311C928E-E18D-4EDA-A3A9-0117FFB683D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987824" y="1971921"/>
                    <a:ext cx="151288" cy="192877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5" name="直接连接符 174">
                    <a:extLst>
                      <a:ext uri="{FF2B5EF4-FFF2-40B4-BE49-F238E27FC236}">
                        <a16:creationId xmlns:a16="http://schemas.microsoft.com/office/drawing/2014/main" id="{3B02EDF4-1324-4D8A-8927-77EDD48AA4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843808" y="1988840"/>
                    <a:ext cx="130277" cy="160935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15" name="组合 214">
                  <a:extLst>
                    <a:ext uri="{FF2B5EF4-FFF2-40B4-BE49-F238E27FC236}">
                      <a16:creationId xmlns:a16="http://schemas.microsoft.com/office/drawing/2014/main" id="{87B764D9-5A28-4F05-A8D4-68A55E1AA732}"/>
                    </a:ext>
                  </a:extLst>
                </p:cNvPr>
                <p:cNvGrpSpPr/>
                <p:nvPr/>
              </p:nvGrpSpPr>
              <p:grpSpPr>
                <a:xfrm>
                  <a:off x="1619672" y="2805815"/>
                  <a:ext cx="3672408" cy="399866"/>
                  <a:chOff x="1547664" y="3021839"/>
                  <a:chExt cx="3672408" cy="399866"/>
                </a:xfrm>
              </p:grpSpPr>
              <p:grpSp>
                <p:nvGrpSpPr>
                  <p:cNvPr id="212" name="组合 211">
                    <a:extLst>
                      <a:ext uri="{FF2B5EF4-FFF2-40B4-BE49-F238E27FC236}">
                        <a16:creationId xmlns:a16="http://schemas.microsoft.com/office/drawing/2014/main" id="{6412062D-D59B-4976-9EE5-B6F1F66BABA1}"/>
                      </a:ext>
                    </a:extLst>
                  </p:cNvPr>
                  <p:cNvGrpSpPr/>
                  <p:nvPr/>
                </p:nvGrpSpPr>
                <p:grpSpPr>
                  <a:xfrm>
                    <a:off x="1547664" y="3021839"/>
                    <a:ext cx="3596839" cy="399866"/>
                    <a:chOff x="1711802" y="3021839"/>
                    <a:chExt cx="3596839" cy="399866"/>
                  </a:xfrm>
                </p:grpSpPr>
                <p:grpSp>
                  <p:nvGrpSpPr>
                    <p:cNvPr id="25" name="组合 24">
                      <a:extLst>
                        <a:ext uri="{FF2B5EF4-FFF2-40B4-BE49-F238E27FC236}">
                          <a16:creationId xmlns:a16="http://schemas.microsoft.com/office/drawing/2014/main" id="{4F192899-3EA4-4EC6-8EB4-0B6DE778A6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11802" y="3157454"/>
                      <a:ext cx="3460321" cy="153618"/>
                      <a:chOff x="2823314" y="2780928"/>
                      <a:chExt cx="3460321" cy="153618"/>
                    </a:xfrm>
                  </p:grpSpPr>
                  <p:grpSp>
                    <p:nvGrpSpPr>
                      <p:cNvPr id="35" name="组合 34">
                        <a:extLst>
                          <a:ext uri="{FF2B5EF4-FFF2-40B4-BE49-F238E27FC236}">
                            <a16:creationId xmlns:a16="http://schemas.microsoft.com/office/drawing/2014/main" id="{19CA7846-F44F-4A1A-85FE-91DE7E3CBC8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5388233" y="2780928"/>
                        <a:ext cx="551919" cy="153618"/>
                        <a:chOff x="4671709" y="2945461"/>
                        <a:chExt cx="551919" cy="153618"/>
                      </a:xfrm>
                    </p:grpSpPr>
                    <p:sp>
                      <p:nvSpPr>
                        <p:cNvPr id="38" name="箭头: 五边形 37">
                          <a:extLst>
                            <a:ext uri="{FF2B5EF4-FFF2-40B4-BE49-F238E27FC236}">
                              <a16:creationId xmlns:a16="http://schemas.microsoft.com/office/drawing/2014/main" id="{BD95DAEB-D9A0-489D-B637-2B8458895C1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rot="10800000">
                          <a:off x="4671709" y="2945461"/>
                          <a:ext cx="518275" cy="153618"/>
                        </a:xfrm>
                        <a:prstGeom prst="homePlate">
                          <a:avLst/>
                        </a:prstGeom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39" name="菱形 38">
                          <a:extLst>
                            <a:ext uri="{FF2B5EF4-FFF2-40B4-BE49-F238E27FC236}">
                              <a16:creationId xmlns:a16="http://schemas.microsoft.com/office/drawing/2014/main" id="{0331879A-67DA-4270-A3E5-D05C07600F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5156340" y="2953131"/>
                          <a:ext cx="67288" cy="144008"/>
                        </a:xfrm>
                        <a:prstGeom prst="diamond">
                          <a:avLst/>
                        </a:prstGeom>
                        <a:solidFill>
                          <a:schemeClr val="accent1"/>
                        </a:solidFill>
                        <a:ln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</p:grpSp>
                  <p:cxnSp>
                    <p:nvCxnSpPr>
                      <p:cNvPr id="36" name="直接连接符 35">
                        <a:extLst>
                          <a:ext uri="{FF2B5EF4-FFF2-40B4-BE49-F238E27FC236}">
                            <a16:creationId xmlns:a16="http://schemas.microsoft.com/office/drawing/2014/main" id="{8EF3CCCB-A09E-4BD2-B948-3008C1CD63F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823314" y="2857737"/>
                        <a:ext cx="2546311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7" name="直接连接符 36">
                        <a:extLst>
                          <a:ext uri="{FF2B5EF4-FFF2-40B4-BE49-F238E27FC236}">
                            <a16:creationId xmlns:a16="http://schemas.microsoft.com/office/drawing/2014/main" id="{6D5B66E0-54C9-40AF-876C-A7C2A7E53E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940152" y="2857737"/>
                        <a:ext cx="343483" cy="0"/>
                      </a:xfrm>
                      <a:prstGeom prst="line">
                        <a:avLst/>
                      </a:prstGeom>
                      <a:ln w="28575"/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pic>
                  <p:nvPicPr>
                    <p:cNvPr id="211" name="图片 210">
                      <a:extLst>
                        <a:ext uri="{FF2B5EF4-FFF2-40B4-BE49-F238E27FC236}">
                          <a16:creationId xmlns:a16="http://schemas.microsoft.com/office/drawing/2014/main" id="{84FDB09A-D681-4FF0-BF03-959EB99773D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/>
                    <a:stretch>
                      <a:fillRect/>
                    </a:stretch>
                  </p:blipFill>
                  <p:spPr>
                    <a:xfrm flipH="1">
                      <a:off x="4770412" y="3021839"/>
                      <a:ext cx="538229" cy="399866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13" name="直接连接符 212">
                    <a:extLst>
                      <a:ext uri="{FF2B5EF4-FFF2-40B4-BE49-F238E27FC236}">
                        <a16:creationId xmlns:a16="http://schemas.microsoft.com/office/drawing/2014/main" id="{ACFF32EA-9E1B-426E-94E9-62310558FC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4919441" y="3239706"/>
                    <a:ext cx="300631" cy="0"/>
                  </a:xfrm>
                  <a:prstGeom prst="line">
                    <a:avLst/>
                  </a:prstGeom>
                  <a:ln w="28575"/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45" name="组合 244">
                  <a:extLst>
                    <a:ext uri="{FF2B5EF4-FFF2-40B4-BE49-F238E27FC236}">
                      <a16:creationId xmlns:a16="http://schemas.microsoft.com/office/drawing/2014/main" id="{63BFC827-30C2-48DC-BE8C-992EA554ED47}"/>
                    </a:ext>
                  </a:extLst>
                </p:cNvPr>
                <p:cNvGrpSpPr/>
                <p:nvPr/>
              </p:nvGrpSpPr>
              <p:grpSpPr>
                <a:xfrm>
                  <a:off x="960261" y="776068"/>
                  <a:ext cx="5195915" cy="2365066"/>
                  <a:chOff x="960261" y="776068"/>
                  <a:chExt cx="5195915" cy="2365066"/>
                </a:xfrm>
              </p:grpSpPr>
              <p:cxnSp>
                <p:nvCxnSpPr>
                  <p:cNvPr id="26" name="直接连接符 25">
                    <a:extLst>
                      <a:ext uri="{FF2B5EF4-FFF2-40B4-BE49-F238E27FC236}">
                        <a16:creationId xmlns:a16="http://schemas.microsoft.com/office/drawing/2014/main" id="{992F87FA-0E96-4841-9E17-A463B77294F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0057" y="1312304"/>
                    <a:ext cx="2232248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直接连接符 31">
                    <a:extLst>
                      <a:ext uri="{FF2B5EF4-FFF2-40B4-BE49-F238E27FC236}">
                        <a16:creationId xmlns:a16="http://schemas.microsoft.com/office/drawing/2014/main" id="{C6E759B2-E968-44E3-840D-93F237739E1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0057" y="1196752"/>
                    <a:ext cx="0" cy="5881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直接连接符 33">
                    <a:extLst>
                      <a:ext uri="{FF2B5EF4-FFF2-40B4-BE49-F238E27FC236}">
                        <a16:creationId xmlns:a16="http://schemas.microsoft.com/office/drawing/2014/main" id="{40EB5F40-5DB0-43C0-9C8C-E46EF8B57C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33374" y="1851413"/>
                    <a:ext cx="9957" cy="412232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875C62CF-2666-4A3A-BBA5-ED8B92D42311}"/>
                      </a:ext>
                    </a:extLst>
                  </p:cNvPr>
                  <p:cNvSpPr txBox="1"/>
                  <p:nvPr/>
                </p:nvSpPr>
                <p:spPr>
                  <a:xfrm>
                    <a:off x="960261" y="919753"/>
                    <a:ext cx="49885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 err="1"/>
                      <a:t>Addr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22F3095C-0936-45C3-8F21-457985990AD4}"/>
                      </a:ext>
                    </a:extLst>
                  </p:cNvPr>
                  <p:cNvSpPr txBox="1"/>
                  <p:nvPr/>
                </p:nvSpPr>
                <p:spPr>
                  <a:xfrm>
                    <a:off x="976498" y="1333977"/>
                    <a:ext cx="50206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/RAS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1" name="文本框 20">
                    <a:extLst>
                      <a:ext uri="{FF2B5EF4-FFF2-40B4-BE49-F238E27FC236}">
                        <a16:creationId xmlns:a16="http://schemas.microsoft.com/office/drawing/2014/main" id="{37850023-3E5D-4137-A8E4-A7057CF507C6}"/>
                      </a:ext>
                    </a:extLst>
                  </p:cNvPr>
                  <p:cNvSpPr txBox="1"/>
                  <p:nvPr/>
                </p:nvSpPr>
                <p:spPr>
                  <a:xfrm>
                    <a:off x="1056946" y="2864135"/>
                    <a:ext cx="470000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D</a:t>
                    </a:r>
                    <a:r>
                      <a:rPr lang="en-US" altLang="zh-CN" sz="1200" b="1" baseline="-25000" dirty="0"/>
                      <a:t>OUT</a:t>
                    </a:r>
                    <a:endParaRPr lang="zh-CN" altLang="en-US" sz="1200" b="1" baseline="-25000" dirty="0"/>
                  </a:p>
                </p:txBody>
              </p:sp>
              <p:grpSp>
                <p:nvGrpSpPr>
                  <p:cNvPr id="132" name="组合 131">
                    <a:extLst>
                      <a:ext uri="{FF2B5EF4-FFF2-40B4-BE49-F238E27FC236}">
                        <a16:creationId xmlns:a16="http://schemas.microsoft.com/office/drawing/2014/main" id="{DF2276FE-8A19-4A22-A9C8-E8E888B85D5C}"/>
                      </a:ext>
                    </a:extLst>
                  </p:cNvPr>
                  <p:cNvGrpSpPr/>
                  <p:nvPr/>
                </p:nvGrpSpPr>
                <p:grpSpPr>
                  <a:xfrm>
                    <a:off x="1600285" y="776068"/>
                    <a:ext cx="4555891" cy="480579"/>
                    <a:chOff x="1380627" y="2965799"/>
                    <a:chExt cx="4173801" cy="480579"/>
                  </a:xfrm>
                </p:grpSpPr>
                <p:grpSp>
                  <p:nvGrpSpPr>
                    <p:cNvPr id="129" name="组合 128">
                      <a:extLst>
                        <a:ext uri="{FF2B5EF4-FFF2-40B4-BE49-F238E27FC236}">
                          <a16:creationId xmlns:a16="http://schemas.microsoft.com/office/drawing/2014/main" id="{E073F8D7-628D-4B30-938C-F55951C49E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547664" y="2965799"/>
                      <a:ext cx="4006764" cy="480579"/>
                      <a:chOff x="1714468" y="2965799"/>
                      <a:chExt cx="3840198" cy="480579"/>
                    </a:xfrm>
                  </p:grpSpPr>
                  <p:pic>
                    <p:nvPicPr>
                      <p:cNvPr id="4" name="图片 3">
                        <a:extLst>
                          <a:ext uri="{FF2B5EF4-FFF2-40B4-BE49-F238E27FC236}">
                            <a16:creationId xmlns:a16="http://schemas.microsoft.com/office/drawing/2014/main" id="{489EB8E9-0D5D-44EB-8882-942CE41A5528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14468" y="2965799"/>
                        <a:ext cx="476274" cy="444523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2" name="图片 121">
                        <a:extLst>
                          <a:ext uri="{FF2B5EF4-FFF2-40B4-BE49-F238E27FC236}">
                            <a16:creationId xmlns:a16="http://schemas.microsoft.com/office/drawing/2014/main" id="{7989049C-A40A-4A31-AA41-C1AD2B70B4FC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90742" y="3004760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3" name="图片 122">
                        <a:extLst>
                          <a:ext uri="{FF2B5EF4-FFF2-40B4-BE49-F238E27FC236}">
                            <a16:creationId xmlns:a16="http://schemas.microsoft.com/office/drawing/2014/main" id="{DAA3BDB0-48B7-47BD-83E8-80B8ABEAEE47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 rot="10800000">
                        <a:off x="2744332" y="3040816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4" name="图片 123">
                        <a:extLst>
                          <a:ext uri="{FF2B5EF4-FFF2-40B4-BE49-F238E27FC236}">
                            <a16:creationId xmlns:a16="http://schemas.microsoft.com/office/drawing/2014/main" id="{6AD41A6A-DB03-4E00-A58D-9CB33A93A365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039621" y="2999147"/>
                        <a:ext cx="590580" cy="405562"/>
                      </a:xfrm>
                      <a:prstGeom prst="rect">
                        <a:avLst/>
                      </a:prstGeom>
                    </p:spPr>
                  </p:pic>
                  <p:pic>
                    <p:nvPicPr>
                      <p:cNvPr id="126" name="图片 125">
                        <a:extLst>
                          <a:ext uri="{FF2B5EF4-FFF2-40B4-BE49-F238E27FC236}">
                            <a16:creationId xmlns:a16="http://schemas.microsoft.com/office/drawing/2014/main" id="{1EDFF7A9-6587-48DC-B952-4A3717B44093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24970" y="3004760"/>
                        <a:ext cx="1929696" cy="417330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131" name="图片 130">
                      <a:extLst>
                        <a:ext uri="{FF2B5EF4-FFF2-40B4-BE49-F238E27FC236}">
                          <a16:creationId xmlns:a16="http://schemas.microsoft.com/office/drawing/2014/main" id="{3CB5DA65-A2E1-4C71-B3FC-A798BD57FFE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/>
                    <a:stretch>
                      <a:fillRect/>
                    </a:stretch>
                  </p:blipFill>
                  <p:spPr>
                    <a:xfrm>
                      <a:off x="1380627" y="3029610"/>
                      <a:ext cx="279414" cy="361290"/>
                    </a:xfrm>
                    <a:prstGeom prst="rect">
                      <a:avLst/>
                    </a:prstGeom>
                  </p:spPr>
                </p:pic>
              </p:grpSp>
              <p:cxnSp>
                <p:nvCxnSpPr>
                  <p:cNvPr id="220" name="直接连接符 219">
                    <a:extLst>
                      <a:ext uri="{FF2B5EF4-FFF2-40B4-BE49-F238E27FC236}">
                        <a16:creationId xmlns:a16="http://schemas.microsoft.com/office/drawing/2014/main" id="{EBB697DF-42F6-4B4C-8BB3-516B258A15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3760691" y="1340768"/>
                    <a:ext cx="19221" cy="44416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1" name="直接连接符 220">
                    <a:extLst>
                      <a:ext uri="{FF2B5EF4-FFF2-40B4-BE49-F238E27FC236}">
                        <a16:creationId xmlns:a16="http://schemas.microsoft.com/office/drawing/2014/main" id="{153497FC-2B3A-49C6-839D-B84A1A9D58D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372305" y="1196752"/>
                    <a:ext cx="0" cy="588177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2" name="直接连接符 221">
                    <a:extLst>
                      <a:ext uri="{FF2B5EF4-FFF2-40B4-BE49-F238E27FC236}">
                        <a16:creationId xmlns:a16="http://schemas.microsoft.com/office/drawing/2014/main" id="{4A2E5424-EF8D-4709-B907-CBDD8F53C6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995936" y="1832711"/>
                    <a:ext cx="11017" cy="82731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4" name="直接连接符 223">
                    <a:extLst>
                      <a:ext uri="{FF2B5EF4-FFF2-40B4-BE49-F238E27FC236}">
                        <a16:creationId xmlns:a16="http://schemas.microsoft.com/office/drawing/2014/main" id="{5AF56E5B-232C-44FF-B085-5A152C5F678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683358" y="2264759"/>
                    <a:ext cx="19508" cy="38459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5" name="直接连接符 224">
                    <a:extLst>
                      <a:ext uri="{FF2B5EF4-FFF2-40B4-BE49-F238E27FC236}">
                        <a16:creationId xmlns:a16="http://schemas.microsoft.com/office/drawing/2014/main" id="{E6D06A36-38A6-499A-B54F-3859902B36B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72610" y="2708920"/>
                    <a:ext cx="0" cy="3841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6" name="直接连接符 225">
                    <a:extLst>
                      <a:ext uri="{FF2B5EF4-FFF2-40B4-BE49-F238E27FC236}">
                        <a16:creationId xmlns:a16="http://schemas.microsoft.com/office/drawing/2014/main" id="{FA055670-C2E3-4195-B163-0FC7F06FBF0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028175" y="2708920"/>
                    <a:ext cx="9780" cy="384188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lgDash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8" name="直接连接符 227">
                    <a:extLst>
                      <a:ext uri="{FF2B5EF4-FFF2-40B4-BE49-F238E27FC236}">
                        <a16:creationId xmlns:a16="http://schemas.microsoft.com/office/drawing/2014/main" id="{46E2B620-113E-46F5-BFED-A8A07B90693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141306" y="1441240"/>
                    <a:ext cx="1638606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直接连接符 230">
                    <a:extLst>
                      <a:ext uri="{FF2B5EF4-FFF2-40B4-BE49-F238E27FC236}">
                        <a16:creationId xmlns:a16="http://schemas.microsoft.com/office/drawing/2014/main" id="{FF8EFA70-1788-4C88-97F3-A4DCC7474AA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243332" y="1966517"/>
                    <a:ext cx="752604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直接连接符 235">
                    <a:extLst>
                      <a:ext uri="{FF2B5EF4-FFF2-40B4-BE49-F238E27FC236}">
                        <a16:creationId xmlns:a16="http://schemas.microsoft.com/office/drawing/2014/main" id="{51CD31C9-22D2-4075-993D-D9D725B43DD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006953" y="2571966"/>
                    <a:ext cx="695913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1" name="直接连接符 240">
                    <a:extLst>
                      <a:ext uri="{FF2B5EF4-FFF2-40B4-BE49-F238E27FC236}">
                        <a16:creationId xmlns:a16="http://schemas.microsoft.com/office/drawing/2014/main" id="{14C60FA0-3409-469E-B94A-F53EF492051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83507" y="2860409"/>
                    <a:ext cx="854448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headEnd type="arrow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3" name="文本框 242">
                    <a:extLst>
                      <a:ext uri="{FF2B5EF4-FFF2-40B4-BE49-F238E27FC236}">
                        <a16:creationId xmlns:a16="http://schemas.microsoft.com/office/drawing/2014/main" id="{872726C8-9B56-4C07-A29E-C98DD44EBEFB}"/>
                      </a:ext>
                    </a:extLst>
                  </p:cNvPr>
                  <p:cNvSpPr txBox="1"/>
                  <p:nvPr/>
                </p:nvSpPr>
                <p:spPr>
                  <a:xfrm>
                    <a:off x="981597" y="1839493"/>
                    <a:ext cx="49725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/CAS</a:t>
                    </a:r>
                    <a:endParaRPr lang="zh-CN" altLang="en-US" sz="1200" b="1" baseline="-25000" dirty="0"/>
                  </a:p>
                </p:txBody>
              </p:sp>
              <p:sp>
                <p:nvSpPr>
                  <p:cNvPr id="244" name="文本框 243">
                    <a:extLst>
                      <a:ext uri="{FF2B5EF4-FFF2-40B4-BE49-F238E27FC236}">
                        <a16:creationId xmlns:a16="http://schemas.microsoft.com/office/drawing/2014/main" id="{7B4B83EC-627E-4B00-BECA-62EB94686DE1}"/>
                      </a:ext>
                    </a:extLst>
                  </p:cNvPr>
                  <p:cNvSpPr txBox="1"/>
                  <p:nvPr/>
                </p:nvSpPr>
                <p:spPr>
                  <a:xfrm>
                    <a:off x="1013457" y="2403477"/>
                    <a:ext cx="46519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200" b="1" dirty="0"/>
                      <a:t>/WE</a:t>
                    </a:r>
                    <a:endParaRPr lang="zh-CN" altLang="en-US" sz="1200" b="1" baseline="-25000" dirty="0"/>
                  </a:p>
                </p:txBody>
              </p:sp>
            </p:grpSp>
          </p:grpSp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28E817A9-A454-492A-AB47-4DD6DE114E0A}"/>
                  </a:ext>
                </a:extLst>
              </p:cNvPr>
              <p:cNvSpPr txBox="1"/>
              <p:nvPr/>
            </p:nvSpPr>
            <p:spPr>
              <a:xfrm>
                <a:off x="3000772" y="1060948"/>
                <a:ext cx="322524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RC</a:t>
                </a:r>
                <a:endParaRPr lang="zh-CN" altLang="en-US" sz="1000" b="1" baseline="-25000" dirty="0"/>
              </a:p>
            </p:txBody>
          </p:sp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518E3EAD-E816-4247-B034-D1B1DA836168}"/>
                  </a:ext>
                </a:extLst>
              </p:cNvPr>
              <p:cNvSpPr txBox="1"/>
              <p:nvPr/>
            </p:nvSpPr>
            <p:spPr>
              <a:xfrm>
                <a:off x="3000253" y="1413989"/>
                <a:ext cx="36901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RAS</a:t>
                </a:r>
                <a:endParaRPr lang="zh-CN" altLang="en-US" sz="1000" b="1" baseline="-25000" dirty="0"/>
              </a:p>
            </p:txBody>
          </p:sp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CF16EC6E-4C98-4502-B4B9-3B297FBA9906}"/>
                  </a:ext>
                </a:extLst>
              </p:cNvPr>
              <p:cNvSpPr txBox="1"/>
              <p:nvPr/>
            </p:nvSpPr>
            <p:spPr>
              <a:xfrm>
                <a:off x="3419872" y="1902964"/>
                <a:ext cx="3658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CAS</a:t>
                </a:r>
                <a:endParaRPr lang="zh-CN" altLang="en-US" sz="1000" b="1" baseline="-25000" dirty="0"/>
              </a:p>
            </p:txBody>
          </p:sp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4AE9428C-7402-4C75-9C7C-A5C3AF99BADD}"/>
                  </a:ext>
                </a:extLst>
              </p:cNvPr>
              <p:cNvSpPr txBox="1"/>
              <p:nvPr/>
            </p:nvSpPr>
            <p:spPr>
              <a:xfrm>
                <a:off x="4139952" y="2348880"/>
                <a:ext cx="37702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RCH</a:t>
                </a:r>
                <a:endParaRPr lang="zh-CN" altLang="en-US" sz="1000" b="1" baseline="-25000" dirty="0"/>
              </a:p>
            </p:txBody>
          </p:sp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0DB3FB2C-8905-44D9-ABD7-002EA9073719}"/>
                  </a:ext>
                </a:extLst>
              </p:cNvPr>
              <p:cNvSpPr txBox="1"/>
              <p:nvPr/>
            </p:nvSpPr>
            <p:spPr>
              <a:xfrm>
                <a:off x="4347004" y="2606715"/>
                <a:ext cx="396262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00" b="1" dirty="0" err="1"/>
                  <a:t>t</a:t>
                </a:r>
                <a:r>
                  <a:rPr lang="en-US" altLang="zh-CN" sz="1000" b="1" baseline="-25000" dirty="0" err="1"/>
                  <a:t>DOH</a:t>
                </a:r>
                <a:endParaRPr lang="zh-CN" altLang="en-US" sz="1000" b="1" baseline="-25000" dirty="0"/>
              </a:p>
            </p:txBody>
          </p:sp>
        </p:grpSp>
        <p:sp>
          <p:nvSpPr>
            <p:cNvPr id="351" name="文本框 350">
              <a:extLst>
                <a:ext uri="{FF2B5EF4-FFF2-40B4-BE49-F238E27FC236}">
                  <a16:creationId xmlns:a16="http://schemas.microsoft.com/office/drawing/2014/main" id="{EF2265B9-88A5-4A2E-8F60-D930E1318AD4}"/>
                </a:ext>
              </a:extLst>
            </p:cNvPr>
            <p:cNvSpPr txBox="1"/>
            <p:nvPr/>
          </p:nvSpPr>
          <p:spPr>
            <a:xfrm>
              <a:off x="2129472" y="935543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行地址</a:t>
              </a:r>
            </a:p>
          </p:txBody>
        </p:sp>
        <p:sp>
          <p:nvSpPr>
            <p:cNvPr id="354" name="文本框 353">
              <a:extLst>
                <a:ext uri="{FF2B5EF4-FFF2-40B4-BE49-F238E27FC236}">
                  <a16:creationId xmlns:a16="http://schemas.microsoft.com/office/drawing/2014/main" id="{FDD650C6-85A5-4080-A079-7C1B84020103}"/>
                </a:ext>
              </a:extLst>
            </p:cNvPr>
            <p:cNvSpPr txBox="1"/>
            <p:nvPr/>
          </p:nvSpPr>
          <p:spPr>
            <a:xfrm>
              <a:off x="3142472" y="924668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800" b="1" dirty="0">
                  <a:solidFill>
                    <a:schemeClr val="bg1"/>
                  </a:solidFill>
                </a:rPr>
                <a:t>列地址</a:t>
              </a:r>
            </a:p>
          </p:txBody>
        </p:sp>
      </p:grpSp>
      <p:sp>
        <p:nvSpPr>
          <p:cNvPr id="357" name="文本框 356">
            <a:extLst>
              <a:ext uri="{FF2B5EF4-FFF2-40B4-BE49-F238E27FC236}">
                <a16:creationId xmlns:a16="http://schemas.microsoft.com/office/drawing/2014/main" id="{C29213DB-1F3D-4045-8CF0-161DCD2816D5}"/>
              </a:ext>
            </a:extLst>
          </p:cNvPr>
          <p:cNvSpPr txBox="1"/>
          <p:nvPr/>
        </p:nvSpPr>
        <p:spPr>
          <a:xfrm>
            <a:off x="5922330" y="3680892"/>
            <a:ext cx="256869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WC</a:t>
            </a:r>
            <a:r>
              <a:rPr lang="zh-CN" altLang="en-US" sz="1200" b="1" dirty="0"/>
              <a:t>：写周期时间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RAS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/RAS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CAS</a:t>
            </a:r>
            <a:r>
              <a:rPr lang="zh-CN" altLang="en-US" sz="1200" b="1" dirty="0"/>
              <a:t>：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WP</a:t>
            </a:r>
            <a:r>
              <a:rPr lang="zh-CN" altLang="en-US" sz="1200" b="1" dirty="0"/>
              <a:t>：写命令的脉冲宽度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WCL</a:t>
            </a:r>
            <a:r>
              <a:rPr lang="zh-CN" altLang="en-US" sz="1200" b="1" dirty="0"/>
              <a:t>：从</a:t>
            </a:r>
            <a:r>
              <a:rPr lang="en-US" altLang="zh-CN" sz="1200" b="1" dirty="0"/>
              <a:t>/CAS</a:t>
            </a:r>
            <a:r>
              <a:rPr lang="zh-CN" altLang="en-US" sz="1200" b="1" dirty="0"/>
              <a:t>无效到写命令开始的时间</a:t>
            </a:r>
            <a:endParaRPr lang="en-US" altLang="zh-CN" sz="1200" b="1" dirty="0"/>
          </a:p>
          <a:p>
            <a:endParaRPr lang="en-US" altLang="zh-CN" sz="1200" b="1" dirty="0"/>
          </a:p>
          <a:p>
            <a:r>
              <a:rPr lang="en-US" altLang="zh-CN" sz="1200" b="1" dirty="0" err="1"/>
              <a:t>t</a:t>
            </a:r>
            <a:r>
              <a:rPr lang="en-US" altLang="zh-CN" sz="1200" b="1" baseline="-25000" dirty="0" err="1"/>
              <a:t>DH</a:t>
            </a:r>
            <a:r>
              <a:rPr lang="zh-CN" altLang="en-US" sz="1200" b="1" dirty="0"/>
              <a:t>：写入数据保持时间</a:t>
            </a:r>
            <a:endParaRPr lang="en-US" altLang="zh-CN" sz="1200" b="1" dirty="0"/>
          </a:p>
        </p:txBody>
      </p:sp>
      <p:cxnSp>
        <p:nvCxnSpPr>
          <p:cNvPr id="358" name="直接连接符 357">
            <a:extLst>
              <a:ext uri="{FF2B5EF4-FFF2-40B4-BE49-F238E27FC236}">
                <a16:creationId xmlns:a16="http://schemas.microsoft.com/office/drawing/2014/main" id="{14AB1343-98C3-4E89-B729-632787CE8D0A}"/>
              </a:ext>
            </a:extLst>
          </p:cNvPr>
          <p:cNvCxnSpPr>
            <a:cxnSpLocks/>
          </p:cNvCxnSpPr>
          <p:nvPr/>
        </p:nvCxnSpPr>
        <p:spPr>
          <a:xfrm>
            <a:off x="2980409" y="5762123"/>
            <a:ext cx="1026159" cy="0"/>
          </a:xfrm>
          <a:prstGeom prst="line">
            <a:avLst/>
          </a:prstGeom>
          <a:ln w="12700">
            <a:solidFill>
              <a:schemeClr val="tx1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9" name="直接连接符 358">
            <a:extLst>
              <a:ext uri="{FF2B5EF4-FFF2-40B4-BE49-F238E27FC236}">
                <a16:creationId xmlns:a16="http://schemas.microsoft.com/office/drawing/2014/main" id="{214B93B0-073E-4391-9A51-B7E91DC304AF}"/>
              </a:ext>
            </a:extLst>
          </p:cNvPr>
          <p:cNvCxnSpPr>
            <a:cxnSpLocks/>
          </p:cNvCxnSpPr>
          <p:nvPr/>
        </p:nvCxnSpPr>
        <p:spPr>
          <a:xfrm flipH="1">
            <a:off x="2980024" y="5301208"/>
            <a:ext cx="7800" cy="57690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文本框 359">
            <a:extLst>
              <a:ext uri="{FF2B5EF4-FFF2-40B4-BE49-F238E27FC236}">
                <a16:creationId xmlns:a16="http://schemas.microsoft.com/office/drawing/2014/main" id="{27DBC7FB-6FC7-4EBD-AE0D-D5869CBC8DF1}"/>
              </a:ext>
            </a:extLst>
          </p:cNvPr>
          <p:cNvSpPr txBox="1"/>
          <p:nvPr/>
        </p:nvSpPr>
        <p:spPr>
          <a:xfrm>
            <a:off x="2507981" y="299695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读周期</a:t>
            </a:r>
          </a:p>
        </p:txBody>
      </p:sp>
      <p:sp>
        <p:nvSpPr>
          <p:cNvPr id="361" name="文本框 360">
            <a:extLst>
              <a:ext uri="{FF2B5EF4-FFF2-40B4-BE49-F238E27FC236}">
                <a16:creationId xmlns:a16="http://schemas.microsoft.com/office/drawing/2014/main" id="{FD1A1BAF-C132-4907-975C-F8200B94F73C}"/>
              </a:ext>
            </a:extLst>
          </p:cNvPr>
          <p:cNvSpPr txBox="1"/>
          <p:nvPr/>
        </p:nvSpPr>
        <p:spPr>
          <a:xfrm>
            <a:off x="2535718" y="5949280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写周期</a:t>
            </a:r>
          </a:p>
        </p:txBody>
      </p:sp>
      <p:sp>
        <p:nvSpPr>
          <p:cNvPr id="362" name="文本框 361">
            <a:extLst>
              <a:ext uri="{FF2B5EF4-FFF2-40B4-BE49-F238E27FC236}">
                <a16:creationId xmlns:a16="http://schemas.microsoft.com/office/drawing/2014/main" id="{DB525B71-B03A-4BAA-AEAB-69FB52CC4A16}"/>
              </a:ext>
            </a:extLst>
          </p:cNvPr>
          <p:cNvSpPr txBox="1"/>
          <p:nvPr/>
        </p:nvSpPr>
        <p:spPr>
          <a:xfrm>
            <a:off x="1417241" y="6453336"/>
            <a:ext cx="34820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4.16    DRAM</a:t>
            </a:r>
            <a:r>
              <a:rPr lang="zh-CN" altLang="en-US" sz="1400" b="1" dirty="0"/>
              <a:t>芯片的读写周期时序示意图</a:t>
            </a:r>
          </a:p>
        </p:txBody>
      </p:sp>
    </p:spTree>
    <p:extLst>
      <p:ext uri="{BB962C8B-B14F-4D97-AF65-F5344CB8AC3E}">
        <p14:creationId xmlns:p14="http://schemas.microsoft.com/office/powerpoint/2010/main" val="9266297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935EA21-F5F5-4CF8-A49D-8F9BBAB01F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1" t="5358" r="3659" b="10714"/>
          <a:stretch/>
        </p:blipFill>
        <p:spPr>
          <a:xfrm>
            <a:off x="401664" y="692696"/>
            <a:ext cx="7979100" cy="4032448"/>
          </a:xfrm>
          <a:prstGeom prst="rect">
            <a:avLst/>
          </a:prstGeom>
        </p:spPr>
      </p:pic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29A0E500-1B79-48AD-8F11-087F4243E565}"/>
              </a:ext>
            </a:extLst>
          </p:cNvPr>
          <p:cNvSpPr/>
          <p:nvPr/>
        </p:nvSpPr>
        <p:spPr>
          <a:xfrm>
            <a:off x="3950165" y="4994155"/>
            <a:ext cx="882098" cy="360040"/>
          </a:xfrm>
          <a:prstGeom prst="wedgeRoundRectCallout">
            <a:avLst>
              <a:gd name="adj1" fmla="val 3470"/>
              <a:gd name="adj2" fmla="val -991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cache</a:t>
            </a:r>
            <a:endParaRPr lang="zh-CN" altLang="en-US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B8D339BF-5909-4B7A-9794-F623FD500266}"/>
              </a:ext>
            </a:extLst>
          </p:cNvPr>
          <p:cNvSpPr/>
          <p:nvPr/>
        </p:nvSpPr>
        <p:spPr>
          <a:xfrm flipH="1">
            <a:off x="5940152" y="4994155"/>
            <a:ext cx="882098" cy="360040"/>
          </a:xfrm>
          <a:prstGeom prst="wedgeRoundRectCallout">
            <a:avLst>
              <a:gd name="adj1" fmla="val 3470"/>
              <a:gd name="adj2" fmla="val -991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 </a:t>
            </a:r>
            <a:r>
              <a:rPr lang="zh-CN" altLang="en-US" dirty="0"/>
              <a:t>主存</a:t>
            </a:r>
          </a:p>
        </p:txBody>
      </p:sp>
    </p:spTree>
    <p:extLst>
      <p:ext uri="{BB962C8B-B14F-4D97-AF65-F5344CB8AC3E}">
        <p14:creationId xmlns:p14="http://schemas.microsoft.com/office/powerpoint/2010/main" val="33203025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C8503-2CA5-4DBB-8689-D4B89FF3F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5237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74270"/>
            <a:ext cx="8229600" cy="5517232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ROM</a:t>
            </a:r>
            <a:r>
              <a:rPr lang="zh-CN" altLang="en-US" sz="2000" b="1" dirty="0"/>
              <a:t>：</a:t>
            </a:r>
            <a:r>
              <a:rPr lang="en-US" altLang="zh-CN" sz="2000" b="1" dirty="0"/>
              <a:t>Read Only Memory</a:t>
            </a:r>
            <a:r>
              <a:rPr lang="zh-CN" altLang="en-US" sz="2000" b="1" dirty="0"/>
              <a:t>，只读存储器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ROM</a:t>
            </a:r>
            <a:r>
              <a:rPr lang="zh-CN" altLang="en-US" sz="2000" b="1" dirty="0"/>
              <a:t>的特点：具有</a:t>
            </a:r>
            <a:r>
              <a:rPr lang="zh-CN" altLang="en-US" sz="2000" b="1" dirty="0">
                <a:solidFill>
                  <a:srgbClr val="C00000"/>
                </a:solidFill>
              </a:rPr>
              <a:t>非易失性</a:t>
            </a:r>
            <a:r>
              <a:rPr lang="zh-CN" altLang="en-US" sz="2000" b="1" dirty="0"/>
              <a:t>，即使断电保存的信息也不会丢失，</a:t>
            </a:r>
            <a:r>
              <a:rPr lang="en-US" altLang="zh-CN" sz="2000" b="1" dirty="0"/>
              <a:t>ROM</a:t>
            </a:r>
            <a:r>
              <a:rPr lang="zh-CN" altLang="en-US" sz="2000" b="1" dirty="0"/>
              <a:t>常用于存放一些不需要修改的程序，如微程序、系统软件（</a:t>
            </a:r>
            <a:r>
              <a:rPr lang="en-US" altLang="zh-CN" sz="2000" b="1" dirty="0"/>
              <a:t>ROM-BIOS</a:t>
            </a:r>
            <a:r>
              <a:rPr lang="zh-CN" altLang="en-US" sz="2000" b="1" dirty="0"/>
              <a:t>）等</a:t>
            </a:r>
            <a:endParaRPr lang="en-US" altLang="zh-CN" sz="20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ROM</a:t>
            </a:r>
            <a:r>
              <a:rPr lang="zh-CN" altLang="en-US" sz="2000" b="1" dirty="0"/>
              <a:t>通常分为：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掩模式只读存储器：</a:t>
            </a:r>
            <a:r>
              <a:rPr lang="en-US" altLang="zh-CN" sz="1800" b="1" dirty="0"/>
              <a:t>MROM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Mask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ROM</a:t>
            </a:r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可编程只读存储器：</a:t>
            </a:r>
            <a:r>
              <a:rPr lang="en-US" altLang="zh-CN" sz="1800" b="1" dirty="0"/>
              <a:t>PROM</a:t>
            </a:r>
            <a:r>
              <a:rPr lang="zh-CN" altLang="en-US" sz="1800" b="1" dirty="0"/>
              <a:t>，</a:t>
            </a:r>
            <a:r>
              <a:rPr lang="en-US" altLang="zh-CN" sz="1800" b="1" i="0" dirty="0">
                <a:solidFill>
                  <a:srgbClr val="222222"/>
                </a:solidFill>
                <a:effectLst/>
              </a:rPr>
              <a:t>Programmable ROM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可擦除可编程只读存储器：</a:t>
            </a:r>
            <a:r>
              <a:rPr lang="en-US" altLang="zh-CN" sz="1800" b="1" dirty="0"/>
              <a:t>EPROM</a:t>
            </a:r>
            <a:r>
              <a:rPr lang="zh-CN" altLang="en-US" sz="1800" b="1" dirty="0"/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Erasable Programmable ROM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电可擦除可编程只读存储器：</a:t>
            </a:r>
            <a:r>
              <a:rPr lang="en-US" altLang="zh-CN" sz="1800" b="1" dirty="0"/>
              <a:t>EEPROM</a:t>
            </a:r>
            <a:r>
              <a:rPr lang="zh-CN" altLang="en-US" sz="1800" b="1" dirty="0"/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Electrically Erasable Programmable ROM</a:t>
            </a:r>
            <a:r>
              <a:rPr lang="zh-CN" altLang="en-US" sz="1800" b="1" dirty="0">
                <a:solidFill>
                  <a:srgbClr val="333333"/>
                </a:solidFill>
              </a:rPr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</a:t>
            </a:r>
            <a:r>
              <a:rPr lang="en-US" altLang="zh-CN" sz="1800" b="1" i="0" baseline="30000" dirty="0">
                <a:solidFill>
                  <a:srgbClr val="333333"/>
                </a:solidFill>
                <a:effectLst/>
              </a:rPr>
              <a:t>2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PROM</a:t>
            </a:r>
            <a:r>
              <a:rPr lang="zh-CN" altLang="en-US" sz="1800" b="1" i="0" dirty="0">
                <a:solidFill>
                  <a:srgbClr val="333333"/>
                </a:solidFill>
                <a:effectLst/>
              </a:rPr>
              <a:t>，</a:t>
            </a:r>
            <a:r>
              <a:rPr lang="en-US" altLang="zh-CN" sz="1800" b="1" i="0" dirty="0">
                <a:solidFill>
                  <a:srgbClr val="333333"/>
                </a:solidFill>
                <a:effectLst/>
              </a:rPr>
              <a:t>E2PROM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800" b="1" dirty="0"/>
              <a:t>闪存：</a:t>
            </a:r>
            <a:r>
              <a:rPr lang="en-US" altLang="zh-CN" sz="1800" b="1" dirty="0"/>
              <a:t>Flash ROM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8328716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D4712-A28C-4928-B299-BD7F3885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910463"/>
            <a:ext cx="8229600" cy="197135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、掩模式只读存储器（</a:t>
            </a:r>
            <a:r>
              <a:rPr lang="en-US" altLang="zh-CN" sz="2000" b="1" dirty="0"/>
              <a:t>MROM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Mask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Mask</a:t>
            </a:r>
            <a:r>
              <a:rPr lang="zh-CN" altLang="en-US" sz="1600" b="1" dirty="0"/>
              <a:t> 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的存储单元（存放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位二进制数）：</a:t>
            </a:r>
            <a:endParaRPr lang="en-US" altLang="zh-CN" sz="1600" b="1" dirty="0"/>
          </a:p>
          <a:p>
            <a:pPr lvl="3" eaLnBrk="1" hangingPunct="1"/>
            <a:r>
              <a:rPr lang="zh-CN" altLang="en-US" sz="1200" b="1" dirty="0"/>
              <a:t>如果开关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是打开的，则</a:t>
            </a:r>
            <a:r>
              <a:rPr lang="en-US" altLang="zh-CN" sz="1200" b="1" dirty="0"/>
              <a:t>D</a:t>
            </a:r>
            <a:r>
              <a:rPr lang="zh-CN" altLang="en-US" sz="1200" b="1" dirty="0"/>
              <a:t>的输出为高电平，表示读出“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”</a:t>
            </a:r>
            <a:endParaRPr lang="en-US" altLang="zh-CN" sz="1200" b="1" dirty="0"/>
          </a:p>
          <a:p>
            <a:pPr lvl="3" eaLnBrk="1" hangingPunct="1"/>
            <a:r>
              <a:rPr lang="zh-CN" altLang="en-US" sz="1200" b="1" dirty="0"/>
              <a:t>如果开关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是闭合的，则</a:t>
            </a:r>
            <a:r>
              <a:rPr lang="en-US" altLang="zh-CN" sz="1200" b="1" dirty="0"/>
              <a:t>D</a:t>
            </a:r>
            <a:r>
              <a:rPr lang="zh-CN" altLang="en-US" sz="1200" b="1" dirty="0"/>
              <a:t>的输出为低电平，表示读出“</a:t>
            </a:r>
            <a:r>
              <a:rPr lang="en-US" altLang="zh-CN" sz="1200" b="1" dirty="0"/>
              <a:t>0</a:t>
            </a:r>
            <a:r>
              <a:rPr lang="zh-CN" altLang="en-US" sz="1200" b="1" dirty="0"/>
              <a:t>”</a:t>
            </a:r>
            <a:endParaRPr lang="en-US" altLang="zh-CN" sz="1200" b="1" dirty="0"/>
          </a:p>
          <a:p>
            <a:pPr lvl="2" eaLnBrk="1" hangingPunct="1"/>
            <a:r>
              <a:rPr lang="en-US" altLang="zh-CN" sz="1600" b="1" dirty="0"/>
              <a:t>Mask ROM</a:t>
            </a:r>
            <a:r>
              <a:rPr lang="zh-CN" altLang="en-US" sz="1600" b="1" dirty="0"/>
              <a:t>阵列：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行</a:t>
            </a:r>
            <a:r>
              <a:rPr lang="en-US" altLang="zh-CN" sz="1600" b="1" dirty="0"/>
              <a:t>x4</a:t>
            </a:r>
            <a:r>
              <a:rPr lang="zh-CN" altLang="en-US" sz="1600" b="1" dirty="0"/>
              <a:t>列，存放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位二进制数</a:t>
            </a:r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Mask ROM</a:t>
            </a:r>
            <a:r>
              <a:rPr lang="zh-CN" altLang="en-US" sz="1600" b="1" dirty="0"/>
              <a:t>中的内容在厂家生产时就按要求做好</a:t>
            </a:r>
            <a:endParaRPr lang="en-US" altLang="zh-CN" sz="1600" b="1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BAE54D6E-C6CD-434F-ADCD-15902A89A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732" y="2938913"/>
            <a:ext cx="4688171" cy="338797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1D17A173-8333-431E-8E6D-A21BDE56F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727" y="2769740"/>
            <a:ext cx="2016224" cy="1533639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C74121C1-B477-407D-8E45-D84ECFC59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3848" y="4789650"/>
            <a:ext cx="2044197" cy="1537236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A724798-156E-45D8-8C48-F5E127657117}"/>
              </a:ext>
            </a:extLst>
          </p:cNvPr>
          <p:cNvSpPr txBox="1"/>
          <p:nvPr/>
        </p:nvSpPr>
        <p:spPr>
          <a:xfrm>
            <a:off x="1538667" y="4444184"/>
            <a:ext cx="172034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打开，表示“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”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62F41E0-D1D3-4CE0-8EC3-F2C0EFAA1A0D}"/>
              </a:ext>
            </a:extLst>
          </p:cNvPr>
          <p:cNvSpPr txBox="1"/>
          <p:nvPr/>
        </p:nvSpPr>
        <p:spPr>
          <a:xfrm>
            <a:off x="1471357" y="6395353"/>
            <a:ext cx="1720343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开关</a:t>
            </a:r>
            <a:r>
              <a:rPr lang="en-US" altLang="zh-CN" sz="1200" b="1" dirty="0"/>
              <a:t>S</a:t>
            </a:r>
            <a:r>
              <a:rPr lang="zh-CN" altLang="en-US" sz="1200" b="1" dirty="0"/>
              <a:t>闭合，表示“</a:t>
            </a:r>
            <a:r>
              <a:rPr lang="en-US" altLang="zh-CN" sz="1200" b="1" dirty="0"/>
              <a:t>0</a:t>
            </a:r>
            <a:r>
              <a:rPr lang="zh-CN" altLang="en-US" sz="1200" b="1" dirty="0"/>
              <a:t>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2F05B70-AE3A-4D12-B2CA-60F24F3D172E}"/>
              </a:ext>
            </a:extLst>
          </p:cNvPr>
          <p:cNvSpPr txBox="1"/>
          <p:nvPr/>
        </p:nvSpPr>
        <p:spPr>
          <a:xfrm>
            <a:off x="3923928" y="6429471"/>
            <a:ext cx="254736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4.17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   MROM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19394094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12ECC26-5F09-41B0-9F5A-C85E49611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75" y="59623"/>
            <a:ext cx="8229600" cy="881287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9625" y="1015340"/>
            <a:ext cx="5554960" cy="5654019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、可编程只读存储器（</a:t>
            </a:r>
            <a:r>
              <a:rPr lang="en-US" altLang="zh-CN" sz="2000" b="1" dirty="0"/>
              <a:t>PROM</a:t>
            </a:r>
            <a:r>
              <a:rPr lang="zh-CN" altLang="en-US" sz="2000" b="1" dirty="0"/>
              <a:t>，</a:t>
            </a:r>
            <a:r>
              <a:rPr lang="en-US" altLang="zh-CN" sz="2000" b="1" i="0" dirty="0">
                <a:solidFill>
                  <a:srgbClr val="222222"/>
                </a:solidFill>
                <a:effectLst/>
              </a:rPr>
              <a:t>Programmable ROM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r>
              <a:rPr lang="en-US" altLang="zh-CN" sz="1600" b="1" dirty="0"/>
              <a:t>PROM</a:t>
            </a:r>
            <a:r>
              <a:rPr lang="zh-CN" altLang="en-US" sz="1600" b="1" dirty="0"/>
              <a:t>的存储单元（存放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位二进制数）：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用熔丝</a:t>
            </a:r>
            <a:r>
              <a:rPr lang="en-US" altLang="zh-CN" sz="1600" b="1" dirty="0"/>
              <a:t>S</a:t>
            </a:r>
            <a:r>
              <a:rPr lang="zh-CN" altLang="en-US" sz="1600" b="1" dirty="0"/>
              <a:t>代替</a:t>
            </a:r>
            <a:r>
              <a:rPr lang="en-US" altLang="zh-CN" sz="1600" b="1" dirty="0"/>
              <a:t>Mask ROM</a:t>
            </a:r>
            <a:r>
              <a:rPr lang="zh-CN" altLang="en-US" sz="1600" b="1" dirty="0"/>
              <a:t>的开关；新购买的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芯片，熔丝</a:t>
            </a:r>
            <a:r>
              <a:rPr lang="en-US" altLang="zh-CN" sz="1600" b="1" dirty="0"/>
              <a:t>S</a:t>
            </a:r>
            <a:r>
              <a:rPr lang="zh-CN" altLang="en-US" sz="1600" b="1" dirty="0"/>
              <a:t>是连接的，此时输出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为低电平，表示读出“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”，即</a:t>
            </a:r>
            <a:r>
              <a:rPr lang="zh-CN" altLang="en-US" sz="1600" b="1" dirty="0">
                <a:solidFill>
                  <a:srgbClr val="C00000"/>
                </a:solidFill>
              </a:rPr>
              <a:t>新的</a:t>
            </a:r>
            <a:r>
              <a:rPr lang="en-US" altLang="zh-CN" sz="1600" b="1" dirty="0">
                <a:solidFill>
                  <a:srgbClr val="C00000"/>
                </a:solidFill>
              </a:rPr>
              <a:t>PROM</a:t>
            </a:r>
            <a:r>
              <a:rPr lang="zh-CN" altLang="en-US" sz="1600" b="1" dirty="0">
                <a:solidFill>
                  <a:srgbClr val="C00000"/>
                </a:solidFill>
              </a:rPr>
              <a:t>芯片</a:t>
            </a:r>
            <a:r>
              <a:rPr lang="zh-CN" altLang="en-US" sz="1600" b="1" dirty="0"/>
              <a:t>中所有的数据都是“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可以通过</a:t>
            </a:r>
            <a:r>
              <a:rPr lang="zh-CN" altLang="en-US" sz="1600" b="1" dirty="0">
                <a:solidFill>
                  <a:srgbClr val="C00000"/>
                </a:solidFill>
              </a:rPr>
              <a:t>编程器</a:t>
            </a:r>
            <a:r>
              <a:rPr lang="zh-CN" altLang="en-US" sz="1600" b="1" dirty="0"/>
              <a:t>将熔丝熔断，则输出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为高电平，表示读出“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”；熔丝熔断后不能再接通，因此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芯片的</a:t>
            </a:r>
            <a:r>
              <a:rPr lang="zh-CN" altLang="en-US" sz="1600" b="1" dirty="0">
                <a:solidFill>
                  <a:srgbClr val="C00000"/>
                </a:solidFill>
              </a:rPr>
              <a:t>编程</a:t>
            </a:r>
            <a:r>
              <a:rPr lang="zh-CN" altLang="en-US" sz="1600" b="1" dirty="0"/>
              <a:t>（将部分存储单元的“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”变为“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”）是</a:t>
            </a:r>
            <a:r>
              <a:rPr lang="zh-CN" altLang="en-US" sz="1600" b="1" dirty="0">
                <a:solidFill>
                  <a:srgbClr val="C00000"/>
                </a:solidFill>
              </a:rPr>
              <a:t>一次性</a:t>
            </a:r>
            <a:r>
              <a:rPr lang="zh-CN" altLang="en-US" sz="1600" b="1" dirty="0"/>
              <a:t>的</a:t>
            </a:r>
            <a:endParaRPr lang="en-US" altLang="zh-CN" sz="1400" b="1" dirty="0"/>
          </a:p>
          <a:p>
            <a:pPr lvl="1" eaLnBrk="1" hangingPunct="1"/>
            <a:r>
              <a:rPr lang="zh-CN" altLang="en-US" sz="1600" b="1" dirty="0"/>
              <a:t>反向二极管的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>
                <a:solidFill>
                  <a:srgbClr val="C00000"/>
                </a:solidFill>
              </a:rPr>
              <a:t>采用反向二极管代替熔丝</a:t>
            </a:r>
            <a:r>
              <a:rPr lang="zh-CN" altLang="en-US" sz="1600" b="1" dirty="0"/>
              <a:t>；新的</a:t>
            </a:r>
            <a:r>
              <a:rPr lang="en-US" altLang="zh-CN" sz="1600" b="1" dirty="0"/>
              <a:t>PROM</a:t>
            </a:r>
            <a:r>
              <a:rPr lang="zh-CN" altLang="en-US" sz="1600" b="1" dirty="0"/>
              <a:t>其反向二极管是不导通的，此时输出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为高电平，表示读出“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”，即</a:t>
            </a:r>
            <a:r>
              <a:rPr lang="zh-CN" altLang="en-US" sz="1600" b="1" dirty="0">
                <a:solidFill>
                  <a:srgbClr val="C00000"/>
                </a:solidFill>
              </a:rPr>
              <a:t>新的</a:t>
            </a:r>
            <a:r>
              <a:rPr lang="en-US" altLang="zh-CN" sz="1600" b="1" dirty="0">
                <a:solidFill>
                  <a:srgbClr val="C00000"/>
                </a:solidFill>
              </a:rPr>
              <a:t>PROM</a:t>
            </a:r>
            <a:r>
              <a:rPr lang="zh-CN" altLang="en-US" sz="1600" b="1" dirty="0">
                <a:solidFill>
                  <a:srgbClr val="C00000"/>
                </a:solidFill>
              </a:rPr>
              <a:t>芯片中使用的数据都是“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”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600" b="1" dirty="0"/>
              <a:t>可以通过编程器将反向二极管导通，此时输出</a:t>
            </a:r>
            <a:r>
              <a:rPr lang="en-US" altLang="zh-CN" sz="1600" b="1" dirty="0"/>
              <a:t>D</a:t>
            </a:r>
            <a:r>
              <a:rPr lang="zh-CN" altLang="en-US" sz="1600" b="1" dirty="0"/>
              <a:t>为低电平，表示读出“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”，即编程的目的是将部分“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”变为“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”，且反向二极管导通后，将永远导通（编程是一次性的）</a:t>
            </a:r>
            <a:endParaRPr lang="en-US" altLang="zh-CN" sz="1400" b="1" dirty="0"/>
          </a:p>
          <a:p>
            <a:pPr lvl="1" eaLnBrk="1" hangingPunct="1"/>
            <a:endParaRPr lang="en-US" altLang="zh-CN" sz="1200" b="1" dirty="0"/>
          </a:p>
          <a:p>
            <a:pPr lvl="1" eaLnBrk="1" hangingPunct="1"/>
            <a:endParaRPr lang="en-US" altLang="zh-CN" sz="14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F627529-4206-46E5-9AD3-3838F80A6A9A}"/>
              </a:ext>
            </a:extLst>
          </p:cNvPr>
          <p:cNvGrpSpPr/>
          <p:nvPr/>
        </p:nvGrpSpPr>
        <p:grpSpPr>
          <a:xfrm>
            <a:off x="6183376" y="1810509"/>
            <a:ext cx="4876240" cy="3169161"/>
            <a:chOff x="2235977" y="4646711"/>
            <a:chExt cx="4949476" cy="314297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DFE5278-DA7F-47FE-937D-69966F4B1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5977" y="4646711"/>
              <a:ext cx="2428744" cy="1800198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D1F7BD6-13EE-46D2-A91D-4EB198F8C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69429" y="5498091"/>
              <a:ext cx="216024" cy="300619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AAC2199B-4429-4703-A4D5-13FA2742D26A}"/>
                </a:ext>
              </a:extLst>
            </p:cNvPr>
            <p:cNvSpPr txBox="1"/>
            <p:nvPr/>
          </p:nvSpPr>
          <p:spPr>
            <a:xfrm>
              <a:off x="2476855" y="6882332"/>
              <a:ext cx="1946990" cy="30523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/>
                <a:t>熔丝连接，表示“</a:t>
              </a:r>
              <a:r>
                <a:rPr lang="en-US" altLang="zh-CN" sz="1400" b="1" dirty="0"/>
                <a:t>0</a:t>
              </a:r>
              <a:r>
                <a:rPr lang="zh-CN" altLang="en-US" sz="1400" b="1" dirty="0"/>
                <a:t>”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82E50D7-F18C-4D2A-9CA0-4147F33B0752}"/>
                </a:ext>
              </a:extLst>
            </p:cNvPr>
            <p:cNvSpPr txBox="1"/>
            <p:nvPr/>
          </p:nvSpPr>
          <p:spPr>
            <a:xfrm>
              <a:off x="2522333" y="7484447"/>
              <a:ext cx="1946990" cy="305234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/>
                <a:t>熔丝熔断，表示“</a:t>
              </a:r>
              <a:r>
                <a:rPr lang="en-US" altLang="zh-CN" sz="1400" b="1" dirty="0"/>
                <a:t>1</a:t>
              </a:r>
              <a:r>
                <a:rPr lang="zh-CN" altLang="en-US" sz="1400" b="1" dirty="0"/>
                <a:t>”</a:t>
              </a: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0F2757B7-C978-4EE2-BCC2-B3B485D6A40A}"/>
              </a:ext>
            </a:extLst>
          </p:cNvPr>
          <p:cNvSpPr txBox="1"/>
          <p:nvPr/>
        </p:nvSpPr>
        <p:spPr>
          <a:xfrm>
            <a:off x="6447880" y="5301208"/>
            <a:ext cx="203921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4.17    PROM</a:t>
            </a:r>
            <a:r>
              <a:rPr lang="zh-CN" altLang="en-US" sz="1400" b="1" dirty="0"/>
              <a:t>存储单元</a:t>
            </a:r>
          </a:p>
        </p:txBody>
      </p:sp>
    </p:spTree>
    <p:extLst>
      <p:ext uri="{BB962C8B-B14F-4D97-AF65-F5344CB8AC3E}">
        <p14:creationId xmlns:p14="http://schemas.microsoft.com/office/powerpoint/2010/main" val="28183629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129CC1AE-F995-402F-9EA9-C2D81A8A50B9}"/>
              </a:ext>
            </a:extLst>
          </p:cNvPr>
          <p:cNvSpPr txBox="1"/>
          <p:nvPr/>
        </p:nvSpPr>
        <p:spPr>
          <a:xfrm>
            <a:off x="7094656" y="5157192"/>
            <a:ext cx="314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D</a:t>
            </a:r>
            <a:endParaRPr lang="zh-CN" altLang="en-US" sz="1600" b="1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E8987C2-8DB3-42DF-8265-266A3392F757}"/>
              </a:ext>
            </a:extLst>
          </p:cNvPr>
          <p:cNvGrpSpPr/>
          <p:nvPr/>
        </p:nvGrpSpPr>
        <p:grpSpPr>
          <a:xfrm>
            <a:off x="1619672" y="3744575"/>
            <a:ext cx="6435592" cy="2612033"/>
            <a:chOff x="1520784" y="4201343"/>
            <a:chExt cx="6435592" cy="2612033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DBC99DF-E44A-4005-8607-7FCCE34716F9}"/>
                </a:ext>
              </a:extLst>
            </p:cNvPr>
            <p:cNvGrpSpPr/>
            <p:nvPr/>
          </p:nvGrpSpPr>
          <p:grpSpPr>
            <a:xfrm>
              <a:off x="1520784" y="4201343"/>
              <a:ext cx="6435592" cy="2612033"/>
              <a:chOff x="1259632" y="3284984"/>
              <a:chExt cx="6435592" cy="2612033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B581E0BA-3872-4926-8429-B1E140D5275F}"/>
                  </a:ext>
                </a:extLst>
              </p:cNvPr>
              <p:cNvGrpSpPr/>
              <p:nvPr/>
            </p:nvGrpSpPr>
            <p:grpSpPr>
              <a:xfrm>
                <a:off x="1259632" y="3284984"/>
                <a:ext cx="6435592" cy="2612033"/>
                <a:chOff x="1259632" y="3284984"/>
                <a:chExt cx="6435592" cy="2612033"/>
              </a:xfrm>
            </p:grpSpPr>
            <p:grpSp>
              <p:nvGrpSpPr>
                <p:cNvPr id="5" name="组合 4">
                  <a:extLst>
                    <a:ext uri="{FF2B5EF4-FFF2-40B4-BE49-F238E27FC236}">
                      <a16:creationId xmlns:a16="http://schemas.microsoft.com/office/drawing/2014/main" id="{45656890-2699-4997-BB27-BDDC3F9BEA4F}"/>
                    </a:ext>
                  </a:extLst>
                </p:cNvPr>
                <p:cNvGrpSpPr/>
                <p:nvPr/>
              </p:nvGrpSpPr>
              <p:grpSpPr>
                <a:xfrm>
                  <a:off x="1259632" y="3284984"/>
                  <a:ext cx="6435592" cy="2612033"/>
                  <a:chOff x="1259632" y="3284984"/>
                  <a:chExt cx="6435592" cy="2612033"/>
                </a:xfrm>
              </p:grpSpPr>
              <p:pic>
                <p:nvPicPr>
                  <p:cNvPr id="3" name="图片 2">
                    <a:extLst>
                      <a:ext uri="{FF2B5EF4-FFF2-40B4-BE49-F238E27FC236}">
                        <a16:creationId xmlns:a16="http://schemas.microsoft.com/office/drawing/2014/main" id="{08267E10-C577-46F7-BB28-2F636680719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59632" y="3284984"/>
                    <a:ext cx="6435592" cy="2604990"/>
                  </a:xfrm>
                  <a:prstGeom prst="rect">
                    <a:avLst/>
                  </a:prstGeom>
                </p:spPr>
              </p:pic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8E93F46D-C336-4F8E-90D0-E122D2F4FB3B}"/>
                      </a:ext>
                    </a:extLst>
                  </p:cNvPr>
                  <p:cNvSpPr txBox="1"/>
                  <p:nvPr/>
                </p:nvSpPr>
                <p:spPr>
                  <a:xfrm>
                    <a:off x="1954534" y="5526986"/>
                    <a:ext cx="1465338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EPROM</a:t>
                    </a:r>
                    <a:r>
                      <a:rPr lang="zh-CN" altLang="en-US" sz="1400" b="1" dirty="0"/>
                      <a:t>存储单元</a:t>
                    </a:r>
                  </a:p>
                </p:txBody>
              </p:sp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2275F09E-9EF4-47DD-8E5E-26D0001469B6}"/>
                      </a:ext>
                    </a:extLst>
                  </p:cNvPr>
                  <p:cNvSpPr txBox="1"/>
                  <p:nvPr/>
                </p:nvSpPr>
                <p:spPr>
                  <a:xfrm>
                    <a:off x="5626942" y="5589240"/>
                    <a:ext cx="1465338" cy="307777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EPROM</a:t>
                    </a:r>
                    <a:r>
                      <a:rPr lang="zh-CN" altLang="en-US" sz="1400" b="1" dirty="0"/>
                      <a:t>等效电路</a:t>
                    </a:r>
                  </a:p>
                </p:txBody>
              </p:sp>
            </p:grp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17D87890-1C0B-44CA-9DDA-E2DA5DA19538}"/>
                    </a:ext>
                  </a:extLst>
                </p:cNvPr>
                <p:cNvSpPr txBox="1"/>
                <p:nvPr/>
              </p:nvSpPr>
              <p:spPr>
                <a:xfrm>
                  <a:off x="6526848" y="4711593"/>
                  <a:ext cx="2856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600" b="1" dirty="0"/>
                    <a:t>T</a:t>
                  </a:r>
                  <a:endParaRPr lang="zh-CN" altLang="en-US" sz="1600" b="1" dirty="0"/>
                </a:p>
              </p:txBody>
            </p:sp>
          </p:grp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2464DD1-3610-4DE7-80A4-19E9E19AA312}"/>
                  </a:ext>
                </a:extLst>
              </p:cNvPr>
              <p:cNvSpPr txBox="1"/>
              <p:nvPr/>
            </p:nvSpPr>
            <p:spPr>
              <a:xfrm>
                <a:off x="5364088" y="3717254"/>
                <a:ext cx="29848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/>
                  <a:t>X</a:t>
                </a:r>
                <a:endParaRPr lang="zh-CN" altLang="en-US" sz="1600" b="1" dirty="0"/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67281E0-1475-4825-92EF-47198CF77208}"/>
                </a:ext>
              </a:extLst>
            </p:cNvPr>
            <p:cNvSpPr txBox="1"/>
            <p:nvPr/>
          </p:nvSpPr>
          <p:spPr>
            <a:xfrm>
              <a:off x="7337639" y="6143972"/>
              <a:ext cx="39852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 dirty="0"/>
                <a:t>D</a:t>
              </a:r>
              <a:endParaRPr lang="zh-CN" altLang="en-US" sz="1400" dirty="0"/>
            </a:p>
          </p:txBody>
        </p:sp>
      </p:grp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CB64443B-C1E8-4D86-A954-6558006B8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96127"/>
            <a:ext cx="8229600" cy="3081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、可擦除可编程只读存储器（</a:t>
            </a:r>
            <a:r>
              <a:rPr lang="en-US" altLang="zh-CN" sz="2000" b="1" dirty="0"/>
              <a:t>EPROM</a:t>
            </a:r>
            <a:r>
              <a:rPr lang="zh-CN" altLang="en-US" sz="2000" b="1" dirty="0"/>
              <a:t>，</a:t>
            </a:r>
            <a:r>
              <a:rPr lang="en-US" altLang="zh-CN" sz="2000" b="1" dirty="0">
                <a:solidFill>
                  <a:srgbClr val="333333"/>
                </a:solidFill>
              </a:rPr>
              <a:t>Erasable Programmable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EPROM</a:t>
            </a:r>
            <a:r>
              <a:rPr lang="zh-CN" altLang="en-US" sz="1400" b="1" dirty="0"/>
              <a:t>：采用浮栅型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存储单元的结构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新购买的</a:t>
            </a:r>
            <a:r>
              <a:rPr lang="en-US" altLang="zh-CN" sz="1400" b="1" dirty="0"/>
              <a:t>EPROM</a:t>
            </a:r>
            <a:r>
              <a:rPr lang="zh-CN" altLang="en-US" sz="1400" b="1" dirty="0">
                <a:highlight>
                  <a:srgbClr val="FFFF00"/>
                </a:highlight>
              </a:rPr>
              <a:t>其</a:t>
            </a:r>
            <a:r>
              <a:rPr lang="en-US" altLang="zh-CN" sz="1400" b="1" dirty="0">
                <a:highlight>
                  <a:srgbClr val="FFFF00"/>
                </a:highlight>
              </a:rPr>
              <a:t>MOS</a:t>
            </a:r>
            <a:r>
              <a:rPr lang="zh-CN" altLang="en-US" sz="1400" b="1" dirty="0">
                <a:highlight>
                  <a:srgbClr val="FFFF00"/>
                </a:highlight>
              </a:rPr>
              <a:t>管</a:t>
            </a:r>
            <a:r>
              <a:rPr lang="en-US" altLang="zh-CN" sz="1400" b="1" dirty="0">
                <a:highlight>
                  <a:srgbClr val="FFFF00"/>
                </a:highlight>
              </a:rPr>
              <a:t>T</a:t>
            </a:r>
            <a:r>
              <a:rPr lang="zh-CN" altLang="en-US" sz="1400" b="1" dirty="0">
                <a:highlight>
                  <a:srgbClr val="FFFF00"/>
                </a:highlight>
              </a:rPr>
              <a:t>全部截止</a:t>
            </a:r>
            <a:r>
              <a:rPr lang="zh-CN" altLang="en-US" sz="1400" b="1" dirty="0"/>
              <a:t>（右下角的图），输出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为高电平，表示读出“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”，即新购买的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中全部存放“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编程</a:t>
            </a:r>
            <a:r>
              <a:rPr lang="zh-CN" altLang="en-US" sz="1400" b="1" dirty="0"/>
              <a:t>：通过施加编程电压（通常为</a:t>
            </a:r>
            <a:r>
              <a:rPr lang="en-US" altLang="zh-CN" sz="1400" b="1" dirty="0"/>
              <a:t>+12.5V</a:t>
            </a:r>
            <a:r>
              <a:rPr lang="zh-CN" altLang="en-US" sz="1400" b="1" dirty="0"/>
              <a:t>），使部分存储单元的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导通，输出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为低电平，表示写入“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”，即将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的部分存储单元由“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读出</a:t>
            </a:r>
            <a:r>
              <a:rPr lang="zh-CN" altLang="en-US" sz="1400" b="1" dirty="0"/>
              <a:t>：编程后的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在正常电压（通常为</a:t>
            </a:r>
            <a:r>
              <a:rPr lang="en-US" altLang="zh-CN" sz="1400" b="1" dirty="0"/>
              <a:t>+5V</a:t>
            </a:r>
            <a:r>
              <a:rPr lang="zh-CN" altLang="en-US" sz="1400" b="1" dirty="0"/>
              <a:t>）下即可读出其中的内容，其中没有编程过的存储单元输出为“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”，编程过的存储单元输出为“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擦除</a:t>
            </a:r>
            <a:r>
              <a:rPr lang="zh-CN" altLang="en-US" sz="1400" b="1" dirty="0"/>
              <a:t>：通过紫外线持续照射，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所有</a:t>
            </a:r>
            <a:r>
              <a:rPr lang="en-US" altLang="zh-CN" sz="1400" b="1" dirty="0"/>
              <a:t>MOS</a:t>
            </a:r>
            <a:r>
              <a:rPr lang="zh-CN" altLang="en-US" sz="1400" b="1" dirty="0"/>
              <a:t>管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全部截止，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的内容又恢复为全部“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D50544-11EE-4BF5-9F15-420C93C2D2B4}"/>
              </a:ext>
            </a:extLst>
          </p:cNvPr>
          <p:cNvSpPr txBox="1"/>
          <p:nvPr/>
        </p:nvSpPr>
        <p:spPr>
          <a:xfrm>
            <a:off x="3392788" y="6505599"/>
            <a:ext cx="2188291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4.18    EMROM</a:t>
            </a:r>
            <a:r>
              <a:rPr lang="zh-CN" altLang="en-US" sz="1400" b="1" dirty="0"/>
              <a:t>存储单元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9F87DB-12DC-490E-A6B2-42743B8B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133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0159694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03EAE455-2338-3115-9A4F-1415BFD78D93}"/>
              </a:ext>
            </a:extLst>
          </p:cNvPr>
          <p:cNvGrpSpPr/>
          <p:nvPr/>
        </p:nvGrpSpPr>
        <p:grpSpPr>
          <a:xfrm>
            <a:off x="415828" y="365015"/>
            <a:ext cx="8247533" cy="5448355"/>
            <a:chOff x="584532" y="296313"/>
            <a:chExt cx="8247533" cy="544835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D9DBF47-FCB7-4E0D-8AE7-CAAB6EB86E85}"/>
                </a:ext>
              </a:extLst>
            </p:cNvPr>
            <p:cNvGrpSpPr/>
            <p:nvPr/>
          </p:nvGrpSpPr>
          <p:grpSpPr>
            <a:xfrm>
              <a:off x="708256" y="331980"/>
              <a:ext cx="4205126" cy="2491736"/>
              <a:chOff x="981237" y="188822"/>
              <a:chExt cx="4205126" cy="2491736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23C15D89-49CE-47B0-B0F6-7C799F69BA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8597" y="188822"/>
                <a:ext cx="2989070" cy="198025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EE42B4F-3BC3-448D-BB2E-CE857D15B05E}"/>
                  </a:ext>
                </a:extLst>
              </p:cNvPr>
              <p:cNvSpPr txBox="1"/>
              <p:nvPr/>
            </p:nvSpPr>
            <p:spPr>
              <a:xfrm>
                <a:off x="981237" y="2403559"/>
                <a:ext cx="420512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平时使用时的</a:t>
                </a:r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（平时使用时石英玻璃窗口需要封上）</a:t>
                </a:r>
              </a:p>
            </p:txBody>
          </p:sp>
        </p:grpSp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F4868F1D-1A97-4C2C-8991-F433EC2EB522}"/>
                </a:ext>
              </a:extLst>
            </p:cNvPr>
            <p:cNvGrpSpPr/>
            <p:nvPr/>
          </p:nvGrpSpPr>
          <p:grpSpPr>
            <a:xfrm>
              <a:off x="584532" y="3504314"/>
              <a:ext cx="4051237" cy="2192766"/>
              <a:chOff x="7065252" y="1348371"/>
              <a:chExt cx="4051237" cy="2192766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8BB89ACB-D763-4E63-9BDF-8103E03413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31696" y="1348371"/>
                <a:ext cx="3309394" cy="1512168"/>
              </a:xfrm>
              <a:prstGeom prst="rect">
                <a:avLst/>
              </a:prstGeom>
            </p:spPr>
          </p:pic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BB2068D3-9C6F-4B3B-9FA9-DA7119F1821D}"/>
                  </a:ext>
                </a:extLst>
              </p:cNvPr>
              <p:cNvSpPr txBox="1"/>
              <p:nvPr/>
            </p:nvSpPr>
            <p:spPr>
              <a:xfrm>
                <a:off x="7065252" y="3264138"/>
                <a:ext cx="4051237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紫外线擦除时的</a:t>
                </a:r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（擦除时石英玻璃窗口需要露出）</a:t>
                </a: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865B745-78EC-4AAA-8C4B-D828801A44A9}"/>
                </a:ext>
              </a:extLst>
            </p:cNvPr>
            <p:cNvGrpSpPr/>
            <p:nvPr/>
          </p:nvGrpSpPr>
          <p:grpSpPr>
            <a:xfrm>
              <a:off x="4274972" y="296313"/>
              <a:ext cx="4162657" cy="2487821"/>
              <a:chOff x="-189524" y="3856433"/>
              <a:chExt cx="4162657" cy="2487821"/>
            </a:xfrm>
          </p:grpSpPr>
          <p:pic>
            <p:nvPicPr>
              <p:cNvPr id="7" name="图片 6">
                <a:extLst>
                  <a:ext uri="{FF2B5EF4-FFF2-40B4-BE49-F238E27FC236}">
                    <a16:creationId xmlns:a16="http://schemas.microsoft.com/office/drawing/2014/main" id="{BD137A31-6CF1-489D-BAB4-13ED29C263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89524" y="3856433"/>
                <a:ext cx="3709150" cy="2051591"/>
              </a:xfrm>
              <a:prstGeom prst="rect">
                <a:avLst/>
              </a:prstGeom>
            </p:spPr>
          </p:pic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FFFF28F9-026A-417E-A3EA-1A2E4F8833AC}"/>
                  </a:ext>
                </a:extLst>
              </p:cNvPr>
              <p:cNvSpPr txBox="1"/>
              <p:nvPr/>
            </p:nvSpPr>
            <p:spPr>
              <a:xfrm>
                <a:off x="537449" y="6067255"/>
                <a:ext cx="3435684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编程器（编程时石英玻璃窗口需要封上）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ECD9F62-846C-42DE-8E4E-5133DBA6A14C}"/>
                </a:ext>
              </a:extLst>
            </p:cNvPr>
            <p:cNvGrpSpPr/>
            <p:nvPr/>
          </p:nvGrpSpPr>
          <p:grpSpPr>
            <a:xfrm>
              <a:off x="4757947" y="3416078"/>
              <a:ext cx="4074118" cy="2328590"/>
              <a:chOff x="5118911" y="3416078"/>
              <a:chExt cx="4074118" cy="2328590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86C1D300-7649-43E4-A541-3C32FDF885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06605" y="3416078"/>
                <a:ext cx="3986424" cy="2051591"/>
              </a:xfrm>
              <a:prstGeom prst="rect">
                <a:avLst/>
              </a:prstGeom>
            </p:spPr>
          </p:pic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1C500533-2CEB-4B68-9B39-558612316B73}"/>
                  </a:ext>
                </a:extLst>
              </p:cNvPr>
              <p:cNvSpPr txBox="1"/>
              <p:nvPr/>
            </p:nvSpPr>
            <p:spPr>
              <a:xfrm>
                <a:off x="5118911" y="5467669"/>
                <a:ext cx="3897349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/>
                  <a:t>EPROM</a:t>
                </a:r>
                <a:r>
                  <a:rPr lang="zh-CN" altLang="en-US" sz="1200" b="1" dirty="0"/>
                  <a:t>紫外线擦除器（擦除时石英玻璃窗口需要露出）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56418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762021C-55C0-42BD-974C-BC162483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934" y="5282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536" y="980729"/>
            <a:ext cx="8229600" cy="2952327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、电可擦除可编程只读存储器（</a:t>
            </a:r>
            <a:r>
              <a:rPr lang="en-US" altLang="zh-CN" sz="2000" b="1" dirty="0"/>
              <a:t>EEPROM</a:t>
            </a:r>
            <a:r>
              <a:rPr lang="zh-CN" altLang="en-US" sz="2000" b="1" dirty="0"/>
              <a:t>，</a:t>
            </a:r>
            <a:r>
              <a:rPr lang="en-US" altLang="zh-CN" sz="2000" b="1" i="0" dirty="0">
                <a:solidFill>
                  <a:srgbClr val="333333"/>
                </a:solidFill>
                <a:effectLst/>
              </a:rPr>
              <a:t>Electrically Erasable Programmable ROM</a:t>
            </a:r>
            <a:r>
              <a:rPr lang="zh-CN" altLang="en-US" sz="20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E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PROM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E2PROM</a:t>
            </a:r>
            <a:r>
              <a:rPr lang="zh-CN" altLang="en-US" sz="1400" b="1" dirty="0"/>
              <a:t>）是将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的浮置栅改为控制栅极，新购置的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其内容全部为“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solidFill>
                  <a:srgbClr val="C00000"/>
                </a:solidFill>
              </a:rPr>
              <a:t>编程</a:t>
            </a:r>
            <a:r>
              <a:rPr lang="zh-CN" altLang="en-US" sz="1400" b="1" dirty="0"/>
              <a:t>（将部分存储单元的内容由“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”）、读出方式与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相同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EEPROM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solidFill>
                  <a:srgbClr val="C00000"/>
                </a:solidFill>
              </a:rPr>
              <a:t>擦除</a:t>
            </a:r>
            <a:r>
              <a:rPr lang="zh-CN" altLang="en-US" sz="1400" b="1" dirty="0"/>
              <a:t>：不需要在紫外线下照射，而是将控制栅极加上高电平，就可以使该存储单元的内容由“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”变为“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的擦除</a:t>
            </a:r>
            <a:r>
              <a:rPr lang="zh-CN" altLang="en-US" sz="1400" b="1" dirty="0">
                <a:highlight>
                  <a:srgbClr val="FFFF00"/>
                </a:highlight>
              </a:rPr>
              <a:t>可以精准地删除（将“</a:t>
            </a:r>
            <a:r>
              <a:rPr lang="en-US" altLang="zh-CN" sz="1400" b="1" dirty="0">
                <a:highlight>
                  <a:srgbClr val="FFFF00"/>
                </a:highlight>
              </a:rPr>
              <a:t>0</a:t>
            </a:r>
            <a:r>
              <a:rPr lang="zh-CN" altLang="en-US" sz="1400" b="1" dirty="0">
                <a:highlight>
                  <a:srgbClr val="FFFF00"/>
                </a:highlight>
              </a:rPr>
              <a:t>”变为“</a:t>
            </a:r>
            <a:r>
              <a:rPr lang="en-US" altLang="zh-CN" sz="1400" b="1" dirty="0">
                <a:highlight>
                  <a:srgbClr val="FFFF00"/>
                </a:highlight>
              </a:rPr>
              <a:t>1</a:t>
            </a:r>
            <a:r>
              <a:rPr lang="zh-CN" altLang="en-US" sz="1400" b="1" dirty="0">
                <a:highlight>
                  <a:srgbClr val="FFFF00"/>
                </a:highlight>
              </a:rPr>
              <a:t>”）某一存储单元</a:t>
            </a:r>
            <a:r>
              <a:rPr lang="zh-CN" altLang="en-US" sz="1400" b="1" dirty="0"/>
              <a:t>，而不是一次性的擦除芯片上的所有数据（使所有存储单元的内容都变为“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”）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0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F0746DB-CF57-4532-B04B-21C739ADF94C}"/>
              </a:ext>
            </a:extLst>
          </p:cNvPr>
          <p:cNvGrpSpPr/>
          <p:nvPr/>
        </p:nvGrpSpPr>
        <p:grpSpPr>
          <a:xfrm>
            <a:off x="1187624" y="3933056"/>
            <a:ext cx="7233575" cy="2440057"/>
            <a:chOff x="938825" y="3861048"/>
            <a:chExt cx="7233575" cy="2440057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3C09ACCF-92E8-4D0B-93F8-0EF4FF8DAC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8825" y="3861048"/>
              <a:ext cx="4068969" cy="2156892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B871647-C4F6-4DAB-8D60-45A235106B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00588" y="4291024"/>
              <a:ext cx="2171812" cy="1219263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F631AD2-3D72-4DB0-A02F-627995064589}"/>
                </a:ext>
              </a:extLst>
            </p:cNvPr>
            <p:cNvSpPr txBox="1"/>
            <p:nvPr/>
          </p:nvSpPr>
          <p:spPr>
            <a:xfrm>
              <a:off x="1835696" y="5993328"/>
              <a:ext cx="155350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EEPROM</a:t>
              </a:r>
              <a:r>
                <a:rPr lang="zh-CN" altLang="en-US" sz="1400" b="1" dirty="0"/>
                <a:t>存储单元</a:t>
              </a: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F073A5AC-1DE7-4542-9B4E-EA7E6C3E6235}"/>
                </a:ext>
              </a:extLst>
            </p:cNvPr>
            <p:cNvSpPr txBox="1"/>
            <p:nvPr/>
          </p:nvSpPr>
          <p:spPr>
            <a:xfrm>
              <a:off x="6216768" y="5985954"/>
              <a:ext cx="1739451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CN" sz="1400" b="1" dirty="0"/>
                <a:t>EEPROM</a:t>
              </a:r>
              <a:r>
                <a:rPr lang="zh-CN" altLang="en-US" sz="1400" b="1" dirty="0"/>
                <a:t>芯片：</a:t>
              </a:r>
              <a:r>
                <a:rPr lang="en-US" altLang="zh-CN" sz="1400" b="1" dirty="0"/>
                <a:t>2816</a:t>
              </a:r>
              <a:endParaRPr lang="zh-CN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585656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99712A-23D9-492E-BC0E-A2BFA542F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只读存储器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62425" y="1220546"/>
            <a:ext cx="8229600" cy="3365629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5</a:t>
            </a:r>
            <a:r>
              <a:rPr lang="zh-CN" altLang="en-US" sz="2400" b="1" dirty="0"/>
              <a:t>、闪存（</a:t>
            </a:r>
            <a:r>
              <a:rPr lang="en-US" altLang="zh-CN" sz="2400" b="1" dirty="0"/>
              <a:t>Flash ROM</a:t>
            </a:r>
            <a:r>
              <a:rPr lang="zh-CN" altLang="en-US" sz="24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闪存是一种快速擦写、非易失性存储器，可以在线进行擦除和重写，其逻辑结构与</a:t>
            </a:r>
            <a:r>
              <a:rPr lang="en-US" altLang="zh-CN" sz="1600" b="1" dirty="0"/>
              <a:t>EEPROM</a:t>
            </a:r>
            <a:r>
              <a:rPr lang="zh-CN" altLang="en-US" sz="1600" b="1" dirty="0"/>
              <a:t>相似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闪存的工作方式：读工作方式、编程工作方式、擦除工作方式、功耗下降方式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闪存的类型：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</a:rPr>
              <a:t>NOR Flash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Intel</a:t>
            </a:r>
            <a:r>
              <a:rPr lang="zh-CN" altLang="en-US" sz="1400" b="1" dirty="0"/>
              <a:t>于</a:t>
            </a:r>
            <a:r>
              <a:rPr lang="en-US" altLang="zh-CN" sz="1400" b="1" dirty="0"/>
              <a:t>1988</a:t>
            </a:r>
            <a:r>
              <a:rPr lang="zh-CN" altLang="en-US" sz="1400" b="1" dirty="0"/>
              <a:t>年首先开发出</a:t>
            </a:r>
            <a:r>
              <a:rPr lang="en-US" altLang="zh-CN" sz="1400" b="1" dirty="0"/>
              <a:t>NOR Flash</a:t>
            </a:r>
            <a:r>
              <a:rPr lang="zh-CN" altLang="en-US" sz="1400" b="1" dirty="0"/>
              <a:t>技术（采用或非门），彻底改变了原先由</a:t>
            </a:r>
            <a:r>
              <a:rPr lang="en-US" altLang="zh-CN" sz="1400" b="1" dirty="0"/>
              <a:t>EPROM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EEPROM</a:t>
            </a:r>
            <a:r>
              <a:rPr lang="zh-CN" altLang="en-US" sz="1400" b="1" dirty="0"/>
              <a:t>一统天下的局面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en-US" altLang="zh-CN" sz="1400" b="1" dirty="0">
                <a:solidFill>
                  <a:srgbClr val="C00000"/>
                </a:solidFill>
              </a:rPr>
              <a:t>NAND Flash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1989</a:t>
            </a:r>
            <a:r>
              <a:rPr lang="zh-CN" altLang="en-US" sz="1400" b="1" dirty="0"/>
              <a:t>年，东芝公司发布了</a:t>
            </a:r>
            <a:r>
              <a:rPr lang="en-US" altLang="zh-CN" sz="1400" b="1" dirty="0"/>
              <a:t>NAND Flash</a:t>
            </a:r>
            <a:r>
              <a:rPr lang="zh-CN" altLang="en-US" sz="1400" b="1" dirty="0"/>
              <a:t>结构（采用与非门），强调降低每比特的成本，更高的性能，并且象磁盘一样可以通过接口轻松升级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闪存的应用：</a:t>
            </a:r>
            <a:r>
              <a:rPr lang="en-US" altLang="zh-CN" sz="1600" b="1" dirty="0"/>
              <a:t> U</a:t>
            </a:r>
            <a:r>
              <a:rPr lang="zh-CN" altLang="en-US" sz="1600" b="1" dirty="0"/>
              <a:t>盘、</a:t>
            </a:r>
            <a:r>
              <a:rPr lang="en-US" altLang="zh-CN" sz="1600" b="1" dirty="0"/>
              <a:t>SSD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Solid State Disk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Solid State Drive</a:t>
            </a:r>
            <a:r>
              <a:rPr lang="zh-CN" altLang="en-US" sz="1600" b="1" dirty="0"/>
              <a:t>，固态硬盘）、</a:t>
            </a:r>
            <a:r>
              <a:rPr lang="en-US" altLang="zh-CN" sz="1600" b="1" dirty="0"/>
              <a:t>SD</a:t>
            </a:r>
            <a:r>
              <a:rPr lang="zh-CN" altLang="en-US" sz="1600" b="1" dirty="0"/>
              <a:t>卡（</a:t>
            </a:r>
            <a:r>
              <a:rPr lang="en-US" altLang="zh-CN" sz="1600" b="1" dirty="0"/>
              <a:t>Secure Digital Memory Card</a:t>
            </a:r>
            <a:r>
              <a:rPr lang="zh-CN" altLang="en-US" sz="1600" b="1" dirty="0"/>
              <a:t>）、</a:t>
            </a:r>
            <a:r>
              <a:rPr lang="en-US" altLang="zh-CN" sz="1600" b="1" dirty="0"/>
              <a:t>Micro SD</a:t>
            </a:r>
            <a:r>
              <a:rPr lang="zh-CN" altLang="en-US" sz="1600" b="1" dirty="0"/>
              <a:t>卡等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000CF2-D451-4166-9812-3A4541DF1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861423"/>
            <a:ext cx="1282452" cy="1282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AD119FB4-5F95-4D1C-9469-D6670B85D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863" y="4916539"/>
            <a:ext cx="1331806" cy="1331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E0175FE9-7FF3-4B40-8211-0D5CBD6EB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926" y="4995244"/>
            <a:ext cx="1073678" cy="1073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2974DC39-0875-4A32-B2DF-A6A7E047AE85}"/>
              </a:ext>
            </a:extLst>
          </p:cNvPr>
          <p:cNvGrpSpPr/>
          <p:nvPr/>
        </p:nvGrpSpPr>
        <p:grpSpPr>
          <a:xfrm>
            <a:off x="3685934" y="5157192"/>
            <a:ext cx="1438047" cy="1149290"/>
            <a:chOff x="5006161" y="4914974"/>
            <a:chExt cx="1438047" cy="1149290"/>
          </a:xfrm>
        </p:grpSpPr>
        <p:pic>
          <p:nvPicPr>
            <p:cNvPr id="2054" name="Picture 6">
              <a:extLst>
                <a:ext uri="{FF2B5EF4-FFF2-40B4-BE49-F238E27FC236}">
                  <a16:creationId xmlns:a16="http://schemas.microsoft.com/office/drawing/2014/main" id="{64E4EED1-EB9D-47D5-B0FE-8C95AE28A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6161" y="4914974"/>
              <a:ext cx="1115782" cy="9407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0E5225A-50E2-424C-90C1-87CBF49D22F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2685" y="5721346"/>
              <a:ext cx="651523" cy="342918"/>
            </a:xfrm>
            <a:prstGeom prst="rect">
              <a:avLst/>
            </a:prstGeom>
          </p:spPr>
        </p:pic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04E7B70-1319-41DB-A740-C04C71418962}"/>
              </a:ext>
            </a:extLst>
          </p:cNvPr>
          <p:cNvSpPr txBox="1"/>
          <p:nvPr/>
        </p:nvSpPr>
        <p:spPr>
          <a:xfrm>
            <a:off x="2483768" y="6248345"/>
            <a:ext cx="49521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U</a:t>
            </a:r>
            <a:r>
              <a:rPr lang="zh-CN" altLang="en-US" sz="1200" b="1" dirty="0"/>
              <a:t>盘                  </a:t>
            </a:r>
            <a:r>
              <a:rPr lang="en-US" altLang="zh-CN" sz="1200" b="1" dirty="0"/>
              <a:t>SSD</a:t>
            </a:r>
            <a:r>
              <a:rPr lang="zh-CN" altLang="en-US" sz="1200" b="1" dirty="0"/>
              <a:t>（固态硬盘）                    </a:t>
            </a:r>
            <a:r>
              <a:rPr lang="en-US" altLang="zh-CN" sz="1200" b="1" dirty="0"/>
              <a:t>SD</a:t>
            </a:r>
            <a:r>
              <a:rPr lang="zh-CN" altLang="en-US" sz="1200" b="1" dirty="0"/>
              <a:t>卡                         </a:t>
            </a:r>
            <a:r>
              <a:rPr lang="en-US" altLang="zh-CN" sz="1200" b="1" dirty="0"/>
              <a:t>Micro SD</a:t>
            </a:r>
            <a:r>
              <a:rPr lang="zh-CN" altLang="en-US" sz="1200" b="1" dirty="0"/>
              <a:t>卡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149678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9347760-DDD5-4ED6-8BDD-DD5481C6C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026" y="908720"/>
            <a:ext cx="7423947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6881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E94AD-9C3E-4776-8DAB-21F575C81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216" y="13229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DRAM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的发展</a:t>
            </a:r>
            <a:endParaRPr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6957" y="1166019"/>
            <a:ext cx="8229600" cy="2406998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、传统</a:t>
            </a:r>
            <a:r>
              <a:rPr lang="en-US" altLang="zh-CN" sz="2400" b="1" dirty="0"/>
              <a:t>DRAM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例如，对</a:t>
            </a:r>
            <a:r>
              <a:rPr lang="en-US" altLang="zh-CN" sz="1600" b="1" dirty="0"/>
              <a:t>Intel 2116</a:t>
            </a:r>
            <a:r>
              <a:rPr lang="zh-CN" altLang="en-US" sz="1600" b="1" dirty="0"/>
              <a:t>芯片（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）进行读出操作，首先给出行地址，然后给出</a:t>
            </a:r>
            <a:r>
              <a:rPr lang="en-US" altLang="zh-CN" sz="1600" b="1" dirty="0"/>
              <a:t>/RAS</a:t>
            </a:r>
            <a:r>
              <a:rPr lang="zh-CN" altLang="en-US" sz="1600" b="1" dirty="0"/>
              <a:t>信号锁存行地址（信号下降沿瞬间把地址</a:t>
            </a:r>
            <a:r>
              <a:rPr lang="zh-CN" altLang="en-US" sz="1600" b="1" dirty="0">
                <a:solidFill>
                  <a:srgbClr val="C00000"/>
                </a:solidFill>
              </a:rPr>
              <a:t>抓住</a:t>
            </a:r>
            <a:r>
              <a:rPr lang="zh-CN" altLang="en-US" sz="1600" b="1" dirty="0"/>
              <a:t>并</a:t>
            </a:r>
            <a:r>
              <a:rPr lang="zh-CN" altLang="en-US" sz="1600" b="1" dirty="0">
                <a:solidFill>
                  <a:srgbClr val="C00000"/>
                </a:solidFill>
              </a:rPr>
              <a:t>保持，后续电平变化不影响输出</a:t>
            </a:r>
            <a:r>
              <a:rPr lang="zh-CN" altLang="en-US" sz="1600" b="1" dirty="0"/>
              <a:t>）；接着给出列地址，并用</a:t>
            </a:r>
            <a:r>
              <a:rPr lang="en-US" altLang="zh-CN" sz="1600" b="1" dirty="0"/>
              <a:t>/CAS</a:t>
            </a:r>
            <a:r>
              <a:rPr lang="zh-CN" altLang="en-US" sz="1600" b="1" dirty="0"/>
              <a:t>信号锁存列地址；从而选择被访问的存储单元；经过一段时间的延迟后才能读出数据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每一次数据访问都需要经历完整的行地址、列地址阶段，因此传统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的工作方式效率比较低下</a:t>
            </a:r>
            <a:endParaRPr lang="en-US" altLang="zh-CN" sz="1600" b="1" dirty="0"/>
          </a:p>
          <a:p>
            <a:pPr lvl="1" eaLnBrk="1" hangingPunct="1"/>
            <a:endParaRPr lang="en-US" altLang="zh-CN" sz="18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BF39059-94EC-46C9-8848-7385FC327B49}"/>
              </a:ext>
            </a:extLst>
          </p:cNvPr>
          <p:cNvGrpSpPr/>
          <p:nvPr/>
        </p:nvGrpSpPr>
        <p:grpSpPr>
          <a:xfrm>
            <a:off x="1187624" y="4077072"/>
            <a:ext cx="7232216" cy="2141419"/>
            <a:chOff x="840768" y="4221088"/>
            <a:chExt cx="7232216" cy="2141419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D8971939-63D5-4595-B19E-94B65D9B9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768" y="4221088"/>
              <a:ext cx="3271777" cy="1714889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366AE8E-9CB9-4D7B-B441-1B5B2C048A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00576" y="4221088"/>
              <a:ext cx="3346478" cy="1800200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0A37DA70-2007-4AE3-B481-B9D2967079D4}"/>
                </a:ext>
              </a:extLst>
            </p:cNvPr>
            <p:cNvSpPr txBox="1"/>
            <p:nvPr/>
          </p:nvSpPr>
          <p:spPr>
            <a:xfrm>
              <a:off x="1520256" y="6085508"/>
              <a:ext cx="65527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b="1" dirty="0"/>
                <a:t>DRAM</a:t>
              </a:r>
              <a:r>
                <a:rPr lang="zh-CN" altLang="en-US" sz="1200" b="1" dirty="0"/>
                <a:t>的读周期                                                                                            </a:t>
              </a:r>
              <a:r>
                <a:rPr lang="en-US" altLang="zh-CN" sz="1200" b="1" dirty="0"/>
                <a:t>DRAM</a:t>
              </a:r>
              <a:r>
                <a:rPr lang="zh-CN" altLang="en-US" sz="1200" b="1" dirty="0"/>
                <a:t>的写周期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7402023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8778" y="348467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FPM-DRAM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FPM-DRAM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Fast Page Mode DRAM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C00000"/>
                </a:solidFill>
              </a:rPr>
              <a:t>快页模式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  <a:r>
              <a:rPr lang="zh-CN" altLang="en-US" sz="1400" b="1" dirty="0"/>
              <a:t>；这里的页是指</a:t>
            </a:r>
            <a:r>
              <a:rPr lang="en-US" altLang="zh-CN" sz="1400" b="1" dirty="0"/>
              <a:t>DRAM</a:t>
            </a:r>
            <a:r>
              <a:rPr lang="zh-CN" altLang="en-US" sz="1400" b="1" dirty="0"/>
              <a:t>中某一行的所有存储单元  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u="sng" dirty="0"/>
              <a:t>读写动态存储器同一行的数据时，其</a:t>
            </a:r>
            <a:r>
              <a:rPr lang="zh-CN" altLang="en-US" sz="1400" b="1" u="sng" dirty="0">
                <a:hlinkClick r:id="rId2"/>
              </a:rPr>
              <a:t>行地址</a:t>
            </a:r>
            <a:r>
              <a:rPr lang="zh-CN" altLang="en-US" sz="1400" b="1" u="sng" dirty="0"/>
              <a:t>第一次读写时锁定后保持不变，以后读写该行多列中的数据时，仅锁存列地址即可，省去了锁存行地址的时间，加快了主</a:t>
            </a:r>
            <a:r>
              <a:rPr lang="zh-CN" altLang="en-US" sz="1400" b="1" u="sng" dirty="0">
                <a:hlinkClick r:id="rId3"/>
              </a:rPr>
              <a:t>存储</a:t>
            </a:r>
            <a:r>
              <a:rPr lang="zh-CN" altLang="en-US" sz="1400" b="1" u="sng" dirty="0"/>
              <a:t>器的读写速度。</a:t>
            </a:r>
            <a:endParaRPr lang="en-US" altLang="zh-CN" sz="1400" b="1" u="sng" dirty="0"/>
          </a:p>
          <a:p>
            <a:pPr lvl="2" eaLnBrk="1" hangingPunct="1"/>
            <a:r>
              <a:rPr lang="zh-CN" altLang="en-US" sz="1400" b="1" dirty="0"/>
              <a:t>如果要访问的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个数据位于同一行，只需要给出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个行地址，然后分别给出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个列地址，就可以得到当前页（行）中的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个数据，从而提高存储器的访问速度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访问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个数据的</a:t>
            </a:r>
            <a:r>
              <a:rPr lang="en-US" altLang="zh-CN" sz="1400" b="1" dirty="0"/>
              <a:t>FPM-DRAM</a:t>
            </a:r>
            <a:r>
              <a:rPr lang="zh-CN" altLang="en-US" sz="1400" b="1" dirty="0"/>
              <a:t>的典型时序是：</a:t>
            </a:r>
            <a:r>
              <a:rPr lang="en-US" altLang="zh-CN" sz="1400" b="1" dirty="0">
                <a:solidFill>
                  <a:srgbClr val="C00000"/>
                </a:solidFill>
              </a:rPr>
              <a:t>6-3-3-3</a:t>
            </a:r>
            <a:r>
              <a:rPr lang="zh-CN" altLang="en-US" sz="1400" b="1" dirty="0"/>
              <a:t>，即第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个数据需要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个时钟周期，后面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个数据各需要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</a:t>
            </a:r>
            <a:endParaRPr lang="en-US" altLang="zh-CN" sz="1600" b="1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0A8A2E3-7533-4845-8417-63CCF2CB014A}"/>
              </a:ext>
            </a:extLst>
          </p:cNvPr>
          <p:cNvSpPr txBox="1"/>
          <p:nvPr/>
        </p:nvSpPr>
        <p:spPr>
          <a:xfrm>
            <a:off x="2267744" y="3440033"/>
            <a:ext cx="156485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FPM-DRAM                  </a:t>
            </a:r>
            <a:endParaRPr lang="zh-CN" altLang="en-US" sz="12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8FA0076-A424-434E-A34B-A31C29994DDF}"/>
              </a:ext>
            </a:extLst>
          </p:cNvPr>
          <p:cNvGrpSpPr/>
          <p:nvPr/>
        </p:nvGrpSpPr>
        <p:grpSpPr>
          <a:xfrm>
            <a:off x="851189" y="2672346"/>
            <a:ext cx="6480720" cy="3990470"/>
            <a:chOff x="827584" y="2492896"/>
            <a:chExt cx="6480720" cy="3990470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FA0F9EA-D3A6-49EC-B47C-412A0FB043D8}"/>
                </a:ext>
              </a:extLst>
            </p:cNvPr>
            <p:cNvSpPr txBox="1"/>
            <p:nvPr/>
          </p:nvSpPr>
          <p:spPr>
            <a:xfrm>
              <a:off x="1793139" y="5947853"/>
              <a:ext cx="2794355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4.20    FPM-DRAM</a:t>
              </a:r>
              <a:r>
                <a:rPr lang="zh-CN" altLang="en-US" sz="1400" b="1" dirty="0"/>
                <a:t>读操作时序图</a:t>
              </a: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5B523F2B-EE29-44C4-8745-56CCA0B8F644}"/>
                </a:ext>
              </a:extLst>
            </p:cNvPr>
            <p:cNvGrpSpPr/>
            <p:nvPr/>
          </p:nvGrpSpPr>
          <p:grpSpPr>
            <a:xfrm>
              <a:off x="827584" y="2492896"/>
              <a:ext cx="6480720" cy="3990470"/>
              <a:chOff x="827584" y="2780928"/>
              <a:chExt cx="6480720" cy="3990470"/>
            </a:xfrm>
          </p:grpSpPr>
          <p:grpSp>
            <p:nvGrpSpPr>
              <p:cNvPr id="25" name="组合 24">
                <a:extLst>
                  <a:ext uri="{FF2B5EF4-FFF2-40B4-BE49-F238E27FC236}">
                    <a16:creationId xmlns:a16="http://schemas.microsoft.com/office/drawing/2014/main" id="{2CD94E40-A0E5-4F6A-B68F-98AEE795CDC8}"/>
                  </a:ext>
                </a:extLst>
              </p:cNvPr>
              <p:cNvGrpSpPr/>
              <p:nvPr/>
            </p:nvGrpSpPr>
            <p:grpSpPr>
              <a:xfrm>
                <a:off x="827584" y="2780928"/>
                <a:ext cx="6480720" cy="3044081"/>
                <a:chOff x="827584" y="3121223"/>
                <a:chExt cx="6480720" cy="3044081"/>
              </a:xfrm>
            </p:grpSpPr>
            <p:pic>
              <p:nvPicPr>
                <p:cNvPr id="38" name="图片 37">
                  <a:extLst>
                    <a:ext uri="{FF2B5EF4-FFF2-40B4-BE49-F238E27FC236}">
                      <a16:creationId xmlns:a16="http://schemas.microsoft.com/office/drawing/2014/main" id="{3FCA48F7-5B60-46DD-9076-3ABA082C826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131444" y="3789040"/>
                  <a:ext cx="5176860" cy="2376264"/>
                </a:xfrm>
                <a:prstGeom prst="rect">
                  <a:avLst/>
                </a:prstGeom>
              </p:spPr>
            </p:pic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69F7D3E8-90EB-46E9-83C7-06DAB75ADFF3}"/>
                    </a:ext>
                  </a:extLst>
                </p:cNvPr>
                <p:cNvSpPr txBox="1"/>
                <p:nvPr/>
              </p:nvSpPr>
              <p:spPr>
                <a:xfrm>
                  <a:off x="827584" y="4437112"/>
                  <a:ext cx="723275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行地址</a:t>
                  </a:r>
                </a:p>
              </p:txBody>
            </p:sp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3404D137-8FA8-4650-83D9-57BCA3F7F5AE}"/>
                    </a:ext>
                  </a:extLst>
                </p:cNvPr>
                <p:cNvSpPr txBox="1"/>
                <p:nvPr/>
              </p:nvSpPr>
              <p:spPr>
                <a:xfrm>
                  <a:off x="5004048" y="3121223"/>
                  <a:ext cx="723275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列地址</a:t>
                  </a:r>
                </a:p>
              </p:txBody>
            </p:sp>
            <p:cxnSp>
              <p:nvCxnSpPr>
                <p:cNvPr id="41" name="直接箭头连接符 40">
                  <a:extLst>
                    <a:ext uri="{FF2B5EF4-FFF2-40B4-BE49-F238E27FC236}">
                      <a16:creationId xmlns:a16="http://schemas.microsoft.com/office/drawing/2014/main" id="{4656F1BA-8625-47E4-9B71-C18E38E707B3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V="1">
                  <a:off x="3635896" y="3429000"/>
                  <a:ext cx="1729790" cy="1548172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箭头连接符 41">
                  <a:extLst>
                    <a:ext uri="{FF2B5EF4-FFF2-40B4-BE49-F238E27FC236}">
                      <a16:creationId xmlns:a16="http://schemas.microsoft.com/office/drawing/2014/main" id="{00C5E7A0-9CE1-4682-8C03-613ACE5C28A0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V="1">
                  <a:off x="4607205" y="3429000"/>
                  <a:ext cx="758481" cy="160963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接箭头连接符 42">
                  <a:extLst>
                    <a:ext uri="{FF2B5EF4-FFF2-40B4-BE49-F238E27FC236}">
                      <a16:creationId xmlns:a16="http://schemas.microsoft.com/office/drawing/2014/main" id="{6E6F12C0-8534-4534-AEA2-631DEE3417CE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H="1" flipV="1">
                  <a:off x="5365686" y="3429000"/>
                  <a:ext cx="292403" cy="160963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接箭头连接符 43">
                  <a:extLst>
                    <a:ext uri="{FF2B5EF4-FFF2-40B4-BE49-F238E27FC236}">
                      <a16:creationId xmlns:a16="http://schemas.microsoft.com/office/drawing/2014/main" id="{6D967FA1-585C-4C6E-AC29-96D4D75F8E16}"/>
                    </a:ext>
                  </a:extLst>
                </p:cNvPr>
                <p:cNvCxnSpPr>
                  <a:cxnSpLocks/>
                  <a:endCxn id="40" idx="2"/>
                </p:cNvCxnSpPr>
                <p:nvPr/>
              </p:nvCxnSpPr>
              <p:spPr>
                <a:xfrm flipH="1" flipV="1">
                  <a:off x="5365686" y="3429000"/>
                  <a:ext cx="1267629" cy="160765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接箭头连接符 44">
                  <a:extLst>
                    <a:ext uri="{FF2B5EF4-FFF2-40B4-BE49-F238E27FC236}">
                      <a16:creationId xmlns:a16="http://schemas.microsoft.com/office/drawing/2014/main" id="{B04B6403-6477-44FD-A9CB-E248D477C005}"/>
                    </a:ext>
                  </a:extLst>
                </p:cNvPr>
                <p:cNvCxnSpPr>
                  <a:cxnSpLocks/>
                  <a:endCxn id="39" idx="3"/>
                </p:cNvCxnSpPr>
                <p:nvPr/>
              </p:nvCxnSpPr>
              <p:spPr>
                <a:xfrm flipH="1" flipV="1">
                  <a:off x="1550859" y="4591001"/>
                  <a:ext cx="1333376" cy="437883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组合 26">
                <a:extLst>
                  <a:ext uri="{FF2B5EF4-FFF2-40B4-BE49-F238E27FC236}">
                    <a16:creationId xmlns:a16="http://schemas.microsoft.com/office/drawing/2014/main" id="{22FF595C-599B-4024-9170-A92CF2ECA680}"/>
                  </a:ext>
                </a:extLst>
              </p:cNvPr>
              <p:cNvGrpSpPr/>
              <p:nvPr/>
            </p:nvGrpSpPr>
            <p:grpSpPr>
              <a:xfrm>
                <a:off x="4139952" y="5715015"/>
                <a:ext cx="2984373" cy="1056383"/>
                <a:chOff x="4139952" y="5715015"/>
                <a:chExt cx="2984373" cy="1056383"/>
              </a:xfrm>
            </p:grpSpPr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7537CAC5-33EA-49C6-95AE-1AFC674DA7DA}"/>
                    </a:ext>
                  </a:extLst>
                </p:cNvPr>
                <p:cNvSpPr txBox="1"/>
                <p:nvPr/>
              </p:nvSpPr>
              <p:spPr>
                <a:xfrm>
                  <a:off x="5115817" y="6463621"/>
                  <a:ext cx="543739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数据</a:t>
                  </a:r>
                </a:p>
              </p:txBody>
            </p: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9958F975-6A8C-445A-809F-486FD25F06C7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>
                  <a:off x="4139952" y="5733256"/>
                  <a:ext cx="1247735" cy="73036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3161D5B6-FA44-4635-8309-8BA6B1385428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>
                  <a:off x="5115817" y="5715016"/>
                  <a:ext cx="271870" cy="74860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接箭头连接符 35">
                  <a:extLst>
                    <a:ext uri="{FF2B5EF4-FFF2-40B4-BE49-F238E27FC236}">
                      <a16:creationId xmlns:a16="http://schemas.microsoft.com/office/drawing/2014/main" id="{F23FE140-FA1E-4B53-B121-7DF615427979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 flipH="1">
                  <a:off x="5387687" y="5715016"/>
                  <a:ext cx="716519" cy="748605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箭头连接符 36">
                  <a:extLst>
                    <a:ext uri="{FF2B5EF4-FFF2-40B4-BE49-F238E27FC236}">
                      <a16:creationId xmlns:a16="http://schemas.microsoft.com/office/drawing/2014/main" id="{94B95E07-F93F-4A9A-BE7E-DD40BF44E1AE}"/>
                    </a:ext>
                  </a:extLst>
                </p:cNvPr>
                <p:cNvCxnSpPr>
                  <a:cxnSpLocks/>
                  <a:endCxn id="29" idx="0"/>
                </p:cNvCxnSpPr>
                <p:nvPr/>
              </p:nvCxnSpPr>
              <p:spPr>
                <a:xfrm flipH="1">
                  <a:off x="5387687" y="5715015"/>
                  <a:ext cx="1736638" cy="748606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" name="圆角矩形标注 3"/>
          <p:cNvSpPr/>
          <p:nvPr/>
        </p:nvSpPr>
        <p:spPr>
          <a:xfrm>
            <a:off x="3127516" y="4481562"/>
            <a:ext cx="4248472" cy="1312403"/>
          </a:xfrm>
          <a:prstGeom prst="wedgeRoundRectCallout">
            <a:avLst>
              <a:gd name="adj1" fmla="val 61081"/>
              <a:gd name="adj2" fmla="val -4999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16030" y="3522711"/>
            <a:ext cx="10132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列地址的给出 与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</a:rPr>
              <a:t>数据输出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串行</a:t>
            </a:r>
          </a:p>
        </p:txBody>
      </p:sp>
      <p:cxnSp>
        <p:nvCxnSpPr>
          <p:cNvPr id="8" name="直接箭头连接符 7"/>
          <p:cNvCxnSpPr/>
          <p:nvPr/>
        </p:nvCxnSpPr>
        <p:spPr>
          <a:xfrm>
            <a:off x="3643620" y="4581128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4139952" y="4656622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4671489" y="4662187"/>
            <a:ext cx="415171" cy="54021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5599073" y="4641625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6611706" y="4638381"/>
            <a:ext cx="432048" cy="58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V="1">
            <a:off x="5119183" y="4638381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 flipV="1">
            <a:off x="6074846" y="4667581"/>
            <a:ext cx="467253" cy="4808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46449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9167" y="35361"/>
            <a:ext cx="8229600" cy="2674084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3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EDO-DRAM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/>
              <a:t>EDO-DRAM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Extend Data Out DRAM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C00000"/>
                </a:solidFill>
              </a:rPr>
              <a:t>扩展数据输出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在快速页式工作技术上，增加了</a:t>
            </a:r>
            <a:r>
              <a:rPr lang="zh-CN" altLang="en-US" sz="1200" b="1" dirty="0">
                <a:hlinkClick r:id="rId2"/>
              </a:rPr>
              <a:t>数据输出</a:t>
            </a:r>
            <a:r>
              <a:rPr lang="zh-CN" altLang="en-US" sz="1200" b="1" dirty="0"/>
              <a:t>部分的数据锁存线路，延长输出数据的有效保持时间，从而地址信号改变了，仍然能取得正确的读出数据，可以进一步缩短地址送入时间，更加快了主存储器的读写速度。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200" b="1" dirty="0"/>
              <a:t>EDO-DRAM</a:t>
            </a:r>
            <a:r>
              <a:rPr lang="zh-CN" altLang="en-US" sz="1200" b="1" dirty="0"/>
              <a:t>的原理与</a:t>
            </a:r>
            <a:r>
              <a:rPr lang="en-US" altLang="zh-CN" sz="1200" b="1" dirty="0"/>
              <a:t>FPM-DRAM</a:t>
            </a:r>
            <a:r>
              <a:rPr lang="zh-CN" altLang="en-US" sz="1200" b="1" dirty="0"/>
              <a:t>相似，区别在于</a:t>
            </a:r>
            <a:r>
              <a:rPr lang="en-US" altLang="zh-CN" sz="1200" b="1" dirty="0"/>
              <a:t>EDO-DRAM</a:t>
            </a:r>
            <a:r>
              <a:rPr lang="zh-CN" altLang="en-US" sz="1200" b="1" dirty="0"/>
              <a:t>的</a:t>
            </a:r>
            <a:r>
              <a:rPr lang="zh-CN" altLang="en-US" sz="1200" b="1" dirty="0">
                <a:highlight>
                  <a:srgbClr val="FFFF00"/>
                </a:highlight>
              </a:rPr>
              <a:t>数据阶段和列地址阶段是重叠的</a:t>
            </a:r>
            <a:r>
              <a:rPr lang="zh-CN" altLang="en-US" sz="1200" b="1" dirty="0"/>
              <a:t>（如数据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阶段和列地址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阶段是重叠的），从而可以进一步提高存储器的访问速度</a:t>
            </a:r>
            <a:endParaRPr lang="en-US" altLang="zh-CN" sz="12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200" b="1" dirty="0"/>
              <a:t>访问</a:t>
            </a:r>
            <a:r>
              <a:rPr lang="en-US" altLang="zh-CN" sz="1200" b="1" dirty="0"/>
              <a:t>5</a:t>
            </a:r>
            <a:r>
              <a:rPr lang="zh-CN" altLang="en-US" sz="1200" b="1" dirty="0"/>
              <a:t>个数据的</a:t>
            </a:r>
            <a:r>
              <a:rPr lang="en-US" altLang="zh-CN" sz="1200" b="1" dirty="0"/>
              <a:t>EDO-DRAM</a:t>
            </a:r>
            <a:r>
              <a:rPr lang="zh-CN" altLang="en-US" sz="1200" b="1" dirty="0"/>
              <a:t>的典型时序是：</a:t>
            </a:r>
            <a:r>
              <a:rPr lang="en-US" altLang="zh-CN" sz="1200" b="1" dirty="0">
                <a:solidFill>
                  <a:srgbClr val="C00000"/>
                </a:solidFill>
              </a:rPr>
              <a:t>5-2-2-2-2</a:t>
            </a:r>
            <a:r>
              <a:rPr lang="zh-CN" altLang="en-US" sz="1200" b="1" dirty="0"/>
              <a:t>，即第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个数据需要</a:t>
            </a:r>
            <a:r>
              <a:rPr lang="en-US" altLang="zh-CN" sz="1200" b="1" dirty="0"/>
              <a:t>5</a:t>
            </a:r>
            <a:r>
              <a:rPr lang="zh-CN" altLang="en-US" sz="1200" b="1" dirty="0"/>
              <a:t>个时钟周期，后面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个数据各需要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个时钟周期</a:t>
            </a:r>
            <a:endParaRPr lang="en-US" altLang="zh-CN" sz="1400" b="1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FE48DAC-D37D-4185-8286-8D71D0009D65}"/>
              </a:ext>
            </a:extLst>
          </p:cNvPr>
          <p:cNvSpPr txBox="1"/>
          <p:nvPr/>
        </p:nvSpPr>
        <p:spPr>
          <a:xfrm>
            <a:off x="1931831" y="3429000"/>
            <a:ext cx="92044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EDO-DRAM</a:t>
            </a:r>
            <a:endParaRPr lang="zh-CN" altLang="en-US" sz="12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C59A33F-200C-4DE7-9E0F-EAAAEE5772CF}"/>
              </a:ext>
            </a:extLst>
          </p:cNvPr>
          <p:cNvGrpSpPr/>
          <p:nvPr/>
        </p:nvGrpSpPr>
        <p:grpSpPr>
          <a:xfrm>
            <a:off x="1331640" y="2276872"/>
            <a:ext cx="6244079" cy="4302909"/>
            <a:chOff x="827584" y="2530212"/>
            <a:chExt cx="6244079" cy="4302909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5A0D5CC9-ABFA-44FC-B374-968291B8CF12}"/>
                </a:ext>
              </a:extLst>
            </p:cNvPr>
            <p:cNvGrpSpPr/>
            <p:nvPr/>
          </p:nvGrpSpPr>
          <p:grpSpPr>
            <a:xfrm>
              <a:off x="827584" y="2530212"/>
              <a:ext cx="6244079" cy="3923124"/>
              <a:chOff x="827584" y="2848274"/>
              <a:chExt cx="6244079" cy="3923124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AEFEC4BA-B192-41EF-BA8E-602ACA74E6BD}"/>
                  </a:ext>
                </a:extLst>
              </p:cNvPr>
              <p:cNvGrpSpPr/>
              <p:nvPr/>
            </p:nvGrpSpPr>
            <p:grpSpPr>
              <a:xfrm>
                <a:off x="827584" y="2848274"/>
                <a:ext cx="6244079" cy="2899952"/>
                <a:chOff x="827584" y="2848274"/>
                <a:chExt cx="6244079" cy="2899952"/>
              </a:xfrm>
            </p:grpSpPr>
            <p:grpSp>
              <p:nvGrpSpPr>
                <p:cNvPr id="47" name="组合 46">
                  <a:extLst>
                    <a:ext uri="{FF2B5EF4-FFF2-40B4-BE49-F238E27FC236}">
                      <a16:creationId xmlns:a16="http://schemas.microsoft.com/office/drawing/2014/main" id="{7B8C49B3-3576-49B5-8405-2F7885F15E7B}"/>
                    </a:ext>
                  </a:extLst>
                </p:cNvPr>
                <p:cNvGrpSpPr/>
                <p:nvPr/>
              </p:nvGrpSpPr>
              <p:grpSpPr>
                <a:xfrm>
                  <a:off x="827584" y="2848274"/>
                  <a:ext cx="6244079" cy="2899952"/>
                  <a:chOff x="827584" y="2848274"/>
                  <a:chExt cx="6244079" cy="2899952"/>
                </a:xfrm>
              </p:grpSpPr>
              <p:grpSp>
                <p:nvGrpSpPr>
                  <p:cNvPr id="8" name="组合 7">
                    <a:extLst>
                      <a:ext uri="{FF2B5EF4-FFF2-40B4-BE49-F238E27FC236}">
                        <a16:creationId xmlns:a16="http://schemas.microsoft.com/office/drawing/2014/main" id="{ED89147F-0A5E-4849-85AA-274211CB3A2E}"/>
                      </a:ext>
                    </a:extLst>
                  </p:cNvPr>
                  <p:cNvGrpSpPr/>
                  <p:nvPr/>
                </p:nvGrpSpPr>
                <p:grpSpPr>
                  <a:xfrm>
                    <a:off x="827584" y="2848274"/>
                    <a:ext cx="6244079" cy="2899952"/>
                    <a:chOff x="827584" y="3280322"/>
                    <a:chExt cx="6244079" cy="2899952"/>
                  </a:xfrm>
                </p:grpSpPr>
                <p:pic>
                  <p:nvPicPr>
                    <p:cNvPr id="3" name="图片 2">
                      <a:extLst>
                        <a:ext uri="{FF2B5EF4-FFF2-40B4-BE49-F238E27FC236}">
                          <a16:creationId xmlns:a16="http://schemas.microsoft.com/office/drawing/2014/main" id="{17854640-23CF-4B57-98E2-4A2A3DFF726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/>
                    <a:stretch>
                      <a:fillRect/>
                    </a:stretch>
                  </p:blipFill>
                  <p:spPr>
                    <a:xfrm>
                      <a:off x="2483768" y="3861048"/>
                      <a:ext cx="4587895" cy="2319226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5" name="组合 4">
                      <a:extLst>
                        <a:ext uri="{FF2B5EF4-FFF2-40B4-BE49-F238E27FC236}">
                          <a16:creationId xmlns:a16="http://schemas.microsoft.com/office/drawing/2014/main" id="{037BEE91-F885-4167-8FC9-8A866C275FE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27584" y="3280322"/>
                      <a:ext cx="4771822" cy="1804862"/>
                      <a:chOff x="827584" y="3280322"/>
                      <a:chExt cx="4771822" cy="1804862"/>
                    </a:xfrm>
                  </p:grpSpPr>
                  <p:sp>
                    <p:nvSpPr>
                      <p:cNvPr id="7" name="文本框 6">
                        <a:extLst>
                          <a:ext uri="{FF2B5EF4-FFF2-40B4-BE49-F238E27FC236}">
                            <a16:creationId xmlns:a16="http://schemas.microsoft.com/office/drawing/2014/main" id="{B8B428B9-52B1-44A4-B969-06764DF6231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7584" y="4437112"/>
                        <a:ext cx="723275" cy="30777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zh-CN" altLang="en-US" sz="1400" b="1" dirty="0"/>
                          <a:t>行地址</a:t>
                        </a:r>
                      </a:p>
                    </p:txBody>
                  </p:sp>
                  <p:sp>
                    <p:nvSpPr>
                      <p:cNvPr id="10" name="文本框 9">
                        <a:extLst>
                          <a:ext uri="{FF2B5EF4-FFF2-40B4-BE49-F238E27FC236}">
                            <a16:creationId xmlns:a16="http://schemas.microsoft.com/office/drawing/2014/main" id="{623C59C0-DA81-4464-935C-A07D15ABD5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953075" y="3280322"/>
                        <a:ext cx="646331" cy="27699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r>
                          <a:rPr lang="zh-CN" altLang="en-US" sz="1200" b="1" dirty="0"/>
                          <a:t>列地址</a:t>
                        </a:r>
                      </a:p>
                    </p:txBody>
                  </p:sp>
                  <p:cxnSp>
                    <p:nvCxnSpPr>
                      <p:cNvPr id="14" name="直接箭头连接符 13">
                        <a:extLst>
                          <a:ext uri="{FF2B5EF4-FFF2-40B4-BE49-F238E27FC236}">
                            <a16:creationId xmlns:a16="http://schemas.microsoft.com/office/drawing/2014/main" id="{8C25FD59-5E2A-4EF9-8F1B-BD312522C026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3778315" y="3403537"/>
                        <a:ext cx="1587371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直接箭头连接符 15">
                        <a:extLst>
                          <a:ext uri="{FF2B5EF4-FFF2-40B4-BE49-F238E27FC236}">
                            <a16:creationId xmlns:a16="http://schemas.microsoft.com/office/drawing/2014/main" id="{DC234E50-6CD1-4C46-BA85-A85422EA729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355976" y="3403537"/>
                        <a:ext cx="1009710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直接箭头连接符 17">
                        <a:extLst>
                          <a:ext uri="{FF2B5EF4-FFF2-40B4-BE49-F238E27FC236}">
                            <a16:creationId xmlns:a16="http://schemas.microsoft.com/office/drawing/2014/main" id="{EE2808F6-CB7C-4CEC-A4B8-36652819F650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V="1">
                        <a:off x="4932040" y="3403537"/>
                        <a:ext cx="433646" cy="1607658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" name="直接箭头连接符 19">
                        <a:extLst>
                          <a:ext uri="{FF2B5EF4-FFF2-40B4-BE49-F238E27FC236}">
                            <a16:creationId xmlns:a16="http://schemas.microsoft.com/office/drawing/2014/main" id="{65FEED89-FBC9-46EB-9AA9-C28E34DD5C85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 flipV="1">
                        <a:off x="5365686" y="3403537"/>
                        <a:ext cx="70410" cy="1681647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cxnSp>
                <p:nvCxnSpPr>
                  <p:cNvPr id="22" name="直接箭头连接符 21">
                    <a:extLst>
                      <a:ext uri="{FF2B5EF4-FFF2-40B4-BE49-F238E27FC236}">
                        <a16:creationId xmlns:a16="http://schemas.microsoft.com/office/drawing/2014/main" id="{C47D5860-1C96-470C-9D8E-BF23C81BA23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550859" y="4133490"/>
                    <a:ext cx="1436965" cy="482651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直接箭头连接符 24">
                    <a:extLst>
                      <a:ext uri="{FF2B5EF4-FFF2-40B4-BE49-F238E27FC236}">
                        <a16:creationId xmlns:a16="http://schemas.microsoft.com/office/drawing/2014/main" id="{7ACF5CCD-3127-4582-85D1-CB0C43778D2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5365686" y="2971489"/>
                    <a:ext cx="574466" cy="1607658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直接箭头连接符 27">
                    <a:extLst>
                      <a:ext uri="{FF2B5EF4-FFF2-40B4-BE49-F238E27FC236}">
                        <a16:creationId xmlns:a16="http://schemas.microsoft.com/office/drawing/2014/main" id="{2282DE9F-C1FE-4F73-8EAC-3229685D086B}"/>
                      </a:ext>
                    </a:extLst>
                  </p:cNvPr>
                  <p:cNvCxnSpPr>
                    <a:cxnSpLocks/>
                    <a:endCxn id="10" idx="2"/>
                  </p:cNvCxnSpPr>
                  <p:nvPr/>
                </p:nvCxnSpPr>
                <p:spPr>
                  <a:xfrm flipH="1" flipV="1">
                    <a:off x="5276241" y="3125273"/>
                    <a:ext cx="1112202" cy="1702230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44" name="直接连接符 43">
                  <a:extLst>
                    <a:ext uri="{FF2B5EF4-FFF2-40B4-BE49-F238E27FC236}">
                      <a16:creationId xmlns:a16="http://schemas.microsoft.com/office/drawing/2014/main" id="{11B7E4B4-16D0-4553-AEAF-3299F8A852B1}"/>
                    </a:ext>
                  </a:extLst>
                </p:cNvPr>
                <p:cNvCxnSpPr/>
                <p:nvPr/>
              </p:nvCxnSpPr>
              <p:spPr>
                <a:xfrm>
                  <a:off x="4347565" y="4858619"/>
                  <a:ext cx="0" cy="457511"/>
                </a:xfrm>
                <a:prstGeom prst="line">
                  <a:avLst/>
                </a:prstGeom>
                <a:ln>
                  <a:headEnd type="triangle" w="med" len="med"/>
                  <a:tailEnd type="triangle" w="med" len="med"/>
                </a:ln>
              </p:spPr>
              <p:style>
                <a:lnRef idx="3">
                  <a:schemeClr val="accent4"/>
                </a:lnRef>
                <a:fillRef idx="0">
                  <a:schemeClr val="accent4"/>
                </a:fillRef>
                <a:effectRef idx="2">
                  <a:schemeClr val="accent4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6236ADAE-AF8A-4CC7-B0A9-BB1E7BB84D6D}"/>
                  </a:ext>
                </a:extLst>
              </p:cNvPr>
              <p:cNvGrpSpPr/>
              <p:nvPr/>
            </p:nvGrpSpPr>
            <p:grpSpPr>
              <a:xfrm>
                <a:off x="2590913" y="5087374"/>
                <a:ext cx="3861706" cy="1684024"/>
                <a:chOff x="2590913" y="5087374"/>
                <a:chExt cx="3861706" cy="1684024"/>
              </a:xfrm>
            </p:grpSpPr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2E8D0024-1034-4A10-B6FB-EE89CC2859EB}"/>
                    </a:ext>
                  </a:extLst>
                </p:cNvPr>
                <p:cNvSpPr txBox="1"/>
                <p:nvPr/>
              </p:nvSpPr>
              <p:spPr>
                <a:xfrm>
                  <a:off x="5115817" y="6463621"/>
                  <a:ext cx="543739" cy="307777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数据</a:t>
                  </a:r>
                </a:p>
              </p:txBody>
            </p: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82003CB1-5840-428E-8C49-EC3BCFEB2639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4283968" y="5517232"/>
                  <a:ext cx="1103719" cy="94638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箭头连接符 32">
                  <a:extLst>
                    <a:ext uri="{FF2B5EF4-FFF2-40B4-BE49-F238E27FC236}">
                      <a16:creationId xmlns:a16="http://schemas.microsoft.com/office/drawing/2014/main" id="{8DC5DEAC-44AB-49E1-9AFE-A039EE94751E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4860032" y="5589240"/>
                  <a:ext cx="527655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箭头连接符 33">
                  <a:extLst>
                    <a:ext uri="{FF2B5EF4-FFF2-40B4-BE49-F238E27FC236}">
                      <a16:creationId xmlns:a16="http://schemas.microsoft.com/office/drawing/2014/main" id="{2A34BB5D-CAF3-4DB7-892C-BD7E7EFC008E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>
                  <a:off x="5387687" y="5589240"/>
                  <a:ext cx="0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接箭头连接符 34">
                  <a:extLst>
                    <a:ext uri="{FF2B5EF4-FFF2-40B4-BE49-F238E27FC236}">
                      <a16:creationId xmlns:a16="http://schemas.microsoft.com/office/drawing/2014/main" id="{74F525A0-4B84-4E6A-A301-12A92F63ECCF}"/>
                    </a:ext>
                  </a:extLst>
                </p:cNvPr>
                <p:cNvCxnSpPr>
                  <a:cxnSpLocks/>
                  <a:endCxn id="31" idx="0"/>
                </p:cNvCxnSpPr>
                <p:nvPr/>
              </p:nvCxnSpPr>
              <p:spPr>
                <a:xfrm flipH="1">
                  <a:off x="5387687" y="5589240"/>
                  <a:ext cx="552465" cy="8743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箭头连接符 39">
                  <a:extLst>
                    <a:ext uri="{FF2B5EF4-FFF2-40B4-BE49-F238E27FC236}">
                      <a16:creationId xmlns:a16="http://schemas.microsoft.com/office/drawing/2014/main" id="{BF5BF9FA-845D-434C-967B-A512B9A4E2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00891" y="5529675"/>
                  <a:ext cx="1051728" cy="92150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21950A6D-6EB7-4B05-BAC3-35E3EE590042}"/>
                    </a:ext>
                  </a:extLst>
                </p:cNvPr>
                <p:cNvSpPr txBox="1"/>
                <p:nvPr/>
              </p:nvSpPr>
              <p:spPr>
                <a:xfrm>
                  <a:off x="2590913" y="5690343"/>
                  <a:ext cx="990304" cy="600164"/>
                </a:xfrm>
                <a:prstGeom prst="rect">
                  <a:avLst/>
                </a:prstGeom>
                <a:solidFill>
                  <a:srgbClr val="FFFF0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100" b="1" dirty="0"/>
                    <a:t>数据</a:t>
                  </a:r>
                  <a:r>
                    <a:rPr lang="en-US" altLang="zh-CN" sz="1100" b="1" dirty="0"/>
                    <a:t>1</a:t>
                  </a:r>
                  <a:r>
                    <a:rPr lang="zh-CN" altLang="en-US" sz="1100" b="1" dirty="0"/>
                    <a:t>阶段和列地址</a:t>
                  </a:r>
                  <a:r>
                    <a:rPr lang="en-US" altLang="zh-CN" sz="1100" b="1" dirty="0"/>
                    <a:t>2</a:t>
                  </a:r>
                  <a:r>
                    <a:rPr lang="zh-CN" altLang="en-US" sz="1100" b="1" dirty="0"/>
                    <a:t>阶段是重叠的</a:t>
                  </a:r>
                </a:p>
              </p:txBody>
            </p:sp>
            <p:cxnSp>
              <p:nvCxnSpPr>
                <p:cNvPr id="46" name="直接箭头连接符 45">
                  <a:extLst>
                    <a:ext uri="{FF2B5EF4-FFF2-40B4-BE49-F238E27FC236}">
                      <a16:creationId xmlns:a16="http://schemas.microsoft.com/office/drawing/2014/main" id="{4FE4966C-35F1-4E95-A7AD-859AF1F5F29A}"/>
                    </a:ext>
                  </a:extLst>
                </p:cNvPr>
                <p:cNvCxnSpPr/>
                <p:nvPr/>
              </p:nvCxnSpPr>
              <p:spPr>
                <a:xfrm flipH="1">
                  <a:off x="3524989" y="5087374"/>
                  <a:ext cx="758978" cy="789278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AC86E221-A752-4A16-B7EB-B8608CD0C0CD}"/>
                </a:ext>
              </a:extLst>
            </p:cNvPr>
            <p:cNvSpPr txBox="1"/>
            <p:nvPr/>
          </p:nvSpPr>
          <p:spPr>
            <a:xfrm>
              <a:off x="3433829" y="6525344"/>
              <a:ext cx="2783134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4.21    EDO-DRAM</a:t>
              </a:r>
              <a:r>
                <a:rPr lang="zh-CN" altLang="en-US" sz="1400" b="1" dirty="0"/>
                <a:t>读操作时序图</a:t>
              </a:r>
            </a:p>
          </p:txBody>
        </p:sp>
      </p:grp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6776683" y="4554930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5184096" y="4565435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5732626" y="4565435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11B7E4B4-16D0-4553-AEAF-3299F8A852B1}"/>
              </a:ext>
            </a:extLst>
          </p:cNvPr>
          <p:cNvCxnSpPr/>
          <p:nvPr/>
        </p:nvCxnSpPr>
        <p:spPr>
          <a:xfrm>
            <a:off x="6228184" y="4565435"/>
            <a:ext cx="0" cy="457511"/>
          </a:xfrm>
          <a:prstGeom prst="line">
            <a:avLst/>
          </a:prstGeom>
          <a:ln>
            <a:headEnd type="triangle" w="med" len="med"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圆角矩形标注 40"/>
          <p:cNvSpPr/>
          <p:nvPr/>
        </p:nvSpPr>
        <p:spPr>
          <a:xfrm>
            <a:off x="2879812" y="4146596"/>
            <a:ext cx="4248472" cy="1312403"/>
          </a:xfrm>
          <a:prstGeom prst="wedgeRoundRectCallout">
            <a:avLst>
              <a:gd name="adj1" fmla="val 60408"/>
              <a:gd name="adj2" fmla="val -3910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7663171" y="3160713"/>
            <a:ext cx="10132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C00000"/>
                </a:solidFill>
              </a:rPr>
              <a:t>列地址的给出 与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</a:rPr>
              <a:t>数据输出</a:t>
            </a:r>
            <a:endParaRPr lang="en-US" altLang="zh-CN" sz="1600" dirty="0">
              <a:solidFill>
                <a:srgbClr val="C00000"/>
              </a:solidFill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并行</a:t>
            </a:r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en-US" altLang="zh-CN" sz="1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类似二级流水</a:t>
            </a:r>
          </a:p>
        </p:txBody>
      </p:sp>
    </p:spTree>
    <p:extLst>
      <p:ext uri="{BB962C8B-B14F-4D97-AF65-F5344CB8AC3E}">
        <p14:creationId xmlns:p14="http://schemas.microsoft.com/office/powerpoint/2010/main" val="33781737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229600" cy="288032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000" b="1" dirty="0"/>
              <a:t>4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BEDO-DRAM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en-US" altLang="zh-CN" sz="1400" b="1" dirty="0"/>
              <a:t>BEDO-DRAM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Burst Extend Data Out DRAM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C00000"/>
                </a:solidFill>
              </a:rPr>
              <a:t>突发式扩展数据输出</a:t>
            </a:r>
            <a:r>
              <a:rPr lang="en-US" altLang="zh-CN" sz="1400" b="1" dirty="0">
                <a:solidFill>
                  <a:srgbClr val="C00000"/>
                </a:solidFill>
              </a:rPr>
              <a:t>DRAM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BEDO-DRAM</a:t>
            </a:r>
            <a:r>
              <a:rPr lang="zh-CN" altLang="en-US" sz="1400" b="1" dirty="0"/>
              <a:t>是对</a:t>
            </a:r>
            <a:r>
              <a:rPr lang="en-US" altLang="zh-CN" sz="1400" b="1" dirty="0"/>
              <a:t>EDO-DRAM</a:t>
            </a:r>
            <a:r>
              <a:rPr lang="zh-CN" altLang="en-US" sz="1400" b="1" dirty="0"/>
              <a:t>的进一步优化，</a:t>
            </a:r>
            <a:r>
              <a:rPr lang="en-US" altLang="zh-CN" sz="1400" b="1" dirty="0"/>
              <a:t>BEDO-DRAM</a:t>
            </a:r>
            <a:r>
              <a:rPr lang="zh-CN" altLang="en-US" sz="1400" b="1" dirty="0"/>
              <a:t>内置了列地址计数器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这样连续访问的列地址（例如要读取同一行连续几个列的数据）不由外部数据总线给出，而由内部</a:t>
            </a:r>
            <a:r>
              <a:rPr lang="zh-CN" altLang="en-US" sz="1400" b="1" dirty="0">
                <a:solidFill>
                  <a:srgbClr val="C00000"/>
                </a:solidFill>
              </a:rPr>
              <a:t>列地址计数器</a:t>
            </a:r>
            <a:r>
              <a:rPr lang="zh-CN" altLang="en-US" sz="1400" b="1" dirty="0"/>
              <a:t>自动给出，节省了外部总线传输列地址的时间，从而进一步提高访问存储器的速度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访问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个数据的</a:t>
            </a:r>
            <a:r>
              <a:rPr lang="en-US" altLang="zh-CN" sz="1400" b="1" dirty="0"/>
              <a:t>BEDO-DRAM</a:t>
            </a:r>
            <a:r>
              <a:rPr lang="zh-CN" altLang="en-US" sz="1400" b="1" dirty="0"/>
              <a:t>的典型时序是：</a:t>
            </a:r>
            <a:r>
              <a:rPr lang="en-US" altLang="zh-CN" sz="1400" b="1" dirty="0">
                <a:solidFill>
                  <a:srgbClr val="C00000"/>
                </a:solidFill>
              </a:rPr>
              <a:t>5-1-1-1-1</a:t>
            </a:r>
            <a:r>
              <a:rPr lang="zh-CN" altLang="en-US" sz="1400" b="1" dirty="0"/>
              <a:t>，即第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个数据需要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个时钟周期</a:t>
            </a:r>
            <a:r>
              <a:rPr lang="zh-CN" altLang="en-US" sz="1600" b="1" dirty="0"/>
              <a:t>，</a:t>
            </a:r>
            <a:r>
              <a:rPr lang="zh-CN" altLang="en-US" sz="1400" b="1" dirty="0"/>
              <a:t>后面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个数据各需要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个时钟周期</a:t>
            </a:r>
            <a:endParaRPr lang="en-US" altLang="zh-CN" sz="14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872C0F6-0FDA-4621-9F70-61214EF1D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3040945"/>
            <a:ext cx="5354006" cy="345638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C85C34-4A8A-4662-B028-DB8398C5FD8E}"/>
              </a:ext>
            </a:extLst>
          </p:cNvPr>
          <p:cNvSpPr txBox="1"/>
          <p:nvPr/>
        </p:nvSpPr>
        <p:spPr>
          <a:xfrm>
            <a:off x="3851920" y="6410981"/>
            <a:ext cx="2884123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4.22    BEDO-DRAM</a:t>
            </a:r>
            <a:r>
              <a:rPr lang="zh-CN" altLang="en-US" sz="1400" b="1" dirty="0"/>
              <a:t>读操作时序图</a:t>
            </a:r>
          </a:p>
        </p:txBody>
      </p:sp>
    </p:spTree>
    <p:extLst>
      <p:ext uri="{BB962C8B-B14F-4D97-AF65-F5344CB8AC3E}">
        <p14:creationId xmlns:p14="http://schemas.microsoft.com/office/powerpoint/2010/main" val="4335933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1779F42-E58E-4FCB-93E9-AEDEF2D2EC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7"/>
            <a:ext cx="8229600" cy="417646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、同步</a:t>
            </a:r>
            <a:r>
              <a:rPr lang="en-US" altLang="zh-CN" sz="2000" b="1" dirty="0"/>
              <a:t>DRAM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SDRAM</a:t>
            </a:r>
            <a:r>
              <a:rPr lang="zh-CN" altLang="en-US" sz="20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SDRAM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Synchronous DRAM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solidFill>
                  <a:srgbClr val="C00000"/>
                </a:solidFill>
              </a:rPr>
              <a:t>同步</a:t>
            </a:r>
            <a:r>
              <a:rPr lang="en-US" altLang="zh-CN" sz="1600" b="1" dirty="0">
                <a:solidFill>
                  <a:srgbClr val="C00000"/>
                </a:solidFill>
              </a:rPr>
              <a:t>DRAM</a:t>
            </a:r>
          </a:p>
          <a:p>
            <a:pPr lvl="2" eaLnBrk="1" hangingPunct="1"/>
            <a:r>
              <a:rPr lang="en-US" altLang="zh-CN" sz="1600" b="1" dirty="0">
                <a:solidFill>
                  <a:srgbClr val="C00000"/>
                </a:solidFill>
              </a:rPr>
              <a:t>SDRAM_</a:t>
            </a:r>
            <a:r>
              <a:rPr lang="zh-CN" altLang="en-US" sz="1600" b="1" dirty="0">
                <a:solidFill>
                  <a:srgbClr val="C00000"/>
                </a:solidFill>
              </a:rPr>
              <a:t>百度百科 </a:t>
            </a:r>
            <a:r>
              <a:rPr lang="en-US" altLang="zh-CN" sz="1600" b="1" dirty="0">
                <a:solidFill>
                  <a:srgbClr val="C00000"/>
                </a:solidFill>
              </a:rPr>
              <a:t>https://baike.baidu.com/item/SDRAM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FPM-DRAM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EDO-DRAM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BEDO-DRAM</a:t>
            </a:r>
            <a:r>
              <a:rPr lang="zh-CN" altLang="en-US" sz="1600" b="1" dirty="0"/>
              <a:t>都属于异步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；异步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芯片本身没有时钟信号，其时序控制、地址寻址、数据访问都是由</a:t>
            </a:r>
            <a:r>
              <a:rPr lang="zh-CN" altLang="en-US" sz="1600" b="1" dirty="0">
                <a:solidFill>
                  <a:srgbClr val="C00000"/>
                </a:solidFill>
              </a:rPr>
              <a:t>内存控制器</a:t>
            </a:r>
            <a:r>
              <a:rPr lang="zh-CN" altLang="en-US" sz="1600" b="1" dirty="0"/>
              <a:t>通过异步方式控制实现的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而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芯片</a:t>
            </a:r>
            <a:r>
              <a:rPr lang="zh-CN" altLang="en-US" sz="1600" b="1" dirty="0">
                <a:solidFill>
                  <a:srgbClr val="C00000"/>
                </a:solidFill>
              </a:rPr>
              <a:t>自带时钟控制信号</a:t>
            </a:r>
            <a:r>
              <a:rPr lang="zh-CN" altLang="en-US" sz="1600" b="1" dirty="0"/>
              <a:t>，能与系统总线频率同步，第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个列数据就绪后，每经历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个时钟周期，就可以得到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个数据，从而能够进一步提高访问存储器的速度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目前主流的</a:t>
            </a:r>
            <a:r>
              <a:rPr lang="en-US" altLang="zh-CN" sz="1600" b="1" dirty="0"/>
              <a:t>SDRAM</a:t>
            </a:r>
            <a:r>
              <a:rPr lang="zh-CN" altLang="en-US" sz="1600" b="1" dirty="0"/>
              <a:t>访问一次数据的时间在</a:t>
            </a:r>
            <a:r>
              <a:rPr lang="en-US" altLang="zh-CN" sz="1600" b="1" dirty="0"/>
              <a:t>10ns</a:t>
            </a:r>
            <a:r>
              <a:rPr lang="zh-CN" altLang="en-US" sz="1600" b="1" dirty="0"/>
              <a:t>左右，其工作频率为</a:t>
            </a:r>
            <a:r>
              <a:rPr lang="en-US" altLang="zh-CN" sz="1600" b="1" dirty="0"/>
              <a:t>1/10ns</a:t>
            </a:r>
            <a:r>
              <a:rPr lang="zh-CN" altLang="en-US" sz="1600" b="1" dirty="0"/>
              <a:t>，即</a:t>
            </a:r>
            <a:r>
              <a:rPr lang="en-US" altLang="zh-CN" sz="1600" b="1" dirty="0"/>
              <a:t>100MHz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8538283-8145-448F-A742-14456E3BC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691613"/>
            <a:ext cx="3898404" cy="180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57878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51D0AD-E1E6-40BF-9359-6B23067FE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1"/>
            <a:ext cx="8075240" cy="4180698"/>
          </a:xfrm>
        </p:spPr>
        <p:txBody>
          <a:bodyPr/>
          <a:lstStyle/>
          <a:p>
            <a:pPr marL="400050" lvl="1" indent="0">
              <a:buNone/>
            </a:pPr>
            <a:r>
              <a:rPr lang="en-US" altLang="zh-CN" sz="2400" b="1" dirty="0"/>
              <a:t>5</a:t>
            </a:r>
            <a:r>
              <a:rPr lang="zh-CN" altLang="en-US" sz="2400" b="1" dirty="0"/>
              <a:t>、同步</a:t>
            </a:r>
            <a:r>
              <a:rPr lang="en-US" altLang="zh-CN" sz="2400" b="1" dirty="0"/>
              <a:t>DRAM</a:t>
            </a:r>
            <a:r>
              <a:rPr lang="zh-CN" altLang="en-US" sz="2400" b="1" dirty="0"/>
              <a:t>（</a:t>
            </a:r>
            <a:r>
              <a:rPr lang="en-US" altLang="zh-CN" sz="2400" b="1" dirty="0"/>
              <a:t>SDRAM</a:t>
            </a:r>
            <a:r>
              <a:rPr lang="zh-CN" altLang="en-US" sz="2400" b="1" dirty="0"/>
              <a:t>）</a:t>
            </a:r>
            <a:endParaRPr lang="en-US" altLang="zh-CN" sz="2400" b="1" dirty="0"/>
          </a:p>
          <a:p>
            <a:pPr lvl="1"/>
            <a:r>
              <a:rPr lang="en-US" altLang="zh-CN" sz="2000" b="1" dirty="0"/>
              <a:t>SDRAM</a:t>
            </a:r>
            <a:r>
              <a:rPr lang="zh-CN" altLang="en-US" sz="2000" b="1" dirty="0"/>
              <a:t>的读操作</a:t>
            </a:r>
            <a:endParaRPr lang="en-US" altLang="zh-CN" sz="20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行激活</a:t>
            </a:r>
            <a:r>
              <a:rPr lang="zh-CN" altLang="en-US" b="1" dirty="0"/>
              <a:t>：</a:t>
            </a:r>
            <a:r>
              <a:rPr lang="zh-CN" altLang="en-US" sz="1400" b="1" dirty="0"/>
              <a:t>在向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发送读或写命令之前必须打开该</a:t>
            </a:r>
            <a:r>
              <a:rPr lang="en-US" altLang="zh-CN" sz="1400" b="1" dirty="0"/>
              <a:t>Bank</a:t>
            </a:r>
            <a:r>
              <a:rPr lang="zh-CN" altLang="en-US" sz="1400" b="1" dirty="0"/>
              <a:t>中的一行，通过</a:t>
            </a:r>
            <a:r>
              <a:rPr lang="en-US" altLang="zh-CN" sz="1400" b="1" dirty="0"/>
              <a:t>ACTIVE</a:t>
            </a:r>
            <a:r>
              <a:rPr lang="zh-CN" altLang="en-US" sz="1400" b="1" dirty="0"/>
              <a:t>命令来确定要激活的</a:t>
            </a:r>
            <a:r>
              <a:rPr lang="en-US" altLang="zh-CN" sz="1400" b="1" dirty="0"/>
              <a:t>Bank</a:t>
            </a:r>
            <a:r>
              <a:rPr lang="zh-CN" altLang="en-US" sz="1400" b="1" dirty="0"/>
              <a:t>和行。要想对一个</a:t>
            </a:r>
            <a:r>
              <a:rPr lang="en-US" altLang="zh-CN" sz="1400" b="1" dirty="0"/>
              <a:t>L-Bank</a:t>
            </a:r>
            <a:r>
              <a:rPr lang="zh-CN" altLang="en-US" sz="1400" b="1" dirty="0"/>
              <a:t>中的阵列进行寻址，首先要确定行（</a:t>
            </a:r>
            <a:r>
              <a:rPr lang="en-US" altLang="zh-CN" sz="1400" b="1" dirty="0"/>
              <a:t>Row</a:t>
            </a:r>
            <a:r>
              <a:rPr lang="zh-CN" altLang="en-US" sz="1400" b="1" dirty="0"/>
              <a:t>），然后确定列。片选信号与</a:t>
            </a:r>
            <a:r>
              <a:rPr lang="en-US" altLang="zh-CN" sz="1400" b="1" dirty="0"/>
              <a:t>L-Bank</a:t>
            </a:r>
            <a:r>
              <a:rPr lang="zh-CN" altLang="en-US" sz="1400" b="1" dirty="0"/>
              <a:t>选择信号与行有效同时进行。</a:t>
            </a:r>
            <a:endParaRPr lang="en-US" altLang="zh-CN" sz="14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列读写</a:t>
            </a:r>
            <a:r>
              <a:rPr lang="zh-CN" altLang="en-US" sz="2000" b="1" dirty="0"/>
              <a:t>：</a:t>
            </a:r>
            <a:r>
              <a:rPr lang="zh-CN" altLang="en-US" sz="1400" b="1" dirty="0"/>
              <a:t>当列地址选通后，就需要对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进行读写，而给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读命令还是写这就由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信号来决定。当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信号拉低时，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接收到的是写命令；当</a:t>
            </a:r>
            <a:r>
              <a:rPr lang="en-US" altLang="zh-CN" sz="1400" b="1" dirty="0"/>
              <a:t>WE#</a:t>
            </a:r>
            <a:r>
              <a:rPr lang="zh-CN" altLang="en-US" sz="1400" b="1" dirty="0"/>
              <a:t>拉高，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接收读命令。列寻址信号与读写命令是同时发出的。在发送列读写命令时必须要与行有效命令有一个时间间隔，这个时间间隔被定义为</a:t>
            </a:r>
            <a:r>
              <a:rPr lang="en-US" altLang="zh-CN" sz="1400" b="1" dirty="0" err="1">
                <a:highlight>
                  <a:srgbClr val="FFFF00"/>
                </a:highlight>
              </a:rPr>
              <a:t>tRCD</a:t>
            </a:r>
            <a:r>
              <a:rPr lang="zh-CN" altLang="en-US" sz="1400" b="1" dirty="0"/>
              <a:t>，即</a:t>
            </a:r>
            <a:r>
              <a:rPr lang="en-US" altLang="zh-CN" sz="1400" b="1" dirty="0"/>
              <a:t>RAS to CAS Delay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RAS</a:t>
            </a:r>
            <a:r>
              <a:rPr lang="zh-CN" altLang="en-US" sz="1400" b="1" dirty="0"/>
              <a:t>至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延迟）。比如</a:t>
            </a:r>
            <a:r>
              <a:rPr lang="en-US" altLang="zh-CN" sz="1400" b="1" dirty="0" err="1"/>
              <a:t>tRCD</a:t>
            </a:r>
            <a:r>
              <a:rPr lang="en-US" altLang="zh-CN" sz="1400" b="1" dirty="0"/>
              <a:t>=3</a:t>
            </a:r>
            <a:r>
              <a:rPr lang="zh-CN" altLang="en-US" sz="1400" b="1" dirty="0"/>
              <a:t>，就代表延迟周期为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个时钟周期，即在行有效命令发出后，经过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个时钟周期的延时，才能发送列读写命令，</a:t>
            </a:r>
            <a:r>
              <a:rPr lang="en-US" altLang="zh-CN" sz="1400" b="1" dirty="0"/>
              <a:t>SDRAM</a:t>
            </a:r>
            <a:r>
              <a:rPr lang="zh-CN" altLang="en-US" sz="1400" b="1" dirty="0"/>
              <a:t>进入数据读写操作。</a:t>
            </a:r>
            <a:endParaRPr lang="en-US" altLang="zh-CN" sz="1400" b="1" dirty="0"/>
          </a:p>
          <a:p>
            <a:pPr lvl="2"/>
            <a:r>
              <a:rPr lang="zh-CN" altLang="en-US" sz="1800" b="1" dirty="0">
                <a:highlight>
                  <a:srgbClr val="FFFF00"/>
                </a:highlight>
              </a:rPr>
              <a:t>读操作</a:t>
            </a:r>
            <a:r>
              <a:rPr lang="zh-CN" altLang="en-US" sz="1400" b="1" dirty="0"/>
              <a:t>：从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与读取命令发出到第一个数据输出的这段时间，被定义为</a:t>
            </a:r>
            <a:r>
              <a:rPr lang="en-US" altLang="zh-CN" sz="1400" b="1" dirty="0"/>
              <a:t>CL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CAS Latency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CAS</a:t>
            </a:r>
            <a:r>
              <a:rPr lang="zh-CN" altLang="en-US" sz="1400" b="1" dirty="0"/>
              <a:t>潜伏期）</a:t>
            </a:r>
            <a:endParaRPr lang="zh-CN" altLang="en-US" sz="4000" b="1" dirty="0"/>
          </a:p>
        </p:txBody>
      </p:sp>
      <p:pic>
        <p:nvPicPr>
          <p:cNvPr id="2050" name="Picture 2" descr="https://pic1.zhimg.com/80/v2-ae778c419bd0e94c256170ad6963502c_720w.webp">
            <a:extLst>
              <a:ext uri="{FF2B5EF4-FFF2-40B4-BE49-F238E27FC236}">
                <a16:creationId xmlns:a16="http://schemas.microsoft.com/office/drawing/2014/main" id="{4509C7A5-5C75-4065-83DB-08C1165E1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077072"/>
            <a:ext cx="5832648" cy="2088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7256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>
            <a:extLst>
              <a:ext uri="{FF2B5EF4-FFF2-40B4-BE49-F238E27FC236}">
                <a16:creationId xmlns:a16="http://schemas.microsoft.com/office/drawing/2014/main" id="{E0E24B92-9F47-4762-87A2-AF47BBFDB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4256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DRAM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的发展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D64B9C-4DD5-4A7A-8CFF-7C9707D20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836712"/>
            <a:ext cx="8363272" cy="5904656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DDR SDRAM</a:t>
            </a:r>
          </a:p>
          <a:p>
            <a:pPr marL="985838" lvl="2" indent="-179388" eaLnBrk="1" hangingPunct="1">
              <a:lnSpc>
                <a:spcPct val="150000"/>
              </a:lnSpc>
            </a:pPr>
            <a:r>
              <a:rPr lang="en-US" altLang="zh-CN" sz="2000" b="1" dirty="0"/>
              <a:t>DDR SDRAM</a:t>
            </a:r>
            <a:r>
              <a:rPr lang="zh-CN" altLang="en-US" sz="2000" b="1" dirty="0"/>
              <a:t>内部采用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路</a:t>
            </a:r>
            <a:r>
              <a:rPr lang="zh-CN" altLang="en-US" sz="2000" b="1" dirty="0">
                <a:highlight>
                  <a:srgbClr val="FFFF00"/>
                </a:highlight>
              </a:rPr>
              <a:t>预取技术</a:t>
            </a:r>
            <a:r>
              <a:rPr lang="zh-CN" altLang="en-US" sz="2000" b="1" dirty="0"/>
              <a:t>，能够在时钟周期的</a:t>
            </a:r>
            <a:r>
              <a:rPr lang="zh-CN" altLang="en-US" sz="2000" b="1" dirty="0">
                <a:solidFill>
                  <a:srgbClr val="C00000"/>
                </a:solidFill>
              </a:rPr>
              <a:t>上升沿和下降沿</a:t>
            </a:r>
            <a:r>
              <a:rPr lang="zh-CN" altLang="en-US" sz="2000" b="1" dirty="0"/>
              <a:t>分别进行数据传输，即每个时钟周期可以传输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个数据，其速度是</a:t>
            </a:r>
            <a:r>
              <a:rPr lang="en-US" altLang="zh-CN" sz="2000" b="1" dirty="0"/>
              <a:t>SDRAM</a:t>
            </a:r>
            <a:r>
              <a:rPr lang="zh-CN" altLang="en-US" sz="2000" b="1" dirty="0"/>
              <a:t>的</a:t>
            </a:r>
            <a:r>
              <a:rPr lang="en-US" altLang="zh-CN" sz="2000" b="1" dirty="0">
                <a:solidFill>
                  <a:srgbClr val="C00000"/>
                </a:solidFill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</a:rPr>
              <a:t>倍</a:t>
            </a:r>
            <a:r>
              <a:rPr lang="zh-CN" altLang="en-US" sz="2000" b="1" dirty="0"/>
              <a:t>（</a:t>
            </a:r>
            <a:r>
              <a:rPr lang="en-US" altLang="zh-CN" sz="2000" b="1" dirty="0"/>
              <a:t>SDRAM</a:t>
            </a:r>
            <a:r>
              <a:rPr lang="zh-CN" altLang="en-US" sz="2000" b="1" dirty="0"/>
              <a:t>每个时钟周期传输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个数据）</a:t>
            </a:r>
            <a:endParaRPr lang="en-US" altLang="zh-CN" sz="2000" b="1" dirty="0"/>
          </a:p>
          <a:p>
            <a:pPr marL="971550" lvl="2" indent="-171450">
              <a:lnSpc>
                <a:spcPct val="150000"/>
              </a:lnSpc>
            </a:pPr>
            <a:r>
              <a:rPr lang="zh-CN" altLang="en-US" sz="1800" b="1" dirty="0"/>
              <a:t>DDR预取技术是DD</a:t>
            </a:r>
            <a:r>
              <a:rPr lang="en-US" altLang="zh-CN" sz="1800" b="1" dirty="0"/>
              <a:t>R</a:t>
            </a:r>
            <a:r>
              <a:rPr lang="zh-CN" altLang="en-US" sz="1800" b="1" dirty="0"/>
              <a:t>实现高速数据传输的核心机制</a:t>
            </a:r>
            <a:endParaRPr lang="en-US" altLang="zh-CN" sz="1800" b="1" dirty="0"/>
          </a:p>
          <a:p>
            <a:pPr marL="971550" lvl="2" indent="-171450">
              <a:lnSpc>
                <a:spcPct val="15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基本思想</a:t>
            </a:r>
            <a:r>
              <a:rPr lang="zh-CN" altLang="en-US" sz="1800" b="1" dirty="0"/>
              <a:t>：在内存核心（存储阵列）与外部高速数据总线之间设置缓冲区，让存储阵列工作在相对较低的频率，而通过一次读取多个数据（预取），再在外部总线上通过多个时钟周期或双沿传输依次送出，从而提升有效数据传输。本质上是</a:t>
            </a:r>
            <a:r>
              <a:rPr lang="zh-CN" altLang="en-US" sz="1800" b="1" dirty="0">
                <a:solidFill>
                  <a:srgbClr val="C00000"/>
                </a:solidFill>
              </a:rPr>
              <a:t>并行读取与串行输出</a:t>
            </a:r>
            <a:r>
              <a:rPr lang="zh-CN" altLang="en-US" sz="1800" b="1" dirty="0"/>
              <a:t>的结合</a:t>
            </a:r>
            <a:r>
              <a:rPr lang="zh-CN" altLang="en-US" sz="1800" b="1" dirty="0">
                <a:highlight>
                  <a:srgbClr val="FFFF00"/>
                </a:highlight>
              </a:rPr>
              <a:t>，即一种“串并转换”</a:t>
            </a:r>
            <a:r>
              <a:rPr lang="zh-CN" altLang="en-US" sz="1800" b="1" dirty="0"/>
              <a:t>。‌</a:t>
            </a:r>
          </a:p>
          <a:p>
            <a:pPr lvl="2">
              <a:lnSpc>
                <a:spcPct val="150000"/>
              </a:lnSpc>
            </a:pPr>
            <a:r>
              <a:rPr lang="zh-CN" altLang="en-US" sz="1800" b="1" dirty="0"/>
              <a:t>预取技术通过拓宽内存内部数据总线的位宽，每次从存储阵列中读取多位数据，再通过较窄的外部数据总线高速串行输出，从而在不显著提升核心频率的情况下倍增有效带宽。</a:t>
            </a:r>
            <a:r>
              <a:rPr lang="zh-CN" altLang="en-US" sz="1600" b="1" dirty="0"/>
              <a:t>‌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437777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E9F931B-973B-481C-AB64-6CD5E6F2BD5C}"/>
              </a:ext>
            </a:extLst>
          </p:cNvPr>
          <p:cNvSpPr/>
          <p:nvPr/>
        </p:nvSpPr>
        <p:spPr>
          <a:xfrm>
            <a:off x="1043608" y="620688"/>
            <a:ext cx="7452828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/>
              <a:t>补充：</a:t>
            </a:r>
            <a:endParaRPr lang="en-US" altLang="zh-CN" sz="2000" b="1" dirty="0"/>
          </a:p>
          <a:p>
            <a:endParaRPr lang="en-US" altLang="zh-CN" b="1" dirty="0"/>
          </a:p>
          <a:p>
            <a:r>
              <a:rPr lang="zh-CN" altLang="en-US" b="1" dirty="0"/>
              <a:t>现代化的</a:t>
            </a:r>
            <a:r>
              <a:rPr lang="en-US" altLang="zh-CN" b="1" dirty="0"/>
              <a:t>DRAM</a:t>
            </a:r>
            <a:r>
              <a:rPr lang="zh-CN" altLang="en-US" b="1" dirty="0"/>
              <a:t>技术，更像是一门</a:t>
            </a:r>
            <a:r>
              <a:rPr lang="zh-CN" altLang="en-US" b="1" dirty="0">
                <a:solidFill>
                  <a:srgbClr val="C00000"/>
                </a:solidFill>
              </a:rPr>
              <a:t>接口技术</a:t>
            </a:r>
            <a:r>
              <a:rPr lang="zh-CN" altLang="en-US" b="1" dirty="0"/>
              <a:t>，而不像是存储技术。得益于摩尔定律，随着工艺尺寸的不断缩进，</a:t>
            </a:r>
            <a:r>
              <a:rPr lang="en-US" altLang="zh-CN" b="1" dirty="0"/>
              <a:t>DRAM</a:t>
            </a:r>
            <a:r>
              <a:rPr lang="zh-CN" altLang="en-US" b="1" dirty="0"/>
              <a:t>的容量越做越大，这个并不难，但是如果没有</a:t>
            </a:r>
            <a:r>
              <a:rPr lang="en-US" altLang="zh-CN" b="1" dirty="0"/>
              <a:t>DDR1</a:t>
            </a:r>
            <a:r>
              <a:rPr lang="zh-CN" altLang="en-US" b="1" dirty="0"/>
              <a:t>，</a:t>
            </a:r>
            <a:r>
              <a:rPr lang="en-US" altLang="zh-CN" b="1" dirty="0"/>
              <a:t>DDR2</a:t>
            </a:r>
            <a:r>
              <a:rPr lang="zh-CN" altLang="en-US" b="1" dirty="0"/>
              <a:t>和</a:t>
            </a:r>
            <a:r>
              <a:rPr lang="en-US" altLang="zh-CN" b="1" dirty="0"/>
              <a:t>DDR3</a:t>
            </a:r>
            <a:r>
              <a:rPr lang="zh-CN" altLang="en-US" b="1" dirty="0"/>
              <a:t>，</a:t>
            </a:r>
            <a:r>
              <a:rPr lang="en-US" altLang="zh-CN" b="1" dirty="0"/>
              <a:t>DDR4</a:t>
            </a:r>
            <a:r>
              <a:rPr lang="zh-CN" altLang="en-US" b="1" dirty="0"/>
              <a:t>等不断的倍频高速接口出现，</a:t>
            </a:r>
            <a:r>
              <a:rPr lang="en-US" altLang="zh-CN" b="1" dirty="0"/>
              <a:t>DRAM</a:t>
            </a:r>
            <a:r>
              <a:rPr lang="zh-CN" altLang="en-US" b="1" dirty="0"/>
              <a:t>的速度基本没有办法提高。</a:t>
            </a:r>
          </a:p>
          <a:p>
            <a:endParaRPr lang="zh-CN" altLang="en-US" b="1" dirty="0"/>
          </a:p>
          <a:p>
            <a:r>
              <a:rPr lang="zh-CN" altLang="en-US" b="1" dirty="0"/>
              <a:t>其原因在于，</a:t>
            </a:r>
            <a:r>
              <a:rPr lang="en-US" altLang="zh-CN" b="1" dirty="0"/>
              <a:t>DRAM</a:t>
            </a:r>
            <a:r>
              <a:rPr lang="zh-CN" altLang="en-US" b="1" dirty="0"/>
              <a:t>作为一个大的存储体，尤其是靠电容作为存储的手段，其内部操作速度很难做到很高。电容的容量做得太小，内存读写的确可以变快，后果是漏电也会很快，需要不停的刷新防止数据丢失，内存的性能会受到影响。电容的容量做得太大，数据确实可以保存的很久，但是写入和读取的延时就会大大增加，</a:t>
            </a:r>
            <a:r>
              <a:rPr lang="en-US" altLang="zh-CN" b="1" dirty="0"/>
              <a:t>DRAM</a:t>
            </a:r>
            <a:r>
              <a:rPr lang="zh-CN" altLang="en-US" b="1" dirty="0"/>
              <a:t>的性能又会大大降低。</a:t>
            </a:r>
          </a:p>
          <a:p>
            <a:endParaRPr lang="zh-CN" altLang="en-US" b="1" dirty="0"/>
          </a:p>
          <a:p>
            <a:r>
              <a:rPr lang="zh-CN" altLang="en-US" b="1" dirty="0"/>
              <a:t>基于此，</a:t>
            </a:r>
            <a:r>
              <a:rPr lang="en-US" altLang="zh-CN" b="1" dirty="0"/>
              <a:t>DRAM</a:t>
            </a:r>
            <a:r>
              <a:rPr lang="zh-CN" altLang="en-US" b="1" dirty="0"/>
              <a:t>的内部存储操作速度难以大幅度改进。举个例子：即使</a:t>
            </a:r>
            <a:r>
              <a:rPr lang="en-US" altLang="zh-CN" b="1" dirty="0"/>
              <a:t>DRAM</a:t>
            </a:r>
            <a:r>
              <a:rPr lang="zh-CN" altLang="en-US" b="1" dirty="0"/>
              <a:t>接口</a:t>
            </a:r>
            <a:r>
              <a:rPr lang="en-US" altLang="zh-CN" b="1" dirty="0"/>
              <a:t>pin</a:t>
            </a:r>
            <a:r>
              <a:rPr lang="zh-CN" altLang="en-US" b="1" dirty="0"/>
              <a:t>做到了</a:t>
            </a:r>
            <a:r>
              <a:rPr lang="en-US" altLang="zh-CN" b="1" dirty="0"/>
              <a:t>1066M</a:t>
            </a:r>
            <a:r>
              <a:rPr lang="zh-CN" altLang="en-US" b="1" dirty="0"/>
              <a:t>，</a:t>
            </a:r>
            <a:r>
              <a:rPr lang="en-US" altLang="zh-CN" b="1" dirty="0"/>
              <a:t>DRAM</a:t>
            </a:r>
            <a:r>
              <a:rPr lang="zh-CN" altLang="en-US" b="1" dirty="0"/>
              <a:t>的存储单元其实并没有工作在</a:t>
            </a:r>
            <a:r>
              <a:rPr lang="en-US" altLang="zh-CN" b="1" dirty="0"/>
              <a:t>1066M</a:t>
            </a:r>
            <a:r>
              <a:rPr lang="zh-CN" altLang="en-US" b="1" dirty="0"/>
              <a:t>这么高的时钟下面，相反只有</a:t>
            </a:r>
            <a:r>
              <a:rPr lang="en-US" altLang="zh-CN" b="1" dirty="0"/>
              <a:t>133M</a:t>
            </a:r>
            <a:r>
              <a:rPr lang="zh-CN" altLang="en-US" b="1" dirty="0"/>
              <a:t>。快的只是接口而已。就好像一个很粗的水管，里面的水流速其实并不快，但是只要我们把出口收窄，出口的水速就会大幅提高，远远高于水管内的水速。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90736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806BEC1-1DA2-4F3C-909E-FFFD39FA37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60" y="404664"/>
            <a:ext cx="4248471" cy="627374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C12EB05-80C3-4959-9C4B-E7017DD5F0B6}"/>
              </a:ext>
            </a:extLst>
          </p:cNvPr>
          <p:cNvSpPr/>
          <p:nvPr/>
        </p:nvSpPr>
        <p:spPr>
          <a:xfrm>
            <a:off x="395536" y="332656"/>
            <a:ext cx="352839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在右图给出的示例中，</a:t>
            </a:r>
            <a:r>
              <a:rPr lang="en-US" altLang="zh-CN" dirty="0"/>
              <a:t>SDRAM</a:t>
            </a:r>
            <a:r>
              <a:rPr lang="zh-CN" altLang="en-US" dirty="0"/>
              <a:t>的</a:t>
            </a:r>
            <a:r>
              <a:rPr lang="zh-CN" altLang="en-US" dirty="0">
                <a:hlinkClick r:id="rId3"/>
              </a:rPr>
              <a:t>接口速度</a:t>
            </a:r>
            <a:r>
              <a:rPr lang="zh-CN" altLang="en-US" dirty="0"/>
              <a:t>是</a:t>
            </a:r>
            <a:r>
              <a:rPr lang="en-US" altLang="zh-CN" dirty="0"/>
              <a:t>133M</a:t>
            </a:r>
            <a:r>
              <a:rPr lang="zh-CN" altLang="en-US" dirty="0"/>
              <a:t>，</a:t>
            </a:r>
            <a:r>
              <a:rPr lang="en-US" altLang="zh-CN" dirty="0"/>
              <a:t>DDR1</a:t>
            </a:r>
            <a:r>
              <a:rPr lang="zh-CN" altLang="en-US" dirty="0"/>
              <a:t>接口的速度是</a:t>
            </a:r>
            <a:r>
              <a:rPr lang="en-US" altLang="zh-CN" dirty="0">
                <a:solidFill>
                  <a:srgbClr val="C00000"/>
                </a:solidFill>
              </a:rPr>
              <a:t>266M</a:t>
            </a:r>
            <a:r>
              <a:rPr lang="zh-CN" altLang="en-US" dirty="0"/>
              <a:t>，</a:t>
            </a:r>
            <a:r>
              <a:rPr lang="en-US" altLang="zh-CN" dirty="0"/>
              <a:t>DDR2</a:t>
            </a:r>
            <a:r>
              <a:rPr lang="zh-CN" altLang="en-US" dirty="0"/>
              <a:t>接口的速度是</a:t>
            </a:r>
            <a:r>
              <a:rPr lang="en-US" altLang="zh-CN" dirty="0">
                <a:solidFill>
                  <a:srgbClr val="C00000"/>
                </a:solidFill>
              </a:rPr>
              <a:t>533M</a:t>
            </a:r>
            <a:r>
              <a:rPr lang="zh-CN" altLang="en-US" dirty="0"/>
              <a:t>，</a:t>
            </a:r>
            <a:r>
              <a:rPr lang="en-US" altLang="zh-CN" dirty="0"/>
              <a:t>DDR3</a:t>
            </a:r>
            <a:r>
              <a:rPr lang="zh-CN" altLang="en-US" dirty="0"/>
              <a:t>的接口速度是</a:t>
            </a:r>
            <a:r>
              <a:rPr lang="en-US" altLang="zh-CN" dirty="0">
                <a:solidFill>
                  <a:srgbClr val="C00000"/>
                </a:solidFill>
              </a:rPr>
              <a:t>1066M</a:t>
            </a:r>
            <a:r>
              <a:rPr lang="zh-CN" altLang="en-US" dirty="0"/>
              <a:t>。每提高一代，接口性能都提高了一倍，但是</a:t>
            </a:r>
            <a:r>
              <a:rPr lang="zh-CN" altLang="en-US" dirty="0">
                <a:solidFill>
                  <a:srgbClr val="C00000"/>
                </a:solidFill>
              </a:rPr>
              <a:t>注意</a:t>
            </a:r>
            <a:r>
              <a:rPr lang="zh-CN" altLang="en-US" dirty="0"/>
              <a:t>看，这四代接口的</a:t>
            </a:r>
            <a:r>
              <a:rPr lang="zh-CN" altLang="en-US" dirty="0">
                <a:highlight>
                  <a:srgbClr val="FFFF00"/>
                </a:highlight>
              </a:rPr>
              <a:t>核心频率都是</a:t>
            </a:r>
            <a:r>
              <a:rPr lang="en-US" altLang="zh-CN" dirty="0">
                <a:highlight>
                  <a:srgbClr val="FFFF00"/>
                </a:highlight>
              </a:rPr>
              <a:t>133M</a:t>
            </a:r>
            <a:r>
              <a:rPr lang="zh-CN" altLang="en-US" dirty="0">
                <a:highlight>
                  <a:srgbClr val="FFFF00"/>
                </a:highlight>
              </a:rPr>
              <a:t> ，</a:t>
            </a:r>
            <a:r>
              <a:rPr lang="zh-CN" altLang="en-US" dirty="0"/>
              <a:t>也就是说，</a:t>
            </a:r>
            <a:r>
              <a:rPr lang="en-US" altLang="zh-CN" dirty="0"/>
              <a:t>DRAM</a:t>
            </a:r>
            <a:r>
              <a:rPr lang="zh-CN" altLang="en-US" dirty="0"/>
              <a:t>存储单元的读写速度没有提高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1" dirty="0">
                <a:solidFill>
                  <a:srgbClr val="C00000"/>
                </a:solidFill>
              </a:rPr>
              <a:t>核心技术：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双沿传输</a:t>
            </a:r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预取</a:t>
            </a:r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>
              <a:solidFill>
                <a:srgbClr val="C00000"/>
              </a:solidFill>
            </a:endParaRPr>
          </a:p>
          <a:p>
            <a:r>
              <a:rPr lang="zh-CN" altLang="en-US" b="1" dirty="0">
                <a:solidFill>
                  <a:srgbClr val="C00000"/>
                </a:solidFill>
              </a:rPr>
              <a:t>增加</a:t>
            </a:r>
            <a:r>
              <a:rPr lang="en-US" altLang="zh-CN" b="1" dirty="0">
                <a:solidFill>
                  <a:srgbClr val="C00000"/>
                </a:solidFill>
              </a:rPr>
              <a:t>DRAM</a:t>
            </a:r>
            <a:r>
              <a:rPr lang="zh-CN" altLang="en-US" b="1" dirty="0">
                <a:solidFill>
                  <a:srgbClr val="C00000"/>
                </a:solidFill>
              </a:rPr>
              <a:t>内部</a:t>
            </a:r>
            <a:r>
              <a:rPr lang="en-US" altLang="zh-CN" b="1" dirty="0">
                <a:solidFill>
                  <a:srgbClr val="C00000"/>
                </a:solidFill>
              </a:rPr>
              <a:t>BUS</a:t>
            </a:r>
            <a:r>
              <a:rPr lang="zh-CN" altLang="en-US" b="1" dirty="0">
                <a:solidFill>
                  <a:srgbClr val="C00000"/>
                </a:solidFill>
              </a:rPr>
              <a:t>宽度</a:t>
            </a:r>
          </a:p>
          <a:p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B3F5B143-8A91-4A12-9131-0404066B7A5B}"/>
              </a:ext>
            </a:extLst>
          </p:cNvPr>
          <p:cNvSpPr/>
          <p:nvPr/>
        </p:nvSpPr>
        <p:spPr>
          <a:xfrm>
            <a:off x="2555776" y="2859247"/>
            <a:ext cx="1368152" cy="612068"/>
          </a:xfrm>
          <a:prstGeom prst="wedgeRoundRectCallout">
            <a:avLst>
              <a:gd name="adj1" fmla="val 72331"/>
              <a:gd name="adj2" fmla="val -123867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二路预取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F586AE57-553E-4F72-AA44-B16E0A3D69C6}"/>
              </a:ext>
            </a:extLst>
          </p:cNvPr>
          <p:cNvSpPr/>
          <p:nvPr/>
        </p:nvSpPr>
        <p:spPr>
          <a:xfrm>
            <a:off x="2555776" y="3828199"/>
            <a:ext cx="1368152" cy="612068"/>
          </a:xfrm>
          <a:prstGeom prst="wedgeRoundRectCallout">
            <a:avLst>
              <a:gd name="adj1" fmla="val 79082"/>
              <a:gd name="adj2" fmla="val -28797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四路预取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285FE43E-8A8B-482F-8D72-DCE574583CD7}"/>
              </a:ext>
            </a:extLst>
          </p:cNvPr>
          <p:cNvSpPr/>
          <p:nvPr/>
        </p:nvSpPr>
        <p:spPr>
          <a:xfrm>
            <a:off x="3347864" y="5687968"/>
            <a:ext cx="864096" cy="612068"/>
          </a:xfrm>
          <a:prstGeom prst="wedgeRoundRectCallout">
            <a:avLst>
              <a:gd name="adj1" fmla="val 58694"/>
              <a:gd name="adj2" fmla="val -102740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八路</a:t>
            </a:r>
            <a:endParaRPr lang="en-US" altLang="zh-CN" b="1" dirty="0"/>
          </a:p>
          <a:p>
            <a:pPr algn="ctr"/>
            <a:r>
              <a:rPr lang="zh-CN" altLang="en-US" b="1" dirty="0"/>
              <a:t>预取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B5CDEC-FEA5-4327-8F1D-AE03EF4A7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55" y="4942637"/>
            <a:ext cx="2808312" cy="17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2286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BF4926-A123-4C1B-B473-7000A965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75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DRAM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的发展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C3E274-C525-4420-90B3-1BA36C760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453" y="1063597"/>
            <a:ext cx="8424936" cy="3013429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1600" b="1" dirty="0"/>
              <a:t>DDR2 SDRAM</a:t>
            </a:r>
            <a:r>
              <a:rPr lang="zh-CN" altLang="en-US" sz="1600" b="1" dirty="0"/>
              <a:t>：采用</a:t>
            </a:r>
            <a:r>
              <a:rPr lang="en-US" altLang="zh-CN" sz="1600" b="1" dirty="0"/>
              <a:t>4n</a:t>
            </a:r>
            <a:r>
              <a:rPr lang="zh-CN" altLang="en-US" sz="1600" b="1" dirty="0"/>
              <a:t>预取技术，每个时钟周期可以传输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个数据；</a:t>
            </a:r>
            <a:r>
              <a:rPr lang="en-US" altLang="zh-CN" sz="1600" b="1" dirty="0"/>
              <a:t>DDR2</a:t>
            </a:r>
            <a:r>
              <a:rPr lang="zh-CN" altLang="en-US" sz="1600" b="1" dirty="0"/>
              <a:t>数据总线的频率是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工作频率的</a:t>
            </a:r>
            <a:r>
              <a:rPr lang="en-US" altLang="zh-CN" sz="1600" b="1" dirty="0">
                <a:highlight>
                  <a:srgbClr val="FFFF00"/>
                </a:highlight>
              </a:rPr>
              <a:t>2</a:t>
            </a:r>
            <a:r>
              <a:rPr lang="zh-CN" altLang="en-US" sz="1600" b="1" dirty="0"/>
              <a:t>倍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/>
              <a:t>DDR3 SDRAM</a:t>
            </a:r>
            <a:r>
              <a:rPr lang="zh-CN" altLang="en-US" sz="1600" b="1" dirty="0"/>
              <a:t>：采用</a:t>
            </a:r>
            <a:r>
              <a:rPr lang="en-US" altLang="zh-CN" sz="1600" b="1" dirty="0"/>
              <a:t>8n</a:t>
            </a:r>
            <a:r>
              <a:rPr lang="zh-CN" altLang="en-US" sz="1600" b="1" dirty="0"/>
              <a:t>预取技术，每个时钟周期可以传输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个数据；</a:t>
            </a:r>
            <a:r>
              <a:rPr lang="en-US" altLang="zh-CN" sz="1600" b="1" dirty="0"/>
              <a:t> DDR3</a:t>
            </a:r>
            <a:r>
              <a:rPr lang="zh-CN" altLang="en-US" sz="1600" b="1" dirty="0"/>
              <a:t>数据总线的频率是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工作频率的</a:t>
            </a:r>
            <a:r>
              <a:rPr lang="en-US" altLang="zh-CN" sz="1600" b="1" dirty="0">
                <a:highlight>
                  <a:srgbClr val="FFFF00"/>
                </a:highlight>
              </a:rPr>
              <a:t>4</a:t>
            </a:r>
            <a:r>
              <a:rPr lang="zh-CN" altLang="en-US" sz="1600" b="1" dirty="0"/>
              <a:t>倍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/>
              <a:t>DDR4 SDRAM</a:t>
            </a:r>
            <a:r>
              <a:rPr lang="zh-CN" altLang="en-US" sz="1600" b="1" dirty="0"/>
              <a:t>：</a:t>
            </a:r>
            <a:r>
              <a:rPr lang="zh-CN" altLang="en-US" sz="1600" b="1" dirty="0">
                <a:highlight>
                  <a:srgbClr val="FFFF00"/>
                </a:highlight>
              </a:rPr>
              <a:t>采用</a:t>
            </a:r>
            <a:r>
              <a:rPr lang="en-US" altLang="zh-CN" sz="1600" b="1" dirty="0">
                <a:highlight>
                  <a:srgbClr val="FFFF00"/>
                </a:highlight>
              </a:rPr>
              <a:t>8n</a:t>
            </a:r>
            <a:r>
              <a:rPr lang="zh-CN" altLang="en-US" sz="1600" b="1" dirty="0">
                <a:highlight>
                  <a:srgbClr val="FFFF00"/>
                </a:highlight>
              </a:rPr>
              <a:t>预取技术</a:t>
            </a:r>
            <a:r>
              <a:rPr lang="zh-CN" altLang="en-US" sz="1600" b="1" dirty="0"/>
              <a:t>，每个时钟周期可以传输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个数据；</a:t>
            </a:r>
            <a:r>
              <a:rPr lang="en-US" altLang="zh-CN" sz="1600" b="1" dirty="0"/>
              <a:t> DDR4</a:t>
            </a:r>
            <a:r>
              <a:rPr lang="zh-CN" altLang="en-US" sz="1600" b="1" dirty="0"/>
              <a:t>数据总线的频率是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工作频率的</a:t>
            </a:r>
            <a:r>
              <a:rPr lang="en-US" altLang="zh-CN" sz="1600" b="1" dirty="0">
                <a:highlight>
                  <a:srgbClr val="FFFF00"/>
                </a:highlight>
              </a:rPr>
              <a:t>8</a:t>
            </a:r>
            <a:r>
              <a:rPr lang="zh-CN" altLang="en-US" sz="1600" b="1" dirty="0"/>
              <a:t>倍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600" b="1" dirty="0"/>
              <a:t>DDR5 SDRAM</a:t>
            </a:r>
            <a:r>
              <a:rPr lang="zh-CN" altLang="en-US" sz="1600" b="1" dirty="0"/>
              <a:t>：采用</a:t>
            </a:r>
            <a:r>
              <a:rPr lang="en-US" altLang="zh-CN" sz="1600" b="1" dirty="0">
                <a:solidFill>
                  <a:srgbClr val="C00000"/>
                </a:solidFill>
              </a:rPr>
              <a:t>16n</a:t>
            </a:r>
            <a:r>
              <a:rPr lang="zh-CN" altLang="en-US" sz="1600" b="1" dirty="0"/>
              <a:t>预取技术，每个时钟周期可以传输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个数据；</a:t>
            </a:r>
            <a:r>
              <a:rPr lang="en-US" altLang="zh-CN" sz="1600" b="1" dirty="0"/>
              <a:t>DDR5</a:t>
            </a:r>
            <a:r>
              <a:rPr lang="zh-CN" altLang="en-US" sz="1600" b="1" dirty="0"/>
              <a:t>数据总线的频率是</a:t>
            </a:r>
            <a:r>
              <a:rPr lang="en-US" altLang="zh-CN" sz="1600" b="1" dirty="0"/>
              <a:t>DRAM</a:t>
            </a:r>
            <a:r>
              <a:rPr lang="zh-CN" altLang="en-US" sz="1600" b="1" dirty="0"/>
              <a:t>工作频率的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倍</a:t>
            </a:r>
            <a:endParaRPr lang="en-US" altLang="zh-CN" sz="1600" b="1" dirty="0"/>
          </a:p>
          <a:p>
            <a:endParaRPr lang="zh-CN" altLang="en-US" sz="2000" dirty="0"/>
          </a:p>
        </p:txBody>
      </p:sp>
      <p:graphicFrame>
        <p:nvGraphicFramePr>
          <p:cNvPr id="4" name="表格 2">
            <a:extLst>
              <a:ext uri="{FF2B5EF4-FFF2-40B4-BE49-F238E27FC236}">
                <a16:creationId xmlns:a16="http://schemas.microsoft.com/office/drawing/2014/main" id="{2F177DD6-83BF-44DD-87F9-97B14A7EB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214681"/>
              </p:ext>
            </p:extLst>
          </p:nvPr>
        </p:nvGraphicFramePr>
        <p:xfrm>
          <a:off x="1433700" y="4689787"/>
          <a:ext cx="4536504" cy="19025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126">
                  <a:extLst>
                    <a:ext uri="{9D8B030D-6E8A-4147-A177-3AD203B41FA5}">
                      <a16:colId xmlns:a16="http://schemas.microsoft.com/office/drawing/2014/main" val="2208430758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val="2305108409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val="2804293542"/>
                    </a:ext>
                  </a:extLst>
                </a:gridCol>
                <a:gridCol w="1134126">
                  <a:extLst>
                    <a:ext uri="{9D8B030D-6E8A-4147-A177-3AD203B41FA5}">
                      <a16:colId xmlns:a16="http://schemas.microsoft.com/office/drawing/2014/main" val="1387105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内存规格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传输率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/>
                        <a:t>总线频率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DRAM</a:t>
                      </a:r>
                      <a:r>
                        <a:rPr lang="zh-CN" altLang="en-US" sz="1100" b="1" dirty="0"/>
                        <a:t>工作频率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556466"/>
                  </a:ext>
                </a:extLst>
              </a:tr>
              <a:tr h="35338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DDR2-800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6400MB/s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400MHz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200MHz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696109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DDR3-800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6400MB/s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400MHz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233707"/>
                  </a:ext>
                </a:extLst>
              </a:tr>
              <a:tr h="3575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DDR3-1600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12.8GB/s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800MHz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200MHz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6391077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bg1"/>
                          </a:solidFill>
                        </a:rPr>
                        <a:t>DDR4-2400</a:t>
                      </a:r>
                      <a:endParaRPr lang="zh-CN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bg1"/>
                          </a:solidFill>
                        </a:rPr>
                        <a:t>19.2GB/s</a:t>
                      </a:r>
                      <a:endParaRPr lang="zh-CN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chemeClr val="bg1"/>
                          </a:solidFill>
                        </a:rPr>
                        <a:t>1200MHz</a:t>
                      </a:r>
                      <a:endParaRPr lang="zh-CN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150MHz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4983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DDR4-3200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25.6GB/s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/>
                        <a:t>1600MHz</a:t>
                      </a:r>
                      <a:endParaRPr lang="zh-CN" alt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 dirty="0">
                          <a:solidFill>
                            <a:srgbClr val="C00000"/>
                          </a:solidFill>
                          <a:highlight>
                            <a:srgbClr val="FFFF00"/>
                          </a:highlight>
                        </a:rPr>
                        <a:t>200MHz</a:t>
                      </a:r>
                      <a:endParaRPr lang="zh-CN" altLang="en-US" sz="1100" b="1" dirty="0">
                        <a:solidFill>
                          <a:srgbClr val="C00000"/>
                        </a:solidFill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595725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E7E1C9C-E923-4F17-B57C-6EB784444200}"/>
              </a:ext>
            </a:extLst>
          </p:cNvPr>
          <p:cNvSpPr txBox="1"/>
          <p:nvPr/>
        </p:nvSpPr>
        <p:spPr>
          <a:xfrm>
            <a:off x="225133" y="6159822"/>
            <a:ext cx="1261884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书上这里有误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DC5622C3-207D-4CC5-96E2-271896010D99}"/>
              </a:ext>
            </a:extLst>
          </p:cNvPr>
          <p:cNvCxnSpPr>
            <a:cxnSpLocks/>
          </p:cNvCxnSpPr>
          <p:nvPr/>
        </p:nvCxnSpPr>
        <p:spPr>
          <a:xfrm flipH="1">
            <a:off x="1403648" y="6093296"/>
            <a:ext cx="1368152" cy="2204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55BDCD0-240A-4FA7-BC70-B1C2E43A4072}"/>
              </a:ext>
            </a:extLst>
          </p:cNvPr>
          <p:cNvSpPr txBox="1"/>
          <p:nvPr/>
        </p:nvSpPr>
        <p:spPr>
          <a:xfrm>
            <a:off x="2267744" y="4239791"/>
            <a:ext cx="2983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/>
              <a:t>表</a:t>
            </a:r>
            <a:r>
              <a:rPr lang="en-US" altLang="zh-CN" sz="1600" b="1" dirty="0"/>
              <a:t>4.2  </a:t>
            </a:r>
            <a:r>
              <a:rPr lang="zh-CN" altLang="en-US" sz="1600" b="1" dirty="0"/>
              <a:t>不同</a:t>
            </a:r>
            <a:r>
              <a:rPr lang="en-US" altLang="zh-CN" sz="1600" b="1" dirty="0"/>
              <a:t>DDR</a:t>
            </a:r>
            <a:r>
              <a:rPr lang="zh-CN" altLang="en-US" sz="1600" b="1" dirty="0"/>
              <a:t>内存的常见参数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C02FE1-B99C-4E51-8B67-E3170C313EC3}"/>
              </a:ext>
            </a:extLst>
          </p:cNvPr>
          <p:cNvSpPr txBox="1"/>
          <p:nvPr/>
        </p:nvSpPr>
        <p:spPr>
          <a:xfrm>
            <a:off x="5970204" y="4475420"/>
            <a:ext cx="2919703" cy="21236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100" b="1" dirty="0">
                <a:solidFill>
                  <a:srgbClr val="C00000"/>
                </a:solidFill>
              </a:rPr>
              <a:t>DDR4-2400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其等效数据传输频率</a:t>
            </a:r>
            <a:r>
              <a:rPr lang="en-US" altLang="zh-CN" sz="1100" b="1" dirty="0"/>
              <a:t>=2400MHz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数据位宽</a:t>
            </a:r>
            <a:r>
              <a:rPr lang="en-US" altLang="zh-CN" sz="1100" b="1" dirty="0"/>
              <a:t>=8</a:t>
            </a:r>
            <a:r>
              <a:rPr lang="zh-CN" altLang="en-US" sz="1100" b="1" dirty="0"/>
              <a:t>字节</a:t>
            </a:r>
            <a:r>
              <a:rPr lang="en-US" altLang="zh-CN" sz="1100" b="1" dirty="0"/>
              <a:t>=8B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传输率（内存带宽）</a:t>
            </a:r>
            <a:r>
              <a:rPr lang="en-US" altLang="zh-CN" sz="1100" b="1" dirty="0"/>
              <a:t>=2400MHzx8B=</a:t>
            </a:r>
            <a:r>
              <a:rPr lang="en-US" altLang="zh-CN" sz="1100" b="1" dirty="0">
                <a:solidFill>
                  <a:srgbClr val="C00000"/>
                </a:solidFill>
              </a:rPr>
              <a:t>19.2GB/s</a:t>
            </a:r>
          </a:p>
          <a:p>
            <a:endParaRPr lang="en-US" altLang="zh-CN" sz="1100" b="1" dirty="0"/>
          </a:p>
          <a:p>
            <a:r>
              <a:rPr lang="zh-CN" altLang="en-US" sz="1100" b="1" dirty="0"/>
              <a:t>总线频率</a:t>
            </a:r>
            <a:r>
              <a:rPr lang="en-US" altLang="zh-CN" sz="1100" b="1" dirty="0"/>
              <a:t>=</a:t>
            </a:r>
            <a:r>
              <a:rPr lang="zh-CN" altLang="en-US" sz="1100" b="1" dirty="0"/>
              <a:t>等效传输频率</a:t>
            </a:r>
            <a:r>
              <a:rPr lang="en-US" altLang="zh-CN" sz="1100" b="1" dirty="0"/>
              <a:t>/2=1200MHz</a:t>
            </a:r>
          </a:p>
          <a:p>
            <a:endParaRPr lang="en-US" altLang="zh-CN" sz="1100" b="1" dirty="0"/>
          </a:p>
          <a:p>
            <a:r>
              <a:rPr lang="en-US" altLang="zh-CN" sz="1100" b="1" dirty="0"/>
              <a:t>DDR4</a:t>
            </a:r>
            <a:r>
              <a:rPr lang="zh-CN" altLang="en-US" sz="1100" b="1" dirty="0"/>
              <a:t>总线频率是</a:t>
            </a:r>
            <a:r>
              <a:rPr lang="en-US" altLang="zh-CN" sz="1100" b="1" dirty="0"/>
              <a:t>DRAM</a:t>
            </a:r>
            <a:r>
              <a:rPr lang="zh-CN" altLang="en-US" sz="1100" b="1" dirty="0"/>
              <a:t>工作频率的</a:t>
            </a:r>
            <a:r>
              <a:rPr lang="en-US" altLang="zh-CN" sz="1100" b="1" dirty="0"/>
              <a:t>8</a:t>
            </a:r>
            <a:r>
              <a:rPr lang="zh-CN" altLang="en-US" sz="1100" b="1" dirty="0"/>
              <a:t>倍，</a:t>
            </a:r>
            <a:endParaRPr lang="en-US" altLang="zh-CN" sz="1100" b="1" dirty="0"/>
          </a:p>
          <a:p>
            <a:r>
              <a:rPr lang="zh-CN" altLang="en-US" sz="1100" b="1" dirty="0">
                <a:highlight>
                  <a:srgbClr val="FFFF00"/>
                </a:highlight>
              </a:rPr>
              <a:t>故：</a:t>
            </a:r>
            <a:r>
              <a:rPr lang="en-US" altLang="zh-CN" sz="1100" b="1" dirty="0">
                <a:highlight>
                  <a:srgbClr val="FFFF00"/>
                </a:highlight>
              </a:rPr>
              <a:t>DRAM</a:t>
            </a:r>
            <a:r>
              <a:rPr lang="zh-CN" altLang="en-US" sz="1100" b="1" dirty="0">
                <a:highlight>
                  <a:srgbClr val="FFFF00"/>
                </a:highlight>
              </a:rPr>
              <a:t>工作频率</a:t>
            </a:r>
            <a:r>
              <a:rPr lang="en-US" altLang="zh-CN" sz="1100" b="1" dirty="0">
                <a:highlight>
                  <a:srgbClr val="FFFF00"/>
                </a:highlight>
              </a:rPr>
              <a:t>=1200MHz/8=150MHz</a:t>
            </a:r>
          </a:p>
        </p:txBody>
      </p:sp>
    </p:spTree>
    <p:extLst>
      <p:ext uri="{BB962C8B-B14F-4D97-AF65-F5344CB8AC3E}">
        <p14:creationId xmlns:p14="http://schemas.microsoft.com/office/powerpoint/2010/main" val="3381904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03CBCE4-3143-4723-AE3C-C8B68958D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894" y="1412776"/>
            <a:ext cx="3322608" cy="323878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A06F8E8-062A-4851-BC43-20C334024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852" y="1363801"/>
            <a:ext cx="3261643" cy="2065199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6B7795F-4D4B-48B9-AC0D-F90B654F8E49}"/>
              </a:ext>
            </a:extLst>
          </p:cNvPr>
          <p:cNvSpPr txBox="1"/>
          <p:nvPr/>
        </p:nvSpPr>
        <p:spPr>
          <a:xfrm>
            <a:off x="7380312" y="1772816"/>
            <a:ext cx="5501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6400</a:t>
            </a:r>
            <a:endParaRPr lang="zh-CN" altLang="en-US" sz="1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2EDA784-3918-418D-9DE1-430DBEB84D75}"/>
              </a:ext>
            </a:extLst>
          </p:cNvPr>
          <p:cNvSpPr txBox="1"/>
          <p:nvPr/>
        </p:nvSpPr>
        <p:spPr>
          <a:xfrm>
            <a:off x="7380312" y="2080593"/>
            <a:ext cx="399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T/s</a:t>
            </a:r>
            <a:endParaRPr lang="zh-CN" altLang="en-US" sz="14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55E9F34-288C-478D-B04E-61487A51C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533" y="3678054"/>
            <a:ext cx="3208298" cy="122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0639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F0C95C8-F82D-4BB1-9547-AB1C85C65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0"/>
            <a:ext cx="8229600" cy="1143000"/>
          </a:xfrm>
        </p:spPr>
        <p:txBody>
          <a:bodyPr/>
          <a:lstStyle/>
          <a:p>
            <a:r>
              <a:rPr lang="zh-CN" altLang="en-US" b="1" dirty="0"/>
              <a:t>参考资料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6C7569F-E6FA-43FB-888E-251FEAD0F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836712"/>
            <a:ext cx="8229600" cy="576064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相变存储器 - 知乎</a:t>
            </a:r>
            <a:r>
              <a:rPr lang="zh-CN" altLang="en-US" sz="2000" b="1" dirty="0">
                <a:hlinkClick r:id="rId2"/>
              </a:rPr>
              <a:t>https://zhuanlan.zhihu.com/p/631577556</a:t>
            </a:r>
            <a:endParaRPr lang="en-US" altLang="zh-CN" sz="2000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1600" b="1" dirty="0"/>
              <a:t>PCM</a:t>
            </a:r>
            <a:r>
              <a:rPr lang="zh-CN" altLang="en-US" sz="1600" b="1" dirty="0"/>
              <a:t>技术优势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1. </a:t>
            </a:r>
            <a:r>
              <a:rPr lang="zh-CN" altLang="en-US" sz="1600" b="1" dirty="0">
                <a:highlight>
                  <a:srgbClr val="FFFF00"/>
                </a:highlight>
              </a:rPr>
              <a:t>快速读写</a:t>
            </a:r>
            <a:r>
              <a:rPr lang="zh-CN" altLang="en-US" sz="1600" b="1" dirty="0"/>
              <a:t>：相比传统的硬盘和闪存等存储器，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具有远高于闪存的读写速度，这对于那些需要大量数据的任务来说是非常必要的。闪存的写入速度受限于电荷移动速度，而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通过相变物质的固态、液态转变来保存数据，并且能够实时切换状态。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2. </a:t>
            </a:r>
            <a:r>
              <a:rPr lang="zh-CN" altLang="en-US" sz="1600" b="1" dirty="0">
                <a:highlight>
                  <a:srgbClr val="FFFF00"/>
                </a:highlight>
              </a:rPr>
              <a:t>非易失性</a:t>
            </a:r>
            <a:r>
              <a:rPr lang="zh-CN" altLang="en-US" sz="1600" b="1" dirty="0"/>
              <a:t>：相变材料由于非易失性，即使忘掉存储器是非常常见的，相变储存器仍然会保留信息而不会遗失。这种特性使得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非常适合一些任务，比如需要存储一些重要的数据备份。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3. </a:t>
            </a:r>
            <a:r>
              <a:rPr lang="zh-CN" altLang="en-US" sz="1600" b="1" dirty="0">
                <a:highlight>
                  <a:srgbClr val="FFFF00"/>
                </a:highlight>
              </a:rPr>
              <a:t>高密度存储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可以在更小的空间内保存相对更大的数据，并且其芯片大小比闪存芯片更小，自然降低了制造成本，从而为更大数据容量做出了贡献。</a:t>
            </a:r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4. </a:t>
            </a:r>
            <a:r>
              <a:rPr lang="zh-CN" altLang="en-US" sz="1600" b="1" dirty="0">
                <a:highlight>
                  <a:srgbClr val="FFFF00"/>
                </a:highlight>
              </a:rPr>
              <a:t>低功耗</a:t>
            </a:r>
            <a:r>
              <a:rPr lang="zh-CN" altLang="en-US" sz="1600" b="1" dirty="0"/>
              <a:t>：当存储器不需要进行读取或写入操作时，会使功率降至最小化。这种省电功能使得</a:t>
            </a:r>
            <a:r>
              <a:rPr lang="en-US" altLang="zh-CN" sz="1600" b="1" dirty="0"/>
              <a:t>PCM</a:t>
            </a:r>
            <a:r>
              <a:rPr lang="zh-CN" altLang="en-US" sz="1600" b="1" dirty="0"/>
              <a:t>能够在电池供电的设备上表现得更加优异。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破解内存墙，除了“存算一体”还需要什么？ </a:t>
            </a:r>
            <a:r>
              <a:rPr lang="en-US" altLang="zh-CN" sz="2000" b="1" dirty="0"/>
              <a:t>- </a:t>
            </a:r>
            <a:r>
              <a:rPr lang="zh-CN" altLang="en-US" sz="2000" b="1" dirty="0"/>
              <a:t>知乎</a:t>
            </a:r>
          </a:p>
          <a:p>
            <a:pPr lvl="1">
              <a:lnSpc>
                <a:spcPct val="150000"/>
              </a:lnSpc>
            </a:pPr>
            <a:endParaRPr lang="zh-CN" altLang="en-US" sz="1200" b="1" dirty="0"/>
          </a:p>
          <a:p>
            <a:pPr>
              <a:lnSpc>
                <a:spcPct val="150000"/>
              </a:lnSpc>
            </a:pP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7265984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EAB2E-93AE-4CE9-B4B6-D14E34D3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264"/>
            <a:ext cx="8229600" cy="1143000"/>
          </a:xfrm>
        </p:spPr>
        <p:txBody>
          <a:bodyPr/>
          <a:lstStyle/>
          <a:p>
            <a:r>
              <a:rPr lang="zh-CN" altLang="en-US" dirty="0"/>
              <a:t>内存最新技术发展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64FB21-74CB-4A2A-A5A4-433830EAD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13448"/>
            <a:ext cx="3801652" cy="46311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CA7504-4FD5-46A7-8053-478ABF609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185" y="1149594"/>
            <a:ext cx="3703641" cy="40618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A34413C-0694-4DDF-9663-4C50130D9A03}"/>
              </a:ext>
            </a:extLst>
          </p:cNvPr>
          <p:cNvSpPr txBox="1"/>
          <p:nvPr/>
        </p:nvSpPr>
        <p:spPr>
          <a:xfrm>
            <a:off x="4860032" y="5721588"/>
            <a:ext cx="39706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</a:rPr>
              <a:t>LPDDR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low power double data rate </a:t>
            </a:r>
            <a:r>
              <a:rPr lang="zh-CN" altLang="en-US" sz="1400" b="1" dirty="0"/>
              <a:t>低功耗双倍数据率</a:t>
            </a:r>
            <a:endParaRPr lang="en-US" altLang="zh-CN" sz="1400" b="1" dirty="0"/>
          </a:p>
          <a:p>
            <a:r>
              <a:rPr lang="zh-CN" altLang="en-US" sz="1400" b="1" dirty="0"/>
              <a:t>主要针对移动设备和轻薄型电子产品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43CB1A-6C4F-4294-BFDC-3AE1BAFC1459}"/>
              </a:ext>
            </a:extLst>
          </p:cNvPr>
          <p:cNvSpPr txBox="1"/>
          <p:nvPr/>
        </p:nvSpPr>
        <p:spPr>
          <a:xfrm>
            <a:off x="760382" y="5744551"/>
            <a:ext cx="39706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</a:rPr>
              <a:t>HBM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high bandwidth memory </a:t>
            </a:r>
            <a:r>
              <a:rPr lang="zh-CN" altLang="en-US" sz="1400" b="1" dirty="0"/>
              <a:t>高带宽内存，专为高性能计算设计的</a:t>
            </a:r>
            <a:r>
              <a:rPr lang="en-US" altLang="zh-CN" sz="1400" b="1" dirty="0"/>
              <a:t>3D</a:t>
            </a:r>
            <a:r>
              <a:rPr lang="zh-CN" altLang="en-US" sz="1400" b="1" dirty="0"/>
              <a:t>堆叠高端内存</a:t>
            </a:r>
            <a:endParaRPr lang="en-US" altLang="zh-CN" sz="1400" b="1" dirty="0"/>
          </a:p>
          <a:p>
            <a:r>
              <a:rPr lang="zh-CN" altLang="en-US" sz="1400" b="1" dirty="0"/>
              <a:t>目前</a:t>
            </a:r>
            <a:r>
              <a:rPr lang="en-US" altLang="zh-CN" sz="1400" b="1" dirty="0"/>
              <a:t>AI</a:t>
            </a:r>
            <a:r>
              <a:rPr lang="zh-CN" altLang="en-US" sz="1400" b="1" dirty="0"/>
              <a:t>训练卡的标配</a:t>
            </a:r>
          </a:p>
        </p:txBody>
      </p:sp>
    </p:spTree>
    <p:extLst>
      <p:ext uri="{BB962C8B-B14F-4D97-AF65-F5344CB8AC3E}">
        <p14:creationId xmlns:p14="http://schemas.microsoft.com/office/powerpoint/2010/main" val="34920157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8BEB1C-F4EA-480C-B223-96FB8BC83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51274"/>
            <a:ext cx="8229600" cy="1143000"/>
          </a:xfrm>
        </p:spPr>
        <p:txBody>
          <a:bodyPr/>
          <a:lstStyle/>
          <a:p>
            <a:r>
              <a:rPr lang="zh-CN" altLang="en-US" dirty="0"/>
              <a:t>内存最新技术发展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600969A-11F7-4721-8BAF-EC47F5E8B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3925" y="1453079"/>
            <a:ext cx="3818075" cy="4525963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F406930-8AED-4DCD-B0FD-43DAE318C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1340768"/>
            <a:ext cx="3650296" cy="370364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5B643D5-6DDD-4AF7-976E-E838211F1774}"/>
              </a:ext>
            </a:extLst>
          </p:cNvPr>
          <p:cNvSpPr txBox="1"/>
          <p:nvPr/>
        </p:nvSpPr>
        <p:spPr>
          <a:xfrm>
            <a:off x="4847039" y="5286544"/>
            <a:ext cx="38180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00000"/>
                </a:solidFill>
              </a:rPr>
              <a:t>GDDR</a:t>
            </a:r>
            <a:r>
              <a:rPr lang="zh-CN" altLang="en-US" sz="1400" b="1" dirty="0"/>
              <a:t>：图形双倍数据率（</a:t>
            </a:r>
            <a:r>
              <a:rPr lang="en-US" altLang="zh-CN" sz="1400" b="1" dirty="0"/>
              <a:t>Graphics double data rate</a:t>
            </a:r>
            <a:r>
              <a:rPr lang="zh-CN" altLang="en-US" sz="1400" b="1" dirty="0"/>
              <a:t>）专门为显卡</a:t>
            </a:r>
            <a:r>
              <a:rPr lang="en-US" altLang="zh-CN" sz="1400" b="1" dirty="0"/>
              <a:t>GPU</a:t>
            </a:r>
            <a:r>
              <a:rPr lang="zh-CN" altLang="en-US" sz="1400" b="1" dirty="0"/>
              <a:t>设计的显存。追求高位宽，支持高分辨率纹理渲染。</a:t>
            </a: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C00000"/>
                </a:solidFill>
              </a:rPr>
              <a:t>DDR</a:t>
            </a:r>
            <a:r>
              <a:rPr lang="zh-CN" altLang="en-US" sz="1400" b="1" dirty="0"/>
              <a:t>：注重低延迟和低功耗，更侧重快速响应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的指令。</a:t>
            </a:r>
          </a:p>
        </p:txBody>
      </p:sp>
    </p:spTree>
    <p:extLst>
      <p:ext uri="{BB962C8B-B14F-4D97-AF65-F5344CB8AC3E}">
        <p14:creationId xmlns:p14="http://schemas.microsoft.com/office/powerpoint/2010/main" val="287169682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0701D-02E7-4290-947A-25307F4FE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dirty="0"/>
              <a:t>内存最新技术发展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3943EA6-8590-42CF-B210-90254742FF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1640" y="1556792"/>
            <a:ext cx="3642676" cy="3856054"/>
          </a:xfrm>
        </p:spPr>
      </p:pic>
    </p:spTree>
    <p:extLst>
      <p:ext uri="{BB962C8B-B14F-4D97-AF65-F5344CB8AC3E}">
        <p14:creationId xmlns:p14="http://schemas.microsoft.com/office/powerpoint/2010/main" val="43529725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003232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4.3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主存的组织及与</a:t>
            </a: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CPU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的连接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5ECE849-5C6C-444F-A089-EFCD00B881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6409"/>
            <a:ext cx="8229600" cy="5166953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存储器与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CPU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的连接</a:t>
            </a:r>
            <a:endParaRPr lang="en-US" altLang="zh-CN" b="1" dirty="0">
              <a:solidFill>
                <a:srgbClr val="002060"/>
              </a:solidFill>
              <a:ea typeface="黑体" pitchFamily="49" charset="-122"/>
              <a:cs typeface="+mj-cs"/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800" b="1" dirty="0"/>
              <a:t>单片存储芯片的容量有限，通常需要将多片存储芯片按照一定的方式组织起来，并与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连接，从而获得一个大容量的存储器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存储芯片与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的地址线、数据线及控制线连接时需要注意的问题：</a:t>
            </a: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连接的地址线的数量与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</a:t>
            </a:r>
            <a:r>
              <a:rPr lang="zh-CN" altLang="en-US" sz="1600" b="1" dirty="0">
                <a:solidFill>
                  <a:srgbClr val="C00000"/>
                </a:solidFill>
              </a:rPr>
              <a:t>主存容量</a:t>
            </a:r>
            <a:r>
              <a:rPr lang="zh-CN" altLang="en-US" sz="1600" b="1" dirty="0"/>
              <a:t>有关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600" b="1" dirty="0"/>
              <a:t>连接的数据线的数量与</a:t>
            </a:r>
            <a:r>
              <a:rPr lang="zh-CN" altLang="en-US" sz="1600" b="1" dirty="0">
                <a:solidFill>
                  <a:srgbClr val="C00000"/>
                </a:solidFill>
              </a:rPr>
              <a:t>计算机的字长</a:t>
            </a:r>
            <a:r>
              <a:rPr lang="zh-CN" altLang="en-US" sz="1600" b="1" dirty="0"/>
              <a:t>有关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600" b="1" dirty="0"/>
              <a:t>SRAM</a:t>
            </a:r>
            <a:r>
              <a:rPr lang="zh-CN" altLang="en-US" sz="1600" b="1" dirty="0"/>
              <a:t>芯片的控制线包括片选信号（</a:t>
            </a:r>
            <a:r>
              <a:rPr lang="en-US" altLang="zh-CN" sz="1600" b="1" dirty="0"/>
              <a:t>/CS</a:t>
            </a:r>
            <a:r>
              <a:rPr lang="zh-CN" altLang="en-US" sz="1600" b="1" dirty="0"/>
              <a:t>）和读写控制线（</a:t>
            </a:r>
            <a:r>
              <a:rPr lang="en-US" altLang="zh-CN" sz="1600" b="1" dirty="0"/>
              <a:t>/WE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600" b="1" dirty="0"/>
              <a:t>ROM</a:t>
            </a:r>
            <a:r>
              <a:rPr lang="zh-CN" altLang="en-US" sz="1600" b="1" dirty="0"/>
              <a:t>芯片的控制线只有片选信号（</a:t>
            </a:r>
            <a:r>
              <a:rPr lang="en-US" altLang="zh-CN" sz="1600" b="1" dirty="0"/>
              <a:t>/CS</a:t>
            </a:r>
            <a:r>
              <a:rPr lang="zh-CN" altLang="en-US" sz="1600" b="1" dirty="0"/>
              <a:t>），没有读写控制线（</a:t>
            </a:r>
            <a:r>
              <a:rPr lang="en-US" altLang="zh-CN" sz="1600" b="1" dirty="0"/>
              <a:t>/WE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en-US" altLang="zh-CN" sz="1600" b="1" dirty="0"/>
              <a:t>DRAM</a:t>
            </a:r>
            <a:r>
              <a:rPr lang="zh-CN" altLang="en-US" sz="1600" b="1" dirty="0"/>
              <a:t>芯片没有片选信号（</a:t>
            </a:r>
            <a:r>
              <a:rPr lang="en-US" altLang="zh-CN" sz="1600" b="1" dirty="0"/>
              <a:t>/CS</a:t>
            </a:r>
            <a:r>
              <a:rPr lang="zh-CN" altLang="en-US" sz="1600" b="1" dirty="0"/>
              <a:t>），进行容量扩展时，可以利用</a:t>
            </a:r>
            <a:r>
              <a:rPr lang="en-US" altLang="zh-CN" sz="1600" b="1" dirty="0"/>
              <a:t>/RAS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/CAS</a:t>
            </a:r>
            <a:r>
              <a:rPr lang="zh-CN" altLang="en-US" sz="1600" b="1" dirty="0"/>
              <a:t>信号控制芯片的选择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75178487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4CBF67-C583-4E47-A0DC-2ED62178C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458" y="19427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4458" y="1124744"/>
            <a:ext cx="8229600" cy="3024336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包括位扩展、字扩展、字位同时扩展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800" b="1" dirty="0"/>
              <a:t>1</a:t>
            </a:r>
            <a:r>
              <a:rPr lang="zh-CN" altLang="en-US" sz="1800" b="1" dirty="0"/>
              <a:t>、位扩展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位扩展又称</a:t>
            </a:r>
            <a:r>
              <a:rPr lang="zh-CN" altLang="en-US" sz="1400" b="1" dirty="0">
                <a:solidFill>
                  <a:srgbClr val="C00000"/>
                </a:solidFill>
              </a:rPr>
              <a:t>字长扩展或数据总线扩展</a:t>
            </a:r>
            <a:r>
              <a:rPr lang="zh-CN" altLang="en-US" sz="1400" b="1" dirty="0"/>
              <a:t>；例如，可以利用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256Kx1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256Kx32</a:t>
            </a:r>
            <a:r>
              <a:rPr lang="zh-CN" altLang="en-US" sz="1400" b="1" dirty="0"/>
              <a:t>位的存储器，其与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4.24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地址线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18</a:t>
            </a:r>
            <a:r>
              <a:rPr lang="en-US" altLang="zh-CN" sz="1400" b="1" dirty="0"/>
              <a:t>=256K</a:t>
            </a:r>
            <a:r>
              <a:rPr lang="zh-CN" altLang="en-US" sz="1400" b="1" dirty="0"/>
              <a:t>），同时连接到每个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数据线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根，分别连接到每个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控制线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（相当于</a:t>
            </a:r>
            <a:r>
              <a:rPr lang="en-US" altLang="zh-CN" sz="1400" b="1" dirty="0"/>
              <a:t>/MREQ</a:t>
            </a:r>
            <a:r>
              <a:rPr lang="zh-CN" altLang="en-US" sz="1400" b="1" dirty="0"/>
              <a:t>）连接到每个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端（片选信号）；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（相当于</a:t>
            </a:r>
            <a:r>
              <a:rPr lang="en-US" altLang="zh-CN" sz="1400" b="1" dirty="0"/>
              <a:t>-R/W</a:t>
            </a:r>
            <a:r>
              <a:rPr lang="zh-CN" altLang="en-US" sz="1400" b="1" dirty="0"/>
              <a:t>）连接到每个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端（读写控制信号）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7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BEB24A40-C598-4622-AAD8-4AB8120A8A3E}"/>
              </a:ext>
            </a:extLst>
          </p:cNvPr>
          <p:cNvGrpSpPr/>
          <p:nvPr/>
        </p:nvGrpSpPr>
        <p:grpSpPr>
          <a:xfrm>
            <a:off x="2187680" y="4149080"/>
            <a:ext cx="4768639" cy="2684006"/>
            <a:chOff x="2483768" y="4051845"/>
            <a:chExt cx="4768639" cy="2684006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D9A674D2-92C4-45C7-AD98-FBEB89CEBB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83768" y="4051845"/>
              <a:ext cx="4768639" cy="2545507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1CE297CB-E3D7-46B8-BF23-38DFD5CAE851}"/>
                </a:ext>
              </a:extLst>
            </p:cNvPr>
            <p:cNvSpPr txBox="1"/>
            <p:nvPr/>
          </p:nvSpPr>
          <p:spPr>
            <a:xfrm>
              <a:off x="4355976" y="6458852"/>
              <a:ext cx="20162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4.24    </a:t>
              </a:r>
              <a:r>
                <a:rPr lang="zh-CN" altLang="en-US" sz="1200" b="1" dirty="0"/>
                <a:t>存储器的位扩展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8483149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3337E9-B240-48BE-8067-2D71BE54D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019"/>
            <a:ext cx="8229600" cy="255101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、字扩展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字扩展又称</a:t>
            </a:r>
            <a:r>
              <a:rPr lang="zh-CN" altLang="en-US" sz="1400" b="1" dirty="0">
                <a:solidFill>
                  <a:srgbClr val="C00000"/>
                </a:solidFill>
              </a:rPr>
              <a:t>容量扩展或地址总线扩展</a:t>
            </a:r>
            <a:r>
              <a:rPr lang="zh-CN" altLang="en-US" sz="1400" b="1" dirty="0"/>
              <a:t>；例如，可以利用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256Kx8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2Mx8</a:t>
            </a:r>
            <a:r>
              <a:rPr lang="zh-CN" altLang="en-US" sz="1400" b="1" dirty="0"/>
              <a:t>位的存储器，其与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4.25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地址线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21</a:t>
            </a:r>
            <a:r>
              <a:rPr lang="en-US" altLang="zh-CN" sz="1400" b="1" dirty="0"/>
              <a:t>=2M</a:t>
            </a:r>
            <a:r>
              <a:rPr lang="zh-CN" altLang="en-US" sz="1400" b="1" dirty="0"/>
              <a:t>），其高位部分（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）连接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译码器的输入，低位部分（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数据线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根，同时连接到每个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控制线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</a:t>
            </a:r>
            <a:r>
              <a:rPr lang="en-US" altLang="zh-CN" sz="1400" b="1" dirty="0"/>
              <a:t>OE</a:t>
            </a:r>
            <a:r>
              <a:rPr lang="zh-CN" altLang="en-US" sz="1400" b="1" dirty="0"/>
              <a:t>端；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连接到每个存储器芯片的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>
                <a:solidFill>
                  <a:srgbClr val="C00000"/>
                </a:solidFill>
              </a:rPr>
              <a:t>3-8</a:t>
            </a:r>
            <a:r>
              <a:rPr lang="zh-CN" altLang="en-US" sz="1400" b="1" dirty="0">
                <a:solidFill>
                  <a:srgbClr val="C00000"/>
                </a:solidFill>
              </a:rPr>
              <a:t>译码器</a:t>
            </a:r>
            <a:r>
              <a:rPr lang="zh-CN" altLang="en-US" sz="1400" b="1" dirty="0"/>
              <a:t>的输入：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MREQ#</a:t>
            </a:r>
            <a:endParaRPr lang="en-US" altLang="zh-CN" sz="12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译码器的输出：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，分别连接每个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06468E-1B3F-441B-BF84-5DEE40E97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3789040"/>
            <a:ext cx="5265211" cy="287760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173636-A4DA-4E5E-83BA-CF9CDA4B8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485" y="3717032"/>
            <a:ext cx="1588939" cy="231937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4BFA26F-DFE8-4874-82BF-D09695D450EB}"/>
              </a:ext>
            </a:extLst>
          </p:cNvPr>
          <p:cNvSpPr txBox="1"/>
          <p:nvPr/>
        </p:nvSpPr>
        <p:spPr>
          <a:xfrm>
            <a:off x="3388181" y="6436674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4.25    </a:t>
            </a:r>
            <a:r>
              <a:rPr lang="zh-CN" altLang="en-US" sz="1200" b="1" dirty="0"/>
              <a:t>存储器的字扩展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6116392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C2AD36-4FF0-471D-95F3-98903CDC8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835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D809CE-A659-4E23-8EB3-680E9960C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1011685"/>
            <a:ext cx="8229600" cy="3240360"/>
          </a:xfrm>
        </p:spPr>
        <p:txBody>
          <a:bodyPr/>
          <a:lstStyle/>
          <a:p>
            <a:r>
              <a:rPr lang="zh-CN" altLang="en-US" sz="1800" b="1" dirty="0"/>
              <a:t>字扩展时各个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芯片的地址范围：</a:t>
            </a:r>
            <a:endParaRPr lang="en-US" altLang="zh-CN" sz="2000" b="1" dirty="0"/>
          </a:p>
          <a:p>
            <a:pPr lvl="1"/>
            <a:r>
              <a:rPr lang="zh-CN" altLang="en-US" sz="1400" b="1" dirty="0"/>
              <a:t>地址总线</a:t>
            </a:r>
            <a:r>
              <a:rPr lang="en-US" altLang="zh-CN" sz="1400" b="1" dirty="0"/>
              <a:t>=A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根）</a:t>
            </a:r>
            <a:endParaRPr lang="en-US" altLang="zh-CN" sz="1400" b="1" baseline="-25000" dirty="0"/>
          </a:p>
          <a:p>
            <a:pPr lvl="1"/>
            <a:endParaRPr lang="en-US" altLang="zh-CN" sz="1400" b="1" baseline="-25000" dirty="0"/>
          </a:p>
          <a:p>
            <a:pPr lvl="1"/>
            <a:r>
              <a:rPr lang="zh-CN" altLang="en-US" sz="1400" b="1" dirty="0">
                <a:solidFill>
                  <a:srgbClr val="C00000"/>
                </a:solidFill>
              </a:rPr>
              <a:t>地址范围</a:t>
            </a:r>
            <a:r>
              <a:rPr lang="en-US" altLang="zh-CN" sz="1400" b="1" dirty="0"/>
              <a:t>= 0 0000 0000 0000 0000 0000 </a:t>
            </a:r>
            <a:r>
              <a:rPr lang="zh-CN" altLang="en-US" sz="1400" b="1" dirty="0"/>
              <a:t>～</a:t>
            </a:r>
            <a:r>
              <a:rPr lang="en-US" altLang="zh-CN" sz="1400" b="1" dirty="0"/>
              <a:t>1 1111 1111 1111 1111 1111 = 000000H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1FFFFFH</a:t>
            </a:r>
          </a:p>
          <a:p>
            <a:pPr lvl="1"/>
            <a:endParaRPr lang="en-US" altLang="zh-CN" sz="1400" b="1" dirty="0"/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03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=040000H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07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=080000H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0B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=0C0000H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0</a:t>
            </a:r>
            <a:r>
              <a:rPr lang="en-US" altLang="zh-CN" sz="1400" b="1" dirty="0"/>
              <a:t>FFFFFH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13FFFFH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=140000H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17FFFFH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=180000H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1BFFFFH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</a:p>
          <a:p>
            <a:pPr lvl="1"/>
            <a:r>
              <a:rPr lang="zh-CN" altLang="en-US" sz="1400" b="1" dirty="0"/>
              <a:t>第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芯片的地址范围</a:t>
            </a:r>
            <a:r>
              <a:rPr lang="en-US" altLang="zh-CN" sz="1400" b="1" dirty="0"/>
              <a:t>=1C0000H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1FFFFFH</a:t>
            </a:r>
            <a:r>
              <a:rPr lang="zh-CN" altLang="en-US" sz="1400" b="1" dirty="0"/>
              <a:t>；容量为</a:t>
            </a:r>
            <a:r>
              <a:rPr lang="en-US" altLang="zh-CN" sz="1400" b="1" dirty="0"/>
              <a:t>256K</a:t>
            </a:r>
            <a:endParaRPr lang="zh-CN" altLang="en-US" sz="1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AC7B9EC-1853-414B-89B0-35D17965B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4509120"/>
            <a:ext cx="3888432" cy="2125150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4DF716C8-180C-428A-8A96-1B734F4829F0}"/>
              </a:ext>
            </a:extLst>
          </p:cNvPr>
          <p:cNvCxnSpPr>
            <a:cxnSpLocks/>
          </p:cNvCxnSpPr>
          <p:nvPr/>
        </p:nvCxnSpPr>
        <p:spPr>
          <a:xfrm>
            <a:off x="1763688" y="2564904"/>
            <a:ext cx="1872208" cy="2790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53D14EC-87ED-46D1-8B63-82938FDA3BC3}"/>
              </a:ext>
            </a:extLst>
          </p:cNvPr>
          <p:cNvCxnSpPr>
            <a:cxnSpLocks/>
          </p:cNvCxnSpPr>
          <p:nvPr/>
        </p:nvCxnSpPr>
        <p:spPr>
          <a:xfrm>
            <a:off x="5292080" y="4330014"/>
            <a:ext cx="576064" cy="1043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D9E6281-3375-4599-9AF1-9FAE4164EBD5}"/>
              </a:ext>
            </a:extLst>
          </p:cNvPr>
          <p:cNvSpPr txBox="1"/>
          <p:nvPr/>
        </p:nvSpPr>
        <p:spPr>
          <a:xfrm>
            <a:off x="3923928" y="6536377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4.25    </a:t>
            </a:r>
            <a:r>
              <a:rPr lang="zh-CN" altLang="en-US" sz="1200" b="1" dirty="0"/>
              <a:t>存储器的字扩展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46834600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178A5-B061-4852-ABD2-2572F2257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856" y="4884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89035F4-748A-473C-A1E1-8CBD4F3009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035697"/>
            <a:ext cx="8488944" cy="291105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、字位同时扩展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同时进行字扩展和位扩展；例如，可以利用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</a:t>
            </a:r>
            <a:r>
              <a:rPr lang="en-US" altLang="zh-CN" sz="1400" b="1" dirty="0">
                <a:solidFill>
                  <a:srgbClr val="C00000"/>
                </a:solidFill>
              </a:rPr>
              <a:t>256Kx8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芯片，构成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>
                <a:solidFill>
                  <a:srgbClr val="C00000"/>
                </a:solidFill>
              </a:rPr>
              <a:t>2Mx32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的存储器，其与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的连接如图</a:t>
            </a:r>
            <a:r>
              <a:rPr lang="en-US" altLang="zh-CN" sz="1400" b="1" dirty="0"/>
              <a:t>4.26</a:t>
            </a:r>
            <a:r>
              <a:rPr lang="zh-CN" altLang="en-US" sz="1400" b="1" dirty="0"/>
              <a:t>所示（</a:t>
            </a:r>
            <a:r>
              <a:rPr lang="en-US" altLang="zh-CN" sz="1400" b="1" dirty="0"/>
              <a:t>32=(2Mx32)/(256x8)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地址线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21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21</a:t>
            </a:r>
            <a:r>
              <a:rPr lang="en-US" altLang="zh-CN" sz="1400" b="1" dirty="0"/>
              <a:t>=2M</a:t>
            </a:r>
            <a:r>
              <a:rPr lang="zh-CN" altLang="en-US" sz="1400" b="1" dirty="0"/>
              <a:t>），其高位部分（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）连接到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译码器的输入，低位部分（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）同时连接到每个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芯片的地址线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18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数据线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根，分为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组（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31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24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23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8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），分别连接到各个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芯片的数据线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根）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控制线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连接到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</a:t>
            </a:r>
            <a:r>
              <a:rPr lang="en-US" altLang="zh-CN" sz="1400" b="1" dirty="0"/>
              <a:t>OE</a:t>
            </a:r>
            <a:r>
              <a:rPr lang="zh-CN" altLang="en-US" sz="1400" b="1" dirty="0"/>
              <a:t>端；</a:t>
            </a:r>
            <a:r>
              <a:rPr lang="en-US" altLang="zh-CN" sz="1400" b="1" dirty="0"/>
              <a:t>R/W#</a:t>
            </a:r>
            <a:r>
              <a:rPr lang="zh-CN" altLang="en-US" sz="1400" b="1" dirty="0"/>
              <a:t>连接到每个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芯片的</a:t>
            </a:r>
            <a:r>
              <a:rPr lang="en-US" altLang="zh-CN" sz="1400" b="1" dirty="0"/>
              <a:t>WE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译码器的输入：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20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18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MREQ#</a:t>
            </a:r>
            <a:endParaRPr lang="en-US" altLang="zh-CN" sz="1200" b="1" dirty="0"/>
          </a:p>
          <a:p>
            <a:pPr lvl="2" eaLnBrk="1" hangingPunct="1"/>
            <a:r>
              <a:rPr lang="en-US" altLang="zh-CN" sz="1400" b="1" dirty="0"/>
              <a:t>3-8</a:t>
            </a:r>
            <a:r>
              <a:rPr lang="zh-CN" altLang="en-US" sz="1400" b="1" dirty="0"/>
              <a:t>译码器的输出：</a:t>
            </a:r>
            <a:r>
              <a:rPr lang="en-US" altLang="zh-CN" sz="1400" b="1" dirty="0"/>
              <a:t> Y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/>
              <a:t>，分别连接每个</a:t>
            </a:r>
            <a:r>
              <a:rPr lang="en-US" altLang="zh-CN" sz="1400" b="1" dirty="0"/>
              <a:t>SRAM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端</a:t>
            </a:r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0B20AB6-3FB6-49E3-9A6D-9110D9F5F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994" y="3927168"/>
            <a:ext cx="4757979" cy="251395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B4BFA26F-DFE8-4874-82BF-D09695D450EB}"/>
              </a:ext>
            </a:extLst>
          </p:cNvPr>
          <p:cNvSpPr txBox="1"/>
          <p:nvPr/>
        </p:nvSpPr>
        <p:spPr>
          <a:xfrm>
            <a:off x="3545544" y="6418603"/>
            <a:ext cx="20162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4.26    </a:t>
            </a:r>
            <a:r>
              <a:rPr lang="zh-CN" altLang="en-US" sz="1200" b="1" dirty="0"/>
              <a:t>存储器的字位扩展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5991607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E06142-F445-473B-ADF7-4194512A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存储器的扩展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FA8B4-6A12-4056-9C00-A57EBF35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0768"/>
            <a:ext cx="8229600" cy="504056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zh-CN" altLang="en-US" sz="1800" b="1" dirty="0">
                <a:solidFill>
                  <a:srgbClr val="C00000"/>
                </a:solidFill>
              </a:rPr>
              <a:t>补充）习题</a:t>
            </a:r>
            <a:r>
              <a:rPr lang="en-US" altLang="zh-CN" sz="1800" b="1" dirty="0">
                <a:solidFill>
                  <a:srgbClr val="C00000"/>
                </a:solidFill>
              </a:rPr>
              <a:t>4.5    </a:t>
            </a:r>
            <a:r>
              <a:rPr lang="zh-CN" altLang="en-US" sz="1800" b="1" dirty="0"/>
              <a:t>用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个</a:t>
            </a:r>
            <a:r>
              <a:rPr lang="en-US" altLang="zh-CN" sz="1800" b="1" dirty="0"/>
              <a:t>32Kx8</a:t>
            </a:r>
            <a:r>
              <a:rPr lang="zh-CN" altLang="en-US" sz="1800" b="1" dirty="0"/>
              <a:t>位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存储芯片，可设计出哪几种不同容量和字长的存储器？画出相应设计图，并完成与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的连接。</a:t>
            </a:r>
            <a:endParaRPr lang="en-US" altLang="zh-CN" sz="1800" b="1" dirty="0"/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解：有三种：</a:t>
            </a: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r>
              <a:rPr lang="zh-CN" altLang="en-US" sz="1800" b="1" dirty="0">
                <a:solidFill>
                  <a:srgbClr val="C00000"/>
                </a:solidFill>
              </a:rPr>
              <a:t>字扩展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32K -&gt; 128K</a:t>
            </a:r>
          </a:p>
          <a:p>
            <a:pPr lvl="2">
              <a:lnSpc>
                <a:spcPct val="150000"/>
              </a:lnSpc>
            </a:pPr>
            <a:r>
              <a:rPr lang="en-US" altLang="zh-CN" sz="1800" b="1" dirty="0"/>
              <a:t>4</a:t>
            </a:r>
            <a:r>
              <a:rPr lang="zh-CN" altLang="en-US" sz="1800" b="1" dirty="0"/>
              <a:t>片</a:t>
            </a:r>
            <a:r>
              <a:rPr lang="en-US" altLang="zh-CN" sz="1800" b="1" dirty="0"/>
              <a:t>32Kx8</a:t>
            </a:r>
            <a:r>
              <a:rPr lang="zh-CN" altLang="en-US" sz="1800" b="1" dirty="0"/>
              <a:t>位 </a:t>
            </a:r>
            <a:r>
              <a:rPr lang="en-US" altLang="zh-CN" sz="1800" b="1" dirty="0"/>
              <a:t>-&gt;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128Kx8</a:t>
            </a:r>
            <a:r>
              <a:rPr lang="zh-CN" altLang="en-US" sz="1800" b="1" dirty="0"/>
              <a:t>位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r>
              <a:rPr lang="zh-CN" altLang="en-US" sz="1800" b="1" dirty="0">
                <a:solidFill>
                  <a:srgbClr val="C00000"/>
                </a:solidFill>
              </a:rPr>
              <a:t>位扩展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 </a:t>
            </a:r>
            <a:r>
              <a:rPr lang="en-US" altLang="zh-CN" sz="1800" b="1" dirty="0"/>
              <a:t>-&gt; 32</a:t>
            </a:r>
            <a:r>
              <a:rPr lang="zh-CN" altLang="en-US" sz="1800" b="1" dirty="0"/>
              <a:t>位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en-US" altLang="zh-CN" sz="1800" b="1" dirty="0"/>
              <a:t>4</a:t>
            </a:r>
            <a:r>
              <a:rPr lang="zh-CN" altLang="en-US" sz="1800" b="1" dirty="0"/>
              <a:t>片</a:t>
            </a:r>
            <a:r>
              <a:rPr lang="en-US" altLang="zh-CN" sz="1800" b="1" dirty="0"/>
              <a:t>32Kx8</a:t>
            </a:r>
            <a:r>
              <a:rPr lang="zh-CN" altLang="en-US" sz="1800" b="1" dirty="0"/>
              <a:t>位 </a:t>
            </a:r>
            <a:r>
              <a:rPr lang="en-US" altLang="zh-CN" sz="1800" b="1" dirty="0"/>
              <a:t>-&gt;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32Kx32</a:t>
            </a:r>
            <a:r>
              <a:rPr lang="zh-CN" altLang="en-US" sz="1800" b="1" dirty="0"/>
              <a:t>位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endParaRPr lang="en-US" altLang="zh-CN" sz="1800" b="1" dirty="0"/>
          </a:p>
          <a:p>
            <a:pPr lvl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</a:t>
            </a:r>
            <a:r>
              <a:rPr lang="zh-CN" altLang="en-US" sz="1800" b="1" dirty="0">
                <a:solidFill>
                  <a:srgbClr val="C00000"/>
                </a:solidFill>
              </a:rPr>
              <a:t>字位扩展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32K -&gt; 64K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 </a:t>
            </a:r>
            <a:r>
              <a:rPr lang="en-US" altLang="zh-CN" sz="1800" b="1" dirty="0"/>
              <a:t>-&gt; 16</a:t>
            </a:r>
            <a:r>
              <a:rPr lang="zh-CN" altLang="en-US" sz="1800" b="1" dirty="0"/>
              <a:t>位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en-US" altLang="zh-CN" sz="1800" b="1" dirty="0"/>
              <a:t>4</a:t>
            </a:r>
            <a:r>
              <a:rPr lang="zh-CN" altLang="en-US" sz="1800" b="1" dirty="0"/>
              <a:t>片</a:t>
            </a:r>
            <a:r>
              <a:rPr lang="en-US" altLang="zh-CN" sz="1800" b="1" dirty="0"/>
              <a:t>32Kx8</a:t>
            </a:r>
            <a:r>
              <a:rPr lang="zh-CN" altLang="en-US" sz="1800" b="1" dirty="0"/>
              <a:t>位 </a:t>
            </a:r>
            <a:r>
              <a:rPr lang="en-US" altLang="zh-CN" sz="1800" b="1" dirty="0"/>
              <a:t>-&gt;</a:t>
            </a:r>
            <a:r>
              <a:rPr lang="zh-CN" altLang="en-US" sz="1800" b="1" dirty="0"/>
              <a:t> </a:t>
            </a:r>
            <a:r>
              <a:rPr lang="en-US" altLang="zh-CN" sz="1800" b="1" dirty="0"/>
              <a:t>64Kx16</a:t>
            </a:r>
            <a:r>
              <a:rPr lang="zh-CN" altLang="en-US" sz="1800" b="1" dirty="0"/>
              <a:t>位</a:t>
            </a:r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7387000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31640" y="1196752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E29949-E6E2-4EAE-B7CB-C3F18417ABCF}"/>
              </a:ext>
            </a:extLst>
          </p:cNvPr>
          <p:cNvSpPr/>
          <p:nvPr/>
        </p:nvSpPr>
        <p:spPr>
          <a:xfrm>
            <a:off x="3347863" y="1326086"/>
            <a:ext cx="4896543" cy="734762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365104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D2DBDA7E-4368-4318-A7A0-0659100C0A5B}"/>
              </a:ext>
            </a:extLst>
          </p:cNvPr>
          <p:cNvSpPr/>
          <p:nvPr/>
        </p:nvSpPr>
        <p:spPr>
          <a:xfrm>
            <a:off x="2414476" y="1772816"/>
            <a:ext cx="912124" cy="20244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388060" y="4045259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658636" y="4045260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918776" y="4042691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96472" y="4042692"/>
            <a:ext cx="567680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E5FDB1-7CEF-4888-82DD-1F15C488EF60}"/>
              </a:ext>
            </a:extLst>
          </p:cNvPr>
          <p:cNvCxnSpPr/>
          <p:nvPr/>
        </p:nvCxnSpPr>
        <p:spPr>
          <a:xfrm>
            <a:off x="3995936" y="2060848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0021BFA-F367-4A6B-A2E6-76D3B1253987}"/>
              </a:ext>
            </a:extLst>
          </p:cNvPr>
          <p:cNvCxnSpPr/>
          <p:nvPr/>
        </p:nvCxnSpPr>
        <p:spPr>
          <a:xfrm>
            <a:off x="5220072" y="2060848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E858D73-B64D-40C4-9EC1-50A43D292585}"/>
              </a:ext>
            </a:extLst>
          </p:cNvPr>
          <p:cNvCxnSpPr>
            <a:cxnSpLocks/>
          </p:cNvCxnSpPr>
          <p:nvPr/>
        </p:nvCxnSpPr>
        <p:spPr>
          <a:xfrm>
            <a:off x="6471423" y="2067095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6D9454B-6F98-4270-9866-6AED536A1C91}"/>
              </a:ext>
            </a:extLst>
          </p:cNvPr>
          <p:cNvCxnSpPr/>
          <p:nvPr/>
        </p:nvCxnSpPr>
        <p:spPr>
          <a:xfrm>
            <a:off x="7668344" y="2063119"/>
            <a:ext cx="0" cy="10597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2A49F91-1330-4654-87B2-5AA82E8011CD}"/>
              </a:ext>
            </a:extLst>
          </p:cNvPr>
          <p:cNvSpPr txBox="1"/>
          <p:nvPr/>
        </p:nvSpPr>
        <p:spPr>
          <a:xfrm>
            <a:off x="5273108" y="1412776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2-4</a:t>
            </a:r>
            <a:r>
              <a:rPr lang="zh-CN" altLang="en-US" sz="1400" b="1" dirty="0"/>
              <a:t>译码器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763688" y="4369680"/>
            <a:ext cx="6367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E3AC7D5-FB30-4384-8A34-0450E0A32828}"/>
              </a:ext>
            </a:extLst>
          </p:cNvPr>
          <p:cNvSpPr txBox="1"/>
          <p:nvPr/>
        </p:nvSpPr>
        <p:spPr>
          <a:xfrm>
            <a:off x="1712392" y="1711841"/>
            <a:ext cx="7393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16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15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106707" y="3677682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40152" y="368495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98438" y="3672239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419872" y="368437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C640D53-0E90-4288-A1EC-D2A23E237C61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1DB0C9-4B5F-423B-873D-E20B1E87F6E5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E633AAA-FC74-4171-AFAB-D1FF0FBEC2CA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EEF810B-4D03-477B-97B9-FB097CF7E8F3}"/>
              </a:ext>
            </a:extLst>
          </p:cNvPr>
          <p:cNvSpPr txBox="1"/>
          <p:nvPr/>
        </p:nvSpPr>
        <p:spPr>
          <a:xfrm>
            <a:off x="7492073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187766" y="154288"/>
            <a:ext cx="2736784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）字扩展：</a:t>
            </a:r>
            <a:r>
              <a:rPr lang="en-US" altLang="zh-CN" sz="1600" b="1" dirty="0"/>
              <a:t>32K -&gt; 128K</a:t>
            </a:r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128Kx8</a:t>
            </a:r>
            <a:r>
              <a:rPr lang="zh-CN" altLang="en-US" sz="1600" b="1" dirty="0"/>
              <a:t>位</a:t>
            </a:r>
            <a:endParaRPr lang="zh-CN" altLang="en-US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3E4C9B72-58A7-4DE9-AA79-E0A4247838A9}"/>
              </a:ext>
            </a:extLst>
          </p:cNvPr>
          <p:cNvCxnSpPr>
            <a:cxnSpLocks/>
          </p:cNvCxnSpPr>
          <p:nvPr/>
        </p:nvCxnSpPr>
        <p:spPr>
          <a:xfrm>
            <a:off x="2411760" y="1490100"/>
            <a:ext cx="9148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651E0425-ED2B-499B-B6FD-D78A5A6E13E1}"/>
              </a:ext>
            </a:extLst>
          </p:cNvPr>
          <p:cNvSpPr txBox="1"/>
          <p:nvPr/>
        </p:nvSpPr>
        <p:spPr>
          <a:xfrm>
            <a:off x="1783449" y="1327638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DD140F26-6B01-401E-A122-75CAB85516AF}"/>
              </a:ext>
            </a:extLst>
          </p:cNvPr>
          <p:cNvSpPr txBox="1"/>
          <p:nvPr/>
        </p:nvSpPr>
        <p:spPr>
          <a:xfrm>
            <a:off x="3846595" y="1754369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0</a:t>
            </a:r>
            <a:endParaRPr lang="zh-CN" altLang="en-US" sz="1000" b="1" baseline="-25000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4DD364D3-B705-4249-8207-873202644F28}"/>
              </a:ext>
            </a:extLst>
          </p:cNvPr>
          <p:cNvSpPr txBox="1"/>
          <p:nvPr/>
        </p:nvSpPr>
        <p:spPr>
          <a:xfrm>
            <a:off x="5068814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1</a:t>
            </a:r>
            <a:endParaRPr lang="zh-CN" altLang="en-US" sz="1000" b="1" baseline="-25000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8C1D063-E8DC-4189-8EAA-4308B24633EC}"/>
              </a:ext>
            </a:extLst>
          </p:cNvPr>
          <p:cNvSpPr txBox="1"/>
          <p:nvPr/>
        </p:nvSpPr>
        <p:spPr>
          <a:xfrm>
            <a:off x="6292950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2</a:t>
            </a:r>
            <a:endParaRPr lang="zh-CN" altLang="en-US" sz="1000" b="1" baseline="-250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2BB043C5-27E6-4E9B-B35D-01283AD92E3F}"/>
              </a:ext>
            </a:extLst>
          </p:cNvPr>
          <p:cNvSpPr txBox="1"/>
          <p:nvPr/>
        </p:nvSpPr>
        <p:spPr>
          <a:xfrm>
            <a:off x="7517086" y="1772816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3</a:t>
            </a:r>
            <a:endParaRPr lang="zh-CN" altLang="en-US" sz="1000" b="1" baseline="-25000" dirty="0"/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310EF2F5-6A2D-4D54-9395-4872D53379D3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1F38EAF4-8F9E-429B-8627-A54944E9AC4F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C65E0D88-D73E-4219-895D-E29BA2565D68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2C26BC54-E806-4988-8951-921ECCEA3E6F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8A2ED218-2861-4A1A-AD25-AA420883864E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FF0323BF-D91B-49AF-8B2E-CBC061F1E674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48A23A9-F139-4114-984D-9CB9AC387BE8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5792351-FC30-44F7-9C0E-BC11F009F9FE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CAC77B81-1921-4E9B-8673-22C5F9471DF2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FB61433-A616-4013-BBA4-DA1499D2D502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E13A6A3-CBA0-4516-A9DE-3292F418A584}"/>
              </a:ext>
            </a:extLst>
          </p:cNvPr>
          <p:cNvSpPr txBox="1"/>
          <p:nvPr/>
        </p:nvSpPr>
        <p:spPr>
          <a:xfrm>
            <a:off x="3314438" y="1336954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OE</a:t>
            </a:r>
            <a:endParaRPr lang="zh-CN" altLang="en-US" sz="1100" b="1" dirty="0"/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8543DB71-BA22-49EF-B229-1D872CF19557}"/>
              </a:ext>
            </a:extLst>
          </p:cNvPr>
          <p:cNvSpPr txBox="1"/>
          <p:nvPr/>
        </p:nvSpPr>
        <p:spPr>
          <a:xfrm>
            <a:off x="3330836" y="1676686"/>
            <a:ext cx="2616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B</a:t>
            </a:r>
          </a:p>
          <a:p>
            <a:pPr algn="ctr"/>
            <a:r>
              <a:rPr lang="en-US" altLang="zh-CN" sz="1000" b="1" dirty="0"/>
              <a:t>A</a:t>
            </a:r>
            <a:endParaRPr lang="zh-CN" altLang="en-US" sz="1000" b="1" baseline="-250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936B42-9571-44B1-9A96-28FD415E9031}"/>
              </a:ext>
            </a:extLst>
          </p:cNvPr>
          <p:cNvSpPr txBox="1"/>
          <p:nvPr/>
        </p:nvSpPr>
        <p:spPr>
          <a:xfrm>
            <a:off x="2869180" y="4924260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E0C6259-4013-48E9-8B0B-F41EA58EA05C}"/>
              </a:ext>
            </a:extLst>
          </p:cNvPr>
          <p:cNvSpPr txBox="1"/>
          <p:nvPr/>
        </p:nvSpPr>
        <p:spPr>
          <a:xfrm>
            <a:off x="6026215" y="4944194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128Kx8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=17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88E15AD1-92EC-4DEC-B2AA-38FE484C539F}"/>
              </a:ext>
            </a:extLst>
          </p:cNvPr>
          <p:cNvSpPr/>
          <p:nvPr/>
        </p:nvSpPr>
        <p:spPr>
          <a:xfrm>
            <a:off x="3460176" y="112323"/>
            <a:ext cx="2736784" cy="861526"/>
          </a:xfrm>
          <a:prstGeom prst="wedgeRoundRectCallout">
            <a:avLst>
              <a:gd name="adj1" fmla="val -70526"/>
              <a:gd name="adj2" fmla="val 171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片内地址线，数据线，读写线并联，</a:t>
            </a:r>
            <a:r>
              <a:rPr lang="en-US" altLang="zh-CN" sz="1600" dirty="0"/>
              <a:t>CS</a:t>
            </a:r>
            <a:r>
              <a:rPr lang="zh-CN" altLang="en-US" sz="1600" dirty="0"/>
              <a:t>片选端利用译码器单独设计</a:t>
            </a:r>
          </a:p>
        </p:txBody>
      </p:sp>
      <p:sp>
        <p:nvSpPr>
          <p:cNvPr id="74" name="对话气泡: 圆角矩形 73">
            <a:extLst>
              <a:ext uri="{FF2B5EF4-FFF2-40B4-BE49-F238E27FC236}">
                <a16:creationId xmlns:a16="http://schemas.microsoft.com/office/drawing/2014/main" id="{E3075C5F-1434-488E-BA4B-0B39E38C6A3E}"/>
              </a:ext>
            </a:extLst>
          </p:cNvPr>
          <p:cNvSpPr/>
          <p:nvPr/>
        </p:nvSpPr>
        <p:spPr>
          <a:xfrm>
            <a:off x="179513" y="1490100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地址高位用作片选</a:t>
            </a:r>
          </a:p>
        </p:txBody>
      </p:sp>
      <p:sp>
        <p:nvSpPr>
          <p:cNvPr id="75" name="对话气泡: 圆角矩形 74">
            <a:extLst>
              <a:ext uri="{FF2B5EF4-FFF2-40B4-BE49-F238E27FC236}">
                <a16:creationId xmlns:a16="http://schemas.microsoft.com/office/drawing/2014/main" id="{61C084F6-C050-4C35-9861-753E097EDD73}"/>
              </a:ext>
            </a:extLst>
          </p:cNvPr>
          <p:cNvSpPr/>
          <p:nvPr/>
        </p:nvSpPr>
        <p:spPr>
          <a:xfrm>
            <a:off x="252917" y="2450684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地址低位用作片内寻址</a:t>
            </a:r>
          </a:p>
        </p:txBody>
      </p:sp>
      <p:sp>
        <p:nvSpPr>
          <p:cNvPr id="76" name="对话气泡: 圆角矩形 75">
            <a:extLst>
              <a:ext uri="{FF2B5EF4-FFF2-40B4-BE49-F238E27FC236}">
                <a16:creationId xmlns:a16="http://schemas.microsoft.com/office/drawing/2014/main" id="{3AF7942E-9073-403A-B6C4-9FA2F36806A4}"/>
              </a:ext>
            </a:extLst>
          </p:cNvPr>
          <p:cNvSpPr/>
          <p:nvPr/>
        </p:nvSpPr>
        <p:spPr>
          <a:xfrm>
            <a:off x="158083" y="4279589"/>
            <a:ext cx="1122982" cy="747096"/>
          </a:xfrm>
          <a:prstGeom prst="wedgeRoundRectCallout">
            <a:avLst>
              <a:gd name="adj1" fmla="val 87464"/>
              <a:gd name="adj2" fmla="val -153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并联</a:t>
            </a:r>
          </a:p>
        </p:txBody>
      </p:sp>
    </p:spTree>
    <p:extLst>
      <p:ext uri="{BB962C8B-B14F-4D97-AF65-F5344CB8AC3E}">
        <p14:creationId xmlns:p14="http://schemas.microsoft.com/office/powerpoint/2010/main" val="19127137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31640" y="1196752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509119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329183" y="4104135"/>
            <a:ext cx="728465" cy="259058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578243" y="4125653"/>
            <a:ext cx="728466" cy="216026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832003" y="4129464"/>
            <a:ext cx="741226" cy="216025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44246" y="4094917"/>
            <a:ext cx="698987" cy="242881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738040" y="4369680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D</a:t>
            </a:r>
            <a:r>
              <a:rPr lang="en-US" altLang="zh-CN" sz="1200" b="1" baseline="-25000" dirty="0"/>
              <a:t>31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071441" y="3677682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31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24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04886" y="3684954"/>
            <a:ext cx="56618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23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16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80805" y="3672239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392059" y="3657160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498847" y="143259"/>
            <a:ext cx="2664775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）位扩展：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32Kx32</a:t>
            </a:r>
            <a:r>
              <a:rPr lang="zh-CN" altLang="en-US" sz="1600" b="1" dirty="0"/>
              <a:t>位</a:t>
            </a:r>
            <a:endParaRPr lang="en-US" altLang="zh-CN" sz="1600" b="1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464713C8-CDEC-4401-AFC6-C376C81373D7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2BBCE35B-A964-43BF-8AF5-EAC99CC13565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7A76221F-8908-4813-BB39-65B7564DB409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5330AB84-0BBC-4E68-8756-C55409F82617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A669F2A6-78BC-4E26-93AC-0DBA721FA7E1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A603509F-2B53-4843-BE97-FF584E77C03F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13BDF486-C97E-4A1C-ACED-21241E3DE0E6}"/>
              </a:ext>
            </a:extLst>
          </p:cNvPr>
          <p:cNvCxnSpPr>
            <a:cxnSpLocks/>
          </p:cNvCxnSpPr>
          <p:nvPr/>
        </p:nvCxnSpPr>
        <p:spPr>
          <a:xfrm>
            <a:off x="2411760" y="1629237"/>
            <a:ext cx="532859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4D04DAA-0010-4FE3-95D1-9C10A8E14929}"/>
              </a:ext>
            </a:extLst>
          </p:cNvPr>
          <p:cNvCxnSpPr>
            <a:cxnSpLocks/>
          </p:cNvCxnSpPr>
          <p:nvPr/>
        </p:nvCxnSpPr>
        <p:spPr>
          <a:xfrm>
            <a:off x="4046680" y="1628802"/>
            <a:ext cx="0" cy="150597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DC22E041-FB4E-44E6-A189-A3A607B6187A}"/>
              </a:ext>
            </a:extLst>
          </p:cNvPr>
          <p:cNvCxnSpPr>
            <a:cxnSpLocks/>
          </p:cNvCxnSpPr>
          <p:nvPr/>
        </p:nvCxnSpPr>
        <p:spPr>
          <a:xfrm>
            <a:off x="5292080" y="1628801"/>
            <a:ext cx="0" cy="148495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082B23E0-0977-49A5-9576-3BDC6D1964FA}"/>
              </a:ext>
            </a:extLst>
          </p:cNvPr>
          <p:cNvCxnSpPr>
            <a:cxnSpLocks/>
          </p:cNvCxnSpPr>
          <p:nvPr/>
        </p:nvCxnSpPr>
        <p:spPr>
          <a:xfrm>
            <a:off x="6530391" y="1628800"/>
            <a:ext cx="0" cy="15059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75CA6AE-661F-4428-8B4F-1F9D9A963F35}"/>
              </a:ext>
            </a:extLst>
          </p:cNvPr>
          <p:cNvCxnSpPr>
            <a:cxnSpLocks/>
          </p:cNvCxnSpPr>
          <p:nvPr/>
        </p:nvCxnSpPr>
        <p:spPr>
          <a:xfrm>
            <a:off x="7740352" y="1628800"/>
            <a:ext cx="0" cy="15059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CA973067-A38B-4FEE-B1D7-BF8C07DD61CD}"/>
              </a:ext>
            </a:extLst>
          </p:cNvPr>
          <p:cNvSpPr txBox="1"/>
          <p:nvPr/>
        </p:nvSpPr>
        <p:spPr>
          <a:xfrm>
            <a:off x="1783449" y="1485185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9CD2557-2247-4C99-8459-298335DF68C8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B782293-5DE7-4C14-A536-BC6BE58D9AAD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4886B63-5EF2-4E4E-8F2C-7E8031C43F26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503BCE6-77CC-460A-AFDF-E87FEE5AA09B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AF9D0501-27B6-4820-8D60-29B05EC4E7E6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A33F968E-4EED-409F-87FD-DFE976F9B883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633DD51E-0C0A-4DB2-B1DA-9AEC4EA82190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01F9AD6F-D113-4B38-A440-7193B48526CC}"/>
              </a:ext>
            </a:extLst>
          </p:cNvPr>
          <p:cNvSpPr txBox="1"/>
          <p:nvPr/>
        </p:nvSpPr>
        <p:spPr>
          <a:xfrm>
            <a:off x="7458411" y="3130082"/>
            <a:ext cx="3994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   /CS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EBC2C0A-6E22-46EF-AEFF-5194EBD71099}"/>
              </a:ext>
            </a:extLst>
          </p:cNvPr>
          <p:cNvSpPr txBox="1"/>
          <p:nvPr/>
        </p:nvSpPr>
        <p:spPr>
          <a:xfrm>
            <a:off x="2892056" y="4935886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64CAAEF0-E385-4D55-92BF-2FFFAAC7CD30}"/>
              </a:ext>
            </a:extLst>
          </p:cNvPr>
          <p:cNvSpPr txBox="1"/>
          <p:nvPr/>
        </p:nvSpPr>
        <p:spPr>
          <a:xfrm>
            <a:off x="5689296" y="4958949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32Kx32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31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2" name="对话气泡: 圆角矩形 71">
            <a:extLst>
              <a:ext uri="{FF2B5EF4-FFF2-40B4-BE49-F238E27FC236}">
                <a16:creationId xmlns:a16="http://schemas.microsoft.com/office/drawing/2014/main" id="{BB9EABD5-E036-4EC0-99E9-717D2D502B59}"/>
              </a:ext>
            </a:extLst>
          </p:cNvPr>
          <p:cNvSpPr/>
          <p:nvPr/>
        </p:nvSpPr>
        <p:spPr>
          <a:xfrm>
            <a:off x="3596077" y="104476"/>
            <a:ext cx="2268731" cy="861526"/>
          </a:xfrm>
          <a:prstGeom prst="wedgeRoundRectCallout">
            <a:avLst>
              <a:gd name="adj1" fmla="val -70526"/>
              <a:gd name="adj2" fmla="val 171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片内地址线， 读写线并联，</a:t>
            </a:r>
            <a:r>
              <a:rPr lang="en-US" altLang="zh-CN" sz="1600" dirty="0"/>
              <a:t>CS</a:t>
            </a:r>
            <a:r>
              <a:rPr lang="zh-CN" altLang="en-US" sz="1600" dirty="0"/>
              <a:t>片选并联，数据线单独设计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DAE306-5762-443F-A974-0BBADFE27B61}"/>
              </a:ext>
            </a:extLst>
          </p:cNvPr>
          <p:cNvSpPr txBox="1"/>
          <p:nvPr/>
        </p:nvSpPr>
        <p:spPr>
          <a:xfrm>
            <a:off x="3255819" y="3874658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D7~D0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092C0DBA-604C-4C30-A172-D0955EACC7DB}"/>
              </a:ext>
            </a:extLst>
          </p:cNvPr>
          <p:cNvSpPr txBox="1"/>
          <p:nvPr/>
        </p:nvSpPr>
        <p:spPr>
          <a:xfrm>
            <a:off x="6938513" y="3882448"/>
            <a:ext cx="430887" cy="7612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D31~24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2C9CF6B-C057-4FBE-A1D3-8D9DE507E222}"/>
              </a:ext>
            </a:extLst>
          </p:cNvPr>
          <p:cNvSpPr txBox="1"/>
          <p:nvPr/>
        </p:nvSpPr>
        <p:spPr>
          <a:xfrm>
            <a:off x="5756134" y="3860171"/>
            <a:ext cx="430887" cy="8069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D23~16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61C43E7-669B-4C15-A566-267D4A747917}"/>
              </a:ext>
            </a:extLst>
          </p:cNvPr>
          <p:cNvSpPr txBox="1"/>
          <p:nvPr/>
        </p:nvSpPr>
        <p:spPr>
          <a:xfrm>
            <a:off x="4496577" y="3905130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D15~8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7" name="对话气泡: 圆角矩形 76">
            <a:extLst>
              <a:ext uri="{FF2B5EF4-FFF2-40B4-BE49-F238E27FC236}">
                <a16:creationId xmlns:a16="http://schemas.microsoft.com/office/drawing/2014/main" id="{86E8389A-244A-43B3-8A9E-954BCDFA78DB}"/>
              </a:ext>
            </a:extLst>
          </p:cNvPr>
          <p:cNvSpPr/>
          <p:nvPr/>
        </p:nvSpPr>
        <p:spPr>
          <a:xfrm>
            <a:off x="175239" y="4134631"/>
            <a:ext cx="1122982" cy="747096"/>
          </a:xfrm>
          <a:prstGeom prst="wedgeRoundRectCallout">
            <a:avLst>
              <a:gd name="adj1" fmla="val 86674"/>
              <a:gd name="adj2" fmla="val 48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分成</a:t>
            </a:r>
            <a:r>
              <a:rPr lang="en-US" altLang="zh-CN" sz="1600" dirty="0"/>
              <a:t>4</a:t>
            </a:r>
            <a:r>
              <a:rPr lang="zh-CN" altLang="en-US" sz="1600" dirty="0"/>
              <a:t>组</a:t>
            </a:r>
          </a:p>
        </p:txBody>
      </p:sp>
      <p:sp>
        <p:nvSpPr>
          <p:cNvPr id="78" name="对话气泡: 圆角矩形 77">
            <a:extLst>
              <a:ext uri="{FF2B5EF4-FFF2-40B4-BE49-F238E27FC236}">
                <a16:creationId xmlns:a16="http://schemas.microsoft.com/office/drawing/2014/main" id="{160D6BF3-2A4E-4954-BECA-661BD9955816}"/>
              </a:ext>
            </a:extLst>
          </p:cNvPr>
          <p:cNvSpPr/>
          <p:nvPr/>
        </p:nvSpPr>
        <p:spPr>
          <a:xfrm>
            <a:off x="6793339" y="600861"/>
            <a:ext cx="1739099" cy="861526"/>
          </a:xfrm>
          <a:prstGeom prst="wedgeRoundRectCallout">
            <a:avLst>
              <a:gd name="adj1" fmla="val -80516"/>
              <a:gd name="adj2" fmla="val 6385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片选同时生效，</a:t>
            </a:r>
            <a:endParaRPr lang="en-US" altLang="zh-CN" sz="1600" dirty="0"/>
          </a:p>
          <a:p>
            <a:pPr algn="ctr"/>
            <a:r>
              <a:rPr lang="en-US" altLang="zh-CN" sz="1600" dirty="0"/>
              <a:t>4</a:t>
            </a:r>
            <a:r>
              <a:rPr lang="zh-CN" altLang="en-US" sz="1600" dirty="0"/>
              <a:t>片同时读写</a:t>
            </a:r>
          </a:p>
        </p:txBody>
      </p:sp>
    </p:spTree>
    <p:extLst>
      <p:ext uri="{BB962C8B-B14F-4D97-AF65-F5344CB8AC3E}">
        <p14:creationId xmlns:p14="http://schemas.microsoft.com/office/powerpoint/2010/main" val="37088471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EEABF3-5F77-4460-82EE-258B3906DFA4}"/>
              </a:ext>
            </a:extLst>
          </p:cNvPr>
          <p:cNvSpPr/>
          <p:nvPr/>
        </p:nvSpPr>
        <p:spPr>
          <a:xfrm>
            <a:off x="1322147" y="1085390"/>
            <a:ext cx="1080120" cy="381642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424A3E-CE5E-4833-876E-E06C263B0C93}"/>
              </a:ext>
            </a:extLst>
          </p:cNvPr>
          <p:cNvSpPr/>
          <p:nvPr/>
        </p:nvSpPr>
        <p:spPr>
          <a:xfrm>
            <a:off x="3203848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21F3C3-731B-4434-B51B-B2B82CAFD0AB}"/>
              </a:ext>
            </a:extLst>
          </p:cNvPr>
          <p:cNvSpPr/>
          <p:nvPr/>
        </p:nvSpPr>
        <p:spPr>
          <a:xfrm>
            <a:off x="4427984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C274BC-234A-4CA9-8AE8-A373A621FAF9}"/>
              </a:ext>
            </a:extLst>
          </p:cNvPr>
          <p:cNvSpPr/>
          <p:nvPr/>
        </p:nvSpPr>
        <p:spPr>
          <a:xfrm>
            <a:off x="568929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CF149B-61A8-4F8D-A0C5-8664111A2ED7}"/>
              </a:ext>
            </a:extLst>
          </p:cNvPr>
          <p:cNvSpPr/>
          <p:nvPr/>
        </p:nvSpPr>
        <p:spPr>
          <a:xfrm>
            <a:off x="6876256" y="3140968"/>
            <a:ext cx="936104" cy="728464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32224987-7D4B-46CC-A21B-A16ABC99985D}"/>
              </a:ext>
            </a:extLst>
          </p:cNvPr>
          <p:cNvSpPr/>
          <p:nvPr/>
        </p:nvSpPr>
        <p:spPr>
          <a:xfrm>
            <a:off x="2411760" y="2492894"/>
            <a:ext cx="5904656" cy="28803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左右 10">
            <a:extLst>
              <a:ext uri="{FF2B5EF4-FFF2-40B4-BE49-F238E27FC236}">
                <a16:creationId xmlns:a16="http://schemas.microsoft.com/office/drawing/2014/main" id="{3272D5F0-0926-4FC3-9A4E-C18B07FFE4E5}"/>
              </a:ext>
            </a:extLst>
          </p:cNvPr>
          <p:cNvSpPr/>
          <p:nvPr/>
        </p:nvSpPr>
        <p:spPr>
          <a:xfrm>
            <a:off x="2411760" y="4560820"/>
            <a:ext cx="5976664" cy="28803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左右 14">
            <a:extLst>
              <a:ext uri="{FF2B5EF4-FFF2-40B4-BE49-F238E27FC236}">
                <a16:creationId xmlns:a16="http://schemas.microsoft.com/office/drawing/2014/main" id="{222DAFF0-8ADE-4412-9B5E-2A60286B5784}"/>
              </a:ext>
            </a:extLst>
          </p:cNvPr>
          <p:cNvSpPr/>
          <p:nvPr/>
        </p:nvSpPr>
        <p:spPr>
          <a:xfrm rot="5400000">
            <a:off x="3288784" y="4144534"/>
            <a:ext cx="777249" cy="227044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左右 15">
            <a:extLst>
              <a:ext uri="{FF2B5EF4-FFF2-40B4-BE49-F238E27FC236}">
                <a16:creationId xmlns:a16="http://schemas.microsoft.com/office/drawing/2014/main" id="{AFFDA7C8-AF23-4578-93F1-11DE2F4A9001}"/>
              </a:ext>
            </a:extLst>
          </p:cNvPr>
          <p:cNvSpPr/>
          <p:nvPr/>
        </p:nvSpPr>
        <p:spPr>
          <a:xfrm rot="5400000">
            <a:off x="4572571" y="4131324"/>
            <a:ext cx="742677" cy="218894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左右 16">
            <a:extLst>
              <a:ext uri="{FF2B5EF4-FFF2-40B4-BE49-F238E27FC236}">
                <a16:creationId xmlns:a16="http://schemas.microsoft.com/office/drawing/2014/main" id="{1ED31C1F-9909-4E3C-A91F-D69CD1F8F0CB}"/>
              </a:ext>
            </a:extLst>
          </p:cNvPr>
          <p:cNvSpPr/>
          <p:nvPr/>
        </p:nvSpPr>
        <p:spPr>
          <a:xfrm rot="5400000">
            <a:off x="5826533" y="4134934"/>
            <a:ext cx="739803" cy="203662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左右 17">
            <a:extLst>
              <a:ext uri="{FF2B5EF4-FFF2-40B4-BE49-F238E27FC236}">
                <a16:creationId xmlns:a16="http://schemas.microsoft.com/office/drawing/2014/main" id="{361F92D8-B590-4522-BE77-BB397CE2CFB8}"/>
              </a:ext>
            </a:extLst>
          </p:cNvPr>
          <p:cNvSpPr/>
          <p:nvPr/>
        </p:nvSpPr>
        <p:spPr>
          <a:xfrm rot="5400000">
            <a:off x="7009562" y="4129601"/>
            <a:ext cx="745247" cy="219773"/>
          </a:xfrm>
          <a:prstGeom prst="left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642E331-B635-4E5F-9E30-8B75F6249897}"/>
              </a:ext>
            </a:extLst>
          </p:cNvPr>
          <p:cNvSpPr/>
          <p:nvPr/>
        </p:nvSpPr>
        <p:spPr>
          <a:xfrm rot="5400000">
            <a:off x="3457732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0641B0DF-013C-4D53-AC70-F6CBF1FB1619}"/>
              </a:ext>
            </a:extLst>
          </p:cNvPr>
          <p:cNvSpPr/>
          <p:nvPr/>
        </p:nvSpPr>
        <p:spPr>
          <a:xfrm rot="5400000">
            <a:off x="4695430" y="281693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4670F387-7864-4EFB-A7A9-2E8F5D3C1E9A}"/>
              </a:ext>
            </a:extLst>
          </p:cNvPr>
          <p:cNvSpPr/>
          <p:nvPr/>
        </p:nvSpPr>
        <p:spPr>
          <a:xfrm rot="5400000">
            <a:off x="5991094" y="2811961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5E7DB848-C11B-4627-B956-3E179B4418CD}"/>
              </a:ext>
            </a:extLst>
          </p:cNvPr>
          <p:cNvSpPr/>
          <p:nvPr/>
        </p:nvSpPr>
        <p:spPr>
          <a:xfrm rot="5400000">
            <a:off x="7107458" y="2826160"/>
            <a:ext cx="401212" cy="216026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E5FDB1-7CEF-4888-82DD-1F15C488EF60}"/>
              </a:ext>
            </a:extLst>
          </p:cNvPr>
          <p:cNvCxnSpPr>
            <a:cxnSpLocks/>
          </p:cNvCxnSpPr>
          <p:nvPr/>
        </p:nvCxnSpPr>
        <p:spPr>
          <a:xfrm flipH="1">
            <a:off x="3995936" y="1931514"/>
            <a:ext cx="5998" cy="11890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20021BFA-F367-4A6B-A2E6-76D3B1253987}"/>
              </a:ext>
            </a:extLst>
          </p:cNvPr>
          <p:cNvCxnSpPr>
            <a:cxnSpLocks/>
          </p:cNvCxnSpPr>
          <p:nvPr/>
        </p:nvCxnSpPr>
        <p:spPr>
          <a:xfrm>
            <a:off x="5213801" y="2148621"/>
            <a:ext cx="6271" cy="97195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E858D73-B64D-40C4-9EC1-50A43D292585}"/>
              </a:ext>
            </a:extLst>
          </p:cNvPr>
          <p:cNvCxnSpPr>
            <a:cxnSpLocks/>
          </p:cNvCxnSpPr>
          <p:nvPr/>
        </p:nvCxnSpPr>
        <p:spPr>
          <a:xfrm>
            <a:off x="6454840" y="1633250"/>
            <a:ext cx="0" cy="15015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6D9454B-6F98-4270-9866-6AED536A1C91}"/>
              </a:ext>
            </a:extLst>
          </p:cNvPr>
          <p:cNvCxnSpPr>
            <a:cxnSpLocks/>
          </p:cNvCxnSpPr>
          <p:nvPr/>
        </p:nvCxnSpPr>
        <p:spPr>
          <a:xfrm>
            <a:off x="7668344" y="2148621"/>
            <a:ext cx="0" cy="98615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BD4258DF-6D37-4052-8A0F-DA20F71C2AA1}"/>
              </a:ext>
            </a:extLst>
          </p:cNvPr>
          <p:cNvSpPr txBox="1"/>
          <p:nvPr/>
        </p:nvSpPr>
        <p:spPr>
          <a:xfrm>
            <a:off x="1556158" y="3104964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CPU</a:t>
            </a:r>
            <a:endParaRPr lang="zh-CN" altLang="en-US" b="1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7FF2016-A9BD-41AF-99E2-81998940EEB1}"/>
              </a:ext>
            </a:extLst>
          </p:cNvPr>
          <p:cNvSpPr txBox="1"/>
          <p:nvPr/>
        </p:nvSpPr>
        <p:spPr>
          <a:xfrm>
            <a:off x="3423174" y="3300064"/>
            <a:ext cx="5180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8D06B84-B35B-43B7-ACAF-2E800F91920A}"/>
              </a:ext>
            </a:extLst>
          </p:cNvPr>
          <p:cNvSpPr txBox="1"/>
          <p:nvPr/>
        </p:nvSpPr>
        <p:spPr>
          <a:xfrm>
            <a:off x="4680111" y="3301313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1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FDDFC4-5C50-4604-A38E-A5C996EB8E93}"/>
              </a:ext>
            </a:extLst>
          </p:cNvPr>
          <p:cNvSpPr txBox="1"/>
          <p:nvPr/>
        </p:nvSpPr>
        <p:spPr>
          <a:xfrm>
            <a:off x="5837149" y="3284984"/>
            <a:ext cx="575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000" b="1"/>
            </a:lvl1pPr>
          </a:lstStyle>
          <a:p>
            <a:r>
              <a:rPr lang="en-US" altLang="zh-CN" dirty="0"/>
              <a:t>SRAM</a:t>
            </a:r>
          </a:p>
          <a:p>
            <a:r>
              <a:rPr lang="en-US" altLang="zh-CN" dirty="0"/>
              <a:t>32Kx8</a:t>
            </a:r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48F99B9-CB5B-48E2-8A2F-70FC08C7D62E}"/>
              </a:ext>
            </a:extLst>
          </p:cNvPr>
          <p:cNvSpPr txBox="1"/>
          <p:nvPr/>
        </p:nvSpPr>
        <p:spPr>
          <a:xfrm>
            <a:off x="7093346" y="3284984"/>
            <a:ext cx="5116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ctr">
              <a:defRPr sz="1200" b="1"/>
            </a:lvl1pPr>
          </a:lstStyle>
          <a:p>
            <a:r>
              <a:rPr lang="en-US" altLang="zh-CN" sz="1000" dirty="0"/>
              <a:t>SRAM</a:t>
            </a:r>
          </a:p>
          <a:p>
            <a:r>
              <a:rPr lang="en-US" altLang="zh-CN" sz="1000" dirty="0"/>
              <a:t>32Kx8</a:t>
            </a:r>
            <a:endParaRPr lang="zh-CN" altLang="en-US" sz="10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5B5468C3-5CB4-4DB0-A7C8-B3139D786075}"/>
              </a:ext>
            </a:extLst>
          </p:cNvPr>
          <p:cNvSpPr txBox="1"/>
          <p:nvPr/>
        </p:nvSpPr>
        <p:spPr>
          <a:xfrm>
            <a:off x="1685107" y="4560820"/>
            <a:ext cx="7232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/>
              <a:t>D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D37CFA7-202A-4F9D-BC39-5F37E15B250D}"/>
              </a:ext>
            </a:extLst>
          </p:cNvPr>
          <p:cNvSpPr txBox="1"/>
          <p:nvPr/>
        </p:nvSpPr>
        <p:spPr>
          <a:xfrm>
            <a:off x="1738040" y="2492896"/>
            <a:ext cx="6880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A</a:t>
            </a:r>
            <a:r>
              <a:rPr lang="en-US" altLang="zh-CN" sz="1200" b="1" baseline="-25000" dirty="0"/>
              <a:t>14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0</a:t>
            </a:r>
            <a:endParaRPr lang="zh-CN" altLang="en-US" sz="1200" b="1" baseline="-25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E3AC7D5-FB30-4384-8A34-0450E0A32828}"/>
              </a:ext>
            </a:extLst>
          </p:cNvPr>
          <p:cNvSpPr txBox="1"/>
          <p:nvPr/>
        </p:nvSpPr>
        <p:spPr>
          <a:xfrm>
            <a:off x="2021910" y="1567825"/>
            <a:ext cx="3898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200" b="1" baseline="-25000" dirty="0"/>
              <a:t>15</a:t>
            </a:r>
            <a:endParaRPr lang="zh-CN" altLang="en-US" sz="1200" b="1" baseline="-250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821C87C-0FB0-48F8-BB9D-4EA166738598}"/>
              </a:ext>
            </a:extLst>
          </p:cNvPr>
          <p:cNvSpPr txBox="1"/>
          <p:nvPr/>
        </p:nvSpPr>
        <p:spPr>
          <a:xfrm>
            <a:off x="3389680" y="3103447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4B0F245-0FFA-4871-9B94-734F3224CF40}"/>
              </a:ext>
            </a:extLst>
          </p:cNvPr>
          <p:cNvSpPr txBox="1"/>
          <p:nvPr/>
        </p:nvSpPr>
        <p:spPr>
          <a:xfrm>
            <a:off x="4644008" y="3108310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1FB71C6-5595-416A-8257-9FAD2410FA3E}"/>
              </a:ext>
            </a:extLst>
          </p:cNvPr>
          <p:cNvSpPr txBox="1"/>
          <p:nvPr/>
        </p:nvSpPr>
        <p:spPr>
          <a:xfrm>
            <a:off x="5934709" y="3119196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474A227D-203A-4C22-B3C0-D22F9835E582}"/>
              </a:ext>
            </a:extLst>
          </p:cNvPr>
          <p:cNvSpPr txBox="1"/>
          <p:nvPr/>
        </p:nvSpPr>
        <p:spPr>
          <a:xfrm>
            <a:off x="7071833" y="3113753"/>
            <a:ext cx="5245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A</a:t>
            </a:r>
            <a:r>
              <a:rPr lang="en-US" altLang="zh-CN" sz="800" b="1" baseline="-25000" dirty="0"/>
              <a:t>14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3CFB8E-BC99-45FC-AB5B-D77CBD12C98F}"/>
              </a:ext>
            </a:extLst>
          </p:cNvPr>
          <p:cNvSpPr txBox="1"/>
          <p:nvPr/>
        </p:nvSpPr>
        <p:spPr>
          <a:xfrm>
            <a:off x="7089074" y="3677682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05D3D28-7960-4C24-B661-5F8725E8E06D}"/>
              </a:ext>
            </a:extLst>
          </p:cNvPr>
          <p:cNvSpPr txBox="1"/>
          <p:nvPr/>
        </p:nvSpPr>
        <p:spPr>
          <a:xfrm>
            <a:off x="5940152" y="368495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8CBA8C7-0D13-4DE3-B4F5-63FC0FEDAE4A}"/>
              </a:ext>
            </a:extLst>
          </p:cNvPr>
          <p:cNvSpPr txBox="1"/>
          <p:nvPr/>
        </p:nvSpPr>
        <p:spPr>
          <a:xfrm>
            <a:off x="4680805" y="3672239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15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8</a:t>
            </a:r>
            <a:endParaRPr lang="zh-CN" altLang="en-US" sz="800" b="1" baseline="-250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D5368A4-A678-462C-B6C5-ED0944775362}"/>
              </a:ext>
            </a:extLst>
          </p:cNvPr>
          <p:cNvSpPr txBox="1"/>
          <p:nvPr/>
        </p:nvSpPr>
        <p:spPr>
          <a:xfrm>
            <a:off x="3419872" y="3684374"/>
            <a:ext cx="4956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D</a:t>
            </a:r>
            <a:r>
              <a:rPr lang="en-US" altLang="zh-CN" sz="800" b="1" baseline="-25000" dirty="0"/>
              <a:t>7</a:t>
            </a:r>
            <a:r>
              <a:rPr lang="zh-CN" altLang="en-US" sz="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8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800" b="1" baseline="-25000" dirty="0"/>
              <a:t>0</a:t>
            </a:r>
            <a:endParaRPr lang="zh-CN" altLang="en-US" sz="800" b="1" baseline="-25000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8C640D53-0E90-4288-A1EC-D2A23E237C61}"/>
              </a:ext>
            </a:extLst>
          </p:cNvPr>
          <p:cNvSpPr txBox="1"/>
          <p:nvPr/>
        </p:nvSpPr>
        <p:spPr>
          <a:xfrm>
            <a:off x="3834622" y="3119196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1DB0C9-4B5F-423B-873D-E20B1E87F6E5}"/>
              </a:ext>
            </a:extLst>
          </p:cNvPr>
          <p:cNvSpPr txBox="1"/>
          <p:nvPr/>
        </p:nvSpPr>
        <p:spPr>
          <a:xfrm>
            <a:off x="5054687" y="3124639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E633AAA-FC74-4171-AFAB-D1FF0FBEC2CA}"/>
              </a:ext>
            </a:extLst>
          </p:cNvPr>
          <p:cNvSpPr txBox="1"/>
          <p:nvPr/>
        </p:nvSpPr>
        <p:spPr>
          <a:xfrm>
            <a:off x="6334502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EEF810B-4D03-477B-97B9-FB097CF7E8F3}"/>
              </a:ext>
            </a:extLst>
          </p:cNvPr>
          <p:cNvSpPr txBox="1"/>
          <p:nvPr/>
        </p:nvSpPr>
        <p:spPr>
          <a:xfrm>
            <a:off x="7492073" y="3130082"/>
            <a:ext cx="3321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dirty="0"/>
              <a:t>/CS</a:t>
            </a:r>
            <a:endParaRPr lang="zh-CN" altLang="en-US" sz="800" b="1" baseline="-250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570F709-6EB5-4176-8261-8D76880F5A60}"/>
              </a:ext>
            </a:extLst>
          </p:cNvPr>
          <p:cNvSpPr txBox="1"/>
          <p:nvPr/>
        </p:nvSpPr>
        <p:spPr>
          <a:xfrm>
            <a:off x="1259392" y="45710"/>
            <a:ext cx="3888911" cy="830997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）字位扩展：</a:t>
            </a:r>
            <a:r>
              <a:rPr lang="en-US" altLang="zh-CN" sz="1600" b="1" dirty="0"/>
              <a:t>32K -&gt; 64K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16</a:t>
            </a:r>
            <a:r>
              <a:rPr lang="zh-CN" altLang="en-US" sz="1600" b="1" dirty="0"/>
              <a:t>位</a:t>
            </a:r>
            <a:endParaRPr lang="en-US" altLang="zh-CN" sz="1600" b="1" dirty="0"/>
          </a:p>
          <a:p>
            <a:pPr algn="ctr"/>
            <a:endParaRPr lang="en-US" altLang="zh-CN" sz="1600" b="1" dirty="0"/>
          </a:p>
          <a:p>
            <a:pPr algn="ctr"/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32Kx8</a:t>
            </a:r>
            <a:r>
              <a:rPr lang="zh-CN" altLang="en-US" sz="1600" b="1" dirty="0"/>
              <a:t>位 </a:t>
            </a:r>
            <a:r>
              <a:rPr lang="en-US" altLang="zh-CN" sz="1600" b="1" dirty="0"/>
              <a:t>-&gt; 64Kx16</a:t>
            </a:r>
            <a:r>
              <a:rPr lang="zh-CN" altLang="en-US" sz="1600" b="1" dirty="0"/>
              <a:t>位</a:t>
            </a:r>
            <a:endParaRPr lang="zh-CN" altLang="en-US" dirty="0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32DBDD7A-E797-4A67-8988-62FB0AAE8507}"/>
              </a:ext>
            </a:extLst>
          </p:cNvPr>
          <p:cNvCxnSpPr>
            <a:cxnSpLocks/>
          </p:cNvCxnSpPr>
          <p:nvPr/>
        </p:nvCxnSpPr>
        <p:spPr>
          <a:xfrm>
            <a:off x="2426049" y="1716291"/>
            <a:ext cx="90055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61E5C890-2DBE-4A18-86AF-4ADDAC0A31D2}"/>
              </a:ext>
            </a:extLst>
          </p:cNvPr>
          <p:cNvCxnSpPr>
            <a:cxnSpLocks/>
          </p:cNvCxnSpPr>
          <p:nvPr/>
        </p:nvCxnSpPr>
        <p:spPr>
          <a:xfrm>
            <a:off x="5934709" y="1633250"/>
            <a:ext cx="1733635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直角三角形 52">
            <a:extLst>
              <a:ext uri="{FF2B5EF4-FFF2-40B4-BE49-F238E27FC236}">
                <a16:creationId xmlns:a16="http://schemas.microsoft.com/office/drawing/2014/main" id="{BF04BE36-0624-4FF8-9EF3-2E8519CD51F3}"/>
              </a:ext>
            </a:extLst>
          </p:cNvPr>
          <p:cNvSpPr/>
          <p:nvPr/>
        </p:nvSpPr>
        <p:spPr>
          <a:xfrm rot="13500000">
            <a:off x="5484692" y="1451321"/>
            <a:ext cx="351546" cy="360040"/>
          </a:xfrm>
          <a:prstGeom prst="rtTriangl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流程图: 接点 53">
            <a:extLst>
              <a:ext uri="{FF2B5EF4-FFF2-40B4-BE49-F238E27FC236}">
                <a16:creationId xmlns:a16="http://schemas.microsoft.com/office/drawing/2014/main" id="{D4589907-8077-4C49-A381-B18B615A0EBF}"/>
              </a:ext>
            </a:extLst>
          </p:cNvPr>
          <p:cNvSpPr/>
          <p:nvPr/>
        </p:nvSpPr>
        <p:spPr>
          <a:xfrm>
            <a:off x="5894433" y="1605848"/>
            <a:ext cx="45719" cy="55610"/>
          </a:xfrm>
          <a:prstGeom prst="flowChartConnector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0C0E072-DF85-4846-B0E6-4AD606D19D2B}"/>
              </a:ext>
            </a:extLst>
          </p:cNvPr>
          <p:cNvCxnSpPr>
            <a:cxnSpLocks/>
          </p:cNvCxnSpPr>
          <p:nvPr/>
        </p:nvCxnSpPr>
        <p:spPr>
          <a:xfrm>
            <a:off x="2411760" y="2348880"/>
            <a:ext cx="4608512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3D688B1C-D36F-48A2-85A8-2DBA7B5B992E}"/>
              </a:ext>
            </a:extLst>
          </p:cNvPr>
          <p:cNvCxnSpPr>
            <a:cxnSpLocks/>
          </p:cNvCxnSpPr>
          <p:nvPr/>
        </p:nvCxnSpPr>
        <p:spPr>
          <a:xfrm>
            <a:off x="3326600" y="2348445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850EDBE-EB30-43F2-ADAF-9580EF383010}"/>
              </a:ext>
            </a:extLst>
          </p:cNvPr>
          <p:cNvCxnSpPr>
            <a:cxnSpLocks/>
          </p:cNvCxnSpPr>
          <p:nvPr/>
        </p:nvCxnSpPr>
        <p:spPr>
          <a:xfrm>
            <a:off x="4572000" y="2348444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DDFD80A3-ADCB-46EB-B1CC-387F20F5B338}"/>
              </a:ext>
            </a:extLst>
          </p:cNvPr>
          <p:cNvCxnSpPr>
            <a:cxnSpLocks/>
          </p:cNvCxnSpPr>
          <p:nvPr/>
        </p:nvCxnSpPr>
        <p:spPr>
          <a:xfrm>
            <a:off x="5810311" y="2348443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D2EC76C1-181E-4BA4-8D7F-C70A57C3BAC7}"/>
              </a:ext>
            </a:extLst>
          </p:cNvPr>
          <p:cNvCxnSpPr>
            <a:cxnSpLocks/>
          </p:cNvCxnSpPr>
          <p:nvPr/>
        </p:nvCxnSpPr>
        <p:spPr>
          <a:xfrm>
            <a:off x="7018116" y="2348442"/>
            <a:ext cx="0" cy="792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A1EA0997-3723-4348-B2CD-9650EB22F38D}"/>
              </a:ext>
            </a:extLst>
          </p:cNvPr>
          <p:cNvSpPr txBox="1"/>
          <p:nvPr/>
        </p:nvSpPr>
        <p:spPr>
          <a:xfrm>
            <a:off x="1794434" y="2215897"/>
            <a:ext cx="599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R/-W#</a:t>
            </a:r>
            <a:endParaRPr lang="zh-CN" altLang="en-US" sz="1200" b="1" baseline="-25000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41C30199-2145-4B36-9616-D99BE5AE2BF7}"/>
              </a:ext>
            </a:extLst>
          </p:cNvPr>
          <p:cNvSpPr txBox="1"/>
          <p:nvPr/>
        </p:nvSpPr>
        <p:spPr>
          <a:xfrm>
            <a:off x="3178789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504C829-D2A1-489C-B108-54000C12913D}"/>
              </a:ext>
            </a:extLst>
          </p:cNvPr>
          <p:cNvSpPr txBox="1"/>
          <p:nvPr/>
        </p:nvSpPr>
        <p:spPr>
          <a:xfrm>
            <a:off x="4420743" y="3114388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AD24932-50B4-4930-A41B-B275185298CB}"/>
              </a:ext>
            </a:extLst>
          </p:cNvPr>
          <p:cNvSpPr txBox="1"/>
          <p:nvPr/>
        </p:nvSpPr>
        <p:spPr>
          <a:xfrm>
            <a:off x="5655511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4EC1CB6-F61B-438B-9BF4-FB4E008CDF6A}"/>
              </a:ext>
            </a:extLst>
          </p:cNvPr>
          <p:cNvSpPr txBox="1"/>
          <p:nvPr/>
        </p:nvSpPr>
        <p:spPr>
          <a:xfrm>
            <a:off x="6869015" y="3110577"/>
            <a:ext cx="309700" cy="1744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" b="1" baseline="-25000" dirty="0"/>
              <a:t>/WE</a:t>
            </a:r>
            <a:endParaRPr lang="zh-CN" altLang="en-US" sz="800" b="1" baseline="-25000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AF71AC71-8B7B-41F6-8180-98B1BD4A18AF}"/>
              </a:ext>
            </a:extLst>
          </p:cNvPr>
          <p:cNvSpPr/>
          <p:nvPr/>
        </p:nvSpPr>
        <p:spPr>
          <a:xfrm>
            <a:off x="3337233" y="1196752"/>
            <a:ext cx="4896543" cy="734762"/>
          </a:xfrm>
          <a:prstGeom prst="rect">
            <a:avLst/>
          </a:prstGeom>
          <a:solidFill>
            <a:srgbClr val="FFC0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693AE76B-C2D8-4D50-807C-BBEB4728A95E}"/>
              </a:ext>
            </a:extLst>
          </p:cNvPr>
          <p:cNvCxnSpPr>
            <a:cxnSpLocks/>
          </p:cNvCxnSpPr>
          <p:nvPr/>
        </p:nvCxnSpPr>
        <p:spPr>
          <a:xfrm>
            <a:off x="2411760" y="1431222"/>
            <a:ext cx="9148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54404A9D-DB89-43B2-BA97-B95FCBD2DCBB}"/>
              </a:ext>
            </a:extLst>
          </p:cNvPr>
          <p:cNvSpPr txBox="1"/>
          <p:nvPr/>
        </p:nvSpPr>
        <p:spPr>
          <a:xfrm>
            <a:off x="1783449" y="1268760"/>
            <a:ext cx="6613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MREQ#</a:t>
            </a:r>
            <a:endParaRPr lang="zh-CN" altLang="en-US" sz="1200" b="1" baseline="-25000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BE04A7A-2383-4295-83CA-01838B8B9B8F}"/>
              </a:ext>
            </a:extLst>
          </p:cNvPr>
          <p:cNvSpPr txBox="1"/>
          <p:nvPr/>
        </p:nvSpPr>
        <p:spPr>
          <a:xfrm>
            <a:off x="3314438" y="1295340"/>
            <a:ext cx="3465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OE</a:t>
            </a:r>
            <a:endParaRPr lang="zh-CN" altLang="en-US" sz="1100" b="1" dirty="0"/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C309876F-0ADF-4ECD-A98E-9EC27632F97A}"/>
              </a:ext>
            </a:extLst>
          </p:cNvPr>
          <p:cNvCxnSpPr>
            <a:cxnSpLocks/>
          </p:cNvCxnSpPr>
          <p:nvPr/>
        </p:nvCxnSpPr>
        <p:spPr>
          <a:xfrm>
            <a:off x="3995457" y="2148621"/>
            <a:ext cx="1216263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D7B5F753-AB62-42FE-B3C1-6E34E8279C52}"/>
              </a:ext>
            </a:extLst>
          </p:cNvPr>
          <p:cNvCxnSpPr>
            <a:cxnSpLocks/>
          </p:cNvCxnSpPr>
          <p:nvPr/>
        </p:nvCxnSpPr>
        <p:spPr>
          <a:xfrm>
            <a:off x="6452081" y="2153937"/>
            <a:ext cx="1216263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82" name="文本框 81">
            <a:extLst>
              <a:ext uri="{FF2B5EF4-FFF2-40B4-BE49-F238E27FC236}">
                <a16:creationId xmlns:a16="http://schemas.microsoft.com/office/drawing/2014/main" id="{C67CCF97-0521-43BB-A95D-C4AFCEFF0850}"/>
              </a:ext>
            </a:extLst>
          </p:cNvPr>
          <p:cNvSpPr txBox="1"/>
          <p:nvPr/>
        </p:nvSpPr>
        <p:spPr>
          <a:xfrm>
            <a:off x="5273108" y="1340768"/>
            <a:ext cx="9605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400" b="1" dirty="0"/>
              <a:t>1-2</a:t>
            </a:r>
            <a:r>
              <a:rPr lang="zh-CN" altLang="en-US" sz="1400" b="1" dirty="0"/>
              <a:t>译码器</a:t>
            </a: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93206C21-28AD-4AD9-9615-134DD7E4F966}"/>
              </a:ext>
            </a:extLst>
          </p:cNvPr>
          <p:cNvSpPr txBox="1"/>
          <p:nvPr/>
        </p:nvSpPr>
        <p:spPr>
          <a:xfrm>
            <a:off x="3846595" y="1682361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0</a:t>
            </a:r>
            <a:endParaRPr lang="zh-CN" altLang="en-US" sz="1000" b="1" baseline="-25000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31A9B80-9F83-4ED8-A0C8-33A5BB45FF5B}"/>
              </a:ext>
            </a:extLst>
          </p:cNvPr>
          <p:cNvSpPr txBox="1"/>
          <p:nvPr/>
        </p:nvSpPr>
        <p:spPr>
          <a:xfrm>
            <a:off x="6298266" y="1700808"/>
            <a:ext cx="2952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Y</a:t>
            </a:r>
            <a:r>
              <a:rPr lang="en-US" altLang="zh-CN" sz="1000" b="1" baseline="-25000" dirty="0"/>
              <a:t>1</a:t>
            </a:r>
            <a:endParaRPr lang="zh-CN" altLang="en-US" sz="1000" b="1" baseline="-25000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460AF4EA-68B3-4958-A64D-8BB2174730E8}"/>
              </a:ext>
            </a:extLst>
          </p:cNvPr>
          <p:cNvSpPr txBox="1"/>
          <p:nvPr/>
        </p:nvSpPr>
        <p:spPr>
          <a:xfrm>
            <a:off x="3330836" y="1598961"/>
            <a:ext cx="2616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000" b="1" dirty="0"/>
              <a:t>A</a:t>
            </a:r>
            <a:endParaRPr lang="zh-CN" altLang="en-US" sz="1000" b="1" baseline="-250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778D47D-30D7-428A-ACC7-C7FEED04EACC}"/>
              </a:ext>
            </a:extLst>
          </p:cNvPr>
          <p:cNvSpPr txBox="1"/>
          <p:nvPr/>
        </p:nvSpPr>
        <p:spPr>
          <a:xfrm>
            <a:off x="2885595" y="4995755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32Kx8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69E60236-792F-4589-8B03-922648F2C9BF}"/>
              </a:ext>
            </a:extLst>
          </p:cNvPr>
          <p:cNvSpPr txBox="1"/>
          <p:nvPr/>
        </p:nvSpPr>
        <p:spPr>
          <a:xfrm>
            <a:off x="5516763" y="4995755"/>
            <a:ext cx="2217273" cy="116955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1400" b="1" dirty="0"/>
              <a:t>64Kx16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地址线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数据线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 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）</a:t>
            </a:r>
          </a:p>
        </p:txBody>
      </p:sp>
      <p:sp>
        <p:nvSpPr>
          <p:cNvPr id="77" name="对话气泡: 圆角矩形 76">
            <a:extLst>
              <a:ext uri="{FF2B5EF4-FFF2-40B4-BE49-F238E27FC236}">
                <a16:creationId xmlns:a16="http://schemas.microsoft.com/office/drawing/2014/main" id="{B06A137E-1B4A-4692-8562-C80E554A22B7}"/>
              </a:ext>
            </a:extLst>
          </p:cNvPr>
          <p:cNvSpPr/>
          <p:nvPr/>
        </p:nvSpPr>
        <p:spPr>
          <a:xfrm>
            <a:off x="61660" y="1134174"/>
            <a:ext cx="1287182" cy="1214513"/>
          </a:xfrm>
          <a:prstGeom prst="wedgeRoundRectCallout">
            <a:avLst>
              <a:gd name="adj1" fmla="val 102788"/>
              <a:gd name="adj2" fmla="val -10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A15=0</a:t>
            </a:r>
            <a:r>
              <a:rPr lang="zh-CN" altLang="en-US" sz="1600" dirty="0"/>
              <a:t>，选中前</a:t>
            </a:r>
            <a:r>
              <a:rPr lang="en-US" altLang="zh-CN" sz="1600" dirty="0"/>
              <a:t>2</a:t>
            </a:r>
            <a:r>
              <a:rPr lang="zh-CN" altLang="en-US" sz="1600" dirty="0"/>
              <a:t>片</a:t>
            </a:r>
            <a:endParaRPr lang="en-US" altLang="zh-CN" sz="1600" dirty="0"/>
          </a:p>
          <a:p>
            <a:r>
              <a:rPr lang="en-US" altLang="zh-CN" sz="1600" dirty="0"/>
              <a:t>A15=1</a:t>
            </a:r>
            <a:r>
              <a:rPr lang="zh-CN" altLang="en-US" sz="1600" dirty="0"/>
              <a:t>，</a:t>
            </a:r>
            <a:endParaRPr lang="en-US" altLang="zh-CN" sz="1600" dirty="0"/>
          </a:p>
          <a:p>
            <a:r>
              <a:rPr lang="zh-CN" altLang="en-US" sz="1600" dirty="0"/>
              <a:t>选中后</a:t>
            </a:r>
            <a:r>
              <a:rPr lang="en-US" altLang="zh-CN" sz="1600" dirty="0"/>
              <a:t>2</a:t>
            </a:r>
            <a:r>
              <a:rPr lang="zh-CN" altLang="en-US" sz="1600" dirty="0"/>
              <a:t>片</a:t>
            </a: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39DCC3A-9867-49B8-BD01-DD2A546EB355}"/>
              </a:ext>
            </a:extLst>
          </p:cNvPr>
          <p:cNvSpPr txBox="1"/>
          <p:nvPr/>
        </p:nvSpPr>
        <p:spPr>
          <a:xfrm>
            <a:off x="3245869" y="3857236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D7~D0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96A5DAFB-437F-47A3-B567-545486D575B1}"/>
              </a:ext>
            </a:extLst>
          </p:cNvPr>
          <p:cNvSpPr txBox="1"/>
          <p:nvPr/>
        </p:nvSpPr>
        <p:spPr>
          <a:xfrm>
            <a:off x="4496577" y="3905130"/>
            <a:ext cx="430887" cy="73343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D15~8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A77FF754-CAB2-41A5-920E-C353DE7A2640}"/>
              </a:ext>
            </a:extLst>
          </p:cNvPr>
          <p:cNvSpPr txBox="1"/>
          <p:nvPr/>
        </p:nvSpPr>
        <p:spPr>
          <a:xfrm>
            <a:off x="5756134" y="3860171"/>
            <a:ext cx="430887" cy="80691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D23~16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6BE5055-E7A0-413B-B1DA-E2CC95FD0B7F}"/>
              </a:ext>
            </a:extLst>
          </p:cNvPr>
          <p:cNvSpPr txBox="1"/>
          <p:nvPr/>
        </p:nvSpPr>
        <p:spPr>
          <a:xfrm>
            <a:off x="6938513" y="3882448"/>
            <a:ext cx="430887" cy="7612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1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D31~24</a:t>
            </a:r>
            <a:endParaRPr lang="zh-CN" altLang="en-US" sz="1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93688F0-7450-48B6-8BE1-2F4C67F55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0573" y="111409"/>
            <a:ext cx="2377646" cy="1310754"/>
          </a:xfrm>
          <a:prstGeom prst="rect">
            <a:avLst/>
          </a:prstGeom>
        </p:spPr>
      </p:pic>
      <p:sp>
        <p:nvSpPr>
          <p:cNvPr id="89" name="对话气泡: 圆角矩形 88">
            <a:extLst>
              <a:ext uri="{FF2B5EF4-FFF2-40B4-BE49-F238E27FC236}">
                <a16:creationId xmlns:a16="http://schemas.microsoft.com/office/drawing/2014/main" id="{84D49943-C6D8-4230-A96D-E84769CF560B}"/>
              </a:ext>
            </a:extLst>
          </p:cNvPr>
          <p:cNvSpPr/>
          <p:nvPr/>
        </p:nvSpPr>
        <p:spPr>
          <a:xfrm>
            <a:off x="175239" y="4134631"/>
            <a:ext cx="1122982" cy="747096"/>
          </a:xfrm>
          <a:prstGeom prst="wedgeRoundRectCallout">
            <a:avLst>
              <a:gd name="adj1" fmla="val 81931"/>
              <a:gd name="adj2" fmla="val 310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数据线</a:t>
            </a:r>
            <a:endParaRPr lang="en-US" altLang="zh-CN" sz="1600" dirty="0"/>
          </a:p>
          <a:p>
            <a:pPr algn="ctr"/>
            <a:r>
              <a:rPr lang="zh-CN" altLang="en-US" sz="1600" dirty="0"/>
              <a:t>分成</a:t>
            </a:r>
            <a:r>
              <a:rPr lang="en-US" altLang="zh-CN" sz="1600" dirty="0"/>
              <a:t>4</a:t>
            </a:r>
            <a:r>
              <a:rPr lang="zh-CN" altLang="en-US" sz="1600" dirty="0"/>
              <a:t>组</a:t>
            </a:r>
          </a:p>
        </p:txBody>
      </p:sp>
    </p:spTree>
    <p:extLst>
      <p:ext uri="{BB962C8B-B14F-4D97-AF65-F5344CB8AC3E}">
        <p14:creationId xmlns:p14="http://schemas.microsoft.com/office/powerpoint/2010/main" val="322230952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CAF9A10-1171-4671-9746-165A1A4C51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77" r="2282"/>
          <a:stretch/>
        </p:blipFill>
        <p:spPr>
          <a:xfrm>
            <a:off x="251520" y="188640"/>
            <a:ext cx="8784976" cy="26642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8F6809A-BB5B-4D1F-AD44-F6B06A6300D7}"/>
              </a:ext>
            </a:extLst>
          </p:cNvPr>
          <p:cNvSpPr txBox="1"/>
          <p:nvPr/>
        </p:nvSpPr>
        <p:spPr>
          <a:xfrm>
            <a:off x="459160" y="2556520"/>
            <a:ext cx="813690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+mn-lt"/>
                <a:ea typeface="+mn-ea"/>
              </a:rPr>
              <a:t>解答：</a:t>
            </a:r>
            <a:endParaRPr lang="en-US" altLang="zh-CN" sz="2000" b="1" dirty="0">
              <a:latin typeface="+mn-lt"/>
              <a:ea typeface="+mn-ea"/>
            </a:endParaRPr>
          </a:p>
          <a:p>
            <a:endParaRPr lang="en-US" altLang="zh-CN" sz="2000" b="1" dirty="0">
              <a:latin typeface="+mn-lt"/>
              <a:ea typeface="+mn-ea"/>
            </a:endParaRPr>
          </a:p>
          <a:p>
            <a:r>
              <a:rPr lang="zh-CN" altLang="en-US" sz="2000" b="1" dirty="0">
                <a:latin typeface="+mj-lt"/>
                <a:ea typeface="+mn-ea"/>
              </a:rPr>
              <a:t>题目需求：</a:t>
            </a:r>
            <a:r>
              <a:rPr lang="en-US" altLang="zh-CN" sz="2000" b="1" dirty="0">
                <a:latin typeface="+mj-lt"/>
                <a:ea typeface="+mn-ea"/>
              </a:rPr>
              <a:t>16K×256bit</a:t>
            </a:r>
          </a:p>
          <a:p>
            <a:endParaRPr lang="en-US" altLang="zh-CN" sz="2000" b="1" dirty="0">
              <a:latin typeface="+mj-lt"/>
              <a:ea typeface="+mn-ea"/>
            </a:endParaRPr>
          </a:p>
          <a:p>
            <a:r>
              <a:rPr lang="zh-CN" altLang="en-US" sz="2000" b="1" dirty="0">
                <a:latin typeface="+mj-lt"/>
                <a:ea typeface="+mn-ea"/>
              </a:rPr>
              <a:t>已知：  </a:t>
            </a:r>
            <a:r>
              <a:rPr lang="en-US" altLang="zh-CN" sz="2000" b="1" dirty="0">
                <a:latin typeface="+mj-lt"/>
                <a:ea typeface="+mn-ea"/>
              </a:rPr>
              <a:t>4K×32bit    4</a:t>
            </a:r>
            <a:r>
              <a:rPr lang="zh-CN" altLang="en-US" sz="2000" b="1" dirty="0">
                <a:latin typeface="+mj-lt"/>
                <a:ea typeface="+mn-ea"/>
              </a:rPr>
              <a:t>片</a:t>
            </a:r>
            <a:endParaRPr lang="en-US" altLang="zh-CN" sz="2000" b="1" dirty="0">
              <a:latin typeface="+mj-lt"/>
              <a:ea typeface="+mn-ea"/>
            </a:endParaRPr>
          </a:p>
          <a:p>
            <a:r>
              <a:rPr lang="en-US" altLang="zh-CN" sz="2000" b="1" dirty="0">
                <a:latin typeface="+mj-lt"/>
                <a:ea typeface="+mn-ea"/>
              </a:rPr>
              <a:t>               16K×32bit   7</a:t>
            </a:r>
            <a:r>
              <a:rPr lang="zh-CN" altLang="en-US" sz="2000" b="1" dirty="0">
                <a:latin typeface="+mj-lt"/>
                <a:ea typeface="+mn-ea"/>
              </a:rPr>
              <a:t>片</a:t>
            </a:r>
            <a:endParaRPr lang="en-US" altLang="zh-CN" sz="2000" b="1" dirty="0">
              <a:latin typeface="+mj-lt"/>
              <a:ea typeface="+mn-ea"/>
            </a:endParaRPr>
          </a:p>
          <a:p>
            <a:endParaRPr lang="en-US" altLang="zh-CN" sz="2000" b="1" dirty="0">
              <a:latin typeface="+mj-lt"/>
              <a:ea typeface="+mn-ea"/>
            </a:endParaRPr>
          </a:p>
          <a:p>
            <a:r>
              <a:rPr lang="zh-CN" altLang="en-US" sz="2000" b="1" dirty="0">
                <a:latin typeface="+mj-lt"/>
                <a:ea typeface="+mn-ea"/>
              </a:rPr>
              <a:t>如何扩展？</a:t>
            </a:r>
            <a:endParaRPr lang="en-US" altLang="zh-CN" sz="2000" b="1" dirty="0">
              <a:latin typeface="+mj-lt"/>
              <a:ea typeface="+mn-ea"/>
            </a:endParaRPr>
          </a:p>
          <a:p>
            <a:r>
              <a:rPr lang="zh-CN" altLang="en-US" sz="2000" b="1" dirty="0">
                <a:latin typeface="+mj-lt"/>
                <a:ea typeface="+mn-ea"/>
              </a:rPr>
              <a:t> </a:t>
            </a:r>
            <a:r>
              <a:rPr lang="en-US" altLang="zh-CN" sz="2000" b="1" dirty="0">
                <a:latin typeface="+mj-lt"/>
                <a:ea typeface="+mn-ea"/>
              </a:rPr>
              <a:t>4K×32bit             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  <a:ea typeface="+mn-ea"/>
              </a:rPr>
              <a:t> 16K</a:t>
            </a:r>
            <a:r>
              <a:rPr lang="en-US" altLang="zh-CN" sz="2000" b="1" dirty="0">
                <a:latin typeface="+mj-lt"/>
                <a:ea typeface="+mn-ea"/>
              </a:rPr>
              <a:t>×32bit   4</a:t>
            </a:r>
            <a:r>
              <a:rPr lang="zh-CN" altLang="en-US" sz="2000" b="1" dirty="0">
                <a:latin typeface="+mj-lt"/>
                <a:ea typeface="+mn-ea"/>
              </a:rPr>
              <a:t>片串联进行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  <a:ea typeface="+mn-ea"/>
              </a:rPr>
              <a:t>字扩</a:t>
            </a:r>
            <a:r>
              <a:rPr lang="en-US" altLang="zh-CN" sz="2000" b="1" dirty="0">
                <a:latin typeface="+mj-lt"/>
                <a:ea typeface="+mn-ea"/>
              </a:rPr>
              <a:t>                    </a:t>
            </a:r>
          </a:p>
          <a:p>
            <a:r>
              <a:rPr lang="en-US" altLang="zh-CN" sz="2800" b="1" dirty="0">
                <a:latin typeface="+mj-lt"/>
                <a:ea typeface="+mn-ea"/>
              </a:rPr>
              <a:t>        </a:t>
            </a:r>
          </a:p>
          <a:p>
            <a:r>
              <a:rPr lang="en-US" altLang="zh-CN" sz="2000" b="1" dirty="0">
                <a:latin typeface="+mj-lt"/>
                <a:ea typeface="+mn-ea"/>
              </a:rPr>
              <a:t>16K×32bit              16K×</a:t>
            </a:r>
            <a:r>
              <a:rPr lang="en-US" altLang="zh-CN" sz="2000" b="1" dirty="0">
                <a:solidFill>
                  <a:srgbClr val="C00000"/>
                </a:solidFill>
                <a:latin typeface="+mj-lt"/>
                <a:ea typeface="+mn-ea"/>
              </a:rPr>
              <a:t>224bit</a:t>
            </a:r>
            <a:r>
              <a:rPr lang="en-US" altLang="zh-CN" sz="2000" b="1" dirty="0">
                <a:latin typeface="+mj-lt"/>
                <a:ea typeface="+mn-ea"/>
              </a:rPr>
              <a:t>   7</a:t>
            </a:r>
            <a:r>
              <a:rPr lang="zh-CN" altLang="en-US" sz="2000" b="1" dirty="0">
                <a:latin typeface="+mj-lt"/>
                <a:ea typeface="+mn-ea"/>
              </a:rPr>
              <a:t>片并联进行</a:t>
            </a:r>
            <a:r>
              <a:rPr lang="zh-CN" altLang="en-US" sz="2000" b="1" dirty="0">
                <a:solidFill>
                  <a:srgbClr val="C00000"/>
                </a:solidFill>
                <a:latin typeface="+mj-lt"/>
                <a:ea typeface="+mn-ea"/>
              </a:rPr>
              <a:t>位扩</a:t>
            </a:r>
            <a:endParaRPr lang="en-US" altLang="zh-CN" sz="2800" dirty="0"/>
          </a:p>
          <a:p>
            <a:endParaRPr lang="zh-CN" altLang="en-US" sz="2800" dirty="0"/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7697DE91-691A-4FDE-841C-0612A0EA6410}"/>
              </a:ext>
            </a:extLst>
          </p:cNvPr>
          <p:cNvSpPr/>
          <p:nvPr/>
        </p:nvSpPr>
        <p:spPr>
          <a:xfrm>
            <a:off x="1835696" y="4949552"/>
            <a:ext cx="576064" cy="42366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A744169-1AB8-466C-862E-9F2AAEC1DE79}"/>
              </a:ext>
            </a:extLst>
          </p:cNvPr>
          <p:cNvSpPr/>
          <p:nvPr/>
        </p:nvSpPr>
        <p:spPr>
          <a:xfrm>
            <a:off x="5868144" y="5274350"/>
            <a:ext cx="648072" cy="42366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7150D85-6006-42E0-B655-8F7DD9F72AF2}"/>
              </a:ext>
            </a:extLst>
          </p:cNvPr>
          <p:cNvSpPr/>
          <p:nvPr/>
        </p:nvSpPr>
        <p:spPr>
          <a:xfrm>
            <a:off x="1835696" y="5698014"/>
            <a:ext cx="648072" cy="423664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B23ACD7-4D09-4D5B-B664-076CB2AA9C4C}"/>
              </a:ext>
            </a:extLst>
          </p:cNvPr>
          <p:cNvSpPr txBox="1"/>
          <p:nvPr/>
        </p:nvSpPr>
        <p:spPr>
          <a:xfrm>
            <a:off x="6595800" y="5220816"/>
            <a:ext cx="1903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位扩</a:t>
            </a:r>
            <a:r>
              <a:rPr lang="zh-CN" altLang="en-US" b="1" dirty="0"/>
              <a:t>成</a:t>
            </a:r>
            <a:r>
              <a:rPr lang="en-US" altLang="zh-CN" b="1" dirty="0"/>
              <a:t>16K×256bit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905995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BDF2666-A1B2-4003-A916-D4DFF0D3B0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4664"/>
            <a:ext cx="9144000" cy="4035441"/>
          </a:xfrm>
          <a:prstGeom prst="rect">
            <a:avLst/>
          </a:prstGeom>
        </p:spPr>
      </p:pic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9E32D334-91CA-4B82-B102-FFA2D390C471}"/>
              </a:ext>
            </a:extLst>
          </p:cNvPr>
          <p:cNvSpPr/>
          <p:nvPr/>
        </p:nvSpPr>
        <p:spPr>
          <a:xfrm>
            <a:off x="3203848" y="4440105"/>
            <a:ext cx="4032448" cy="576064"/>
          </a:xfrm>
          <a:prstGeom prst="wedgeRoundRectCallout">
            <a:avLst>
              <a:gd name="adj1" fmla="val -23600"/>
              <a:gd name="adj2" fmla="val -1117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/>
              <a:t>实际设计中，由于对地址范围没有明确约定，故此处</a:t>
            </a:r>
            <a:r>
              <a:rPr lang="en-US" altLang="zh-CN" b="1" dirty="0"/>
              <a:t>Di</a:t>
            </a:r>
            <a:r>
              <a:rPr lang="zh-CN" altLang="en-US" b="1" dirty="0"/>
              <a:t>可任意选择其一</a:t>
            </a:r>
          </a:p>
        </p:txBody>
      </p:sp>
    </p:spTree>
    <p:extLst>
      <p:ext uri="{BB962C8B-B14F-4D97-AF65-F5344CB8AC3E}">
        <p14:creationId xmlns:p14="http://schemas.microsoft.com/office/powerpoint/2010/main" val="26364426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FA8B4-6A12-4056-9C00-A57EBF35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6552728"/>
          </a:xfrm>
        </p:spPr>
        <p:txBody>
          <a:bodyPr/>
          <a:lstStyle/>
          <a:p>
            <a:r>
              <a:rPr lang="zh-CN" altLang="en-US" sz="1600" b="1" dirty="0">
                <a:solidFill>
                  <a:srgbClr val="C00000"/>
                </a:solidFill>
              </a:rPr>
              <a:t>（补充）习题</a:t>
            </a:r>
            <a:r>
              <a:rPr lang="en-US" altLang="zh-CN" sz="1600" b="1" dirty="0">
                <a:solidFill>
                  <a:srgbClr val="C00000"/>
                </a:solidFill>
              </a:rPr>
              <a:t>4.7    </a:t>
            </a:r>
            <a:r>
              <a:rPr lang="zh-CN" altLang="en-US" sz="1600" b="1" dirty="0"/>
              <a:t>某计算机字长为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位，请用</a:t>
            </a:r>
            <a:r>
              <a:rPr lang="en-US" altLang="zh-CN" sz="1600" b="1" dirty="0"/>
              <a:t>16Kx8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SRAM</a:t>
            </a:r>
            <a:r>
              <a:rPr lang="zh-CN" altLang="en-US" sz="1600" b="1" dirty="0"/>
              <a:t>芯片和</a:t>
            </a:r>
            <a:r>
              <a:rPr lang="en-US" altLang="zh-CN" sz="1600" b="1" dirty="0"/>
              <a:t>32Kx16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芯片，为该计算机设计一个主存储器，其容量为</a:t>
            </a:r>
            <a:r>
              <a:rPr lang="en-US" altLang="zh-CN" sz="1600" b="1" dirty="0">
                <a:solidFill>
                  <a:srgbClr val="C00000"/>
                </a:solidFill>
              </a:rPr>
              <a:t>128Kx16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。要求</a:t>
            </a:r>
            <a:r>
              <a:rPr lang="en-US" altLang="zh-CN" sz="1600" b="1" dirty="0"/>
              <a:t>18000H</a:t>
            </a:r>
            <a:r>
              <a:rPr lang="zh-CN" altLang="en-US" sz="1600" b="1" dirty="0"/>
              <a:t>到</a:t>
            </a:r>
            <a:r>
              <a:rPr lang="en-US" altLang="zh-CN" sz="1600" b="1" dirty="0"/>
              <a:t>1FFFFH</a:t>
            </a:r>
            <a:r>
              <a:rPr lang="zh-CN" altLang="en-US" sz="1600" b="1" dirty="0"/>
              <a:t>为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区，其余为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区。画出存储器与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的连接。</a:t>
            </a:r>
            <a:endParaRPr lang="en-US" altLang="zh-CN" sz="1600" b="1" dirty="0"/>
          </a:p>
          <a:p>
            <a:endParaRPr lang="en-US" altLang="zh-CN" sz="1600" b="1" dirty="0"/>
          </a:p>
          <a:p>
            <a:r>
              <a:rPr lang="zh-CN" altLang="en-US" sz="1600" b="1" dirty="0"/>
              <a:t>解：</a:t>
            </a:r>
            <a:endParaRPr lang="en-US" altLang="zh-CN" sz="2000" b="1" dirty="0"/>
          </a:p>
          <a:p>
            <a:pPr lvl="1"/>
            <a:r>
              <a:rPr lang="en-US" altLang="zh-CN" sz="1400" b="1" dirty="0"/>
              <a:t>18000H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1FFFFH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区；因此，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区的容量</a:t>
            </a:r>
            <a:r>
              <a:rPr lang="en-US" altLang="zh-CN" sz="1400" b="1" dirty="0"/>
              <a:t>=32Kx16</a:t>
            </a:r>
            <a:r>
              <a:rPr lang="zh-CN" altLang="en-US" sz="1400" b="1" dirty="0"/>
              <a:t>位，需要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/>
              <a:t>32Kx16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</a:t>
            </a:r>
            <a:endParaRPr lang="en-US" altLang="zh-CN" sz="1400" b="1" dirty="0"/>
          </a:p>
          <a:p>
            <a:pPr lvl="1"/>
            <a:r>
              <a:rPr lang="en-US" altLang="zh-CN" sz="1400" b="1" dirty="0"/>
              <a:t>RAM</a:t>
            </a:r>
            <a:r>
              <a:rPr lang="zh-CN" altLang="en-US" sz="1400" b="1" dirty="0"/>
              <a:t>区的容量</a:t>
            </a:r>
            <a:r>
              <a:rPr lang="en-US" altLang="zh-CN" sz="1400" b="1" dirty="0"/>
              <a:t>=128Kx16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-32Kx16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=96Kx16</a:t>
            </a:r>
            <a:r>
              <a:rPr lang="zh-CN" altLang="en-US" sz="1400" b="1" dirty="0"/>
              <a:t>位，需要</a:t>
            </a:r>
            <a:r>
              <a:rPr lang="en-US" altLang="zh-CN" sz="1400" b="1" dirty="0"/>
              <a:t>(96Kx16)/(16Kx8)=</a:t>
            </a:r>
            <a:r>
              <a:rPr lang="en-US" altLang="zh-CN" sz="1400" b="1" dirty="0">
                <a:solidFill>
                  <a:srgbClr val="C00000"/>
                </a:solidFill>
              </a:rPr>
              <a:t>12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/>
              <a:t>16Kx8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RAM</a:t>
            </a:r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字位</a:t>
            </a:r>
            <a:r>
              <a:rPr lang="zh-CN" altLang="en-US" sz="1400" b="1" dirty="0"/>
              <a:t>同时扩展：</a:t>
            </a:r>
            <a:r>
              <a:rPr lang="en-US" altLang="zh-CN" sz="1400" b="1" dirty="0"/>
              <a:t>16K -&gt; 96K</a:t>
            </a:r>
            <a:r>
              <a:rPr lang="zh-CN" altLang="en-US" sz="1400" b="1" dirty="0"/>
              <a:t>（</a:t>
            </a:r>
            <a:r>
              <a:rPr lang="zh-CN" altLang="en-US" sz="1400" b="1" dirty="0">
                <a:solidFill>
                  <a:srgbClr val="C00000"/>
                </a:solidFill>
              </a:rPr>
              <a:t>字扩展，</a:t>
            </a:r>
            <a:r>
              <a:rPr lang="en-US" altLang="zh-CN" sz="1400" b="1" dirty="0">
                <a:solidFill>
                  <a:srgbClr val="C00000"/>
                </a:solidFill>
              </a:rPr>
              <a:t>6</a:t>
            </a:r>
            <a:r>
              <a:rPr lang="zh-CN" altLang="en-US" sz="1400" b="1" dirty="0">
                <a:solidFill>
                  <a:srgbClr val="C00000"/>
                </a:solidFill>
              </a:rPr>
              <a:t>组片选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 </a:t>
            </a:r>
            <a:r>
              <a:rPr lang="en-US" altLang="zh-CN" sz="1400" b="1" dirty="0"/>
              <a:t>-&gt; 16</a:t>
            </a:r>
            <a:r>
              <a:rPr lang="zh-CN" altLang="en-US" sz="1400" b="1" dirty="0"/>
              <a:t>位（</a:t>
            </a:r>
            <a:r>
              <a:rPr lang="zh-CN" altLang="en-US" sz="1400" b="1" dirty="0">
                <a:solidFill>
                  <a:srgbClr val="C00000"/>
                </a:solidFill>
              </a:rPr>
              <a:t>位扩展，</a:t>
            </a:r>
            <a:r>
              <a:rPr lang="en-US" altLang="zh-CN" sz="1400" b="1" dirty="0">
                <a:solidFill>
                  <a:srgbClr val="C00000"/>
                </a:solidFill>
              </a:rPr>
              <a:t>2</a:t>
            </a:r>
            <a:r>
              <a:rPr lang="zh-CN" altLang="en-US" sz="1400" b="1" dirty="0">
                <a:solidFill>
                  <a:srgbClr val="C00000"/>
                </a:solidFill>
              </a:rPr>
              <a:t>片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</a:rPr>
              <a:t>组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/>
            <a:r>
              <a:rPr lang="en-US" altLang="zh-CN" sz="1400" b="1" dirty="0"/>
              <a:t>32Kx16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芯片，地址线</a:t>
            </a:r>
            <a:r>
              <a:rPr lang="en-US" altLang="zh-CN" sz="1400" b="1" dirty="0"/>
              <a:t>=15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），数据线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15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 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16Kx8</a:t>
            </a:r>
            <a:r>
              <a:rPr lang="zh-CN" altLang="en-US" sz="1400" b="1" dirty="0"/>
              <a:t>位的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芯片，地址线</a:t>
            </a:r>
            <a:r>
              <a:rPr lang="en-US" altLang="zh-CN" sz="1400" b="1" dirty="0"/>
              <a:t>=14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），数据线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根（</a:t>
            </a:r>
            <a:r>
              <a:rPr lang="en-US" altLang="zh-CN" sz="1400" b="1" dirty="0"/>
              <a:t>D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D</a:t>
            </a:r>
            <a:r>
              <a:rPr lang="en-US" altLang="zh-CN" sz="1400" b="1" baseline="-25000" dirty="0"/>
              <a:t>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/>
            <a:r>
              <a:rPr lang="en-US" altLang="zh-CN" sz="1400" b="1" dirty="0"/>
              <a:t>128Kx16</a:t>
            </a:r>
            <a:r>
              <a:rPr lang="zh-CN" altLang="en-US" sz="1400" b="1" dirty="0"/>
              <a:t>位的地址空间为：</a:t>
            </a:r>
            <a:r>
              <a:rPr lang="en-US" altLang="zh-CN" sz="1400" b="1" dirty="0"/>
              <a:t>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，其中</a:t>
            </a:r>
            <a:r>
              <a:rPr lang="en-US" altLang="zh-CN" sz="1400" b="1" dirty="0"/>
              <a:t>00000H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17</a:t>
            </a:r>
            <a:r>
              <a:rPr lang="en-US" altLang="zh-CN" sz="1400" b="1" dirty="0"/>
              <a:t>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空间，</a:t>
            </a:r>
            <a:r>
              <a:rPr lang="en-US" altLang="zh-CN" sz="1400" b="1" dirty="0"/>
              <a:t>18000H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</a:t>
            </a:r>
            <a:r>
              <a:rPr lang="en-US" altLang="zh-CN" sz="1400" b="1" dirty="0"/>
              <a:t>FFFFH</a:t>
            </a:r>
            <a:r>
              <a:rPr lang="zh-CN" altLang="en-US" sz="1400" b="1" dirty="0"/>
              <a:t>为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空间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00 0000 0000 0000 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（第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01 </a:t>
            </a:r>
            <a:r>
              <a:rPr lang="en-US" altLang="zh-CN" sz="1600" b="1" dirty="0"/>
              <a:t>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>
                <a:solidFill>
                  <a:srgbClr val="C00000"/>
                </a:solidFill>
              </a:rPr>
              <a:t>  0 </a:t>
            </a:r>
            <a:r>
              <a:rPr lang="en-US" altLang="zh-CN" sz="1600" b="1" dirty="0">
                <a:solidFill>
                  <a:srgbClr val="00B050"/>
                </a:solidFill>
              </a:rPr>
              <a:t>01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 （第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00B050"/>
                </a:solidFill>
              </a:rPr>
              <a:t> 10 </a:t>
            </a:r>
            <a:r>
              <a:rPr lang="en-US" altLang="zh-CN" sz="1600" b="1" dirty="0"/>
              <a:t>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  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10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 （第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11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  </a:t>
            </a:r>
            <a:r>
              <a:rPr lang="en-US" altLang="zh-CN" sz="1600" b="1" dirty="0">
                <a:solidFill>
                  <a:srgbClr val="C00000"/>
                </a:solidFill>
              </a:rPr>
              <a:t>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11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7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 （第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  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00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10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 （第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1 </a:t>
            </a:r>
            <a:r>
              <a:rPr lang="en-US" altLang="zh-CN" sz="1600" b="1" dirty="0">
                <a:solidFill>
                  <a:srgbClr val="00B050"/>
                </a:solidFill>
              </a:rPr>
              <a:t>01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  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>
                <a:solidFill>
                  <a:srgbClr val="00B050"/>
                </a:solidFill>
              </a:rPr>
              <a:t>01</a:t>
            </a:r>
            <a:r>
              <a:rPr lang="en-US" altLang="zh-CN" sz="1600" b="1" dirty="0">
                <a:solidFill>
                  <a:srgbClr val="FF0000"/>
                </a:solidFill>
              </a:rPr>
              <a:t> </a:t>
            </a:r>
            <a:r>
              <a:rPr lang="en-US" altLang="zh-CN" sz="1600" b="1" dirty="0"/>
              <a:t>11 1111 1111 1111      </a:t>
            </a:r>
            <a:r>
              <a:rPr lang="zh-CN" altLang="en-US" sz="1600" b="1" dirty="0"/>
              <a:t>接第</a:t>
            </a:r>
            <a:r>
              <a:rPr lang="en-US" altLang="zh-CN" sz="1600" b="1" dirty="0"/>
              <a:t>11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RAM</a:t>
            </a:r>
            <a:r>
              <a:rPr lang="zh-CN" altLang="en-US" sz="1600" b="1" dirty="0"/>
              <a:t> （第</a:t>
            </a:r>
            <a:r>
              <a:rPr lang="en-US" altLang="zh-CN" sz="1600" b="1" dirty="0"/>
              <a:t>6</a:t>
            </a:r>
            <a:r>
              <a:rPr lang="zh-CN" altLang="en-US" sz="1600" b="1" dirty="0"/>
              <a:t>组）</a:t>
            </a:r>
            <a:endParaRPr lang="en-US" altLang="zh-CN" sz="1600" b="1" dirty="0"/>
          </a:p>
          <a:p>
            <a:pPr lvl="1"/>
            <a:r>
              <a:rPr lang="en-US" altLang="zh-CN" sz="1600" b="1" dirty="0"/>
              <a:t>1</a:t>
            </a:r>
            <a:r>
              <a:rPr lang="en-US" altLang="zh-CN" sz="1600" b="1" dirty="0">
                <a:solidFill>
                  <a:srgbClr val="7030A0"/>
                </a:solidFill>
              </a:rPr>
              <a:t> </a:t>
            </a:r>
            <a:r>
              <a:rPr lang="en-US" altLang="zh-CN" sz="1600" b="1" dirty="0"/>
              <a:t>1</a:t>
            </a:r>
            <a:r>
              <a:rPr lang="en-US" altLang="zh-CN" sz="1600" b="1" dirty="0">
                <a:solidFill>
                  <a:srgbClr val="C00000"/>
                </a:solidFill>
              </a:rPr>
              <a:t>000 0000 0000 0000 </a:t>
            </a:r>
            <a:r>
              <a:rPr lang="zh-CN" altLang="en-US" sz="1600" b="1" dirty="0"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  </a:t>
            </a:r>
            <a:r>
              <a:rPr lang="en-US" altLang="zh-CN" sz="1600" b="1" dirty="0">
                <a:solidFill>
                  <a:srgbClr val="7030A0"/>
                </a:solidFill>
              </a:rPr>
              <a:t>1 1</a:t>
            </a:r>
            <a:r>
              <a:rPr lang="en-US" altLang="zh-CN" sz="1600" b="1" dirty="0"/>
              <a:t>111 1111 1111 1111       </a:t>
            </a:r>
            <a:r>
              <a:rPr lang="zh-CN" altLang="en-US" sz="1600" b="1" dirty="0"/>
              <a:t>接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片</a:t>
            </a:r>
            <a:r>
              <a:rPr lang="en-US" altLang="zh-CN" sz="1600" b="1" dirty="0"/>
              <a:t>ROM</a:t>
            </a:r>
            <a:r>
              <a:rPr lang="zh-CN" altLang="en-US" sz="1600" b="1" dirty="0"/>
              <a:t>芯片（</a:t>
            </a:r>
            <a:r>
              <a:rPr lang="en-US" altLang="zh-CN" sz="1600" b="1" dirty="0"/>
              <a:t>32K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/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110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 0000 0000 0000~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110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11 1111 1111 1111     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前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16K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，片选高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为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110</a:t>
            </a:r>
          </a:p>
          <a:p>
            <a:pPr lvl="2"/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111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00 0000 0000 0000~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111</a:t>
            </a:r>
            <a:r>
              <a:rPr lang="en-US" altLang="zh-CN" sz="14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11 1111 1111 1111       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后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16K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，片选高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</a:t>
            </a:r>
            <a:r>
              <a:rPr lang="en-US" altLang="zh-CN" sz="14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111</a:t>
            </a:r>
          </a:p>
          <a:p>
            <a:pPr lvl="1"/>
            <a:endParaRPr lang="en-US" altLang="zh-CN" sz="2000" b="1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30C1B106-EBAB-4ECC-BD87-E60DCFE47C04}"/>
              </a:ext>
            </a:extLst>
          </p:cNvPr>
          <p:cNvSpPr/>
          <p:nvPr/>
        </p:nvSpPr>
        <p:spPr>
          <a:xfrm>
            <a:off x="5148064" y="764704"/>
            <a:ext cx="3096344" cy="576064"/>
          </a:xfrm>
          <a:prstGeom prst="wedgeRoundRectCallout">
            <a:avLst>
              <a:gd name="adj1" fmla="val -37242"/>
              <a:gd name="adj2" fmla="val 870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1FFFFH-18000H+1=8000H=1000 0000 0000 0000B=2^16=32K</a:t>
            </a:r>
            <a:endParaRPr lang="zh-CN" altLang="en-US" sz="1600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3F30926C-7F20-4BF3-B422-137BBE88532B}"/>
              </a:ext>
            </a:extLst>
          </p:cNvPr>
          <p:cNvCxnSpPr>
            <a:cxnSpLocks/>
          </p:cNvCxnSpPr>
          <p:nvPr/>
        </p:nvCxnSpPr>
        <p:spPr>
          <a:xfrm flipV="1">
            <a:off x="3707905" y="2060848"/>
            <a:ext cx="648072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6A236098-5456-4C72-9714-E71CDE8874A4}"/>
              </a:ext>
            </a:extLst>
          </p:cNvPr>
          <p:cNvCxnSpPr>
            <a:cxnSpLocks/>
          </p:cNvCxnSpPr>
          <p:nvPr/>
        </p:nvCxnSpPr>
        <p:spPr>
          <a:xfrm flipH="1" flipV="1">
            <a:off x="4788025" y="2060848"/>
            <a:ext cx="2088231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48F81D4E-8EDD-4C2D-B12E-4456EB47703C}"/>
              </a:ext>
            </a:extLst>
          </p:cNvPr>
          <p:cNvSpPr/>
          <p:nvPr/>
        </p:nvSpPr>
        <p:spPr>
          <a:xfrm>
            <a:off x="6300192" y="3693339"/>
            <a:ext cx="2664296" cy="504055"/>
          </a:xfrm>
          <a:prstGeom prst="wedgeRoundRectCallout">
            <a:avLst>
              <a:gd name="adj1" fmla="val -46475"/>
              <a:gd name="adj2" fmla="val -7528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96K=3*2^15=001 1 000 0 000 0 000 0 000=18000H-1=17FFFFH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25922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2BA06FE-B69E-4A5B-A8BF-1DD0D8F9E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848" y="165946"/>
            <a:ext cx="8229600" cy="4525963"/>
          </a:xfrm>
        </p:spPr>
        <p:txBody>
          <a:bodyPr/>
          <a:lstStyle/>
          <a:p>
            <a:pPr lvl="1"/>
            <a:r>
              <a:rPr lang="zh-CN" altLang="en-US" sz="1400" b="1" dirty="0"/>
              <a:t>选用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译码器，将</a:t>
            </a:r>
            <a:r>
              <a:rPr lang="en-US" altLang="zh-CN" sz="1400" b="1" dirty="0"/>
              <a:t>17</a:t>
            </a:r>
            <a:r>
              <a:rPr lang="zh-CN" altLang="en-US" sz="1400" b="1" dirty="0"/>
              <a:t>根地址线的高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 A</a:t>
            </a:r>
            <a:r>
              <a:rPr lang="en-US" altLang="zh-CN" sz="1400" b="1" baseline="-25000" dirty="0"/>
              <a:t>16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</a:t>
            </a:r>
            <a:r>
              <a:rPr lang="en-US" altLang="zh-CN" sz="1400" b="1" baseline="-25000" dirty="0"/>
              <a:t>14 </a:t>
            </a:r>
            <a:r>
              <a:rPr lang="zh-CN" altLang="en-US" sz="1400" b="1" dirty="0"/>
              <a:t>）接</a:t>
            </a:r>
            <a:r>
              <a:rPr lang="en-US" altLang="zh-CN" sz="1400" b="1" dirty="0"/>
              <a:t>3-8</a:t>
            </a:r>
            <a:r>
              <a:rPr lang="zh-CN" altLang="en-US" sz="1400" b="1" dirty="0"/>
              <a:t>译码器的输入（另一个输入为</a:t>
            </a:r>
            <a:r>
              <a:rPr lang="en-US" altLang="zh-CN" sz="1400" b="1" dirty="0"/>
              <a:t>MREQ#</a:t>
            </a:r>
            <a:r>
              <a:rPr lang="zh-CN" altLang="en-US" sz="1400" b="1" dirty="0"/>
              <a:t>）；译码器的输出为：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0</a:t>
            </a:r>
          </a:p>
          <a:p>
            <a:pPr lvl="1"/>
            <a:endParaRPr lang="en-US" altLang="zh-CN" sz="1400" b="1" baseline="-25000" dirty="0"/>
          </a:p>
          <a:p>
            <a:pPr lvl="1"/>
            <a:r>
              <a:rPr lang="zh-CN" altLang="en-US" sz="1400" b="1" dirty="0"/>
              <a:t>其中</a:t>
            </a:r>
            <a:r>
              <a:rPr lang="en-US" altLang="zh-CN" sz="1400" b="1" dirty="0"/>
              <a:t>Y</a:t>
            </a:r>
            <a:r>
              <a:rPr lang="en-US" altLang="zh-CN" sz="1400" b="1" baseline="-25000" dirty="0"/>
              <a:t>5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0 </a:t>
            </a:r>
            <a:r>
              <a:rPr lang="zh-CN" altLang="en-US" sz="1400" b="1" dirty="0"/>
              <a:t>分别接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组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芯片的片选，</a:t>
            </a:r>
            <a:r>
              <a:rPr lang="en-US" altLang="zh-CN" sz="1400" b="1" dirty="0"/>
              <a:t> Y</a:t>
            </a:r>
            <a:r>
              <a:rPr lang="en-US" altLang="zh-CN" sz="1400" b="1" baseline="-25000" dirty="0"/>
              <a:t>7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Y</a:t>
            </a:r>
            <a:r>
              <a:rPr lang="en-US" altLang="zh-CN" sz="1400" b="1" baseline="-25000" dirty="0"/>
              <a:t>6 </a:t>
            </a:r>
            <a:r>
              <a:rPr lang="zh-CN" altLang="en-US" sz="1400" b="1" dirty="0"/>
              <a:t>通过一个</a:t>
            </a:r>
            <a:r>
              <a:rPr lang="zh-CN" altLang="en-US" sz="1400" b="1" dirty="0">
                <a:solidFill>
                  <a:srgbClr val="C00000"/>
                </a:solidFill>
              </a:rPr>
              <a:t>或门</a:t>
            </a:r>
            <a:r>
              <a:rPr lang="zh-CN" altLang="en-US" sz="1400" b="1" dirty="0"/>
              <a:t>接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芯片的片选</a:t>
            </a:r>
            <a:endParaRPr lang="en-US" altLang="zh-CN" sz="1400" b="1" dirty="0"/>
          </a:p>
          <a:p>
            <a:pPr lvl="1"/>
            <a:endParaRPr lang="en-US" altLang="zh-CN" sz="1400" b="1" dirty="0"/>
          </a:p>
          <a:p>
            <a:pPr lvl="1"/>
            <a:r>
              <a:rPr lang="en-US" altLang="zh-CN" sz="1400" b="1" dirty="0"/>
              <a:t>17</a:t>
            </a:r>
            <a:r>
              <a:rPr lang="zh-CN" altLang="en-US" sz="1400" b="1" dirty="0"/>
              <a:t>根地址线的低</a:t>
            </a:r>
            <a:r>
              <a:rPr lang="en-US" altLang="zh-CN" sz="1400" b="1" dirty="0"/>
              <a:t>14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12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芯片，低</a:t>
            </a:r>
            <a:r>
              <a:rPr lang="en-US" altLang="zh-CN" sz="1400" b="1" dirty="0"/>
              <a:t>15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芯片；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位数据线的高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位接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芯片、低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位接另外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RAM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位数据线直接接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ROM</a:t>
            </a:r>
            <a:r>
              <a:rPr lang="zh-CN" altLang="en-US" sz="1400" b="1" dirty="0"/>
              <a:t>芯片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0B17784-5B3C-496A-A6D9-7340BD1340FC}"/>
              </a:ext>
            </a:extLst>
          </p:cNvPr>
          <p:cNvSpPr txBox="1"/>
          <p:nvPr/>
        </p:nvSpPr>
        <p:spPr>
          <a:xfrm>
            <a:off x="7319771" y="3655656"/>
            <a:ext cx="7200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1" dirty="0"/>
              <a:t>或门</a:t>
            </a:r>
            <a:endParaRPr lang="zh-CN" altLang="en-US" sz="6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7A664C-B2E7-4DE4-855B-1601B587D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348880"/>
            <a:ext cx="7766449" cy="416581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87747AF-0E42-4681-9D01-AFAD38254503}"/>
              </a:ext>
            </a:extLst>
          </p:cNvPr>
          <p:cNvSpPr txBox="1"/>
          <p:nvPr/>
        </p:nvSpPr>
        <p:spPr>
          <a:xfrm>
            <a:off x="2075553" y="5549128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8</a:t>
            </a:r>
            <a:endParaRPr lang="zh-CN" altLang="en-US" sz="12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7529A7F-9701-4AA5-B371-CEEBB553A4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0820" y="5504273"/>
            <a:ext cx="670072" cy="3139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FA3D3D3-3F3F-4AE2-BDE9-030D40EAF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2828" y="5355324"/>
            <a:ext cx="191020" cy="69510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6987828-0A48-4067-9E47-2ECD9B32B789}"/>
              </a:ext>
            </a:extLst>
          </p:cNvPr>
          <p:cNvSpPr txBox="1"/>
          <p:nvPr/>
        </p:nvSpPr>
        <p:spPr>
          <a:xfrm>
            <a:off x="3172173" y="5564375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0</a:t>
            </a:r>
            <a:endParaRPr lang="zh-CN" altLang="en-US" sz="1200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DE3B2DE1-58E2-4D9B-9DED-A744396CA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703" y="5504273"/>
            <a:ext cx="958899" cy="412771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E0B88E66-494C-4D78-A195-3D7A9814393B}"/>
              </a:ext>
            </a:extLst>
          </p:cNvPr>
          <p:cNvSpPr txBox="1"/>
          <p:nvPr/>
        </p:nvSpPr>
        <p:spPr>
          <a:xfrm>
            <a:off x="4771524" y="5561704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15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8</a:t>
            </a:r>
            <a:endParaRPr lang="zh-CN" altLang="en-US" sz="1200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1A28941-9D9B-40B4-B9C3-DE275370F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799" y="5367900"/>
            <a:ext cx="191020" cy="69510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685E9A85-FF85-42D5-8140-9BF2A9ACD013}"/>
              </a:ext>
            </a:extLst>
          </p:cNvPr>
          <p:cNvSpPr txBox="1"/>
          <p:nvPr/>
        </p:nvSpPr>
        <p:spPr>
          <a:xfrm>
            <a:off x="5868144" y="5576951"/>
            <a:ext cx="7200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1" dirty="0"/>
              <a:t>D</a:t>
            </a:r>
            <a:r>
              <a:rPr lang="en-US" altLang="zh-CN" sz="1200" b="1" baseline="-25000" dirty="0"/>
              <a:t>7</a:t>
            </a:r>
            <a:r>
              <a:rPr lang="zh-CN" altLang="en-US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200" b="1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1200" b="1" baseline="-25000" dirty="0"/>
              <a:t>0</a:t>
            </a:r>
            <a:endParaRPr lang="zh-CN" altLang="en-US" sz="12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552921F-3E62-44F7-8694-79F27565C428}"/>
              </a:ext>
            </a:extLst>
          </p:cNvPr>
          <p:cNvSpPr txBox="1"/>
          <p:nvPr/>
        </p:nvSpPr>
        <p:spPr>
          <a:xfrm>
            <a:off x="7524328" y="3506324"/>
            <a:ext cx="7200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" b="1" dirty="0"/>
              <a:t>或门</a:t>
            </a:r>
            <a:endParaRPr lang="zh-CN" altLang="en-US" sz="6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EA5DD96-0D99-4E34-B585-3F327F885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2717" y="1853289"/>
            <a:ext cx="5860792" cy="665182"/>
          </a:xfrm>
          <a:prstGeom prst="rect">
            <a:avLst/>
          </a:prstGeom>
        </p:spPr>
      </p:pic>
      <p:sp>
        <p:nvSpPr>
          <p:cNvPr id="15" name="对话气泡: 圆角矩形 14">
            <a:extLst>
              <a:ext uri="{FF2B5EF4-FFF2-40B4-BE49-F238E27FC236}">
                <a16:creationId xmlns:a16="http://schemas.microsoft.com/office/drawing/2014/main" id="{315FD477-5799-42D7-8ED9-4D314611A3E8}"/>
              </a:ext>
            </a:extLst>
          </p:cNvPr>
          <p:cNvSpPr/>
          <p:nvPr/>
        </p:nvSpPr>
        <p:spPr>
          <a:xfrm>
            <a:off x="8039851" y="2554810"/>
            <a:ext cx="996764" cy="615063"/>
          </a:xfrm>
          <a:prstGeom prst="wedgeRoundRectCallout">
            <a:avLst>
              <a:gd name="adj1" fmla="val -78308"/>
              <a:gd name="adj2" fmla="val 780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dirty="0"/>
              <a:t> Y6&amp;Y7=0</a:t>
            </a:r>
          </a:p>
          <a:p>
            <a:pPr algn="ctr"/>
            <a:r>
              <a:rPr lang="en-US" altLang="zh-CN" sz="1400" dirty="0"/>
              <a:t>CS=0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4559498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3BB379-D393-4194-AED5-741E102B4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188640"/>
                <a:ext cx="8640960" cy="2209009"/>
              </a:xfrm>
            </p:spPr>
            <p:txBody>
              <a:bodyPr/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rgbClr val="C00000"/>
                    </a:solidFill>
                  </a:rPr>
                  <a:t>补充例题</a:t>
                </a:r>
                <a:r>
                  <a:rPr lang="zh-CN" altLang="en-US" sz="1800" b="1" dirty="0"/>
                  <a:t>：</a:t>
                </a:r>
                <a:r>
                  <a:rPr lang="en-US" altLang="zh-CN" sz="1800" b="1" dirty="0"/>
                  <a:t>CPU</a:t>
                </a:r>
                <a:r>
                  <a:rPr lang="zh-CN" altLang="en-US" sz="1800" b="1" dirty="0"/>
                  <a:t>有</a:t>
                </a:r>
                <a:r>
                  <a:rPr lang="en-US" altLang="zh-CN" sz="1800" b="1" dirty="0"/>
                  <a:t>16</a:t>
                </a:r>
                <a:r>
                  <a:rPr lang="zh-CN" altLang="en-US" sz="1800" b="1" dirty="0"/>
                  <a:t>根地址线，</a:t>
                </a:r>
                <a:r>
                  <a:rPr lang="en-US" altLang="zh-CN" sz="1800" b="1" dirty="0"/>
                  <a:t>8</a:t>
                </a:r>
                <a:r>
                  <a:rPr lang="zh-CN" altLang="en-US" sz="1800" b="1" dirty="0"/>
                  <a:t>根数据线，用</a:t>
                </a:r>
                <a:r>
                  <a:rPr lang="en-US" altLang="zh-CN" sz="1800" b="1" dirty="0"/>
                  <a:t>/MREQ</a:t>
                </a:r>
                <a:r>
                  <a:rPr lang="zh-CN" altLang="en-US" sz="1800" b="1" dirty="0"/>
                  <a:t>作为访存控制信号，</a:t>
                </a:r>
                <a:r>
                  <a:rPr lang="en-US" altLang="zh-CN" sz="1800" b="1" dirty="0"/>
                  <a:t>/WR</a:t>
                </a:r>
                <a:r>
                  <a:rPr lang="zh-CN" altLang="en-US" sz="1800" b="1" dirty="0"/>
                  <a:t>读写控制信号。有下述芯片：</a:t>
                </a:r>
                <a14:m>
                  <m:oMath xmlns:m="http://schemas.openxmlformats.org/officeDocument/2006/math"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𝑹𝑨𝑴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𝑹𝑨𝑴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𝑹𝑨𝑴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𝑹𝑶𝑴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𝑹𝑶𝑴</m:t>
                    </m:r>
                  </m:oMath>
                </a14:m>
                <a:r>
                  <a:rPr lang="en-US" altLang="zh-CN" sz="1800" b="1" dirty="0"/>
                  <a:t> </a:t>
                </a:r>
                <a14:m>
                  <m:oMath xmlns:m="http://schemas.openxmlformats.org/officeDocument/2006/math">
                    <m:r>
                      <a:rPr lang="zh-CN" altLang="en-US" sz="1800" b="1" dirty="0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𝑲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𝟖</m:t>
                    </m:r>
                    <m:r>
                      <a:rPr lang="en-US" altLang="zh-CN" sz="1800" b="1">
                        <a:latin typeface="Cambria Math" panose="02040503050406030204" pitchFamily="18" charset="0"/>
                      </a:rPr>
                      <m:t>𝑹𝑶𝑴</m:t>
                    </m:r>
                  </m:oMath>
                </a14:m>
                <a:r>
                  <a:rPr lang="zh-CN" altLang="en-US" sz="1800" b="1" dirty="0"/>
                  <a:t>，请画出</a:t>
                </a:r>
                <a:r>
                  <a:rPr lang="en-US" altLang="zh-CN" sz="1800" b="1" dirty="0"/>
                  <a:t>CPU</a:t>
                </a:r>
                <a:r>
                  <a:rPr lang="zh-CN" altLang="en-US" sz="1800" b="1" dirty="0"/>
                  <a:t>与存储器的连接图，满足下述要求：</a:t>
                </a:r>
                <a:endParaRPr lang="en-US" altLang="zh-CN" sz="1800" b="1" dirty="0"/>
              </a:p>
              <a:p>
                <a:pPr>
                  <a:lnSpc>
                    <a:spcPct val="150000"/>
                  </a:lnSpc>
                </a:pPr>
                <a:r>
                  <a:rPr lang="zh-CN" altLang="en-US" sz="1800" b="1" dirty="0">
                    <a:solidFill>
                      <a:srgbClr val="C00000"/>
                    </a:solidFill>
                  </a:rPr>
                  <a:t>主存地址空间</a:t>
                </a:r>
                <a:r>
                  <a:rPr lang="zh-CN" altLang="en-US" sz="1800" b="1" dirty="0"/>
                  <a:t>：</a:t>
                </a:r>
                <a:r>
                  <a:rPr lang="en-US" altLang="zh-CN" sz="1800" b="1" dirty="0"/>
                  <a:t>6000H~67FFH</a:t>
                </a:r>
                <a:r>
                  <a:rPr lang="zh-CN" altLang="en-US" sz="1800" b="1" dirty="0"/>
                  <a:t>系统程序区；</a:t>
                </a:r>
                <a:r>
                  <a:rPr lang="en-US" altLang="zh-CN" sz="1800" b="1" dirty="0"/>
                  <a:t>6800H~6BFFH</a:t>
                </a:r>
                <a:r>
                  <a:rPr lang="zh-CN" altLang="en-US" sz="1800" b="1" dirty="0"/>
                  <a:t>用户程序区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33BB379-D393-4194-AED5-741E102B4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88640"/>
                <a:ext cx="8640960" cy="2209009"/>
              </a:xfrm>
              <a:blipFill>
                <a:blip r:embed="rId2"/>
                <a:stretch>
                  <a:fillRect l="-423" r="-423" b="-24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E8FE250-52EB-47AB-A775-83B03EBA3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2498570"/>
            <a:ext cx="6120680" cy="3666734"/>
          </a:xfrm>
          <a:prstGeom prst="rect">
            <a:avLst/>
          </a:prstGeom>
        </p:spPr>
      </p:pic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E59553F6-30EA-44E0-9522-26F79C337BDA}"/>
              </a:ext>
            </a:extLst>
          </p:cNvPr>
          <p:cNvSpPr/>
          <p:nvPr/>
        </p:nvSpPr>
        <p:spPr>
          <a:xfrm>
            <a:off x="5973869" y="6179949"/>
            <a:ext cx="1548172" cy="576064"/>
          </a:xfrm>
          <a:prstGeom prst="wedgeRoundRectCallout">
            <a:avLst>
              <a:gd name="adj1" fmla="val -15535"/>
              <a:gd name="adj2" fmla="val -12735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2</a:t>
            </a:r>
            <a:r>
              <a:rPr lang="zh-CN" altLang="en-US" sz="2400" dirty="0"/>
              <a:t>片</a:t>
            </a:r>
            <a:r>
              <a:rPr lang="en-US" altLang="zh-CN" sz="2400" dirty="0"/>
              <a:t>1K*4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41724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664120D-ED63-4FF2-8816-DDFBCB17D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547" y="908720"/>
            <a:ext cx="6530906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19601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5E3FDC-3665-4676-A22D-4C734E4E9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443" y="836712"/>
            <a:ext cx="6607113" cy="47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3678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04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10436"/>
            <a:ext cx="8229600" cy="548691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通常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的速度很快，相比之下主存的速度不够快，因此主存的存取速度已经成为提升计算机系统性能的</a:t>
            </a:r>
            <a:r>
              <a:rPr lang="zh-CN" altLang="en-US" sz="1800" b="1" dirty="0">
                <a:solidFill>
                  <a:srgbClr val="C00000"/>
                </a:solidFill>
              </a:rPr>
              <a:t>瓶颈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1800" b="1" dirty="0"/>
              <a:t>除了可以通过采用</a:t>
            </a:r>
            <a:r>
              <a:rPr lang="zh-CN" altLang="en-US" sz="1800" b="1" dirty="0">
                <a:solidFill>
                  <a:srgbClr val="C00000"/>
                </a:solidFill>
              </a:rPr>
              <a:t>高速器件</a:t>
            </a:r>
            <a:r>
              <a:rPr lang="zh-CN" altLang="en-US" sz="1800" b="1" dirty="0"/>
              <a:t>（如果</a:t>
            </a:r>
            <a:r>
              <a:rPr lang="en-US" altLang="zh-CN" sz="1800" b="1" dirty="0"/>
              <a:t>FPM-DRAM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EDO-DRAM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BEDO-DRAM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SDRAM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DDR SDRAM</a:t>
            </a:r>
            <a:r>
              <a:rPr lang="zh-CN" altLang="en-US" sz="1800" b="1" dirty="0"/>
              <a:t>等）来提高存储器访问速度外，还可以通过存储体的</a:t>
            </a:r>
            <a:r>
              <a:rPr lang="zh-CN" altLang="en-US" sz="1800" b="1" dirty="0">
                <a:solidFill>
                  <a:srgbClr val="C00000"/>
                </a:solidFill>
              </a:rPr>
              <a:t>并行</a:t>
            </a:r>
            <a:r>
              <a:rPr lang="zh-CN" altLang="en-US" sz="1800" b="1" dirty="0"/>
              <a:t>工作来提高存储器的访问速度</a:t>
            </a:r>
            <a:endParaRPr lang="en-US" altLang="zh-CN" sz="18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、双端口存储器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lvl="1" eaLnBrk="1" hangingPunct="1"/>
            <a:r>
              <a:rPr lang="zh-CN" altLang="en-US" sz="1400" b="1" dirty="0"/>
              <a:t>有两个相互独立的端口（左</a:t>
            </a:r>
            <a:r>
              <a:rPr lang="en-US" altLang="zh-CN" sz="1400" b="1" dirty="0"/>
              <a:t>L</a:t>
            </a:r>
            <a:r>
              <a:rPr lang="zh-CN" altLang="en-US" sz="1400" b="1" dirty="0"/>
              <a:t>、右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MAR</a:t>
            </a:r>
            <a:r>
              <a:rPr lang="zh-CN" altLang="en-US" sz="1400" b="1" dirty="0"/>
              <a:t>：存储器地址寄存器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MDR</a:t>
            </a:r>
            <a:r>
              <a:rPr lang="zh-CN" altLang="en-US" sz="1400" b="1" dirty="0"/>
              <a:t>：存储器数据寄存器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Read</a:t>
            </a:r>
            <a:r>
              <a:rPr lang="zh-CN" altLang="en-US" sz="1400" b="1" dirty="0"/>
              <a:t>：读控制信号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Write</a:t>
            </a:r>
            <a:r>
              <a:rPr lang="zh-CN" altLang="en-US" sz="1400" b="1" dirty="0"/>
              <a:t>：写控制信号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/CS</a:t>
            </a:r>
            <a:r>
              <a:rPr lang="zh-CN" altLang="en-US" sz="1400" b="1" dirty="0"/>
              <a:t>：片选信号</a:t>
            </a:r>
            <a:endParaRPr lang="en-US" altLang="zh-CN" sz="1400" b="1" dirty="0"/>
          </a:p>
          <a:p>
            <a:pPr lvl="1" eaLnBrk="1" hangingPunct="1"/>
            <a:r>
              <a:rPr lang="en-US" altLang="zh-CN" sz="1400" b="1" dirty="0"/>
              <a:t>/Busy</a:t>
            </a:r>
            <a:r>
              <a:rPr lang="zh-CN" altLang="en-US" sz="1400" b="1" dirty="0"/>
              <a:t>：忙信号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endParaRPr lang="en-US" altLang="zh-CN" sz="600" b="1" dirty="0"/>
          </a:p>
        </p:txBody>
      </p: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5310831-51B6-4304-96C4-B240FE646917}"/>
              </a:ext>
            </a:extLst>
          </p:cNvPr>
          <p:cNvGrpSpPr/>
          <p:nvPr/>
        </p:nvGrpSpPr>
        <p:grpSpPr>
          <a:xfrm>
            <a:off x="4572000" y="3407798"/>
            <a:ext cx="2953595" cy="3016251"/>
            <a:chOff x="5146797" y="3717032"/>
            <a:chExt cx="2953595" cy="3016251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98B3893C-22C8-44FC-8811-2A0D27DFDAAD}"/>
                </a:ext>
              </a:extLst>
            </p:cNvPr>
            <p:cNvGrpSpPr/>
            <p:nvPr/>
          </p:nvGrpSpPr>
          <p:grpSpPr>
            <a:xfrm>
              <a:off x="5146797" y="3717032"/>
              <a:ext cx="2953595" cy="2604710"/>
              <a:chOff x="4355976" y="3717032"/>
              <a:chExt cx="2953595" cy="2604710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F36FEBAC-8681-46AF-95DA-997E6ADD8D96}"/>
                  </a:ext>
                </a:extLst>
              </p:cNvPr>
              <p:cNvGrpSpPr/>
              <p:nvPr/>
            </p:nvGrpSpPr>
            <p:grpSpPr>
              <a:xfrm>
                <a:off x="5433124" y="3717032"/>
                <a:ext cx="792088" cy="1944216"/>
                <a:chOff x="5433124" y="3933056"/>
                <a:chExt cx="792088" cy="1728192"/>
              </a:xfrm>
            </p:grpSpPr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1C98F8CD-DFAB-464A-B96E-52ABC2D56A5A}"/>
                    </a:ext>
                  </a:extLst>
                </p:cNvPr>
                <p:cNvSpPr/>
                <p:nvPr/>
              </p:nvSpPr>
              <p:spPr>
                <a:xfrm>
                  <a:off x="5433124" y="3933056"/>
                  <a:ext cx="792088" cy="1728192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" name="文本框 8">
                  <a:extLst>
                    <a:ext uri="{FF2B5EF4-FFF2-40B4-BE49-F238E27FC236}">
                      <a16:creationId xmlns:a16="http://schemas.microsoft.com/office/drawing/2014/main" id="{6C2D7349-B1CF-4E4D-9FEF-87103E22D6D1}"/>
                    </a:ext>
                  </a:extLst>
                </p:cNvPr>
                <p:cNvSpPr txBox="1"/>
                <p:nvPr/>
              </p:nvSpPr>
              <p:spPr>
                <a:xfrm>
                  <a:off x="5506002" y="4592161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存储体</a:t>
                  </a:r>
                </a:p>
              </p:txBody>
            </p:sp>
          </p:grpSp>
          <p:grpSp>
            <p:nvGrpSpPr>
              <p:cNvPr id="52" name="组合 51">
                <a:extLst>
                  <a:ext uri="{FF2B5EF4-FFF2-40B4-BE49-F238E27FC236}">
                    <a16:creationId xmlns:a16="http://schemas.microsoft.com/office/drawing/2014/main" id="{EE56B572-C868-4F6E-889C-C91542D688D7}"/>
                  </a:ext>
                </a:extLst>
              </p:cNvPr>
              <p:cNvGrpSpPr/>
              <p:nvPr/>
            </p:nvGrpSpPr>
            <p:grpSpPr>
              <a:xfrm>
                <a:off x="4355976" y="3717032"/>
                <a:ext cx="2953595" cy="2604710"/>
                <a:chOff x="4355976" y="3717032"/>
                <a:chExt cx="2953595" cy="2604710"/>
              </a:xfrm>
            </p:grpSpPr>
            <p:grpSp>
              <p:nvGrpSpPr>
                <p:cNvPr id="8" name="组合 7">
                  <a:extLst>
                    <a:ext uri="{FF2B5EF4-FFF2-40B4-BE49-F238E27FC236}">
                      <a16:creationId xmlns:a16="http://schemas.microsoft.com/office/drawing/2014/main" id="{5E1DBB3E-66B3-4C86-A602-728DFF1F1338}"/>
                    </a:ext>
                  </a:extLst>
                </p:cNvPr>
                <p:cNvGrpSpPr/>
                <p:nvPr/>
              </p:nvGrpSpPr>
              <p:grpSpPr>
                <a:xfrm>
                  <a:off x="4355976" y="4702949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6" name="矩形 5">
                    <a:extLst>
                      <a:ext uri="{FF2B5EF4-FFF2-40B4-BE49-F238E27FC236}">
                        <a16:creationId xmlns:a16="http://schemas.microsoft.com/office/drawing/2014/main" id="{148E39BF-DE14-4230-9D0D-3287181DB02E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" name="文本框 6">
                    <a:extLst>
                      <a:ext uri="{FF2B5EF4-FFF2-40B4-BE49-F238E27FC236}">
                        <a16:creationId xmlns:a16="http://schemas.microsoft.com/office/drawing/2014/main" id="{AE053320-F2C4-4BC6-8C19-2CDEF4064E9C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328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MAR</a:t>
                    </a:r>
                    <a:r>
                      <a:rPr lang="en-US" altLang="zh-CN" sz="1050" b="1" baseline="-25000" dirty="0"/>
                      <a:t>L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2" name="组合 11">
                  <a:extLst>
                    <a:ext uri="{FF2B5EF4-FFF2-40B4-BE49-F238E27FC236}">
                      <a16:creationId xmlns:a16="http://schemas.microsoft.com/office/drawing/2014/main" id="{348DA9CD-A336-4E51-8440-FCC97C52CC49}"/>
                    </a:ext>
                  </a:extLst>
                </p:cNvPr>
                <p:cNvGrpSpPr/>
                <p:nvPr/>
              </p:nvGrpSpPr>
              <p:grpSpPr>
                <a:xfrm>
                  <a:off x="4355976" y="5301208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3" name="矩形 12">
                    <a:extLst>
                      <a:ext uri="{FF2B5EF4-FFF2-40B4-BE49-F238E27FC236}">
                        <a16:creationId xmlns:a16="http://schemas.microsoft.com/office/drawing/2014/main" id="{B72399AA-840B-4609-A830-EDF1DAECC78F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4" name="文本框 13">
                    <a:extLst>
                      <a:ext uri="{FF2B5EF4-FFF2-40B4-BE49-F238E27FC236}">
                        <a16:creationId xmlns:a16="http://schemas.microsoft.com/office/drawing/2014/main" id="{5DFB5CC9-36EC-415A-9A55-4691A86FFA81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00458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MDR</a:t>
                    </a:r>
                    <a:r>
                      <a:rPr lang="en-US" altLang="zh-CN" sz="1050" b="1" baseline="-25000" dirty="0"/>
                      <a:t>L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4D34154D-ED09-4BD3-A7B2-3A8343A86381}"/>
                    </a:ext>
                  </a:extLst>
                </p:cNvPr>
                <p:cNvGrpSpPr/>
                <p:nvPr/>
              </p:nvGrpSpPr>
              <p:grpSpPr>
                <a:xfrm>
                  <a:off x="6588224" y="4702949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6" name="矩形 15">
                    <a:extLst>
                      <a:ext uri="{FF2B5EF4-FFF2-40B4-BE49-F238E27FC236}">
                        <a16:creationId xmlns:a16="http://schemas.microsoft.com/office/drawing/2014/main" id="{88071CBB-C462-441A-964F-6CA96B0466F6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7" name="文本框 16">
                    <a:extLst>
                      <a:ext uri="{FF2B5EF4-FFF2-40B4-BE49-F238E27FC236}">
                        <a16:creationId xmlns:a16="http://schemas.microsoft.com/office/drawing/2014/main" id="{B53C4ECB-0B5E-48DA-A90B-A8E291C0695B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0076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MAR</a:t>
                    </a:r>
                    <a:r>
                      <a:rPr lang="en-US" altLang="zh-CN" sz="1050" b="1" baseline="-25000" dirty="0"/>
                      <a:t>R</a:t>
                    </a:r>
                    <a:endParaRPr lang="zh-CN" altLang="en-US" sz="1050" b="1" baseline="-25000" dirty="0"/>
                  </a:p>
                </p:txBody>
              </p:sp>
            </p:grpSp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915F1759-83DA-4467-8C14-7FDD56873C94}"/>
                    </a:ext>
                  </a:extLst>
                </p:cNvPr>
                <p:cNvGrpSpPr/>
                <p:nvPr/>
              </p:nvGrpSpPr>
              <p:grpSpPr>
                <a:xfrm>
                  <a:off x="6589491" y="5301208"/>
                  <a:ext cx="720080" cy="360040"/>
                  <a:chOff x="4067944" y="4509120"/>
                  <a:chExt cx="720080" cy="360040"/>
                </a:xfrm>
              </p:grpSpPr>
              <p:sp>
                <p:nvSpPr>
                  <p:cNvPr id="19" name="矩形 18">
                    <a:extLst>
                      <a:ext uri="{FF2B5EF4-FFF2-40B4-BE49-F238E27FC236}">
                        <a16:creationId xmlns:a16="http://schemas.microsoft.com/office/drawing/2014/main" id="{B3D4DFFC-2857-407F-8752-AC940CB412E5}"/>
                      </a:ext>
                    </a:extLst>
                  </p:cNvPr>
                  <p:cNvSpPr/>
                  <p:nvPr/>
                </p:nvSpPr>
                <p:spPr>
                  <a:xfrm>
                    <a:off x="4067944" y="4509120"/>
                    <a:ext cx="720080" cy="360040"/>
                  </a:xfrm>
                  <a:prstGeom prst="rect">
                    <a:avLst/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0" name="文本框 19">
                    <a:extLst>
                      <a:ext uri="{FF2B5EF4-FFF2-40B4-BE49-F238E27FC236}">
                        <a16:creationId xmlns:a16="http://schemas.microsoft.com/office/drawing/2014/main" id="{6A29CDFB-B0DB-4991-BC23-86FA5DEA6EA6}"/>
                      </a:ext>
                    </a:extLst>
                  </p:cNvPr>
                  <p:cNvSpPr txBox="1"/>
                  <p:nvPr/>
                </p:nvSpPr>
                <p:spPr>
                  <a:xfrm>
                    <a:off x="4181975" y="4563555"/>
                    <a:ext cx="513282" cy="25391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50" b="1" dirty="0"/>
                      <a:t>MDR</a:t>
                    </a:r>
                    <a:r>
                      <a:rPr lang="en-US" altLang="zh-CN" sz="1050" b="1" baseline="-25000" dirty="0"/>
                      <a:t>R</a:t>
                    </a:r>
                    <a:endParaRPr lang="zh-CN" altLang="en-US" sz="1050" b="1" baseline="-25000" dirty="0"/>
                  </a:p>
                </p:txBody>
              </p:sp>
            </p:grpSp>
            <p:cxnSp>
              <p:nvCxnSpPr>
                <p:cNvPr id="21" name="直接箭头连接符 20">
                  <a:extLst>
                    <a:ext uri="{FF2B5EF4-FFF2-40B4-BE49-F238E27FC236}">
                      <a16:creationId xmlns:a16="http://schemas.microsoft.com/office/drawing/2014/main" id="{88D739C5-3FA1-4D82-A7B0-2BBAF19B7D7E}"/>
                    </a:ext>
                  </a:extLst>
                </p:cNvPr>
                <p:cNvCxnSpPr>
                  <a:cxnSpLocks/>
                  <a:stCxn id="6" idx="3"/>
                </p:cNvCxnSpPr>
                <p:nvPr/>
              </p:nvCxnSpPr>
              <p:spPr>
                <a:xfrm>
                  <a:off x="5076056" y="4882969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箭头连接符 23">
                  <a:extLst>
                    <a:ext uri="{FF2B5EF4-FFF2-40B4-BE49-F238E27FC236}">
                      <a16:creationId xmlns:a16="http://schemas.microsoft.com/office/drawing/2014/main" id="{DA64595E-B5C6-4F30-914A-4672FEFCCA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64683" y="5458007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直接箭头连接符 24">
                  <a:extLst>
                    <a:ext uri="{FF2B5EF4-FFF2-40B4-BE49-F238E27FC236}">
                      <a16:creationId xmlns:a16="http://schemas.microsoft.com/office/drawing/2014/main" id="{30D20772-35A0-49BC-9EF4-BDFFBACBC9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5212" y="4886818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箭头连接符 25">
                  <a:extLst>
                    <a:ext uri="{FF2B5EF4-FFF2-40B4-BE49-F238E27FC236}">
                      <a16:creationId xmlns:a16="http://schemas.microsoft.com/office/drawing/2014/main" id="{5FC8F59A-A505-4252-83DB-06071346E0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2225" y="5473529"/>
                  <a:ext cx="390025" cy="7699"/>
                </a:xfrm>
                <a:prstGeom prst="straightConnector1">
                  <a:avLst/>
                </a:prstGeom>
                <a:ln w="19050">
                  <a:solidFill>
                    <a:schemeClr val="tx1"/>
                  </a:solidFill>
                  <a:headEnd type="arrow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箭头连接符 26">
                  <a:extLst>
                    <a:ext uri="{FF2B5EF4-FFF2-40B4-BE49-F238E27FC236}">
                      <a16:creationId xmlns:a16="http://schemas.microsoft.com/office/drawing/2014/main" id="{74104630-E52E-4732-895D-C1EC2066A1B1}"/>
                    </a:ext>
                  </a:extLst>
                </p:cNvPr>
                <p:cNvCxnSpPr/>
                <p:nvPr/>
              </p:nvCxnSpPr>
              <p:spPr>
                <a:xfrm>
                  <a:off x="5029416" y="3861048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箭头连接符 28">
                  <a:extLst>
                    <a:ext uri="{FF2B5EF4-FFF2-40B4-BE49-F238E27FC236}">
                      <a16:creationId xmlns:a16="http://schemas.microsoft.com/office/drawing/2014/main" id="{CF87E1EE-1C27-4570-9BDA-9C25486BBCD3}"/>
                    </a:ext>
                  </a:extLst>
                </p:cNvPr>
                <p:cNvCxnSpPr/>
                <p:nvPr/>
              </p:nvCxnSpPr>
              <p:spPr>
                <a:xfrm>
                  <a:off x="5030628" y="4077072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箭头连接符 29">
                  <a:extLst>
                    <a:ext uri="{FF2B5EF4-FFF2-40B4-BE49-F238E27FC236}">
                      <a16:creationId xmlns:a16="http://schemas.microsoft.com/office/drawing/2014/main" id="{35FE1938-8743-4839-AD2A-62E27B1B8E92}"/>
                    </a:ext>
                  </a:extLst>
                </p:cNvPr>
                <p:cNvCxnSpPr/>
                <p:nvPr/>
              </p:nvCxnSpPr>
              <p:spPr>
                <a:xfrm>
                  <a:off x="5025312" y="4293096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箭头连接符 30">
                  <a:extLst>
                    <a:ext uri="{FF2B5EF4-FFF2-40B4-BE49-F238E27FC236}">
                      <a16:creationId xmlns:a16="http://schemas.microsoft.com/office/drawing/2014/main" id="{A2D3B8BE-F5B2-4BA6-8407-287677A186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2977" y="3861048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接箭头连接符 31">
                  <a:extLst>
                    <a:ext uri="{FF2B5EF4-FFF2-40B4-BE49-F238E27FC236}">
                      <a16:creationId xmlns:a16="http://schemas.microsoft.com/office/drawing/2014/main" id="{868095BD-203B-4C11-983B-A3D61064D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4189" y="4077072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箭头连接符 32">
                  <a:extLst>
                    <a:ext uri="{FF2B5EF4-FFF2-40B4-BE49-F238E27FC236}">
                      <a16:creationId xmlns:a16="http://schemas.microsoft.com/office/drawing/2014/main" id="{DE187B32-A846-45CA-9E18-11D753EB3B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6214189" y="4293096"/>
                  <a:ext cx="420675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46" name="组合 45">
                  <a:extLst>
                    <a:ext uri="{FF2B5EF4-FFF2-40B4-BE49-F238E27FC236}">
                      <a16:creationId xmlns:a16="http://schemas.microsoft.com/office/drawing/2014/main" id="{542325ED-140B-485D-9FF8-A1424F456B3F}"/>
                    </a:ext>
                  </a:extLst>
                </p:cNvPr>
                <p:cNvGrpSpPr/>
                <p:nvPr/>
              </p:nvGrpSpPr>
              <p:grpSpPr>
                <a:xfrm>
                  <a:off x="4554444" y="3717032"/>
                  <a:ext cx="2728340" cy="2604710"/>
                  <a:chOff x="4554444" y="3717032"/>
                  <a:chExt cx="2728340" cy="2604710"/>
                </a:xfrm>
              </p:grpSpPr>
              <p:sp>
                <p:nvSpPr>
                  <p:cNvPr id="28" name="文本框 27">
                    <a:extLst>
                      <a:ext uri="{FF2B5EF4-FFF2-40B4-BE49-F238E27FC236}">
                        <a16:creationId xmlns:a16="http://schemas.microsoft.com/office/drawing/2014/main" id="{D725CB4F-6D9F-4C1B-8C59-180E0089AA4C}"/>
                      </a:ext>
                    </a:extLst>
                  </p:cNvPr>
                  <p:cNvSpPr txBox="1"/>
                  <p:nvPr/>
                </p:nvSpPr>
                <p:spPr>
                  <a:xfrm>
                    <a:off x="4554444" y="3717032"/>
                    <a:ext cx="489236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Read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A2EF99C7-8A56-4343-917A-4CBF8B83B84F}"/>
                      </a:ext>
                    </a:extLst>
                  </p:cNvPr>
                  <p:cNvSpPr txBox="1"/>
                  <p:nvPr/>
                </p:nvSpPr>
                <p:spPr>
                  <a:xfrm>
                    <a:off x="6732240" y="3717032"/>
                    <a:ext cx="50045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Read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3FB2CABC-571F-4967-A97C-F873F53F0FEE}"/>
                      </a:ext>
                    </a:extLst>
                  </p:cNvPr>
                  <p:cNvSpPr txBox="1"/>
                  <p:nvPr/>
                </p:nvSpPr>
                <p:spPr>
                  <a:xfrm>
                    <a:off x="4572000" y="3934755"/>
                    <a:ext cx="52450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Write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7" name="文本框 36">
                    <a:extLst>
                      <a:ext uri="{FF2B5EF4-FFF2-40B4-BE49-F238E27FC236}">
                        <a16:creationId xmlns:a16="http://schemas.microsoft.com/office/drawing/2014/main" id="{BE339950-FA06-421D-B6C4-9438567B8135}"/>
                      </a:ext>
                    </a:extLst>
                  </p:cNvPr>
                  <p:cNvSpPr txBox="1"/>
                  <p:nvPr/>
                </p:nvSpPr>
                <p:spPr>
                  <a:xfrm>
                    <a:off x="4572000" y="4149080"/>
                    <a:ext cx="40427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/CS</a:t>
                    </a:r>
                    <a:r>
                      <a:rPr lang="en-US" altLang="zh-CN" sz="1000" b="1" baseline="-25000" dirty="0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8" name="文本框 37">
                    <a:extLst>
                      <a:ext uri="{FF2B5EF4-FFF2-40B4-BE49-F238E27FC236}">
                        <a16:creationId xmlns:a16="http://schemas.microsoft.com/office/drawing/2014/main" id="{629BD6F3-F659-4095-BE83-C3AF13BA3CBC}"/>
                      </a:ext>
                    </a:extLst>
                  </p:cNvPr>
                  <p:cNvSpPr txBox="1"/>
                  <p:nvPr/>
                </p:nvSpPr>
                <p:spPr>
                  <a:xfrm>
                    <a:off x="6747060" y="3929439"/>
                    <a:ext cx="535724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 err="1"/>
                      <a:t>Write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15B5A40F-9A19-47D2-B71D-BA8A02B7C5FA}"/>
                      </a:ext>
                    </a:extLst>
                  </p:cNvPr>
                  <p:cNvSpPr txBox="1"/>
                  <p:nvPr/>
                </p:nvSpPr>
                <p:spPr>
                  <a:xfrm>
                    <a:off x="6752376" y="4154396"/>
                    <a:ext cx="41549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/CS</a:t>
                    </a:r>
                    <a:r>
                      <a:rPr lang="en-US" altLang="zh-CN" sz="1000" b="1" baseline="-25000" dirty="0"/>
                      <a:t>R</a:t>
                    </a:r>
                    <a:endParaRPr lang="zh-CN" altLang="en-US" sz="1000" b="1" baseline="-25000" dirty="0"/>
                  </a:p>
                </p:txBody>
              </p:sp>
              <p:grpSp>
                <p:nvGrpSpPr>
                  <p:cNvPr id="45" name="组合 44">
                    <a:extLst>
                      <a:ext uri="{FF2B5EF4-FFF2-40B4-BE49-F238E27FC236}">
                        <a16:creationId xmlns:a16="http://schemas.microsoft.com/office/drawing/2014/main" id="{5F85C312-EEF5-46E1-A3A7-B268B00EBE3A}"/>
                      </a:ext>
                    </a:extLst>
                  </p:cNvPr>
                  <p:cNvGrpSpPr/>
                  <p:nvPr/>
                </p:nvGrpSpPr>
                <p:grpSpPr>
                  <a:xfrm>
                    <a:off x="6012160" y="5639984"/>
                    <a:ext cx="420675" cy="351656"/>
                    <a:chOff x="6012160" y="5639984"/>
                    <a:chExt cx="420675" cy="351656"/>
                  </a:xfrm>
                </p:grpSpPr>
                <p:cxnSp>
                  <p:nvCxnSpPr>
                    <p:cNvPr id="42" name="直接箭头连接符 41">
                      <a:extLst>
                        <a:ext uri="{FF2B5EF4-FFF2-40B4-BE49-F238E27FC236}">
                          <a16:creationId xmlns:a16="http://schemas.microsoft.com/office/drawing/2014/main" id="{E43068F2-3BB0-41FC-A0CD-B31D8946C87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012160" y="5991640"/>
                      <a:ext cx="420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直接箭头连接符 43">
                      <a:extLst>
                        <a:ext uri="{FF2B5EF4-FFF2-40B4-BE49-F238E27FC236}">
                          <a16:creationId xmlns:a16="http://schemas.microsoft.com/office/drawing/2014/main" id="{8365F9C8-A0A1-40B3-81F1-E60D4F2092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12160" y="5639984"/>
                      <a:ext cx="0" cy="35165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7" name="组合 46">
                    <a:extLst>
                      <a:ext uri="{FF2B5EF4-FFF2-40B4-BE49-F238E27FC236}">
                        <a16:creationId xmlns:a16="http://schemas.microsoft.com/office/drawing/2014/main" id="{53F83987-C13B-45B1-832A-543DC27323E8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235649" y="5661248"/>
                    <a:ext cx="380202" cy="351656"/>
                    <a:chOff x="6012160" y="5639984"/>
                    <a:chExt cx="420675" cy="351656"/>
                  </a:xfrm>
                </p:grpSpPr>
                <p:cxnSp>
                  <p:nvCxnSpPr>
                    <p:cNvPr id="48" name="直接箭头连接符 47">
                      <a:extLst>
                        <a:ext uri="{FF2B5EF4-FFF2-40B4-BE49-F238E27FC236}">
                          <a16:creationId xmlns:a16="http://schemas.microsoft.com/office/drawing/2014/main" id="{9EE7BF9F-3F05-4912-BEAC-4E6AB776E86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6012160" y="5991640"/>
                      <a:ext cx="420675" cy="0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直接箭头连接符 48">
                      <a:extLst>
                        <a:ext uri="{FF2B5EF4-FFF2-40B4-BE49-F238E27FC236}">
                          <a16:creationId xmlns:a16="http://schemas.microsoft.com/office/drawing/2014/main" id="{BF7C78EB-E968-4E04-9CF7-09195567A5B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012160" y="5639984"/>
                      <a:ext cx="0" cy="351656"/>
                    </a:xfrm>
                    <a:prstGeom prst="straightConnector1">
                      <a:avLst/>
                    </a:prstGeom>
                    <a:ln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50" name="文本框 49">
                    <a:extLst>
                      <a:ext uri="{FF2B5EF4-FFF2-40B4-BE49-F238E27FC236}">
                        <a16:creationId xmlns:a16="http://schemas.microsoft.com/office/drawing/2014/main" id="{6BB3379D-4466-49D7-9C62-F18D16790CF4}"/>
                      </a:ext>
                    </a:extLst>
                  </p:cNvPr>
                  <p:cNvSpPr txBox="1"/>
                  <p:nvPr/>
                </p:nvSpPr>
                <p:spPr>
                  <a:xfrm>
                    <a:off x="4739537" y="6040914"/>
                    <a:ext cx="529312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</a:t>
                    </a:r>
                    <a:r>
                      <a:rPr lang="en-US" altLang="zh-CN" sz="1000" b="1" dirty="0" err="1"/>
                      <a:t>Busy</a:t>
                    </a:r>
                    <a:r>
                      <a:rPr lang="en-US" altLang="zh-CN" sz="1000" b="1" baseline="-25000" dirty="0" err="1"/>
                      <a:t>L</a:t>
                    </a:r>
                    <a:endParaRPr lang="zh-CN" altLang="en-US" sz="1000" b="1" baseline="-25000" dirty="0"/>
                  </a:p>
                </p:txBody>
              </p:sp>
              <p:sp>
                <p:nvSpPr>
                  <p:cNvPr id="51" name="文本框 50">
                    <a:extLst>
                      <a:ext uri="{FF2B5EF4-FFF2-40B4-BE49-F238E27FC236}">
                        <a16:creationId xmlns:a16="http://schemas.microsoft.com/office/drawing/2014/main" id="{0A1EC552-5889-4B49-B05C-A583343FB669}"/>
                      </a:ext>
                    </a:extLst>
                  </p:cNvPr>
                  <p:cNvSpPr txBox="1"/>
                  <p:nvPr/>
                </p:nvSpPr>
                <p:spPr>
                  <a:xfrm>
                    <a:off x="6211965" y="6075521"/>
                    <a:ext cx="54053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000" b="1" dirty="0"/>
                      <a:t>/</a:t>
                    </a:r>
                    <a:r>
                      <a:rPr lang="en-US" altLang="zh-CN" sz="1000" b="1" dirty="0" err="1"/>
                      <a:t>Busy</a:t>
                    </a:r>
                    <a:r>
                      <a:rPr lang="en-US" altLang="zh-CN" sz="1000" b="1" baseline="-25000" dirty="0" err="1"/>
                      <a:t>R</a:t>
                    </a:r>
                    <a:endParaRPr lang="zh-CN" altLang="en-US" sz="1000" b="1" baseline="-25000" dirty="0"/>
                  </a:p>
                </p:txBody>
              </p:sp>
            </p:grpSp>
          </p:grp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DE110E7-1D2F-4B82-80A2-C862F8EFA725}"/>
                </a:ext>
              </a:extLst>
            </p:cNvPr>
            <p:cNvSpPr txBox="1"/>
            <p:nvPr/>
          </p:nvSpPr>
          <p:spPr>
            <a:xfrm>
              <a:off x="5398462" y="6456284"/>
              <a:ext cx="247052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4.27    </a:t>
              </a:r>
              <a:r>
                <a:rPr lang="zh-CN" altLang="en-US" sz="1200" b="1" dirty="0"/>
                <a:t>双端口存储器结构示意图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9633623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3943A0-9217-4158-AA00-46F0BD59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576" y="21380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F28AD9-9425-4EB0-8341-52C827AA8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40" y="870974"/>
            <a:ext cx="5196771" cy="596562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）并行读写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当左右两个端口的</a:t>
            </a:r>
            <a:r>
              <a:rPr lang="zh-CN" altLang="en-US" sz="1600" b="1" dirty="0">
                <a:highlight>
                  <a:srgbClr val="FFFF00"/>
                </a:highlight>
              </a:rPr>
              <a:t>地址不同</a:t>
            </a:r>
            <a:r>
              <a:rPr lang="zh-CN" altLang="en-US" sz="1600" b="1" dirty="0"/>
              <a:t>时，两个端口使用各自的地址线、数据线和控制线，此时可以</a:t>
            </a:r>
            <a:r>
              <a:rPr lang="zh-CN" altLang="en-US" sz="1600" b="1" dirty="0">
                <a:solidFill>
                  <a:srgbClr val="C00000"/>
                </a:solidFill>
              </a:rPr>
              <a:t>同时</a:t>
            </a:r>
            <a:r>
              <a:rPr lang="zh-CN" altLang="en-US" sz="1600" b="1" dirty="0"/>
              <a:t>对存储体的两个不同的存储单元进行访问（读写）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）冲突处理</a:t>
            </a:r>
            <a:endParaRPr lang="en-US" altLang="zh-CN" sz="20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当左右两个端口的</a:t>
            </a:r>
            <a:r>
              <a:rPr lang="zh-CN" altLang="en-US" sz="1600" b="1" dirty="0">
                <a:highlight>
                  <a:srgbClr val="FFFF00"/>
                </a:highlight>
              </a:rPr>
              <a:t>地址相同</a:t>
            </a:r>
            <a:r>
              <a:rPr lang="zh-CN" altLang="en-US" sz="1600" b="1" dirty="0"/>
              <a:t>时，将发生</a:t>
            </a:r>
            <a:r>
              <a:rPr lang="zh-CN" altLang="en-US" sz="1600" b="1" dirty="0">
                <a:highlight>
                  <a:srgbClr val="FFFF00"/>
                </a:highlight>
              </a:rPr>
              <a:t>冲突</a:t>
            </a:r>
            <a:r>
              <a:rPr lang="zh-CN" altLang="en-US" sz="1600" b="1" dirty="0"/>
              <a:t>（因为存储体不允许同时对同一个存储单元进行读写操作）</a:t>
            </a:r>
            <a:endParaRPr lang="en-US" altLang="zh-CN" sz="16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此时由判断逻辑决定是哪一个端口先访问存储体，如左边的端口先访问存储体，然后将右边端口的</a:t>
            </a:r>
            <a:r>
              <a:rPr lang="en-US" altLang="zh-CN" sz="1600" b="1" dirty="0">
                <a:highlight>
                  <a:srgbClr val="FFFF00"/>
                </a:highlight>
              </a:rPr>
              <a:t>/</a:t>
            </a:r>
            <a:r>
              <a:rPr lang="en-US" altLang="zh-CN" sz="1600" b="1" dirty="0" err="1">
                <a:highlight>
                  <a:srgbClr val="FFFF00"/>
                </a:highlight>
              </a:rPr>
              <a:t>Busy</a:t>
            </a:r>
            <a:r>
              <a:rPr lang="en-US" altLang="zh-CN" sz="1600" b="1" baseline="-25000" dirty="0" err="1">
                <a:highlight>
                  <a:srgbClr val="FFFF00"/>
                </a:highlight>
              </a:rPr>
              <a:t>R</a:t>
            </a:r>
            <a:r>
              <a:rPr lang="zh-CN" altLang="en-US" sz="1600" b="1" dirty="0"/>
              <a:t>置为低电平（</a:t>
            </a:r>
            <a:r>
              <a:rPr lang="en-US" altLang="zh-CN" sz="1600" b="1" dirty="0"/>
              <a:t>/</a:t>
            </a:r>
            <a:r>
              <a:rPr lang="en-US" altLang="zh-CN" sz="1600" b="1" dirty="0" err="1"/>
              <a:t>Busy</a:t>
            </a:r>
            <a:r>
              <a:rPr lang="en-US" altLang="zh-CN" sz="1600" b="1" baseline="-25000" dirty="0" err="1"/>
              <a:t>R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，表示右边的端口不能访问存储体）；等左边的端口访问结束后，再将右边端口的</a:t>
            </a:r>
            <a:r>
              <a:rPr lang="en-US" altLang="zh-CN" sz="1600" b="1" dirty="0">
                <a:highlight>
                  <a:srgbClr val="FFFF00"/>
                </a:highlight>
              </a:rPr>
              <a:t>/</a:t>
            </a:r>
            <a:r>
              <a:rPr lang="en-US" altLang="zh-CN" sz="1600" b="1" dirty="0" err="1">
                <a:highlight>
                  <a:srgbClr val="FFFF00"/>
                </a:highlight>
              </a:rPr>
              <a:t>Busy</a:t>
            </a:r>
            <a:r>
              <a:rPr lang="en-US" altLang="zh-CN" sz="1600" b="1" baseline="-25000" dirty="0" err="1">
                <a:highlight>
                  <a:srgbClr val="FFFF00"/>
                </a:highlight>
              </a:rPr>
              <a:t>R</a:t>
            </a:r>
            <a:r>
              <a:rPr lang="zh-CN" altLang="en-US" sz="1600" b="1" dirty="0"/>
              <a:t>置为高电平（</a:t>
            </a:r>
            <a:r>
              <a:rPr lang="en-US" altLang="zh-CN" sz="1600" b="1" dirty="0"/>
              <a:t>/</a:t>
            </a:r>
            <a:r>
              <a:rPr lang="en-US" altLang="zh-CN" sz="1600" b="1" dirty="0" err="1"/>
              <a:t>Busy</a:t>
            </a:r>
            <a:r>
              <a:rPr lang="en-US" altLang="zh-CN" sz="1600" b="1" baseline="-25000" dirty="0" err="1"/>
              <a:t>R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，表示右边的端口可以访问存储体）</a:t>
            </a:r>
            <a:endParaRPr lang="zh-CN" altLang="en-US" sz="20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C915C1C-71D5-467F-8025-4C6DC67ED2F9}"/>
              </a:ext>
            </a:extLst>
          </p:cNvPr>
          <p:cNvGrpSpPr/>
          <p:nvPr/>
        </p:nvGrpSpPr>
        <p:grpSpPr>
          <a:xfrm>
            <a:off x="5508104" y="1909753"/>
            <a:ext cx="3242832" cy="2834499"/>
            <a:chOff x="4355976" y="3717032"/>
            <a:chExt cx="2953595" cy="260471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398057EA-C9C9-4BF6-AE52-C6128B7B85B8}"/>
                </a:ext>
              </a:extLst>
            </p:cNvPr>
            <p:cNvGrpSpPr/>
            <p:nvPr/>
          </p:nvGrpSpPr>
          <p:grpSpPr>
            <a:xfrm>
              <a:off x="5433124" y="3717032"/>
              <a:ext cx="792088" cy="1944216"/>
              <a:chOff x="5433124" y="3933056"/>
              <a:chExt cx="792088" cy="1728192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3DC5B336-671C-45D9-91E9-81E1D515BC92}"/>
                  </a:ext>
                </a:extLst>
              </p:cNvPr>
              <p:cNvSpPr/>
              <p:nvPr/>
            </p:nvSpPr>
            <p:spPr>
              <a:xfrm>
                <a:off x="5433124" y="3933056"/>
                <a:ext cx="792088" cy="1728192"/>
              </a:xfrm>
              <a:prstGeom prst="rect">
                <a:avLst/>
              </a:prstGeom>
              <a:solidFill>
                <a:schemeClr val="accent6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113D63A9-9470-43FE-AF57-CAA6865F935F}"/>
                  </a:ext>
                </a:extLst>
              </p:cNvPr>
              <p:cNvSpPr txBox="1"/>
              <p:nvPr/>
            </p:nvSpPr>
            <p:spPr>
              <a:xfrm>
                <a:off x="5506002" y="4592161"/>
                <a:ext cx="64633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存储体</a:t>
                </a:r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12958D00-89F9-4AAF-9D87-B33483A92E56}"/>
                </a:ext>
              </a:extLst>
            </p:cNvPr>
            <p:cNvGrpSpPr/>
            <p:nvPr/>
          </p:nvGrpSpPr>
          <p:grpSpPr>
            <a:xfrm>
              <a:off x="4355976" y="3717032"/>
              <a:ext cx="2953595" cy="2604710"/>
              <a:chOff x="4355976" y="3717032"/>
              <a:chExt cx="2953595" cy="2604710"/>
            </a:xfrm>
          </p:grpSpPr>
          <p:grpSp>
            <p:nvGrpSpPr>
              <p:cNvPr id="7" name="组合 6">
                <a:extLst>
                  <a:ext uri="{FF2B5EF4-FFF2-40B4-BE49-F238E27FC236}">
                    <a16:creationId xmlns:a16="http://schemas.microsoft.com/office/drawing/2014/main" id="{C0391577-29F4-4320-82FF-89E623C4E513}"/>
                  </a:ext>
                </a:extLst>
              </p:cNvPr>
              <p:cNvGrpSpPr/>
              <p:nvPr/>
            </p:nvGrpSpPr>
            <p:grpSpPr>
              <a:xfrm>
                <a:off x="4355976" y="4702949"/>
                <a:ext cx="720080" cy="360040"/>
                <a:chOff x="4067944" y="4509120"/>
                <a:chExt cx="720080" cy="360040"/>
              </a:xfrm>
            </p:grpSpPr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F482CF29-3AEF-4FD9-ADF8-7A20F3742E58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3" name="文本框 42">
                  <a:extLst>
                    <a:ext uri="{FF2B5EF4-FFF2-40B4-BE49-F238E27FC236}">
                      <a16:creationId xmlns:a16="http://schemas.microsoft.com/office/drawing/2014/main" id="{894C2590-BB03-4049-AA1A-5FE500CDC546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328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MAR</a:t>
                  </a:r>
                  <a:r>
                    <a:rPr lang="en-US" altLang="zh-CN" sz="1050" b="1" baseline="-25000" dirty="0"/>
                    <a:t>L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C533B36C-56DB-4868-B182-8DD3D18EE5D0}"/>
                  </a:ext>
                </a:extLst>
              </p:cNvPr>
              <p:cNvGrpSpPr/>
              <p:nvPr/>
            </p:nvGrpSpPr>
            <p:grpSpPr>
              <a:xfrm>
                <a:off x="4355976" y="5301208"/>
                <a:ext cx="720080" cy="360040"/>
                <a:chOff x="4067944" y="4509120"/>
                <a:chExt cx="720080" cy="360040"/>
              </a:xfrm>
            </p:grpSpPr>
            <p:sp>
              <p:nvSpPr>
                <p:cNvPr id="40" name="矩形 39">
                  <a:extLst>
                    <a:ext uri="{FF2B5EF4-FFF2-40B4-BE49-F238E27FC236}">
                      <a16:creationId xmlns:a16="http://schemas.microsoft.com/office/drawing/2014/main" id="{4D59123B-9808-487A-B102-FE8F5F48DE91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1" name="文本框 40">
                  <a:extLst>
                    <a:ext uri="{FF2B5EF4-FFF2-40B4-BE49-F238E27FC236}">
                      <a16:creationId xmlns:a16="http://schemas.microsoft.com/office/drawing/2014/main" id="{E66CF95D-D0FF-4BF9-90BA-552F7E83BB62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00458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MDR</a:t>
                  </a:r>
                  <a:r>
                    <a:rPr lang="en-US" altLang="zh-CN" sz="1050" b="1" baseline="-25000" dirty="0"/>
                    <a:t>L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880F0531-BFF5-47DC-9BA7-2941B87739A7}"/>
                  </a:ext>
                </a:extLst>
              </p:cNvPr>
              <p:cNvGrpSpPr/>
              <p:nvPr/>
            </p:nvGrpSpPr>
            <p:grpSpPr>
              <a:xfrm>
                <a:off x="6588224" y="4702949"/>
                <a:ext cx="720080" cy="360040"/>
                <a:chOff x="4067944" y="4509120"/>
                <a:chExt cx="720080" cy="360040"/>
              </a:xfrm>
            </p:grpSpPr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417AD4B1-516E-499F-B057-69DEFB0A0298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2F618181-D3AC-40E1-AF7F-2D43CC6AB9A5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0076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MAR</a:t>
                  </a:r>
                  <a:r>
                    <a:rPr lang="en-US" altLang="zh-CN" sz="1050" b="1" baseline="-25000" dirty="0"/>
                    <a:t>R</a:t>
                  </a:r>
                  <a:endParaRPr lang="zh-CN" altLang="en-US" sz="1050" b="1" baseline="-25000" dirty="0"/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846E5E2E-D2D3-4FA6-9209-F80E12D4AD4C}"/>
                  </a:ext>
                </a:extLst>
              </p:cNvPr>
              <p:cNvGrpSpPr/>
              <p:nvPr/>
            </p:nvGrpSpPr>
            <p:grpSpPr>
              <a:xfrm>
                <a:off x="6589491" y="5301208"/>
                <a:ext cx="720080" cy="360040"/>
                <a:chOff x="4067944" y="4509120"/>
                <a:chExt cx="720080" cy="360040"/>
              </a:xfrm>
            </p:grpSpPr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368A99F4-8D17-45A2-BA5A-20740ABB986B}"/>
                    </a:ext>
                  </a:extLst>
                </p:cNvPr>
                <p:cNvSpPr/>
                <p:nvPr/>
              </p:nvSpPr>
              <p:spPr>
                <a:xfrm>
                  <a:off x="4067944" y="4509120"/>
                  <a:ext cx="720080" cy="360040"/>
                </a:xfrm>
                <a:prstGeom prst="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18CA8509-5574-4E31-B6D9-AE65D67F162C}"/>
                    </a:ext>
                  </a:extLst>
                </p:cNvPr>
                <p:cNvSpPr txBox="1"/>
                <p:nvPr/>
              </p:nvSpPr>
              <p:spPr>
                <a:xfrm>
                  <a:off x="4181975" y="4563555"/>
                  <a:ext cx="513282" cy="2539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50" b="1" dirty="0"/>
                    <a:t>MDR</a:t>
                  </a:r>
                  <a:r>
                    <a:rPr lang="en-US" altLang="zh-CN" sz="1050" b="1" baseline="-25000" dirty="0"/>
                    <a:t>R</a:t>
                  </a:r>
                  <a:endParaRPr lang="zh-CN" altLang="en-US" sz="1050" b="1" baseline="-25000" dirty="0"/>
                </a:p>
              </p:txBody>
            </p:sp>
          </p:grp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B77737AC-C4CF-4161-AD6D-33DA824E2EE5}"/>
                  </a:ext>
                </a:extLst>
              </p:cNvPr>
              <p:cNvCxnSpPr>
                <a:cxnSpLocks/>
                <a:stCxn id="42" idx="3"/>
              </p:cNvCxnSpPr>
              <p:nvPr/>
            </p:nvCxnSpPr>
            <p:spPr>
              <a:xfrm>
                <a:off x="5076056" y="4882969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EA76E94B-F3E4-4C87-B483-93804C0516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64683" y="5458007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>
                <a:extLst>
                  <a:ext uri="{FF2B5EF4-FFF2-40B4-BE49-F238E27FC236}">
                    <a16:creationId xmlns:a16="http://schemas.microsoft.com/office/drawing/2014/main" id="{538DDA62-12BB-4F33-934B-EC17107D1E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5212" y="4886818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>
                <a:extLst>
                  <a:ext uri="{FF2B5EF4-FFF2-40B4-BE49-F238E27FC236}">
                    <a16:creationId xmlns:a16="http://schemas.microsoft.com/office/drawing/2014/main" id="{32C04573-189A-467B-BF15-BF03A5BA7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2225" y="5473529"/>
                <a:ext cx="390025" cy="769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arrow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449491BA-14EC-4D75-81E5-FE6D4948E41A}"/>
                  </a:ext>
                </a:extLst>
              </p:cNvPr>
              <p:cNvCxnSpPr/>
              <p:nvPr/>
            </p:nvCxnSpPr>
            <p:spPr>
              <a:xfrm>
                <a:off x="5029416" y="3861048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2F1EFC88-9E9C-425E-AC90-F9AF8B25DF8E}"/>
                  </a:ext>
                </a:extLst>
              </p:cNvPr>
              <p:cNvCxnSpPr/>
              <p:nvPr/>
            </p:nvCxnSpPr>
            <p:spPr>
              <a:xfrm>
                <a:off x="5030628" y="4077072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15CC5CAD-93EC-46F0-986F-BF68A8F4BDA2}"/>
                  </a:ext>
                </a:extLst>
              </p:cNvPr>
              <p:cNvCxnSpPr/>
              <p:nvPr/>
            </p:nvCxnSpPr>
            <p:spPr>
              <a:xfrm>
                <a:off x="5025312" y="4293096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5D48DA84-024B-4F32-9DCC-718DD433777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2977" y="3861048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04B75852-FBAF-4E50-96B3-09285E55ABE7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4189" y="4077072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73839AA7-AFD2-4B50-9152-B09F502F652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6214189" y="4293096"/>
                <a:ext cx="42067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41CD423A-90E6-4C57-A678-4C7DFC1D3848}"/>
                  </a:ext>
                </a:extLst>
              </p:cNvPr>
              <p:cNvGrpSpPr/>
              <p:nvPr/>
            </p:nvGrpSpPr>
            <p:grpSpPr>
              <a:xfrm>
                <a:off x="4554444" y="3717032"/>
                <a:ext cx="2728340" cy="2604710"/>
                <a:chOff x="4554444" y="3717032"/>
                <a:chExt cx="2728340" cy="2604710"/>
              </a:xfrm>
            </p:grpSpPr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3E4B5C3E-8D8F-4353-94C9-FF532C762048}"/>
                    </a:ext>
                  </a:extLst>
                </p:cNvPr>
                <p:cNvSpPr txBox="1"/>
                <p:nvPr/>
              </p:nvSpPr>
              <p:spPr>
                <a:xfrm>
                  <a:off x="4554444" y="3717032"/>
                  <a:ext cx="48923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Read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7700A691-B74D-4004-AA89-50B21490F41D}"/>
                    </a:ext>
                  </a:extLst>
                </p:cNvPr>
                <p:cNvSpPr txBox="1"/>
                <p:nvPr/>
              </p:nvSpPr>
              <p:spPr>
                <a:xfrm>
                  <a:off x="6732240" y="3717032"/>
                  <a:ext cx="50045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Read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95365EED-5C01-4BC4-B2A1-67AEE07C954E}"/>
                    </a:ext>
                  </a:extLst>
                </p:cNvPr>
                <p:cNvSpPr txBox="1"/>
                <p:nvPr/>
              </p:nvSpPr>
              <p:spPr>
                <a:xfrm>
                  <a:off x="4572000" y="3934755"/>
                  <a:ext cx="52450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Write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9AD6C65D-F971-4C3F-AEFF-B993F695EEEC}"/>
                    </a:ext>
                  </a:extLst>
                </p:cNvPr>
                <p:cNvSpPr txBox="1"/>
                <p:nvPr/>
              </p:nvSpPr>
              <p:spPr>
                <a:xfrm>
                  <a:off x="4572000" y="4149080"/>
                  <a:ext cx="40427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/CS</a:t>
                  </a:r>
                  <a:r>
                    <a:rPr lang="en-US" altLang="zh-CN" sz="1000" b="1" baseline="-25000" dirty="0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CB44908E-01D2-4DD9-8008-F4301F736902}"/>
                    </a:ext>
                  </a:extLst>
                </p:cNvPr>
                <p:cNvSpPr txBox="1"/>
                <p:nvPr/>
              </p:nvSpPr>
              <p:spPr>
                <a:xfrm>
                  <a:off x="6747060" y="3929439"/>
                  <a:ext cx="535724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 err="1"/>
                    <a:t>Write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D396B8D-C31A-4936-B6C0-5509ECF8722F}"/>
                    </a:ext>
                  </a:extLst>
                </p:cNvPr>
                <p:cNvSpPr txBox="1"/>
                <p:nvPr/>
              </p:nvSpPr>
              <p:spPr>
                <a:xfrm>
                  <a:off x="6752376" y="4154396"/>
                  <a:ext cx="415498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/CS</a:t>
                  </a:r>
                  <a:r>
                    <a:rPr lang="en-US" altLang="zh-CN" sz="1000" b="1" baseline="-25000" dirty="0"/>
                    <a:t>R</a:t>
                  </a:r>
                  <a:endParaRPr lang="zh-CN" altLang="en-US" sz="1000" b="1" baseline="-25000" dirty="0"/>
                </a:p>
              </p:txBody>
            </p:sp>
            <p:grpSp>
              <p:nvGrpSpPr>
                <p:cNvPr id="28" name="组合 27">
                  <a:extLst>
                    <a:ext uri="{FF2B5EF4-FFF2-40B4-BE49-F238E27FC236}">
                      <a16:creationId xmlns:a16="http://schemas.microsoft.com/office/drawing/2014/main" id="{D6C04520-CCDD-4C2F-9CC8-399B687C5CCB}"/>
                    </a:ext>
                  </a:extLst>
                </p:cNvPr>
                <p:cNvGrpSpPr/>
                <p:nvPr/>
              </p:nvGrpSpPr>
              <p:grpSpPr>
                <a:xfrm>
                  <a:off x="6012160" y="5639984"/>
                  <a:ext cx="420675" cy="351656"/>
                  <a:chOff x="6012160" y="5639984"/>
                  <a:chExt cx="420675" cy="351656"/>
                </a:xfrm>
              </p:grpSpPr>
              <p:cxnSp>
                <p:nvCxnSpPr>
                  <p:cNvPr id="34" name="直接箭头连接符 33">
                    <a:extLst>
                      <a:ext uri="{FF2B5EF4-FFF2-40B4-BE49-F238E27FC236}">
                        <a16:creationId xmlns:a16="http://schemas.microsoft.com/office/drawing/2014/main" id="{3AEE3D4B-5943-4FD3-A54D-F52D62909B8A}"/>
                      </a:ext>
                    </a:extLst>
                  </p:cNvPr>
                  <p:cNvCxnSpPr/>
                  <p:nvPr/>
                </p:nvCxnSpPr>
                <p:spPr>
                  <a:xfrm>
                    <a:off x="6012160" y="5991640"/>
                    <a:ext cx="420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直接箭头连接符 34">
                    <a:extLst>
                      <a:ext uri="{FF2B5EF4-FFF2-40B4-BE49-F238E27FC236}">
                        <a16:creationId xmlns:a16="http://schemas.microsoft.com/office/drawing/2014/main" id="{B7FDB875-09B3-482A-B99A-827148F5905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12160" y="5639984"/>
                    <a:ext cx="0" cy="35165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9" name="组合 28">
                  <a:extLst>
                    <a:ext uri="{FF2B5EF4-FFF2-40B4-BE49-F238E27FC236}">
                      <a16:creationId xmlns:a16="http://schemas.microsoft.com/office/drawing/2014/main" id="{3A275164-1A79-4B4C-BD59-E4F7F723193D}"/>
                    </a:ext>
                  </a:extLst>
                </p:cNvPr>
                <p:cNvGrpSpPr/>
                <p:nvPr/>
              </p:nvGrpSpPr>
              <p:grpSpPr>
                <a:xfrm flipH="1">
                  <a:off x="5235649" y="5661248"/>
                  <a:ext cx="380202" cy="351656"/>
                  <a:chOff x="6012160" y="5639984"/>
                  <a:chExt cx="420675" cy="351656"/>
                </a:xfrm>
              </p:grpSpPr>
              <p:cxnSp>
                <p:nvCxnSpPr>
                  <p:cNvPr id="32" name="直接箭头连接符 31">
                    <a:extLst>
                      <a:ext uri="{FF2B5EF4-FFF2-40B4-BE49-F238E27FC236}">
                        <a16:creationId xmlns:a16="http://schemas.microsoft.com/office/drawing/2014/main" id="{1F0F4B35-2550-49E1-8701-975E1A824A05}"/>
                      </a:ext>
                    </a:extLst>
                  </p:cNvPr>
                  <p:cNvCxnSpPr/>
                  <p:nvPr/>
                </p:nvCxnSpPr>
                <p:spPr>
                  <a:xfrm>
                    <a:off x="6012160" y="5991640"/>
                    <a:ext cx="420675" cy="0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直接箭头连接符 32">
                    <a:extLst>
                      <a:ext uri="{FF2B5EF4-FFF2-40B4-BE49-F238E27FC236}">
                        <a16:creationId xmlns:a16="http://schemas.microsoft.com/office/drawing/2014/main" id="{CE82F1C0-759E-417D-94D0-1FE9900D65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012160" y="5639984"/>
                    <a:ext cx="0" cy="35165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prstDash val="solid"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A15B726E-632B-4E4C-9FAB-82E80FC968B8}"/>
                    </a:ext>
                  </a:extLst>
                </p:cNvPr>
                <p:cNvSpPr txBox="1"/>
                <p:nvPr/>
              </p:nvSpPr>
              <p:spPr>
                <a:xfrm>
                  <a:off x="4739537" y="6040914"/>
                  <a:ext cx="529312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</a:t>
                  </a:r>
                  <a:r>
                    <a:rPr lang="en-US" altLang="zh-CN" sz="1000" b="1" dirty="0" err="1"/>
                    <a:t>Busy</a:t>
                  </a:r>
                  <a:r>
                    <a:rPr lang="en-US" altLang="zh-CN" sz="1000" b="1" baseline="-25000" dirty="0" err="1"/>
                    <a:t>L</a:t>
                  </a:r>
                  <a:endParaRPr lang="zh-CN" altLang="en-US" sz="1000" b="1" baseline="-25000" dirty="0"/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DAA5D572-003E-48F7-8F95-1E4D08543745}"/>
                    </a:ext>
                  </a:extLst>
                </p:cNvPr>
                <p:cNvSpPr txBox="1"/>
                <p:nvPr/>
              </p:nvSpPr>
              <p:spPr>
                <a:xfrm>
                  <a:off x="6211965" y="6075521"/>
                  <a:ext cx="540533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000" b="1" dirty="0"/>
                    <a:t>/</a:t>
                  </a:r>
                  <a:r>
                    <a:rPr lang="en-US" altLang="zh-CN" sz="1000" b="1" dirty="0" err="1"/>
                    <a:t>Busy</a:t>
                  </a:r>
                  <a:r>
                    <a:rPr lang="en-US" altLang="zh-CN" sz="1000" b="1" baseline="-25000" dirty="0" err="1"/>
                    <a:t>R</a:t>
                  </a:r>
                  <a:endParaRPr lang="zh-CN" altLang="en-US" sz="1000" b="1" baseline="-25000" dirty="0"/>
                </a:p>
              </p:txBody>
            </p:sp>
          </p:grpSp>
        </p:grp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EE251E28-14E3-4384-B12D-F77A36A97F57}"/>
              </a:ext>
            </a:extLst>
          </p:cNvPr>
          <p:cNvSpPr txBox="1"/>
          <p:nvPr/>
        </p:nvSpPr>
        <p:spPr>
          <a:xfrm>
            <a:off x="5866776" y="4961144"/>
            <a:ext cx="2809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4.27    </a:t>
            </a:r>
            <a:r>
              <a:rPr lang="zh-CN" altLang="en-US" sz="1400" b="1" dirty="0"/>
              <a:t>双端口存储器结构示意图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8811425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97AB447-DB08-4F61-8ACA-5656D433C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884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3564" y="1054799"/>
            <a:ext cx="8229600" cy="2069676"/>
          </a:xfrm>
        </p:spPr>
        <p:txBody>
          <a:bodyPr/>
          <a:lstStyle/>
          <a:p>
            <a:pPr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、单体多字存储器（应用于向量超级计算机，如</a:t>
            </a:r>
            <a:r>
              <a:rPr lang="en-US" altLang="zh-CN" sz="2000" b="1" dirty="0"/>
              <a:t>cray-1</a:t>
            </a:r>
            <a:r>
              <a:rPr lang="zh-CN" altLang="en-US" sz="2000" b="1" dirty="0"/>
              <a:t>）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/>
              <a:t>单体多字存储器的结构与存储器</a:t>
            </a:r>
            <a:r>
              <a:rPr lang="zh-CN" altLang="en-US" sz="1400" b="1" dirty="0">
                <a:solidFill>
                  <a:srgbClr val="C00000"/>
                </a:solidFill>
              </a:rPr>
              <a:t>位扩展方式</a:t>
            </a:r>
            <a:r>
              <a:rPr lang="zh-CN" altLang="en-US" sz="1400" b="1" dirty="0"/>
              <a:t>完全相同，此时多个存储模块（图</a:t>
            </a:r>
            <a:r>
              <a:rPr lang="en-US" altLang="zh-CN" sz="1400" b="1" dirty="0"/>
              <a:t>4.24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个存储模块，右图有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个存储模块）共享地址总线，可以实现同时访问多个存储模块</a:t>
            </a:r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单体多字系统的特点：存储器中</a:t>
            </a:r>
            <a:r>
              <a:rPr lang="zh-CN" altLang="en-US" sz="1400" b="1" dirty="0">
                <a:highlight>
                  <a:srgbClr val="FFFF00"/>
                </a:highlight>
              </a:rPr>
              <a:t>只有一个</a:t>
            </a:r>
            <a:r>
              <a:rPr lang="zh-CN" altLang="en-US" sz="1400" b="1" dirty="0"/>
              <a:t>存储体，按同一地址访问不同存储模块的同一单元，实现在一个存储周期访问多个存储字，若</a:t>
            </a:r>
            <a:r>
              <a:rPr lang="en-US" altLang="zh-CN" sz="1400" b="1" dirty="0"/>
              <a:t>m</a:t>
            </a:r>
            <a:r>
              <a:rPr lang="zh-CN" altLang="en-US" sz="1400" b="1" dirty="0"/>
              <a:t>个存储模块并发，主存带宽</a:t>
            </a:r>
            <a:r>
              <a:rPr lang="zh-CN" altLang="en-US" sz="1400" b="1" dirty="0">
                <a:highlight>
                  <a:srgbClr val="FFFF00"/>
                </a:highlight>
              </a:rPr>
              <a:t>提升</a:t>
            </a:r>
            <a:r>
              <a:rPr lang="en-US" altLang="zh-CN" sz="1400" b="1" dirty="0">
                <a:highlight>
                  <a:srgbClr val="FFFF00"/>
                </a:highlight>
              </a:rPr>
              <a:t>m</a:t>
            </a:r>
            <a:r>
              <a:rPr lang="zh-CN" altLang="en-US" sz="1400" b="1" dirty="0"/>
              <a:t>倍。</a:t>
            </a:r>
            <a:endParaRPr lang="en-US" altLang="zh-CN" sz="1400" b="1" dirty="0"/>
          </a:p>
          <a:p>
            <a:pPr lvl="1" eaLnBrk="1" hangingPunct="1"/>
            <a:r>
              <a:rPr lang="zh-CN" altLang="en-US" sz="1400" b="1" dirty="0">
                <a:highlight>
                  <a:srgbClr val="FFFF00"/>
                </a:highlight>
              </a:rPr>
              <a:t>缺点：</a:t>
            </a:r>
            <a:r>
              <a:rPr lang="zh-CN" altLang="en-US" sz="1400" b="1" dirty="0"/>
              <a:t>指令和数据在主存内必须是连续存放的，一旦遇到转移指令，或操作数不能连续存放，这种方法的效果就不明显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>
                <a:solidFill>
                  <a:srgbClr val="C00000"/>
                </a:solidFill>
              </a:rPr>
              <a:t>多通道内存技术</a:t>
            </a:r>
            <a:r>
              <a:rPr lang="zh-CN" altLang="en-US" sz="1400" b="1" dirty="0"/>
              <a:t>：就是采用单体多字技术，常见的有双通道、三通道、四通道技术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A341BAFA-AE24-4793-B931-B0D31770AB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5" t="563" r="800"/>
          <a:stretch/>
        </p:blipFill>
        <p:spPr>
          <a:xfrm>
            <a:off x="1781733" y="5335545"/>
            <a:ext cx="1942761" cy="1116903"/>
          </a:xfrm>
          <a:prstGeom prst="rect">
            <a:avLst/>
          </a:prstGeom>
          <a:ln>
            <a:noFill/>
          </a:ln>
        </p:spPr>
      </p:pic>
      <p:pic>
        <p:nvPicPr>
          <p:cNvPr id="55" name="内容占位符 4">
            <a:extLst>
              <a:ext uri="{FF2B5EF4-FFF2-40B4-BE49-F238E27FC236}">
                <a16:creationId xmlns:a16="http://schemas.microsoft.com/office/drawing/2014/main" id="{0E2467A7-B4B8-490C-B115-083C4B9274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45458" y="5573131"/>
            <a:ext cx="1452719" cy="9660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D9A17B65-759C-4F53-8415-B68597505D29}"/>
              </a:ext>
            </a:extLst>
          </p:cNvPr>
          <p:cNvSpPr txBox="1"/>
          <p:nvPr/>
        </p:nvSpPr>
        <p:spPr>
          <a:xfrm>
            <a:off x="3825315" y="5927272"/>
            <a:ext cx="2018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电脑主板上的</a:t>
            </a:r>
            <a:r>
              <a:rPr lang="zh-CN" altLang="en-US" sz="1100" b="1" dirty="0">
                <a:solidFill>
                  <a:srgbClr val="C00000"/>
                </a:solidFill>
              </a:rPr>
              <a:t>双通道</a:t>
            </a:r>
            <a:r>
              <a:rPr lang="zh-CN" altLang="en-US" sz="1100" b="1" dirty="0"/>
              <a:t>内存插槽</a:t>
            </a: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CF78B26C-CE5B-4F7E-A0A1-EB5A693F64DD}"/>
              </a:ext>
            </a:extLst>
          </p:cNvPr>
          <p:cNvGrpSpPr/>
          <p:nvPr/>
        </p:nvGrpSpPr>
        <p:grpSpPr>
          <a:xfrm>
            <a:off x="5299499" y="2887196"/>
            <a:ext cx="2018501" cy="2197988"/>
            <a:chOff x="5548149" y="1406743"/>
            <a:chExt cx="1694894" cy="2063802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1FDAE605-DA00-4770-9234-151F740B0656}"/>
                </a:ext>
              </a:extLst>
            </p:cNvPr>
            <p:cNvSpPr txBox="1"/>
            <p:nvPr/>
          </p:nvSpPr>
          <p:spPr>
            <a:xfrm>
              <a:off x="5609445" y="3208935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单体多字存储器的结构</a:t>
              </a:r>
            </a:p>
          </p:txBody>
        </p:sp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CF782987-7705-4E62-A1CB-E04E1F57A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548149" y="1406743"/>
              <a:ext cx="1694894" cy="1739109"/>
            </a:xfrm>
            <a:prstGeom prst="rect">
              <a:avLst/>
            </a:prstGeom>
          </p:spPr>
        </p:pic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3AD0562-4793-4A7D-A811-4441B54CA851}"/>
              </a:ext>
            </a:extLst>
          </p:cNvPr>
          <p:cNvGrpSpPr/>
          <p:nvPr/>
        </p:nvGrpSpPr>
        <p:grpSpPr>
          <a:xfrm>
            <a:off x="1470396" y="2893731"/>
            <a:ext cx="3364169" cy="2117100"/>
            <a:chOff x="1087818" y="1688211"/>
            <a:chExt cx="3102197" cy="2029687"/>
          </a:xfrm>
        </p:grpSpPr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14678FEB-2AC3-4BB1-B68F-ED138E8D4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87818" y="1688211"/>
              <a:ext cx="3102197" cy="1739110"/>
            </a:xfrm>
            <a:prstGeom prst="rect">
              <a:avLst/>
            </a:prstGeom>
          </p:spPr>
        </p:pic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AE244577-4D37-463D-A320-1B8F4B6D1D57}"/>
                </a:ext>
              </a:extLst>
            </p:cNvPr>
            <p:cNvSpPr txBox="1"/>
            <p:nvPr/>
          </p:nvSpPr>
          <p:spPr>
            <a:xfrm>
              <a:off x="1761529" y="3456288"/>
              <a:ext cx="2021707" cy="261610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存储器的位扩展（单体</a:t>
              </a:r>
              <a:r>
                <a:rPr lang="en-US" altLang="zh-CN" sz="1100" b="1" dirty="0"/>
                <a:t>32</a:t>
              </a:r>
              <a:r>
                <a:rPr lang="zh-CN" altLang="en-US" sz="1100" b="1" dirty="0"/>
                <a:t>字）</a:t>
              </a:r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E26A7C15-61B5-46E8-88D8-6CACC6FFB625}"/>
              </a:ext>
            </a:extLst>
          </p:cNvPr>
          <p:cNvSpPr txBox="1"/>
          <p:nvPr/>
        </p:nvSpPr>
        <p:spPr>
          <a:xfrm>
            <a:off x="7380312" y="3827421"/>
            <a:ext cx="679994" cy="26161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单体</a:t>
            </a:r>
            <a:r>
              <a:rPr lang="en-US" altLang="zh-CN" sz="1100" b="1" dirty="0"/>
              <a:t>4</a:t>
            </a:r>
            <a:r>
              <a:rPr lang="zh-CN" altLang="en-US" sz="1100" b="1" dirty="0"/>
              <a:t>字</a:t>
            </a:r>
          </a:p>
        </p:txBody>
      </p:sp>
    </p:spTree>
    <p:extLst>
      <p:ext uri="{BB962C8B-B14F-4D97-AF65-F5344CB8AC3E}">
        <p14:creationId xmlns:p14="http://schemas.microsoft.com/office/powerpoint/2010/main" val="61659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19639B-3F07-4DB2-8497-B1A18EFC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014" y="0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88684"/>
            <a:ext cx="8229600" cy="2924265"/>
          </a:xfrm>
        </p:spPr>
        <p:txBody>
          <a:bodyPr/>
          <a:lstStyle/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联动模式</a:t>
            </a:r>
            <a:r>
              <a:rPr lang="zh-CN" altLang="en-US" sz="1600" b="1" dirty="0"/>
              <a:t>的双通道内存技术：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相当于存储器位扩展中有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个存储模块，两个存储模块的地址线（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）、片选线（</a:t>
            </a:r>
            <a:r>
              <a:rPr lang="en-US" altLang="zh-CN" sz="1400" b="1" dirty="0"/>
              <a:t>CS</a:t>
            </a:r>
            <a:r>
              <a:rPr lang="zh-CN" altLang="en-US" sz="1400" b="1" dirty="0"/>
              <a:t>）、数据线（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）共享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此时要求两个存储模块（两根内存条）的容量、频率、时序必须完全一致，才能实现同步工作</a:t>
            </a:r>
            <a:endParaRPr lang="en-US" altLang="zh-CN" sz="1400" b="1" dirty="0"/>
          </a:p>
          <a:p>
            <a:pPr lvl="2" eaLnBrk="1" hangingPunct="1"/>
            <a:endParaRPr lang="en-US" altLang="zh-CN" sz="105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非联动模式</a:t>
            </a:r>
            <a:r>
              <a:rPr lang="zh-CN" altLang="en-US" sz="1600" b="1" dirty="0"/>
              <a:t>的双通道内存技术：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此时，两个存储模块采用独立的地址线（</a:t>
            </a:r>
            <a:r>
              <a:rPr lang="en-US" altLang="zh-CN" sz="1400" b="1" dirty="0"/>
              <a:t>A1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A2</a:t>
            </a:r>
            <a:r>
              <a:rPr lang="zh-CN" altLang="en-US" sz="1400" b="1" dirty="0"/>
              <a:t>）、片选线（</a:t>
            </a:r>
            <a:r>
              <a:rPr lang="en-US" altLang="zh-CN" sz="1400" b="1" dirty="0"/>
              <a:t>CS1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CS2</a:t>
            </a:r>
            <a:r>
              <a:rPr lang="zh-CN" altLang="en-US" sz="1400" b="1" dirty="0"/>
              <a:t>）和控制线（图中没有画出），数据总线也是独立的（</a:t>
            </a:r>
            <a:r>
              <a:rPr lang="en-US" altLang="zh-CN" sz="1400" b="1" dirty="0"/>
              <a:t>D1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D2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这种方式两个存储模块（两根内存条）可以独立工作，也可以并发工作；非联动方式的两根内存条只需要频率相同，容量、时序特征并不要求完全一致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1CA8F01-BA9D-4E50-AA0A-0B10D947027F}"/>
              </a:ext>
            </a:extLst>
          </p:cNvPr>
          <p:cNvGrpSpPr/>
          <p:nvPr/>
        </p:nvGrpSpPr>
        <p:grpSpPr>
          <a:xfrm>
            <a:off x="1776158" y="3971517"/>
            <a:ext cx="2827142" cy="2461483"/>
            <a:chOff x="5652120" y="332656"/>
            <a:chExt cx="2827142" cy="2734289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6434251" y="2805335"/>
              <a:ext cx="16241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4.28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a</a:t>
              </a:r>
              <a:r>
                <a:rPr lang="zh-CN" altLang="en-US" sz="1100" b="1" dirty="0"/>
                <a:t>）</a:t>
              </a:r>
              <a:r>
                <a:rPr lang="en-US" altLang="zh-CN" sz="1100" b="1" dirty="0"/>
                <a:t>    </a:t>
              </a:r>
              <a:r>
                <a:rPr lang="zh-CN" altLang="en-US" sz="1100" b="1" dirty="0"/>
                <a:t>联动模式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E3092FD3-1B57-4769-B7F8-DFCA087824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2120" y="332656"/>
              <a:ext cx="2827142" cy="2328663"/>
            </a:xfrm>
            <a:prstGeom prst="rect">
              <a:avLst/>
            </a:prstGeom>
          </p:spPr>
        </p:pic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FF815CFA-709C-403D-B0B1-703B20E7FDBA}"/>
              </a:ext>
            </a:extLst>
          </p:cNvPr>
          <p:cNvGrpSpPr/>
          <p:nvPr/>
        </p:nvGrpSpPr>
        <p:grpSpPr>
          <a:xfrm>
            <a:off x="5076056" y="3912949"/>
            <a:ext cx="2827142" cy="2651085"/>
            <a:chOff x="5981031" y="4241328"/>
            <a:chExt cx="2530605" cy="2414821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5063C5E-5F2C-430E-BE4F-1A6BF42CB6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1031" y="4241328"/>
              <a:ext cx="2530605" cy="2025754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4D8EEAA-8C1E-4427-90B1-F89D717D109A}"/>
                </a:ext>
              </a:extLst>
            </p:cNvPr>
            <p:cNvSpPr txBox="1"/>
            <p:nvPr/>
          </p:nvSpPr>
          <p:spPr>
            <a:xfrm>
              <a:off x="6450556" y="6394539"/>
              <a:ext cx="17716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4.28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b</a:t>
              </a:r>
              <a:r>
                <a:rPr lang="zh-CN" altLang="en-US" sz="1100" b="1" dirty="0"/>
                <a:t>）</a:t>
              </a:r>
              <a:r>
                <a:rPr lang="en-US" altLang="zh-CN" sz="1100" b="1" dirty="0"/>
                <a:t>    </a:t>
              </a:r>
              <a:r>
                <a:rPr lang="zh-CN" altLang="en-US" sz="1100" b="1" dirty="0"/>
                <a:t>非联动模式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234970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64F96-2EC9-4877-9C9D-364174F75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31597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7504" y="871962"/>
            <a:ext cx="4963683" cy="5688632"/>
          </a:xfrm>
        </p:spPr>
        <p:txBody>
          <a:bodyPr/>
          <a:lstStyle/>
          <a:p>
            <a:pPr eaLnBrk="1" hangingPunct="1"/>
            <a:r>
              <a:rPr lang="en-US" altLang="zh-CN" sz="2400" b="1" dirty="0"/>
              <a:t>3</a:t>
            </a:r>
            <a:r>
              <a:rPr lang="zh-CN" altLang="en-US" sz="2400" b="1" dirty="0"/>
              <a:t>、多体交叉存储器</a:t>
            </a:r>
            <a:endParaRPr lang="en-US" altLang="zh-CN" sz="1800" b="1" dirty="0"/>
          </a:p>
          <a:p>
            <a:pPr lvl="1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）高位多体交叉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高位多体交叉存储器的结构与存储器</a:t>
            </a:r>
            <a:r>
              <a:rPr lang="zh-CN" altLang="en-US" sz="1600" b="1" dirty="0">
                <a:solidFill>
                  <a:srgbClr val="C00000"/>
                </a:solidFill>
              </a:rPr>
              <a:t>字扩展</a:t>
            </a:r>
            <a:r>
              <a:rPr lang="zh-CN" altLang="en-US" sz="1600" b="1" dirty="0"/>
              <a:t>完全相同，也称为</a:t>
            </a:r>
            <a:r>
              <a:rPr lang="zh-CN" altLang="en-US" sz="1600" b="1" dirty="0">
                <a:solidFill>
                  <a:srgbClr val="C00000"/>
                </a:solidFill>
              </a:rPr>
              <a:t>顺序编址</a:t>
            </a:r>
            <a:r>
              <a:rPr lang="zh-CN" altLang="en-US" sz="1600" b="1" dirty="0"/>
              <a:t>模式；高位地址（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20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18</a:t>
            </a:r>
            <a:r>
              <a:rPr lang="zh-CN" altLang="en-US" sz="1600" b="1" dirty="0"/>
              <a:t>）经过译码器用于选择不同的存储体，低位地址（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17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）同时送各个存储体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高位多体交叉存储器的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特点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相邻的地址往往在同一个存储体内（如地址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都在存储体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中）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不同存储体中的地址不相邻（存储体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的第一单元的地址分别是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16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24</a:t>
            </a:r>
            <a:r>
              <a:rPr lang="zh-CN" altLang="en-US" sz="1600" b="1" dirty="0"/>
              <a:t>，不相邻）</a:t>
            </a:r>
            <a:endParaRPr lang="en-US" altLang="zh-CN" sz="1050" b="1" dirty="0"/>
          </a:p>
          <a:p>
            <a:pPr lvl="1" eaLnBrk="1" hangingPunct="1"/>
            <a:r>
              <a:rPr lang="zh-CN" altLang="en-US" sz="1600" b="1" dirty="0"/>
              <a:t>高位多体交叉存储器的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缺点</a:t>
            </a:r>
            <a:r>
              <a:rPr lang="zh-CN" altLang="en-US" sz="1600" b="1" dirty="0"/>
              <a:t>：由于程序具有局部性和连续性的特点，程序的指令和数据往往分布在同一个存储体中，从而导致一个存储体被频繁访问，其它存储体基本处于空闲状态，无法实现多个存储体并行工作</a:t>
            </a:r>
            <a:endParaRPr lang="en-US" altLang="zh-CN" sz="1600" b="1" dirty="0"/>
          </a:p>
          <a:p>
            <a:pPr lvl="2" eaLnBrk="1" hangingPunct="1"/>
            <a:endParaRPr lang="en-US" altLang="zh-CN" sz="900" b="1" dirty="0"/>
          </a:p>
          <a:p>
            <a:pPr lvl="1" eaLnBrk="1" hangingPunct="1"/>
            <a:endParaRPr lang="en-US" altLang="zh-CN" sz="1200" b="1" dirty="0"/>
          </a:p>
          <a:p>
            <a:pPr lvl="1" eaLnBrk="1" hangingPunct="1"/>
            <a:endParaRPr lang="en-US" altLang="zh-CN" sz="12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7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F57F891C-D3DB-459C-82D7-D2613BAEDBC9}"/>
              </a:ext>
            </a:extLst>
          </p:cNvPr>
          <p:cNvGrpSpPr/>
          <p:nvPr/>
        </p:nvGrpSpPr>
        <p:grpSpPr>
          <a:xfrm>
            <a:off x="5721091" y="3706696"/>
            <a:ext cx="2885526" cy="2853898"/>
            <a:chOff x="5004048" y="3861048"/>
            <a:chExt cx="2885526" cy="2853898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5009254" y="6453336"/>
              <a:ext cx="26885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4.29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a</a:t>
              </a:r>
              <a:r>
                <a:rPr lang="zh-CN" altLang="en-US" sz="1100" b="1" dirty="0"/>
                <a:t>）  高位交叉方式（顺序编址）</a:t>
              </a: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52BBA8AD-E194-4210-A09F-3F8C61278E0D}"/>
                </a:ext>
              </a:extLst>
            </p:cNvPr>
            <p:cNvGrpSpPr/>
            <p:nvPr/>
          </p:nvGrpSpPr>
          <p:grpSpPr>
            <a:xfrm>
              <a:off x="5004048" y="3861048"/>
              <a:ext cx="2885526" cy="2478314"/>
              <a:chOff x="5004048" y="3861048"/>
              <a:chExt cx="2885526" cy="2478314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1314A93-2D83-4EB7-B631-DC0F5A0807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004048" y="3861048"/>
                <a:ext cx="2539173" cy="2478314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5C1EF96D-440F-42EA-A66E-E691339297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438701" y="5481945"/>
                <a:ext cx="450873" cy="844593"/>
              </a:xfrm>
              <a:prstGeom prst="rect">
                <a:avLst/>
              </a:prstGeom>
            </p:spPr>
          </p:pic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6CED765-62D9-4DF7-A527-07D10840B42D}"/>
              </a:ext>
            </a:extLst>
          </p:cNvPr>
          <p:cNvGrpSpPr/>
          <p:nvPr/>
        </p:nvGrpSpPr>
        <p:grpSpPr>
          <a:xfrm>
            <a:off x="5228553" y="1206695"/>
            <a:ext cx="3567293" cy="2186001"/>
            <a:chOff x="1016415" y="4268030"/>
            <a:chExt cx="3567293" cy="218600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2C77387-076D-40F4-A7AE-B8C1DB9C6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16415" y="4268030"/>
              <a:ext cx="3567293" cy="2071332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648B9C76-2EBB-4365-A997-A56CD089E4B0}"/>
                </a:ext>
              </a:extLst>
            </p:cNvPr>
            <p:cNvSpPr txBox="1"/>
            <p:nvPr/>
          </p:nvSpPr>
          <p:spPr>
            <a:xfrm>
              <a:off x="1907704" y="6146254"/>
              <a:ext cx="2518638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存储器的字扩展（高位交叉）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951868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162C75E-BE1D-4C84-8712-85C1C431C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8691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91198" y="1166018"/>
            <a:ext cx="4680520" cy="5575350"/>
          </a:xfrm>
        </p:spPr>
        <p:txBody>
          <a:bodyPr/>
          <a:lstStyle/>
          <a:p>
            <a:pPr lvl="1" eaLnBrk="1" hangingPunct="1"/>
            <a:r>
              <a:rPr lang="zh-CN" altLang="en-US" sz="2000" b="1" dirty="0"/>
              <a:t>（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）低位多体交叉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低位多体交叉存储器的结构与存储器</a:t>
            </a:r>
            <a:r>
              <a:rPr lang="zh-CN" altLang="en-US" sz="1600" b="1" dirty="0">
                <a:solidFill>
                  <a:srgbClr val="C00000"/>
                </a:solidFill>
              </a:rPr>
              <a:t>字扩展</a:t>
            </a:r>
            <a:r>
              <a:rPr lang="zh-CN" altLang="en-US" sz="1600" b="1" dirty="0"/>
              <a:t>也基本相同，只是低位地址（右下角图中的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2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）经过译码器用于选择不同的存储体，而高位地址（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20</a:t>
            </a:r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600" b="1" dirty="0"/>
              <a:t>A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）同时送各个存储体；低位多体交叉也称为</a:t>
            </a:r>
            <a:r>
              <a:rPr lang="zh-CN" altLang="en-US" sz="1600" b="1" dirty="0">
                <a:solidFill>
                  <a:srgbClr val="C00000"/>
                </a:solidFill>
              </a:rPr>
              <a:t>交叉编址</a:t>
            </a:r>
            <a:r>
              <a:rPr lang="zh-CN" altLang="en-US" sz="1600" b="1" dirty="0"/>
              <a:t>模式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特点：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相邻的地址往往在不同的存储体内（如地址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分别处在存储体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1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3</a:t>
            </a:r>
            <a:r>
              <a:rPr lang="zh-CN" altLang="en-US" sz="1600" b="1" dirty="0"/>
              <a:t>中）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600" b="1" dirty="0"/>
              <a:t>同一存储体中的地址不相邻（存储体</a:t>
            </a:r>
            <a:r>
              <a:rPr lang="en-US" altLang="zh-CN" sz="1600" b="1" dirty="0"/>
              <a:t>M</a:t>
            </a:r>
            <a:r>
              <a:rPr lang="en-US" altLang="zh-CN" sz="1600" b="1" baseline="-25000" dirty="0"/>
              <a:t>0</a:t>
            </a:r>
            <a:r>
              <a:rPr lang="zh-CN" altLang="en-US" sz="1600" b="1" dirty="0"/>
              <a:t>的地址分别是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18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12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……</a:t>
            </a:r>
            <a:r>
              <a:rPr lang="zh-CN" altLang="en-US" sz="1600" b="1" dirty="0"/>
              <a:t>，不相邻）</a:t>
            </a:r>
            <a:endParaRPr lang="en-US" altLang="zh-CN" sz="1050" b="1" dirty="0"/>
          </a:p>
          <a:p>
            <a:pPr lvl="2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低位多体交叉存储器的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优点</a:t>
            </a:r>
            <a:r>
              <a:rPr lang="zh-CN" altLang="en-US" sz="1600" b="1" dirty="0"/>
              <a:t>：由于程序具有局部性和连续性的特点，如果将程序的指令和数据分布在不同的存储体中，可以实现多个存储体并行工作</a:t>
            </a:r>
            <a:endParaRPr lang="en-US" altLang="zh-CN" sz="1600" b="1" dirty="0"/>
          </a:p>
          <a:p>
            <a:pPr lvl="2" eaLnBrk="1" hangingPunct="1"/>
            <a:endParaRPr lang="en-US" altLang="zh-CN" sz="105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700" b="1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B841C44-0830-4F93-9FB2-EEDA0A91305A}"/>
              </a:ext>
            </a:extLst>
          </p:cNvPr>
          <p:cNvGrpSpPr/>
          <p:nvPr/>
        </p:nvGrpSpPr>
        <p:grpSpPr>
          <a:xfrm>
            <a:off x="5580112" y="4017608"/>
            <a:ext cx="2694969" cy="2736304"/>
            <a:chOff x="3222844" y="4005064"/>
            <a:chExt cx="2694969" cy="2736304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9A17B65-759C-4F53-8415-B68597505D29}"/>
                </a:ext>
              </a:extLst>
            </p:cNvPr>
            <p:cNvSpPr txBox="1"/>
            <p:nvPr/>
          </p:nvSpPr>
          <p:spPr>
            <a:xfrm>
              <a:off x="3222844" y="6479758"/>
              <a:ext cx="269496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100" b="1" dirty="0"/>
                <a:t>图</a:t>
              </a:r>
              <a:r>
                <a:rPr lang="en-US" altLang="zh-CN" sz="1100" b="1" dirty="0"/>
                <a:t>4.29</a:t>
              </a:r>
              <a:r>
                <a:rPr lang="zh-CN" altLang="en-US" sz="1100" b="1" dirty="0"/>
                <a:t>（</a:t>
              </a:r>
              <a:r>
                <a:rPr lang="en-US" altLang="zh-CN" sz="1100" b="1" dirty="0"/>
                <a:t>b</a:t>
              </a:r>
              <a:r>
                <a:rPr lang="zh-CN" altLang="en-US" sz="1100" b="1" dirty="0"/>
                <a:t>）  低位交叉方式（交叉编址）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639A0161-30AE-4067-B2B8-32031F26C3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00875" y="4005064"/>
              <a:ext cx="2342249" cy="2352077"/>
            </a:xfrm>
            <a:prstGeom prst="rect">
              <a:avLst/>
            </a:prstGeom>
          </p:spPr>
        </p:pic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3E140A51-1785-4EB4-B795-6A79AEDDC37A}"/>
              </a:ext>
            </a:extLst>
          </p:cNvPr>
          <p:cNvGrpSpPr/>
          <p:nvPr/>
        </p:nvGrpSpPr>
        <p:grpSpPr>
          <a:xfrm>
            <a:off x="4930368" y="1268760"/>
            <a:ext cx="3994455" cy="2498691"/>
            <a:chOff x="1043608" y="3954645"/>
            <a:chExt cx="3994455" cy="2498691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E5ED91C-0505-44A0-BF58-2CBB51B59F8B}"/>
                </a:ext>
              </a:extLst>
            </p:cNvPr>
            <p:cNvSpPr txBox="1"/>
            <p:nvPr/>
          </p:nvSpPr>
          <p:spPr>
            <a:xfrm>
              <a:off x="1907704" y="6145559"/>
              <a:ext cx="2518638" cy="30777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存储器的字扩展（低位交叉）</a:t>
              </a:r>
            </a:p>
          </p:txBody>
        </p: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D1EB96D-57F5-4557-A08B-3929B05AB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608" y="3954645"/>
              <a:ext cx="3994455" cy="211706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298007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6825BE-4BFC-4F0B-A55E-7702C0DD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5571" y="1268760"/>
            <a:ext cx="6347048" cy="5040560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低位多体交叉存储器的流水存取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600" b="1" dirty="0"/>
              <a:t>设存储模块的存储周期为</a:t>
            </a:r>
            <a:r>
              <a:rPr lang="en-US" altLang="zh-CN" sz="1600" b="1" dirty="0"/>
              <a:t>T</a:t>
            </a:r>
            <a:r>
              <a:rPr lang="zh-CN" altLang="en-US" sz="1600" b="1" dirty="0"/>
              <a:t>；总线传输周期及相应的处理时间延迟总和为</a:t>
            </a:r>
            <a:r>
              <a:rPr lang="el-GR" altLang="zh-CN" sz="1600" b="1" dirty="0"/>
              <a:t>τ</a:t>
            </a:r>
            <a:r>
              <a:rPr lang="zh-CN" altLang="en-US" sz="1600" b="1" dirty="0"/>
              <a:t>；交叉模块为</a:t>
            </a:r>
            <a:r>
              <a:rPr lang="en-US" altLang="zh-CN" sz="1600" b="1" dirty="0"/>
              <a:t>m</a:t>
            </a:r>
            <a:r>
              <a:rPr lang="zh-CN" altLang="en-US" sz="1600" b="1" dirty="0"/>
              <a:t>（图</a:t>
            </a:r>
            <a:r>
              <a:rPr lang="en-US" altLang="zh-CN" sz="1600" b="1" dirty="0"/>
              <a:t>4.29</a:t>
            </a:r>
            <a:r>
              <a:rPr lang="zh-CN" altLang="en-US" sz="1600" b="1" dirty="0"/>
              <a:t>中，</a:t>
            </a:r>
            <a:r>
              <a:rPr lang="en-US" altLang="zh-CN" sz="1600" b="1" dirty="0"/>
              <a:t>m=4</a:t>
            </a:r>
            <a:r>
              <a:rPr lang="zh-CN" altLang="en-US" sz="1600" b="1" dirty="0"/>
              <a:t>），要实现流水方式存取，必须满足：</a:t>
            </a:r>
            <a:r>
              <a:rPr lang="en-US" altLang="zh-CN" sz="1800" b="1" dirty="0">
                <a:solidFill>
                  <a:srgbClr val="C00000"/>
                </a:solidFill>
              </a:rPr>
              <a:t>T=m</a:t>
            </a:r>
            <a:r>
              <a:rPr lang="el-GR" altLang="zh-CN" sz="1800" b="1" dirty="0">
                <a:solidFill>
                  <a:srgbClr val="C00000"/>
                </a:solidFill>
              </a:rPr>
              <a:t>τ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低位多体交叉存储器流水存取的特点：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每个存储单体的存储周期仍然为</a:t>
            </a:r>
            <a:r>
              <a:rPr lang="en-US" altLang="zh-CN" sz="1400" b="1" dirty="0"/>
              <a:t>T</a:t>
            </a:r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各个存储体错开</a:t>
            </a:r>
            <a:r>
              <a:rPr lang="en-US" altLang="zh-CN" sz="1400" b="1" dirty="0"/>
              <a:t>1/m</a:t>
            </a:r>
            <a:r>
              <a:rPr lang="zh-CN" altLang="en-US" sz="1400" b="1" dirty="0"/>
              <a:t>个存储周期（即错开</a:t>
            </a:r>
            <a:r>
              <a:rPr lang="el-GR" altLang="zh-CN" sz="1400" b="1" dirty="0"/>
              <a:t>τ</a:t>
            </a:r>
            <a:r>
              <a:rPr lang="zh-CN" altLang="en-US" sz="1400" b="1" dirty="0"/>
              <a:t>时间）分时启动读写操作，每个存储周期可以访存</a:t>
            </a:r>
            <a:r>
              <a:rPr lang="en-US" altLang="zh-CN" sz="1400" b="1" dirty="0"/>
              <a:t>m</a:t>
            </a:r>
            <a:r>
              <a:rPr lang="zh-CN" altLang="en-US" sz="1400" b="1" dirty="0"/>
              <a:t>次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经过一个存储周期</a:t>
            </a:r>
            <a:r>
              <a:rPr lang="en-US" altLang="zh-CN" sz="1400" b="1" dirty="0"/>
              <a:t>T</a:t>
            </a:r>
            <a:r>
              <a:rPr lang="zh-CN" altLang="en-US" sz="1400" b="1" dirty="0"/>
              <a:t>后，每隔</a:t>
            </a:r>
            <a:r>
              <a:rPr lang="el-GR" altLang="zh-CN" sz="1400" b="1" dirty="0"/>
              <a:t>τ</a:t>
            </a:r>
            <a:r>
              <a:rPr lang="zh-CN" altLang="en-US" sz="1400" b="1" dirty="0"/>
              <a:t>时间延迟可传送一个新的数据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因此，连续读取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个字所需的时间为：</a:t>
            </a:r>
            <a:r>
              <a:rPr lang="en-US" altLang="zh-CN" sz="1400" b="1" dirty="0">
                <a:solidFill>
                  <a:srgbClr val="C00000"/>
                </a:solidFill>
              </a:rPr>
              <a:t>T + (n-1) </a:t>
            </a:r>
            <a:r>
              <a:rPr lang="el-GR" altLang="zh-CN" sz="1400" b="1" dirty="0">
                <a:solidFill>
                  <a:srgbClr val="C00000"/>
                </a:solidFill>
              </a:rPr>
              <a:t>τ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marL="1371600" lvl="3" indent="0" eaLnBrk="1" hangingPunct="1">
              <a:buNone/>
            </a:pPr>
            <a:endParaRPr lang="en-US" altLang="zh-CN" sz="1400" b="1" dirty="0">
              <a:solidFill>
                <a:srgbClr val="FF0000"/>
              </a:solidFill>
              <a:hlinkClick r:id="rId2"/>
            </a:endParaRPr>
          </a:p>
          <a:p>
            <a:pPr marL="914400" lvl="2" indent="0" eaLnBrk="1" hangingPunct="1">
              <a:buNone/>
            </a:pPr>
            <a:r>
              <a:rPr lang="zh-CN" altLang="en-US" sz="1600" b="1" dirty="0">
                <a:highlight>
                  <a:srgbClr val="FFFF00"/>
                </a:highlight>
                <a:hlinkClick r:id="rId2"/>
              </a:rPr>
              <a:t>总线传输周期、存储周期和多体低位交叉存储器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9F154F0-56E3-424C-8B83-4D43094EC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840" y="2077570"/>
            <a:ext cx="2954261" cy="21890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C8365BD-BCB3-410D-8FB9-FA76A472411D}"/>
              </a:ext>
            </a:extLst>
          </p:cNvPr>
          <p:cNvSpPr txBox="1"/>
          <p:nvPr/>
        </p:nvSpPr>
        <p:spPr>
          <a:xfrm>
            <a:off x="6888277" y="4766714"/>
            <a:ext cx="16962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4.30    </a:t>
            </a:r>
            <a:r>
              <a:rPr lang="zh-CN" altLang="en-US" sz="1100" b="1" dirty="0"/>
              <a:t>流水存取示意图</a:t>
            </a:r>
          </a:p>
        </p:txBody>
      </p:sp>
    </p:spTree>
    <p:extLst>
      <p:ext uri="{BB962C8B-B14F-4D97-AF65-F5344CB8AC3E}">
        <p14:creationId xmlns:p14="http://schemas.microsoft.com/office/powerpoint/2010/main" val="15454649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67841-595B-4975-8B64-07611D4C8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143000"/>
          </a:xfrm>
        </p:spPr>
        <p:txBody>
          <a:bodyPr/>
          <a:lstStyle/>
          <a:p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4.4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并行主存系统</a:t>
            </a:r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6E7EC48-9223-414B-94B3-C7DE242985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1166018"/>
            <a:ext cx="8229600" cy="5575350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例</a:t>
            </a:r>
            <a:r>
              <a:rPr lang="en-US" altLang="zh-CN" sz="1800" b="1" dirty="0"/>
              <a:t>4.1</a:t>
            </a:r>
            <a:r>
              <a:rPr lang="zh-CN" altLang="en-US" sz="1800" b="1" dirty="0"/>
              <a:t>：设计算机字长为</a:t>
            </a:r>
            <a:r>
              <a:rPr lang="en-US" altLang="zh-CN" sz="1800" b="1" dirty="0"/>
              <a:t>64</a:t>
            </a:r>
            <a:r>
              <a:rPr lang="zh-CN" altLang="en-US" sz="1800" b="1" dirty="0"/>
              <a:t>位，存储器容量为</a:t>
            </a:r>
            <a:r>
              <a:rPr lang="en-US" altLang="zh-CN" sz="1800" b="1" dirty="0"/>
              <a:t>128MW</a:t>
            </a:r>
            <a:r>
              <a:rPr lang="zh-CN" altLang="en-US" sz="1800" b="1" dirty="0"/>
              <a:t>（</a:t>
            </a:r>
            <a:r>
              <a:rPr lang="en-US" altLang="zh-CN" sz="1800" b="1" dirty="0">
                <a:solidFill>
                  <a:srgbClr val="C00000"/>
                </a:solidFill>
              </a:rPr>
              <a:t>W</a:t>
            </a:r>
            <a:r>
              <a:rPr lang="zh-CN" altLang="en-US" sz="1800" b="1" dirty="0">
                <a:solidFill>
                  <a:srgbClr val="C00000"/>
                </a:solidFill>
              </a:rPr>
              <a:t>表示字</a:t>
            </a:r>
            <a:r>
              <a:rPr lang="en-US" altLang="zh-CN" sz="1800" b="1" dirty="0"/>
              <a:t>=64</a:t>
            </a:r>
            <a:r>
              <a:rPr lang="zh-CN" altLang="en-US" sz="1800" b="1" dirty="0"/>
              <a:t>位，因此存储器的容量</a:t>
            </a:r>
            <a:r>
              <a:rPr lang="en-US" altLang="zh-CN" sz="1800" b="1" dirty="0"/>
              <a:t>=128x2</a:t>
            </a:r>
            <a:r>
              <a:rPr lang="en-US" altLang="zh-CN" sz="1800" b="1" baseline="30000" dirty="0"/>
              <a:t>20</a:t>
            </a:r>
            <a:r>
              <a:rPr lang="en-US" altLang="zh-CN" sz="1800" b="1" dirty="0"/>
              <a:t>x64</a:t>
            </a:r>
            <a:r>
              <a:rPr lang="zh-CN" altLang="en-US" sz="1800" b="1" dirty="0"/>
              <a:t>位），采用模数为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的存储器交叉方式进行组织（即</a:t>
            </a:r>
            <a:r>
              <a:rPr lang="en-US" altLang="zh-CN" sz="1800" b="1" dirty="0">
                <a:solidFill>
                  <a:srgbClr val="C00000"/>
                </a:solidFill>
              </a:rPr>
              <a:t>m=8</a:t>
            </a:r>
            <a:r>
              <a:rPr lang="zh-CN" altLang="en-US" sz="1800" b="1" dirty="0"/>
              <a:t>），存储周期</a:t>
            </a:r>
            <a:r>
              <a:rPr lang="en-US" altLang="zh-CN" sz="1800" b="1" dirty="0"/>
              <a:t>T=200ns</a:t>
            </a:r>
            <a:r>
              <a:rPr lang="zh-CN" altLang="en-US" sz="1800" b="1" dirty="0"/>
              <a:t>，数据总线宽度为</a:t>
            </a:r>
            <a:r>
              <a:rPr lang="en-US" altLang="zh-CN" sz="1800" b="1" dirty="0"/>
              <a:t>64</a:t>
            </a:r>
            <a:r>
              <a:rPr lang="zh-CN" altLang="en-US" sz="1800" b="1" dirty="0"/>
              <a:t>位，总线传输周期</a:t>
            </a:r>
            <a:r>
              <a:rPr lang="el-GR" altLang="zh-CN" sz="1800" b="1" dirty="0"/>
              <a:t>τ</a:t>
            </a:r>
            <a:r>
              <a:rPr lang="en-US" altLang="zh-CN" sz="1800" b="1" dirty="0"/>
              <a:t>=25ns</a:t>
            </a:r>
            <a:r>
              <a:rPr lang="zh-CN" altLang="en-US" sz="1800" b="1" dirty="0"/>
              <a:t>（</a:t>
            </a:r>
            <a:r>
              <a:rPr lang="en-US" altLang="zh-CN" sz="1800" b="1" dirty="0">
                <a:solidFill>
                  <a:srgbClr val="C00000"/>
                </a:solidFill>
              </a:rPr>
              <a:t>T=m</a:t>
            </a:r>
            <a:r>
              <a:rPr lang="el-GR" altLang="zh-CN" sz="1800" b="1" dirty="0">
                <a:solidFill>
                  <a:srgbClr val="C00000"/>
                </a:solidFill>
              </a:rPr>
              <a:t>τ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200ns=8x25ns</a:t>
            </a:r>
            <a:r>
              <a:rPr lang="zh-CN" altLang="en-US" sz="1800" b="1" dirty="0"/>
              <a:t>），若连续读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个字，分别计算顺序访问方式和交叉访问方式下存储器的带宽。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解：</a:t>
            </a:r>
            <a:endParaRPr lang="en-US" altLang="zh-CN" sz="18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顺序方式</a:t>
            </a:r>
            <a:r>
              <a:rPr lang="zh-CN" altLang="en-US" sz="1600" b="1" dirty="0"/>
              <a:t>下，连续读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个字所需的时间</a:t>
            </a:r>
            <a:r>
              <a:rPr lang="en-US" altLang="zh-CN" sz="1600" b="1" dirty="0"/>
              <a:t>=8T=8x200ns=1600ns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顺序方式下的存储器带宽</a:t>
            </a:r>
            <a:r>
              <a:rPr lang="en-US" altLang="zh-CN" sz="1600" b="1" dirty="0"/>
              <a:t>=(64x8)/1600ns=3.2x10</a:t>
            </a:r>
            <a:r>
              <a:rPr lang="en-US" altLang="zh-CN" sz="1600" b="1" baseline="30000" dirty="0"/>
              <a:t>8</a:t>
            </a:r>
            <a:r>
              <a:rPr lang="en-US" altLang="zh-CN" sz="1600" b="1" dirty="0"/>
              <a:t>bps=320Mbps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交叉方式</a:t>
            </a:r>
            <a:r>
              <a:rPr lang="zh-CN" altLang="en-US" sz="1600" b="1" dirty="0"/>
              <a:t>下，连续读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个字所需的时间 </a:t>
            </a:r>
            <a:r>
              <a:rPr lang="en-US" altLang="zh-CN" sz="1600" b="1" dirty="0"/>
              <a:t>= T + (8-1)</a:t>
            </a:r>
            <a:r>
              <a:rPr lang="el-GR" altLang="zh-CN" sz="1600" b="1" dirty="0"/>
              <a:t>τ</a:t>
            </a:r>
            <a:r>
              <a:rPr lang="en-US" altLang="zh-CN" sz="1600" b="1" dirty="0"/>
              <a:t> =</a:t>
            </a:r>
            <a:r>
              <a:rPr lang="el-GR" altLang="zh-CN" sz="1600" b="1" dirty="0"/>
              <a:t> </a:t>
            </a:r>
            <a:r>
              <a:rPr lang="en-US" altLang="zh-CN" sz="1600" b="1" dirty="0"/>
              <a:t>200ns + 7x25ns = 375ns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交叉方式下的存储器带宽</a:t>
            </a:r>
            <a:r>
              <a:rPr lang="en-US" altLang="zh-CN" sz="1600" b="1" dirty="0"/>
              <a:t>=(64x8)/375ns=1.37x10</a:t>
            </a:r>
            <a:r>
              <a:rPr lang="en-US" altLang="zh-CN" sz="1600" b="1" baseline="30000" dirty="0"/>
              <a:t>9</a:t>
            </a:r>
            <a:r>
              <a:rPr lang="en-US" altLang="zh-CN" sz="1600" b="1" dirty="0"/>
              <a:t>bps=1370Mbps</a:t>
            </a: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交叉方式比顺序方式快：</a:t>
            </a:r>
            <a:r>
              <a:rPr lang="en-US" altLang="zh-CN" sz="1600" b="1" dirty="0"/>
              <a:t>1370/320 </a:t>
            </a:r>
            <a:r>
              <a:rPr lang="en-US" altLang="zh-CN" sz="1600" b="1" dirty="0">
                <a:solidFill>
                  <a:srgbClr val="C00000"/>
                </a:solidFill>
              </a:rPr>
              <a:t>= 4.27</a:t>
            </a:r>
            <a:r>
              <a:rPr lang="zh-CN" altLang="en-US" sz="1600" b="1" dirty="0">
                <a:solidFill>
                  <a:srgbClr val="C00000"/>
                </a:solidFill>
              </a:rPr>
              <a:t>倍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endParaRPr lang="en-US" altLang="zh-CN" sz="600" b="1" dirty="0"/>
          </a:p>
        </p:txBody>
      </p:sp>
    </p:spTree>
    <p:extLst>
      <p:ext uri="{BB962C8B-B14F-4D97-AF65-F5344CB8AC3E}">
        <p14:creationId xmlns:p14="http://schemas.microsoft.com/office/powerpoint/2010/main" val="16956103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806D52-5B66-4A26-A339-EAD302B2A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44624"/>
            <a:ext cx="8229600" cy="1143000"/>
          </a:xfrm>
        </p:spPr>
        <p:txBody>
          <a:bodyPr/>
          <a:lstStyle/>
          <a:p>
            <a:r>
              <a:rPr lang="zh-CN" altLang="en-US" sz="3200" dirty="0"/>
              <a:t>比对：单体多字存储器与多体交叉存储器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7E7DDBFE-DA5C-4676-9AF5-25955AB74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5669807"/>
              </p:ext>
            </p:extLst>
          </p:nvPr>
        </p:nvGraphicFramePr>
        <p:xfrm>
          <a:off x="1475656" y="965594"/>
          <a:ext cx="7200800" cy="168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0894">
                  <a:extLst>
                    <a:ext uri="{9D8B030D-6E8A-4147-A177-3AD203B41FA5}">
                      <a16:colId xmlns:a16="http://schemas.microsoft.com/office/drawing/2014/main" val="1745782346"/>
                    </a:ext>
                  </a:extLst>
                </a:gridCol>
                <a:gridCol w="2681149">
                  <a:extLst>
                    <a:ext uri="{9D8B030D-6E8A-4147-A177-3AD203B41FA5}">
                      <a16:colId xmlns:a16="http://schemas.microsoft.com/office/drawing/2014/main" val="4127448043"/>
                    </a:ext>
                  </a:extLst>
                </a:gridCol>
                <a:gridCol w="2768757">
                  <a:extLst>
                    <a:ext uri="{9D8B030D-6E8A-4147-A177-3AD203B41FA5}">
                      <a16:colId xmlns:a16="http://schemas.microsoft.com/office/drawing/2014/main" val="3378881478"/>
                    </a:ext>
                  </a:extLst>
                </a:gridCol>
              </a:tblGrid>
              <a:tr h="145688">
                <a:tc>
                  <a:txBody>
                    <a:bodyPr/>
                    <a:lstStyle/>
                    <a:p>
                      <a:r>
                        <a:rPr lang="zh-CN" altLang="en-US" dirty="0"/>
                        <a:t>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单体多字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多体交叉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248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存储体数量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/>
                        <a:t>1</a:t>
                      </a:r>
                      <a:r>
                        <a:rPr lang="zh-CN" altLang="en-US" sz="1600" dirty="0"/>
                        <a:t>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多个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6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字宽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很大（含多个</a:t>
                      </a:r>
                      <a:r>
                        <a:rPr lang="en-US" altLang="zh-CN" sz="1600" dirty="0"/>
                        <a:t>CPU</a:t>
                      </a:r>
                      <a:r>
                        <a:rPr lang="zh-CN" altLang="en-US" sz="1600" dirty="0"/>
                        <a:t>字）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通常等于一个</a:t>
                      </a:r>
                      <a:r>
                        <a:rPr lang="en-US" altLang="zh-CN" sz="1600" dirty="0"/>
                        <a:t>CPU</a:t>
                      </a:r>
                      <a:r>
                        <a:rPr lang="zh-CN" altLang="en-US" sz="1600" dirty="0"/>
                        <a:t>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216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访问方式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一次读</a:t>
                      </a:r>
                      <a:r>
                        <a:rPr lang="en-US" altLang="zh-CN" sz="1600" dirty="0"/>
                        <a:t>/</a:t>
                      </a:r>
                      <a:r>
                        <a:rPr lang="zh-CN" altLang="en-US" sz="1600" dirty="0"/>
                        <a:t>写整个宽字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每个体独立工作，可轮流或并行访问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503189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C1D182A-ECEF-4BDC-B210-9A2605362033}"/>
              </a:ext>
            </a:extLst>
          </p:cNvPr>
          <p:cNvSpPr txBox="1"/>
          <p:nvPr/>
        </p:nvSpPr>
        <p:spPr>
          <a:xfrm>
            <a:off x="755576" y="1137360"/>
            <a:ext cx="6480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基本定义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54EA4B4-1EA3-4500-8367-54DB9854C85E}"/>
              </a:ext>
            </a:extLst>
          </p:cNvPr>
          <p:cNvSpPr txBox="1"/>
          <p:nvPr/>
        </p:nvSpPr>
        <p:spPr>
          <a:xfrm>
            <a:off x="743575" y="3223518"/>
            <a:ext cx="6480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灵活性与硬件复杂度</a:t>
            </a:r>
          </a:p>
        </p:txBody>
      </p:sp>
      <p:graphicFrame>
        <p:nvGraphicFramePr>
          <p:cNvPr id="7" name="表格 7">
            <a:extLst>
              <a:ext uri="{FF2B5EF4-FFF2-40B4-BE49-F238E27FC236}">
                <a16:creationId xmlns:a16="http://schemas.microsoft.com/office/drawing/2014/main" id="{7BDCDB0C-4163-445D-815E-D0A9C3D91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985718"/>
              </p:ext>
            </p:extLst>
          </p:nvPr>
        </p:nvGraphicFramePr>
        <p:xfrm>
          <a:off x="1475656" y="2780928"/>
          <a:ext cx="7200800" cy="3540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1700653034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3078287467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965598841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r>
                        <a:rPr lang="zh-CN" altLang="en-US" dirty="0"/>
                        <a:t>方面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单体多字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多体交叉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475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单字写入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需先读整块</a:t>
                      </a:r>
                      <a:r>
                        <a:rPr lang="en-US" altLang="zh-CN" sz="1600" dirty="0"/>
                        <a:t>-&gt;</a:t>
                      </a:r>
                      <a:r>
                        <a:rPr lang="zh-CN" altLang="en-US" sz="1600" dirty="0"/>
                        <a:t>改</a:t>
                      </a:r>
                      <a:r>
                        <a:rPr lang="en-US" altLang="zh-CN" sz="1600" dirty="0"/>
                        <a:t>-&gt;</a:t>
                      </a:r>
                      <a:r>
                        <a:rPr lang="zh-CN" altLang="en-US" sz="1600" dirty="0"/>
                        <a:t>写回</a:t>
                      </a:r>
                      <a:endParaRPr lang="en-US" altLang="zh-CN" sz="1600" dirty="0"/>
                    </a:p>
                    <a:p>
                      <a:r>
                        <a:rPr lang="zh-CN" altLang="en-US" sz="1600" dirty="0"/>
                        <a:t>（读</a:t>
                      </a:r>
                      <a:r>
                        <a:rPr lang="en-US" altLang="zh-CN" sz="1600" dirty="0"/>
                        <a:t>-</a:t>
                      </a:r>
                      <a:r>
                        <a:rPr lang="zh-CN" altLang="en-US" sz="1600" dirty="0"/>
                        <a:t>改</a:t>
                      </a:r>
                      <a:r>
                        <a:rPr lang="en-US" altLang="zh-CN" sz="1600" dirty="0"/>
                        <a:t>-</a:t>
                      </a:r>
                      <a:r>
                        <a:rPr lang="zh-CN" altLang="en-US" sz="1600" dirty="0"/>
                        <a:t>写）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直接写单个字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1459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对齐要求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地址必须对齐到块边界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无特殊要求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965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控制逻辑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简单（一个体，地址译码简单）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复杂（体选择、冲突检测、仲裁）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235099"/>
                  </a:ext>
                </a:extLst>
              </a:tr>
              <a:tr h="502920">
                <a:tc rowSpan="2">
                  <a:txBody>
                    <a:bodyPr/>
                    <a:lstStyle/>
                    <a:p>
                      <a:r>
                        <a:rPr lang="zh-CN" altLang="en-US" sz="1600" dirty="0"/>
                        <a:t>寄存器需求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 altLang="zh-CN" sz="1600" dirty="0"/>
                        <a:t>CPU</a:t>
                      </a:r>
                      <a:r>
                        <a:rPr lang="zh-CN" altLang="en-US" sz="1600" dirty="0"/>
                        <a:t>需多个寄存器配合宽字传输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与普通字宽匹配，无额外要求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1194"/>
                  </a:ext>
                </a:extLst>
              </a:tr>
              <a:tr h="13716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zh-CN" altLang="en-US" sz="1600" dirty="0"/>
                        <a:t>现代通用</a:t>
                      </a:r>
                      <a:r>
                        <a:rPr lang="en-US" altLang="zh-CN" sz="1600" dirty="0"/>
                        <a:t>CPU</a:t>
                      </a:r>
                      <a:r>
                        <a:rPr lang="zh-CN" altLang="en-US" sz="1600" dirty="0"/>
                        <a:t>主存</a:t>
                      </a:r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DDR</a:t>
                      </a:r>
                      <a:r>
                        <a:rPr lang="zh-CN" altLang="en-US" sz="1600" dirty="0"/>
                        <a:t>、高性能多处理器系统中的共享内存、网络交换机的缓存结构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1351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应用场景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向量超级计算机、</a:t>
                      </a:r>
                      <a:r>
                        <a:rPr lang="en-US" altLang="zh-CN" sz="1600" dirty="0"/>
                        <a:t>CPU</a:t>
                      </a:r>
                      <a:r>
                        <a:rPr lang="zh-CN" altLang="en-US" sz="1600" dirty="0"/>
                        <a:t>的</a:t>
                      </a:r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cache line</a:t>
                      </a:r>
                      <a:r>
                        <a:rPr lang="zh-CN" altLang="en-US" sz="1600" dirty="0"/>
                        <a:t>填充（一次读入一个完整的</a:t>
                      </a:r>
                      <a:r>
                        <a:rPr lang="en-US" altLang="zh-CN" sz="1600" dirty="0"/>
                        <a:t>cache</a:t>
                      </a:r>
                      <a:r>
                        <a:rPr lang="zh-CN" altLang="en-US" sz="1600" dirty="0"/>
                        <a:t>块）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147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9823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4.5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高速缓冲存储器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EB32321-BCA8-432C-8A20-B16252F80C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560" y="1132308"/>
            <a:ext cx="8229600" cy="3424039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工作原理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800" b="1" dirty="0"/>
              <a:t>SRAM</a:t>
            </a:r>
            <a:r>
              <a:rPr lang="zh-CN" altLang="en-US" sz="1800" b="1" dirty="0"/>
              <a:t>的特点是速度快、容量小、价格高，</a:t>
            </a:r>
            <a:r>
              <a:rPr lang="en-US" altLang="zh-CN" sz="1800" b="1" dirty="0"/>
              <a:t>DRAM</a:t>
            </a:r>
            <a:r>
              <a:rPr lang="zh-CN" altLang="en-US" sz="1800" b="1" dirty="0"/>
              <a:t>的特点是速度慢、容量大、价格低，因此计算机的主存（内存，内存条）通常采用</a:t>
            </a:r>
            <a:r>
              <a:rPr lang="en-US" altLang="zh-CN" sz="1800" b="1" dirty="0"/>
              <a:t>DRAM</a:t>
            </a:r>
            <a:r>
              <a:rPr lang="zh-CN" altLang="en-US" sz="1800" b="1" dirty="0"/>
              <a:t>，而不是采用</a:t>
            </a:r>
            <a:r>
              <a:rPr lang="en-US" altLang="zh-CN" sz="1800" b="1" dirty="0"/>
              <a:t>SRAM</a:t>
            </a:r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为了提高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访问主存的速度，通常在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与主存之间增加一个隐藏的小容量快速</a:t>
            </a:r>
            <a:r>
              <a:rPr lang="en-US" altLang="zh-CN" sz="1800" b="1" dirty="0"/>
              <a:t>SRAM</a:t>
            </a:r>
            <a:r>
              <a:rPr lang="zh-CN" altLang="en-US" sz="1800" b="1" dirty="0"/>
              <a:t>，称</a:t>
            </a:r>
            <a:r>
              <a:rPr lang="zh-CN" altLang="en-US" sz="1800" b="1" dirty="0">
                <a:solidFill>
                  <a:srgbClr val="C00000"/>
                </a:solidFill>
              </a:rPr>
              <a:t>为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/>
              <a:t>（高速缓冲存储器）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因为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执行的程序具有较强的</a:t>
            </a:r>
            <a:r>
              <a:rPr lang="zh-CN" altLang="en-US" sz="1800" b="1" dirty="0">
                <a:solidFill>
                  <a:srgbClr val="C00000"/>
                </a:solidFill>
              </a:rPr>
              <a:t>局部性</a:t>
            </a:r>
            <a:r>
              <a:rPr lang="zh-CN" altLang="en-US" sz="1800" b="1" dirty="0"/>
              <a:t>，可以将主存中经常访问或即将访问的</a:t>
            </a:r>
            <a:r>
              <a:rPr lang="zh-CN" altLang="en-US" sz="1800" b="1" dirty="0">
                <a:solidFill>
                  <a:srgbClr val="C00000"/>
                </a:solidFill>
              </a:rPr>
              <a:t>数据的副本</a:t>
            </a:r>
            <a:r>
              <a:rPr lang="zh-CN" altLang="en-US" sz="1800" b="1" dirty="0"/>
              <a:t>调度到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中，使得大部分数据访问可以在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中进行，从而提升系统的性能</a:t>
            </a:r>
            <a:endParaRPr lang="en-US" altLang="zh-CN" sz="18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800" b="1" dirty="0"/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4FC82FF0-9E0A-4E5F-BD2D-F8C7C31B6AED}"/>
              </a:ext>
            </a:extLst>
          </p:cNvPr>
          <p:cNvGrpSpPr/>
          <p:nvPr/>
        </p:nvGrpSpPr>
        <p:grpSpPr>
          <a:xfrm>
            <a:off x="2195736" y="4772883"/>
            <a:ext cx="5491628" cy="1647970"/>
            <a:chOff x="1795844" y="4985604"/>
            <a:chExt cx="5491628" cy="1647970"/>
          </a:xfrm>
        </p:grpSpPr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F9CC91F2-4E84-47F2-B369-D2B9229157DC}"/>
                </a:ext>
              </a:extLst>
            </p:cNvPr>
            <p:cNvSpPr txBox="1"/>
            <p:nvPr/>
          </p:nvSpPr>
          <p:spPr>
            <a:xfrm>
              <a:off x="4091726" y="5253388"/>
              <a:ext cx="5476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cache</a:t>
              </a:r>
              <a:endParaRPr lang="zh-CN" altLang="en-US" sz="1200" b="1" dirty="0"/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34157B8F-6F9E-4048-A4C8-EB2B830BB9B9}"/>
                </a:ext>
              </a:extLst>
            </p:cNvPr>
            <p:cNvSpPr txBox="1"/>
            <p:nvPr/>
          </p:nvSpPr>
          <p:spPr>
            <a:xfrm>
              <a:off x="6482647" y="498560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主存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82FBE07B-985B-4C1B-90EE-77FB6DB2AE2E}"/>
                </a:ext>
              </a:extLst>
            </p:cNvPr>
            <p:cNvSpPr txBox="1"/>
            <p:nvPr/>
          </p:nvSpPr>
          <p:spPr>
            <a:xfrm>
              <a:off x="4091726" y="6079576"/>
              <a:ext cx="5709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SRAM</a:t>
              </a:r>
              <a:endParaRPr lang="zh-CN" altLang="en-US" sz="1200" b="1" dirty="0"/>
            </a:p>
          </p:txBody>
        </p:sp>
        <p:sp>
          <p:nvSpPr>
            <p:cNvPr id="94" name="文本框 93">
              <a:extLst>
                <a:ext uri="{FF2B5EF4-FFF2-40B4-BE49-F238E27FC236}">
                  <a16:creationId xmlns:a16="http://schemas.microsoft.com/office/drawing/2014/main" id="{4A35AB6D-5D13-4C1D-B742-512FDE5E6862}"/>
                </a:ext>
              </a:extLst>
            </p:cNvPr>
            <p:cNvSpPr txBox="1"/>
            <p:nvPr/>
          </p:nvSpPr>
          <p:spPr>
            <a:xfrm>
              <a:off x="6523685" y="6356575"/>
              <a:ext cx="5966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DRAM</a:t>
              </a:r>
              <a:endParaRPr lang="zh-CN" altLang="en-US" sz="1200" b="1" dirty="0"/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3FF12CA5-16D8-4D24-8761-F8603FC2ADF5}"/>
                </a:ext>
              </a:extLst>
            </p:cNvPr>
            <p:cNvGrpSpPr/>
            <p:nvPr/>
          </p:nvGrpSpPr>
          <p:grpSpPr>
            <a:xfrm>
              <a:off x="1795844" y="5279315"/>
              <a:ext cx="5491628" cy="1028700"/>
              <a:chOff x="1795844" y="5279315"/>
              <a:chExt cx="5491628" cy="1028700"/>
            </a:xfrm>
          </p:grpSpPr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D19AD0FE-27DC-4C8D-9D51-0EBD73A52CB1}"/>
                  </a:ext>
                </a:extLst>
              </p:cNvPr>
              <p:cNvGrpSpPr/>
              <p:nvPr/>
            </p:nvGrpSpPr>
            <p:grpSpPr>
              <a:xfrm>
                <a:off x="1795844" y="5279315"/>
                <a:ext cx="5491628" cy="1028700"/>
                <a:chOff x="1795844" y="5279315"/>
                <a:chExt cx="5491628" cy="1028700"/>
              </a:xfrm>
            </p:grpSpPr>
            <p:grpSp>
              <p:nvGrpSpPr>
                <p:cNvPr id="83" name="组合 82">
                  <a:extLst>
                    <a:ext uri="{FF2B5EF4-FFF2-40B4-BE49-F238E27FC236}">
                      <a16:creationId xmlns:a16="http://schemas.microsoft.com/office/drawing/2014/main" id="{D15E40B0-BB67-4FBD-B8B9-43E37BC8DB5F}"/>
                    </a:ext>
                  </a:extLst>
                </p:cNvPr>
                <p:cNvGrpSpPr/>
                <p:nvPr/>
              </p:nvGrpSpPr>
              <p:grpSpPr>
                <a:xfrm>
                  <a:off x="1795844" y="5279315"/>
                  <a:ext cx="5491628" cy="1028700"/>
                  <a:chOff x="1795844" y="5279315"/>
                  <a:chExt cx="5491628" cy="1028700"/>
                </a:xfrm>
              </p:grpSpPr>
              <p:sp>
                <p:nvSpPr>
                  <p:cNvPr id="4" name="文本框 3">
                    <a:extLst>
                      <a:ext uri="{FF2B5EF4-FFF2-40B4-BE49-F238E27FC236}">
                        <a16:creationId xmlns:a16="http://schemas.microsoft.com/office/drawing/2014/main" id="{6334D71A-7B54-4B21-8C79-9B9F8B5AE916}"/>
                      </a:ext>
                    </a:extLst>
                  </p:cNvPr>
                  <p:cNvSpPr txBox="1"/>
                  <p:nvPr/>
                </p:nvSpPr>
                <p:spPr>
                  <a:xfrm>
                    <a:off x="1795844" y="5555138"/>
                    <a:ext cx="720080" cy="477054"/>
                  </a:xfrm>
                  <a:prstGeom prst="rect">
                    <a:avLst/>
                  </a:prstGeom>
                  <a:solidFill>
                    <a:schemeClr val="accent3">
                      <a:lumMod val="60000"/>
                      <a:lumOff val="4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altLang="zh-CN" sz="1100" b="1" dirty="0"/>
                  </a:p>
                  <a:p>
                    <a:pPr algn="ctr"/>
                    <a:endParaRPr lang="zh-CN" altLang="en-US" sz="1400" b="1" dirty="0"/>
                  </a:p>
                </p:txBody>
              </p:sp>
              <p:grpSp>
                <p:nvGrpSpPr>
                  <p:cNvPr id="8" name="Group 48">
                    <a:extLst>
                      <a:ext uri="{FF2B5EF4-FFF2-40B4-BE49-F238E27FC236}">
                        <a16:creationId xmlns:a16="http://schemas.microsoft.com/office/drawing/2014/main" id="{FE802AD4-38A0-442D-B1C0-0522A740DEF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258772" y="5279315"/>
                    <a:ext cx="1028700" cy="1028700"/>
                    <a:chOff x="2922" y="2088"/>
                    <a:chExt cx="648" cy="648"/>
                  </a:xfrm>
                </p:grpSpPr>
                <p:grpSp>
                  <p:nvGrpSpPr>
                    <p:cNvPr id="9" name="Group 49">
                      <a:extLst>
                        <a:ext uri="{FF2B5EF4-FFF2-40B4-BE49-F238E27FC236}">
                          <a16:creationId xmlns:a16="http://schemas.microsoft.com/office/drawing/2014/main" id="{A3E47B13-F930-4B3B-A196-6426838A108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088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73" name="Rectangle 50">
                        <a:extLst>
                          <a:ext uri="{FF2B5EF4-FFF2-40B4-BE49-F238E27FC236}">
                            <a16:creationId xmlns:a16="http://schemas.microsoft.com/office/drawing/2014/main" id="{54789710-1A80-4D08-BA4A-60DA1176C2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4" name="Rectangle 51">
                        <a:extLst>
                          <a:ext uri="{FF2B5EF4-FFF2-40B4-BE49-F238E27FC236}">
                            <a16:creationId xmlns:a16="http://schemas.microsoft.com/office/drawing/2014/main" id="{7ED2C5AD-D6D3-4C33-9045-AF525866AA2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5" name="Rectangle 52">
                        <a:extLst>
                          <a:ext uri="{FF2B5EF4-FFF2-40B4-BE49-F238E27FC236}">
                            <a16:creationId xmlns:a16="http://schemas.microsoft.com/office/drawing/2014/main" id="{9A60758A-A4B5-4405-8475-DB9755F74F2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6" name="Rectangle 53">
                        <a:extLst>
                          <a:ext uri="{FF2B5EF4-FFF2-40B4-BE49-F238E27FC236}">
                            <a16:creationId xmlns:a16="http://schemas.microsoft.com/office/drawing/2014/main" id="{B3827F28-ADFA-447B-B891-18A2F28DAEB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7" name="Rectangle 54">
                        <a:extLst>
                          <a:ext uri="{FF2B5EF4-FFF2-40B4-BE49-F238E27FC236}">
                            <a16:creationId xmlns:a16="http://schemas.microsoft.com/office/drawing/2014/main" id="{7C20D29A-4FED-40B4-91D3-FF29266BD8E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8" name="Rectangle 55">
                        <a:extLst>
                          <a:ext uri="{FF2B5EF4-FFF2-40B4-BE49-F238E27FC236}">
                            <a16:creationId xmlns:a16="http://schemas.microsoft.com/office/drawing/2014/main" id="{75F67479-A01D-44A4-883D-6C2E87A022B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9" name="Rectangle 56">
                        <a:extLst>
                          <a:ext uri="{FF2B5EF4-FFF2-40B4-BE49-F238E27FC236}">
                            <a16:creationId xmlns:a16="http://schemas.microsoft.com/office/drawing/2014/main" id="{B85288E1-8BCA-484F-B702-AA1307F5AF7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80" name="Rectangle 57">
                        <a:extLst>
                          <a:ext uri="{FF2B5EF4-FFF2-40B4-BE49-F238E27FC236}">
                            <a16:creationId xmlns:a16="http://schemas.microsoft.com/office/drawing/2014/main" id="{9F69C8F7-6A2D-4ADD-BFEA-9FE3C4C7719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0" name="Group 58">
                      <a:extLst>
                        <a:ext uri="{FF2B5EF4-FFF2-40B4-BE49-F238E27FC236}">
                          <a16:creationId xmlns:a16="http://schemas.microsoft.com/office/drawing/2014/main" id="{177B5384-D627-4B65-A221-B3AB15A513A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169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65" name="Rectangle 59">
                        <a:extLst>
                          <a:ext uri="{FF2B5EF4-FFF2-40B4-BE49-F238E27FC236}">
                            <a16:creationId xmlns:a16="http://schemas.microsoft.com/office/drawing/2014/main" id="{B02C4750-E4DF-4E08-A8DB-26441FC0CB7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6" name="Rectangle 60">
                        <a:extLst>
                          <a:ext uri="{FF2B5EF4-FFF2-40B4-BE49-F238E27FC236}">
                            <a16:creationId xmlns:a16="http://schemas.microsoft.com/office/drawing/2014/main" id="{210AEFFB-36E2-4C11-8923-DAB603DCDD7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7" name="Rectangle 61">
                        <a:extLst>
                          <a:ext uri="{FF2B5EF4-FFF2-40B4-BE49-F238E27FC236}">
                            <a16:creationId xmlns:a16="http://schemas.microsoft.com/office/drawing/2014/main" id="{47FADEBA-75C3-44A0-BBF1-7852F86D428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8" name="Rectangle 62">
                        <a:extLst>
                          <a:ext uri="{FF2B5EF4-FFF2-40B4-BE49-F238E27FC236}">
                            <a16:creationId xmlns:a16="http://schemas.microsoft.com/office/drawing/2014/main" id="{330591FE-711D-49FF-A4D5-275980128A0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9" name="Rectangle 63">
                        <a:extLst>
                          <a:ext uri="{FF2B5EF4-FFF2-40B4-BE49-F238E27FC236}">
                            <a16:creationId xmlns:a16="http://schemas.microsoft.com/office/drawing/2014/main" id="{438DAC70-2CA6-4DA2-953B-352BDC761C8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0" name="Rectangle 64">
                        <a:extLst>
                          <a:ext uri="{FF2B5EF4-FFF2-40B4-BE49-F238E27FC236}">
                            <a16:creationId xmlns:a16="http://schemas.microsoft.com/office/drawing/2014/main" id="{BA260FFB-5289-4FE1-860C-136273EC6CF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1" name="Rectangle 65">
                        <a:extLst>
                          <a:ext uri="{FF2B5EF4-FFF2-40B4-BE49-F238E27FC236}">
                            <a16:creationId xmlns:a16="http://schemas.microsoft.com/office/drawing/2014/main" id="{04BEA764-F827-413C-98A1-EB8A76784A4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72" name="Rectangle 66">
                        <a:extLst>
                          <a:ext uri="{FF2B5EF4-FFF2-40B4-BE49-F238E27FC236}">
                            <a16:creationId xmlns:a16="http://schemas.microsoft.com/office/drawing/2014/main" id="{DC4D0D5B-2A9B-4171-99FB-6E6C50C2AE2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1" name="Group 67">
                      <a:extLst>
                        <a:ext uri="{FF2B5EF4-FFF2-40B4-BE49-F238E27FC236}">
                          <a16:creationId xmlns:a16="http://schemas.microsoft.com/office/drawing/2014/main" id="{35B88E16-EFA5-4615-91F4-261594C683D7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250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57" name="Rectangle 68">
                        <a:extLst>
                          <a:ext uri="{FF2B5EF4-FFF2-40B4-BE49-F238E27FC236}">
                            <a16:creationId xmlns:a16="http://schemas.microsoft.com/office/drawing/2014/main" id="{C3E800CC-E498-4321-978A-D7E05249BB10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8" name="Rectangle 69">
                        <a:extLst>
                          <a:ext uri="{FF2B5EF4-FFF2-40B4-BE49-F238E27FC236}">
                            <a16:creationId xmlns:a16="http://schemas.microsoft.com/office/drawing/2014/main" id="{0F8C5460-9D8A-434C-8404-F6937AB05BD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9" name="Rectangle 70">
                        <a:extLst>
                          <a:ext uri="{FF2B5EF4-FFF2-40B4-BE49-F238E27FC236}">
                            <a16:creationId xmlns:a16="http://schemas.microsoft.com/office/drawing/2014/main" id="{DF97365A-6CAA-496B-A3B0-E40F6A9225C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0" name="Rectangle 71">
                        <a:extLst>
                          <a:ext uri="{FF2B5EF4-FFF2-40B4-BE49-F238E27FC236}">
                            <a16:creationId xmlns:a16="http://schemas.microsoft.com/office/drawing/2014/main" id="{E2109157-70F4-414F-894D-91BF01C3D60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1" name="Rectangle 72">
                        <a:extLst>
                          <a:ext uri="{FF2B5EF4-FFF2-40B4-BE49-F238E27FC236}">
                            <a16:creationId xmlns:a16="http://schemas.microsoft.com/office/drawing/2014/main" id="{2FC98D48-F385-4921-AD20-671D6BB6ABE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2" name="Rectangle 73">
                        <a:extLst>
                          <a:ext uri="{FF2B5EF4-FFF2-40B4-BE49-F238E27FC236}">
                            <a16:creationId xmlns:a16="http://schemas.microsoft.com/office/drawing/2014/main" id="{3C813B15-45E9-4852-9678-18417DFBACD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3" name="Rectangle 74">
                        <a:extLst>
                          <a:ext uri="{FF2B5EF4-FFF2-40B4-BE49-F238E27FC236}">
                            <a16:creationId xmlns:a16="http://schemas.microsoft.com/office/drawing/2014/main" id="{F5A114DD-73D8-4239-A068-1921D8648E4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64" name="Rectangle 75">
                        <a:extLst>
                          <a:ext uri="{FF2B5EF4-FFF2-40B4-BE49-F238E27FC236}">
                            <a16:creationId xmlns:a16="http://schemas.microsoft.com/office/drawing/2014/main" id="{1EF2AE64-4609-49D2-95C7-1BE6977485D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2" name="Group 76">
                      <a:extLst>
                        <a:ext uri="{FF2B5EF4-FFF2-40B4-BE49-F238E27FC236}">
                          <a16:creationId xmlns:a16="http://schemas.microsoft.com/office/drawing/2014/main" id="{44988EBD-9230-4C36-8993-9FB31F612CC6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331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49" name="Rectangle 77">
                        <a:extLst>
                          <a:ext uri="{FF2B5EF4-FFF2-40B4-BE49-F238E27FC236}">
                            <a16:creationId xmlns:a16="http://schemas.microsoft.com/office/drawing/2014/main" id="{80C31610-E391-4049-B4EE-C8A21BBDB8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0" name="Rectangle 78">
                        <a:extLst>
                          <a:ext uri="{FF2B5EF4-FFF2-40B4-BE49-F238E27FC236}">
                            <a16:creationId xmlns:a16="http://schemas.microsoft.com/office/drawing/2014/main" id="{25A20176-EC47-42CB-9032-ED2478525E6E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1" name="Rectangle 79">
                        <a:extLst>
                          <a:ext uri="{FF2B5EF4-FFF2-40B4-BE49-F238E27FC236}">
                            <a16:creationId xmlns:a16="http://schemas.microsoft.com/office/drawing/2014/main" id="{D0199E6A-E73E-4FBE-A52B-EC5455FE768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2" name="Rectangle 80">
                        <a:extLst>
                          <a:ext uri="{FF2B5EF4-FFF2-40B4-BE49-F238E27FC236}">
                            <a16:creationId xmlns:a16="http://schemas.microsoft.com/office/drawing/2014/main" id="{C5700FB6-D074-47E8-8E0C-F33F9ADD661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3" name="Rectangle 81">
                        <a:extLst>
                          <a:ext uri="{FF2B5EF4-FFF2-40B4-BE49-F238E27FC236}">
                            <a16:creationId xmlns:a16="http://schemas.microsoft.com/office/drawing/2014/main" id="{5FC1DE83-B890-4142-B285-6475C371D8C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4" name="Rectangle 82">
                        <a:extLst>
                          <a:ext uri="{FF2B5EF4-FFF2-40B4-BE49-F238E27FC236}">
                            <a16:creationId xmlns:a16="http://schemas.microsoft.com/office/drawing/2014/main" id="{DF291D5A-1EE1-4C67-92D0-DD056B9A90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5" name="Rectangle 83">
                        <a:extLst>
                          <a:ext uri="{FF2B5EF4-FFF2-40B4-BE49-F238E27FC236}">
                            <a16:creationId xmlns:a16="http://schemas.microsoft.com/office/drawing/2014/main" id="{E1C4F7CC-BE77-41B6-919A-844A9AC6A98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56" name="Rectangle 84">
                        <a:extLst>
                          <a:ext uri="{FF2B5EF4-FFF2-40B4-BE49-F238E27FC236}">
                            <a16:creationId xmlns:a16="http://schemas.microsoft.com/office/drawing/2014/main" id="{69F7F11A-1DE0-4E38-9E43-5E84D30DCD6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3" name="Group 85">
                      <a:extLst>
                        <a:ext uri="{FF2B5EF4-FFF2-40B4-BE49-F238E27FC236}">
                          <a16:creationId xmlns:a16="http://schemas.microsoft.com/office/drawing/2014/main" id="{D8219106-0D8B-47C5-AC70-F15A3A6E742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412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41" name="Rectangle 86">
                        <a:extLst>
                          <a:ext uri="{FF2B5EF4-FFF2-40B4-BE49-F238E27FC236}">
                            <a16:creationId xmlns:a16="http://schemas.microsoft.com/office/drawing/2014/main" id="{B08FE2FE-2C48-4B2F-A59D-6104BDF7D82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2" name="Rectangle 87">
                        <a:extLst>
                          <a:ext uri="{FF2B5EF4-FFF2-40B4-BE49-F238E27FC236}">
                            <a16:creationId xmlns:a16="http://schemas.microsoft.com/office/drawing/2014/main" id="{52AE9754-3B95-4C3B-A44F-16E7AED367D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3" name="Rectangle 88">
                        <a:extLst>
                          <a:ext uri="{FF2B5EF4-FFF2-40B4-BE49-F238E27FC236}">
                            <a16:creationId xmlns:a16="http://schemas.microsoft.com/office/drawing/2014/main" id="{3C4F6599-B9BB-4500-AEB3-FE52727EC09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4" name="Rectangle 89">
                        <a:extLst>
                          <a:ext uri="{FF2B5EF4-FFF2-40B4-BE49-F238E27FC236}">
                            <a16:creationId xmlns:a16="http://schemas.microsoft.com/office/drawing/2014/main" id="{F757FEC3-3FB5-42A8-801E-8E7096CB048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5" name="Rectangle 90">
                        <a:extLst>
                          <a:ext uri="{FF2B5EF4-FFF2-40B4-BE49-F238E27FC236}">
                            <a16:creationId xmlns:a16="http://schemas.microsoft.com/office/drawing/2014/main" id="{C98FEA0A-17C2-4885-ADEA-732C80901F9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6" name="Rectangle 91">
                        <a:extLst>
                          <a:ext uri="{FF2B5EF4-FFF2-40B4-BE49-F238E27FC236}">
                            <a16:creationId xmlns:a16="http://schemas.microsoft.com/office/drawing/2014/main" id="{5C2A8C55-D778-494E-8715-2719BF2C14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7" name="Rectangle 92">
                        <a:extLst>
                          <a:ext uri="{FF2B5EF4-FFF2-40B4-BE49-F238E27FC236}">
                            <a16:creationId xmlns:a16="http://schemas.microsoft.com/office/drawing/2014/main" id="{5AFB003C-923A-44B4-A118-58EE3B55631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8" name="Rectangle 93">
                        <a:extLst>
                          <a:ext uri="{FF2B5EF4-FFF2-40B4-BE49-F238E27FC236}">
                            <a16:creationId xmlns:a16="http://schemas.microsoft.com/office/drawing/2014/main" id="{30D33814-C9D8-4D6B-9776-36E1C457F45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4" name="Group 94">
                      <a:extLst>
                        <a:ext uri="{FF2B5EF4-FFF2-40B4-BE49-F238E27FC236}">
                          <a16:creationId xmlns:a16="http://schemas.microsoft.com/office/drawing/2014/main" id="{B08EC84F-327E-4B6C-AA86-9078903A40C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493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33" name="Rectangle 95">
                        <a:extLst>
                          <a:ext uri="{FF2B5EF4-FFF2-40B4-BE49-F238E27FC236}">
                            <a16:creationId xmlns:a16="http://schemas.microsoft.com/office/drawing/2014/main" id="{E8B2D365-1D0D-4E1C-B54B-63CAA178ACE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4" name="Rectangle 96">
                        <a:extLst>
                          <a:ext uri="{FF2B5EF4-FFF2-40B4-BE49-F238E27FC236}">
                            <a16:creationId xmlns:a16="http://schemas.microsoft.com/office/drawing/2014/main" id="{D4988AF1-2AA9-4C22-BB71-F98382A9747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5" name="Rectangle 97">
                        <a:extLst>
                          <a:ext uri="{FF2B5EF4-FFF2-40B4-BE49-F238E27FC236}">
                            <a16:creationId xmlns:a16="http://schemas.microsoft.com/office/drawing/2014/main" id="{D4020DBC-E92F-43C1-BAE4-35101D5DB78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6" name="Rectangle 98">
                        <a:extLst>
                          <a:ext uri="{FF2B5EF4-FFF2-40B4-BE49-F238E27FC236}">
                            <a16:creationId xmlns:a16="http://schemas.microsoft.com/office/drawing/2014/main" id="{7165CDB0-C1F3-47FE-A5C8-CA6303052A16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7" name="Rectangle 99">
                        <a:extLst>
                          <a:ext uri="{FF2B5EF4-FFF2-40B4-BE49-F238E27FC236}">
                            <a16:creationId xmlns:a16="http://schemas.microsoft.com/office/drawing/2014/main" id="{A4889A7D-C91D-4BB9-BA1C-50CB9CBAC4E8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8" name="Rectangle 100">
                        <a:extLst>
                          <a:ext uri="{FF2B5EF4-FFF2-40B4-BE49-F238E27FC236}">
                            <a16:creationId xmlns:a16="http://schemas.microsoft.com/office/drawing/2014/main" id="{4C68FC05-A4D9-4DBB-AAC2-A32B609A92E9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9" name="Rectangle 101">
                        <a:extLst>
                          <a:ext uri="{FF2B5EF4-FFF2-40B4-BE49-F238E27FC236}">
                            <a16:creationId xmlns:a16="http://schemas.microsoft.com/office/drawing/2014/main" id="{74B6319A-3B70-436F-8A8F-60AA02E7627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40" name="Rectangle 102">
                        <a:extLst>
                          <a:ext uri="{FF2B5EF4-FFF2-40B4-BE49-F238E27FC236}">
                            <a16:creationId xmlns:a16="http://schemas.microsoft.com/office/drawing/2014/main" id="{67A2A5D4-22BE-4846-B189-ABED528707D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5" name="Group 103">
                      <a:extLst>
                        <a:ext uri="{FF2B5EF4-FFF2-40B4-BE49-F238E27FC236}">
                          <a16:creationId xmlns:a16="http://schemas.microsoft.com/office/drawing/2014/main" id="{1AF5ED0F-AE8B-42DE-9802-441C21AE22F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574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25" name="Rectangle 104">
                        <a:extLst>
                          <a:ext uri="{FF2B5EF4-FFF2-40B4-BE49-F238E27FC236}">
                            <a16:creationId xmlns:a16="http://schemas.microsoft.com/office/drawing/2014/main" id="{AE242C26-0569-4B2B-8897-09D8CC4F293C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6" name="Rectangle 105">
                        <a:extLst>
                          <a:ext uri="{FF2B5EF4-FFF2-40B4-BE49-F238E27FC236}">
                            <a16:creationId xmlns:a16="http://schemas.microsoft.com/office/drawing/2014/main" id="{9CE0A057-FF6A-472E-8066-84C7A3D45C8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7" name="Rectangle 106">
                        <a:extLst>
                          <a:ext uri="{FF2B5EF4-FFF2-40B4-BE49-F238E27FC236}">
                            <a16:creationId xmlns:a16="http://schemas.microsoft.com/office/drawing/2014/main" id="{64E98D0E-ED99-4FB7-A994-42CE3F21CB9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8" name="Rectangle 107">
                        <a:extLst>
                          <a:ext uri="{FF2B5EF4-FFF2-40B4-BE49-F238E27FC236}">
                            <a16:creationId xmlns:a16="http://schemas.microsoft.com/office/drawing/2014/main" id="{67102C60-C572-4D37-B73A-8F194EA118B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9" name="Rectangle 108">
                        <a:extLst>
                          <a:ext uri="{FF2B5EF4-FFF2-40B4-BE49-F238E27FC236}">
                            <a16:creationId xmlns:a16="http://schemas.microsoft.com/office/drawing/2014/main" id="{89880D6B-E985-4231-9C5E-D8A35D64CFA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0" name="Rectangle 109">
                        <a:extLst>
                          <a:ext uri="{FF2B5EF4-FFF2-40B4-BE49-F238E27FC236}">
                            <a16:creationId xmlns:a16="http://schemas.microsoft.com/office/drawing/2014/main" id="{3C9D0ED6-CEFD-48C2-BBA0-12E7DD4371C5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1" name="Rectangle 110">
                        <a:extLst>
                          <a:ext uri="{FF2B5EF4-FFF2-40B4-BE49-F238E27FC236}">
                            <a16:creationId xmlns:a16="http://schemas.microsoft.com/office/drawing/2014/main" id="{2880E9E3-CF29-4502-9B5A-159446B9B8F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32" name="Rectangle 111">
                        <a:extLst>
                          <a:ext uri="{FF2B5EF4-FFF2-40B4-BE49-F238E27FC236}">
                            <a16:creationId xmlns:a16="http://schemas.microsoft.com/office/drawing/2014/main" id="{0935AEE7-F0AE-484E-B595-3E5D090C17B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  <p:grpSp>
                  <p:nvGrpSpPr>
                    <p:cNvPr id="16" name="Group 112">
                      <a:extLst>
                        <a:ext uri="{FF2B5EF4-FFF2-40B4-BE49-F238E27FC236}">
                          <a16:creationId xmlns:a16="http://schemas.microsoft.com/office/drawing/2014/main" id="{C363F41B-26D0-4954-B44B-773CAB31489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922" y="2655"/>
                      <a:ext cx="648" cy="81"/>
                      <a:chOff x="2922" y="2088"/>
                      <a:chExt cx="648" cy="81"/>
                    </a:xfrm>
                  </p:grpSpPr>
                  <p:sp>
                    <p:nvSpPr>
                      <p:cNvPr id="17" name="Rectangle 113">
                        <a:extLst>
                          <a:ext uri="{FF2B5EF4-FFF2-40B4-BE49-F238E27FC236}">
                            <a16:creationId xmlns:a16="http://schemas.microsoft.com/office/drawing/2014/main" id="{C8C82604-AA90-407B-89DF-4A0A14B16FD1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2922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18" name="Rectangle 114">
                        <a:extLst>
                          <a:ext uri="{FF2B5EF4-FFF2-40B4-BE49-F238E27FC236}">
                            <a16:creationId xmlns:a16="http://schemas.microsoft.com/office/drawing/2014/main" id="{EAA1D3FC-0CFC-4ED9-AD50-2BEED2748E8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03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19" name="Rectangle 115">
                        <a:extLst>
                          <a:ext uri="{FF2B5EF4-FFF2-40B4-BE49-F238E27FC236}">
                            <a16:creationId xmlns:a16="http://schemas.microsoft.com/office/drawing/2014/main" id="{B14FB6C6-3C97-4782-8ABA-BCD86D3576CA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084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0" name="Rectangle 116">
                        <a:extLst>
                          <a:ext uri="{FF2B5EF4-FFF2-40B4-BE49-F238E27FC236}">
                            <a16:creationId xmlns:a16="http://schemas.microsoft.com/office/drawing/2014/main" id="{540B6AC3-4B84-4966-848E-36381509BDAD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165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1" name="Rectangle 117">
                        <a:extLst>
                          <a:ext uri="{FF2B5EF4-FFF2-40B4-BE49-F238E27FC236}">
                            <a16:creationId xmlns:a16="http://schemas.microsoft.com/office/drawing/2014/main" id="{01A60068-F399-4AEF-A950-B3085F87867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246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2" name="Rectangle 118">
                        <a:extLst>
                          <a:ext uri="{FF2B5EF4-FFF2-40B4-BE49-F238E27FC236}">
                            <a16:creationId xmlns:a16="http://schemas.microsoft.com/office/drawing/2014/main" id="{D54CD3F8-0A40-4DC1-B47A-07D8639427A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327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3" name="Rectangle 119">
                        <a:extLst>
                          <a:ext uri="{FF2B5EF4-FFF2-40B4-BE49-F238E27FC236}">
                            <a16:creationId xmlns:a16="http://schemas.microsoft.com/office/drawing/2014/main" id="{B42CB886-EA7B-4B03-8FE2-A2AECAB2B0AF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08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  <p:sp>
                    <p:nvSpPr>
                      <p:cNvPr id="24" name="Rectangle 120">
                        <a:extLst>
                          <a:ext uri="{FF2B5EF4-FFF2-40B4-BE49-F238E27FC236}">
                            <a16:creationId xmlns:a16="http://schemas.microsoft.com/office/drawing/2014/main" id="{960F5ED7-845D-48BC-AF1D-FC6566A097D3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3489" y="2088"/>
                        <a:ext cx="81" cy="81"/>
                      </a:xfrm>
                      <a:prstGeom prst="rect">
                        <a:avLst/>
                      </a:prstGeom>
                      <a:gradFill rotWithShape="1">
                        <a:gsLst>
                          <a:gs pos="0">
                            <a:srgbClr val="EBE3A8"/>
                          </a:gs>
                          <a:gs pos="100000">
                            <a:srgbClr val="D4C344"/>
                          </a:gs>
                        </a:gsLst>
                        <a:lin ang="2700000" scaled="1"/>
                      </a:gradFill>
                      <a:ln w="12700" algn="ctr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lIns="0" tIns="0" rIns="0" bIns="0" anchor="ctr"/>
                      <a:lstStyle/>
                      <a:p>
                        <a:pPr algn="r"/>
                        <a:endParaRPr lang="zh-CN" altLang="zh-CN">
                          <a:latin typeface="+mn-ea"/>
                        </a:endParaRPr>
                      </a:p>
                    </p:txBody>
                  </p:sp>
                </p:grpSp>
              </p:grpSp>
              <p:sp>
                <p:nvSpPr>
                  <p:cNvPr id="82" name="文本框 81">
                    <a:extLst>
                      <a:ext uri="{FF2B5EF4-FFF2-40B4-BE49-F238E27FC236}">
                        <a16:creationId xmlns:a16="http://schemas.microsoft.com/office/drawing/2014/main" id="{42892777-B6CE-4F40-AFF6-25E958B6F154}"/>
                      </a:ext>
                    </a:extLst>
                  </p:cNvPr>
                  <p:cNvSpPr txBox="1"/>
                  <p:nvPr/>
                </p:nvSpPr>
                <p:spPr>
                  <a:xfrm>
                    <a:off x="1909662" y="5639776"/>
                    <a:ext cx="492443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altLang="zh-CN" sz="1400" b="1" dirty="0"/>
                      <a:t>CPU</a:t>
                    </a:r>
                    <a:endParaRPr lang="zh-CN" altLang="en-US" sz="1400" b="1" dirty="0"/>
                  </a:p>
                </p:txBody>
              </p:sp>
            </p:grpSp>
            <p:cxnSp>
              <p:nvCxnSpPr>
                <p:cNvPr id="85" name="直接箭头连接符 84">
                  <a:extLst>
                    <a:ext uri="{FF2B5EF4-FFF2-40B4-BE49-F238E27FC236}">
                      <a16:creationId xmlns:a16="http://schemas.microsoft.com/office/drawing/2014/main" id="{3B5BC3BE-5BA4-4C9C-93FB-27A25AAE6812}"/>
                    </a:ext>
                  </a:extLst>
                </p:cNvPr>
                <p:cNvCxnSpPr>
                  <a:cxnSpLocks/>
                  <a:stCxn id="4" idx="3"/>
                  <a:endCxn id="95" idx="1"/>
                </p:cNvCxnSpPr>
                <p:nvPr/>
              </p:nvCxnSpPr>
              <p:spPr>
                <a:xfrm>
                  <a:off x="2515924" y="5793665"/>
                  <a:ext cx="1667972" cy="9843"/>
                </a:xfrm>
                <a:prstGeom prst="straightConnector1">
                  <a:avLst/>
                </a:prstGeom>
                <a:ln w="28575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接箭头连接符 86">
                  <a:extLst>
                    <a:ext uri="{FF2B5EF4-FFF2-40B4-BE49-F238E27FC236}">
                      <a16:creationId xmlns:a16="http://schemas.microsoft.com/office/drawing/2014/main" id="{31C271D9-86AF-4ABB-9E1C-079A05BFD3E8}"/>
                    </a:ext>
                  </a:extLst>
                </p:cNvPr>
                <p:cNvCxnSpPr>
                  <a:cxnSpLocks/>
                  <a:stCxn id="95" idx="3"/>
                </p:cNvCxnSpPr>
                <p:nvPr/>
              </p:nvCxnSpPr>
              <p:spPr>
                <a:xfrm flipV="1">
                  <a:off x="4594625" y="5790813"/>
                  <a:ext cx="1664147" cy="12695"/>
                </a:xfrm>
                <a:prstGeom prst="straightConnector1">
                  <a:avLst/>
                </a:prstGeom>
                <a:ln w="28575"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文本框 85">
                  <a:extLst>
                    <a:ext uri="{FF2B5EF4-FFF2-40B4-BE49-F238E27FC236}">
                      <a16:creationId xmlns:a16="http://schemas.microsoft.com/office/drawing/2014/main" id="{7A9B7EBA-3EB7-4515-8FCD-BD59D300D70F}"/>
                    </a:ext>
                  </a:extLst>
                </p:cNvPr>
                <p:cNvSpPr txBox="1"/>
                <p:nvPr/>
              </p:nvSpPr>
              <p:spPr>
                <a:xfrm>
                  <a:off x="2782845" y="5521503"/>
                  <a:ext cx="108555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字节</a:t>
                  </a:r>
                  <a:r>
                    <a:rPr lang="en-US" altLang="zh-CN" sz="1200" b="1" dirty="0"/>
                    <a:t>/</a:t>
                  </a:r>
                  <a:r>
                    <a:rPr lang="zh-CN" altLang="en-US" sz="1200" b="1" dirty="0"/>
                    <a:t>半字</a:t>
                  </a:r>
                  <a:r>
                    <a:rPr lang="en-US" altLang="zh-CN" sz="1200" b="1" dirty="0"/>
                    <a:t>/</a:t>
                  </a:r>
                  <a:r>
                    <a:rPr lang="zh-CN" altLang="en-US" sz="1200" b="1" dirty="0"/>
                    <a:t>字</a:t>
                  </a:r>
                </a:p>
              </p:txBody>
            </p:sp>
            <p:sp>
              <p:nvSpPr>
                <p:cNvPr id="89" name="文本框 88">
                  <a:extLst>
                    <a:ext uri="{FF2B5EF4-FFF2-40B4-BE49-F238E27FC236}">
                      <a16:creationId xmlns:a16="http://schemas.microsoft.com/office/drawing/2014/main" id="{7FC9AF87-ADB2-46E2-890A-487C14F8E431}"/>
                    </a:ext>
                  </a:extLst>
                </p:cNvPr>
                <p:cNvSpPr txBox="1"/>
                <p:nvPr/>
              </p:nvSpPr>
              <p:spPr>
                <a:xfrm>
                  <a:off x="5148064" y="5507253"/>
                  <a:ext cx="64633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数据块</a:t>
                  </a:r>
                </a:p>
              </p:txBody>
            </p:sp>
          </p:grpSp>
          <p:pic>
            <p:nvPicPr>
              <p:cNvPr id="95" name="图片 94">
                <a:extLst>
                  <a:ext uri="{FF2B5EF4-FFF2-40B4-BE49-F238E27FC236}">
                    <a16:creationId xmlns:a16="http://schemas.microsoft.com/office/drawing/2014/main" id="{939B5865-109B-47F9-B1C5-3A97FE868E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83896" y="5598143"/>
                <a:ext cx="410729" cy="410729"/>
              </a:xfrm>
              <a:prstGeom prst="rect">
                <a:avLst/>
              </a:prstGeom>
            </p:spPr>
          </p:pic>
        </p:grpSp>
      </p:grp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B554D69-AD06-4D34-AF0B-A11307291397}"/>
              </a:ext>
            </a:extLst>
          </p:cNvPr>
          <p:cNvSpPr txBox="1"/>
          <p:nvPr/>
        </p:nvSpPr>
        <p:spPr>
          <a:xfrm>
            <a:off x="3711909" y="6143854"/>
            <a:ext cx="24491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图</a:t>
            </a:r>
            <a:r>
              <a:rPr lang="en-US" altLang="zh-CN" sz="1600" b="1" dirty="0"/>
              <a:t>4.31    cache</a:t>
            </a:r>
            <a:r>
              <a:rPr lang="zh-CN" altLang="en-US" sz="1600" b="1" dirty="0"/>
              <a:t>基本原理</a:t>
            </a:r>
          </a:p>
        </p:txBody>
      </p:sp>
    </p:spTree>
    <p:extLst>
      <p:ext uri="{BB962C8B-B14F-4D97-AF65-F5344CB8AC3E}">
        <p14:creationId xmlns:p14="http://schemas.microsoft.com/office/powerpoint/2010/main" val="226343998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318D78-C552-43B8-AEFE-E3DCC9C76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程序局部性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39372" y="1556792"/>
            <a:ext cx="8229600" cy="4824536"/>
          </a:xfrm>
        </p:spPr>
        <p:txBody>
          <a:bodyPr/>
          <a:lstStyle/>
          <a:p>
            <a:pPr lvl="1" eaLnBrk="1" hangingPunct="1">
              <a:lnSpc>
                <a:spcPct val="20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程序局部性</a:t>
            </a:r>
            <a:r>
              <a:rPr lang="zh-CN" altLang="en-US" sz="1800" b="1" dirty="0"/>
              <a:t>：是指在一段时间内，整个程序的执行仅限于程序中的某一部分（时间），而执行程序所需的指令和数据也仅局限于某个存储区域内（空间）</a:t>
            </a: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时间局部性</a:t>
            </a:r>
            <a:r>
              <a:rPr lang="zh-CN" altLang="en-US" sz="1800" b="1" dirty="0"/>
              <a:t>：是指当程序访问一个存储位置时，该位置在</a:t>
            </a:r>
            <a:r>
              <a:rPr lang="zh-CN" altLang="en-US" sz="1800" b="1" dirty="0">
                <a:solidFill>
                  <a:srgbClr val="C00000"/>
                </a:solidFill>
              </a:rPr>
              <a:t>未来可能会被多次访问</a:t>
            </a:r>
            <a:r>
              <a:rPr lang="zh-CN" altLang="en-US" sz="1800" b="1" dirty="0"/>
              <a:t>，如程序的循环结构和调用过程就很好地体现了时间局部性</a:t>
            </a: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r>
              <a:rPr lang="zh-CN" altLang="en-US" sz="1800" b="1" dirty="0">
                <a:solidFill>
                  <a:srgbClr val="C00000"/>
                </a:solidFill>
              </a:rPr>
              <a:t>空间局部性</a:t>
            </a:r>
            <a:r>
              <a:rPr lang="zh-CN" altLang="en-US" sz="1800" b="1" dirty="0"/>
              <a:t>：是指一旦程序访问了某个存储单元，则其</a:t>
            </a:r>
            <a:r>
              <a:rPr lang="zh-CN" altLang="en-US" sz="1800" b="1" dirty="0">
                <a:solidFill>
                  <a:srgbClr val="C00000"/>
                </a:solidFill>
              </a:rPr>
              <a:t>附近的存储单元</a:t>
            </a:r>
            <a:r>
              <a:rPr lang="zh-CN" altLang="en-US" sz="1800" b="1" dirty="0"/>
              <a:t>也即将被访问；如计算机中的指令代码、数组、结构体元素，通常在主存中顺序存放，对其数据访问就具有很强的空间局部性</a:t>
            </a:r>
            <a:endParaRPr lang="en-US" altLang="zh-CN" sz="1800" b="1" dirty="0"/>
          </a:p>
          <a:p>
            <a:pPr marL="457200" lvl="1" indent="0" eaLnBrk="1" hangingPunct="1">
              <a:lnSpc>
                <a:spcPct val="200000"/>
              </a:lnSpc>
              <a:buNone/>
            </a:pP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8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900" b="1" dirty="0"/>
          </a:p>
        </p:txBody>
      </p:sp>
    </p:spTree>
    <p:extLst>
      <p:ext uri="{BB962C8B-B14F-4D97-AF65-F5344CB8AC3E}">
        <p14:creationId xmlns:p14="http://schemas.microsoft.com/office/powerpoint/2010/main" val="191627669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36FAF-F403-43DD-8BEE-4CCE0216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程序局部性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846" y="1052736"/>
            <a:ext cx="5862827" cy="5184576"/>
          </a:xfrm>
        </p:spPr>
        <p:txBody>
          <a:bodyPr/>
          <a:lstStyle/>
          <a:p>
            <a:pPr lvl="1" eaLnBrk="1" hangingPunct="1">
              <a:lnSpc>
                <a:spcPct val="200000"/>
              </a:lnSpc>
            </a:pPr>
            <a:r>
              <a:rPr lang="zh-CN" altLang="en-US" sz="2000" b="1" dirty="0"/>
              <a:t>例</a:t>
            </a:r>
            <a:r>
              <a:rPr lang="en-US" altLang="zh-CN" sz="2000" b="1" dirty="0"/>
              <a:t>4.2</a:t>
            </a:r>
            <a:r>
              <a:rPr lang="zh-CN" altLang="en-US" sz="2000" b="1" dirty="0"/>
              <a:t>：分析下面</a:t>
            </a:r>
            <a:r>
              <a:rPr lang="en-US" altLang="zh-CN" sz="2000" b="1" dirty="0"/>
              <a:t>C</a:t>
            </a:r>
            <a:r>
              <a:rPr lang="zh-CN" altLang="en-US" sz="2000" b="1" dirty="0"/>
              <a:t>语言代码的程序局部性</a:t>
            </a:r>
            <a:endParaRPr lang="en-US" altLang="zh-CN" sz="2000" b="1" dirty="0"/>
          </a:p>
          <a:p>
            <a:pPr lvl="1" eaLnBrk="1" hangingPunct="1">
              <a:lnSpc>
                <a:spcPct val="200000"/>
              </a:lnSpc>
            </a:pPr>
            <a:r>
              <a:rPr lang="zh-CN" altLang="en-US" sz="2000" b="1" dirty="0"/>
              <a:t>解：</a:t>
            </a:r>
            <a:endParaRPr lang="en-US" altLang="zh-CN" sz="2000" b="1" dirty="0"/>
          </a:p>
          <a:p>
            <a:pPr lvl="2" eaLnBrk="1" hangingPunct="1">
              <a:lnSpc>
                <a:spcPct val="20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for</a:t>
            </a:r>
            <a:r>
              <a:rPr lang="zh-CN" altLang="en-US" sz="1600" b="1" dirty="0">
                <a:solidFill>
                  <a:srgbClr val="C00000"/>
                </a:solidFill>
              </a:rPr>
              <a:t>循环体</a:t>
            </a:r>
            <a:r>
              <a:rPr lang="zh-CN" altLang="en-US" sz="1600" b="1" dirty="0"/>
              <a:t>中的指令在主存中顺序存放，具有</a:t>
            </a:r>
            <a:r>
              <a:rPr lang="zh-CN" altLang="en-US" sz="1600" b="1" dirty="0">
                <a:solidFill>
                  <a:srgbClr val="C00000"/>
                </a:solidFill>
              </a:rPr>
              <a:t>空间局部性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for</a:t>
            </a:r>
            <a:r>
              <a:rPr lang="zh-CN" altLang="en-US" sz="1600" b="1" dirty="0"/>
              <a:t>循环体将被执行</a:t>
            </a:r>
            <a:r>
              <a:rPr lang="en-US" altLang="zh-CN" sz="1600" b="1" dirty="0"/>
              <a:t>1000</a:t>
            </a:r>
            <a:r>
              <a:rPr lang="zh-CN" altLang="en-US" sz="1600" b="1" dirty="0"/>
              <a:t>次，因此还具有</a:t>
            </a:r>
            <a:r>
              <a:rPr lang="zh-CN" altLang="en-US" sz="1600" b="1" dirty="0">
                <a:solidFill>
                  <a:srgbClr val="C00000"/>
                </a:solidFill>
              </a:rPr>
              <a:t>时间局部性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200000"/>
              </a:lnSpc>
            </a:pPr>
            <a:r>
              <a:rPr lang="zh-CN" altLang="en-US" sz="1600" b="1" dirty="0"/>
              <a:t>变量</a:t>
            </a:r>
            <a:r>
              <a:rPr lang="en-US" altLang="zh-CN" sz="1600" b="1" dirty="0" err="1">
                <a:solidFill>
                  <a:srgbClr val="C00000"/>
                </a:solidFill>
              </a:rPr>
              <a:t>i</a:t>
            </a:r>
            <a:r>
              <a:rPr lang="zh-CN" altLang="en-US" sz="1600" b="1" dirty="0">
                <a:solidFill>
                  <a:srgbClr val="C00000"/>
                </a:solidFill>
              </a:rPr>
              <a:t>、</a:t>
            </a:r>
            <a:r>
              <a:rPr lang="en-US" altLang="zh-CN" sz="1600" b="1" dirty="0">
                <a:solidFill>
                  <a:srgbClr val="C00000"/>
                </a:solidFill>
              </a:rPr>
              <a:t>sum</a:t>
            </a:r>
            <a:r>
              <a:rPr lang="zh-CN" altLang="en-US" sz="1600" b="1" dirty="0"/>
              <a:t>是单个变量，不存在空间局部性；但是这两个变量在每次循环执行时都会用到，因此具有</a:t>
            </a:r>
            <a:r>
              <a:rPr lang="zh-CN" altLang="en-US" sz="1600" b="1" dirty="0">
                <a:solidFill>
                  <a:srgbClr val="C00000"/>
                </a:solidFill>
              </a:rPr>
              <a:t>时间局部性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200000"/>
              </a:lnSpc>
            </a:pPr>
            <a:r>
              <a:rPr lang="zh-CN" altLang="en-US" sz="1600" b="1" dirty="0"/>
              <a:t>数组</a:t>
            </a:r>
            <a:r>
              <a:rPr lang="en-US" altLang="zh-CN" sz="1600" b="1" dirty="0">
                <a:solidFill>
                  <a:srgbClr val="C00000"/>
                </a:solidFill>
              </a:rPr>
              <a:t>V[</a:t>
            </a:r>
            <a:r>
              <a:rPr lang="en-US" altLang="zh-CN" sz="1600" b="1" dirty="0" err="1">
                <a:solidFill>
                  <a:srgbClr val="C00000"/>
                </a:solidFill>
              </a:rPr>
              <a:t>i</a:t>
            </a:r>
            <a:r>
              <a:rPr lang="en-US" altLang="zh-CN" sz="1600" b="1" dirty="0">
                <a:solidFill>
                  <a:srgbClr val="C00000"/>
                </a:solidFill>
              </a:rPr>
              <a:t>]</a:t>
            </a:r>
            <a:r>
              <a:rPr lang="zh-CN" altLang="en-US" sz="1600" b="1" dirty="0"/>
              <a:t>中包含</a:t>
            </a:r>
            <a:r>
              <a:rPr lang="en-US" altLang="zh-CN" sz="1600" b="1" dirty="0"/>
              <a:t>1000</a:t>
            </a:r>
            <a:r>
              <a:rPr lang="zh-CN" altLang="en-US" sz="1600" b="1" dirty="0"/>
              <a:t>个数据元素，这些数据在内存中是顺序存放，因此具有</a:t>
            </a:r>
            <a:r>
              <a:rPr lang="zh-CN" altLang="en-US" sz="1600" b="1" dirty="0">
                <a:solidFill>
                  <a:srgbClr val="C00000"/>
                </a:solidFill>
              </a:rPr>
              <a:t>空间局部性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200000"/>
              </a:lnSpc>
            </a:pPr>
            <a:endParaRPr lang="en-US" altLang="zh-CN" sz="800" b="1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CF41780F-33A5-46A3-AAB2-1CA03781A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916" y="2630063"/>
            <a:ext cx="2592288" cy="159787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0487" tIns="44450" rIns="90487" bIns="44450">
            <a:spAutoFit/>
          </a:bodyPr>
          <a:lstStyle/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nt 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sumvec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{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nt 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,sum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=0;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for (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=0; 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&lt;1000; i++)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	sum += V[</a:t>
            </a:r>
            <a:r>
              <a:rPr lang="en-US" sz="1400" b="1" dirty="0" err="1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];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	return sum;</a:t>
            </a:r>
          </a:p>
          <a:p>
            <a:pPr eaLnBrk="0" hangingPunct="0">
              <a:tabLst>
                <a:tab pos="457200" algn="l"/>
              </a:tabLst>
              <a:defRPr/>
            </a:pPr>
            <a:r>
              <a:rPr lang="en-US" sz="1400" b="1" dirty="0">
                <a:latin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604062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66567C9A-BF36-4C78-BA42-FB8D73912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807" y="2667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的基本概念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45021"/>
            <a:ext cx="8229600" cy="3829131"/>
          </a:xfrm>
        </p:spPr>
        <p:txBody>
          <a:bodyPr/>
          <a:lstStyle/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命中</a:t>
            </a:r>
            <a:r>
              <a:rPr lang="zh-CN" altLang="en-US" sz="1600" b="1" dirty="0"/>
              <a:t>：如果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要访问的数据在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中，则称为命中（</a:t>
            </a:r>
            <a:r>
              <a:rPr lang="en-US" altLang="zh-CN" sz="1600" b="1" dirty="0"/>
              <a:t>Hit</a:t>
            </a:r>
            <a:r>
              <a:rPr lang="zh-CN" altLang="en-US" sz="1600" b="1" dirty="0"/>
              <a:t>）；将命中时的数据访问时间称为</a:t>
            </a:r>
            <a:r>
              <a:rPr lang="zh-CN" altLang="en-US" sz="1600" b="1" dirty="0">
                <a:solidFill>
                  <a:srgbClr val="C00000"/>
                </a:solidFill>
              </a:rPr>
              <a:t>命中访问时间</a:t>
            </a:r>
            <a:r>
              <a:rPr lang="zh-CN" altLang="en-US" sz="1600" b="1" dirty="0"/>
              <a:t>，通常为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访问时间</a:t>
            </a:r>
            <a:r>
              <a:rPr lang="en-US" altLang="zh-CN" sz="1600" b="1" dirty="0" err="1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 err="1">
                <a:solidFill>
                  <a:srgbClr val="C00000"/>
                </a:solidFill>
              </a:rPr>
              <a:t>c</a:t>
            </a:r>
            <a:endParaRPr lang="en-US" altLang="zh-CN" sz="1600" b="1" baseline="-25000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数据缺失</a:t>
            </a:r>
            <a:r>
              <a:rPr lang="zh-CN" altLang="en-US" sz="1600" b="1" dirty="0"/>
              <a:t>：如果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要访问的数据不在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中，则称为数据缺失（</a:t>
            </a:r>
            <a:r>
              <a:rPr lang="en-US" altLang="zh-CN" sz="1600" b="1" dirty="0"/>
              <a:t>Miss</a:t>
            </a:r>
            <a:r>
              <a:rPr lang="zh-CN" altLang="en-US" sz="1600" b="1" dirty="0"/>
              <a:t>，也称为不命中），此时要将缺失数据从主存调入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中才能访问数据；将数据缺失时的访问时间称为</a:t>
            </a:r>
            <a:r>
              <a:rPr lang="zh-CN" altLang="en-US" sz="1600" b="1" dirty="0">
                <a:solidFill>
                  <a:srgbClr val="C00000"/>
                </a:solidFill>
              </a:rPr>
              <a:t>缺失补偿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Miss Penalty</a:t>
            </a:r>
            <a:r>
              <a:rPr lang="zh-CN" altLang="en-US" sz="1600" b="1" dirty="0"/>
              <a:t>），通常为主存访问时间</a:t>
            </a:r>
            <a:r>
              <a:rPr lang="en-US" altLang="zh-CN" sz="1600" b="1" dirty="0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m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通常将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和主存分成若干个固定大小的</a:t>
            </a:r>
            <a:r>
              <a:rPr lang="zh-CN" altLang="en-US" sz="1600" b="1" dirty="0">
                <a:solidFill>
                  <a:srgbClr val="C00000"/>
                </a:solidFill>
              </a:rPr>
              <a:t>数据块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Block/cache line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solidFill>
                  <a:srgbClr val="C00000"/>
                </a:solidFill>
              </a:rPr>
              <a:t>主存地址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主存块地址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地址 </a:t>
            </a:r>
            <a:r>
              <a:rPr lang="en-US" altLang="zh-CN" sz="1600" b="1" dirty="0"/>
              <a:t>= cache</a:t>
            </a:r>
            <a:r>
              <a:rPr lang="zh-CN" altLang="en-US" sz="1600" b="1" dirty="0"/>
              <a:t>块地址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主存和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的块内偏移是一样大的，即主存块和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块的大小是相同的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C82AB43-C33D-4445-826E-0EC84A7C68B4}"/>
              </a:ext>
            </a:extLst>
          </p:cNvPr>
          <p:cNvGrpSpPr/>
          <p:nvPr/>
        </p:nvGrpSpPr>
        <p:grpSpPr>
          <a:xfrm>
            <a:off x="2014202" y="5216433"/>
            <a:ext cx="4502014" cy="1283070"/>
            <a:chOff x="1654162" y="5563262"/>
            <a:chExt cx="4502014" cy="128307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3CA1AD31-0A38-4BA0-B8D5-3733CB5ACF20}"/>
                </a:ext>
              </a:extLst>
            </p:cNvPr>
            <p:cNvGrpSpPr/>
            <p:nvPr/>
          </p:nvGrpSpPr>
          <p:grpSpPr>
            <a:xfrm>
              <a:off x="1654162" y="5563262"/>
              <a:ext cx="4502014" cy="841895"/>
              <a:chOff x="1654162" y="5563262"/>
              <a:chExt cx="4502014" cy="841895"/>
            </a:xfrm>
          </p:grpSpPr>
          <p:grpSp>
            <p:nvGrpSpPr>
              <p:cNvPr id="3" name="组合 2">
                <a:extLst>
                  <a:ext uri="{FF2B5EF4-FFF2-40B4-BE49-F238E27FC236}">
                    <a16:creationId xmlns:a16="http://schemas.microsoft.com/office/drawing/2014/main" id="{75B8D7E7-6D77-4CA8-A44C-1C17D15D0EB0}"/>
                  </a:ext>
                </a:extLst>
              </p:cNvPr>
              <p:cNvGrpSpPr/>
              <p:nvPr/>
            </p:nvGrpSpPr>
            <p:grpSpPr>
              <a:xfrm>
                <a:off x="2230160" y="5589240"/>
                <a:ext cx="3926016" cy="807476"/>
                <a:chOff x="1359102" y="5733255"/>
                <a:chExt cx="3926016" cy="807476"/>
              </a:xfrm>
            </p:grpSpPr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C62AC208-8A87-427E-B129-FFBBD7515893}"/>
                    </a:ext>
                  </a:extLst>
                </p:cNvPr>
                <p:cNvSpPr txBox="1"/>
                <p:nvPr/>
              </p:nvSpPr>
              <p:spPr>
                <a:xfrm>
                  <a:off x="2236588" y="5733255"/>
                  <a:ext cx="1467646" cy="30777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/>
                    <a:t>    cache</a:t>
                  </a:r>
                  <a:r>
                    <a:rPr lang="zh-CN" altLang="en-US" sz="1400" b="1" dirty="0"/>
                    <a:t>块地址    </a:t>
                  </a:r>
                </a:p>
              </p:txBody>
            </p:sp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219BBE8C-D84F-464C-8E38-51E08DE30763}"/>
                    </a:ext>
                  </a:extLst>
                </p:cNvPr>
                <p:cNvSpPr txBox="1"/>
                <p:nvPr/>
              </p:nvSpPr>
              <p:spPr>
                <a:xfrm>
                  <a:off x="1359102" y="6232954"/>
                  <a:ext cx="2364750" cy="307777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1400" b="1" dirty="0"/>
                    <a:t>                </a:t>
                  </a:r>
                  <a:r>
                    <a:rPr lang="zh-CN" altLang="en-US" sz="1400" b="1" dirty="0"/>
                    <a:t>主存块地址                </a:t>
                  </a:r>
                </a:p>
              </p:txBody>
            </p:sp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44923581-135F-41F1-991D-3535322430D0}"/>
                    </a:ext>
                  </a:extLst>
                </p:cNvPr>
                <p:cNvSpPr txBox="1"/>
                <p:nvPr/>
              </p:nvSpPr>
              <p:spPr>
                <a:xfrm>
                  <a:off x="3704234" y="5733255"/>
                  <a:ext cx="1580884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    </a:t>
                  </a:r>
                  <a:r>
                    <a:rPr lang="zh-CN" altLang="en-US" sz="1400" b="1" dirty="0"/>
                    <a:t>块内偏移 </a:t>
                  </a:r>
                </a:p>
              </p:txBody>
            </p:sp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84635758-9771-4D9E-B838-A51413F6B49C}"/>
                    </a:ext>
                  </a:extLst>
                </p:cNvPr>
                <p:cNvSpPr txBox="1"/>
                <p:nvPr/>
              </p:nvSpPr>
              <p:spPr>
                <a:xfrm>
                  <a:off x="3723852" y="6224100"/>
                  <a:ext cx="1561266" cy="307777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400" b="1" dirty="0"/>
                    <a:t>    </a:t>
                  </a:r>
                  <a:r>
                    <a:rPr lang="zh-CN" altLang="en-US" sz="1400" b="1" dirty="0"/>
                    <a:t>块内偏移 </a:t>
                  </a:r>
                </a:p>
              </p:txBody>
            </p:sp>
          </p:grp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917F613-62CB-4488-A18F-853D9C8FE848}"/>
                  </a:ext>
                </a:extLst>
              </p:cNvPr>
              <p:cNvSpPr txBox="1"/>
              <p:nvPr/>
            </p:nvSpPr>
            <p:spPr>
              <a:xfrm>
                <a:off x="2425762" y="5563262"/>
                <a:ext cx="67076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/>
                  <a:t>cache</a:t>
                </a:r>
                <a:endParaRPr lang="zh-CN" altLang="en-US" sz="1600" b="1" dirty="0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BDE6E08-70E5-47C9-8272-03A22F4FF56E}"/>
                  </a:ext>
                </a:extLst>
              </p:cNvPr>
              <p:cNvSpPr txBox="1"/>
              <p:nvPr/>
            </p:nvSpPr>
            <p:spPr>
              <a:xfrm>
                <a:off x="1654162" y="6066603"/>
                <a:ext cx="59824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/>
                  <a:t>主存</a:t>
                </a: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8A06487B-1DE3-410F-80AB-C7A2D21277BF}"/>
                </a:ext>
              </a:extLst>
            </p:cNvPr>
            <p:cNvSpPr txBox="1"/>
            <p:nvPr/>
          </p:nvSpPr>
          <p:spPr>
            <a:xfrm>
              <a:off x="2916724" y="6538555"/>
              <a:ext cx="270676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4.32    cache</a:t>
              </a:r>
              <a:r>
                <a:rPr lang="zh-CN" altLang="en-US" sz="1400" b="1" dirty="0"/>
                <a:t>和主存的地址格式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61441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E8C427-F6ED-409A-968F-DDA1FF63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的基本概念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88E264-4E33-4E02-9271-F60AAFFF5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0479" y="1268760"/>
            <a:ext cx="8229600" cy="5362825"/>
          </a:xfrm>
        </p:spPr>
        <p:txBody>
          <a:bodyPr/>
          <a:lstStyle/>
          <a:p>
            <a:pPr lvl="1"/>
            <a:r>
              <a:rPr lang="zh-CN" altLang="en-US" sz="1600" b="1" dirty="0">
                <a:solidFill>
                  <a:srgbClr val="C00000"/>
                </a:solidFill>
              </a:rPr>
              <a:t>命中率</a:t>
            </a:r>
            <a:r>
              <a:rPr lang="zh-CN" altLang="en-US" sz="1600" b="1" dirty="0"/>
              <a:t>：假设</a:t>
            </a:r>
            <a:r>
              <a:rPr lang="en-US" altLang="zh-CN" sz="1600" b="1" dirty="0"/>
              <a:t>N</a:t>
            </a:r>
            <a:r>
              <a:rPr lang="en-US" altLang="zh-CN" sz="1600" b="1" baseline="-25000" dirty="0"/>
              <a:t>c</a:t>
            </a:r>
            <a:r>
              <a:rPr lang="zh-CN" altLang="en-US" sz="1600" b="1" dirty="0"/>
              <a:t>为命中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的次数，</a:t>
            </a:r>
            <a:r>
              <a:rPr lang="en-US" altLang="zh-CN" sz="1600" b="1" dirty="0"/>
              <a:t>N</a:t>
            </a:r>
            <a:r>
              <a:rPr lang="en-US" altLang="zh-CN" sz="1600" b="1" baseline="-25000" dirty="0"/>
              <a:t>m</a:t>
            </a:r>
            <a:r>
              <a:rPr lang="zh-CN" altLang="en-US" sz="1600" b="1" dirty="0"/>
              <a:t>为从主存中访问信息的次数（即不命中的次数），则命中率</a:t>
            </a:r>
            <a:r>
              <a:rPr lang="en-US" altLang="zh-CN" sz="1600" b="1" dirty="0"/>
              <a:t>h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Hit Ratio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h = N</a:t>
            </a:r>
            <a:r>
              <a:rPr lang="en-US" altLang="zh-CN" sz="1600" b="1" baseline="-25000" dirty="0"/>
              <a:t>c</a:t>
            </a:r>
            <a:r>
              <a:rPr lang="en-US" altLang="zh-CN" sz="1600" b="1" dirty="0"/>
              <a:t>/(</a:t>
            </a:r>
            <a:r>
              <a:rPr lang="en-US" altLang="zh-CN" sz="1600" b="1" dirty="0" err="1"/>
              <a:t>N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 err="1"/>
              <a:t>+N</a:t>
            </a:r>
            <a:r>
              <a:rPr lang="en-US" altLang="zh-CN" sz="1600" b="1" baseline="-25000" dirty="0" err="1"/>
              <a:t>m</a:t>
            </a:r>
            <a:r>
              <a:rPr lang="en-US" altLang="zh-CN" sz="1600" b="1" dirty="0"/>
              <a:t>)</a:t>
            </a:r>
            <a:endParaRPr lang="en-US" altLang="zh-CN" sz="800" b="1" dirty="0"/>
          </a:p>
          <a:p>
            <a:pPr lvl="1"/>
            <a:endParaRPr lang="en-US" altLang="zh-CN" sz="1600" b="1" dirty="0"/>
          </a:p>
          <a:p>
            <a:pPr lvl="1"/>
            <a:r>
              <a:rPr lang="zh-CN" altLang="en-US" sz="1600" b="1" dirty="0">
                <a:solidFill>
                  <a:srgbClr val="C00000"/>
                </a:solidFill>
              </a:rPr>
              <a:t>缺失率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Miss Ratio</a:t>
            </a:r>
            <a:r>
              <a:rPr lang="zh-CN" altLang="en-US" sz="1600" b="1" dirty="0"/>
              <a:t>）</a:t>
            </a:r>
            <a:r>
              <a:rPr lang="en-US" altLang="zh-CN" sz="1600" b="1" dirty="0"/>
              <a:t>= 1-h</a:t>
            </a:r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cache/</a:t>
            </a:r>
            <a:r>
              <a:rPr lang="zh-CN" altLang="en-US" sz="1600" b="1" dirty="0"/>
              <a:t>主存系统的</a:t>
            </a:r>
            <a:r>
              <a:rPr lang="zh-CN" altLang="en-US" sz="1600" b="1" dirty="0">
                <a:solidFill>
                  <a:srgbClr val="C00000"/>
                </a:solidFill>
              </a:rPr>
              <a:t>平均访问时间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 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ht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+(1-h)t</a:t>
            </a:r>
            <a:r>
              <a:rPr lang="en-US" altLang="zh-CN" sz="1600" b="1" baseline="-25000" dirty="0"/>
              <a:t>m</a:t>
            </a:r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其中，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为命中访问时间；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m</a:t>
            </a:r>
            <a:r>
              <a:rPr lang="zh-CN" altLang="en-US" sz="1600" b="1" dirty="0"/>
              <a:t>为缺失访问时间；命中率</a:t>
            </a:r>
            <a:r>
              <a:rPr lang="en-US" altLang="zh-CN" sz="1600" b="1" dirty="0"/>
              <a:t>h</a:t>
            </a:r>
            <a:r>
              <a:rPr lang="zh-CN" altLang="en-US" sz="1600" b="1" dirty="0"/>
              <a:t>越高，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zh-CN" altLang="en-US" sz="1600" b="1" dirty="0"/>
              <a:t>越接近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h=1</a:t>
            </a:r>
            <a:r>
              <a:rPr lang="zh-CN" altLang="en-US" sz="1600" b="1" dirty="0"/>
              <a:t>时，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zh-CN" altLang="en-US" sz="1600" b="1" dirty="0">
                <a:solidFill>
                  <a:srgbClr val="C00000"/>
                </a:solidFill>
              </a:rPr>
              <a:t>访问效率</a:t>
            </a:r>
            <a:r>
              <a:rPr lang="en-US" altLang="zh-CN" sz="1600" b="1" dirty="0"/>
              <a:t>e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/>
            <a:r>
              <a:rPr lang="en-US" altLang="zh-CN" sz="1600" b="1" dirty="0"/>
              <a:t>e=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/t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 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/(</a:t>
            </a:r>
            <a:r>
              <a:rPr lang="en-US" altLang="zh-CN" sz="1600" b="1" dirty="0" err="1"/>
              <a:t>ht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+(1-h)t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)=1/(h+(1-h)r)</a:t>
            </a:r>
          </a:p>
          <a:p>
            <a:pPr lvl="2"/>
            <a:endParaRPr lang="en-US" altLang="zh-CN" sz="1600" b="1" dirty="0"/>
          </a:p>
          <a:p>
            <a:pPr lvl="2"/>
            <a:r>
              <a:rPr lang="zh-CN" altLang="en-US" sz="1600" b="1" dirty="0"/>
              <a:t>其中</a:t>
            </a:r>
            <a:r>
              <a:rPr lang="en-US" altLang="zh-CN" sz="1600" b="1" dirty="0"/>
              <a:t>r= 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/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zh-CN" altLang="en-US" sz="1600" b="1" dirty="0"/>
              <a:t>，表示主存与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访问时间的倍数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1"/>
            <a:r>
              <a:rPr lang="zh-CN" altLang="en-US" sz="1600" b="1" dirty="0">
                <a:highlight>
                  <a:srgbClr val="FFFF00"/>
                </a:highlight>
              </a:rPr>
              <a:t>命中率与程序局部性、</a:t>
            </a:r>
            <a:r>
              <a:rPr lang="en-US" altLang="zh-CN" sz="1600" b="1" dirty="0">
                <a:highlight>
                  <a:srgbClr val="FFFF00"/>
                </a:highlight>
              </a:rPr>
              <a:t>cache</a:t>
            </a:r>
            <a:r>
              <a:rPr lang="zh-CN" altLang="en-US" sz="1600" b="1" dirty="0">
                <a:highlight>
                  <a:srgbClr val="FFFF00"/>
                </a:highlight>
              </a:rPr>
              <a:t>容量、数据块（</a:t>
            </a:r>
            <a:r>
              <a:rPr lang="en-US" altLang="zh-CN" sz="1600" b="1" dirty="0">
                <a:highlight>
                  <a:srgbClr val="FFFF00"/>
                </a:highlight>
              </a:rPr>
              <a:t>Block</a:t>
            </a:r>
            <a:r>
              <a:rPr lang="zh-CN" altLang="en-US" sz="1600" b="1" dirty="0">
                <a:highlight>
                  <a:srgbClr val="FFFF00"/>
                </a:highlight>
              </a:rPr>
              <a:t>）大小、</a:t>
            </a:r>
            <a:r>
              <a:rPr lang="en-US" altLang="zh-CN" sz="1600" b="1" dirty="0">
                <a:highlight>
                  <a:srgbClr val="FFFF00"/>
                </a:highlight>
              </a:rPr>
              <a:t>cache</a:t>
            </a:r>
            <a:r>
              <a:rPr lang="zh-CN" altLang="en-US" sz="1600" b="1" dirty="0">
                <a:highlight>
                  <a:srgbClr val="FFFF00"/>
                </a:highlight>
              </a:rPr>
              <a:t>的组织方式有关</a:t>
            </a:r>
          </a:p>
        </p:txBody>
      </p:sp>
    </p:spTree>
    <p:extLst>
      <p:ext uri="{BB962C8B-B14F-4D97-AF65-F5344CB8AC3E}">
        <p14:creationId xmlns:p14="http://schemas.microsoft.com/office/powerpoint/2010/main" val="416548297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92F70BD-17FF-4480-B174-D5D0C5D0A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630705"/>
            <a:ext cx="6918291" cy="162190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4E5E799-3101-4B3B-9933-E2EC3BF03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184" y="3333568"/>
            <a:ext cx="2697601" cy="312214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F23FB4D-247D-45C4-B057-CC2790BA1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812" y="3524432"/>
            <a:ext cx="6027942" cy="211092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4AD8BDE-3325-4BA6-8CE6-85C370E01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</a:t>
            </a:r>
            <a:r>
              <a:rPr lang="zh-CN" altLang="en-US" dirty="0"/>
              <a:t>优化策略</a:t>
            </a:r>
          </a:p>
        </p:txBody>
      </p:sp>
    </p:spTree>
    <p:extLst>
      <p:ext uri="{BB962C8B-B14F-4D97-AF65-F5344CB8AC3E}">
        <p14:creationId xmlns:p14="http://schemas.microsoft.com/office/powerpoint/2010/main" val="274013316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52951-7198-47FB-B77A-C9E3727E3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587" y="95516"/>
            <a:ext cx="8229600" cy="1143000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sz="40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015754"/>
            <a:ext cx="8229600" cy="2304256"/>
          </a:xfrm>
        </p:spPr>
        <p:txBody>
          <a:bodyPr/>
          <a:lstStyle/>
          <a:p>
            <a:pPr lvl="1" eaLnBrk="1" hangingPunct="1"/>
            <a:r>
              <a:rPr lang="en-US" altLang="zh-CN" sz="2400" b="1" dirty="0"/>
              <a:t>1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读流程</a:t>
            </a:r>
            <a:endParaRPr lang="en-US" altLang="zh-CN" sz="18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600" b="1" dirty="0"/>
              <a:t>CPU</a:t>
            </a:r>
            <a:r>
              <a:rPr lang="zh-CN" altLang="en-US" sz="1600" b="1" dirty="0"/>
              <a:t>给出主存地址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Read Address</a:t>
            </a:r>
            <a:r>
              <a:rPr lang="zh-CN" altLang="en-US" sz="1600" b="1" dirty="0"/>
              <a:t>，包括块地址和块内偏移），以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highlight>
                  <a:srgbClr val="FFFF00"/>
                </a:highlight>
              </a:rPr>
              <a:t>块地址为关键字</a:t>
            </a:r>
            <a:r>
              <a:rPr lang="zh-CN" altLang="en-US" sz="1600" b="1" dirty="0"/>
              <a:t>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中进行查找，如果找到表示</a:t>
            </a:r>
            <a:r>
              <a:rPr lang="zh-CN" altLang="en-US" sz="1600" b="1" dirty="0">
                <a:solidFill>
                  <a:srgbClr val="C00000"/>
                </a:solidFill>
              </a:rPr>
              <a:t>命中</a:t>
            </a:r>
            <a:r>
              <a:rPr lang="zh-CN" altLang="en-US" sz="1600" b="1" dirty="0"/>
              <a:t>，此时通过访问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就可获取地址为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的数据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如果找不到则表示</a:t>
            </a:r>
            <a:r>
              <a:rPr lang="zh-CN" altLang="en-US" sz="1600" b="1" dirty="0">
                <a:solidFill>
                  <a:srgbClr val="C00000"/>
                </a:solidFill>
              </a:rPr>
              <a:t>数据缺失</a:t>
            </a:r>
            <a:r>
              <a:rPr lang="zh-CN" altLang="en-US" sz="1600" b="1" dirty="0"/>
              <a:t>，此时需要访问主存，将地址为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的主存块调入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中，并发送地址为</a:t>
            </a:r>
            <a:r>
              <a:rPr lang="en-US" altLang="zh-CN" sz="1600" b="1" dirty="0"/>
              <a:t>RA</a:t>
            </a:r>
            <a:r>
              <a:rPr lang="zh-CN" altLang="en-US" sz="1600" b="1" dirty="0"/>
              <a:t>的数据到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中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此时若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已经满了，还需要进行</a:t>
            </a:r>
            <a:r>
              <a:rPr lang="zh-CN" altLang="en-US" sz="1600" b="1" dirty="0">
                <a:solidFill>
                  <a:srgbClr val="C00000"/>
                </a:solidFill>
              </a:rPr>
              <a:t>替换</a:t>
            </a:r>
            <a:r>
              <a:rPr lang="zh-CN" altLang="en-US" sz="1600" b="1" dirty="0"/>
              <a:t>，并更新查找表</a:t>
            </a:r>
            <a:endParaRPr lang="en-US" altLang="zh-CN" sz="1400" b="1" dirty="0"/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175E238-36F0-4B5C-AA8C-FB02350674F9}"/>
              </a:ext>
            </a:extLst>
          </p:cNvPr>
          <p:cNvGrpSpPr/>
          <p:nvPr/>
        </p:nvGrpSpPr>
        <p:grpSpPr>
          <a:xfrm>
            <a:off x="1605489" y="3247000"/>
            <a:ext cx="4714828" cy="3111819"/>
            <a:chOff x="1945404" y="2533604"/>
            <a:chExt cx="5434908" cy="3487684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F368933-896C-47C6-84E9-160D8AF65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45404" y="2708920"/>
              <a:ext cx="5253192" cy="3181827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6370A515-94BD-4AEA-9C74-3D852D91A7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6136" y="2533604"/>
              <a:ext cx="1584176" cy="3487684"/>
            </a:xfrm>
            <a:prstGeom prst="rect">
              <a:avLst/>
            </a:prstGeom>
          </p:spPr>
        </p:pic>
      </p:grpSp>
      <p:pic>
        <p:nvPicPr>
          <p:cNvPr id="22" name="图片 21">
            <a:extLst>
              <a:ext uri="{FF2B5EF4-FFF2-40B4-BE49-F238E27FC236}">
                <a16:creationId xmlns:a16="http://schemas.microsoft.com/office/drawing/2014/main" id="{1DC96290-B9D6-40C9-90F1-CC0C78F10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184" y="3230762"/>
            <a:ext cx="1395532" cy="3057625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68AED61E-C09E-42CA-B107-F03954412D7E}"/>
              </a:ext>
            </a:extLst>
          </p:cNvPr>
          <p:cNvSpPr txBox="1"/>
          <p:nvPr/>
        </p:nvSpPr>
        <p:spPr>
          <a:xfrm>
            <a:off x="2006896" y="6325758"/>
            <a:ext cx="2381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图</a:t>
            </a:r>
            <a:r>
              <a:rPr lang="en-US" altLang="zh-CN" sz="1200" b="1" dirty="0"/>
              <a:t>4.33    cache</a:t>
            </a:r>
            <a:r>
              <a:rPr lang="zh-CN" altLang="en-US" sz="1200" b="1" dirty="0"/>
              <a:t>读操作的基本流程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5B47648-16BA-465E-BF7A-232160C47F8E}"/>
              </a:ext>
            </a:extLst>
          </p:cNvPr>
          <p:cNvSpPr txBox="1"/>
          <p:nvPr/>
        </p:nvSpPr>
        <p:spPr>
          <a:xfrm>
            <a:off x="6803260" y="6242346"/>
            <a:ext cx="13170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/>
              <a:t>cache</a:t>
            </a:r>
            <a:r>
              <a:rPr lang="zh-CN" altLang="en-US" sz="1200" b="1" dirty="0"/>
              <a:t>的替换过程</a:t>
            </a:r>
          </a:p>
        </p:txBody>
      </p:sp>
    </p:spTree>
    <p:extLst>
      <p:ext uri="{BB962C8B-B14F-4D97-AF65-F5344CB8AC3E}">
        <p14:creationId xmlns:p14="http://schemas.microsoft.com/office/powerpoint/2010/main" val="272602891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92244"/>
            <a:ext cx="4864818" cy="6649124"/>
          </a:xfrm>
        </p:spPr>
        <p:txBody>
          <a:bodyPr/>
          <a:lstStyle/>
          <a:p>
            <a:pPr lvl="1" eaLnBrk="1" hangingPunct="1">
              <a:lnSpc>
                <a:spcPct val="150000"/>
              </a:lnSpc>
            </a:pPr>
            <a:r>
              <a:rPr lang="en-US" altLang="zh-CN" sz="2400" b="1" dirty="0"/>
              <a:t>2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写流程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给出主存地址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Write Address</a:t>
            </a:r>
            <a:r>
              <a:rPr lang="zh-CN" altLang="en-US" sz="1400" b="1" dirty="0"/>
              <a:t>，包括块地址和块内偏移），以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块地址为关键字在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中进行查找：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如果找到表示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；此时将地址为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的数据写入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中，并根据写策略决定要不要同时写入主存（如果是</a:t>
            </a:r>
            <a:r>
              <a:rPr lang="zh-CN" altLang="en-US" sz="1400" b="1" dirty="0">
                <a:solidFill>
                  <a:srgbClr val="C00000"/>
                </a:solidFill>
              </a:rPr>
              <a:t>写回策略</a:t>
            </a:r>
            <a:r>
              <a:rPr lang="zh-CN" altLang="en-US" sz="1400" b="1" dirty="0"/>
              <a:t>，则不需要写入主存；如果是</a:t>
            </a:r>
            <a:r>
              <a:rPr lang="zh-CN" altLang="en-US" sz="1400" b="1" dirty="0">
                <a:solidFill>
                  <a:srgbClr val="C00000"/>
                </a:solidFill>
              </a:rPr>
              <a:t>写直达策略</a:t>
            </a:r>
            <a:r>
              <a:rPr lang="zh-CN" altLang="en-US" sz="1400" b="1" dirty="0"/>
              <a:t>，则需要同时写入主存）</a:t>
            </a: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如果找不到则表示</a:t>
            </a:r>
            <a:r>
              <a:rPr lang="zh-CN" altLang="en-US" sz="1400" b="1" dirty="0">
                <a:solidFill>
                  <a:srgbClr val="C00000"/>
                </a:solidFill>
              </a:rPr>
              <a:t>写缺失</a:t>
            </a:r>
            <a:r>
              <a:rPr lang="zh-CN" altLang="en-US" sz="1400" b="1" dirty="0"/>
              <a:t>，此时若采用</a:t>
            </a:r>
            <a:r>
              <a:rPr lang="zh-CN" altLang="en-US" sz="1400" b="1" dirty="0">
                <a:solidFill>
                  <a:srgbClr val="C00000"/>
                </a:solidFill>
              </a:rPr>
              <a:t>写分配法</a:t>
            </a:r>
            <a:r>
              <a:rPr lang="zh-CN" altLang="en-US" sz="1400" b="1" dirty="0"/>
              <a:t>，则将地址为</a:t>
            </a:r>
            <a:r>
              <a:rPr lang="en-US" altLang="zh-CN" sz="1400" b="1" dirty="0"/>
              <a:t>WA</a:t>
            </a:r>
            <a:r>
              <a:rPr lang="zh-CN" altLang="en-US" sz="1400" b="1" dirty="0"/>
              <a:t>的主存块调入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中，再进行数据写入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的操作；如果不采用写分配法，则直接将数据写到主存中</a:t>
            </a:r>
            <a:r>
              <a:rPr lang="en-US" altLang="zh-CN" sz="1400" b="1" dirty="0"/>
              <a:t>.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此时若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已经满了，还需要进行</a:t>
            </a:r>
            <a:r>
              <a:rPr lang="zh-CN" altLang="en-US" sz="1400" b="1" dirty="0">
                <a:solidFill>
                  <a:srgbClr val="C00000"/>
                </a:solidFill>
              </a:rPr>
              <a:t>替换</a:t>
            </a:r>
            <a:r>
              <a:rPr lang="zh-CN" altLang="en-US" sz="1400" b="1" dirty="0"/>
              <a:t>，并更新查找表</a:t>
            </a: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脏数据</a:t>
            </a:r>
            <a:r>
              <a:rPr lang="zh-CN" altLang="en-US" sz="1600" b="1" dirty="0"/>
              <a:t>：新写入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中的数据与主存中的原始数据不一致时，新写入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中的这部分数据称为脏数据（</a:t>
            </a:r>
            <a:r>
              <a:rPr lang="en-US" altLang="zh-CN" sz="1600" b="1" dirty="0"/>
              <a:t>Dirty Data</a:t>
            </a:r>
            <a:r>
              <a:rPr lang="zh-CN" altLang="en-US" sz="1600" b="1" dirty="0"/>
              <a:t>）</a:t>
            </a:r>
            <a:endParaRPr lang="en-US" altLang="zh-CN" sz="1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73E5F4-BFD2-4CD6-8488-0F8D31C6E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370" y="231627"/>
            <a:ext cx="3301149" cy="2944093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7B6EF800-0C9E-4B27-9AFA-01EEBFCC6A40}"/>
              </a:ext>
            </a:extLst>
          </p:cNvPr>
          <p:cNvGrpSpPr/>
          <p:nvPr/>
        </p:nvGrpSpPr>
        <p:grpSpPr>
          <a:xfrm>
            <a:off x="6660232" y="3371928"/>
            <a:ext cx="1395532" cy="3220480"/>
            <a:chOff x="6732240" y="3274667"/>
            <a:chExt cx="1395532" cy="3220480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65792EF6-33BF-4972-B243-3B823B83F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32240" y="3274667"/>
              <a:ext cx="1395532" cy="3057625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9C3D1A0-DEA9-454D-92C9-2F1A63532BE4}"/>
                </a:ext>
              </a:extLst>
            </p:cNvPr>
            <p:cNvSpPr txBox="1"/>
            <p:nvPr/>
          </p:nvSpPr>
          <p:spPr>
            <a:xfrm>
              <a:off x="6810285" y="6218148"/>
              <a:ext cx="13170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b="1" dirty="0"/>
                <a:t>cache</a:t>
              </a:r>
              <a:r>
                <a:rPr lang="zh-CN" altLang="en-US" sz="1200" b="1" dirty="0"/>
                <a:t>的替换过程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A0580FCD-7C91-4B71-B0EC-8C1F3918CF3E}"/>
              </a:ext>
            </a:extLst>
          </p:cNvPr>
          <p:cNvSpPr txBox="1"/>
          <p:nvPr/>
        </p:nvSpPr>
        <p:spPr>
          <a:xfrm>
            <a:off x="6156176" y="3179513"/>
            <a:ext cx="270676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4.34    cache</a:t>
            </a:r>
            <a:r>
              <a:rPr lang="zh-CN" altLang="en-US" sz="1400" b="1" dirty="0"/>
              <a:t>写操作的基本流程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2F31EE8-DCD3-4977-AE22-FA676DE4C71F}"/>
              </a:ext>
            </a:extLst>
          </p:cNvPr>
          <p:cNvSpPr/>
          <p:nvPr/>
        </p:nvSpPr>
        <p:spPr>
          <a:xfrm>
            <a:off x="98451" y="2132856"/>
            <a:ext cx="1490201" cy="801612"/>
          </a:xfrm>
          <a:prstGeom prst="wedgeRoundRectCallout">
            <a:avLst>
              <a:gd name="adj1" fmla="val 48424"/>
              <a:gd name="adj2" fmla="val -72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写缺失：要写入的数据块尚未调入</a:t>
            </a:r>
            <a:r>
              <a:rPr lang="en-US" altLang="zh-CN" sz="1400" dirty="0"/>
              <a:t>cache</a:t>
            </a:r>
            <a:endParaRPr lang="zh-CN" altLang="en-US" sz="1400" dirty="0"/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AE457D35-8AEF-456F-9F4D-93D2724F8872}"/>
              </a:ext>
            </a:extLst>
          </p:cNvPr>
          <p:cNvSpPr/>
          <p:nvPr/>
        </p:nvSpPr>
        <p:spPr>
          <a:xfrm>
            <a:off x="76484" y="3175720"/>
            <a:ext cx="1512168" cy="1057588"/>
          </a:xfrm>
          <a:prstGeom prst="wedgeRoundRectCallout">
            <a:avLst>
              <a:gd name="adj1" fmla="val -50322"/>
              <a:gd name="adj2" fmla="val 2604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写分配：先将数据块调入</a:t>
            </a:r>
            <a:r>
              <a:rPr lang="en-US" altLang="zh-CN" sz="1400" dirty="0"/>
              <a:t>cache</a:t>
            </a:r>
            <a:r>
              <a:rPr lang="zh-CN" altLang="en-US" sz="1400" dirty="0"/>
              <a:t>，执行写操作</a:t>
            </a:r>
          </a:p>
        </p:txBody>
      </p:sp>
    </p:spTree>
    <p:extLst>
      <p:ext uri="{BB962C8B-B14F-4D97-AF65-F5344CB8AC3E}">
        <p14:creationId xmlns:p14="http://schemas.microsoft.com/office/powerpoint/2010/main" val="354845271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0AF820-8555-446C-87EC-95C06ECD9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0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sz="400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49386"/>
            <a:ext cx="8229600" cy="5619974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因为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是主存一部分内容的</a:t>
            </a:r>
            <a:r>
              <a:rPr lang="zh-CN" altLang="en-US" sz="1800" b="1" dirty="0">
                <a:solidFill>
                  <a:srgbClr val="C00000"/>
                </a:solidFill>
              </a:rPr>
              <a:t>副本</a:t>
            </a:r>
            <a:r>
              <a:rPr lang="zh-CN" altLang="en-US" sz="1800" b="1" dirty="0"/>
              <a:t>，在写入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时，需要保证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与主存数据的</a:t>
            </a:r>
            <a:r>
              <a:rPr lang="zh-CN" altLang="en-US" sz="1800" b="1" dirty="0">
                <a:solidFill>
                  <a:srgbClr val="C00000"/>
                </a:solidFill>
              </a:rPr>
              <a:t>一致性</a:t>
            </a:r>
            <a:r>
              <a:rPr lang="zh-CN" altLang="en-US" sz="1800" b="1" dirty="0"/>
              <a:t>，即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的内容改变了，主存相应的内容也要改变</a:t>
            </a:r>
            <a:endParaRPr lang="en-US" altLang="zh-CN" sz="1800" b="1" dirty="0"/>
          </a:p>
          <a:p>
            <a:pPr lvl="1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的写入策略主要有：写回法、写穿法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、写回法（</a:t>
            </a:r>
            <a:r>
              <a:rPr lang="en-US" altLang="zh-CN" sz="2000" b="1" dirty="0"/>
              <a:t>Write Back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WB</a:t>
            </a:r>
            <a:r>
              <a:rPr lang="zh-CN" altLang="en-US" sz="2000" b="1" dirty="0"/>
              <a:t>）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采用写回法，当写入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时，只修改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的内容，而不立即修改主存的内容；只有</a:t>
            </a:r>
            <a:r>
              <a:rPr lang="zh-CN" altLang="en-US" sz="1800" b="1" dirty="0">
                <a:solidFill>
                  <a:srgbClr val="C00000"/>
                </a:solidFill>
              </a:rPr>
              <a:t>当该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行被替换出去</a:t>
            </a:r>
            <a:r>
              <a:rPr lang="zh-CN" altLang="en-US" sz="1800" b="1" dirty="0"/>
              <a:t>时，才将脏数据（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被修改后的数据称为脏数据）写回主存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写回法可以使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在大部分时间（没有发生替换的时间）的写入速度等于访问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的速度，只有在发生替换时，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的写入速度才变为访问主存的速度（此时要执行写入主存的操作）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采用写回法时，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的每一行必须配置一个</a:t>
            </a:r>
            <a:r>
              <a:rPr lang="zh-CN" altLang="en-US" sz="1800" b="1" dirty="0">
                <a:highlight>
                  <a:srgbClr val="FFFF00"/>
                </a:highlight>
              </a:rPr>
              <a:t>修改位，也称为脏位（</a:t>
            </a:r>
            <a:r>
              <a:rPr lang="en-US" altLang="zh-CN" sz="1800" b="1" dirty="0">
                <a:highlight>
                  <a:srgbClr val="FFFF00"/>
                </a:highlight>
              </a:rPr>
              <a:t>Dirty Bit</a:t>
            </a:r>
            <a:r>
              <a:rPr lang="zh-CN" altLang="en-US" sz="1800" b="1" dirty="0">
                <a:highlight>
                  <a:srgbClr val="FFFF00"/>
                </a:highlight>
              </a:rPr>
              <a:t>）</a:t>
            </a:r>
            <a:r>
              <a:rPr lang="zh-CN" altLang="en-US" sz="1800" b="1" dirty="0"/>
              <a:t>；若该行被修改，则脏位</a:t>
            </a:r>
            <a:r>
              <a:rPr lang="en-US" altLang="zh-CN" sz="1800" b="1" dirty="0"/>
              <a:t>=1</a:t>
            </a:r>
            <a:r>
              <a:rPr lang="zh-CN" altLang="en-US" sz="1800" b="1" dirty="0"/>
              <a:t>，否则为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；当该行被替换出去时，如果脏位</a:t>
            </a:r>
            <a:r>
              <a:rPr lang="en-US" altLang="zh-CN" sz="1800" b="1" dirty="0"/>
              <a:t>=1</a:t>
            </a:r>
            <a:r>
              <a:rPr lang="zh-CN" altLang="en-US" sz="1800" b="1" dirty="0"/>
              <a:t>，则需要将该行的内容写入主存</a:t>
            </a:r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21846658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5C697A-4AEE-4573-83A3-C76F9436EBCD}"/>
              </a:ext>
            </a:extLst>
          </p:cNvPr>
          <p:cNvSpPr txBox="1"/>
          <p:nvPr/>
        </p:nvSpPr>
        <p:spPr>
          <a:xfrm>
            <a:off x="395536" y="332656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back</a:t>
            </a:r>
            <a:r>
              <a:rPr lang="zh-CN" altLang="en-US" sz="2400" dirty="0"/>
              <a:t>（写回）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0AD3D6-7CD2-470A-87BE-6CDFA8581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476672"/>
            <a:ext cx="5124450" cy="52482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003C23E-E3CD-4D8F-AA39-D4554A00BF7F}"/>
              </a:ext>
            </a:extLst>
          </p:cNvPr>
          <p:cNvSpPr/>
          <p:nvPr/>
        </p:nvSpPr>
        <p:spPr>
          <a:xfrm>
            <a:off x="467544" y="1196752"/>
            <a:ext cx="2592288" cy="4199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回写（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Back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）也被称为延迟</a:t>
            </a:r>
            <a:r>
              <a:rPr lang="zh-CN" altLang="en-US" dirty="0">
                <a:solidFill>
                  <a:srgbClr val="175199"/>
                </a:solidFill>
                <a:latin typeface="-apple-system"/>
                <a:hlinkClick r:id="rId3"/>
              </a:rPr>
              <a:t>写入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Behind / Write Deferred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）。也就是说，最初数据只在缓存中更新，稍后再更新到内存中。对内存的写入动作会被推迟，直到修改的内容在缓存中即将被另一个缓存块替换。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1362513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D1413-D2B3-4F87-8ED6-BA7C7ED76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2304" y="1628800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、写穿法（</a:t>
            </a:r>
            <a:r>
              <a:rPr lang="en-US" altLang="zh-CN" sz="2000" b="1" dirty="0"/>
              <a:t>Write Through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WT</a:t>
            </a:r>
            <a:r>
              <a:rPr lang="zh-CN" altLang="en-US" sz="2000" b="1" dirty="0"/>
              <a:t>）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写穿法也称为直写法，当写入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时，</a:t>
            </a:r>
            <a:r>
              <a:rPr lang="zh-CN" altLang="en-US" sz="1800" b="1" dirty="0">
                <a:solidFill>
                  <a:srgbClr val="C00000"/>
                </a:solidFill>
              </a:rPr>
              <a:t>同时</a:t>
            </a:r>
            <a:r>
              <a:rPr lang="zh-CN" altLang="en-US" sz="1800" b="1" dirty="0"/>
              <a:t>对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的行和主存对应的数据块进行修改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写穿法的优点：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的每行不需要设置一个修改位（脏位），并且发生替换时，直接将该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行丢弃，不需要写回主存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写穿法的缺点：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的写入时间将变为访问主存的时间，从而大大降低了写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的速度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写穿法较好地维护了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与主存的一致性，</a:t>
            </a:r>
            <a:r>
              <a:rPr lang="en-US" altLang="zh-CN" sz="1800" b="1" dirty="0"/>
              <a:t>Intel 80486</a:t>
            </a:r>
            <a:r>
              <a:rPr lang="zh-CN" altLang="en-US" sz="1800" b="1" dirty="0"/>
              <a:t>处理器的片内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采用的就是写穿法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71306651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4043257-4A4A-4D9E-8BD3-77C0B6A51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42" y="953958"/>
            <a:ext cx="5553116" cy="345831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E4BE702-AEB6-4971-BD1C-EA0530393EBE}"/>
              </a:ext>
            </a:extLst>
          </p:cNvPr>
          <p:cNvSpPr txBox="1"/>
          <p:nvPr/>
        </p:nvSpPr>
        <p:spPr>
          <a:xfrm>
            <a:off x="467544" y="107418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through</a:t>
            </a:r>
            <a:r>
              <a:rPr lang="zh-CN" altLang="en-US" sz="2400" dirty="0"/>
              <a:t>（写直达）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A56CC94-545C-4379-B679-307105451C95}"/>
              </a:ext>
            </a:extLst>
          </p:cNvPr>
          <p:cNvSpPr/>
          <p:nvPr/>
        </p:nvSpPr>
        <p:spPr>
          <a:xfrm>
            <a:off x="611560" y="4797152"/>
            <a:ext cx="81003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在透写（</a:t>
            </a:r>
            <a:r>
              <a:rPr lang="en-US" altLang="zh-CN" b="1" dirty="0"/>
              <a:t>Write Through</a:t>
            </a:r>
            <a:r>
              <a:rPr lang="zh-CN" altLang="en-US" dirty="0"/>
              <a:t>）场景中，数据同时更新到缓存和内存（</a:t>
            </a:r>
            <a:r>
              <a:rPr lang="en-US" altLang="zh-CN" b="1" dirty="0"/>
              <a:t>simultaneously updated to cache and memory</a:t>
            </a:r>
            <a:r>
              <a:rPr lang="zh-CN" altLang="en-US" dirty="0"/>
              <a:t>）。这个过程更简单、更可靠。这用于没有频繁写入缓存的情况（写入操作的次数较少）。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819730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260E82-83FF-4952-B492-214CBDA41418}"/>
              </a:ext>
            </a:extLst>
          </p:cNvPr>
          <p:cNvSpPr txBox="1"/>
          <p:nvPr/>
        </p:nvSpPr>
        <p:spPr>
          <a:xfrm>
            <a:off x="467544" y="225110"/>
            <a:ext cx="3672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allocate</a:t>
            </a:r>
            <a:r>
              <a:rPr lang="zh-CN" altLang="en-US" sz="2400" dirty="0"/>
              <a:t>（写分配）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DEB5EE6-975C-4A10-8CF3-463615F603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512" y="764704"/>
            <a:ext cx="5514975" cy="39243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BE4616F-D3B8-48E5-836D-9A525859BB17}"/>
              </a:ext>
            </a:extLst>
          </p:cNvPr>
          <p:cNvSpPr/>
          <p:nvPr/>
        </p:nvSpPr>
        <p:spPr>
          <a:xfrm>
            <a:off x="485025" y="5013176"/>
            <a:ext cx="82089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写分配（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Allocation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）也被称为写时取（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fetch on write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）。即：在发生写缺失时，先把这一块读到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cache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，再在</a:t>
            </a:r>
            <a:r>
              <a:rPr lang="en-US" altLang="zh-CN" dirty="0">
                <a:solidFill>
                  <a:srgbClr val="121212"/>
                </a:solidFill>
                <a:latin typeface="-apple-system"/>
              </a:rPr>
              <a:t>cache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中写。在这种方法中，写入未命中类似于读取未命中（适用于</a:t>
            </a:r>
            <a:r>
              <a:rPr lang="en-US" altLang="zh-CN" b="1" dirty="0">
                <a:solidFill>
                  <a:srgbClr val="121212"/>
                </a:solidFill>
                <a:latin typeface="-apple-system"/>
              </a:rPr>
              <a:t>write back</a:t>
            </a:r>
            <a:r>
              <a:rPr lang="zh-CN" altLang="en-US" dirty="0">
                <a:solidFill>
                  <a:srgbClr val="121212"/>
                </a:solidFill>
                <a:latin typeface="-apple-system"/>
              </a:rPr>
              <a:t>）。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68410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BFBF1D2-06DB-4BAA-BE84-7B7F1F149C0A}"/>
              </a:ext>
            </a:extLst>
          </p:cNvPr>
          <p:cNvSpPr txBox="1"/>
          <p:nvPr/>
        </p:nvSpPr>
        <p:spPr>
          <a:xfrm>
            <a:off x="467544" y="332656"/>
            <a:ext cx="4680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Write no allocate</a:t>
            </a:r>
            <a:r>
              <a:rPr lang="zh-CN" altLang="en-US" sz="2400" dirty="0"/>
              <a:t>（无写分配）</a:t>
            </a:r>
            <a:r>
              <a:rPr lang="en-US" altLang="zh-CN" sz="2400" dirty="0"/>
              <a:t> </a:t>
            </a:r>
            <a:endParaRPr lang="zh-CN" altLang="en-US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978F59-A5BC-4A0F-B798-97459EF6C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764860"/>
            <a:ext cx="5301208" cy="410843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452CEE40-5895-4127-86FF-2E470A819E46}"/>
              </a:ext>
            </a:extLst>
          </p:cNvPr>
          <p:cNvSpPr/>
          <p:nvPr/>
        </p:nvSpPr>
        <p:spPr>
          <a:xfrm>
            <a:off x="683568" y="4902757"/>
            <a:ext cx="813690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无写分配（</a:t>
            </a:r>
            <a:r>
              <a:rPr lang="en-US" altLang="zh-CN" b="1" dirty="0"/>
              <a:t>No Write Allocation</a:t>
            </a:r>
            <a:r>
              <a:rPr lang="zh-CN" altLang="en-US" dirty="0"/>
              <a:t>）也称为 </a:t>
            </a:r>
            <a:r>
              <a:rPr lang="en-US" altLang="zh-CN" b="1" dirty="0"/>
              <a:t>Write-no-allocate</a:t>
            </a:r>
            <a:r>
              <a:rPr lang="en-US" altLang="zh-CN" dirty="0"/>
              <a:t> </a:t>
            </a:r>
            <a:r>
              <a:rPr lang="zh-CN" altLang="en-US" dirty="0"/>
              <a:t>或 </a:t>
            </a:r>
            <a:r>
              <a:rPr lang="en-US" altLang="zh-CN" b="1" dirty="0"/>
              <a:t>write around</a:t>
            </a:r>
            <a:r>
              <a:rPr lang="zh-CN" altLang="en-US" dirty="0"/>
              <a:t>。即：写</a:t>
            </a:r>
            <a:r>
              <a:rPr lang="en-US" altLang="zh-CN" dirty="0"/>
              <a:t>cache</a:t>
            </a:r>
            <a:r>
              <a:rPr lang="zh-CN" altLang="en-US" dirty="0"/>
              <a:t>失效时，直接写进内存。在这种方法中，仅在读取未命中时将数据加载到缓存中。这里数据直接写入或者更新到主存而不干扰缓存。当数据无需立即再次使用时，最好使用这种方法（对应</a:t>
            </a:r>
            <a:r>
              <a:rPr lang="en-US" altLang="zh-CN" b="1" dirty="0"/>
              <a:t>write through</a:t>
            </a:r>
            <a:r>
              <a:rPr lang="zh-CN" altLang="en-US" dirty="0"/>
              <a:t>）。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346906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8285C-4DE3-4A86-8C6B-E31F23F6E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写策略与写分配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C3889387-2414-4749-BE4B-41CA382CF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839100"/>
              </p:ext>
            </p:extLst>
          </p:nvPr>
        </p:nvGraphicFramePr>
        <p:xfrm>
          <a:off x="899592" y="1556792"/>
          <a:ext cx="7632848" cy="3917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7183">
                  <a:extLst>
                    <a:ext uri="{9D8B030D-6E8A-4147-A177-3AD203B41FA5}">
                      <a16:colId xmlns:a16="http://schemas.microsoft.com/office/drawing/2014/main" val="3128533652"/>
                    </a:ext>
                  </a:extLst>
                </a:gridCol>
                <a:gridCol w="2245225">
                  <a:extLst>
                    <a:ext uri="{9D8B030D-6E8A-4147-A177-3AD203B41FA5}">
                      <a16:colId xmlns:a16="http://schemas.microsoft.com/office/drawing/2014/main" val="3049067462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1016785645"/>
                    </a:ext>
                  </a:extLst>
                </a:gridCol>
              </a:tblGrid>
              <a:tr h="65895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写策略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写未命中策略（写分配）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/>
                        <a:t>原因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6977066"/>
                  </a:ext>
                </a:extLst>
              </a:tr>
              <a:tr h="16253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写回</a:t>
                      </a:r>
                      <a:endParaRPr lang="en-US" altLang="zh-CN" sz="2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write-back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写分配</a:t>
                      </a:r>
                      <a:endParaRPr lang="en-US" altLang="zh-CN" sz="2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write allocate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需要将块调入缓存，才能利用“</a:t>
                      </a:r>
                      <a:r>
                        <a:rPr lang="zh-CN" altLang="en-US" sz="2000" dirty="0">
                          <a:solidFill>
                            <a:srgbClr val="C00000"/>
                          </a:solidFill>
                        </a:rPr>
                        <a:t>延迟写回</a:t>
                      </a:r>
                      <a:r>
                        <a:rPr lang="zh-CN" altLang="en-US" sz="2000" dirty="0"/>
                        <a:t>” 的优势，减少后续内存写入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7364"/>
                  </a:ext>
                </a:extLst>
              </a:tr>
              <a:tr h="14691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写穿</a:t>
                      </a:r>
                      <a:endParaRPr lang="en-US" altLang="zh-CN" sz="2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write-through</a:t>
                      </a:r>
                      <a:endParaRPr lang="zh-CN" alt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不写分配</a:t>
                      </a:r>
                      <a:endParaRPr lang="en-US" altLang="zh-CN" sz="2000" dirty="0"/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altLang="zh-CN" sz="2000" dirty="0"/>
                        <a:t>  write no allocate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zh-CN" altLang="en-US" sz="2000" dirty="0"/>
                        <a:t>写穿本身已更新内存，调入块只会浪费缓存和带宽，不分配可避免污染和额外读操作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1221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08536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B8DDDC-D14B-4BC4-9B0F-31BC46ED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88640"/>
            <a:ext cx="8229600" cy="1143000"/>
          </a:xfrm>
        </p:spPr>
        <p:txBody>
          <a:bodyPr/>
          <a:lstStyle/>
          <a:p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sz="44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读、写流程与关键技术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556792"/>
            <a:ext cx="8229600" cy="474766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实现关键技术</a:t>
            </a:r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数据查找</a:t>
            </a:r>
            <a:r>
              <a:rPr lang="zh-CN" altLang="en-US" sz="1600" b="1" dirty="0"/>
              <a:t>：即如何快速查找数据是否在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中？如果查找到，则为命中，否则为缺失；通常采用</a:t>
            </a:r>
            <a:r>
              <a:rPr lang="zh-CN" altLang="en-US" sz="1600" b="1" dirty="0">
                <a:solidFill>
                  <a:srgbClr val="C00000"/>
                </a:solidFill>
              </a:rPr>
              <a:t>相联存储器</a:t>
            </a:r>
            <a:r>
              <a:rPr lang="zh-CN" altLang="en-US" sz="1600" b="1" dirty="0"/>
              <a:t>以提高数据查找的速度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地址映射</a:t>
            </a:r>
            <a:r>
              <a:rPr lang="zh-CN" altLang="en-US" sz="1600" b="1" dirty="0"/>
              <a:t>：主存中的数据块应如何放置到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中？是任意放置，还是按照一定的规则放置？不同的</a:t>
            </a:r>
            <a:r>
              <a:rPr lang="zh-CN" altLang="en-US" sz="1600" b="1" dirty="0">
                <a:solidFill>
                  <a:srgbClr val="C00000"/>
                </a:solidFill>
              </a:rPr>
              <a:t>地址映射策略</a:t>
            </a:r>
            <a:r>
              <a:rPr lang="zh-CN" altLang="en-US" sz="1600" b="1" dirty="0"/>
              <a:t>会对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的性能及硬件成本带来影响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替换策略</a:t>
            </a:r>
            <a:r>
              <a:rPr lang="zh-CN" altLang="en-US" sz="1600" b="1" dirty="0"/>
              <a:t>：在将主存数据块放置到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中时，如果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满了，则需要将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中的某个数据块替换或淘汰掉，不同的替换策略会对数据命中率产生影响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）</a:t>
            </a:r>
            <a:r>
              <a:rPr lang="zh-CN" altLang="en-US" sz="1600" b="1" dirty="0">
                <a:solidFill>
                  <a:srgbClr val="C00000"/>
                </a:solidFill>
              </a:rPr>
              <a:t>写入策略</a:t>
            </a:r>
            <a:r>
              <a:rPr lang="zh-CN" altLang="en-US" sz="1600" b="1" dirty="0"/>
              <a:t>：在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的写入操作时，如何保证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与主存数据的一致性，通常有写回和写直达两种策略，</a:t>
            </a:r>
            <a:r>
              <a:rPr lang="zh-CN" altLang="en-US" sz="1600" b="1" dirty="0">
                <a:solidFill>
                  <a:srgbClr val="C00000"/>
                </a:solidFill>
              </a:rPr>
              <a:t>写回策略</a:t>
            </a:r>
            <a:r>
              <a:rPr lang="zh-CN" altLang="en-US" sz="1600" b="1" dirty="0"/>
              <a:t>可以提高写操作的速度，但会带来数据不一致的问题；</a:t>
            </a:r>
            <a:r>
              <a:rPr lang="zh-CN" altLang="en-US" sz="1600" b="1" dirty="0">
                <a:solidFill>
                  <a:srgbClr val="C00000"/>
                </a:solidFill>
              </a:rPr>
              <a:t>写直达策略</a:t>
            </a:r>
            <a:r>
              <a:rPr lang="zh-CN" altLang="en-US" sz="1600" b="1" dirty="0"/>
              <a:t>能保证数据一致性，但影响写入操作的速度</a:t>
            </a:r>
            <a:r>
              <a:rPr lang="en-US" altLang="zh-CN" sz="1600" b="1" dirty="0"/>
              <a:t>.</a:t>
            </a:r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99535286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ED1393-DA27-4E58-B09E-183598614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相联存储器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1"/>
            <a:ext cx="8229600" cy="3456384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普通的存储器是按地址进行访问，而相联存储器则是</a:t>
            </a:r>
            <a:r>
              <a:rPr lang="zh-CN" altLang="en-US" sz="1600" b="1" dirty="0">
                <a:solidFill>
                  <a:srgbClr val="C00000"/>
                </a:solidFill>
              </a:rPr>
              <a:t>按内容进行访问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r>
              <a:rPr lang="zh-CN" altLang="en-US" sz="1600" b="1" dirty="0"/>
              <a:t>相联存储器（</a:t>
            </a:r>
            <a:r>
              <a:rPr lang="en-US" altLang="zh-CN" sz="1600" b="1" dirty="0"/>
              <a:t>CAM</a:t>
            </a:r>
            <a:r>
              <a:rPr lang="zh-CN" altLang="en-US" sz="1600" b="1" dirty="0"/>
              <a:t>）：</a:t>
            </a:r>
            <a:r>
              <a:rPr lang="en-US" altLang="zh-CN" sz="1600" b="1" dirty="0"/>
              <a:t>Content Addressable Memory</a:t>
            </a: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相联存储器用于存放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的查找表</a:t>
            </a:r>
            <a:r>
              <a:rPr lang="zh-CN" altLang="en-US" sz="1600" b="1" dirty="0"/>
              <a:t>，其内部存储的基本数据是</a:t>
            </a:r>
            <a:r>
              <a:rPr lang="zh-CN" altLang="en-US" sz="1600" b="1" dirty="0">
                <a:solidFill>
                  <a:srgbClr val="C00000"/>
                </a:solidFill>
              </a:rPr>
              <a:t>键值对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相联存储器的输入不是地址，而是检索关键字</a:t>
            </a:r>
            <a:r>
              <a:rPr lang="en-US" altLang="zh-CN" sz="1600" b="1" dirty="0">
                <a:highlight>
                  <a:srgbClr val="FFFF00"/>
                </a:highlight>
              </a:rPr>
              <a:t>key</a:t>
            </a:r>
            <a:r>
              <a:rPr lang="zh-CN" altLang="en-US" sz="1600" b="1" dirty="0"/>
              <a:t>，输出是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对应的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值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例如要查找某人的工资数，此时</a:t>
            </a:r>
            <a:r>
              <a:rPr lang="en-US" altLang="zh-CN" sz="1600" b="1" dirty="0"/>
              <a:t>key</a:t>
            </a:r>
            <a:r>
              <a:rPr lang="zh-CN" altLang="en-US" sz="1600" b="1" dirty="0"/>
              <a:t>为“姓名”或“工号”，</a:t>
            </a:r>
            <a:r>
              <a:rPr lang="en-US" altLang="zh-CN" sz="1600" b="1" dirty="0"/>
              <a:t>value</a:t>
            </a:r>
            <a:r>
              <a:rPr lang="zh-CN" altLang="en-US" sz="1600" b="1" dirty="0"/>
              <a:t>为“工资数”，在相联存储器中输入</a:t>
            </a:r>
            <a:r>
              <a:rPr lang="en-US" altLang="zh-CN" sz="1600" b="1" dirty="0"/>
              <a:t>key=</a:t>
            </a:r>
            <a:r>
              <a:rPr lang="zh-CN" altLang="en-US" sz="1600" b="1" dirty="0"/>
              <a:t>“张帅”，就可以得到</a:t>
            </a:r>
            <a:r>
              <a:rPr lang="en-US" altLang="zh-CN" sz="1600" b="1" dirty="0"/>
              <a:t>value=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4000</a:t>
            </a:r>
            <a:r>
              <a:rPr lang="zh-CN" altLang="en-US" sz="1600" b="1" dirty="0"/>
              <a:t>”；或者输入</a:t>
            </a:r>
            <a:r>
              <a:rPr lang="en-US" altLang="zh-CN" sz="1600" b="1" dirty="0"/>
              <a:t>key=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021</a:t>
            </a:r>
            <a:r>
              <a:rPr lang="zh-CN" altLang="en-US" sz="1600" b="1" dirty="0"/>
              <a:t>”，就可以得到</a:t>
            </a:r>
            <a:r>
              <a:rPr lang="en-US" altLang="zh-CN" sz="1600" b="1" dirty="0"/>
              <a:t>value=</a:t>
            </a:r>
            <a:r>
              <a:rPr lang="zh-CN" altLang="en-US" sz="1600" b="1" dirty="0"/>
              <a:t>“</a:t>
            </a:r>
            <a:r>
              <a:rPr lang="en-US" altLang="zh-CN" sz="1600" b="1" dirty="0"/>
              <a:t>2000</a:t>
            </a:r>
            <a:r>
              <a:rPr lang="zh-CN" altLang="en-US" sz="1600" b="1" dirty="0"/>
              <a:t>”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017EED5-F68A-40CF-B5C7-8D6587F66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797151"/>
            <a:ext cx="5557189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8496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51729D5-9C5A-4711-8B7A-E922284F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相联存储器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相联存储器的基本原理（图</a:t>
            </a:r>
            <a:r>
              <a:rPr lang="en-US" altLang="zh-CN" sz="1600" b="1" dirty="0"/>
              <a:t>4.35</a:t>
            </a:r>
            <a:r>
              <a:rPr lang="zh-CN" altLang="en-US" sz="1600" b="1" dirty="0"/>
              <a:t>）：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假设相联存储器（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的查找表）中有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个键值对（</a:t>
            </a:r>
            <a:r>
              <a:rPr lang="en-US" altLang="zh-CN" sz="1400" b="1" dirty="0"/>
              <a:t>key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value</a:t>
            </a:r>
            <a:r>
              <a:rPr lang="zh-CN" altLang="en-US" sz="1400" b="1" dirty="0"/>
              <a:t>），每个键值对还有一个有效位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；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表示该键值对是有效的，</a:t>
            </a:r>
            <a:r>
              <a:rPr lang="en-US" altLang="zh-CN" sz="1400" b="1" dirty="0"/>
              <a:t>valid=0</a:t>
            </a:r>
            <a:r>
              <a:rPr lang="zh-CN" altLang="en-US" sz="1400" b="1" dirty="0"/>
              <a:t>表示该键值对是无效的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假设检索关键字</a:t>
            </a:r>
            <a:r>
              <a:rPr lang="en-US" altLang="zh-CN" sz="1400" b="1" dirty="0"/>
              <a:t>key=</a:t>
            </a:r>
            <a:r>
              <a:rPr lang="en-US" altLang="zh-CN" sz="1400" b="1" dirty="0">
                <a:solidFill>
                  <a:srgbClr val="C00000"/>
                </a:solidFill>
              </a:rPr>
              <a:t>234</a:t>
            </a:r>
            <a:r>
              <a:rPr lang="zh-CN" altLang="en-US" sz="1400" b="1" dirty="0"/>
              <a:t>，此时会将该检索关键字与相联存储器中的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个键值对的</a:t>
            </a:r>
            <a:r>
              <a:rPr lang="en-US" altLang="zh-CN" sz="1400" b="1" dirty="0"/>
              <a:t>key</a:t>
            </a:r>
            <a:r>
              <a:rPr lang="zh-CN" altLang="en-US" sz="1400" b="1" dirty="0"/>
              <a:t>进行比较，</a:t>
            </a:r>
            <a:r>
              <a:rPr lang="zh-CN" altLang="en-US" sz="1400" b="1" dirty="0">
                <a:highlight>
                  <a:srgbClr val="FFFF00"/>
                </a:highlight>
              </a:rPr>
              <a:t>比较相等且</a:t>
            </a:r>
            <a:r>
              <a:rPr lang="en-US" altLang="zh-CN" sz="1400" b="1" dirty="0">
                <a:highlight>
                  <a:srgbClr val="FFFF00"/>
                </a:highlight>
              </a:rPr>
              <a:t>valid=1</a:t>
            </a:r>
            <a:r>
              <a:rPr lang="zh-CN" altLang="en-US" sz="1400" b="1" dirty="0"/>
              <a:t>的那个键值对（图中的第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个键值对）为找到的键值对，将其</a:t>
            </a:r>
            <a:r>
              <a:rPr lang="en-US" altLang="zh-CN" sz="1400" b="1" dirty="0"/>
              <a:t>value</a:t>
            </a:r>
            <a:r>
              <a:rPr lang="zh-CN" altLang="en-US" sz="1400" b="1" dirty="0"/>
              <a:t>值输出（</a:t>
            </a:r>
            <a:r>
              <a:rPr lang="en-US" altLang="zh-CN" sz="1400" b="1" dirty="0"/>
              <a:t>value=</a:t>
            </a:r>
            <a:r>
              <a:rPr lang="en-US" altLang="zh-CN" sz="1400" b="1" dirty="0">
                <a:solidFill>
                  <a:srgbClr val="C00000"/>
                </a:solidFill>
              </a:rPr>
              <a:t>777</a:t>
            </a:r>
            <a:r>
              <a:rPr lang="zh-CN" altLang="en-US" sz="14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1200" b="1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3CC8B15-AFC4-48A1-AD03-D302EB16C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894" y="2972421"/>
            <a:ext cx="4940410" cy="381642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36A8041-AF45-4955-97B3-EA95B6E341C1}"/>
              </a:ext>
            </a:extLst>
          </p:cNvPr>
          <p:cNvSpPr txBox="1"/>
          <p:nvPr/>
        </p:nvSpPr>
        <p:spPr>
          <a:xfrm>
            <a:off x="2627784" y="6452557"/>
            <a:ext cx="211949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/>
              <a:t>图</a:t>
            </a:r>
            <a:r>
              <a:rPr lang="en-US" altLang="zh-CN" sz="1100" b="1" dirty="0"/>
              <a:t>4.35    </a:t>
            </a:r>
            <a:r>
              <a:rPr lang="zh-CN" altLang="en-US" sz="1100" b="1" dirty="0"/>
              <a:t>相联存储器的基本原理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88E0F28-341D-4BDE-8C1A-C59849639B11}"/>
              </a:ext>
            </a:extLst>
          </p:cNvPr>
          <p:cNvSpPr/>
          <p:nvPr/>
        </p:nvSpPr>
        <p:spPr>
          <a:xfrm>
            <a:off x="6012160" y="2780928"/>
            <a:ext cx="1440160" cy="473323"/>
          </a:xfrm>
          <a:prstGeom prst="wedgeRoundRectCallout">
            <a:avLst>
              <a:gd name="adj1" fmla="val -87158"/>
              <a:gd name="adj2" fmla="val 1658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三态门</a:t>
            </a:r>
            <a:endParaRPr lang="en-US" altLang="zh-CN" sz="1400" b="1" dirty="0"/>
          </a:p>
          <a:p>
            <a:pPr algn="ctr"/>
            <a:r>
              <a:rPr lang="zh-CN" altLang="en-US" sz="1400" b="1" dirty="0"/>
              <a:t>（</a:t>
            </a:r>
            <a:r>
              <a:rPr lang="en-US" altLang="zh-CN" sz="1400" b="1" dirty="0"/>
              <a:t>0,1,</a:t>
            </a:r>
            <a:r>
              <a:rPr lang="zh-CN" altLang="en-US" sz="1400" b="1" dirty="0"/>
              <a:t>高阻）</a:t>
            </a:r>
          </a:p>
        </p:txBody>
      </p:sp>
    </p:spTree>
    <p:extLst>
      <p:ext uri="{BB962C8B-B14F-4D97-AF65-F5344CB8AC3E}">
        <p14:creationId xmlns:p14="http://schemas.microsoft.com/office/powerpoint/2010/main" val="246182560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24081F-BA8D-4F48-A440-4A497DCF9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198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8573" y="1101302"/>
            <a:ext cx="8229600" cy="3888432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地址映射是指如何将主存地址空间映射到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的地址空间，即主存的某一块将载入到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的哪一块中？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地址映射有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种方法：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全相联映射（</a:t>
            </a:r>
            <a:r>
              <a:rPr lang="en-US" altLang="zh-CN" sz="1600" b="1" dirty="0"/>
              <a:t>Full Associative Mapping</a:t>
            </a:r>
            <a:r>
              <a:rPr lang="zh-CN" altLang="en-US" sz="1600" b="1" dirty="0"/>
              <a:t>）：主存的某一块可以映射到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的任意块中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直接相联映射（</a:t>
            </a:r>
            <a:r>
              <a:rPr lang="en-US" altLang="zh-CN" sz="1600" b="1" dirty="0"/>
              <a:t>Direct Mapping</a:t>
            </a:r>
            <a:r>
              <a:rPr lang="zh-CN" altLang="en-US" sz="1600" b="1" dirty="0"/>
              <a:t>）：主存的某一块只能映射到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的固定块中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组相联映射（</a:t>
            </a:r>
            <a:r>
              <a:rPr lang="en-US" altLang="zh-CN" sz="1600" b="1" dirty="0"/>
              <a:t>Set Associative Mapping</a:t>
            </a:r>
            <a:r>
              <a:rPr lang="zh-CN" altLang="en-US" sz="1600" b="1" dirty="0"/>
              <a:t>）：主存的某一块只能映射到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的固定组的任意块中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B36B6D6-E907-47AE-9B5C-14A9B2390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5157192"/>
            <a:ext cx="4259211" cy="158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60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ADA334-F105-4B48-8B6D-F4FF5C5E2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045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graphicFrame>
        <p:nvGraphicFramePr>
          <p:cNvPr id="1170466" name="Group 34">
            <a:extLst>
              <a:ext uri="{FF2B5EF4-FFF2-40B4-BE49-F238E27FC236}">
                <a16:creationId xmlns:a16="http://schemas.microsoft.com/office/drawing/2014/main" id="{F3DC9427-9DF2-4326-90B2-02B7A2449B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4736166"/>
              </p:ext>
            </p:extLst>
          </p:nvPr>
        </p:nvGraphicFramePr>
        <p:xfrm>
          <a:off x="642392" y="3212976"/>
          <a:ext cx="8219255" cy="2857016"/>
        </p:xfrm>
        <a:graphic>
          <a:graphicData uri="http://schemas.openxmlformats.org/drawingml/2006/table">
            <a:tbl>
              <a:tblPr/>
              <a:tblGrid>
                <a:gridCol w="6522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6824">
                  <a:extLst>
                    <a:ext uri="{9D8B030D-6E8A-4147-A177-3AD203B41FA5}">
                      <a16:colId xmlns:a16="http://schemas.microsoft.com/office/drawing/2014/main" val="2370985813"/>
                    </a:ext>
                  </a:extLst>
                </a:gridCol>
              </a:tblGrid>
              <a:tr h="6480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1023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2833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59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2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31659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272008" y="1259368"/>
            <a:ext cx="8229600" cy="2077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）全相联映射方式：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2"/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/>
            <a:endParaRPr lang="en-US" altLang="zh-CN" sz="1400" b="1" dirty="0"/>
          </a:p>
          <a:p>
            <a:pPr lvl="2"/>
            <a:r>
              <a:rPr lang="zh-CN" altLang="en-US" sz="1400" b="1" dirty="0"/>
              <a:t>主存的</a:t>
            </a:r>
            <a:r>
              <a:rPr lang="zh-CN" altLang="en-US" sz="1400" b="1" dirty="0">
                <a:highlight>
                  <a:srgbClr val="FFFF00"/>
                </a:highlight>
              </a:rPr>
              <a:t>某一块</a:t>
            </a:r>
            <a:r>
              <a:rPr lang="zh-CN" altLang="en-US" sz="1400" b="1" dirty="0"/>
              <a:t>，可以映射到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highlight>
                  <a:srgbClr val="FFFF00"/>
                </a:highlight>
              </a:rPr>
              <a:t>任一块</a:t>
            </a:r>
            <a:r>
              <a:rPr lang="zh-CN" altLang="en-US" sz="1400" b="1" dirty="0"/>
              <a:t>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块、第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块、</a:t>
            </a:r>
            <a:r>
              <a:rPr lang="en-US" altLang="zh-CN" sz="1400" b="1" dirty="0"/>
              <a:t>…</a:t>
            </a:r>
            <a:r>
              <a:rPr lang="zh-CN" altLang="en-US" sz="1400" b="1" dirty="0"/>
              <a:t>、第</a:t>
            </a:r>
            <a:r>
              <a:rPr lang="en-US" altLang="zh-CN" sz="1400" b="1" dirty="0"/>
              <a:t>31</a:t>
            </a:r>
            <a:r>
              <a:rPr lang="zh-CN" altLang="en-US" sz="1400" b="1" dirty="0"/>
              <a:t>块</a:t>
            </a:r>
            <a:endParaRPr lang="zh-CN" altLang="en-US" sz="12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E48A27B-8A6F-4715-8BEF-70D30019F65B}"/>
              </a:ext>
            </a:extLst>
          </p:cNvPr>
          <p:cNvSpPr txBox="1"/>
          <p:nvPr/>
        </p:nvSpPr>
        <p:spPr>
          <a:xfrm>
            <a:off x="3851919" y="2826617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>
                <a:solidFill>
                  <a:srgbClr val="C00000"/>
                </a:solidFill>
              </a:rPr>
              <a:t>全相联映射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457200" y="1088805"/>
            <a:ext cx="8229600" cy="214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）直接相联映射方式：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主存的某一块，只能映射到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的固定一块；例如主存的第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块；主存的第</a:t>
            </a:r>
            <a:r>
              <a:rPr lang="en-US" altLang="zh-CN" sz="1400" b="1" dirty="0"/>
              <a:t>33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 </a:t>
            </a:r>
            <a:r>
              <a:rPr lang="en-US" altLang="zh-CN" sz="1400" b="1" dirty="0"/>
              <a:t>  </a:t>
            </a:r>
          </a:p>
          <a:p>
            <a:pPr lvl="2">
              <a:lnSpc>
                <a:spcPct val="150000"/>
              </a:lnSpc>
            </a:pPr>
            <a:r>
              <a:rPr lang="zh-CN" altLang="en-US" sz="1400" b="1" dirty="0">
                <a:highlight>
                  <a:srgbClr val="FFFF00"/>
                </a:highlight>
              </a:rPr>
              <a:t>地址映射公式：</a:t>
            </a:r>
            <a:r>
              <a:rPr lang="en-US" altLang="zh-CN" sz="1400" b="1" dirty="0">
                <a:highlight>
                  <a:srgbClr val="FFFF00"/>
                </a:highlight>
              </a:rPr>
              <a:t>    </a:t>
            </a:r>
            <a:r>
              <a:rPr lang="en-US" altLang="zh-CN" sz="1400" b="1" dirty="0" err="1">
                <a:highlight>
                  <a:srgbClr val="FFFF00"/>
                </a:highlight>
              </a:rPr>
              <a:t>i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块）</a:t>
            </a:r>
            <a:r>
              <a:rPr lang="en-US" altLang="zh-CN" sz="1400" b="1" dirty="0">
                <a:highlight>
                  <a:srgbClr val="FFFF00"/>
                </a:highlight>
              </a:rPr>
              <a:t>=j </a:t>
            </a:r>
            <a:r>
              <a:rPr lang="zh-CN" altLang="en-US" sz="1400" b="1" dirty="0">
                <a:highlight>
                  <a:srgbClr val="FFFF00"/>
                </a:highlight>
              </a:rPr>
              <a:t>（主存块）</a:t>
            </a:r>
            <a:r>
              <a:rPr lang="en-US" altLang="zh-CN" sz="1400" b="1" dirty="0">
                <a:highlight>
                  <a:srgbClr val="FFFF00"/>
                </a:highlight>
              </a:rPr>
              <a:t>mod n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块数</a:t>
            </a:r>
            <a:r>
              <a:rPr lang="en-US" altLang="zh-CN" sz="1400" b="1" dirty="0">
                <a:highlight>
                  <a:srgbClr val="FFFF00"/>
                </a:highlight>
              </a:rPr>
              <a:t>/</a:t>
            </a:r>
            <a:r>
              <a:rPr lang="zh-CN" altLang="en-US" sz="1400" b="1" dirty="0">
                <a:highlight>
                  <a:srgbClr val="FFFF00"/>
                </a:highlight>
              </a:rPr>
              <a:t>行数）</a:t>
            </a:r>
            <a:endParaRPr lang="zh-CN" altLang="en-US" sz="1200" b="1" dirty="0">
              <a:highlight>
                <a:srgbClr val="FFFF00"/>
              </a:highlight>
            </a:endParaRPr>
          </a:p>
        </p:txBody>
      </p:sp>
      <p:graphicFrame>
        <p:nvGraphicFramePr>
          <p:cNvPr id="7" name="Group 34">
            <a:extLst>
              <a:ext uri="{FF2B5EF4-FFF2-40B4-BE49-F238E27FC236}">
                <a16:creationId xmlns:a16="http://schemas.microsoft.com/office/drawing/2014/main" id="{69CA9321-84E5-4370-91AD-F70E4AA717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3090975"/>
              </p:ext>
            </p:extLst>
          </p:nvPr>
        </p:nvGraphicFramePr>
        <p:xfrm>
          <a:off x="1043608" y="3619497"/>
          <a:ext cx="7488832" cy="2822680"/>
        </p:xfrm>
        <a:graphic>
          <a:graphicData uri="http://schemas.openxmlformats.org/drawingml/2006/table">
            <a:tbl>
              <a:tblPr/>
              <a:tblGrid>
                <a:gridCol w="5976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717745132"/>
                    </a:ext>
                  </a:extLst>
                </a:gridCol>
              </a:tblGrid>
              <a:tr h="60159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7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128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192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224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992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161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961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2811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994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6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2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158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254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2966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31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127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159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191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223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255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C4DAA6B-D479-45A9-A379-69730166A7A3}"/>
              </a:ext>
            </a:extLst>
          </p:cNvPr>
          <p:cNvSpPr txBox="1"/>
          <p:nvPr/>
        </p:nvSpPr>
        <p:spPr>
          <a:xfrm>
            <a:off x="3887924" y="3253712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直接</a:t>
            </a:r>
            <a:r>
              <a:rPr lang="zh-CN" altLang="en-US" sz="1800" b="1" dirty="0">
                <a:solidFill>
                  <a:srgbClr val="C00000"/>
                </a:solidFill>
              </a:rPr>
              <a:t>相联映射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7BCD240-64D9-4434-BD40-79872952B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56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837535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4A64E2C-86B4-448B-B9F3-C39639D9AC5C}"/>
              </a:ext>
            </a:extLst>
          </p:cNvPr>
          <p:cNvSpPr txBox="1">
            <a:spLocks/>
          </p:cNvSpPr>
          <p:nvPr/>
        </p:nvSpPr>
        <p:spPr bwMode="auto">
          <a:xfrm>
            <a:off x="318362" y="1068556"/>
            <a:ext cx="8229600" cy="2149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zh-CN" altLang="en-US" sz="1800" b="1" dirty="0"/>
              <a:t>（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）组相联映射方式：</a:t>
            </a:r>
            <a:endParaRPr lang="en-US" altLang="zh-CN" sz="18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假设：主存块地址</a:t>
            </a:r>
            <a:r>
              <a:rPr lang="en-US" altLang="zh-CN" sz="1400" b="1" dirty="0"/>
              <a:t>=10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=5</a:t>
            </a:r>
            <a:r>
              <a:rPr lang="zh-CN" altLang="en-US" sz="1400" b="1" dirty="0"/>
              <a:t>位，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路组相联映射方式；则主存有</a:t>
            </a:r>
            <a:r>
              <a:rPr lang="en-US" altLang="zh-CN" sz="1400" b="1" dirty="0"/>
              <a:t>1024</a:t>
            </a:r>
            <a:r>
              <a:rPr lang="zh-CN" altLang="en-US" sz="1400" b="1" dirty="0"/>
              <a:t>个块，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组、每组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块（行）、共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块（行）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/>
              <a:t>主存的某一块，只能映射到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zh-CN" altLang="en-US" sz="1400" b="1" dirty="0">
                <a:highlight>
                  <a:srgbClr val="FFFF00"/>
                </a:highlight>
              </a:rPr>
              <a:t>固定组</a:t>
            </a:r>
            <a:r>
              <a:rPr lang="zh-CN" altLang="en-US" sz="1400" b="1" dirty="0"/>
              <a:t>（在该组中可以映射到其中的</a:t>
            </a:r>
            <a:r>
              <a:rPr lang="zh-CN" altLang="en-US" sz="1400" b="1" dirty="0">
                <a:highlight>
                  <a:srgbClr val="FFFF00"/>
                </a:highlight>
              </a:rPr>
              <a:t>任意一块</a:t>
            </a:r>
            <a:r>
              <a:rPr lang="zh-CN" altLang="en-US" sz="1400" b="1" dirty="0"/>
              <a:t>）；例如主存的第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组（可以映射到第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组的第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块或第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块）；主存的第</a:t>
            </a:r>
            <a:r>
              <a:rPr lang="en-US" altLang="zh-CN" sz="1400" b="1" dirty="0"/>
              <a:t>33</a:t>
            </a:r>
            <a:r>
              <a:rPr lang="zh-CN" altLang="en-US" sz="1400" b="1" dirty="0"/>
              <a:t>块，只能映射到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组（可以映射到第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组的第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块或第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块）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400" b="1" dirty="0">
                <a:highlight>
                  <a:srgbClr val="FFFF00"/>
                </a:highlight>
              </a:rPr>
              <a:t>地址映射公式：</a:t>
            </a:r>
            <a:r>
              <a:rPr lang="en-US" altLang="zh-CN" sz="1400" b="1" dirty="0" err="1">
                <a:highlight>
                  <a:srgbClr val="FFFF00"/>
                </a:highlight>
              </a:rPr>
              <a:t>i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组号）</a:t>
            </a:r>
            <a:r>
              <a:rPr lang="en-US" altLang="zh-CN" sz="1400" b="1" dirty="0">
                <a:highlight>
                  <a:srgbClr val="FFFF00"/>
                </a:highlight>
              </a:rPr>
              <a:t>=j</a:t>
            </a:r>
            <a:r>
              <a:rPr lang="zh-CN" altLang="en-US" sz="1400" b="1" dirty="0">
                <a:highlight>
                  <a:srgbClr val="FFFF00"/>
                </a:highlight>
              </a:rPr>
              <a:t>（主存块） </a:t>
            </a:r>
            <a:r>
              <a:rPr lang="en-US" altLang="zh-CN" sz="1400" b="1" dirty="0">
                <a:highlight>
                  <a:srgbClr val="FFFF00"/>
                </a:highlight>
              </a:rPr>
              <a:t>mod Q</a:t>
            </a:r>
            <a:r>
              <a:rPr lang="zh-CN" altLang="en-US" sz="1400" b="1" dirty="0">
                <a:highlight>
                  <a:srgbClr val="FFFF00"/>
                </a:highlight>
              </a:rPr>
              <a:t>（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的组数）</a:t>
            </a:r>
            <a:endParaRPr lang="zh-CN" altLang="en-US" sz="1200" b="1" dirty="0">
              <a:highlight>
                <a:srgbClr val="FFFF00"/>
              </a:highlight>
            </a:endParaRPr>
          </a:p>
        </p:txBody>
      </p:sp>
      <p:graphicFrame>
        <p:nvGraphicFramePr>
          <p:cNvPr id="7" name="Group 34">
            <a:extLst>
              <a:ext uri="{FF2B5EF4-FFF2-40B4-BE49-F238E27FC236}">
                <a16:creationId xmlns:a16="http://schemas.microsoft.com/office/drawing/2014/main" id="{69CA9321-84E5-4370-91AD-F70E4AA717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81608276"/>
              </p:ext>
            </p:extLst>
          </p:nvPr>
        </p:nvGraphicFramePr>
        <p:xfrm>
          <a:off x="720527" y="3429000"/>
          <a:ext cx="7811913" cy="3098507"/>
        </p:xfrm>
        <a:graphic>
          <a:graphicData uri="http://schemas.openxmlformats.org/drawingml/2006/table">
            <a:tbl>
              <a:tblPr/>
              <a:tblGrid>
                <a:gridCol w="5579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795865182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75356412"/>
                    </a:ext>
                  </a:extLst>
                </a:gridCol>
              </a:tblGrid>
              <a:tr h="4109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主存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（块）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cache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96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组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块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432420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 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64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80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992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1008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1009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988904"/>
                  </a:ext>
                </a:extLst>
              </a:tr>
              <a:tr h="3102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50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82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1010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3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960567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9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62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94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110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1006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1022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14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28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29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7316127"/>
                  </a:ext>
                </a:extLst>
              </a:tr>
              <a:tr h="3273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    15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31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47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63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79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95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111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……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1007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+mn-ea"/>
                        </a:rPr>
                        <a:t>1023</a:t>
                      </a:r>
                      <a:endParaRPr kumimoji="0" lang="en-US" altLang="zh-CN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15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30</a:t>
                      </a: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、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31</a:t>
                      </a:r>
                    </a:p>
                  </a:txBody>
                  <a:tcPr marL="90000" marR="90000" marT="46793" marB="46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97D44C1-D670-44D3-8A61-E754FE09A59C}"/>
              </a:ext>
            </a:extLst>
          </p:cNvPr>
          <p:cNvSpPr txBox="1"/>
          <p:nvPr/>
        </p:nvSpPr>
        <p:spPr>
          <a:xfrm>
            <a:off x="3995936" y="3059668"/>
            <a:ext cx="1800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路组</a:t>
            </a:r>
            <a:r>
              <a:rPr lang="zh-CN" altLang="en-US" sz="1800" b="1" dirty="0">
                <a:solidFill>
                  <a:srgbClr val="C00000"/>
                </a:solidFill>
              </a:rPr>
              <a:t>相联映射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B9C32A-A2C4-4F42-BDF0-A15BED15F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755762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DE5C7A-4D99-4F00-BF20-14264A415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1520" y="925041"/>
            <a:ext cx="8229600" cy="297111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、全相联映射</a:t>
            </a:r>
            <a:endParaRPr lang="en-US" altLang="zh-CN" sz="20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）全相联映射基本原理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全相联映射：主存的某一块可以映射到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的任意块中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假设主存有</a:t>
            </a:r>
            <a:r>
              <a:rPr lang="en-US" altLang="zh-CN" sz="1400" b="1" dirty="0" err="1"/>
              <a:t>mn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B</a:t>
            </a:r>
            <a:r>
              <a:rPr lang="en-US" altLang="zh-CN" sz="1400" b="1" baseline="-25000" dirty="0"/>
              <a:t>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B</a:t>
            </a:r>
            <a:r>
              <a:rPr lang="en-US" altLang="zh-CN" sz="1400" b="1" baseline="-25000" dirty="0"/>
              <a:t>mn-1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有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块（行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～行</a:t>
            </a:r>
            <a:r>
              <a:rPr lang="en-US" altLang="zh-CN" sz="1400" b="1" dirty="0"/>
              <a:t>n-1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的每一行包括：数据块副本（即主存某一块的副本）、主存块地址、有效位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地址映射过程：将主存地址中的主存块地址（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）与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行的主存块地址进行比较（</a:t>
            </a:r>
            <a:r>
              <a:rPr lang="en-US" altLang="zh-CN" sz="1400" b="1" dirty="0">
                <a:highlight>
                  <a:srgbClr val="FFFF00"/>
                </a:highlight>
              </a:rPr>
              <a:t>n</a:t>
            </a:r>
            <a:r>
              <a:rPr lang="zh-CN" altLang="en-US" sz="1400" b="1" dirty="0">
                <a:highlight>
                  <a:srgbClr val="FFFF00"/>
                </a:highlight>
              </a:rPr>
              <a:t>路并发比较，即</a:t>
            </a:r>
            <a:r>
              <a:rPr lang="en-US" altLang="zh-CN" sz="1400" b="1" dirty="0">
                <a:highlight>
                  <a:srgbClr val="FFFF00"/>
                </a:highlight>
              </a:rPr>
              <a:t>1</a:t>
            </a:r>
            <a:r>
              <a:rPr lang="zh-CN" altLang="en-US" sz="1400" b="1" dirty="0">
                <a:highlight>
                  <a:srgbClr val="FFFF00"/>
                </a:highlight>
              </a:rPr>
              <a:t>个与</a:t>
            </a:r>
            <a:r>
              <a:rPr lang="en-US" altLang="zh-CN" sz="1400" b="1" dirty="0">
                <a:highlight>
                  <a:srgbClr val="FFFF00"/>
                </a:highlight>
              </a:rPr>
              <a:t>n</a:t>
            </a:r>
            <a:r>
              <a:rPr lang="zh-CN" altLang="en-US" sz="1400" b="1" dirty="0">
                <a:highlight>
                  <a:srgbClr val="FFFF00"/>
                </a:highlight>
              </a:rPr>
              <a:t>个进行比较</a:t>
            </a:r>
            <a:r>
              <a:rPr lang="zh-CN" altLang="en-US" sz="1400" b="1" dirty="0"/>
              <a:t>），比较相等且有效位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的那一行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，否则为</a:t>
            </a:r>
            <a:r>
              <a:rPr lang="zh-CN" altLang="en-US" sz="1400" b="1" dirty="0">
                <a:solidFill>
                  <a:srgbClr val="C00000"/>
                </a:solidFill>
              </a:rPr>
              <a:t>缺失</a:t>
            </a:r>
            <a:r>
              <a:rPr lang="zh-CN" altLang="en-US" sz="1400" b="1" dirty="0"/>
              <a:t>（</a:t>
            </a:r>
            <a:r>
              <a:rPr lang="zh-CN" altLang="en-US" sz="1400" b="1" dirty="0">
                <a:highlight>
                  <a:srgbClr val="FFFF00"/>
                </a:highlight>
              </a:rPr>
              <a:t>没有比较相等的对应块，或者是比较相等但有效位</a:t>
            </a:r>
            <a:r>
              <a:rPr lang="en-US" altLang="zh-CN" sz="1400" b="1" dirty="0">
                <a:highlight>
                  <a:srgbClr val="FFFF00"/>
                </a:highlight>
              </a:rPr>
              <a:t>=0</a:t>
            </a:r>
            <a:r>
              <a:rPr lang="zh-CN" altLang="en-US" sz="1400" b="1" dirty="0"/>
              <a:t>）</a:t>
            </a:r>
            <a:endParaRPr lang="en-US" altLang="zh-CN" sz="10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/>
            <a:endParaRPr lang="en-US" altLang="zh-CN" sz="12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B8DE77B-446C-4E80-AEF5-F9198E81824B}"/>
              </a:ext>
            </a:extLst>
          </p:cNvPr>
          <p:cNvGrpSpPr/>
          <p:nvPr/>
        </p:nvGrpSpPr>
        <p:grpSpPr>
          <a:xfrm>
            <a:off x="2226229" y="3745709"/>
            <a:ext cx="5976664" cy="3115702"/>
            <a:chOff x="2448272" y="3861048"/>
            <a:chExt cx="5508104" cy="2777691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66AD09E-989D-4CD9-8EA4-5D6F55EFE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8272" y="3861048"/>
              <a:ext cx="5508104" cy="2648784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274CC836-55DD-4748-86E7-E7B7BE171AC7}"/>
                </a:ext>
              </a:extLst>
            </p:cNvPr>
            <p:cNvSpPr txBox="1"/>
            <p:nvPr/>
          </p:nvSpPr>
          <p:spPr>
            <a:xfrm>
              <a:off x="3952251" y="6330962"/>
              <a:ext cx="2861556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4.36</a:t>
              </a:r>
              <a:r>
                <a:rPr lang="zh-CN" altLang="en-US" sz="1400" b="1" dirty="0"/>
                <a:t>    全相联映射的逻辑示意图</a:t>
              </a:r>
              <a:endParaRPr lang="zh-CN" altLang="en-US" sz="1400" dirty="0"/>
            </a:p>
          </p:txBody>
        </p:sp>
      </p:grp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0DE0B7CB-5750-44A6-812B-280E2CC63876}"/>
              </a:ext>
            </a:extLst>
          </p:cNvPr>
          <p:cNvSpPr/>
          <p:nvPr/>
        </p:nvSpPr>
        <p:spPr>
          <a:xfrm>
            <a:off x="366923" y="3717032"/>
            <a:ext cx="1728192" cy="1286049"/>
          </a:xfrm>
          <a:prstGeom prst="wedgeRoundRectCallout">
            <a:avLst>
              <a:gd name="adj1" fmla="val 95548"/>
              <a:gd name="adj2" fmla="val 1483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因为全相联是映射到</a:t>
            </a:r>
            <a:r>
              <a:rPr lang="en-US" altLang="zh-CN" sz="1400" dirty="0"/>
              <a:t>cache</a:t>
            </a:r>
            <a:r>
              <a:rPr lang="zh-CN" altLang="en-US" sz="1400" dirty="0"/>
              <a:t>任意块，没有</a:t>
            </a:r>
            <a:r>
              <a:rPr lang="en-US" altLang="zh-CN" sz="1400" dirty="0"/>
              <a:t>cache</a:t>
            </a:r>
            <a:r>
              <a:rPr lang="zh-CN" altLang="en-US" sz="1400" dirty="0"/>
              <a:t>块信息，因而需要并行比较。</a:t>
            </a:r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79235400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32656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）全相联映射硬件实现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假设：主存地址（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主存块地址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即主存有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7</a:t>
            </a:r>
            <a:r>
              <a:rPr lang="en-US" altLang="zh-CN" sz="1400" b="1" dirty="0"/>
              <a:t>=128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只有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因为块内偏移为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的每一行数据块副本缓冲区中有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74EF9538-5268-4B5F-8E98-5156D6567CEB}"/>
              </a:ext>
            </a:extLst>
          </p:cNvPr>
          <p:cNvGrpSpPr/>
          <p:nvPr/>
        </p:nvGrpSpPr>
        <p:grpSpPr>
          <a:xfrm>
            <a:off x="1734963" y="2537835"/>
            <a:ext cx="6444208" cy="4065306"/>
            <a:chOff x="1835696" y="2623799"/>
            <a:chExt cx="6444208" cy="4065306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5758272C-20BD-4E8D-B0D0-DBEFA4054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6" y="2623799"/>
              <a:ext cx="6012160" cy="3631587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F2E086D-9C7B-49E6-B470-DCEF753927F6}"/>
                </a:ext>
              </a:extLst>
            </p:cNvPr>
            <p:cNvSpPr txBox="1"/>
            <p:nvPr/>
          </p:nvSpPr>
          <p:spPr>
            <a:xfrm>
              <a:off x="2267744" y="6381328"/>
              <a:ext cx="601216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4.37  </a:t>
              </a:r>
              <a:r>
                <a:rPr lang="zh-CN" altLang="en-US" sz="1400" b="1" dirty="0"/>
                <a:t>  全相联映射的硬件逻辑实现框图（该图只有</a:t>
              </a:r>
              <a:r>
                <a:rPr lang="en-US" altLang="zh-CN" sz="1400" b="1" dirty="0"/>
                <a:t>cache</a:t>
              </a:r>
              <a:r>
                <a:rPr lang="zh-CN" altLang="en-US" sz="1400" b="1" dirty="0"/>
                <a:t>，没有主存）</a:t>
              </a:r>
              <a:endParaRPr lang="zh-CN" altLang="en-US" sz="1400" dirty="0"/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A83572BF-83AA-4D25-A1A2-C25126D6CDC8}"/>
              </a:ext>
            </a:extLst>
          </p:cNvPr>
          <p:cNvSpPr/>
          <p:nvPr/>
        </p:nvSpPr>
        <p:spPr>
          <a:xfrm>
            <a:off x="5222754" y="254859"/>
            <a:ext cx="3630267" cy="648072"/>
          </a:xfrm>
          <a:prstGeom prst="wedgeRoundRectCallout">
            <a:avLst>
              <a:gd name="adj1" fmla="val -57822"/>
              <a:gd name="adj2" fmla="val 5578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没有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块号，因为全相联映像主存任意块可进入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任意块</a:t>
            </a: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7E26D148-49E6-4890-AD48-530419139120}"/>
              </a:ext>
            </a:extLst>
          </p:cNvPr>
          <p:cNvSpPr/>
          <p:nvPr/>
        </p:nvSpPr>
        <p:spPr>
          <a:xfrm>
            <a:off x="7412861" y="1839765"/>
            <a:ext cx="1440160" cy="768434"/>
          </a:xfrm>
          <a:prstGeom prst="wedgeRoundRectCallout">
            <a:avLst>
              <a:gd name="adj1" fmla="val -109270"/>
              <a:gd name="adj2" fmla="val 606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Offset </a:t>
            </a:r>
            <a:r>
              <a:rPr lang="zh-CN" altLang="en-US" sz="1400" b="1" dirty="0"/>
              <a:t>确定具体输出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个字中的哪一个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48905E52-9B3E-46A0-93BD-D062641E69B2}"/>
              </a:ext>
            </a:extLst>
          </p:cNvPr>
          <p:cNvSpPr/>
          <p:nvPr/>
        </p:nvSpPr>
        <p:spPr>
          <a:xfrm>
            <a:off x="7246640" y="2633599"/>
            <a:ext cx="1440160" cy="768434"/>
          </a:xfrm>
          <a:prstGeom prst="wedgeRoundRectCallout">
            <a:avLst>
              <a:gd name="adj1" fmla="val -78448"/>
              <a:gd name="adj2" fmla="val 3756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Li </a:t>
            </a:r>
            <a:r>
              <a:rPr lang="zh-CN" altLang="en-US" sz="1400" b="1" dirty="0"/>
              <a:t>比较结果打通三态门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BA2DCF-CB42-4A0A-A9F9-03354366145C}"/>
              </a:ext>
            </a:extLst>
          </p:cNvPr>
          <p:cNvSpPr/>
          <p:nvPr/>
        </p:nvSpPr>
        <p:spPr>
          <a:xfrm>
            <a:off x="2177734" y="4436626"/>
            <a:ext cx="864096" cy="21602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15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FFED3710-B241-43D9-AD74-4154849E3BE8}"/>
              </a:ext>
            </a:extLst>
          </p:cNvPr>
          <p:cNvCxnSpPr/>
          <p:nvPr/>
        </p:nvCxnSpPr>
        <p:spPr>
          <a:xfrm>
            <a:off x="3041830" y="4507229"/>
            <a:ext cx="21602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D92AF95A-9634-473E-B095-CBC14F13CD02}"/>
              </a:ext>
            </a:extLst>
          </p:cNvPr>
          <p:cNvCxnSpPr>
            <a:cxnSpLocks/>
          </p:cNvCxnSpPr>
          <p:nvPr/>
        </p:nvCxnSpPr>
        <p:spPr>
          <a:xfrm>
            <a:off x="3491880" y="4542268"/>
            <a:ext cx="61206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DBF8B771-1338-4C58-AD8B-360FD705289A}"/>
              </a:ext>
            </a:extLst>
          </p:cNvPr>
          <p:cNvSpPr/>
          <p:nvPr/>
        </p:nvSpPr>
        <p:spPr>
          <a:xfrm>
            <a:off x="4718698" y="4434259"/>
            <a:ext cx="504056" cy="21601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55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2931069-CD3E-4BFF-9959-5BA704BFF43A}"/>
              </a:ext>
            </a:extLst>
          </p:cNvPr>
          <p:cNvCxnSpPr>
            <a:cxnSpLocks/>
          </p:cNvCxnSpPr>
          <p:nvPr/>
        </p:nvCxnSpPr>
        <p:spPr>
          <a:xfrm>
            <a:off x="6300192" y="4531584"/>
            <a:ext cx="43204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E83972CB-071A-4213-ADC3-E1695C38833C}"/>
              </a:ext>
            </a:extLst>
          </p:cNvPr>
          <p:cNvCxnSpPr/>
          <p:nvPr/>
        </p:nvCxnSpPr>
        <p:spPr>
          <a:xfrm flipV="1">
            <a:off x="6732240" y="4388054"/>
            <a:ext cx="0" cy="14353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6BA5D9E-A6FE-4703-AD44-1D449D63A679}"/>
              </a:ext>
            </a:extLst>
          </p:cNvPr>
          <p:cNvCxnSpPr>
            <a:cxnSpLocks/>
          </p:cNvCxnSpPr>
          <p:nvPr/>
        </p:nvCxnSpPr>
        <p:spPr>
          <a:xfrm>
            <a:off x="6732240" y="4388054"/>
            <a:ext cx="23402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CDADCB9-4122-4E10-8AA2-1579467EC792}"/>
              </a:ext>
            </a:extLst>
          </p:cNvPr>
          <p:cNvCxnSpPr/>
          <p:nvPr/>
        </p:nvCxnSpPr>
        <p:spPr>
          <a:xfrm flipV="1">
            <a:off x="6948264" y="4269874"/>
            <a:ext cx="0" cy="14353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D5014BCC-72DD-468C-9774-A4844384AE3A}"/>
              </a:ext>
            </a:extLst>
          </p:cNvPr>
          <p:cNvCxnSpPr>
            <a:cxnSpLocks/>
          </p:cNvCxnSpPr>
          <p:nvPr/>
        </p:nvCxnSpPr>
        <p:spPr>
          <a:xfrm>
            <a:off x="6948264" y="4292571"/>
            <a:ext cx="14401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对话气泡: 圆角矩形 29">
            <a:extLst>
              <a:ext uri="{FF2B5EF4-FFF2-40B4-BE49-F238E27FC236}">
                <a16:creationId xmlns:a16="http://schemas.microsoft.com/office/drawing/2014/main" id="{4CA11236-44E3-4F8A-88E2-FB0A32A2329E}"/>
              </a:ext>
            </a:extLst>
          </p:cNvPr>
          <p:cNvSpPr/>
          <p:nvPr/>
        </p:nvSpPr>
        <p:spPr>
          <a:xfrm>
            <a:off x="949394" y="2294945"/>
            <a:ext cx="1606381" cy="654175"/>
          </a:xfrm>
          <a:prstGeom prst="wedgeRoundRectCallout">
            <a:avLst>
              <a:gd name="adj1" fmla="val 77553"/>
              <a:gd name="adj2" fmla="val -90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选中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L4</a:t>
            </a:r>
            <a:r>
              <a:rPr lang="zh-CN" altLang="en-US" sz="1400" b="1" dirty="0"/>
              <a:t>行中的</a:t>
            </a:r>
            <a:r>
              <a:rPr lang="en-US" altLang="zh-CN" sz="1400" b="1" dirty="0"/>
              <a:t>w 1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01</a:t>
            </a:r>
            <a:r>
              <a:rPr lang="zh-CN" altLang="en-US" sz="1400" b="1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9617553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2860575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个字，请给出全相联映射的访问过程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行（</a:t>
            </a:r>
            <a:r>
              <a:rPr lang="zh-CN" altLang="en-US" sz="1400" b="1" dirty="0">
                <a:highlight>
                  <a:srgbClr val="FFFF00"/>
                </a:highlight>
              </a:rPr>
              <a:t>也可以载入到</a:t>
            </a:r>
            <a:r>
              <a:rPr lang="en-US" altLang="zh-CN" sz="1400" b="1" dirty="0">
                <a:highlight>
                  <a:srgbClr val="FFFF00"/>
                </a:highlight>
              </a:rPr>
              <a:t>cache</a:t>
            </a:r>
            <a:r>
              <a:rPr lang="zh-CN" altLang="en-US" sz="1400" b="1" dirty="0">
                <a:highlight>
                  <a:srgbClr val="FFFF00"/>
                </a:highlight>
              </a:rPr>
              <a:t>的其它行</a:t>
            </a:r>
            <a:r>
              <a:rPr lang="zh-CN" altLang="en-US" sz="1400" b="1" dirty="0"/>
              <a:t>），并将第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的字时，因为主存块地址</a:t>
            </a:r>
            <a:r>
              <a:rPr lang="en-US" altLang="zh-CN" sz="1400" b="1" dirty="0"/>
              <a:t>tag=15</a:t>
            </a:r>
            <a:r>
              <a:rPr lang="zh-CN" altLang="en-US" sz="1400" b="1" dirty="0"/>
              <a:t>，此时多路并发比较相等，且有效位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429509"/>
              </p:ext>
            </p:extLst>
          </p:nvPr>
        </p:nvGraphicFramePr>
        <p:xfrm>
          <a:off x="251519" y="3429000"/>
          <a:ext cx="8640961" cy="3096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8804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0000111  11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0001000  00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0001001  00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001</a:t>
                      </a:r>
                      <a:r>
                        <a:rPr lang="en-US" altLang="zh-CN" sz="1200" b="1" dirty="0">
                          <a:solidFill>
                            <a:srgbClr val="0512BB"/>
                          </a:solidFill>
                        </a:rPr>
                        <a:t>0010 </a:t>
                      </a:r>
                      <a:r>
                        <a:rPr lang="en-US" altLang="zh-CN" sz="1200" b="1" dirty="0"/>
                        <a:t> </a:t>
                      </a:r>
                      <a:r>
                        <a:rPr lang="en-US" altLang="zh-CN" sz="120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00</a:t>
                      </a:r>
                      <a:endParaRPr lang="zh-CN" altLang="en-US" sz="1200" b="1" dirty="0">
                        <a:solidFill>
                          <a:schemeClr val="accent3">
                            <a:lumMod val="75000"/>
                          </a:schemeClr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0010101  00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0010101  01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1000000  11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</a:t>
                      </a:r>
                      <a:r>
                        <a:rPr lang="en-US" altLang="zh-CN" sz="1200" b="1" dirty="0" err="1"/>
                        <a:t>tag,offset</a:t>
                      </a:r>
                      <a:r>
                        <a:rPr lang="zh-CN" altLang="en-US" sz="12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(7, 3)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(8, 0)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(9, 0)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(12, 0)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(15, 0)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(15, 1)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(40, 3)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1F3792D-FFBA-4FC3-B5E1-2417881C8205}"/>
              </a:ext>
            </a:extLst>
          </p:cNvPr>
          <p:cNvSpPr txBox="1"/>
          <p:nvPr/>
        </p:nvSpPr>
        <p:spPr>
          <a:xfrm>
            <a:off x="3150096" y="3121223"/>
            <a:ext cx="2574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4.4</a:t>
            </a:r>
            <a:r>
              <a:rPr lang="zh-CN" altLang="en-US" sz="1400" b="1" dirty="0"/>
              <a:t>    全相联映射的访问过程</a:t>
            </a:r>
            <a:endParaRPr lang="zh-CN" altLang="en-US" sz="1400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5D0BB1F-7F16-4EED-B158-016CD590C129}"/>
              </a:ext>
            </a:extLst>
          </p:cNvPr>
          <p:cNvSpPr/>
          <p:nvPr/>
        </p:nvSpPr>
        <p:spPr>
          <a:xfrm>
            <a:off x="2915816" y="404664"/>
            <a:ext cx="2016224" cy="479572"/>
          </a:xfrm>
          <a:prstGeom prst="wedgeRoundRectCallout">
            <a:avLst>
              <a:gd name="adj1" fmla="val -28538"/>
              <a:gd name="adj2" fmla="val 1048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参图</a:t>
            </a:r>
            <a:r>
              <a:rPr lang="en-US" altLang="zh-CN" sz="1400" b="1" dirty="0"/>
              <a:t>4.37</a:t>
            </a:r>
            <a:r>
              <a:rPr lang="zh-CN" altLang="en-US" sz="1400" b="1" dirty="0"/>
              <a:t>中的</a:t>
            </a:r>
            <a:r>
              <a:rPr lang="en-US" altLang="zh-CN" sz="1400" b="1" dirty="0"/>
              <a:t>cache line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2581027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9552" y="476673"/>
            <a:ext cx="8229600" cy="3168352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全相联映射方式的特点：</a:t>
            </a:r>
            <a:endParaRPr lang="en-US" altLang="zh-CN" sz="1600" b="1" dirty="0"/>
          </a:p>
          <a:p>
            <a:pPr eaLnBrk="1" hangingPunct="1"/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主存数据块可以映射到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的任意一行（块），因此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利用率高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只要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中还有空行就不会引起冲突，因此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冲突率低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查找时需要并发比较查找表中所有项，每一个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行对应一个比较电路，</a:t>
            </a:r>
            <a:r>
              <a:rPr lang="zh-CN" altLang="en-US" sz="1600" b="1" dirty="0">
                <a:solidFill>
                  <a:srgbClr val="C00000"/>
                </a:solidFill>
              </a:rPr>
              <a:t>硬件成本较高</a:t>
            </a:r>
            <a:r>
              <a:rPr lang="zh-CN" altLang="en-US" sz="1600" b="1" dirty="0"/>
              <a:t>，只适合小容量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使用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en-US" altLang="zh-CN" sz="1600" b="1" dirty="0"/>
              <a:t>cache</a:t>
            </a:r>
            <a:r>
              <a:rPr lang="zh-CN" altLang="en-US" sz="1600" b="1" dirty="0"/>
              <a:t>满时，载入新数据块需要利用替换算法进行替换，</a:t>
            </a:r>
            <a:r>
              <a:rPr lang="zh-CN" altLang="en-US" sz="1600" b="1" dirty="0">
                <a:solidFill>
                  <a:srgbClr val="C00000"/>
                </a:solidFill>
              </a:rPr>
              <a:t>替换策略和算法较为复杂</a:t>
            </a:r>
            <a:endParaRPr lang="en-US" altLang="zh-CN" sz="1900" b="1" dirty="0">
              <a:solidFill>
                <a:srgbClr val="C00000"/>
              </a:solidFill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330CA-F94F-4064-884E-87C7EE2F7B89}"/>
              </a:ext>
            </a:extLst>
          </p:cNvPr>
          <p:cNvGrpSpPr/>
          <p:nvPr/>
        </p:nvGrpSpPr>
        <p:grpSpPr>
          <a:xfrm>
            <a:off x="1900300" y="3435131"/>
            <a:ext cx="5508104" cy="3024336"/>
            <a:chOff x="2448272" y="3861048"/>
            <a:chExt cx="5508104" cy="302433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4874A18F-816D-4619-B523-C6EF6B1809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8272" y="3861048"/>
              <a:ext cx="5508104" cy="264878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DCF98D1-D19B-4EFF-9C45-43E83E17B4E0}"/>
                </a:ext>
              </a:extLst>
            </p:cNvPr>
            <p:cNvSpPr txBox="1"/>
            <p:nvPr/>
          </p:nvSpPr>
          <p:spPr>
            <a:xfrm>
              <a:off x="4131315" y="6540154"/>
              <a:ext cx="3104981" cy="3452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4.36</a:t>
              </a:r>
              <a:r>
                <a:rPr lang="zh-CN" altLang="en-US" sz="1400" b="1" dirty="0"/>
                <a:t>    全相联映射的逻辑示意图</a:t>
              </a:r>
              <a:endParaRPr lang="zh-CN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36346093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93E1F75-D5D8-420F-B586-88140CCB99C1}"/>
              </a:ext>
            </a:extLst>
          </p:cNvPr>
          <p:cNvSpPr/>
          <p:nvPr/>
        </p:nvSpPr>
        <p:spPr>
          <a:xfrm>
            <a:off x="2997190" y="2569032"/>
            <a:ext cx="4311113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45550"/>
            <a:ext cx="8229600" cy="2050712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、直接相联映射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）直接相联映射基本原理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直接相联映射：主存的某一块只能映射到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的固定行（块）中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假设主存块号为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行号为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共有</a:t>
            </a:r>
            <a:r>
              <a:rPr lang="en-US" altLang="zh-CN" sz="1400" b="1" dirty="0"/>
              <a:t>n</a:t>
            </a:r>
            <a:r>
              <a:rPr lang="zh-CN" altLang="en-US" sz="1400" b="1" dirty="0"/>
              <a:t>行，则有：</a:t>
            </a:r>
            <a:r>
              <a:rPr lang="en-US" altLang="zh-CN" sz="1400" b="1" dirty="0" err="1">
                <a:solidFill>
                  <a:srgbClr val="C00000"/>
                </a:solidFill>
              </a:rPr>
              <a:t>i</a:t>
            </a:r>
            <a:r>
              <a:rPr lang="en-US" altLang="zh-CN" sz="1400" b="1" dirty="0">
                <a:solidFill>
                  <a:srgbClr val="C00000"/>
                </a:solidFill>
              </a:rPr>
              <a:t> = j  mod  n</a:t>
            </a:r>
          </a:p>
          <a:p>
            <a:pPr lvl="3" eaLnBrk="1" hangingPunct="1">
              <a:lnSpc>
                <a:spcPct val="150000"/>
              </a:lnSpc>
            </a:pPr>
            <a:endParaRPr lang="en-US" altLang="zh-CN" sz="1400" b="1" dirty="0">
              <a:solidFill>
                <a:srgbClr val="FF0000"/>
              </a:solidFill>
            </a:endParaRPr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主存地址 </a:t>
            </a:r>
            <a:r>
              <a:rPr lang="en-US" altLang="zh-CN" sz="1400" b="1" dirty="0"/>
              <a:t>= </a:t>
            </a:r>
            <a:r>
              <a:rPr lang="zh-CN" altLang="en-US" sz="1400" b="1" dirty="0">
                <a:solidFill>
                  <a:schemeClr val="bg1"/>
                </a:solidFill>
              </a:rPr>
              <a:t>区地址（</a:t>
            </a:r>
            <a:r>
              <a:rPr lang="en-US" altLang="zh-CN" sz="1400" b="1" dirty="0">
                <a:solidFill>
                  <a:schemeClr val="bg1"/>
                </a:solidFill>
              </a:rPr>
              <a:t>tag</a:t>
            </a:r>
            <a:r>
              <a:rPr lang="zh-CN" altLang="en-US" sz="1400" b="1" dirty="0">
                <a:solidFill>
                  <a:schemeClr val="bg1"/>
                </a:solidFill>
              </a:rPr>
              <a:t>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行索引（</a:t>
            </a:r>
            <a:r>
              <a:rPr lang="en-US" altLang="zh-CN" sz="1400" b="1" dirty="0">
                <a:solidFill>
                  <a:schemeClr val="bg1"/>
                </a:solidFill>
              </a:rPr>
              <a:t>index</a:t>
            </a:r>
            <a:r>
              <a:rPr lang="zh-CN" altLang="en-US" sz="1400" b="1" dirty="0">
                <a:solidFill>
                  <a:schemeClr val="bg1"/>
                </a:solidFill>
              </a:rPr>
              <a:t>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块内偏移（</a:t>
            </a:r>
            <a:r>
              <a:rPr lang="en-US" altLang="zh-CN" sz="1400" b="1" dirty="0">
                <a:solidFill>
                  <a:schemeClr val="bg1"/>
                </a:solidFill>
              </a:rPr>
              <a:t>offset</a:t>
            </a:r>
            <a:r>
              <a:rPr lang="zh-CN" altLang="en-US" sz="1400" b="1" dirty="0">
                <a:solidFill>
                  <a:schemeClr val="bg1"/>
                </a:solidFill>
              </a:rPr>
              <a:t>）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pPr lvl="3" eaLnBrk="1" hangingPunct="1">
              <a:lnSpc>
                <a:spcPct val="150000"/>
              </a:lnSpc>
            </a:pPr>
            <a:r>
              <a:rPr lang="zh-CN" altLang="en-US" sz="1400" b="1" dirty="0"/>
              <a:t>地址映射过程：根据主存地址中的行索引（</a:t>
            </a:r>
            <a:r>
              <a:rPr lang="en-US" altLang="zh-CN" sz="1400" b="1" dirty="0"/>
              <a:t>index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的对应行，将主存地址中的区地址（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）与该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）进行比较，比较相等且有效位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则为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，否则为</a:t>
            </a:r>
            <a:r>
              <a:rPr lang="zh-CN" altLang="en-US" sz="1400" b="1" dirty="0">
                <a:solidFill>
                  <a:srgbClr val="C00000"/>
                </a:solidFill>
              </a:rPr>
              <a:t>缺失</a:t>
            </a:r>
            <a:r>
              <a:rPr lang="zh-CN" altLang="en-US" sz="1400" b="1" dirty="0"/>
              <a:t>（比较不相等，或者是比较相等但有效位</a:t>
            </a:r>
            <a:r>
              <a:rPr lang="en-US" altLang="zh-CN" sz="1400" b="1" dirty="0"/>
              <a:t>=0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CED11E9-FDDE-4B60-B246-F83D05836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111" y="3861048"/>
            <a:ext cx="5300018" cy="273630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32726A3-7CC8-4833-8827-D4F5E0BEAD87}"/>
              </a:ext>
            </a:extLst>
          </p:cNvPr>
          <p:cNvSpPr txBox="1"/>
          <p:nvPr/>
        </p:nvSpPr>
        <p:spPr>
          <a:xfrm>
            <a:off x="3635896" y="6381328"/>
            <a:ext cx="3104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4.38</a:t>
            </a:r>
            <a:r>
              <a:rPr lang="zh-CN" altLang="en-US" sz="1400" b="1" dirty="0"/>
              <a:t>    直接相联映射的逻辑示意图</a:t>
            </a:r>
            <a:endParaRPr lang="zh-CN" altLang="en-US" sz="1400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1931462C-8A67-4109-B207-2458CA818F55}"/>
              </a:ext>
            </a:extLst>
          </p:cNvPr>
          <p:cNvSpPr/>
          <p:nvPr/>
        </p:nvSpPr>
        <p:spPr>
          <a:xfrm>
            <a:off x="7668344" y="1628800"/>
            <a:ext cx="1296144" cy="360040"/>
          </a:xfrm>
          <a:prstGeom prst="wedgeRoundRectCallout">
            <a:avLst>
              <a:gd name="adj1" fmla="val -66295"/>
              <a:gd name="adj2" fmla="val 416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其实就是</a:t>
            </a:r>
            <a:r>
              <a:rPr lang="en-US" altLang="zh-CN" sz="1400" dirty="0"/>
              <a:t>n</a:t>
            </a:r>
            <a:r>
              <a:rPr lang="zh-CN" altLang="en-US" sz="1400" dirty="0"/>
              <a:t>块</a:t>
            </a:r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C906A78E-7D8C-438F-9DCA-D3F09F8921BE}"/>
              </a:ext>
            </a:extLst>
          </p:cNvPr>
          <p:cNvSpPr/>
          <p:nvPr/>
        </p:nvSpPr>
        <p:spPr>
          <a:xfrm>
            <a:off x="5004048" y="2114058"/>
            <a:ext cx="1224136" cy="378838"/>
          </a:xfrm>
          <a:prstGeom prst="wedgeRoundRectCallout">
            <a:avLst>
              <a:gd name="adj1" fmla="val -1711"/>
              <a:gd name="adj2" fmla="val 8153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cache</a:t>
            </a:r>
            <a:r>
              <a:rPr lang="zh-CN" altLang="en-US" sz="1400" dirty="0"/>
              <a:t>块地址</a:t>
            </a:r>
          </a:p>
        </p:txBody>
      </p: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9D4A22A0-9B5F-4E7A-B01D-16AE064E79F5}"/>
              </a:ext>
            </a:extLst>
          </p:cNvPr>
          <p:cNvSpPr/>
          <p:nvPr/>
        </p:nvSpPr>
        <p:spPr>
          <a:xfrm>
            <a:off x="3358208" y="2114058"/>
            <a:ext cx="1368152" cy="378838"/>
          </a:xfrm>
          <a:prstGeom prst="wedgeRoundRectCallout">
            <a:avLst>
              <a:gd name="adj1" fmla="val -4039"/>
              <a:gd name="adj2" fmla="val 791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主存字块标记</a:t>
            </a:r>
          </a:p>
        </p:txBody>
      </p:sp>
      <p:sp>
        <p:nvSpPr>
          <p:cNvPr id="9" name="对话气泡: 圆角矩形 8">
            <a:extLst>
              <a:ext uri="{FF2B5EF4-FFF2-40B4-BE49-F238E27FC236}">
                <a16:creationId xmlns:a16="http://schemas.microsoft.com/office/drawing/2014/main" id="{5E821FE8-C87F-4AF4-858D-1974F676CB8C}"/>
              </a:ext>
            </a:extLst>
          </p:cNvPr>
          <p:cNvSpPr/>
          <p:nvPr/>
        </p:nvSpPr>
        <p:spPr>
          <a:xfrm>
            <a:off x="6686869" y="2167344"/>
            <a:ext cx="1224136" cy="378838"/>
          </a:xfrm>
          <a:prstGeom prst="wedgeRoundRectCallout">
            <a:avLst>
              <a:gd name="adj1" fmla="val -53201"/>
              <a:gd name="adj2" fmla="val 7215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 </a:t>
            </a:r>
            <a:r>
              <a:rPr lang="zh-CN" altLang="en-US" sz="1400" dirty="0"/>
              <a:t>块内地址</a:t>
            </a: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27E9DBDD-4E16-464B-8C8E-1A2A7BC30950}"/>
              </a:ext>
            </a:extLst>
          </p:cNvPr>
          <p:cNvSpPr/>
          <p:nvPr/>
        </p:nvSpPr>
        <p:spPr>
          <a:xfrm>
            <a:off x="395537" y="2003152"/>
            <a:ext cx="1440160" cy="956742"/>
          </a:xfrm>
          <a:prstGeom prst="wedgeRoundRectCallout">
            <a:avLst>
              <a:gd name="adj1" fmla="val 61403"/>
              <a:gd name="adj2" fmla="val 6688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 </a:t>
            </a:r>
            <a:r>
              <a:rPr lang="zh-CN" altLang="en-US" sz="1400" b="1" dirty="0"/>
              <a:t>行索引，实际是以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块地址为索引，进行匹配。</a:t>
            </a:r>
          </a:p>
        </p:txBody>
      </p:sp>
    </p:spTree>
    <p:extLst>
      <p:ext uri="{BB962C8B-B14F-4D97-AF65-F5344CB8AC3E}">
        <p14:creationId xmlns:p14="http://schemas.microsoft.com/office/powerpoint/2010/main" val="387542316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927405B-9907-46D7-AB4E-276100FDEF2B}"/>
              </a:ext>
            </a:extLst>
          </p:cNvPr>
          <p:cNvSpPr/>
          <p:nvPr/>
        </p:nvSpPr>
        <p:spPr>
          <a:xfrm>
            <a:off x="3275856" y="836712"/>
            <a:ext cx="5184576" cy="36004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）直接相联映射硬件实现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假设：主存地址（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位）</a:t>
            </a:r>
            <a:r>
              <a:rPr lang="en-US" altLang="zh-CN" sz="1400" b="1" dirty="0"/>
              <a:t>= </a:t>
            </a:r>
            <a:r>
              <a:rPr lang="zh-CN" altLang="en-US" sz="1400" b="1" dirty="0">
                <a:solidFill>
                  <a:schemeClr val="bg1"/>
                </a:solidFill>
              </a:rPr>
              <a:t>区地址</a:t>
            </a:r>
            <a:r>
              <a:rPr lang="en-US" altLang="zh-CN" sz="1400" b="1" dirty="0">
                <a:solidFill>
                  <a:schemeClr val="bg1"/>
                </a:solidFill>
              </a:rPr>
              <a:t>tag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4</a:t>
            </a:r>
            <a:r>
              <a:rPr lang="zh-CN" altLang="en-US" sz="1400" b="1" dirty="0">
                <a:solidFill>
                  <a:schemeClr val="bg1"/>
                </a:solidFill>
              </a:rPr>
              <a:t>位）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行索引</a:t>
            </a:r>
            <a:r>
              <a:rPr lang="en-US" altLang="zh-CN" sz="1400" b="1" dirty="0">
                <a:solidFill>
                  <a:schemeClr val="bg1"/>
                </a:solidFill>
              </a:rPr>
              <a:t>index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3</a:t>
            </a:r>
            <a:r>
              <a:rPr lang="zh-CN" altLang="en-US" sz="1400" b="1" dirty="0">
                <a:solidFill>
                  <a:schemeClr val="bg1"/>
                </a:solidFill>
              </a:rPr>
              <a:t>位） </a:t>
            </a:r>
            <a:r>
              <a:rPr lang="en-US" altLang="zh-CN" sz="1400" b="1" dirty="0">
                <a:solidFill>
                  <a:schemeClr val="bg1"/>
                </a:solidFill>
              </a:rPr>
              <a:t>+ </a:t>
            </a:r>
            <a:r>
              <a:rPr lang="zh-CN" altLang="en-US" sz="1400" b="1" dirty="0">
                <a:solidFill>
                  <a:schemeClr val="bg1"/>
                </a:solidFill>
              </a:rPr>
              <a:t>块内偏移</a:t>
            </a:r>
            <a:r>
              <a:rPr lang="en-US" altLang="zh-CN" sz="1400" b="1" dirty="0">
                <a:solidFill>
                  <a:schemeClr val="bg1"/>
                </a:solidFill>
              </a:rPr>
              <a:t>offset</a:t>
            </a:r>
            <a:r>
              <a:rPr lang="zh-CN" altLang="en-US" sz="1400" b="1" dirty="0">
                <a:solidFill>
                  <a:schemeClr val="bg1"/>
                </a:solidFill>
              </a:rPr>
              <a:t>（</a:t>
            </a:r>
            <a:r>
              <a:rPr lang="en-US" altLang="zh-CN" sz="1400" b="1" dirty="0">
                <a:solidFill>
                  <a:schemeClr val="bg1"/>
                </a:solidFill>
              </a:rPr>
              <a:t>2</a:t>
            </a:r>
            <a:r>
              <a:rPr lang="zh-CN" altLang="en-US" sz="1400" b="1" dirty="0">
                <a:solidFill>
                  <a:schemeClr val="bg1"/>
                </a:solidFill>
              </a:rPr>
              <a:t>位）</a:t>
            </a:r>
            <a:endParaRPr lang="en-US" altLang="zh-CN" sz="1400" b="1" dirty="0">
              <a:solidFill>
                <a:schemeClr val="bg1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即主存有</a:t>
            </a:r>
            <a:r>
              <a:rPr lang="en-US" altLang="zh-CN" sz="1400" b="1" dirty="0"/>
              <a:t>128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7</a:t>
            </a:r>
            <a:r>
              <a:rPr lang="en-US" altLang="zh-CN" sz="1400" b="1" dirty="0"/>
              <a:t>=128</a:t>
            </a:r>
            <a:r>
              <a:rPr lang="zh-CN" altLang="en-US" sz="1400" b="1" dirty="0"/>
              <a:t>），分为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个区（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4</a:t>
            </a:r>
            <a:r>
              <a:rPr lang="en-US" altLang="zh-CN" sz="1400" b="1" dirty="0"/>
              <a:t>=16</a:t>
            </a:r>
            <a:r>
              <a:rPr lang="zh-CN" altLang="en-US" sz="1400" b="1" dirty="0"/>
              <a:t>），每个区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3</a:t>
            </a:r>
            <a:r>
              <a:rPr lang="en-US" altLang="zh-CN" sz="1400" b="1" dirty="0"/>
              <a:t>=8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只有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块（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行）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块内偏移为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位，因此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的每一行数据块副本缓冲区中有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</a:t>
            </a:r>
            <a:r>
              <a:rPr lang="en-US" altLang="zh-CN" sz="1400" b="1" dirty="0"/>
              <a:t>=4</a:t>
            </a:r>
            <a:r>
              <a:rPr lang="zh-CN" altLang="en-US" sz="14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A726D26-28D5-4C9C-A7DB-3C4C823649E7}"/>
              </a:ext>
            </a:extLst>
          </p:cNvPr>
          <p:cNvCxnSpPr/>
          <p:nvPr/>
        </p:nvCxnSpPr>
        <p:spPr>
          <a:xfrm flipH="1">
            <a:off x="2843808" y="1196752"/>
            <a:ext cx="432048" cy="2160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0B6B676B-DEFB-40D4-BECA-836BD8C23DD4}"/>
              </a:ext>
            </a:extLst>
          </p:cNvPr>
          <p:cNvCxnSpPr>
            <a:cxnSpLocks/>
          </p:cNvCxnSpPr>
          <p:nvPr/>
        </p:nvCxnSpPr>
        <p:spPr>
          <a:xfrm>
            <a:off x="4499992" y="1124744"/>
            <a:ext cx="0" cy="279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E721A1A-4470-459F-A2A8-B422EE044060}"/>
              </a:ext>
            </a:extLst>
          </p:cNvPr>
          <p:cNvCxnSpPr>
            <a:cxnSpLocks/>
          </p:cNvCxnSpPr>
          <p:nvPr/>
        </p:nvCxnSpPr>
        <p:spPr>
          <a:xfrm>
            <a:off x="6156176" y="1133760"/>
            <a:ext cx="0" cy="27901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18EF8A55-177B-48D7-A75F-E43DD4223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339864"/>
            <a:ext cx="6698560" cy="3840813"/>
          </a:xfrm>
          <a:prstGeom prst="rect">
            <a:avLst/>
          </a:prstGeom>
        </p:spPr>
      </p:pic>
      <p:sp>
        <p:nvSpPr>
          <p:cNvPr id="242" name="文本框 241">
            <a:extLst>
              <a:ext uri="{FF2B5EF4-FFF2-40B4-BE49-F238E27FC236}">
                <a16:creationId xmlns:a16="http://schemas.microsoft.com/office/drawing/2014/main" id="{E3CDD253-C255-4F48-A726-9A3EDED31FBC}"/>
              </a:ext>
            </a:extLst>
          </p:cNvPr>
          <p:cNvSpPr txBox="1"/>
          <p:nvPr/>
        </p:nvSpPr>
        <p:spPr>
          <a:xfrm>
            <a:off x="3200437" y="6197461"/>
            <a:ext cx="37478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4.39</a:t>
            </a:r>
            <a:r>
              <a:rPr lang="zh-CN" altLang="en-US" sz="1400" b="1" dirty="0"/>
              <a:t>    直接相联映射的硬件逻辑实现框图</a:t>
            </a:r>
            <a:endParaRPr lang="zh-CN" altLang="en-US" sz="1400" dirty="0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CE7C1374-EF14-4700-AFB7-6449C55C3870}"/>
              </a:ext>
            </a:extLst>
          </p:cNvPr>
          <p:cNvSpPr/>
          <p:nvPr/>
        </p:nvSpPr>
        <p:spPr>
          <a:xfrm>
            <a:off x="3059832" y="3491992"/>
            <a:ext cx="504056" cy="179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1000</a:t>
            </a:r>
            <a:endParaRPr lang="zh-CN" altLang="en-US" sz="1200" dirty="0"/>
          </a:p>
        </p:txBody>
      </p:sp>
      <p:sp>
        <p:nvSpPr>
          <p:cNvPr id="244" name="对话气泡: 圆角矩形 243">
            <a:extLst>
              <a:ext uri="{FF2B5EF4-FFF2-40B4-BE49-F238E27FC236}">
                <a16:creationId xmlns:a16="http://schemas.microsoft.com/office/drawing/2014/main" id="{EB09A3DB-215D-4629-8159-FB549F422EAA}"/>
              </a:ext>
            </a:extLst>
          </p:cNvPr>
          <p:cNvSpPr/>
          <p:nvPr/>
        </p:nvSpPr>
        <p:spPr>
          <a:xfrm>
            <a:off x="6372200" y="2204865"/>
            <a:ext cx="1656184" cy="529458"/>
          </a:xfrm>
          <a:prstGeom prst="wedgeRoundRectCallout">
            <a:avLst>
              <a:gd name="adj1" fmla="val -64920"/>
              <a:gd name="adj2" fmla="val 1841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/>
              <a:t> </a:t>
            </a:r>
            <a:r>
              <a:rPr lang="zh-CN" altLang="en-US" sz="1400" b="1" dirty="0"/>
              <a:t>选中</a:t>
            </a:r>
            <a:r>
              <a:rPr lang="en-US" altLang="zh-CN" sz="1400" b="1" dirty="0"/>
              <a:t>107</a:t>
            </a:r>
          </a:p>
          <a:p>
            <a:pPr algn="ctr"/>
            <a:r>
              <a:rPr lang="zh-CN" altLang="en-US" sz="1400" b="1" dirty="0"/>
              <a:t>（地址偏移</a:t>
            </a:r>
            <a:r>
              <a:rPr lang="en-US" altLang="zh-CN" sz="1400" b="1" dirty="0"/>
              <a:t>11</a:t>
            </a:r>
            <a:r>
              <a:rPr lang="zh-CN" altLang="en-US" sz="1400" b="1" dirty="0"/>
              <a:t>）</a:t>
            </a:r>
          </a:p>
        </p:txBody>
      </p:sp>
      <p:cxnSp>
        <p:nvCxnSpPr>
          <p:cNvPr id="245" name="直接连接符 244">
            <a:extLst>
              <a:ext uri="{FF2B5EF4-FFF2-40B4-BE49-F238E27FC236}">
                <a16:creationId xmlns:a16="http://schemas.microsoft.com/office/drawing/2014/main" id="{C6026098-0705-4D39-9D4F-441514535EC4}"/>
              </a:ext>
            </a:extLst>
          </p:cNvPr>
          <p:cNvCxnSpPr>
            <a:cxnSpLocks/>
          </p:cNvCxnSpPr>
          <p:nvPr/>
        </p:nvCxnSpPr>
        <p:spPr>
          <a:xfrm>
            <a:off x="6372200" y="3573016"/>
            <a:ext cx="432048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7" name="直接连接符 246">
            <a:extLst>
              <a:ext uri="{FF2B5EF4-FFF2-40B4-BE49-F238E27FC236}">
                <a16:creationId xmlns:a16="http://schemas.microsoft.com/office/drawing/2014/main" id="{CFD27275-023B-4E3D-B273-B0198D59A876}"/>
              </a:ext>
            </a:extLst>
          </p:cNvPr>
          <p:cNvCxnSpPr>
            <a:cxnSpLocks/>
          </p:cNvCxnSpPr>
          <p:nvPr/>
        </p:nvCxnSpPr>
        <p:spPr>
          <a:xfrm>
            <a:off x="6804248" y="3573016"/>
            <a:ext cx="0" cy="72008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1" name="直接连接符 250">
            <a:extLst>
              <a:ext uri="{FF2B5EF4-FFF2-40B4-BE49-F238E27FC236}">
                <a16:creationId xmlns:a16="http://schemas.microsoft.com/office/drawing/2014/main" id="{076D8A1A-DD66-4823-8D2C-668B9F3D8400}"/>
              </a:ext>
            </a:extLst>
          </p:cNvPr>
          <p:cNvCxnSpPr>
            <a:cxnSpLocks/>
          </p:cNvCxnSpPr>
          <p:nvPr/>
        </p:nvCxnSpPr>
        <p:spPr>
          <a:xfrm>
            <a:off x="6804248" y="4298768"/>
            <a:ext cx="21602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3" name="直接连接符 252">
            <a:extLst>
              <a:ext uri="{FF2B5EF4-FFF2-40B4-BE49-F238E27FC236}">
                <a16:creationId xmlns:a16="http://schemas.microsoft.com/office/drawing/2014/main" id="{05EB9148-7301-4F8E-B739-C70F12A81A77}"/>
              </a:ext>
            </a:extLst>
          </p:cNvPr>
          <p:cNvCxnSpPr>
            <a:cxnSpLocks/>
          </p:cNvCxnSpPr>
          <p:nvPr/>
        </p:nvCxnSpPr>
        <p:spPr>
          <a:xfrm>
            <a:off x="7020272" y="4293096"/>
            <a:ext cx="0" cy="3600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76A13ED7-D0D3-4660-8892-72C089CE9F87}"/>
              </a:ext>
            </a:extLst>
          </p:cNvPr>
          <p:cNvCxnSpPr>
            <a:cxnSpLocks/>
          </p:cNvCxnSpPr>
          <p:nvPr/>
        </p:nvCxnSpPr>
        <p:spPr>
          <a:xfrm>
            <a:off x="7020272" y="4653136"/>
            <a:ext cx="216024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705987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7173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个字，请给出直接相联映射的访问过程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行（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对应的行索引</a:t>
            </a:r>
            <a:r>
              <a:rPr lang="en-US" altLang="zh-CN" sz="1400" b="1" dirty="0"/>
              <a:t>=7</a:t>
            </a:r>
            <a:r>
              <a:rPr lang="zh-CN" altLang="en-US" sz="1400" b="1" dirty="0"/>
              <a:t>），并将该行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0000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的字时，根据其行索引（</a:t>
            </a:r>
            <a:r>
              <a:rPr lang="en-US" altLang="zh-CN" sz="1400" b="1" dirty="0"/>
              <a:t>index=5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5</a:t>
            </a:r>
            <a:r>
              <a:rPr lang="zh-CN" altLang="en-US" sz="1400" b="1" dirty="0"/>
              <a:t>行，并比较主存的区地址（</a:t>
            </a:r>
            <a:r>
              <a:rPr lang="en-US" altLang="zh-CN" sz="1400" b="1" dirty="0"/>
              <a:t>tag=0010</a:t>
            </a:r>
            <a:r>
              <a:rPr lang="zh-CN" altLang="en-US" sz="1400" b="1" dirty="0"/>
              <a:t>）与该行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的区地址（</a:t>
            </a:r>
            <a:r>
              <a:rPr lang="en-US" altLang="zh-CN" sz="1400" b="1" dirty="0"/>
              <a:t>0010</a:t>
            </a:r>
            <a:r>
              <a:rPr lang="zh-CN" altLang="en-US" sz="1400" b="1" dirty="0"/>
              <a:t>），结果相同，且有效位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的字时，根据其行索引（</a:t>
            </a:r>
            <a:r>
              <a:rPr lang="en-US" altLang="zh-CN" sz="1400" b="1" dirty="0"/>
              <a:t>index=0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行，并比较主存区地址（</a:t>
            </a:r>
            <a:r>
              <a:rPr lang="en-US" altLang="zh-CN" sz="1400" b="1" dirty="0"/>
              <a:t>tag=1000</a:t>
            </a:r>
            <a:r>
              <a:rPr lang="zh-CN" altLang="en-US" sz="1400" b="1" dirty="0"/>
              <a:t>）与该行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的区地址（</a:t>
            </a:r>
            <a:r>
              <a:rPr lang="en-US" altLang="zh-CN" sz="1400" b="1" dirty="0"/>
              <a:t>0001</a:t>
            </a:r>
            <a:r>
              <a:rPr lang="zh-CN" altLang="en-US" sz="1400" b="1" dirty="0"/>
              <a:t>），结果不相同，但有效位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行有数据（</a:t>
            </a:r>
            <a:r>
              <a:rPr lang="zh-CN" altLang="en-US" sz="1400" b="1" dirty="0">
                <a:highlight>
                  <a:srgbClr val="FFFF00"/>
                </a:highlight>
              </a:rPr>
              <a:t>冲突</a:t>
            </a:r>
            <a:r>
              <a:rPr lang="zh-CN" altLang="en-US" sz="1400" b="1" dirty="0"/>
              <a:t>），需要进行</a:t>
            </a:r>
            <a:r>
              <a:rPr lang="zh-CN" altLang="en-US" sz="1400" b="1" dirty="0">
                <a:solidFill>
                  <a:srgbClr val="C00000"/>
                </a:solidFill>
              </a:rPr>
              <a:t>替换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777937"/>
              </p:ext>
            </p:extLst>
          </p:nvPr>
        </p:nvGraphicFramePr>
        <p:xfrm>
          <a:off x="251519" y="3717032"/>
          <a:ext cx="8640961" cy="306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0000 111 11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0001</a:t>
                      </a:r>
                      <a:r>
                        <a:rPr lang="en-US" altLang="zh-CN" sz="1200" b="1" dirty="0"/>
                        <a:t> 000 00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0001 001 00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0010 010 00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0010 101 00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0010 101 01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1000</a:t>
                      </a:r>
                      <a:r>
                        <a:rPr lang="en-US" altLang="zh-CN" sz="1200" b="1" dirty="0"/>
                        <a:t> 000 11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000" b="1" dirty="0"/>
                        <a:t>（</a:t>
                      </a:r>
                      <a:r>
                        <a:rPr lang="en-US" altLang="zh-CN" sz="1000" b="1" dirty="0" err="1"/>
                        <a:t>tag,index,offset</a:t>
                      </a:r>
                      <a:r>
                        <a:rPr lang="zh-CN" altLang="en-US" sz="10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(0,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7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5</a:t>
                      </a:r>
                      <a:r>
                        <a:rPr lang="en-US" altLang="zh-CN" sz="1200" b="1" dirty="0"/>
                        <a:t>, 1)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(8,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5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5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C8095FF-B2D3-47F8-BF21-6C9E8B571004}"/>
              </a:ext>
            </a:extLst>
          </p:cNvPr>
          <p:cNvSpPr txBox="1"/>
          <p:nvPr/>
        </p:nvSpPr>
        <p:spPr>
          <a:xfrm>
            <a:off x="3150096" y="3409255"/>
            <a:ext cx="27900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4.5</a:t>
            </a:r>
            <a:r>
              <a:rPr lang="zh-CN" altLang="en-US" sz="1400" b="1" dirty="0"/>
              <a:t>    直接相联映射的访问过程</a:t>
            </a:r>
            <a:endParaRPr lang="zh-CN" altLang="en-US" sz="1400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15FF58A-1AC6-4806-A190-7178F45CE9AA}"/>
              </a:ext>
            </a:extLst>
          </p:cNvPr>
          <p:cNvCxnSpPr/>
          <p:nvPr/>
        </p:nvCxnSpPr>
        <p:spPr>
          <a:xfrm>
            <a:off x="8172400" y="5229200"/>
            <a:ext cx="72008" cy="57606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B3C900CC-3BB5-48EC-8D22-273C50ED8B46}"/>
              </a:ext>
            </a:extLst>
          </p:cNvPr>
          <p:cNvCxnSpPr>
            <a:cxnSpLocks/>
          </p:cNvCxnSpPr>
          <p:nvPr/>
        </p:nvCxnSpPr>
        <p:spPr>
          <a:xfrm>
            <a:off x="2843808" y="5157192"/>
            <a:ext cx="5328592" cy="7200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39833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3"/>
            <a:ext cx="8229600" cy="3744416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直接相联映射方式的特点：</a:t>
            </a:r>
            <a:endParaRPr lang="en-US" altLang="zh-CN" sz="1600" b="1" dirty="0"/>
          </a:p>
          <a:p>
            <a:pPr eaLnBrk="1" hangingPunct="1"/>
            <a:endParaRPr lang="en-US" altLang="zh-CN" sz="14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由于主存数据块只能映射到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的特定行（块），因此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利用率低、命中率低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行索引（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）相同的所有主存块都将映射到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的同一行，即使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未满，也会发生数据冲突，因此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</a:t>
            </a:r>
            <a:r>
              <a:rPr lang="zh-CN" altLang="en-US" sz="1600" b="1" dirty="0">
                <a:solidFill>
                  <a:srgbClr val="C00000"/>
                </a:solidFill>
              </a:rPr>
              <a:t>冲突率高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查找时只需要根据主存地址的行索引（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）访问对应的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行，并比较主存地址的区地址（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）与该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行的区地址（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），因此只需要一个比较器（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路比较），</a:t>
            </a:r>
            <a:r>
              <a:rPr lang="zh-CN" altLang="en-US" sz="1600" b="1" dirty="0">
                <a:solidFill>
                  <a:srgbClr val="C00000"/>
                </a:solidFill>
              </a:rPr>
              <a:t>硬件成本低</a:t>
            </a:r>
            <a:r>
              <a:rPr lang="zh-CN" altLang="en-US" sz="1600" b="1" dirty="0"/>
              <a:t>，适合于大容量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使用</a:t>
            </a: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600" b="1" dirty="0"/>
              <a:t>无须使用复杂的替换算法，</a:t>
            </a:r>
            <a:r>
              <a:rPr lang="zh-CN" altLang="en-US" sz="1600" b="1" dirty="0">
                <a:solidFill>
                  <a:srgbClr val="C00000"/>
                </a:solidFill>
              </a:rPr>
              <a:t>直接替换</a:t>
            </a:r>
            <a:r>
              <a:rPr lang="zh-CN" altLang="en-US" sz="1600" b="1" dirty="0"/>
              <a:t>冲突的数据块即可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708063-F921-4AD4-850A-9A900FE85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3822900"/>
            <a:ext cx="5300018" cy="273630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96DEC80-49F2-45CF-906B-2C9229240A1B}"/>
              </a:ext>
            </a:extLst>
          </p:cNvPr>
          <p:cNvSpPr txBox="1"/>
          <p:nvPr/>
        </p:nvSpPr>
        <p:spPr>
          <a:xfrm>
            <a:off x="3347864" y="6433590"/>
            <a:ext cx="31049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4.38</a:t>
            </a:r>
            <a:r>
              <a:rPr lang="zh-CN" altLang="en-US" sz="1400" b="1" dirty="0"/>
              <a:t>    直接相联映射的逻辑示意图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6781202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60648"/>
            <a:ext cx="8229600" cy="2304256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</a:t>
            </a:r>
            <a:r>
              <a:rPr lang="zh-CN" altLang="en-US" sz="1600" b="1" dirty="0">
                <a:highlight>
                  <a:srgbClr val="FFFF00"/>
                </a:highlight>
              </a:rPr>
              <a:t>计算机字长</a:t>
            </a:r>
            <a:r>
              <a:rPr lang="en-US" altLang="zh-CN" sz="1600" b="1" dirty="0">
                <a:highlight>
                  <a:srgbClr val="FFFF00"/>
                </a:highlight>
              </a:rPr>
              <a:t>32</a:t>
            </a:r>
            <a:r>
              <a:rPr lang="zh-CN" altLang="en-US" sz="1600" b="1" dirty="0">
                <a:highlight>
                  <a:srgbClr val="FFFF00"/>
                </a:highlight>
              </a:rPr>
              <a:t>位</a:t>
            </a:r>
            <a:r>
              <a:rPr lang="zh-CN" altLang="en-US" sz="1600" b="1" dirty="0"/>
              <a:t>，采用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</a:t>
            </a:r>
            <a:r>
              <a:rPr lang="zh-CN" altLang="en-US" sz="1600" b="1" dirty="0">
                <a:highlight>
                  <a:srgbClr val="FFFF00"/>
                </a:highlight>
              </a:rPr>
              <a:t>按字节编址</a:t>
            </a:r>
            <a:r>
              <a:rPr lang="zh-CN" altLang="en-US" sz="1600" b="1" dirty="0"/>
              <a:t>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</a:t>
            </a:r>
            <a:r>
              <a:rPr lang="zh-CN" altLang="en-US" sz="1600" b="1" dirty="0">
                <a:highlight>
                  <a:srgbClr val="FFFF00"/>
                </a:highlight>
              </a:rPr>
              <a:t>字</a:t>
            </a:r>
            <a:r>
              <a:rPr lang="zh-CN" altLang="en-US" sz="1600" b="1" dirty="0"/>
              <a:t>。</a:t>
            </a:r>
            <a:endParaRPr lang="en-US" altLang="zh-CN" sz="1600" b="1" dirty="0"/>
          </a:p>
          <a:p>
            <a:pPr eaLnBrk="1" hangingPunct="1"/>
            <a:endParaRPr lang="zh-CN" altLang="en-US" sz="1600" b="1" dirty="0"/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①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直接相联映射方式：主存地址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区地址（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行索引（</a:t>
            </a:r>
            <a:r>
              <a:rPr lang="en-US" altLang="zh-CN" sz="1400" b="1" dirty="0"/>
              <a:t>index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offset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块地址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offset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主存容量</a:t>
            </a:r>
            <a:r>
              <a:rPr lang="en-US" altLang="zh-CN" sz="1400" b="1" dirty="0"/>
              <a:t>=4MB</a:t>
            </a:r>
            <a:r>
              <a:rPr lang="zh-CN" altLang="en-US" sz="1400" b="1" dirty="0"/>
              <a:t>，因此主存地址</a:t>
            </a:r>
            <a:r>
              <a:rPr lang="en-US" altLang="zh-CN" sz="1400" b="1" dirty="0"/>
              <a:t>=22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22</a:t>
            </a:r>
            <a:r>
              <a:rPr lang="en-US" altLang="zh-CN" sz="1400" b="1" dirty="0"/>
              <a:t>=4M</a:t>
            </a:r>
            <a:r>
              <a:rPr lang="zh-CN" altLang="en-US" sz="1400" b="1" dirty="0"/>
              <a:t>）；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的数据块副本缓冲区容量</a:t>
            </a:r>
            <a:r>
              <a:rPr lang="en-US" altLang="zh-CN" sz="1400" b="1" dirty="0"/>
              <a:t>=4KB</a:t>
            </a:r>
            <a:r>
              <a:rPr lang="zh-CN" altLang="en-US" sz="1400" b="1" dirty="0"/>
              <a:t>，因此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地址</a:t>
            </a:r>
            <a:r>
              <a:rPr lang="en-US" altLang="zh-CN" sz="1400" b="1" dirty="0"/>
              <a:t>=12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=4K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块长度为</a:t>
            </a:r>
            <a:r>
              <a:rPr lang="en-US" altLang="zh-CN" sz="1400" b="1" dirty="0">
                <a:highlight>
                  <a:srgbClr val="FFFF00"/>
                </a:highlight>
              </a:rPr>
              <a:t>8</a:t>
            </a:r>
            <a:r>
              <a:rPr lang="zh-CN" altLang="en-US" sz="1400" b="1" dirty="0">
                <a:highlight>
                  <a:srgbClr val="FFFF00"/>
                </a:highlight>
              </a:rPr>
              <a:t>个字</a:t>
            </a:r>
            <a:r>
              <a:rPr lang="en-US" altLang="zh-CN" sz="1400" b="1" dirty="0"/>
              <a:t>=8x32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=32B</a:t>
            </a:r>
            <a:r>
              <a:rPr lang="zh-CN" altLang="en-US" sz="1400" b="1" dirty="0"/>
              <a:t>（字长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位），因此</a:t>
            </a:r>
            <a:r>
              <a:rPr lang="en-US" altLang="zh-CN" sz="1400" b="1" dirty="0"/>
              <a:t>offset=5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5</a:t>
            </a:r>
            <a:r>
              <a:rPr lang="en-US" altLang="zh-CN" sz="1400" b="1" dirty="0"/>
              <a:t>=32</a:t>
            </a:r>
            <a:r>
              <a:rPr lang="zh-CN" altLang="en-US" sz="1400" b="1" dirty="0"/>
              <a:t>），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块地址</a:t>
            </a:r>
            <a:r>
              <a:rPr lang="en-US" altLang="zh-CN" sz="1400" b="1" dirty="0"/>
              <a:t>=12-5=7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的块地址与主存的行索引相等，因此：</a:t>
            </a:r>
            <a:r>
              <a:rPr lang="en-US" altLang="zh-CN" sz="1400" b="1" dirty="0"/>
              <a:t>index=7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主存的区地址</a:t>
            </a:r>
            <a:r>
              <a:rPr lang="en-US" altLang="zh-CN" sz="1400" b="1" dirty="0"/>
              <a:t>=22-7-5=10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主存地址（</a:t>
            </a:r>
            <a:r>
              <a:rPr lang="en-US" altLang="zh-CN" sz="1400" b="1" dirty="0">
                <a:solidFill>
                  <a:srgbClr val="C00000"/>
                </a:solidFill>
              </a:rPr>
              <a:t>22</a:t>
            </a:r>
            <a:r>
              <a:rPr lang="zh-CN" altLang="en-US" sz="1400" b="1" dirty="0">
                <a:solidFill>
                  <a:srgbClr val="C00000"/>
                </a:solidFill>
              </a:rPr>
              <a:t>位） </a:t>
            </a:r>
            <a:r>
              <a:rPr lang="en-US" altLang="zh-CN" sz="1400" b="1" dirty="0">
                <a:solidFill>
                  <a:srgbClr val="C00000"/>
                </a:solidFill>
              </a:rPr>
              <a:t>= </a:t>
            </a:r>
            <a:r>
              <a:rPr lang="zh-CN" altLang="en-US" sz="1400" b="1" dirty="0">
                <a:solidFill>
                  <a:srgbClr val="C00000"/>
                </a:solidFill>
              </a:rPr>
              <a:t>区地址（</a:t>
            </a:r>
            <a:r>
              <a:rPr lang="en-US" altLang="zh-CN" sz="1400" b="1" dirty="0">
                <a:solidFill>
                  <a:srgbClr val="C00000"/>
                </a:solidFill>
              </a:rPr>
              <a:t>10</a:t>
            </a:r>
            <a:r>
              <a:rPr lang="zh-CN" altLang="en-US" sz="1400" b="1" dirty="0">
                <a:solidFill>
                  <a:srgbClr val="C00000"/>
                </a:solidFill>
              </a:rPr>
              <a:t>位） </a:t>
            </a:r>
            <a:r>
              <a:rPr lang="en-US" altLang="zh-CN" sz="1400" b="1" dirty="0">
                <a:solidFill>
                  <a:srgbClr val="C00000"/>
                </a:solidFill>
              </a:rPr>
              <a:t>+ </a:t>
            </a:r>
            <a:r>
              <a:rPr lang="zh-CN" altLang="en-US" sz="1400" b="1" dirty="0">
                <a:solidFill>
                  <a:srgbClr val="C00000"/>
                </a:solidFill>
              </a:rPr>
              <a:t>行索引（</a:t>
            </a:r>
            <a:r>
              <a:rPr lang="en-US" altLang="zh-CN" sz="1400" b="1" dirty="0">
                <a:solidFill>
                  <a:srgbClr val="C00000"/>
                </a:solidFill>
              </a:rPr>
              <a:t>7</a:t>
            </a:r>
            <a:r>
              <a:rPr lang="zh-CN" altLang="en-US" sz="1400" b="1" dirty="0">
                <a:solidFill>
                  <a:srgbClr val="C00000"/>
                </a:solidFill>
              </a:rPr>
              <a:t>位） </a:t>
            </a:r>
            <a:r>
              <a:rPr lang="en-US" altLang="zh-CN" sz="1400" b="1" dirty="0">
                <a:solidFill>
                  <a:srgbClr val="C00000"/>
                </a:solidFill>
              </a:rPr>
              <a:t>+ </a:t>
            </a:r>
            <a:r>
              <a:rPr lang="zh-CN" altLang="en-US" sz="1400" b="1" dirty="0">
                <a:solidFill>
                  <a:srgbClr val="C00000"/>
                </a:solidFill>
              </a:rPr>
              <a:t>块内偏移（</a:t>
            </a:r>
            <a:r>
              <a:rPr lang="en-US" altLang="zh-CN" sz="1400" b="1" dirty="0">
                <a:solidFill>
                  <a:srgbClr val="C00000"/>
                </a:solidFill>
              </a:rPr>
              <a:t>5</a:t>
            </a:r>
            <a:r>
              <a:rPr lang="zh-CN" altLang="en-US" sz="1400" b="1" dirty="0">
                <a:solidFill>
                  <a:srgbClr val="C00000"/>
                </a:solidFill>
              </a:rPr>
              <a:t>位）</a:t>
            </a:r>
            <a:endParaRPr lang="en-US" altLang="zh-CN" sz="10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BF526CC9-D60C-470F-8B5B-EB88D30C3987}"/>
              </a:ext>
            </a:extLst>
          </p:cNvPr>
          <p:cNvSpPr/>
          <p:nvPr/>
        </p:nvSpPr>
        <p:spPr>
          <a:xfrm>
            <a:off x="4807684" y="5489894"/>
            <a:ext cx="1584176" cy="504056"/>
          </a:xfrm>
          <a:prstGeom prst="wedgeRoundRectCallout">
            <a:avLst>
              <a:gd name="adj1" fmla="val -4748"/>
              <a:gd name="adj2" fmla="val 9068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4KB/(8*4B)=2^7</a:t>
            </a:r>
            <a:endParaRPr lang="zh-CN" altLang="en-US" sz="1400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DB567152-246E-4D95-8B75-CBDF4393BB39}"/>
              </a:ext>
            </a:extLst>
          </p:cNvPr>
          <p:cNvSpPr/>
          <p:nvPr/>
        </p:nvSpPr>
        <p:spPr>
          <a:xfrm>
            <a:off x="6660232" y="5334154"/>
            <a:ext cx="2098576" cy="815535"/>
          </a:xfrm>
          <a:prstGeom prst="wedgeRoundRectCallout">
            <a:avLst>
              <a:gd name="adj1" fmla="val -36815"/>
              <a:gd name="adj2" fmla="val 730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/>
              <a:t>按字节寻址，</a:t>
            </a:r>
            <a:r>
              <a:rPr lang="en-US" altLang="zh-CN" sz="1600" dirty="0"/>
              <a:t>8</a:t>
            </a:r>
            <a:r>
              <a:rPr lang="zh-CN" altLang="en-US" sz="1600" dirty="0"/>
              <a:t>个字相当于</a:t>
            </a:r>
            <a:r>
              <a:rPr lang="en-US" altLang="zh-CN" sz="1600" dirty="0"/>
              <a:t>32</a:t>
            </a:r>
            <a:r>
              <a:rPr lang="zh-CN" altLang="en-US" sz="1600" dirty="0"/>
              <a:t>个字节，所以</a:t>
            </a:r>
            <a:r>
              <a:rPr lang="en-US" altLang="zh-CN" sz="1600" dirty="0"/>
              <a:t>32=2^5</a:t>
            </a:r>
            <a:endParaRPr lang="zh-CN" altLang="en-US" sz="1600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DBDE0441-C649-4196-8EB3-AC3059C4FB9C}"/>
              </a:ext>
            </a:extLst>
          </p:cNvPr>
          <p:cNvSpPr/>
          <p:nvPr/>
        </p:nvSpPr>
        <p:spPr>
          <a:xfrm>
            <a:off x="2696432" y="5489894"/>
            <a:ext cx="1872208" cy="504056"/>
          </a:xfrm>
          <a:prstGeom prst="wedgeRoundRectCallout">
            <a:avLst>
              <a:gd name="adj1" fmla="val 30255"/>
              <a:gd name="adj2" fmla="val 1065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4MB/4KB=1024=2^10</a:t>
            </a:r>
            <a:endParaRPr lang="zh-CN" altLang="en-US" sz="1400" dirty="0"/>
          </a:p>
        </p:txBody>
      </p: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561A5815-907B-41BA-ACCD-D6EF6A86DB1C}"/>
              </a:ext>
            </a:extLst>
          </p:cNvPr>
          <p:cNvSpPr/>
          <p:nvPr/>
        </p:nvSpPr>
        <p:spPr>
          <a:xfrm>
            <a:off x="6660232" y="3861048"/>
            <a:ext cx="1584176" cy="360040"/>
          </a:xfrm>
          <a:prstGeom prst="wedgeRoundRectCallout">
            <a:avLst>
              <a:gd name="adj1" fmla="val -44155"/>
              <a:gd name="adj2" fmla="val 907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内存按字节编址</a:t>
            </a:r>
          </a:p>
        </p:txBody>
      </p:sp>
    </p:spTree>
    <p:extLst>
      <p:ext uri="{BB962C8B-B14F-4D97-AF65-F5344CB8AC3E}">
        <p14:creationId xmlns:p14="http://schemas.microsoft.com/office/powerpoint/2010/main" val="382319333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6408712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某计算机字长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位，采用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，按字节编址；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/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cache</a:t>
            </a:r>
            <a:r>
              <a:rPr lang="zh-CN" altLang="en-US" sz="1400" b="1" dirty="0"/>
              <a:t>的每块有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个字（单元）；一开始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是空的，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0</a:t>
            </a:r>
            <a:r>
              <a:rPr lang="zh-CN" altLang="en-US" sz="1400" b="1" dirty="0"/>
              <a:t>号单元将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，并主存的将</a:t>
            </a:r>
            <a:r>
              <a:rPr lang="en-US" altLang="zh-CN" sz="1400" b="1" dirty="0"/>
              <a:t>0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号单元装入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中，因此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号单元将命中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之后，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15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17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23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25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31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32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33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39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40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41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47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49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55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56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57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63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64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65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71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72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73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79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80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81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87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88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89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95</a:t>
            </a:r>
            <a:r>
              <a:rPr lang="zh-CN" altLang="en-US" sz="1400" b="1" dirty="0"/>
              <a:t>号单元命中；</a:t>
            </a:r>
            <a:r>
              <a:rPr lang="en-US" altLang="zh-CN" sz="1400" b="1" dirty="0"/>
              <a:t> CPU</a:t>
            </a:r>
            <a:r>
              <a:rPr lang="zh-CN" altLang="en-US" sz="1400" b="1" dirty="0"/>
              <a:t>访问</a:t>
            </a:r>
            <a:r>
              <a:rPr lang="en-US" altLang="zh-CN" sz="1400" b="1" dirty="0"/>
              <a:t>96</a:t>
            </a:r>
            <a:r>
              <a:rPr lang="zh-CN" altLang="en-US" sz="1400" b="1" dirty="0"/>
              <a:t>号单元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r>
              <a:rPr lang="zh-CN" altLang="en-US" sz="1400" b="1" dirty="0"/>
              <a:t>，访问</a:t>
            </a:r>
            <a:r>
              <a:rPr lang="en-US" altLang="zh-CN" sz="1400" b="1" dirty="0"/>
              <a:t>97</a:t>
            </a:r>
            <a:r>
              <a:rPr lang="zh-CN" altLang="en-US" sz="1400" b="1" dirty="0">
                <a:ea typeface="等线" panose="02010600030101010101" pitchFamily="2" charset="-122"/>
              </a:rPr>
              <a:t>～</a:t>
            </a:r>
            <a:r>
              <a:rPr lang="en-US" altLang="zh-CN" sz="1400" b="1" dirty="0">
                <a:ea typeface="等线" panose="02010600030101010101" pitchFamily="2" charset="-122"/>
              </a:rPr>
              <a:t>99</a:t>
            </a:r>
            <a:r>
              <a:rPr lang="zh-CN" altLang="en-US" sz="1400" b="1" dirty="0"/>
              <a:t>号单元命中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接下去，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重复访问</a:t>
            </a:r>
            <a:r>
              <a:rPr lang="en-US" altLang="zh-CN" sz="1400" b="1" dirty="0"/>
              <a:t>9</a:t>
            </a:r>
            <a:r>
              <a:rPr lang="zh-CN" altLang="en-US" sz="1400" b="1" dirty="0"/>
              <a:t>次时，全部命中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en-US" altLang="zh-CN" sz="1400" b="1" dirty="0"/>
              <a:t>1000</a:t>
            </a:r>
            <a:r>
              <a:rPr lang="zh-CN" altLang="en-US" sz="1400" b="1" dirty="0"/>
              <a:t>次访问，有</a:t>
            </a:r>
            <a:r>
              <a:rPr lang="en-US" altLang="zh-CN" sz="1400" b="1" dirty="0"/>
              <a:t>13</a:t>
            </a:r>
            <a:r>
              <a:rPr lang="zh-CN" altLang="en-US" sz="1400" b="1" dirty="0"/>
              <a:t>次不命中，其余</a:t>
            </a:r>
            <a:r>
              <a:rPr lang="en-US" altLang="zh-CN" sz="1400" b="1" dirty="0"/>
              <a:t>987</a:t>
            </a:r>
            <a:r>
              <a:rPr lang="zh-CN" altLang="en-US" sz="1400" b="1" dirty="0"/>
              <a:t>次都命中，命中率</a:t>
            </a:r>
            <a:r>
              <a:rPr lang="en-US" altLang="zh-CN" sz="1400" b="1" dirty="0"/>
              <a:t>=987/1000=98.7%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11843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BAEBBC90-322A-4536-887A-B2C6C6FFA2B4}"/>
              </a:ext>
            </a:extLst>
          </p:cNvPr>
          <p:cNvGrpSpPr/>
          <p:nvPr/>
        </p:nvGrpSpPr>
        <p:grpSpPr>
          <a:xfrm>
            <a:off x="1115616" y="764704"/>
            <a:ext cx="6659457" cy="5800441"/>
            <a:chOff x="991673" y="548680"/>
            <a:chExt cx="6659457" cy="5800441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F1478F7C-CE51-4872-801A-3A72047622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908720"/>
              <a:ext cx="5996737" cy="5184576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1C305549-57E8-46B5-AE25-6871ECA5AE04}"/>
                </a:ext>
              </a:extLst>
            </p:cNvPr>
            <p:cNvSpPr txBox="1"/>
            <p:nvPr/>
          </p:nvSpPr>
          <p:spPr>
            <a:xfrm>
              <a:off x="991673" y="980728"/>
              <a:ext cx="916031" cy="53683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8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9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10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11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…</a:t>
              </a:r>
            </a:p>
            <a:p>
              <a:pPr>
                <a:lnSpc>
                  <a:spcPts val="2300"/>
                </a:lnSpc>
              </a:pP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127</a:t>
              </a:r>
              <a:r>
                <a:rPr lang="zh-CN" altLang="en-US" sz="1200" b="1" dirty="0">
                  <a:solidFill>
                    <a:srgbClr val="0070C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行</a:t>
              </a:r>
              <a:endParaRPr lang="en-US" altLang="zh-CN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ts val="2300"/>
                </a:lnSpc>
              </a:pPr>
              <a:endParaRPr lang="zh-CN" altLang="en-US" sz="12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79209ED3-27D1-4D90-930E-F7F0FA60700A}"/>
                </a:ext>
              </a:extLst>
            </p:cNvPr>
            <p:cNvSpPr txBox="1"/>
            <p:nvPr/>
          </p:nvSpPr>
          <p:spPr>
            <a:xfrm>
              <a:off x="1798409" y="548680"/>
              <a:ext cx="585272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3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4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5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6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    第</a:t>
              </a:r>
              <a:r>
                <a:rPr lang="en-US" altLang="zh-CN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7</a:t>
              </a:r>
              <a:r>
                <a:rPr lang="zh-CN" altLang="en-US" sz="1200" b="1" dirty="0">
                  <a:solidFill>
                    <a:srgbClr val="7030A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字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A80A330-7570-4813-ADFF-FEE5C1680ED9}"/>
              </a:ext>
            </a:extLst>
          </p:cNvPr>
          <p:cNvSpPr txBox="1"/>
          <p:nvPr/>
        </p:nvSpPr>
        <p:spPr>
          <a:xfrm>
            <a:off x="3324128" y="345409"/>
            <a:ext cx="25878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cache</a:t>
            </a:r>
            <a:r>
              <a:rPr lang="zh-CN" altLang="en-US" b="1" dirty="0"/>
              <a:t>数据块副本缓冲区</a:t>
            </a:r>
          </a:p>
        </p:txBody>
      </p:sp>
    </p:spTree>
    <p:extLst>
      <p:ext uri="{BB962C8B-B14F-4D97-AF65-F5344CB8AC3E}">
        <p14:creationId xmlns:p14="http://schemas.microsoft.com/office/powerpoint/2010/main" val="123651997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229600" cy="6669359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4.3    </a:t>
            </a:r>
            <a:r>
              <a:rPr lang="zh-CN" altLang="en-US" sz="1600" b="1" dirty="0"/>
              <a:t>某计算机字长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位，采用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方式；主存容量</a:t>
            </a:r>
            <a:r>
              <a:rPr lang="en-US" altLang="zh-CN" sz="1600" b="1" dirty="0"/>
              <a:t>4MB</a:t>
            </a:r>
            <a:r>
              <a:rPr lang="zh-CN" altLang="en-US" sz="1600" b="1" dirty="0"/>
              <a:t>，按字节编址；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的数据块副本缓冲区容量为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块长度为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个字。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画出直接映射方式下主存地址划分情况，并说明每个字段位数。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初始状态为空，若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顺序访问</a:t>
            </a:r>
            <a:r>
              <a:rPr lang="en-US" altLang="zh-CN" sz="1400" b="1" dirty="0"/>
              <a:t>0-99</a:t>
            </a:r>
            <a:r>
              <a:rPr lang="zh-CN" altLang="en-US" sz="1400" b="1" dirty="0"/>
              <a:t>号单元（字），从中读出</a:t>
            </a:r>
            <a:r>
              <a:rPr lang="en-US" altLang="zh-CN" sz="1400" b="1" dirty="0"/>
              <a:t>100</a:t>
            </a:r>
            <a:r>
              <a:rPr lang="zh-CN" altLang="en-US" sz="1400" b="1" dirty="0"/>
              <a:t>个字（假设主存一次读一个字），并重复此顺序</a:t>
            </a:r>
            <a:r>
              <a:rPr lang="en-US" altLang="zh-CN" sz="1400" b="1" dirty="0"/>
              <a:t>10</a:t>
            </a:r>
            <a:r>
              <a:rPr lang="zh-CN" altLang="en-US" sz="1400" b="1" dirty="0"/>
              <a:t>次，请计算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的命中率。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的存取时间是</a:t>
            </a:r>
            <a:r>
              <a:rPr lang="en-US" altLang="zh-CN" sz="1400" b="1" dirty="0"/>
              <a:t>20ns</a:t>
            </a:r>
            <a:r>
              <a:rPr lang="zh-CN" altLang="en-US" sz="1400" b="1" dirty="0"/>
              <a:t>，主存的访问时间是</a:t>
            </a:r>
            <a:r>
              <a:rPr lang="en-US" altLang="zh-CN" sz="1400" b="1" dirty="0"/>
              <a:t>200ns</a:t>
            </a:r>
            <a:r>
              <a:rPr lang="zh-CN" altLang="en-US" sz="1400" b="1" dirty="0"/>
              <a:t>，请问平均访问时间是多少？</a:t>
            </a:r>
          </a:p>
          <a:p>
            <a:pPr marL="800100" lvl="1" indent="-342900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cache-</a:t>
            </a:r>
            <a:r>
              <a:rPr lang="zh-CN" altLang="en-US" sz="1400" b="1" dirty="0"/>
              <a:t>主存系统访问效率是多少？</a:t>
            </a:r>
            <a:endParaRPr lang="en-US" altLang="zh-CN" sz="1200" b="1" dirty="0"/>
          </a:p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解（续）：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平均访问时间：</a:t>
            </a:r>
            <a:r>
              <a:rPr lang="en-US" altLang="zh-CN" sz="1600" b="1" dirty="0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a</a:t>
            </a:r>
            <a:r>
              <a:rPr lang="en-US" altLang="zh-CN" sz="1600" b="1" dirty="0">
                <a:solidFill>
                  <a:srgbClr val="C00000"/>
                </a:solidFill>
              </a:rPr>
              <a:t>=</a:t>
            </a:r>
            <a:r>
              <a:rPr lang="en-US" altLang="zh-CN" sz="1600" b="1" dirty="0" err="1">
                <a:solidFill>
                  <a:srgbClr val="C00000"/>
                </a:solidFill>
              </a:rPr>
              <a:t>ht</a:t>
            </a:r>
            <a:r>
              <a:rPr lang="en-US" altLang="zh-CN" sz="1600" b="1" baseline="-25000" dirty="0" err="1">
                <a:solidFill>
                  <a:srgbClr val="C00000"/>
                </a:solidFill>
              </a:rPr>
              <a:t>c</a:t>
            </a:r>
            <a:r>
              <a:rPr lang="en-US" altLang="zh-CN" sz="1600" b="1" dirty="0">
                <a:solidFill>
                  <a:srgbClr val="C00000"/>
                </a:solidFill>
              </a:rPr>
              <a:t>+(1-h)t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m</a:t>
            </a:r>
          </a:p>
          <a:p>
            <a:pPr lvl="2">
              <a:lnSpc>
                <a:spcPct val="150000"/>
              </a:lnSpc>
            </a:pPr>
            <a:endParaRPr lang="en-US" altLang="zh-CN" sz="16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其中，</a:t>
            </a:r>
            <a:r>
              <a:rPr lang="en-US" altLang="zh-CN" sz="1600" b="1" dirty="0" err="1"/>
              <a:t>t</a:t>
            </a:r>
            <a:r>
              <a:rPr lang="en-US" altLang="zh-CN" sz="1600" b="1" baseline="-25000" dirty="0" err="1"/>
              <a:t>c</a:t>
            </a:r>
            <a:r>
              <a:rPr lang="en-US" altLang="zh-CN" sz="1600" b="1" dirty="0"/>
              <a:t>=20ns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t</a:t>
            </a:r>
            <a:r>
              <a:rPr lang="en-US" altLang="zh-CN" sz="1600" b="1" baseline="-25000" dirty="0"/>
              <a:t>m</a:t>
            </a:r>
            <a:r>
              <a:rPr lang="en-US" altLang="zh-CN" sz="1600" b="1" dirty="0"/>
              <a:t>=200ns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h=0.987</a:t>
            </a:r>
          </a:p>
          <a:p>
            <a:pPr lvl="2">
              <a:lnSpc>
                <a:spcPct val="150000"/>
              </a:lnSpc>
            </a:pPr>
            <a:endParaRPr lang="en-US" altLang="zh-CN" sz="16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因此，</a:t>
            </a:r>
            <a:r>
              <a:rPr lang="en-US" altLang="zh-CN" sz="1600" b="1" dirty="0"/>
              <a:t> t</a:t>
            </a:r>
            <a:r>
              <a:rPr lang="en-US" altLang="zh-CN" sz="1600" b="1" baseline="-25000" dirty="0"/>
              <a:t>a</a:t>
            </a:r>
            <a:r>
              <a:rPr lang="en-US" altLang="zh-CN" sz="1600" b="1" dirty="0"/>
              <a:t>=0.987x20ns + (1-0.987)x200ns = 22.34ns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④</a:t>
            </a:r>
            <a:endParaRPr lang="en-US" altLang="zh-CN" sz="1400" b="1" dirty="0"/>
          </a:p>
          <a:p>
            <a:pPr lvl="2">
              <a:lnSpc>
                <a:spcPct val="150000"/>
              </a:lnSpc>
            </a:pPr>
            <a:r>
              <a:rPr lang="zh-CN" altLang="en-US" sz="1600" b="1" dirty="0"/>
              <a:t>访问效率：</a:t>
            </a:r>
            <a:r>
              <a:rPr lang="en-US" altLang="zh-CN" sz="1600" b="1" dirty="0">
                <a:solidFill>
                  <a:srgbClr val="C00000"/>
                </a:solidFill>
              </a:rPr>
              <a:t>e = </a:t>
            </a:r>
            <a:r>
              <a:rPr lang="en-US" altLang="zh-CN" sz="1600" b="1" dirty="0" err="1">
                <a:solidFill>
                  <a:srgbClr val="C00000"/>
                </a:solidFill>
              </a:rPr>
              <a:t>t</a:t>
            </a:r>
            <a:r>
              <a:rPr lang="en-US" altLang="zh-CN" sz="1600" b="1" baseline="-25000" dirty="0" err="1">
                <a:solidFill>
                  <a:srgbClr val="C00000"/>
                </a:solidFill>
              </a:rPr>
              <a:t>c</a:t>
            </a:r>
            <a:r>
              <a:rPr lang="en-US" altLang="zh-CN" sz="1600" b="1" dirty="0">
                <a:solidFill>
                  <a:srgbClr val="C00000"/>
                </a:solidFill>
              </a:rPr>
              <a:t>/t</a:t>
            </a:r>
            <a:r>
              <a:rPr lang="en-US" altLang="zh-CN" sz="1600" b="1" baseline="-25000" dirty="0">
                <a:solidFill>
                  <a:srgbClr val="C00000"/>
                </a:solidFill>
              </a:rPr>
              <a:t>a</a:t>
            </a:r>
            <a:r>
              <a:rPr lang="en-US" altLang="zh-CN" sz="1600" b="1" dirty="0"/>
              <a:t>= 20ns/22.34ns = 89.5%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38847114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229600" cy="216024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400" b="1" dirty="0"/>
              <a:t>例</a:t>
            </a:r>
            <a:r>
              <a:rPr lang="en-US" altLang="zh-CN" sz="1400" b="1" dirty="0"/>
              <a:t>4.4    </a:t>
            </a:r>
            <a:r>
              <a:rPr lang="zh-CN" altLang="en-US" sz="1400" b="1" dirty="0"/>
              <a:t>主存地址空间大小为</a:t>
            </a:r>
            <a:r>
              <a:rPr lang="en-US" altLang="zh-CN" sz="1400" b="1" dirty="0"/>
              <a:t>256MB</a:t>
            </a:r>
            <a:r>
              <a:rPr lang="zh-CN" altLang="en-US" sz="1400" b="1" dirty="0"/>
              <a:t>，按字节编址。指令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和数据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分离，均有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行，每个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行的数据块大小均为</a:t>
            </a:r>
            <a:r>
              <a:rPr lang="en-US" altLang="zh-CN" sz="1400" b="1" dirty="0">
                <a:highlight>
                  <a:srgbClr val="FFFF00"/>
                </a:highlight>
              </a:rPr>
              <a:t>64B</a:t>
            </a:r>
            <a:r>
              <a:rPr lang="zh-CN" altLang="en-US" sz="1400" b="1" dirty="0"/>
              <a:t>。数据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</a:t>
            </a:r>
            <a:r>
              <a:rPr lang="zh-CN" altLang="en-US" sz="1400" b="1" dirty="0">
                <a:highlight>
                  <a:srgbClr val="FFFF00"/>
                </a:highlight>
              </a:rPr>
              <a:t>直接相联</a:t>
            </a:r>
            <a:r>
              <a:rPr lang="zh-CN" altLang="en-US" sz="1400" b="1" dirty="0"/>
              <a:t>映射方式。现有两个功能相同的程序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，其伪代码如下所示。假定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型数据为</a:t>
            </a:r>
            <a:r>
              <a:rPr lang="en-US" altLang="zh-CN" sz="1400" b="1" dirty="0">
                <a:highlight>
                  <a:srgbClr val="FFFF00"/>
                </a:highlight>
              </a:rPr>
              <a:t>32</a:t>
            </a:r>
            <a:r>
              <a:rPr lang="zh-CN" altLang="en-US" sz="1400" b="1" dirty="0">
                <a:highlight>
                  <a:srgbClr val="FFFF00"/>
                </a:highlight>
              </a:rPr>
              <a:t>位补码</a:t>
            </a:r>
            <a:r>
              <a:rPr lang="zh-CN" altLang="en-US" sz="1400" b="1" dirty="0"/>
              <a:t>，程序编译时</a:t>
            </a:r>
            <a:r>
              <a:rPr lang="en-US" altLang="zh-CN" sz="1400" b="1" dirty="0" err="1"/>
              <a:t>i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j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sum</a:t>
            </a:r>
            <a:r>
              <a:rPr lang="zh-CN" altLang="en-US" sz="1400" b="1" dirty="0"/>
              <a:t>均分配在寄存器中，数组</a:t>
            </a:r>
            <a:r>
              <a:rPr lang="en-US" altLang="zh-CN" sz="1400" b="1" dirty="0"/>
              <a:t>a[][]</a:t>
            </a:r>
            <a:r>
              <a:rPr lang="zh-CN" altLang="en-US" sz="1400" b="1" dirty="0">
                <a:highlight>
                  <a:srgbClr val="FFFF00"/>
                </a:highlight>
              </a:rPr>
              <a:t>按行优先方式存放</a:t>
            </a:r>
            <a:r>
              <a:rPr lang="zh-CN" altLang="en-US" sz="1400" b="1" dirty="0"/>
              <a:t>，首地址为</a:t>
            </a:r>
            <a:r>
              <a:rPr lang="en-US" altLang="zh-CN" sz="1400" b="1" dirty="0"/>
              <a:t>320</a:t>
            </a:r>
            <a:r>
              <a:rPr lang="zh-CN" altLang="en-US" sz="14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若不考虑用于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一致性维护和替换算法的控制位，则数据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的总容量是多少？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数组元素</a:t>
            </a:r>
            <a:r>
              <a:rPr lang="en-US" altLang="zh-CN" sz="1400" b="1" dirty="0"/>
              <a:t>a[0][31]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a[1][1]</a:t>
            </a:r>
            <a:r>
              <a:rPr lang="zh-CN" altLang="en-US" sz="1400" b="1" dirty="0"/>
              <a:t>所在主存块对应的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行（块）分别是多少？假设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行（块）号从零开始。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和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的数据访问命中率各是多少？那个程序的执行时间更短</a:t>
            </a:r>
            <a:r>
              <a:rPr lang="en-US" altLang="zh-CN" sz="1400" b="1" dirty="0"/>
              <a:t>?</a:t>
            </a:r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44F3AD07-E279-4BE3-A1D3-9AD0BD1E9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3140968"/>
            <a:ext cx="3885231" cy="3394486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0">
            <a:no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400" b="1" dirty="0">
                <a:latin typeface="Courier New" pitchFamily="49" charset="0"/>
              </a:rPr>
              <a:t>程序</a:t>
            </a:r>
            <a:r>
              <a:rPr lang="en-US" altLang="zh-CN" sz="1400" b="1" dirty="0">
                <a:latin typeface="Courier New" pitchFamily="49" charset="0"/>
              </a:rPr>
              <a:t>A</a:t>
            </a:r>
            <a:r>
              <a:rPr lang="zh-CN" altLang="en-US" sz="1400" b="1" dirty="0">
                <a:latin typeface="Courier New" pitchFamily="49" charset="0"/>
              </a:rPr>
              <a:t>：</a:t>
            </a:r>
            <a:endParaRPr lang="en-US" sz="1400" b="1" dirty="0">
              <a:latin typeface="Courier New" pitchFamily="49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</a:rPr>
              <a:t>int a[256][256]</a:t>
            </a:r>
            <a:r>
              <a:rPr lang="en-US" altLang="zh-CN" sz="1400" b="1" dirty="0">
                <a:latin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int sum_array1()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{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  int </a:t>
            </a:r>
            <a:r>
              <a:rPr lang="en-US" altLang="zh-CN" sz="1400" b="1" dirty="0" err="1">
                <a:latin typeface="Courier New" pitchFamily="49" charset="0"/>
                <a:ea typeface="宋体" pitchFamily="2" charset="-122"/>
              </a:rPr>
              <a:t>i,j,sum</a:t>
            </a: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=0;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for (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 = 0; </a:t>
            </a:r>
            <a:r>
              <a:rPr lang="en-US" sz="1400" b="1" dirty="0" err="1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 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&lt; 256;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	for (j = 0; </a:t>
            </a:r>
            <a:r>
              <a:rPr lang="en-US" sz="1400" b="1" dirty="0">
                <a:solidFill>
                  <a:srgbClr val="C00000"/>
                </a:solidFill>
                <a:latin typeface="Courier New" pitchFamily="49" charset="0"/>
                <a:ea typeface="宋体" pitchFamily="2" charset="-122"/>
              </a:rPr>
              <a:t>j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&lt; 256; j++)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	  sum += a[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][j];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return sum;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}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035B66C-92C6-4139-B3D4-24D1531468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040" y="3110235"/>
            <a:ext cx="3885231" cy="3425219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 anchorCtr="0">
            <a:no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lang="zh-CN" altLang="en-US" sz="1400" b="1" dirty="0">
                <a:latin typeface="Courier New" pitchFamily="49" charset="0"/>
              </a:rPr>
              <a:t>程序</a:t>
            </a:r>
            <a:r>
              <a:rPr lang="en-US" altLang="zh-CN" sz="1400" b="1" dirty="0">
                <a:latin typeface="Courier New" pitchFamily="49" charset="0"/>
              </a:rPr>
              <a:t>B</a:t>
            </a:r>
            <a:r>
              <a:rPr lang="zh-CN" altLang="en-US" sz="1400" b="1" dirty="0">
                <a:latin typeface="Courier New" pitchFamily="49" charset="0"/>
              </a:rPr>
              <a:t>：</a:t>
            </a:r>
            <a:endParaRPr lang="en-US" sz="1400" b="1" dirty="0">
              <a:latin typeface="Courier New" pitchFamily="49" charset="0"/>
            </a:endParaRP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</a:rPr>
              <a:t>int a[256][256]</a:t>
            </a:r>
            <a:r>
              <a:rPr lang="en-US" altLang="zh-CN" sz="1400" b="1" dirty="0">
                <a:latin typeface="Courier New" pitchFamily="49" charset="0"/>
              </a:rPr>
              <a:t>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int sum_array2()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{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  int </a:t>
            </a:r>
            <a:r>
              <a:rPr lang="en-US" altLang="zh-CN" sz="1400" b="1" dirty="0" err="1">
                <a:latin typeface="Courier New" pitchFamily="49" charset="0"/>
                <a:ea typeface="宋体" pitchFamily="2" charset="-122"/>
              </a:rPr>
              <a:t>i,j,sum</a:t>
            </a:r>
            <a:r>
              <a:rPr lang="en-US" altLang="zh-CN" sz="1400" b="1" dirty="0">
                <a:latin typeface="Courier New" pitchFamily="49" charset="0"/>
                <a:ea typeface="宋体" pitchFamily="2" charset="-122"/>
              </a:rPr>
              <a:t>=0;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for (j = 0; </a:t>
            </a:r>
            <a:r>
              <a:rPr lang="en-US" sz="1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</a:rPr>
              <a:t>j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 &lt; 256; 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j++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	for (</a:t>
            </a: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= 0; </a:t>
            </a:r>
            <a:r>
              <a:rPr lang="en-US" sz="14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 &lt; 256; </a:t>
            </a:r>
            <a:r>
              <a:rPr lang="en-US" sz="1400" b="1" dirty="0" err="1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solidFill>
                  <a:srgbClr val="0000FF"/>
                </a:solidFill>
                <a:latin typeface="Courier New" pitchFamily="49" charset="0"/>
                <a:ea typeface="宋体" pitchFamily="2" charset="-122"/>
              </a:rPr>
              <a:t>++)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	  sum += a[</a:t>
            </a:r>
            <a:r>
              <a:rPr lang="en-US" sz="1400" b="1" dirty="0" err="1">
                <a:latin typeface="Courier New" pitchFamily="49" charset="0"/>
                <a:ea typeface="宋体" pitchFamily="2" charset="-122"/>
              </a:rPr>
              <a:t>i</a:t>
            </a:r>
            <a:r>
              <a:rPr lang="en-US" sz="1400" b="1" dirty="0">
                <a:latin typeface="Courier New" pitchFamily="49" charset="0"/>
                <a:ea typeface="宋体" pitchFamily="2" charset="-122"/>
              </a:rPr>
              <a:t>][j];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    return sum;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lang="en-US" sz="1400" b="1" dirty="0">
                <a:latin typeface="Courier New" pitchFamily="49" charset="0"/>
                <a:ea typeface="宋体" pitchFamily="2" charset="-122"/>
              </a:rPr>
              <a:t>}</a:t>
            </a: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22E74C68-1655-4A0D-8875-F0BA0A72CA1A}"/>
              </a:ext>
            </a:extLst>
          </p:cNvPr>
          <p:cNvSpPr/>
          <p:nvPr/>
        </p:nvSpPr>
        <p:spPr>
          <a:xfrm>
            <a:off x="3437008" y="4246553"/>
            <a:ext cx="1008112" cy="432048"/>
          </a:xfrm>
          <a:prstGeom prst="wedgeRoundRectCallout">
            <a:avLst>
              <a:gd name="adj1" fmla="val -62934"/>
              <a:gd name="adj2" fmla="val 5707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利用空间局部性</a:t>
            </a:r>
            <a:r>
              <a:rPr lang="en-US" altLang="zh-CN" sz="1400" dirty="0"/>
              <a:t>hit</a:t>
            </a:r>
            <a:endParaRPr lang="zh-CN" altLang="en-US" sz="1400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3AE61056-F61C-4641-9B11-19AC0D7042B2}"/>
              </a:ext>
            </a:extLst>
          </p:cNvPr>
          <p:cNvSpPr/>
          <p:nvPr/>
        </p:nvSpPr>
        <p:spPr>
          <a:xfrm>
            <a:off x="7236296" y="4110329"/>
            <a:ext cx="1224136" cy="704497"/>
          </a:xfrm>
          <a:prstGeom prst="wedgeRoundRectCallout">
            <a:avLst>
              <a:gd name="adj1" fmla="val -70429"/>
              <a:gd name="adj2" fmla="val 524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/>
              <a:t>i,j</a:t>
            </a:r>
            <a:r>
              <a:rPr lang="en-US" altLang="zh-CN" sz="1400" dirty="0"/>
              <a:t> </a:t>
            </a:r>
            <a:r>
              <a:rPr lang="zh-CN" altLang="en-US" sz="1400" dirty="0"/>
              <a:t>行列互换导致</a:t>
            </a:r>
            <a:r>
              <a:rPr lang="en-US" altLang="zh-CN" sz="1400" dirty="0"/>
              <a:t>miss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6690810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6624736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例</a:t>
            </a:r>
            <a:r>
              <a:rPr lang="en-US" altLang="zh-CN" sz="1600" b="1" dirty="0">
                <a:solidFill>
                  <a:srgbClr val="C00000"/>
                </a:solidFill>
              </a:rPr>
              <a:t>4.4    </a:t>
            </a:r>
            <a:r>
              <a:rPr lang="zh-CN" altLang="en-US" sz="1600" b="1" dirty="0"/>
              <a:t>主存地址空间大小为</a:t>
            </a:r>
            <a:r>
              <a:rPr lang="en-US" altLang="zh-CN" sz="1600" b="1" dirty="0"/>
              <a:t>256MB</a:t>
            </a:r>
            <a:r>
              <a:rPr lang="zh-CN" altLang="en-US" sz="1600" b="1" dirty="0"/>
              <a:t>，按</a:t>
            </a:r>
            <a:r>
              <a:rPr lang="zh-CN" altLang="en-US" sz="1600" b="1" dirty="0">
                <a:solidFill>
                  <a:srgbClr val="C00000"/>
                </a:solidFill>
              </a:rPr>
              <a:t>字节</a:t>
            </a:r>
            <a:r>
              <a:rPr lang="zh-CN" altLang="en-US" sz="1600" b="1" dirty="0"/>
              <a:t>编址。指令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分离，均有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行，每个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行的数据块大小均为</a:t>
            </a:r>
            <a:r>
              <a:rPr lang="en-US" altLang="zh-CN" sz="1600" b="1" dirty="0"/>
              <a:t>64B</a:t>
            </a:r>
            <a:r>
              <a:rPr lang="zh-CN" altLang="en-US" sz="1600" b="1" dirty="0"/>
              <a:t>。数据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采用直接相联映射方式。现有两个功能相同的程序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，其伪代码如下所示。假定</a:t>
            </a:r>
            <a:r>
              <a:rPr lang="en-US" altLang="zh-CN" sz="1600" b="1" dirty="0"/>
              <a:t>int</a:t>
            </a:r>
            <a:r>
              <a:rPr lang="zh-CN" altLang="en-US" sz="1600" b="1" dirty="0"/>
              <a:t>型数据为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位补码，程序编译时</a:t>
            </a:r>
            <a:r>
              <a:rPr lang="en-US" altLang="zh-CN" sz="1600" b="1" dirty="0" err="1"/>
              <a:t>i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j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sum</a:t>
            </a:r>
            <a:r>
              <a:rPr lang="zh-CN" altLang="en-US" sz="1600" b="1" dirty="0"/>
              <a:t>均分配在寄存器中，数组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按行优先方式存放，首地址为</a:t>
            </a:r>
            <a:r>
              <a:rPr lang="en-US" altLang="zh-CN" sz="1600" b="1" dirty="0"/>
              <a:t>320</a:t>
            </a:r>
            <a:r>
              <a:rPr lang="zh-CN" altLang="en-US" sz="16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若不考虑用于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一致性维护和替换算法的控制位，则数据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的总容量是多少？</a:t>
            </a:r>
          </a:p>
          <a:p>
            <a:pPr eaLnBrk="1" hangingPunct="1"/>
            <a:r>
              <a:rPr lang="zh-CN" altLang="en-US" sz="1800" b="1" dirty="0"/>
              <a:t>解：</a:t>
            </a:r>
            <a:endParaRPr lang="en-US" altLang="zh-CN" sz="1800" b="1" dirty="0"/>
          </a:p>
          <a:p>
            <a:pPr lvl="2" eaLnBrk="1" hangingPunct="1"/>
            <a:r>
              <a:rPr lang="zh-CN" altLang="en-US" sz="1600" b="1" dirty="0"/>
              <a:t>直接相联映射：主存地址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区地址</a:t>
            </a:r>
            <a:r>
              <a:rPr lang="en-US" altLang="zh-CN" sz="1600" b="1" dirty="0"/>
              <a:t>tag + </a:t>
            </a:r>
            <a:r>
              <a:rPr lang="zh-CN" altLang="en-US" sz="1600" b="1" dirty="0"/>
              <a:t>行索引</a:t>
            </a:r>
            <a:r>
              <a:rPr lang="en-US" altLang="zh-CN" sz="1600" b="1" dirty="0"/>
              <a:t>index + </a:t>
            </a:r>
            <a:r>
              <a:rPr lang="zh-CN" altLang="en-US" sz="1600" b="1" dirty="0"/>
              <a:t>块内偏移</a:t>
            </a:r>
            <a:r>
              <a:rPr lang="en-US" altLang="zh-CN" sz="1600" b="1" dirty="0"/>
              <a:t>offset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主存容量</a:t>
            </a:r>
            <a:r>
              <a:rPr lang="en-US" altLang="zh-CN" sz="1600" b="1" dirty="0"/>
              <a:t>=256MB</a:t>
            </a:r>
            <a:r>
              <a:rPr lang="zh-CN" altLang="en-US" sz="1600" b="1" dirty="0"/>
              <a:t>，主存地址</a:t>
            </a:r>
            <a:r>
              <a:rPr lang="en-US" altLang="zh-CN" sz="1600" b="1" dirty="0"/>
              <a:t>=28</a:t>
            </a:r>
            <a:r>
              <a:rPr lang="zh-CN" altLang="en-US" sz="1600" b="1" dirty="0"/>
              <a:t>位（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28</a:t>
            </a:r>
            <a:r>
              <a:rPr lang="en-US" altLang="zh-CN" sz="1600" b="1" dirty="0"/>
              <a:t>=256M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en-US" altLang="zh-CN" sz="1600" b="1" dirty="0"/>
              <a:t>cache</a:t>
            </a:r>
            <a:r>
              <a:rPr lang="zh-CN" altLang="en-US" sz="1600" b="1" dirty="0"/>
              <a:t>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行，因此</a:t>
            </a:r>
            <a:r>
              <a:rPr lang="en-US" altLang="zh-CN" sz="1600" b="1" dirty="0"/>
              <a:t>index=3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3</a:t>
            </a:r>
            <a:r>
              <a:rPr lang="en-US" altLang="zh-CN" sz="1600" b="1" dirty="0"/>
              <a:t>=8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每个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行的数据块大小</a:t>
            </a:r>
            <a:r>
              <a:rPr lang="en-US" altLang="zh-CN" sz="1600" b="1" dirty="0"/>
              <a:t>=64B</a:t>
            </a:r>
            <a:r>
              <a:rPr lang="zh-CN" altLang="en-US" sz="1600" b="1" dirty="0"/>
              <a:t>，故</a:t>
            </a:r>
            <a:r>
              <a:rPr lang="en-US" altLang="zh-CN" sz="1600" b="1" dirty="0"/>
              <a:t>offset=6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6</a:t>
            </a:r>
            <a:r>
              <a:rPr lang="en-US" altLang="zh-CN" sz="1600" b="1" dirty="0"/>
              <a:t>=64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因此，</a:t>
            </a:r>
            <a:r>
              <a:rPr lang="en-US" altLang="zh-CN" sz="1600" b="1" dirty="0"/>
              <a:t>tag=28-3-6=19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>
                <a:highlight>
                  <a:srgbClr val="FFFF00"/>
                </a:highlight>
              </a:rPr>
              <a:t>每个</a:t>
            </a:r>
            <a:r>
              <a:rPr lang="en-US" altLang="zh-CN" sz="1600" b="1" dirty="0">
                <a:highlight>
                  <a:srgbClr val="FFFF00"/>
                </a:highlight>
              </a:rPr>
              <a:t>cache</a:t>
            </a:r>
            <a:r>
              <a:rPr lang="zh-CN" altLang="en-US" sz="1600" b="1" dirty="0">
                <a:highlight>
                  <a:srgbClr val="FFFF00"/>
                </a:highlight>
              </a:rPr>
              <a:t>行包括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valid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位）</a:t>
            </a:r>
            <a:r>
              <a:rPr lang="en-US" altLang="zh-CN" sz="1600" b="1" dirty="0"/>
              <a:t> + tag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19</a:t>
            </a:r>
            <a:r>
              <a:rPr lang="zh-CN" altLang="en-US" sz="1600" b="1" dirty="0"/>
              <a:t>位）</a:t>
            </a:r>
            <a:r>
              <a:rPr lang="en-US" altLang="zh-CN" sz="1600" b="1" dirty="0"/>
              <a:t> + </a:t>
            </a:r>
            <a:r>
              <a:rPr lang="zh-CN" altLang="en-US" sz="1600" b="1" dirty="0"/>
              <a:t>数据块大小（</a:t>
            </a:r>
            <a:r>
              <a:rPr lang="en-US" altLang="zh-CN" sz="1600" b="1" dirty="0"/>
              <a:t>64B</a:t>
            </a:r>
            <a:r>
              <a:rPr lang="zh-CN" altLang="en-US" sz="1600" b="1" dirty="0"/>
              <a:t>）</a:t>
            </a:r>
            <a:r>
              <a:rPr lang="en-US" altLang="zh-CN" sz="1600" b="1" dirty="0"/>
              <a:t>=20+64x8=532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=(532/8)</a:t>
            </a:r>
            <a:r>
              <a:rPr lang="zh-CN" altLang="en-US" sz="1600" b="1" dirty="0"/>
              <a:t>字节</a:t>
            </a:r>
            <a:r>
              <a:rPr lang="en-US" altLang="zh-CN" sz="1600" b="1" dirty="0"/>
              <a:t> =66.5B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总容量</a:t>
            </a:r>
            <a:r>
              <a:rPr lang="en-US" altLang="zh-CN" sz="1600" b="1" dirty="0"/>
              <a:t>=cache</a:t>
            </a:r>
            <a:r>
              <a:rPr lang="zh-CN" altLang="en-US" sz="1600" b="1" dirty="0"/>
              <a:t>行数 </a:t>
            </a:r>
            <a:r>
              <a:rPr lang="en-US" altLang="zh-CN" sz="1600" b="1" dirty="0"/>
              <a:t>x </a:t>
            </a:r>
            <a:r>
              <a:rPr lang="zh-CN" altLang="en-US" sz="1600" b="1" dirty="0"/>
              <a:t>行大小</a:t>
            </a:r>
            <a:r>
              <a:rPr lang="en-US" altLang="zh-CN" sz="1600" b="1" dirty="0"/>
              <a:t>=8x66.5B=532B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050" b="1" dirty="0"/>
          </a:p>
        </p:txBody>
      </p:sp>
    </p:spTree>
    <p:extLst>
      <p:ext uri="{BB962C8B-B14F-4D97-AF65-F5344CB8AC3E}">
        <p14:creationId xmlns:p14="http://schemas.microsoft.com/office/powerpoint/2010/main" val="1913352064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7997" y="44624"/>
            <a:ext cx="8229600" cy="6768752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4.4    </a:t>
            </a:r>
            <a:r>
              <a:rPr lang="zh-CN" altLang="en-US" sz="1600" b="1" dirty="0"/>
              <a:t>主存地址空间大小为</a:t>
            </a:r>
            <a:r>
              <a:rPr lang="en-US" altLang="zh-CN" sz="1600" b="1" dirty="0"/>
              <a:t>256MB</a:t>
            </a:r>
            <a:r>
              <a:rPr lang="zh-CN" altLang="en-US" sz="1600" b="1" dirty="0"/>
              <a:t>，按字节编址。指令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分离，均有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行，每个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行的数据块大小均为</a:t>
            </a:r>
            <a:r>
              <a:rPr lang="en-US" altLang="zh-CN" sz="1600" b="1" dirty="0"/>
              <a:t>64B</a:t>
            </a:r>
            <a:r>
              <a:rPr lang="zh-CN" altLang="en-US" sz="1600" b="1" dirty="0"/>
              <a:t>。数据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采用直接相联映射方式。现有两个功能相同的程序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，其伪代码如下所示。假定</a:t>
            </a:r>
            <a:r>
              <a:rPr lang="en-US" altLang="zh-CN" sz="1600" b="1" dirty="0"/>
              <a:t>int</a:t>
            </a:r>
            <a:r>
              <a:rPr lang="zh-CN" altLang="en-US" sz="1600" b="1" dirty="0"/>
              <a:t>型数据为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位补码，程序编译时</a:t>
            </a:r>
            <a:r>
              <a:rPr lang="en-US" altLang="zh-CN" sz="1600" b="1" dirty="0" err="1"/>
              <a:t>i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j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sum</a:t>
            </a:r>
            <a:r>
              <a:rPr lang="zh-CN" altLang="en-US" sz="1600" b="1" dirty="0"/>
              <a:t>均分配在寄存器中，数组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按行优先方式存放，首地址为</a:t>
            </a:r>
            <a:r>
              <a:rPr lang="en-US" altLang="zh-CN" sz="1600" b="1" dirty="0"/>
              <a:t>320</a:t>
            </a:r>
            <a:r>
              <a:rPr lang="zh-CN" altLang="en-US" sz="16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数组元素</a:t>
            </a:r>
            <a:r>
              <a:rPr lang="en-US" altLang="zh-CN" sz="1600" b="1" dirty="0">
                <a:solidFill>
                  <a:srgbClr val="C00000"/>
                </a:solidFill>
              </a:rPr>
              <a:t>a[0][31]</a:t>
            </a:r>
            <a:r>
              <a:rPr lang="zh-CN" altLang="en-US" sz="1600" b="1" dirty="0">
                <a:solidFill>
                  <a:srgbClr val="C00000"/>
                </a:solidFill>
              </a:rPr>
              <a:t>、</a:t>
            </a:r>
            <a:r>
              <a:rPr lang="en-US" altLang="zh-CN" sz="1600" b="1" dirty="0">
                <a:solidFill>
                  <a:srgbClr val="C00000"/>
                </a:solidFill>
              </a:rPr>
              <a:t>a[1][1]</a:t>
            </a:r>
            <a:r>
              <a:rPr lang="zh-CN" altLang="en-US" sz="1600" b="1" dirty="0">
                <a:solidFill>
                  <a:srgbClr val="C00000"/>
                </a:solidFill>
              </a:rPr>
              <a:t>所在主存块对应的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行分别是多少？假设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行号从零开始。</a:t>
            </a:r>
          </a:p>
          <a:p>
            <a:pPr eaLnBrk="1" hangingPunct="1"/>
            <a:r>
              <a:rPr lang="zh-CN" altLang="en-US" sz="1800" b="1" dirty="0"/>
              <a:t>解：</a:t>
            </a:r>
            <a:r>
              <a:rPr lang="zh-CN" altLang="en-US" sz="1600" b="1" dirty="0">
                <a:ea typeface="等线" panose="02010600030101010101" pitchFamily="2" charset="-122"/>
              </a:rPr>
              <a:t>②</a:t>
            </a:r>
            <a:r>
              <a:rPr lang="zh-CN" altLang="en-US" sz="1600" b="1" dirty="0"/>
              <a:t>数组按行优先方式存放，首地址为</a:t>
            </a:r>
            <a:r>
              <a:rPr lang="en-US" altLang="zh-CN" sz="1600" b="1" dirty="0"/>
              <a:t>320</a:t>
            </a:r>
            <a:r>
              <a:rPr lang="zh-CN" altLang="en-US" sz="1600" b="1" dirty="0"/>
              <a:t>（十进制），每个数组元素占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位（</a:t>
            </a:r>
            <a:r>
              <a:rPr lang="en-US" altLang="zh-CN" sz="1600" b="1" dirty="0"/>
              <a:t>int</a:t>
            </a:r>
            <a:r>
              <a:rPr lang="zh-CN" altLang="en-US" sz="1600" b="1" dirty="0"/>
              <a:t>型数据，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个字节），则二维数组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在内存中的分布如下：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>
                <a:highlight>
                  <a:srgbClr val="FFFF00"/>
                </a:highlight>
              </a:rPr>
              <a:t>需知道该数组元素位于主存中哪一块？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2" eaLnBrk="1" hangingPunct="1"/>
            <a:r>
              <a:rPr lang="en-US" altLang="zh-CN" sz="1600" b="1" dirty="0"/>
              <a:t>a[0][31]</a:t>
            </a:r>
            <a:r>
              <a:rPr lang="zh-CN" altLang="en-US" sz="1600" b="1" dirty="0"/>
              <a:t>所在的内存地址</a:t>
            </a:r>
            <a:r>
              <a:rPr lang="en-US" altLang="zh-CN" sz="1600" b="1" dirty="0"/>
              <a:t>=320 + 31x4 = 444</a:t>
            </a:r>
            <a:r>
              <a:rPr lang="zh-CN" altLang="en-US" sz="1600" b="1" dirty="0"/>
              <a:t>；对应的主存块号</a:t>
            </a:r>
            <a:r>
              <a:rPr lang="en-US" altLang="zh-CN" sz="1600" b="1" dirty="0"/>
              <a:t>=[444/</a:t>
            </a:r>
            <a:r>
              <a:rPr lang="en-US" altLang="zh-CN" sz="1600" b="1" dirty="0">
                <a:solidFill>
                  <a:srgbClr val="C00000"/>
                </a:solidFill>
              </a:rPr>
              <a:t>64</a:t>
            </a:r>
            <a:r>
              <a:rPr lang="en-US" altLang="zh-CN" sz="1600" b="1" dirty="0"/>
              <a:t>]=6</a:t>
            </a:r>
          </a:p>
          <a:p>
            <a:pPr lvl="2" eaLnBrk="1" hangingPunct="1"/>
            <a:r>
              <a:rPr lang="en-US" altLang="zh-CN" sz="1600" b="1" dirty="0"/>
              <a:t>a[1][1]</a:t>
            </a:r>
            <a:r>
              <a:rPr lang="zh-CN" altLang="en-US" sz="1600" b="1" dirty="0"/>
              <a:t>所在的内存地址</a:t>
            </a:r>
            <a:r>
              <a:rPr lang="en-US" altLang="zh-CN" sz="1600" b="1" dirty="0"/>
              <a:t>=320 + </a:t>
            </a:r>
            <a:r>
              <a:rPr lang="en-US" altLang="zh-CN" sz="1600" b="1" dirty="0">
                <a:highlight>
                  <a:srgbClr val="FFFF00"/>
                </a:highlight>
              </a:rPr>
              <a:t>256</a:t>
            </a:r>
            <a:r>
              <a:rPr lang="en-US" altLang="zh-CN" sz="1600" b="1" dirty="0"/>
              <a:t>x4 + 4 = 1348</a:t>
            </a:r>
            <a:r>
              <a:rPr lang="zh-CN" altLang="en-US" sz="1600" b="1" dirty="0"/>
              <a:t>；对应的主存块号</a:t>
            </a:r>
            <a:r>
              <a:rPr lang="en-US" altLang="zh-CN" sz="1600" b="1" dirty="0"/>
              <a:t>=[1348/</a:t>
            </a:r>
            <a:r>
              <a:rPr lang="en-US" altLang="zh-CN" sz="1600" b="1" dirty="0">
                <a:solidFill>
                  <a:srgbClr val="C00000"/>
                </a:solidFill>
              </a:rPr>
              <a:t>64</a:t>
            </a:r>
            <a:r>
              <a:rPr lang="en-US" altLang="zh-CN" sz="1600" b="1" dirty="0"/>
              <a:t>]=21       </a:t>
            </a:r>
            <a:r>
              <a:rPr lang="en-US" altLang="zh-CN" sz="1400" b="1" dirty="0">
                <a:solidFill>
                  <a:srgbClr val="C00000"/>
                </a:solidFill>
              </a:rPr>
              <a:t>[   ]</a:t>
            </a:r>
            <a:r>
              <a:rPr lang="zh-CN" altLang="en-US" sz="1400" b="1" dirty="0">
                <a:solidFill>
                  <a:srgbClr val="C00000"/>
                </a:solidFill>
              </a:rPr>
              <a:t>表示取整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050" b="1" dirty="0"/>
          </a:p>
          <a:p>
            <a:pPr lvl="2" eaLnBrk="1" hangingPunct="1"/>
            <a:r>
              <a:rPr lang="zh-CN" altLang="en-US" sz="1600" b="1" dirty="0"/>
              <a:t>因为采用直接相联映射方式，主存块号与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行号的对应关系为：</a:t>
            </a:r>
            <a:endParaRPr lang="en-US" altLang="zh-CN" sz="1600" b="1" dirty="0"/>
          </a:p>
          <a:p>
            <a:pPr lvl="3" eaLnBrk="1" hangingPunct="1"/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行号</a:t>
            </a:r>
            <a:r>
              <a:rPr lang="en-US" altLang="zh-CN" sz="1600" b="1" dirty="0">
                <a:solidFill>
                  <a:srgbClr val="C00000"/>
                </a:solidFill>
              </a:rPr>
              <a:t> = </a:t>
            </a:r>
            <a:r>
              <a:rPr lang="zh-CN" altLang="en-US" sz="1600" b="1" dirty="0">
                <a:solidFill>
                  <a:srgbClr val="C00000"/>
                </a:solidFill>
              </a:rPr>
              <a:t>主存块号</a:t>
            </a:r>
            <a:r>
              <a:rPr lang="en-US" altLang="zh-CN" sz="1600" b="1" dirty="0">
                <a:solidFill>
                  <a:srgbClr val="C00000"/>
                </a:solidFill>
              </a:rPr>
              <a:t>  mod  n  </a:t>
            </a:r>
            <a:r>
              <a:rPr lang="zh-CN" altLang="en-US" sz="1600" b="1" dirty="0">
                <a:solidFill>
                  <a:srgbClr val="C00000"/>
                </a:solidFill>
              </a:rPr>
              <a:t>；</a:t>
            </a:r>
            <a:r>
              <a:rPr lang="en-US" altLang="zh-CN" sz="1600" b="1" dirty="0">
                <a:solidFill>
                  <a:srgbClr val="C00000"/>
                </a:solidFill>
              </a:rPr>
              <a:t>n=8</a:t>
            </a: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有</a:t>
            </a:r>
            <a:r>
              <a:rPr lang="en-US" altLang="zh-CN" sz="1600" b="1" dirty="0">
                <a:solidFill>
                  <a:srgbClr val="C00000"/>
                </a:solidFill>
              </a:rPr>
              <a:t>8</a:t>
            </a:r>
            <a:r>
              <a:rPr lang="zh-CN" altLang="en-US" sz="1600" b="1" dirty="0">
                <a:solidFill>
                  <a:srgbClr val="C00000"/>
                </a:solidFill>
              </a:rPr>
              <a:t>行）</a:t>
            </a:r>
            <a:endParaRPr lang="en-US" altLang="zh-CN" sz="11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en-US" altLang="zh-CN" sz="1600" b="1" dirty="0"/>
              <a:t>a[0][31]</a:t>
            </a:r>
            <a:r>
              <a:rPr lang="zh-CN" altLang="en-US" sz="1600" b="1" dirty="0"/>
              <a:t>所在主存块对应的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行是：</a:t>
            </a:r>
            <a:r>
              <a:rPr lang="en-US" altLang="zh-CN" sz="1600" b="1" dirty="0"/>
              <a:t>6 mod 8 = 6</a:t>
            </a:r>
          </a:p>
          <a:p>
            <a:pPr lvl="2" eaLnBrk="1" hangingPunct="1"/>
            <a:r>
              <a:rPr lang="en-US" altLang="zh-CN" sz="1600" b="1" dirty="0"/>
              <a:t>a[1][1]</a:t>
            </a:r>
            <a:r>
              <a:rPr lang="zh-CN" altLang="en-US" sz="1600" b="1" dirty="0"/>
              <a:t>所在主存块对应的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行是：</a:t>
            </a:r>
            <a:r>
              <a:rPr lang="en-US" altLang="zh-CN" sz="1600" b="1" dirty="0"/>
              <a:t>21 mod 8 = 5</a:t>
            </a:r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31B52B08-E1FB-4D1F-980C-8B845E276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3072"/>
              </p:ext>
            </p:extLst>
          </p:nvPr>
        </p:nvGraphicFramePr>
        <p:xfrm>
          <a:off x="856367" y="3321297"/>
          <a:ext cx="7848871" cy="792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893">
                  <a:extLst>
                    <a:ext uri="{9D8B030D-6E8A-4147-A177-3AD203B41FA5}">
                      <a16:colId xmlns:a16="http://schemas.microsoft.com/office/drawing/2014/main" val="3803167512"/>
                    </a:ext>
                  </a:extLst>
                </a:gridCol>
                <a:gridCol w="578201">
                  <a:extLst>
                    <a:ext uri="{9D8B030D-6E8A-4147-A177-3AD203B41FA5}">
                      <a16:colId xmlns:a16="http://schemas.microsoft.com/office/drawing/2014/main" val="1860926616"/>
                    </a:ext>
                  </a:extLst>
                </a:gridCol>
                <a:gridCol w="692547">
                  <a:extLst>
                    <a:ext uri="{9D8B030D-6E8A-4147-A177-3AD203B41FA5}">
                      <a16:colId xmlns:a16="http://schemas.microsoft.com/office/drawing/2014/main" val="4149478608"/>
                    </a:ext>
                  </a:extLst>
                </a:gridCol>
                <a:gridCol w="615597">
                  <a:extLst>
                    <a:ext uri="{9D8B030D-6E8A-4147-A177-3AD203B41FA5}">
                      <a16:colId xmlns:a16="http://schemas.microsoft.com/office/drawing/2014/main" val="2986666812"/>
                    </a:ext>
                  </a:extLst>
                </a:gridCol>
                <a:gridCol w="692547">
                  <a:extLst>
                    <a:ext uri="{9D8B030D-6E8A-4147-A177-3AD203B41FA5}">
                      <a16:colId xmlns:a16="http://schemas.microsoft.com/office/drawing/2014/main" val="2623388803"/>
                    </a:ext>
                  </a:extLst>
                </a:gridCol>
                <a:gridCol w="644715">
                  <a:extLst>
                    <a:ext uri="{9D8B030D-6E8A-4147-A177-3AD203B41FA5}">
                      <a16:colId xmlns:a16="http://schemas.microsoft.com/office/drawing/2014/main" val="3355628530"/>
                    </a:ext>
                  </a:extLst>
                </a:gridCol>
                <a:gridCol w="509531">
                  <a:extLst>
                    <a:ext uri="{9D8B030D-6E8A-4147-A177-3AD203B41FA5}">
                      <a16:colId xmlns:a16="http://schemas.microsoft.com/office/drawing/2014/main" val="2972700160"/>
                    </a:ext>
                  </a:extLst>
                </a:gridCol>
                <a:gridCol w="763259">
                  <a:extLst>
                    <a:ext uri="{9D8B030D-6E8A-4147-A177-3AD203B41FA5}">
                      <a16:colId xmlns:a16="http://schemas.microsoft.com/office/drawing/2014/main" val="4108779135"/>
                    </a:ext>
                  </a:extLst>
                </a:gridCol>
                <a:gridCol w="544886">
                  <a:extLst>
                    <a:ext uri="{9D8B030D-6E8A-4147-A177-3AD203B41FA5}">
                      <a16:colId xmlns:a16="http://schemas.microsoft.com/office/drawing/2014/main" val="3854274604"/>
                    </a:ext>
                  </a:extLst>
                </a:gridCol>
                <a:gridCol w="798617">
                  <a:extLst>
                    <a:ext uri="{9D8B030D-6E8A-4147-A177-3AD203B41FA5}">
                      <a16:colId xmlns:a16="http://schemas.microsoft.com/office/drawing/2014/main" val="234247270"/>
                    </a:ext>
                  </a:extLst>
                </a:gridCol>
                <a:gridCol w="598320">
                  <a:extLst>
                    <a:ext uri="{9D8B030D-6E8A-4147-A177-3AD203B41FA5}">
                      <a16:colId xmlns:a16="http://schemas.microsoft.com/office/drawing/2014/main" val="1346547983"/>
                    </a:ext>
                  </a:extLst>
                </a:gridCol>
                <a:gridCol w="603758">
                  <a:extLst>
                    <a:ext uri="{9D8B030D-6E8A-4147-A177-3AD203B41FA5}">
                      <a16:colId xmlns:a16="http://schemas.microsoft.com/office/drawing/2014/main" val="3838985661"/>
                    </a:ext>
                  </a:extLst>
                </a:gridCol>
              </a:tblGrid>
              <a:tr h="384842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内存地址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328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332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336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444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1348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127175281"/>
                  </a:ext>
                </a:extLst>
              </a:tr>
              <a:tr h="407246">
                <a:tc>
                  <a:txBody>
                    <a:bodyPr/>
                    <a:lstStyle/>
                    <a:p>
                      <a:r>
                        <a:rPr lang="zh-CN" altLang="en-US" sz="1200" b="1" dirty="0"/>
                        <a:t>行优先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a[0][0]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a[0][1]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a[0][2]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a[0][3]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a[0][4]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a[0][31]</a:t>
                      </a:r>
                      <a:endParaRPr lang="zh-CN" alt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a[0][255]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a[1][0]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a[1][1]</a:t>
                      </a:r>
                      <a:endParaRPr lang="zh-CN" altLang="en-US" sz="12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174960458"/>
                  </a:ext>
                </a:extLst>
              </a:tr>
            </a:tbl>
          </a:graphicData>
        </a:graphic>
      </p:graphicFrame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782D87DF-6380-424C-9BA5-2759F79F028D}"/>
              </a:ext>
            </a:extLst>
          </p:cNvPr>
          <p:cNvSpPr/>
          <p:nvPr/>
        </p:nvSpPr>
        <p:spPr>
          <a:xfrm>
            <a:off x="7798205" y="4797152"/>
            <a:ext cx="864096" cy="540369"/>
          </a:xfrm>
          <a:prstGeom prst="wedgeRoundRectCallout">
            <a:avLst>
              <a:gd name="adj1" fmla="val -66322"/>
              <a:gd name="adj2" fmla="val -530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块大小为</a:t>
            </a:r>
            <a:r>
              <a:rPr lang="en-US" altLang="zh-CN" sz="1400" b="1" dirty="0"/>
              <a:t>64B</a:t>
            </a:r>
            <a:endParaRPr lang="zh-CN" altLang="en-US" sz="1400" b="1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ACFFE120-428F-408E-A84F-C81BFD24F1A6}"/>
              </a:ext>
            </a:extLst>
          </p:cNvPr>
          <p:cNvSpPr/>
          <p:nvPr/>
        </p:nvSpPr>
        <p:spPr>
          <a:xfrm>
            <a:off x="4592797" y="5337521"/>
            <a:ext cx="1368152" cy="449896"/>
          </a:xfrm>
          <a:prstGeom prst="wedgeRoundRectCallout">
            <a:avLst>
              <a:gd name="adj1" fmla="val -57804"/>
              <a:gd name="adj2" fmla="val -5468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/>
              <a:t>数组大小</a:t>
            </a:r>
            <a:r>
              <a:rPr lang="en-US" altLang="zh-CN" sz="1400" b="1" dirty="0"/>
              <a:t>256*256</a:t>
            </a:r>
            <a:endParaRPr lang="zh-CN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02694994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18329" y="44624"/>
            <a:ext cx="8229600" cy="5256584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4.4    </a:t>
            </a:r>
            <a:r>
              <a:rPr lang="zh-CN" altLang="en-US" sz="1600" b="1" dirty="0"/>
              <a:t>主存地址空间大小为</a:t>
            </a:r>
            <a:r>
              <a:rPr lang="en-US" altLang="zh-CN" sz="1600" b="1" dirty="0"/>
              <a:t>256MB</a:t>
            </a:r>
            <a:r>
              <a:rPr lang="zh-CN" altLang="en-US" sz="1600" b="1" dirty="0"/>
              <a:t>，按字节编址。指令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分离，均有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行，每个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行的数据块大小均为</a:t>
            </a:r>
            <a:r>
              <a:rPr lang="en-US" altLang="zh-CN" sz="1600" b="1" dirty="0"/>
              <a:t>64B</a:t>
            </a:r>
            <a:r>
              <a:rPr lang="zh-CN" altLang="en-US" sz="1600" b="1" dirty="0"/>
              <a:t>。数据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采用直接相联映射方式。现有两个功能相同的程序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，其伪代码如下所示。假定</a:t>
            </a:r>
            <a:r>
              <a:rPr lang="en-US" altLang="zh-CN" sz="1600" b="1" dirty="0"/>
              <a:t>int</a:t>
            </a:r>
            <a:r>
              <a:rPr lang="zh-CN" altLang="en-US" sz="1600" b="1" dirty="0"/>
              <a:t>型数据为</a:t>
            </a:r>
            <a:r>
              <a:rPr lang="en-US" altLang="zh-CN" sz="1600" b="1" dirty="0"/>
              <a:t>32</a:t>
            </a:r>
            <a:r>
              <a:rPr lang="zh-CN" altLang="en-US" sz="1600" b="1" dirty="0"/>
              <a:t>位补码，程序编译时</a:t>
            </a:r>
            <a:r>
              <a:rPr lang="en-US" altLang="zh-CN" sz="1600" b="1" dirty="0" err="1"/>
              <a:t>i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j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sum</a:t>
            </a:r>
            <a:r>
              <a:rPr lang="zh-CN" altLang="en-US" sz="1600" b="1" dirty="0"/>
              <a:t>均分配在寄存器中，数组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按行优先方式存放，首地址为</a:t>
            </a:r>
            <a:r>
              <a:rPr lang="en-US" altLang="zh-CN" sz="1600" b="1" dirty="0"/>
              <a:t>320</a:t>
            </a:r>
            <a:r>
              <a:rPr lang="zh-CN" altLang="en-US" sz="1600" b="1" dirty="0"/>
              <a:t>（十进制）。请回答如下问题，要求说明理由或给出计算过程：</a:t>
            </a:r>
          </a:p>
          <a:p>
            <a:pPr lvl="1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600" b="1" dirty="0">
                <a:solidFill>
                  <a:srgbClr val="C00000"/>
                </a:solidFill>
              </a:rPr>
              <a:t>程序</a:t>
            </a:r>
            <a:r>
              <a:rPr lang="en-US" altLang="zh-CN" sz="1600" b="1" dirty="0">
                <a:solidFill>
                  <a:srgbClr val="C00000"/>
                </a:solidFill>
              </a:rPr>
              <a:t>A</a:t>
            </a:r>
            <a:r>
              <a:rPr lang="zh-CN" altLang="en-US" sz="1600" b="1" dirty="0">
                <a:solidFill>
                  <a:srgbClr val="C00000"/>
                </a:solidFill>
              </a:rPr>
              <a:t>和</a:t>
            </a:r>
            <a:r>
              <a:rPr lang="en-US" altLang="zh-CN" sz="1600" b="1" dirty="0">
                <a:solidFill>
                  <a:srgbClr val="C00000"/>
                </a:solidFill>
              </a:rPr>
              <a:t>B</a:t>
            </a:r>
            <a:r>
              <a:rPr lang="zh-CN" altLang="en-US" sz="1600" b="1" dirty="0">
                <a:solidFill>
                  <a:srgbClr val="C00000"/>
                </a:solidFill>
              </a:rPr>
              <a:t>的数据访问命中率各是多少？那个程序的执行时间更短</a:t>
            </a:r>
            <a:r>
              <a:rPr lang="en-US" altLang="zh-CN" sz="1600" b="1" dirty="0">
                <a:solidFill>
                  <a:srgbClr val="C00000"/>
                </a:solidFill>
              </a:rPr>
              <a:t>?</a:t>
            </a:r>
          </a:p>
          <a:p>
            <a:pPr eaLnBrk="1" hangingPunct="1"/>
            <a:r>
              <a:rPr lang="zh-CN" altLang="en-US" sz="1800" b="1" dirty="0"/>
              <a:t>解（续）：</a:t>
            </a:r>
            <a:endParaRPr lang="en-US" altLang="zh-CN" sz="1800" b="1" dirty="0"/>
          </a:p>
          <a:p>
            <a:pPr lvl="1" eaLnBrk="1" hangingPunct="1"/>
            <a:r>
              <a:rPr lang="zh-CN" altLang="en-US" sz="1600" b="1" dirty="0">
                <a:latin typeface="等线" panose="02010600030101010101" pitchFamily="2" charset="-122"/>
                <a:ea typeface="等线" panose="02010600030101010101" pitchFamily="2" charset="-122"/>
              </a:rPr>
              <a:t>③</a:t>
            </a:r>
            <a:r>
              <a:rPr lang="zh-CN" altLang="en-US" sz="1600" b="1" dirty="0"/>
              <a:t>每个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行的数据块大小为</a:t>
            </a:r>
            <a:r>
              <a:rPr lang="en-US" altLang="zh-CN" sz="1600" b="1" dirty="0"/>
              <a:t>64B</a:t>
            </a:r>
            <a:r>
              <a:rPr lang="zh-CN" altLang="en-US" sz="1600" b="1" dirty="0"/>
              <a:t>，其可以存放</a:t>
            </a:r>
            <a:r>
              <a:rPr lang="en-US" altLang="zh-CN" sz="1600" b="1" dirty="0"/>
              <a:t>64B/32</a:t>
            </a:r>
            <a:r>
              <a:rPr lang="zh-CN" altLang="en-US" sz="1600" b="1" dirty="0"/>
              <a:t>位</a:t>
            </a:r>
            <a:r>
              <a:rPr lang="en-US" altLang="zh-CN" sz="1600" b="1" dirty="0"/>
              <a:t>=64x8/32 = </a:t>
            </a:r>
            <a:r>
              <a:rPr lang="en-US" altLang="zh-CN" sz="1600" b="1" dirty="0">
                <a:solidFill>
                  <a:srgbClr val="C00000"/>
                </a:solidFill>
              </a:rPr>
              <a:t>16</a:t>
            </a:r>
            <a:r>
              <a:rPr lang="zh-CN" altLang="en-US" sz="1600" b="1" dirty="0"/>
              <a:t>个</a:t>
            </a:r>
            <a:r>
              <a:rPr lang="en-US" altLang="zh-CN" sz="1600" b="1" dirty="0"/>
              <a:t>int</a:t>
            </a:r>
            <a:r>
              <a:rPr lang="zh-CN" altLang="en-US" sz="1600" b="1" dirty="0"/>
              <a:t>型数据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中数据的访问顺序与存储顺序</a:t>
            </a:r>
            <a:r>
              <a:rPr lang="zh-CN" altLang="en-US" sz="1400" b="1" dirty="0">
                <a:highlight>
                  <a:srgbClr val="FFFF00"/>
                </a:highlight>
              </a:rPr>
              <a:t>相同</a:t>
            </a:r>
            <a:r>
              <a:rPr lang="zh-CN" altLang="en-US" sz="1400" b="1" dirty="0"/>
              <a:t>（行优先方式），第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a[0][0]</a:t>
            </a:r>
            <a:r>
              <a:rPr lang="zh-CN" altLang="en-US" sz="1400" b="1" dirty="0"/>
              <a:t>，缺失，需要载入数据块（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r>
              <a:rPr lang="en-US" altLang="zh-CN" sz="1400" b="1" dirty="0">
                <a:solidFill>
                  <a:srgbClr val="C00000"/>
                </a:solidFill>
              </a:rPr>
              <a:t>16</a:t>
            </a:r>
            <a:r>
              <a:rPr lang="zh-CN" altLang="en-US" sz="1400" b="1" dirty="0">
                <a:solidFill>
                  <a:srgbClr val="C00000"/>
                </a:solidFill>
              </a:rPr>
              <a:t>个</a:t>
            </a:r>
            <a:r>
              <a:rPr lang="en-US" altLang="zh-CN" sz="1400" b="1" dirty="0">
                <a:solidFill>
                  <a:srgbClr val="C00000"/>
                </a:solidFill>
              </a:rPr>
              <a:t>int</a:t>
            </a:r>
            <a:r>
              <a:rPr lang="zh-CN" altLang="en-US" sz="1400" b="1" dirty="0">
                <a:solidFill>
                  <a:srgbClr val="C00000"/>
                </a:solidFill>
              </a:rPr>
              <a:t>型数据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a[0][0]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a[0][15]</a:t>
            </a:r>
            <a:r>
              <a:rPr lang="zh-CN" altLang="en-US" sz="1400" b="1" dirty="0"/>
              <a:t>），后续</a:t>
            </a:r>
            <a:r>
              <a:rPr lang="en-US" altLang="zh-CN" sz="1400" b="1" dirty="0"/>
              <a:t>15</a:t>
            </a:r>
            <a:r>
              <a:rPr lang="zh-CN" altLang="en-US" sz="1400" b="1" dirty="0"/>
              <a:t>次访问均命中；程序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的所有数据访问都符合这一规律；因此命中率</a:t>
            </a:r>
            <a:r>
              <a:rPr lang="en-US" altLang="zh-CN" sz="1400" b="1" dirty="0"/>
              <a:t>=15/16= </a:t>
            </a:r>
            <a:r>
              <a:rPr lang="en-US" altLang="zh-CN" sz="1400" b="1" dirty="0">
                <a:solidFill>
                  <a:srgbClr val="C00000"/>
                </a:solidFill>
              </a:rPr>
              <a:t>93.75%</a:t>
            </a: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按照数组的列执行外层循环，其</a:t>
            </a:r>
            <a:r>
              <a:rPr lang="zh-CN" altLang="en-US" sz="1400" b="1" dirty="0">
                <a:highlight>
                  <a:srgbClr val="FFFF00"/>
                </a:highlight>
              </a:rPr>
              <a:t>数据访问顺序与存储顺序不同</a:t>
            </a:r>
            <a:r>
              <a:rPr lang="zh-CN" altLang="en-US" sz="1400" b="1" dirty="0"/>
              <a:t>；第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a[0][0]</a:t>
            </a:r>
            <a:r>
              <a:rPr lang="zh-CN" altLang="en-US" sz="1400" b="1" dirty="0"/>
              <a:t>，缺失，需要载入数据块（载入</a:t>
            </a:r>
            <a:r>
              <a:rPr lang="en-US" altLang="zh-CN" sz="1400" b="1" dirty="0"/>
              <a:t>16</a:t>
            </a:r>
            <a:r>
              <a:rPr lang="zh-CN" altLang="en-US" sz="1400" b="1" dirty="0"/>
              <a:t>个</a:t>
            </a:r>
            <a:r>
              <a:rPr lang="en-US" altLang="zh-CN" sz="1400" b="1" dirty="0"/>
              <a:t>int</a:t>
            </a:r>
            <a:r>
              <a:rPr lang="zh-CN" altLang="en-US" sz="1400" b="1" dirty="0"/>
              <a:t>型数据：</a:t>
            </a:r>
            <a:r>
              <a:rPr lang="en-US" altLang="zh-CN" sz="1400" b="1" dirty="0"/>
              <a:t>a[0][0]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a[0][15]</a:t>
            </a:r>
            <a:r>
              <a:rPr lang="zh-CN" altLang="en-US" sz="1400" b="1" dirty="0"/>
              <a:t>）；第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次访问的数组元素是</a:t>
            </a:r>
            <a:r>
              <a:rPr lang="en-US" altLang="zh-CN" sz="1400" b="1" dirty="0"/>
              <a:t>a[1][0]</a:t>
            </a:r>
            <a:r>
              <a:rPr lang="zh-CN" altLang="en-US" sz="1400" b="1" dirty="0"/>
              <a:t>，仍然是缺失；程序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的所有数据访问都符合这一规律，均为缺失；因此命中率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</a:t>
            </a:r>
          </a:p>
          <a:p>
            <a:pPr lvl="2" eaLnBrk="1" hangingPunct="1"/>
            <a:r>
              <a:rPr lang="zh-CN" altLang="en-US" sz="1400" b="1" dirty="0"/>
              <a:t>因此，</a:t>
            </a:r>
            <a:r>
              <a:rPr lang="zh-CN" altLang="en-US" sz="1400" b="1" dirty="0">
                <a:highlight>
                  <a:srgbClr val="FFFF00"/>
                </a:highlight>
              </a:rPr>
              <a:t>程序</a:t>
            </a:r>
            <a:r>
              <a:rPr lang="en-US" altLang="zh-CN" sz="1400" b="1" dirty="0">
                <a:highlight>
                  <a:srgbClr val="FFFF00"/>
                </a:highlight>
              </a:rPr>
              <a:t>A</a:t>
            </a:r>
            <a:r>
              <a:rPr lang="zh-CN" altLang="en-US" sz="1400" b="1" dirty="0">
                <a:highlight>
                  <a:srgbClr val="FFFF00"/>
                </a:highlight>
              </a:rPr>
              <a:t>比程序</a:t>
            </a:r>
            <a:r>
              <a:rPr lang="en-US" altLang="zh-CN" sz="1400" b="1" dirty="0">
                <a:highlight>
                  <a:srgbClr val="FFFF00"/>
                </a:highlight>
              </a:rPr>
              <a:t>B</a:t>
            </a:r>
            <a:r>
              <a:rPr lang="zh-CN" altLang="en-US" sz="1400" b="1" dirty="0">
                <a:highlight>
                  <a:srgbClr val="FFFF00"/>
                </a:highlight>
              </a:rPr>
              <a:t>执行时间更短</a:t>
            </a:r>
            <a:endParaRPr lang="en-US" altLang="zh-CN" sz="1400" b="1" dirty="0">
              <a:highlight>
                <a:srgbClr val="FFFF00"/>
              </a:highlight>
            </a:endParaRPr>
          </a:p>
          <a:p>
            <a:pPr lvl="2" eaLnBrk="1" hangingPunct="1"/>
            <a:endParaRPr lang="en-US" altLang="zh-CN" sz="1600" b="1" dirty="0"/>
          </a:p>
        </p:txBody>
      </p:sp>
      <p:graphicFrame>
        <p:nvGraphicFramePr>
          <p:cNvPr id="3" name="表格 4">
            <a:extLst>
              <a:ext uri="{FF2B5EF4-FFF2-40B4-BE49-F238E27FC236}">
                <a16:creationId xmlns:a16="http://schemas.microsoft.com/office/drawing/2014/main" id="{D22B3619-1BFC-4D4D-9E66-DA882BE08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1741866"/>
              </p:ext>
            </p:extLst>
          </p:nvPr>
        </p:nvGraphicFramePr>
        <p:xfrm>
          <a:off x="107504" y="5445224"/>
          <a:ext cx="880669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2168">
                  <a:extLst>
                    <a:ext uri="{9D8B030D-6E8A-4147-A177-3AD203B41FA5}">
                      <a16:colId xmlns:a16="http://schemas.microsoft.com/office/drawing/2014/main" val="127407015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1142347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848571558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036730956"/>
                    </a:ext>
                  </a:extLst>
                </a:gridCol>
                <a:gridCol w="577564">
                  <a:extLst>
                    <a:ext uri="{9D8B030D-6E8A-4147-A177-3AD203B41FA5}">
                      <a16:colId xmlns:a16="http://schemas.microsoft.com/office/drawing/2014/main" val="1344806240"/>
                    </a:ext>
                  </a:extLst>
                </a:gridCol>
                <a:gridCol w="681821">
                  <a:extLst>
                    <a:ext uri="{9D8B030D-6E8A-4147-A177-3AD203B41FA5}">
                      <a16:colId xmlns:a16="http://schemas.microsoft.com/office/drawing/2014/main" val="3339014827"/>
                    </a:ext>
                  </a:extLst>
                </a:gridCol>
                <a:gridCol w="684831">
                  <a:extLst>
                    <a:ext uri="{9D8B030D-6E8A-4147-A177-3AD203B41FA5}">
                      <a16:colId xmlns:a16="http://schemas.microsoft.com/office/drawing/2014/main" val="204655620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52190887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340753205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2821547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1953137346"/>
                    </a:ext>
                  </a:extLst>
                </a:gridCol>
                <a:gridCol w="741803">
                  <a:extLst>
                    <a:ext uri="{9D8B030D-6E8A-4147-A177-3AD203B41FA5}">
                      <a16:colId xmlns:a16="http://schemas.microsoft.com/office/drawing/2014/main" val="606661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j-lt"/>
                        </a:rPr>
                        <a:t>存储顺序（行优先）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a[0][0]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a[0][1]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a[0][2]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a[0][3]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a[0][4]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…..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a[0][31]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…..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a[0][255]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a[1][0]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j-lt"/>
                        </a:rPr>
                        <a:t>a[1][1]</a:t>
                      </a:r>
                      <a:endParaRPr lang="zh-CN" altLang="en-US" sz="12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580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j-lt"/>
                        </a:rPr>
                        <a:t>访问顺序（行优先）</a:t>
                      </a: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a[0][0]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a[0][1]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a[0][2]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a[0][3]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a[0][4]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…..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a[0][31]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…..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a[0][255]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a[1][0]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a[1][1]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620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+mj-lt"/>
                        </a:rPr>
                        <a:t>访问顺序（列优先）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a[0][0]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a[1][0]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a[2][0]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a[3][0]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a[4][0]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…..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a[31][0]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…..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a[255][0]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a[0][1]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 b="1" dirty="0">
                          <a:latin typeface="+mj-lt"/>
                        </a:rPr>
                        <a:t>a[1][1]</a:t>
                      </a:r>
                      <a:endParaRPr lang="zh-CN" altLang="en-US" sz="1100" b="1" dirty="0">
                        <a:latin typeface="+mj-lt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482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703123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B42CB69-A925-4528-B236-78889CDE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122" y="3140968"/>
            <a:ext cx="8611126" cy="263417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6152F7C-7285-4917-97C5-89092884585E}"/>
              </a:ext>
            </a:extLst>
          </p:cNvPr>
          <p:cNvSpPr txBox="1"/>
          <p:nvPr/>
        </p:nvSpPr>
        <p:spPr>
          <a:xfrm>
            <a:off x="3779912" y="5656928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全相联映射电路图（</a:t>
            </a:r>
            <a:r>
              <a:rPr lang="en-US" altLang="zh-CN" sz="1600" b="1" dirty="0"/>
              <a:t>Logisim</a:t>
            </a:r>
            <a:r>
              <a:rPr lang="zh-CN" altLang="en-US" sz="1600" b="1" dirty="0"/>
              <a:t>仿真）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698111A-6286-470A-94F3-4B3BFCA25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263312"/>
            <a:ext cx="7539245" cy="2197734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016D37B-1698-4D12-96D6-745D42C2C080}"/>
              </a:ext>
            </a:extLst>
          </p:cNvPr>
          <p:cNvSpPr txBox="1"/>
          <p:nvPr/>
        </p:nvSpPr>
        <p:spPr>
          <a:xfrm>
            <a:off x="3073793" y="2478815"/>
            <a:ext cx="2736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直接相联映射电路图</a:t>
            </a:r>
            <a:endParaRPr lang="en-US" altLang="zh-CN" sz="1600" b="1" dirty="0"/>
          </a:p>
          <a:p>
            <a:pPr algn="ctr"/>
            <a:r>
              <a:rPr lang="zh-CN" altLang="en-US" sz="1600" b="1" dirty="0"/>
              <a:t>（</a:t>
            </a:r>
            <a:r>
              <a:rPr lang="en-US" altLang="zh-CN" sz="1600" b="1" dirty="0" err="1"/>
              <a:t>logisim</a:t>
            </a:r>
            <a:r>
              <a:rPr lang="zh-CN" altLang="en-US" sz="1600" b="1" dirty="0"/>
              <a:t>仿真）</a:t>
            </a:r>
          </a:p>
        </p:txBody>
      </p:sp>
    </p:spTree>
    <p:extLst>
      <p:ext uri="{BB962C8B-B14F-4D97-AF65-F5344CB8AC3E}">
        <p14:creationId xmlns:p14="http://schemas.microsoft.com/office/powerpoint/2010/main" val="3888967160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DC7D6-6531-4747-AD67-034EE9F8E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512" y="980728"/>
            <a:ext cx="8229600" cy="554461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、组相联映射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）组相联映射基本原理</a:t>
            </a:r>
            <a:endParaRPr lang="en-US" altLang="zh-CN" sz="16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600" b="1" dirty="0">
                <a:solidFill>
                  <a:srgbClr val="C00000"/>
                </a:solidFill>
              </a:rPr>
              <a:t>全相联映射</a:t>
            </a:r>
            <a:r>
              <a:rPr lang="zh-CN" altLang="en-US" sz="1600" b="1" dirty="0"/>
              <a:t>命中率高，但是查找电路硬件成本也高；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查找电路硬件成本低，但是命中率也低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>
                <a:solidFill>
                  <a:srgbClr val="C00000"/>
                </a:solidFill>
              </a:rPr>
              <a:t>组相联映射</a:t>
            </a:r>
            <a:r>
              <a:rPr lang="zh-CN" altLang="en-US" sz="1600" b="1" dirty="0"/>
              <a:t>是直接相联映射和全相联映射的折中，既能提高命中率，又能降低查找电路的硬件成本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组相联映射将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分成若干个固定大小的组，每个组有</a:t>
            </a:r>
            <a:r>
              <a:rPr lang="en-US" altLang="zh-CN" sz="1600" b="1" dirty="0"/>
              <a:t>k</a:t>
            </a:r>
            <a:r>
              <a:rPr lang="zh-CN" altLang="en-US" sz="1600" b="1" dirty="0"/>
              <a:t>行，称为</a:t>
            </a:r>
            <a:r>
              <a:rPr lang="en-US" altLang="zh-CN" sz="1600" b="1" dirty="0">
                <a:solidFill>
                  <a:srgbClr val="C00000"/>
                </a:solidFill>
              </a:rPr>
              <a:t>k-</a:t>
            </a:r>
            <a:r>
              <a:rPr lang="zh-CN" altLang="en-US" sz="1600" b="1" dirty="0">
                <a:solidFill>
                  <a:srgbClr val="C00000"/>
                </a:solidFill>
              </a:rPr>
              <a:t>路组相联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主存数据块首先采用直接相联映射方式映射到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的某一组，然后按照全相联映射方式映射到该组内的任意一行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假设主存块号为</a:t>
            </a:r>
            <a:r>
              <a:rPr lang="en-US" altLang="zh-CN" sz="1600" b="1" dirty="0"/>
              <a:t>j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组号为</a:t>
            </a:r>
            <a:r>
              <a:rPr lang="en-US" altLang="zh-CN" sz="1600" b="1" dirty="0" err="1"/>
              <a:t>i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共有</a:t>
            </a:r>
            <a:r>
              <a:rPr lang="en-US" altLang="zh-CN" sz="1600" b="1" dirty="0"/>
              <a:t>n</a:t>
            </a:r>
            <a:r>
              <a:rPr lang="zh-CN" altLang="en-US" sz="1600" b="1" dirty="0"/>
              <a:t>组，则有：</a:t>
            </a:r>
            <a:r>
              <a:rPr lang="en-US" altLang="zh-CN" sz="1600" b="1" dirty="0" err="1">
                <a:solidFill>
                  <a:srgbClr val="C00000"/>
                </a:solidFill>
              </a:rPr>
              <a:t>i</a:t>
            </a:r>
            <a:r>
              <a:rPr lang="en-US" altLang="zh-CN" sz="1600" b="1" dirty="0">
                <a:solidFill>
                  <a:srgbClr val="C00000"/>
                </a:solidFill>
              </a:rPr>
              <a:t> = j  mod  n</a:t>
            </a:r>
          </a:p>
          <a:p>
            <a:pPr lvl="3"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lvl="3" eaLnBrk="1" hangingPunct="1"/>
            <a:r>
              <a:rPr lang="zh-CN" altLang="en-US" sz="1600" b="1" dirty="0"/>
              <a:t>主存地址 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组索引（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块内偏移（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96894271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E8C902-8C3E-4B13-BDEB-5A3D7C604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0618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地址映射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113196"/>
            <a:ext cx="8229600" cy="4525963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地址映射过程：根据主存地址中的组索引（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）找到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的对应组，将主存地址中的标记（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）与该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组的所有行的标记（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）进行比较，比较相等且有效位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则为</a:t>
            </a:r>
            <a:r>
              <a:rPr lang="zh-CN" altLang="en-US" sz="1600" b="1" dirty="0">
                <a:solidFill>
                  <a:srgbClr val="C00000"/>
                </a:solidFill>
              </a:rPr>
              <a:t>命中</a:t>
            </a:r>
            <a:r>
              <a:rPr lang="zh-CN" altLang="en-US" sz="1600" b="1" dirty="0"/>
              <a:t>，否则为</a:t>
            </a:r>
            <a:r>
              <a:rPr lang="zh-CN" altLang="en-US" sz="1600" b="1" dirty="0">
                <a:solidFill>
                  <a:srgbClr val="C00000"/>
                </a:solidFill>
              </a:rPr>
              <a:t>缺失（</a:t>
            </a:r>
            <a:r>
              <a:rPr lang="zh-CN" altLang="en-US" sz="1600" b="1" dirty="0"/>
              <a:t>没有一个比较相等，或者是比较相等但有效位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9D8CE95-49FC-425F-A2A0-6279528C1945}"/>
              </a:ext>
            </a:extLst>
          </p:cNvPr>
          <p:cNvGrpSpPr/>
          <p:nvPr/>
        </p:nvGrpSpPr>
        <p:grpSpPr>
          <a:xfrm>
            <a:off x="1642015" y="2092792"/>
            <a:ext cx="6314361" cy="4000504"/>
            <a:chOff x="1619672" y="2256553"/>
            <a:chExt cx="6314361" cy="4000504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038D5222-7256-4344-99E7-6085F58D9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19672" y="2256553"/>
              <a:ext cx="6314361" cy="3303971"/>
            </a:xfrm>
            <a:prstGeom prst="rect">
              <a:avLst/>
            </a:prstGeom>
          </p:spPr>
        </p:pic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EFE7E62-E456-47E8-8856-41FF4C68B938}"/>
                </a:ext>
              </a:extLst>
            </p:cNvPr>
            <p:cNvSpPr txBox="1"/>
            <p:nvPr/>
          </p:nvSpPr>
          <p:spPr>
            <a:xfrm>
              <a:off x="3203848" y="5949280"/>
              <a:ext cx="4572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4.41</a:t>
              </a:r>
              <a:r>
                <a:rPr lang="zh-CN" altLang="en-US" sz="1400" b="1" dirty="0"/>
                <a:t>    </a:t>
              </a:r>
              <a:r>
                <a:rPr lang="en-US" altLang="zh-CN" sz="1400" b="1" dirty="0"/>
                <a:t>2</a:t>
              </a:r>
              <a:r>
                <a:rPr lang="zh-CN" altLang="en-US" sz="1400" b="1" dirty="0"/>
                <a:t>路组相联映射逻辑示意图</a:t>
              </a:r>
              <a:endParaRPr lang="zh-CN" altLang="en-US" sz="1400" dirty="0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E108CF5E-31D7-4232-A29D-8803306E31E0}"/>
              </a:ext>
            </a:extLst>
          </p:cNvPr>
          <p:cNvSpPr txBox="1"/>
          <p:nvPr/>
        </p:nvSpPr>
        <p:spPr>
          <a:xfrm>
            <a:off x="899592" y="6416671"/>
            <a:ext cx="3672408" cy="26161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zh-CN" altLang="en-US" sz="1100" b="1" dirty="0"/>
              <a:t>主存地址 = 标记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tag</a:t>
            </a:r>
            <a:r>
              <a:rPr lang="en-US" altLang="zh-CN" sz="1100" b="1" dirty="0"/>
              <a:t>)</a:t>
            </a:r>
            <a:r>
              <a:rPr lang="zh-CN" altLang="en-US" sz="1100" b="1" dirty="0"/>
              <a:t> + 组索引</a:t>
            </a:r>
            <a:r>
              <a:rPr lang="en-US" altLang="zh-CN" sz="1100" b="1" dirty="0"/>
              <a:t>(index) + </a:t>
            </a:r>
            <a:r>
              <a:rPr lang="zh-CN" altLang="en-US" sz="1100" b="1" dirty="0"/>
              <a:t>块内偏移</a:t>
            </a:r>
            <a:r>
              <a:rPr lang="en-US" altLang="zh-CN" sz="1100" b="1" dirty="0"/>
              <a:t>(offset)</a:t>
            </a:r>
            <a:endParaRPr lang="zh-CN" altLang="en-US" sz="1100" b="1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B16651-E03D-46B2-99A5-FACDD85A887D}"/>
              </a:ext>
            </a:extLst>
          </p:cNvPr>
          <p:cNvSpPr txBox="1"/>
          <p:nvPr/>
        </p:nvSpPr>
        <p:spPr>
          <a:xfrm>
            <a:off x="4721746" y="6416671"/>
            <a:ext cx="3538736" cy="261610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altLang="zh-CN" sz="1100" b="1" dirty="0"/>
              <a:t>cache</a:t>
            </a:r>
            <a:r>
              <a:rPr lang="zh-CN" altLang="en-US" sz="1100" b="1" dirty="0"/>
              <a:t>每一行包括：有效位、标记</a:t>
            </a:r>
            <a:r>
              <a:rPr lang="en-US" altLang="zh-CN" sz="1100" b="1" dirty="0"/>
              <a:t>(</a:t>
            </a:r>
            <a:r>
              <a:rPr lang="zh-CN" altLang="en-US" sz="1100" b="1" dirty="0"/>
              <a:t>tag</a:t>
            </a:r>
            <a:r>
              <a:rPr lang="en-US" altLang="zh-CN" sz="1100" b="1" dirty="0"/>
              <a:t>)</a:t>
            </a:r>
            <a:r>
              <a:rPr lang="zh-CN" altLang="en-US" sz="1100" b="1" dirty="0"/>
              <a:t>、数据块副本</a:t>
            </a:r>
          </a:p>
        </p:txBody>
      </p:sp>
    </p:spTree>
    <p:extLst>
      <p:ext uri="{BB962C8B-B14F-4D97-AF65-F5344CB8AC3E}">
        <p14:creationId xmlns:p14="http://schemas.microsoft.com/office/powerpoint/2010/main" val="61490601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2AB60AA-7D8F-4927-8B10-1022570F1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2095961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F09CB5A-D16C-405E-8D84-15677EA8CFF0}"/>
              </a:ext>
            </a:extLst>
          </p:cNvPr>
          <p:cNvSpPr txBox="1"/>
          <p:nvPr/>
        </p:nvSpPr>
        <p:spPr>
          <a:xfrm>
            <a:off x="3275856" y="2107509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/>
              <a:t>2</a:t>
            </a:r>
            <a:r>
              <a:rPr lang="zh-CN" altLang="en-US" sz="1600" b="1" dirty="0"/>
              <a:t>路组相联仿真电路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9CEC10-5B42-470F-BF27-C61FDF012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2603122"/>
            <a:ext cx="4699050" cy="3353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A6863E2-EE58-4C38-97A8-34A427886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251" y="2996952"/>
            <a:ext cx="3285588" cy="220456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5F3AAA82-1CE7-4C10-B24D-60A53691A7BD}"/>
              </a:ext>
            </a:extLst>
          </p:cNvPr>
          <p:cNvSpPr txBox="1"/>
          <p:nvPr/>
        </p:nvSpPr>
        <p:spPr>
          <a:xfrm>
            <a:off x="5692925" y="5419566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/>
              <a:t>LRU</a:t>
            </a:r>
            <a:r>
              <a:rPr lang="zh-CN" altLang="en-US" sz="1600" b="1" dirty="0"/>
              <a:t>块替换策略</a:t>
            </a:r>
          </a:p>
        </p:txBody>
      </p:sp>
    </p:spTree>
    <p:extLst>
      <p:ext uri="{BB962C8B-B14F-4D97-AF65-F5344CB8AC3E}">
        <p14:creationId xmlns:p14="http://schemas.microsoft.com/office/powerpoint/2010/main" val="102110925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0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1800" b="1" dirty="0"/>
              <a:t>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）组相联映射硬件实现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600" b="1" dirty="0"/>
              <a:t>假设：主存地址（</a:t>
            </a:r>
            <a:r>
              <a:rPr lang="en-US" altLang="zh-CN" sz="1600" b="1" dirty="0"/>
              <a:t>9</a:t>
            </a:r>
            <a:r>
              <a:rPr lang="zh-CN" altLang="en-US" sz="1600" b="1" dirty="0"/>
              <a:t>位）</a:t>
            </a:r>
            <a:r>
              <a:rPr lang="en-US" altLang="zh-CN" sz="1600" b="1" dirty="0"/>
              <a:t>= </a:t>
            </a:r>
            <a:r>
              <a:rPr lang="zh-CN" altLang="en-US" sz="1600" b="1" dirty="0"/>
              <a:t>标记</a:t>
            </a:r>
            <a:r>
              <a:rPr lang="en-US" altLang="zh-CN" sz="1600" b="1" dirty="0"/>
              <a:t>tag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5</a:t>
            </a:r>
            <a:r>
              <a:rPr lang="zh-CN" altLang="en-US" sz="1600" b="1" dirty="0"/>
              <a:t>位）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组索引</a:t>
            </a:r>
            <a:r>
              <a:rPr lang="en-US" altLang="zh-CN" sz="1600" b="1" dirty="0"/>
              <a:t>index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位） </a:t>
            </a:r>
            <a:r>
              <a:rPr lang="en-US" altLang="zh-CN" sz="1600" b="1" dirty="0"/>
              <a:t>+ </a:t>
            </a:r>
            <a:r>
              <a:rPr lang="zh-CN" altLang="en-US" sz="1600" b="1" dirty="0"/>
              <a:t>块内偏移</a:t>
            </a:r>
            <a:r>
              <a:rPr lang="en-US" altLang="zh-CN" sz="1600" b="1" dirty="0"/>
              <a:t>offset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组索引为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组（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）；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路组相联映射，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每组有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行，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共有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行；块内偏移为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位，因此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的每一行数据块副本缓冲区中有</a:t>
            </a:r>
            <a:r>
              <a:rPr lang="en-US" altLang="zh-CN" sz="1600" b="1" dirty="0"/>
              <a:t>4</a:t>
            </a:r>
            <a:r>
              <a:rPr lang="zh-CN" altLang="en-US" sz="1600" b="1" dirty="0"/>
              <a:t>个字（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</a:t>
            </a:r>
            <a:r>
              <a:rPr lang="en-US" altLang="zh-CN" sz="1600" b="1" dirty="0"/>
              <a:t>=4</a:t>
            </a:r>
            <a:r>
              <a:rPr lang="zh-CN" altLang="en-US" sz="1600" b="1" dirty="0"/>
              <a:t>）</a:t>
            </a:r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727E94E-2791-4D92-A45C-0C3ECFC14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233" y="5928874"/>
            <a:ext cx="640342" cy="86269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C81B2BA-AEB2-4AD1-BE6A-F89D48F1DB31}"/>
              </a:ext>
            </a:extLst>
          </p:cNvPr>
          <p:cNvSpPr txBox="1"/>
          <p:nvPr/>
        </p:nvSpPr>
        <p:spPr>
          <a:xfrm>
            <a:off x="1835696" y="6505599"/>
            <a:ext cx="60121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图</a:t>
            </a:r>
            <a:r>
              <a:rPr lang="en-US" altLang="zh-CN" sz="1400" b="1" dirty="0"/>
              <a:t>4.42  </a:t>
            </a:r>
            <a:r>
              <a:rPr lang="zh-CN" altLang="en-US" sz="1400" b="1" dirty="0"/>
              <a:t>  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路组相联映射的硬件逻辑实现框图（该图只有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，没有主存）</a:t>
            </a:r>
            <a:endParaRPr lang="zh-CN" altLang="en-US" sz="1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A2C0D01-F40A-4439-816F-A9D965127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9596" y="2442922"/>
            <a:ext cx="6850974" cy="379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51115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5158" y="260648"/>
            <a:ext cx="8229600" cy="2634803"/>
          </a:xfrm>
        </p:spPr>
        <p:txBody>
          <a:bodyPr/>
          <a:lstStyle/>
          <a:p>
            <a:pPr lvl="1" eaLnBrk="1" hangingPunct="1"/>
            <a:r>
              <a:rPr lang="zh-CN" altLang="en-US" sz="1400" b="1" dirty="0"/>
              <a:t>现要求访问主存地址（十六进制）分别为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7</a:t>
            </a:r>
            <a:r>
              <a:rPr lang="zh-CN" altLang="en-US" sz="1400" b="1" dirty="0"/>
              <a:t>个字，请给出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路组相联映射的访问过程</a:t>
            </a:r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的字时，因为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初始态为空，访问缺失，需要将主存地址为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所在的块（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个字，地址分别为：</a:t>
            </a:r>
            <a:r>
              <a:rPr lang="en-US" altLang="zh-CN" sz="1400" b="1" dirty="0"/>
              <a:t>1C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1D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1E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）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r>
              <a:rPr lang="zh-CN" altLang="en-US" sz="1400" b="1" dirty="0"/>
              <a:t>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组（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对应的组索引</a:t>
            </a:r>
            <a:r>
              <a:rPr lang="en-US" altLang="zh-CN" sz="1400" b="1" dirty="0"/>
              <a:t>=3</a:t>
            </a:r>
            <a:r>
              <a:rPr lang="zh-CN" altLang="en-US" sz="1400" b="1" dirty="0"/>
              <a:t>）的任意一行（比如第</a:t>
            </a:r>
            <a:r>
              <a:rPr lang="en-US" altLang="zh-CN" sz="1400" b="1" dirty="0"/>
              <a:t>6</a:t>
            </a:r>
            <a:r>
              <a:rPr lang="zh-CN" altLang="en-US" sz="1400" b="1" dirty="0"/>
              <a:t>行），并将该行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置为主存的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00001</a:t>
            </a:r>
            <a:r>
              <a:rPr lang="zh-CN" altLang="en-US" sz="1400" b="1" dirty="0"/>
              <a:t>）、</a:t>
            </a:r>
            <a:r>
              <a:rPr lang="en-US" altLang="zh-CN" sz="1400" b="1" dirty="0"/>
              <a:t>valid</a:t>
            </a:r>
            <a:r>
              <a:rPr lang="zh-CN" altLang="en-US" sz="1400" b="1" dirty="0"/>
              <a:t>置为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；访问主存地址为</a:t>
            </a:r>
            <a:r>
              <a:rPr lang="en-US" altLang="zh-CN" sz="1400" b="1" dirty="0"/>
              <a:t>20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24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48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54</a:t>
            </a:r>
            <a:r>
              <a:rPr lang="zh-CN" altLang="en-US" sz="1400" b="1" dirty="0"/>
              <a:t>、</a:t>
            </a:r>
            <a:r>
              <a:rPr lang="en-US" altLang="zh-CN" sz="1400" b="1" dirty="0"/>
              <a:t>103</a:t>
            </a:r>
            <a:r>
              <a:rPr lang="zh-CN" altLang="en-US" sz="1400" b="1" dirty="0"/>
              <a:t>的字的过程，与访问主存地址为</a:t>
            </a:r>
            <a:r>
              <a:rPr lang="en-US" altLang="zh-CN" sz="1400" b="1" dirty="0"/>
              <a:t>1F</a:t>
            </a:r>
            <a:r>
              <a:rPr lang="zh-CN" altLang="en-US" sz="1400" b="1" dirty="0"/>
              <a:t>的字的过程类似，都属于</a:t>
            </a:r>
            <a:r>
              <a:rPr lang="zh-CN" altLang="en-US" sz="1400" b="1" dirty="0">
                <a:solidFill>
                  <a:srgbClr val="C00000"/>
                </a:solidFill>
              </a:rPr>
              <a:t>载入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400" b="1" dirty="0"/>
              <a:t>访问主存地址为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的字时，根据其组索引（</a:t>
            </a:r>
            <a:r>
              <a:rPr lang="en-US" altLang="zh-CN" sz="1400" b="1" dirty="0"/>
              <a:t>55</a:t>
            </a:r>
            <a:r>
              <a:rPr lang="zh-CN" altLang="en-US" sz="1400" b="1" dirty="0"/>
              <a:t>对应的组索引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）找到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的第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组，并比较主存的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00101</a:t>
            </a:r>
            <a:r>
              <a:rPr lang="zh-CN" altLang="en-US" sz="1400" b="1" dirty="0"/>
              <a:t>）与该组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</a:t>
            </a:r>
            <a:r>
              <a:rPr lang="en-US" altLang="zh-CN" sz="1400" b="1" dirty="0"/>
              <a:t>tag</a:t>
            </a:r>
            <a:r>
              <a:rPr lang="zh-CN" altLang="en-US" sz="1400" b="1" dirty="0"/>
              <a:t>，结果与第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行相同，且有效位</a:t>
            </a:r>
            <a:r>
              <a:rPr lang="en-US" altLang="zh-CN" sz="1400" b="1" dirty="0"/>
              <a:t>valid=1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400" b="1" dirty="0">
              <a:solidFill>
                <a:srgbClr val="FF0000"/>
              </a:solidFill>
            </a:endParaRPr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1400" b="1" dirty="0"/>
          </a:p>
          <a:p>
            <a:pPr lvl="1" eaLnBrk="1" hangingPunct="1"/>
            <a:endParaRPr lang="en-US" altLang="zh-CN" sz="22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</p:txBody>
      </p:sp>
      <p:graphicFrame>
        <p:nvGraphicFramePr>
          <p:cNvPr id="10" name="表格 10">
            <a:extLst>
              <a:ext uri="{FF2B5EF4-FFF2-40B4-BE49-F238E27FC236}">
                <a16:creationId xmlns:a16="http://schemas.microsoft.com/office/drawing/2014/main" id="{8C3BB98B-9C37-43BA-A9B3-EE52559386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42736"/>
              </p:ext>
            </p:extLst>
          </p:nvPr>
        </p:nvGraphicFramePr>
        <p:xfrm>
          <a:off x="323528" y="3406230"/>
          <a:ext cx="8640961" cy="30698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21809705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1468280038"/>
                    </a:ext>
                  </a:extLst>
                </a:gridCol>
                <a:gridCol w="1008113">
                  <a:extLst>
                    <a:ext uri="{9D8B030D-6E8A-4147-A177-3AD203B41FA5}">
                      <a16:colId xmlns:a16="http://schemas.microsoft.com/office/drawing/2014/main" val="266940719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9946647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9969293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4619217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79646159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792020277"/>
                    </a:ext>
                  </a:extLst>
                </a:gridCol>
              </a:tblGrid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访问序列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7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82827428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1F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48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55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103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58189008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（二进制）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00001</a:t>
                      </a:r>
                      <a:r>
                        <a:rPr lang="en-US" altLang="zh-CN" sz="1200" b="1" dirty="0"/>
                        <a:t> 11 11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00010 00 00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00010 01 00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00100 10 00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00101 01 00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solidFill>
                            <a:srgbClr val="C00000"/>
                          </a:solidFill>
                        </a:rPr>
                        <a:t>00101</a:t>
                      </a:r>
                      <a:r>
                        <a:rPr lang="en-US" altLang="zh-CN" sz="1200" b="1" dirty="0"/>
                        <a:t> 01 01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10000 00 11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248868917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主存地址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000" b="1" dirty="0"/>
                        <a:t>（</a:t>
                      </a:r>
                      <a:r>
                        <a:rPr lang="en-US" altLang="zh-CN" sz="1000" b="1" dirty="0" err="1"/>
                        <a:t>tag,index,offset</a:t>
                      </a:r>
                      <a:r>
                        <a:rPr lang="zh-CN" altLang="en-US" sz="1000" b="1" dirty="0"/>
                        <a:t>）</a:t>
                      </a:r>
                      <a:endParaRPr lang="en-US" altLang="zh-CN" sz="1200" b="1" dirty="0"/>
                    </a:p>
                    <a:p>
                      <a:pPr algn="ctr"/>
                      <a:r>
                        <a:rPr lang="zh-CN" altLang="en-US" sz="1200" b="1" dirty="0"/>
                        <a:t>（十六进制）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(1,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(2,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(4,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(5,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0)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(5,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altLang="zh-CN" sz="1200" b="1" dirty="0"/>
                        <a:t>, 1)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/>
                        <a:t>(10, </a:t>
                      </a:r>
                      <a:r>
                        <a:rPr lang="en-US" altLang="zh-CN" sz="12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US" altLang="zh-CN" sz="1200" b="1" dirty="0"/>
                        <a:t>, 3)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6944963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cache</a:t>
                      </a:r>
                      <a:r>
                        <a:rPr lang="zh-CN" altLang="en-US" sz="1200" b="1" dirty="0"/>
                        <a:t>组</a:t>
                      </a:r>
                      <a:r>
                        <a:rPr lang="en-US" altLang="zh-CN" sz="1200" b="1" dirty="0"/>
                        <a:t>/</a:t>
                      </a:r>
                      <a:r>
                        <a:rPr lang="zh-CN" altLang="en-US" sz="12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3/6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0/0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1/2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2/4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1/3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>
                          <a:highlight>
                            <a:srgbClr val="FFFF00"/>
                          </a:highlight>
                        </a:rPr>
                        <a:t>1/3</a:t>
                      </a:r>
                      <a:endParaRPr lang="zh-CN" altLang="en-US" sz="12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0/1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050360042"/>
                  </a:ext>
                </a:extLst>
              </a:tr>
              <a:tr h="49205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访问情况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solidFill>
                            <a:schemeClr val="tx1"/>
                          </a:solidFill>
                        </a:rPr>
                        <a:t>载入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35998225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DC74B75-E18F-42BD-81E1-639998CCF97F}"/>
              </a:ext>
            </a:extLst>
          </p:cNvPr>
          <p:cNvSpPr txBox="1"/>
          <p:nvPr/>
        </p:nvSpPr>
        <p:spPr>
          <a:xfrm>
            <a:off x="3203848" y="2996952"/>
            <a:ext cx="2574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1" dirty="0"/>
              <a:t>表</a:t>
            </a:r>
            <a:r>
              <a:rPr lang="en-US" altLang="zh-CN" sz="1400" b="1" dirty="0"/>
              <a:t>4.7</a:t>
            </a:r>
            <a:r>
              <a:rPr lang="zh-CN" altLang="en-US" sz="1400" b="1" dirty="0"/>
              <a:t>    组相联映射的访问过程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84727715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88641"/>
            <a:ext cx="8363272" cy="2762965"/>
          </a:xfrm>
        </p:spPr>
        <p:txBody>
          <a:bodyPr/>
          <a:lstStyle/>
          <a:p>
            <a:pPr eaLnBrk="1" hangingPunct="1"/>
            <a:r>
              <a:rPr lang="zh-CN" altLang="en-US" sz="1600" b="1" dirty="0"/>
              <a:t>比较表</a:t>
            </a:r>
            <a:r>
              <a:rPr lang="en-US" altLang="zh-CN" sz="1600" b="1" dirty="0"/>
              <a:t>4.7</a:t>
            </a:r>
            <a:r>
              <a:rPr lang="zh-CN" altLang="en-US" sz="1600" b="1" dirty="0"/>
              <a:t>（组相联映射）和表</a:t>
            </a:r>
            <a:r>
              <a:rPr lang="en-US" altLang="zh-CN" sz="1600" b="1" dirty="0"/>
              <a:t>4.5</a:t>
            </a:r>
            <a:r>
              <a:rPr lang="zh-CN" altLang="en-US" sz="1600" b="1" dirty="0"/>
              <a:t>（直接相联映射），组相联映射没有发生替换，其</a:t>
            </a:r>
            <a:r>
              <a:rPr lang="en-US" altLang="zh-CN" sz="1600" b="1" dirty="0"/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利用率</a:t>
            </a:r>
            <a:r>
              <a:rPr lang="zh-CN" altLang="en-US" sz="1600" b="1" dirty="0"/>
              <a:t>比直接相联映射</a:t>
            </a:r>
            <a:r>
              <a:rPr lang="zh-CN" altLang="en-US" sz="1600" b="1" dirty="0">
                <a:solidFill>
                  <a:srgbClr val="C00000"/>
                </a:solidFill>
              </a:rPr>
              <a:t>有所提高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比较图</a:t>
            </a:r>
            <a:r>
              <a:rPr lang="en-US" altLang="zh-CN" sz="1600" b="1" dirty="0"/>
              <a:t>4.41</a:t>
            </a:r>
            <a:r>
              <a:rPr lang="zh-CN" altLang="en-US" sz="1600" b="1" dirty="0"/>
              <a:t> （组相联映射）和图</a:t>
            </a:r>
            <a:r>
              <a:rPr lang="en-US" altLang="zh-CN" sz="1600" b="1" dirty="0"/>
              <a:t>4.36</a:t>
            </a:r>
            <a:r>
              <a:rPr lang="zh-CN" altLang="en-US" sz="1600" b="1" dirty="0"/>
              <a:t>（全相联映射） ，组相联映射只需要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路并发比较，而全相联映射需要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路并发比较，组相联映射的</a:t>
            </a:r>
            <a:r>
              <a:rPr lang="zh-CN" altLang="en-US" sz="1600" b="1" dirty="0">
                <a:solidFill>
                  <a:srgbClr val="C00000"/>
                </a:solidFill>
              </a:rPr>
              <a:t>硬件成本更低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当</a:t>
            </a:r>
            <a:r>
              <a:rPr lang="en-US" altLang="zh-CN" sz="1600" b="1" dirty="0"/>
              <a:t>k=1</a:t>
            </a:r>
            <a:r>
              <a:rPr lang="zh-CN" altLang="en-US" sz="1600" b="1" dirty="0"/>
              <a:t>时，即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的每组只有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行（</a:t>
            </a:r>
            <a:r>
              <a:rPr lang="en-US" altLang="zh-CN" sz="1600" b="1" dirty="0"/>
              <a:t>1-</a:t>
            </a:r>
            <a:r>
              <a:rPr lang="zh-CN" altLang="en-US" sz="1600" b="1" dirty="0"/>
              <a:t>路组相联），此时组相联映射演变为直接相联映射</a:t>
            </a:r>
            <a:endParaRPr lang="en-US" altLang="zh-CN" sz="1600" b="1" dirty="0"/>
          </a:p>
          <a:p>
            <a:pPr eaLnBrk="1" hangingPunct="1"/>
            <a:endParaRPr lang="en-US" altLang="zh-CN" sz="1600" b="1" dirty="0"/>
          </a:p>
          <a:p>
            <a:pPr eaLnBrk="1" hangingPunct="1"/>
            <a:r>
              <a:rPr lang="zh-CN" altLang="en-US" sz="1600" b="1" dirty="0"/>
              <a:t>当</a:t>
            </a:r>
            <a:r>
              <a:rPr lang="en-US" altLang="zh-CN" sz="1600" b="1" dirty="0"/>
              <a:t>n=1</a:t>
            </a:r>
            <a:r>
              <a:rPr lang="zh-CN" altLang="en-US" sz="1600" b="1" dirty="0"/>
              <a:t>时，即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只有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组，此时组相联映射演变为全相联映射</a:t>
            </a:r>
            <a:endParaRPr lang="en-US" altLang="zh-CN" sz="1600" b="1" dirty="0"/>
          </a:p>
          <a:p>
            <a:pPr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/>
            <a:endParaRPr lang="en-US" altLang="zh-CN" sz="1900" b="1" dirty="0">
              <a:solidFill>
                <a:srgbClr val="FF0000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8A8B2D6-9D10-413F-BDAF-F5F7B07779FA}"/>
              </a:ext>
            </a:extLst>
          </p:cNvPr>
          <p:cNvSpPr txBox="1"/>
          <p:nvPr/>
        </p:nvSpPr>
        <p:spPr>
          <a:xfrm>
            <a:off x="2267744" y="3140968"/>
            <a:ext cx="629816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/>
              <a:t>表</a:t>
            </a:r>
            <a:r>
              <a:rPr lang="en-US" altLang="zh-CN" sz="1200" b="1" dirty="0"/>
              <a:t>4.7</a:t>
            </a:r>
            <a:endParaRPr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C5E093-554B-4388-BB49-4459A9A1DB4B}"/>
              </a:ext>
            </a:extLst>
          </p:cNvPr>
          <p:cNvSpPr txBox="1"/>
          <p:nvPr/>
        </p:nvSpPr>
        <p:spPr>
          <a:xfrm>
            <a:off x="6585598" y="3004383"/>
            <a:ext cx="629816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200" b="1" dirty="0"/>
              <a:t>表</a:t>
            </a:r>
            <a:r>
              <a:rPr lang="en-US" altLang="zh-CN" sz="1200" b="1" dirty="0"/>
              <a:t>4.5</a:t>
            </a:r>
            <a:endParaRPr lang="zh-CN" altLang="en-US" sz="1200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0908EE79-7884-4D05-91E3-83032C74DC8F}"/>
              </a:ext>
            </a:extLst>
          </p:cNvPr>
          <p:cNvGrpSpPr/>
          <p:nvPr/>
        </p:nvGrpSpPr>
        <p:grpSpPr>
          <a:xfrm>
            <a:off x="568471" y="3068960"/>
            <a:ext cx="8287497" cy="3753307"/>
            <a:chOff x="568471" y="3140968"/>
            <a:chExt cx="8287497" cy="3753307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E4E5AE6-A587-4D0A-B0B4-0942CD043B6A}"/>
                </a:ext>
              </a:extLst>
            </p:cNvPr>
            <p:cNvGrpSpPr/>
            <p:nvPr/>
          </p:nvGrpSpPr>
          <p:grpSpPr>
            <a:xfrm>
              <a:off x="568471" y="3140968"/>
              <a:ext cx="8287497" cy="1512168"/>
              <a:chOff x="568471" y="3140968"/>
              <a:chExt cx="8287497" cy="1512168"/>
            </a:xfrm>
          </p:grpSpPr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3C6C1086-848A-4F89-96F5-534D641692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68471" y="3204619"/>
                <a:ext cx="3923928" cy="1448517"/>
              </a:xfrm>
              <a:prstGeom prst="rect">
                <a:avLst/>
              </a:prstGeom>
            </p:spPr>
          </p:pic>
          <p:pic>
            <p:nvPicPr>
              <p:cNvPr id="26" name="图片 25">
                <a:extLst>
                  <a:ext uri="{FF2B5EF4-FFF2-40B4-BE49-F238E27FC236}">
                    <a16:creationId xmlns:a16="http://schemas.microsoft.com/office/drawing/2014/main" id="{B1BC1612-7F00-46E4-820C-085092E045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0032" y="3171497"/>
                <a:ext cx="3995936" cy="1481639"/>
              </a:xfrm>
              <a:prstGeom prst="rect">
                <a:avLst/>
              </a:prstGeom>
            </p:spPr>
          </p:pic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B08A865-D596-4D0A-9C23-F61939E7B9DE}"/>
                  </a:ext>
                </a:extLst>
              </p:cNvPr>
              <p:cNvSpPr txBox="1"/>
              <p:nvPr/>
            </p:nvSpPr>
            <p:spPr>
              <a:xfrm>
                <a:off x="2267744" y="3140968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表</a:t>
                </a:r>
                <a:r>
                  <a:rPr lang="en-US" altLang="zh-CN" sz="1200" b="1" dirty="0"/>
                  <a:t>4.7</a:t>
                </a:r>
                <a:endParaRPr lang="zh-CN" altLang="en-US" sz="1200" dirty="0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32F0BD5B-577D-496C-81B6-DA898D031255}"/>
                  </a:ext>
                </a:extLst>
              </p:cNvPr>
              <p:cNvSpPr txBox="1"/>
              <p:nvPr/>
            </p:nvSpPr>
            <p:spPr>
              <a:xfrm>
                <a:off x="6606480" y="3152001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表</a:t>
                </a:r>
                <a:r>
                  <a:rPr lang="en-US" altLang="zh-CN" sz="1200" b="1" dirty="0"/>
                  <a:t>4.5</a:t>
                </a:r>
                <a:endParaRPr lang="zh-CN" altLang="en-US" sz="1200" dirty="0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F857EC66-DC45-4F20-B5EC-9FF6E44C0358}"/>
                </a:ext>
              </a:extLst>
            </p:cNvPr>
            <p:cNvGrpSpPr/>
            <p:nvPr/>
          </p:nvGrpSpPr>
          <p:grpSpPr>
            <a:xfrm>
              <a:off x="1291445" y="4880187"/>
              <a:ext cx="7132475" cy="2014088"/>
              <a:chOff x="1291445" y="4880187"/>
              <a:chExt cx="7132475" cy="2014088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C7D73127-BAB2-43E0-886E-AD52E7CDE417}"/>
                  </a:ext>
                </a:extLst>
              </p:cNvPr>
              <p:cNvSpPr txBox="1"/>
              <p:nvPr/>
            </p:nvSpPr>
            <p:spPr>
              <a:xfrm>
                <a:off x="2496288" y="6617276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4.41</a:t>
                </a:r>
                <a:endParaRPr lang="zh-CN" altLang="en-US" sz="1200" dirty="0"/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18191151-62C4-49AC-9D0B-01BD876FA420}"/>
                  </a:ext>
                </a:extLst>
              </p:cNvPr>
              <p:cNvSpPr txBox="1"/>
              <p:nvPr/>
            </p:nvSpPr>
            <p:spPr>
              <a:xfrm>
                <a:off x="6858000" y="6617276"/>
                <a:ext cx="629816" cy="276999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4.36</a:t>
                </a:r>
                <a:endParaRPr lang="zh-CN" altLang="en-US" sz="1200" dirty="0"/>
              </a:p>
            </p:txBody>
          </p:sp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8EEF1A32-C8AA-4FD4-9BFE-8A62A27B7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91445" y="4880187"/>
                <a:ext cx="3059832" cy="1576500"/>
              </a:xfrm>
              <a:prstGeom prst="rect">
                <a:avLst/>
              </a:prstGeom>
            </p:spPr>
          </p:pic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E604AE68-2C90-4D93-A776-985E703749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04048" y="4886642"/>
                <a:ext cx="3419872" cy="1582751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4979829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16632"/>
            <a:ext cx="8229600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、不同映射方式比较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主存地址：</a:t>
            </a:r>
            <a:endParaRPr lang="en-US" altLang="zh-CN" sz="16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全相联映射：主存地址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主存块地址（</a:t>
            </a:r>
            <a:r>
              <a:rPr lang="en-US" altLang="zh-CN" sz="1400" b="1" dirty="0"/>
              <a:t>s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直接相联映射：主存地址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区地址（</a:t>
            </a:r>
            <a:r>
              <a:rPr lang="en-US" altLang="zh-CN" sz="1400" b="1" dirty="0"/>
              <a:t>s-r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行索引（</a:t>
            </a:r>
            <a:r>
              <a:rPr lang="en-US" altLang="zh-CN" sz="1400" b="1" dirty="0"/>
              <a:t>r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3" eaLnBrk="1" hangingPunct="1">
              <a:buFont typeface="+mj-ea"/>
              <a:buAutoNum type="circleNumDbPlain"/>
            </a:pPr>
            <a:r>
              <a:rPr lang="zh-CN" altLang="en-US" sz="1400" b="1" dirty="0"/>
              <a:t>组相联映射：主存地址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标记（</a:t>
            </a:r>
            <a:r>
              <a:rPr lang="en-US" altLang="zh-CN" sz="1400" b="1" dirty="0"/>
              <a:t>s-d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组索引（</a:t>
            </a:r>
            <a:r>
              <a:rPr lang="en-US" altLang="zh-CN" sz="1400" b="1" dirty="0"/>
              <a:t>d</a:t>
            </a:r>
            <a:r>
              <a:rPr lang="zh-CN" altLang="en-US" sz="1400" b="1" dirty="0"/>
              <a:t>位）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块内偏移（</a:t>
            </a:r>
            <a:r>
              <a:rPr lang="en-US" altLang="zh-CN" sz="1400" b="1" dirty="0"/>
              <a:t>w</a:t>
            </a:r>
            <a:r>
              <a:rPr lang="zh-CN" altLang="en-US" sz="1400" b="1" dirty="0"/>
              <a:t>位）</a:t>
            </a:r>
            <a:endParaRPr lang="en-US" altLang="zh-CN" sz="1400" b="1" dirty="0"/>
          </a:p>
          <a:p>
            <a:pPr lvl="3" eaLnBrk="1" hangingPunct="1"/>
            <a:endParaRPr lang="en-US" altLang="zh-CN" sz="1400" b="1" dirty="0"/>
          </a:p>
          <a:p>
            <a:pPr lvl="3" eaLnBrk="1" hangingPunct="1"/>
            <a:r>
              <a:rPr lang="zh-CN" altLang="en-US" sz="1400" b="1" dirty="0"/>
              <a:t>并且：</a:t>
            </a:r>
            <a:r>
              <a:rPr lang="en-US" altLang="zh-CN" sz="1400" b="1" dirty="0"/>
              <a:t>s &gt; r &gt; d</a:t>
            </a:r>
            <a:r>
              <a:rPr lang="zh-CN" altLang="en-US" sz="1400" b="1" dirty="0"/>
              <a:t>；当</a:t>
            </a:r>
            <a:r>
              <a:rPr lang="en-US" altLang="zh-CN" sz="1400" b="1" dirty="0"/>
              <a:t>d=0</a:t>
            </a:r>
            <a:r>
              <a:rPr lang="zh-CN" altLang="en-US" sz="1400" b="1" dirty="0"/>
              <a:t>，组相联映射演变为全相联映射；当</a:t>
            </a:r>
            <a:r>
              <a:rPr lang="en-US" altLang="zh-CN" sz="1400" b="1" dirty="0"/>
              <a:t>d=r</a:t>
            </a:r>
            <a:r>
              <a:rPr lang="zh-CN" altLang="en-US" sz="1400" b="1" dirty="0"/>
              <a:t>，组相联映射演变为直接相联映射</a:t>
            </a:r>
            <a:endParaRPr lang="en-US" altLang="zh-CN" sz="1200" b="1" dirty="0"/>
          </a:p>
          <a:p>
            <a:pPr lvl="3" eaLnBrk="1" hangingPunct="1"/>
            <a:endParaRPr lang="en-US" altLang="zh-CN" sz="1200" b="1" dirty="0"/>
          </a:p>
          <a:p>
            <a:pPr lvl="2" eaLnBrk="1" hangingPunct="1"/>
            <a:r>
              <a:rPr lang="zh-CN" altLang="en-US" sz="1600" b="1" dirty="0"/>
              <a:t>直接相联映射：查找容易（主存的块对应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的唯一块），淘汰简单，但命中率较低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全相联映射：查找时并发比较的硬件成本最高，淘汰算法复杂，但命中率较高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组相联映射：兼具直接相联映射和全相联映射的优势，既能提高命中率，又能降低查找电路的硬件成本</a:t>
            </a:r>
            <a:endParaRPr lang="en-US" altLang="zh-CN" sz="14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80E4E34-E600-4A42-BB2A-913A1EEF8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904" y="5085184"/>
            <a:ext cx="3728320" cy="172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74233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99CFB2E-2A3B-45F7-BACE-23F360304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467" y="332656"/>
            <a:ext cx="3952981" cy="177715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5C340E6-FEDB-4203-9F28-E688A8973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4059" y="2564904"/>
            <a:ext cx="3930389" cy="16517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3AD0DC1-41E0-4510-9FA0-27176796F5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4694988"/>
            <a:ext cx="3990954" cy="190236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7ED27F0-0C1A-491B-9E03-A325275F5134}"/>
              </a:ext>
            </a:extLst>
          </p:cNvPr>
          <p:cNvSpPr txBox="1"/>
          <p:nvPr/>
        </p:nvSpPr>
        <p:spPr>
          <a:xfrm>
            <a:off x="539552" y="911042"/>
            <a:ext cx="3456384" cy="9387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1100" b="1" dirty="0"/>
              <a:t>全相联映射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zh-CN" altLang="en-US" sz="1100" b="1" dirty="0"/>
              <a:t>主存地址 </a:t>
            </a:r>
            <a:r>
              <a:rPr lang="en-US" altLang="zh-CN" sz="1100" b="1" dirty="0"/>
              <a:t>= </a:t>
            </a:r>
            <a:r>
              <a:rPr lang="zh-CN" altLang="en-US" sz="1100" b="1" dirty="0"/>
              <a:t>主存块地址（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10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en-US" altLang="zh-CN" sz="1100" b="1" dirty="0"/>
              <a:t>cache</a:t>
            </a:r>
            <a:r>
              <a:rPr lang="zh-CN" altLang="en-US" sz="1100" b="1" dirty="0"/>
              <a:t>地址 </a:t>
            </a:r>
            <a:r>
              <a:rPr lang="en-US" altLang="zh-CN" sz="1100" b="1" dirty="0"/>
              <a:t>= cache</a:t>
            </a:r>
            <a:r>
              <a:rPr lang="zh-CN" altLang="en-US" sz="1100" b="1" dirty="0"/>
              <a:t>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D69EBF4-678A-4837-9A50-65EBDDE589A2}"/>
              </a:ext>
            </a:extLst>
          </p:cNvPr>
          <p:cNvSpPr txBox="1"/>
          <p:nvPr/>
        </p:nvSpPr>
        <p:spPr>
          <a:xfrm>
            <a:off x="467544" y="2780928"/>
            <a:ext cx="3744416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sz="1100" b="1" dirty="0"/>
              <a:t>直接相联映射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zh-CN" altLang="en-US" sz="1100" b="1" dirty="0"/>
              <a:t>主存地址 </a:t>
            </a:r>
            <a:r>
              <a:rPr lang="en-US" altLang="zh-CN" sz="1100" b="1" dirty="0"/>
              <a:t>= </a:t>
            </a:r>
            <a:r>
              <a:rPr lang="zh-CN" altLang="en-US" sz="1100" b="1" dirty="0"/>
              <a:t>区地址（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行索引（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en-US" altLang="zh-CN" sz="1100" b="1" dirty="0"/>
              <a:t>cache</a:t>
            </a:r>
            <a:r>
              <a:rPr lang="zh-CN" altLang="en-US" sz="1100" b="1" dirty="0"/>
              <a:t>地址 </a:t>
            </a:r>
            <a:r>
              <a:rPr lang="en-US" altLang="zh-CN" sz="1100" b="1" dirty="0"/>
              <a:t>= cache</a:t>
            </a:r>
            <a:r>
              <a:rPr lang="zh-CN" altLang="en-US" sz="1100" b="1" dirty="0"/>
              <a:t>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C3C33C-BC28-4DCA-83AF-6829B624F28A}"/>
              </a:ext>
            </a:extLst>
          </p:cNvPr>
          <p:cNvSpPr txBox="1"/>
          <p:nvPr/>
        </p:nvSpPr>
        <p:spPr>
          <a:xfrm>
            <a:off x="467544" y="5013176"/>
            <a:ext cx="3888432" cy="11079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CN" sz="1100" b="1" dirty="0"/>
              <a:t>2</a:t>
            </a:r>
            <a:r>
              <a:rPr lang="zh-CN" altLang="en-US" sz="1100" b="1" dirty="0"/>
              <a:t>路组相联映射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zh-CN" altLang="en-US" sz="1100" b="1" dirty="0"/>
              <a:t>主存地址 </a:t>
            </a:r>
            <a:r>
              <a:rPr lang="en-US" altLang="zh-CN" sz="1100" b="1" dirty="0"/>
              <a:t>= </a:t>
            </a:r>
            <a:r>
              <a:rPr lang="zh-CN" altLang="en-US" sz="1100" b="1" dirty="0"/>
              <a:t>标记（</a:t>
            </a:r>
            <a:r>
              <a:rPr lang="en-US" altLang="zh-CN" sz="1100" b="1" dirty="0">
                <a:solidFill>
                  <a:srgbClr val="FF0000"/>
                </a:solidFill>
              </a:rPr>
              <a:t>6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组索引（</a:t>
            </a:r>
            <a:r>
              <a:rPr lang="en-US" altLang="zh-CN" sz="1100" b="1" dirty="0">
                <a:solidFill>
                  <a:srgbClr val="FF0000"/>
                </a:solidFill>
              </a:rPr>
              <a:t>4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 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  <a:p>
            <a:endParaRPr lang="en-US" altLang="zh-CN" sz="1100" b="1" dirty="0"/>
          </a:p>
          <a:p>
            <a:r>
              <a:rPr lang="en-US" altLang="zh-CN" sz="1100" b="1" dirty="0"/>
              <a:t>cache</a:t>
            </a:r>
            <a:r>
              <a:rPr lang="zh-CN" altLang="en-US" sz="1100" b="1" dirty="0"/>
              <a:t>地址 </a:t>
            </a:r>
            <a:r>
              <a:rPr lang="en-US" altLang="zh-CN" sz="1100" b="1" dirty="0"/>
              <a:t>= cache</a:t>
            </a:r>
            <a:r>
              <a:rPr lang="zh-CN" altLang="en-US" sz="1100" b="1" dirty="0"/>
              <a:t>块地址（</a:t>
            </a:r>
            <a:r>
              <a:rPr lang="en-US" altLang="zh-CN" sz="1100" b="1" dirty="0">
                <a:solidFill>
                  <a:srgbClr val="FF0000"/>
                </a:solidFill>
              </a:rPr>
              <a:t>5</a:t>
            </a:r>
            <a:r>
              <a:rPr lang="zh-CN" altLang="en-US" sz="1100" b="1" dirty="0">
                <a:solidFill>
                  <a:srgbClr val="FF0000"/>
                </a:solidFill>
              </a:rPr>
              <a:t>位</a:t>
            </a:r>
            <a:r>
              <a:rPr lang="zh-CN" altLang="en-US" sz="1100" b="1" dirty="0"/>
              <a:t>）</a:t>
            </a:r>
            <a:r>
              <a:rPr lang="en-US" altLang="zh-CN" sz="1100" b="1" dirty="0"/>
              <a:t>+ </a:t>
            </a:r>
            <a:r>
              <a:rPr lang="zh-CN" altLang="en-US" sz="1100" b="1" dirty="0"/>
              <a:t>块内偏移（</a:t>
            </a:r>
            <a:r>
              <a:rPr lang="en-US" altLang="zh-CN" sz="1100" b="1" dirty="0"/>
              <a:t>w</a:t>
            </a:r>
            <a:r>
              <a:rPr lang="zh-CN" altLang="en-US" sz="1100" b="1" dirty="0"/>
              <a:t>位）</a:t>
            </a:r>
            <a:endParaRPr lang="en-US" altLang="zh-CN" sz="1100" b="1" dirty="0"/>
          </a:p>
        </p:txBody>
      </p:sp>
    </p:spTree>
    <p:extLst>
      <p:ext uri="{BB962C8B-B14F-4D97-AF65-F5344CB8AC3E}">
        <p14:creationId xmlns:p14="http://schemas.microsoft.com/office/powerpoint/2010/main" val="448656130"/>
      </p:ext>
    </p:extLst>
  </p:cSld>
  <p:clrMapOvr>
    <a:masterClrMapping/>
  </p:clrMapOvr>
  <p:transition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00DB0-14A4-45E7-A3EE-A80C705C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替换算法也称为淘汰算法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如果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中已经装满数据，当新的数据块要载入时，必须从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中替换（淘汰）掉一个数据块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如果淘汰掉的数据块中存在脏数据（</a:t>
            </a:r>
            <a:r>
              <a:rPr lang="en-US" altLang="zh-CN" sz="1800" b="1" dirty="0">
                <a:solidFill>
                  <a:srgbClr val="C00000"/>
                </a:solidFill>
              </a:rPr>
              <a:t>Dirty Data</a:t>
            </a:r>
            <a:r>
              <a:rPr lang="zh-CN" altLang="en-US" sz="1800" b="1" dirty="0"/>
              <a:t>），还需要将淘汰的数据同步到主存中，脏数据，即：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的数据与主存数据不一致</a:t>
            </a:r>
            <a:endParaRPr lang="en-US" altLang="zh-CN" sz="1800" b="1" dirty="0"/>
          </a:p>
          <a:p>
            <a:pPr lvl="1" eaLnBrk="1" hangingPunct="1"/>
            <a:endParaRPr lang="en-US" altLang="zh-CN" sz="1800" b="1" dirty="0"/>
          </a:p>
          <a:p>
            <a:pPr lvl="1" eaLnBrk="1" hangingPunct="1"/>
            <a:r>
              <a:rPr lang="zh-CN" altLang="en-US" sz="1800" b="1" dirty="0"/>
              <a:t>常用的替换算法有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种：</a:t>
            </a:r>
            <a:endParaRPr lang="en-US" altLang="zh-CN" sz="20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先进先出算法 </a:t>
            </a:r>
            <a:r>
              <a:rPr lang="en-US" altLang="zh-CN" sz="1800" b="1" dirty="0"/>
              <a:t>FIFO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最不经常使用算法</a:t>
            </a:r>
            <a:r>
              <a:rPr lang="en-US" altLang="zh-CN" sz="1800" b="1" dirty="0"/>
              <a:t>LFU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近期最少使用算法</a:t>
            </a:r>
            <a:r>
              <a:rPr lang="en-US" altLang="zh-CN" sz="1800" b="1" dirty="0"/>
              <a:t>LRU</a:t>
            </a:r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marL="1257300" lvl="2" indent="-342900" eaLnBrk="1" hangingPunct="1">
              <a:buFont typeface="+mj-ea"/>
              <a:buAutoNum type="circleNumDbPlain"/>
            </a:pPr>
            <a:r>
              <a:rPr lang="zh-CN" altLang="en-US" sz="1800" b="1" dirty="0"/>
              <a:t>随机替换算法</a:t>
            </a:r>
            <a:endParaRPr lang="en-US" altLang="zh-CN" sz="1400" b="1" dirty="0"/>
          </a:p>
        </p:txBody>
      </p:sp>
    </p:spTree>
    <p:extLst>
      <p:ext uri="{BB962C8B-B14F-4D97-AF65-F5344CB8AC3E}">
        <p14:creationId xmlns:p14="http://schemas.microsoft.com/office/powerpoint/2010/main" val="177385754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5DF6B-E49B-431B-A244-10FB7F23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089" y="22550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0089" y="1340768"/>
            <a:ext cx="8229600" cy="5184576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、先进先出算法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先进先出：</a:t>
            </a:r>
            <a:r>
              <a:rPr lang="en-US" altLang="zh-CN" sz="1800" b="1" dirty="0"/>
              <a:t>First In First Out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FIFO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算法按照数据块进入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</a:t>
            </a:r>
            <a:r>
              <a:rPr lang="zh-CN" altLang="en-US" sz="1800" b="1" dirty="0">
                <a:solidFill>
                  <a:srgbClr val="C00000"/>
                </a:solidFill>
              </a:rPr>
              <a:t>先后</a:t>
            </a:r>
            <a:r>
              <a:rPr lang="zh-CN" altLang="en-US" sz="1800" b="1" dirty="0"/>
              <a:t>决定替换的</a:t>
            </a:r>
            <a:r>
              <a:rPr lang="zh-CN" altLang="en-US" sz="1800" b="1" dirty="0">
                <a:solidFill>
                  <a:srgbClr val="C00000"/>
                </a:solidFill>
              </a:rPr>
              <a:t>顺序</a:t>
            </a:r>
            <a:r>
              <a:rPr lang="zh-CN" altLang="en-US" sz="1800" b="1" dirty="0"/>
              <a:t>，在需要进行替换时，选择最先被载入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的行（数据块）进行替换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算法需要记录每个数据块载入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</a:t>
            </a:r>
            <a:r>
              <a:rPr lang="zh-CN" altLang="en-US" sz="1800" b="1" dirty="0">
                <a:solidFill>
                  <a:srgbClr val="C00000"/>
                </a:solidFill>
              </a:rPr>
              <a:t>时间戳</a:t>
            </a:r>
            <a:r>
              <a:rPr lang="zh-CN" altLang="en-US" sz="1800" b="1" dirty="0"/>
              <a:t>或时间计数，以方便替换时比较先后顺序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算法的</a:t>
            </a:r>
            <a:r>
              <a:rPr lang="zh-CN" altLang="en-US" sz="1800" b="1" dirty="0">
                <a:solidFill>
                  <a:srgbClr val="C00000"/>
                </a:solidFill>
              </a:rPr>
              <a:t>优点</a:t>
            </a:r>
            <a:r>
              <a:rPr lang="zh-CN" altLang="en-US" sz="1800" b="1" dirty="0"/>
              <a:t>：系统开销较小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FIFO</a:t>
            </a:r>
            <a:r>
              <a:rPr lang="zh-CN" altLang="en-US" sz="1800" b="1" dirty="0"/>
              <a:t>算法的</a:t>
            </a:r>
            <a:r>
              <a:rPr lang="zh-CN" altLang="en-US" sz="1800" b="1" dirty="0">
                <a:solidFill>
                  <a:srgbClr val="C00000"/>
                </a:solidFill>
              </a:rPr>
              <a:t>缺点</a:t>
            </a:r>
            <a:r>
              <a:rPr lang="zh-CN" altLang="en-US" sz="1800" b="1" dirty="0"/>
              <a:t>：没有考虑程序访问的局部性，可能会把一些需要经常使用的块（如循环程序块）也作为最早进入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的块而替换掉，从而导致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的命中率不高</a:t>
            </a:r>
            <a:endParaRPr lang="en-US" altLang="zh-CN" sz="1600" b="1" dirty="0"/>
          </a:p>
          <a:p>
            <a:pPr lvl="1" eaLnBrk="1" hangingPunct="1"/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marL="1257300" lvl="2" indent="-342900" eaLnBrk="1" hangingPunct="1">
              <a:buFont typeface="+mj-ea"/>
              <a:buAutoNum type="circleNumDbPlain"/>
            </a:pPr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261482076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3C0FBB-188E-48E5-A872-8CD76035D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0567" y="1340768"/>
            <a:ext cx="8229600" cy="5242594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、最不经常使用算法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最不经常使用：</a:t>
            </a:r>
            <a:r>
              <a:rPr lang="en-US" altLang="zh-CN" sz="1800" b="1" dirty="0"/>
              <a:t>Least Frequently Used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LFU</a:t>
            </a: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LFU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highlight>
                  <a:srgbClr val="FFFF00"/>
                </a:highlight>
              </a:rPr>
              <a:t>将访问次数最少的</a:t>
            </a:r>
            <a:r>
              <a:rPr lang="en-US" altLang="zh-CN" sz="1800" b="1" dirty="0">
                <a:highlight>
                  <a:srgbClr val="FFFF00"/>
                </a:highlight>
              </a:rPr>
              <a:t>cache</a:t>
            </a:r>
            <a:r>
              <a:rPr lang="zh-CN" altLang="en-US" sz="1800" b="1" dirty="0">
                <a:highlight>
                  <a:srgbClr val="FFFF00"/>
                </a:highlight>
              </a:rPr>
              <a:t>行（数据块）淘汰掉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的每行设置一个计数器，每访问该行一次，计数器加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；当需要替换时，对所有可淘汰行的计数值进行比较，将</a:t>
            </a:r>
            <a:r>
              <a:rPr lang="zh-CN" altLang="en-US" sz="1800" b="1" dirty="0">
                <a:highlight>
                  <a:srgbClr val="FFFF00"/>
                </a:highlight>
              </a:rPr>
              <a:t>计数值最小的行淘汰掉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/>
              <a:t>LFU</a:t>
            </a:r>
            <a:r>
              <a:rPr lang="zh-CN" altLang="en-US" sz="1800" b="1" dirty="0"/>
              <a:t>算法的不足：计数器记录的是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工作后的</a:t>
            </a:r>
            <a:r>
              <a:rPr lang="zh-CN" altLang="en-US" sz="1800" b="1" dirty="0">
                <a:solidFill>
                  <a:srgbClr val="C00000"/>
                </a:solidFill>
              </a:rPr>
              <a:t>历史访问</a:t>
            </a:r>
            <a:r>
              <a:rPr lang="zh-CN" altLang="en-US" sz="1800" b="1" dirty="0"/>
              <a:t>统计情况，并不能严格反映</a:t>
            </a:r>
            <a:r>
              <a:rPr lang="zh-CN" altLang="en-US" sz="1800" b="1" dirty="0">
                <a:solidFill>
                  <a:srgbClr val="C00000"/>
                </a:solidFill>
              </a:rPr>
              <a:t>近期访问</a:t>
            </a:r>
            <a:r>
              <a:rPr lang="zh-CN" altLang="en-US" sz="1800" b="1" dirty="0"/>
              <a:t>情况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例如，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两行，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行在前期多次被访问，而后期未被访问，但是其累计访问次数值很多；</a:t>
            </a:r>
            <a:r>
              <a:rPr lang="en-US" altLang="zh-CN" sz="1800" b="1" dirty="0"/>
              <a:t>B</a:t>
            </a:r>
            <a:r>
              <a:rPr lang="zh-CN" altLang="en-US" sz="1800" b="1" dirty="0"/>
              <a:t>行在前期不常用，而后期正被频繁访问，但是其累计访问次数值小于</a:t>
            </a:r>
            <a:r>
              <a:rPr lang="en-US" altLang="zh-CN" sz="1800" b="1" dirty="0"/>
              <a:t>A</a:t>
            </a:r>
            <a:r>
              <a:rPr lang="zh-CN" altLang="en-US" sz="1800" b="1" dirty="0"/>
              <a:t>行，因而被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算法淘汰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92046032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BFAD2-E7DB-4890-8CE7-04DD166D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352" y="2773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5617" y="980728"/>
            <a:ext cx="8229600" cy="5691982"/>
          </a:xfrm>
        </p:spPr>
        <p:txBody>
          <a:bodyPr/>
          <a:lstStyle/>
          <a:p>
            <a:pPr marL="857250" lvl="1" indent="-342900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、近期最少使用算法</a:t>
            </a:r>
            <a:endParaRPr lang="en-US" altLang="zh-CN" sz="2000" b="1" dirty="0"/>
          </a:p>
          <a:p>
            <a:pPr marL="857250" lvl="1" indent="-342900" eaLnBrk="1" hangingPunct="1"/>
            <a:endParaRPr lang="en-US" altLang="zh-CN" sz="2000" b="1" dirty="0"/>
          </a:p>
          <a:p>
            <a:pPr marL="1257300" lvl="2" indent="-342900" eaLnBrk="1" hangingPunct="1"/>
            <a:r>
              <a:rPr lang="zh-CN" altLang="en-US" sz="1800" b="1" dirty="0"/>
              <a:t>近期最少使用：</a:t>
            </a:r>
            <a:r>
              <a:rPr lang="en-US" altLang="zh-CN" sz="1800" b="1" dirty="0"/>
              <a:t>Least Recently Used</a:t>
            </a:r>
            <a:r>
              <a:rPr lang="zh-CN" altLang="en-US" sz="1800" b="1" dirty="0"/>
              <a:t>，</a:t>
            </a:r>
            <a:r>
              <a:rPr lang="en-US" altLang="zh-CN" sz="1800" b="1" dirty="0"/>
              <a:t>LRU</a:t>
            </a: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highlight>
                  <a:srgbClr val="FFFF00"/>
                </a:highlight>
              </a:rPr>
              <a:t>将近期内最久未被访问过的</a:t>
            </a:r>
            <a:r>
              <a:rPr lang="en-US" altLang="zh-CN" sz="1800" b="1" dirty="0">
                <a:highlight>
                  <a:srgbClr val="FFFF00"/>
                </a:highlight>
              </a:rPr>
              <a:t>cache</a:t>
            </a:r>
            <a:r>
              <a:rPr lang="zh-CN" altLang="en-US" sz="1800" b="1" dirty="0">
                <a:highlight>
                  <a:srgbClr val="FFFF00"/>
                </a:highlight>
              </a:rPr>
              <a:t>行淘汰掉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cache</a:t>
            </a:r>
            <a:r>
              <a:rPr lang="zh-CN" altLang="en-US" sz="1800" b="1" dirty="0"/>
              <a:t>的每行设置一个计数器，当访问某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行时，该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行的计数器清</a:t>
            </a:r>
            <a:r>
              <a:rPr lang="en-US" altLang="zh-CN" sz="1800" b="1" dirty="0"/>
              <a:t>0</a:t>
            </a:r>
            <a:r>
              <a:rPr lang="zh-CN" altLang="en-US" sz="1800" b="1" dirty="0"/>
              <a:t>，其它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行的计数器加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；因此</a:t>
            </a:r>
            <a:r>
              <a:rPr lang="zh-CN" altLang="en-US" sz="1800" b="1" dirty="0">
                <a:highlight>
                  <a:srgbClr val="FFFF00"/>
                </a:highlight>
              </a:rPr>
              <a:t>计数器是用于统计未被访问的次数</a:t>
            </a:r>
            <a:endParaRPr lang="en-US" altLang="zh-CN" sz="1800" b="1" dirty="0">
              <a:highlight>
                <a:srgbClr val="FFFF00"/>
              </a:highlight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zh-CN" altLang="en-US" sz="1800" b="1" dirty="0"/>
              <a:t>当需要替换时，比较所有可淘汰行的计数值，将计数值最大的行淘汰掉（即近期最久未被访问的行）</a:t>
            </a:r>
            <a:endParaRPr lang="en-US" altLang="zh-CN" sz="1800" b="1" dirty="0"/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</a:t>
            </a:r>
            <a:r>
              <a:rPr lang="zh-CN" altLang="en-US" sz="1800" b="1" dirty="0">
                <a:solidFill>
                  <a:srgbClr val="C00000"/>
                </a:solidFill>
              </a:rPr>
              <a:t>保护了刚载入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的新数据，符号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的工作原理（程序局部性），使</a:t>
            </a:r>
            <a:r>
              <a:rPr lang="en-US" altLang="zh-CN" sz="1800" b="1" dirty="0">
                <a:solidFill>
                  <a:srgbClr val="C00000"/>
                </a:solidFill>
              </a:rPr>
              <a:t>cache</a:t>
            </a:r>
            <a:r>
              <a:rPr lang="zh-CN" altLang="en-US" sz="1800" b="1" dirty="0">
                <a:solidFill>
                  <a:srgbClr val="C00000"/>
                </a:solidFill>
              </a:rPr>
              <a:t>具有较高的命中率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1257300" lvl="2" indent="-342900" eaLnBrk="1" hangingPunct="1"/>
            <a:endParaRPr lang="en-US" altLang="zh-CN" sz="1800" b="1" dirty="0"/>
          </a:p>
          <a:p>
            <a:pPr marL="1257300" lvl="2" indent="-342900" eaLnBrk="1" hangingPunct="1"/>
            <a:r>
              <a:rPr lang="en-US" altLang="zh-CN" sz="1800" b="1" dirty="0"/>
              <a:t>LRU</a:t>
            </a:r>
            <a:r>
              <a:rPr lang="zh-CN" altLang="en-US" sz="1800" b="1" dirty="0"/>
              <a:t>算法的缺点：需要快速比较多个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行的计数器值，硬件实现比较复杂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2000" b="1" dirty="0"/>
          </a:p>
          <a:p>
            <a:pPr marL="857250" lvl="1" indent="-342900" eaLnBrk="1" hangingPunct="1"/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15678652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C061AA-CD56-4F78-8817-ABD132EF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891" y="0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7509" y="908720"/>
            <a:ext cx="8229600" cy="5832648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、随机替换算法</a:t>
            </a:r>
            <a:endParaRPr lang="en-US" altLang="zh-CN" sz="2000" b="1" dirty="0"/>
          </a:p>
          <a:p>
            <a:pPr lvl="1" eaLnBrk="1" hangingPunct="1"/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随机替换就是在需要进行替换时，从所有可淘汰行中，随机选取一行进行替换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优点是实现最容易，而且替换速度也比前面三种算法快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缺点是随机淘汰的数据，很可能马上又要使用，从而降低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的命中率和工作效率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模拟研究表明，随机替换算法的性能只是比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稍差一些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zh-CN" altLang="en-US" sz="1800" b="1" dirty="0"/>
              <a:t>在虚拟存储器的</a:t>
            </a:r>
            <a:r>
              <a:rPr lang="en-US" altLang="zh-CN" sz="1800" b="1" dirty="0"/>
              <a:t>TLB</a:t>
            </a:r>
            <a:r>
              <a:rPr lang="zh-CN" altLang="en-US" sz="1800" b="1" dirty="0"/>
              <a:t>表中，为了提高替换速度，就采用了随机替换算法</a:t>
            </a:r>
            <a:endParaRPr lang="en-US" altLang="zh-CN" sz="1800" b="1" dirty="0"/>
          </a:p>
          <a:p>
            <a:pPr lvl="2" eaLnBrk="1" hangingPunct="1"/>
            <a:endParaRPr lang="en-US" altLang="zh-CN" sz="1800" b="1" dirty="0"/>
          </a:p>
          <a:p>
            <a:pPr lvl="2" eaLnBrk="1" hangingPunct="1"/>
            <a:r>
              <a:rPr lang="en-US" altLang="zh-CN" sz="1800" b="1" dirty="0">
                <a:solidFill>
                  <a:srgbClr val="333333"/>
                </a:solidFill>
                <a:latin typeface="PingFang SC"/>
              </a:rPr>
              <a:t>TLB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：</a:t>
            </a:r>
            <a:r>
              <a:rPr lang="en-US" altLang="zh-CN" sz="1800" b="1" dirty="0">
                <a:solidFill>
                  <a:srgbClr val="333333"/>
                </a:solidFill>
                <a:latin typeface="PingFang SC"/>
              </a:rPr>
              <a:t>Translation Lookaside Buffer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，地址转换后援缓冲器，简称“</a:t>
            </a:r>
            <a:r>
              <a:rPr lang="zh-CN" altLang="en-US" sz="1800" b="1" dirty="0">
                <a:solidFill>
                  <a:srgbClr val="C00000"/>
                </a:solidFill>
                <a:latin typeface="PingFang SC"/>
              </a:rPr>
              <a:t>快表</a:t>
            </a:r>
            <a:r>
              <a:rPr lang="zh-CN" altLang="en-US" sz="1800" b="1" dirty="0">
                <a:solidFill>
                  <a:srgbClr val="333333"/>
                </a:solidFill>
                <a:latin typeface="PingFang SC"/>
              </a:rPr>
              <a:t>”，</a:t>
            </a:r>
            <a:r>
              <a:rPr lang="zh-CN" altLang="en-US" sz="1800" b="1" dirty="0"/>
              <a:t>为</a:t>
            </a:r>
            <a:r>
              <a:rPr lang="en-US" altLang="zh-CN" sz="1800" b="1" dirty="0"/>
              <a:t>CPU</a:t>
            </a:r>
            <a:r>
              <a:rPr lang="zh-CN" altLang="en-US" sz="1800" b="1" dirty="0"/>
              <a:t>的一种缓存，由存储器管理单元用于改进虚拟地址到物理地址的转换速度</a:t>
            </a:r>
            <a:endParaRPr lang="en-US" altLang="zh-CN" sz="1800" b="1" dirty="0"/>
          </a:p>
          <a:p>
            <a:pPr lvl="2" eaLnBrk="1" hangingPunct="1"/>
            <a:endParaRPr lang="en-US" altLang="zh-CN" sz="1200" b="1" dirty="0"/>
          </a:p>
        </p:txBody>
      </p:sp>
    </p:spTree>
    <p:extLst>
      <p:ext uri="{BB962C8B-B14F-4D97-AF65-F5344CB8AC3E}">
        <p14:creationId xmlns:p14="http://schemas.microsoft.com/office/powerpoint/2010/main" val="286315298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1D0F63-9BC4-45C5-83EB-8BE6D6798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7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替换算法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346" y="1433298"/>
            <a:ext cx="8229600" cy="4525963"/>
          </a:xfrm>
        </p:spPr>
        <p:txBody>
          <a:bodyPr/>
          <a:lstStyle/>
          <a:p>
            <a:r>
              <a:rPr lang="zh-CN" altLang="en-US" sz="2400" b="1" dirty="0"/>
              <a:t>替换算法与</a:t>
            </a:r>
            <a:r>
              <a:rPr lang="en-US" altLang="zh-CN" sz="2400" b="1" dirty="0"/>
              <a:t>cache</a:t>
            </a:r>
            <a:r>
              <a:rPr lang="zh-CN" altLang="en-US" sz="2400" b="1" dirty="0"/>
              <a:t>的组织方式紧密相关</a:t>
            </a:r>
            <a:endParaRPr lang="en-US" altLang="zh-CN" sz="2400" b="1" dirty="0"/>
          </a:p>
          <a:p>
            <a:endParaRPr lang="en-US" altLang="zh-CN" sz="24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800" b="1" dirty="0"/>
              <a:t>直接相联映射方式：一个主存块对应唯一的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行，因此不需要替换算法</a:t>
            </a: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800" b="1" dirty="0"/>
              <a:t>全相联映射方式：一个主存块可以放置到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的任意一行，因此需要有替换算法</a:t>
            </a: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endParaRPr lang="en-US" altLang="zh-CN" sz="1800" b="1" dirty="0"/>
          </a:p>
          <a:p>
            <a:pPr marL="800100" lvl="1" indent="-342900">
              <a:buFont typeface="+mj-ea"/>
              <a:buAutoNum type="circleNumDbPlain"/>
            </a:pPr>
            <a:r>
              <a:rPr lang="zh-CN" altLang="en-US" sz="1800" b="1" dirty="0"/>
              <a:t>组相联映射方式：一个主存块可以放置到唯一的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组中的任意一行，也需要有替换算法，只是这时是在一个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组中替换某一行</a:t>
            </a:r>
            <a:endParaRPr lang="en-US" altLang="zh-CN" sz="1800" b="1" dirty="0"/>
          </a:p>
          <a:p>
            <a:pPr lvl="1"/>
            <a:endParaRPr lang="en-US" altLang="zh-CN" sz="1800" b="1" dirty="0"/>
          </a:p>
          <a:p>
            <a:pPr lvl="1"/>
            <a:endParaRPr lang="en-US" altLang="zh-CN" sz="1800" b="1" dirty="0"/>
          </a:p>
        </p:txBody>
      </p:sp>
    </p:spTree>
    <p:extLst>
      <p:ext uri="{BB962C8B-B14F-4D97-AF65-F5344CB8AC3E}">
        <p14:creationId xmlns:p14="http://schemas.microsoft.com/office/powerpoint/2010/main" val="76407372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3"/>
            <a:ext cx="8229600" cy="2736304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LFU</a:t>
            </a:r>
            <a:r>
              <a:rPr lang="zh-CN" altLang="en-US" sz="1600" b="1" dirty="0">
                <a:solidFill>
                  <a:srgbClr val="C00000"/>
                </a:solidFill>
              </a:rPr>
              <a:t>算法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C00000"/>
                </a:solidFill>
              </a:rPr>
              <a:t>LFU</a:t>
            </a:r>
            <a:r>
              <a:rPr lang="zh-CN" altLang="en-US" sz="1600" b="1" dirty="0">
                <a:solidFill>
                  <a:srgbClr val="C00000"/>
                </a:solidFill>
              </a:rPr>
              <a:t>算法的访问过程</a:t>
            </a:r>
            <a:r>
              <a:rPr lang="zh-CN" altLang="en-US" sz="1600" b="1" dirty="0"/>
              <a:t>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8745170"/>
              </p:ext>
            </p:extLst>
          </p:nvPr>
        </p:nvGraphicFramePr>
        <p:xfrm>
          <a:off x="130807" y="3429000"/>
          <a:ext cx="8882386" cy="23755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48176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88341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3707904" y="2581683"/>
            <a:ext cx="360040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前</a:t>
            </a:r>
            <a:r>
              <a:rPr lang="en-US" altLang="zh-CN" b="1" dirty="0"/>
              <a:t>3</a:t>
            </a:r>
            <a:r>
              <a:rPr lang="zh-CN" altLang="en-US" b="1" dirty="0"/>
              <a:t>次分别访问数据块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2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是空的，因此需要载入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96B4A81-519C-4D8B-A018-E9CD82EAA444}"/>
              </a:ext>
            </a:extLst>
          </p:cNvPr>
          <p:cNvCxnSpPr>
            <a:cxnSpLocks/>
          </p:cNvCxnSpPr>
          <p:nvPr/>
        </p:nvCxnSpPr>
        <p:spPr>
          <a:xfrm flipH="1">
            <a:off x="1187624" y="2924944"/>
            <a:ext cx="252028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3CB99AA-CB4A-4196-87CD-3073392CC618}"/>
              </a:ext>
            </a:extLst>
          </p:cNvPr>
          <p:cNvCxnSpPr>
            <a:cxnSpLocks/>
          </p:cNvCxnSpPr>
          <p:nvPr/>
        </p:nvCxnSpPr>
        <p:spPr>
          <a:xfrm flipH="1">
            <a:off x="1691680" y="2924944"/>
            <a:ext cx="2016224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2231740" y="2924944"/>
            <a:ext cx="1476164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08808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3707904" y="2581683"/>
            <a:ext cx="5281986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2</a:t>
            </a:r>
            <a:r>
              <a:rPr lang="zh-CN" altLang="en-US" b="1" dirty="0"/>
              <a:t>，为命中，同时将对数据块</a:t>
            </a:r>
            <a:r>
              <a:rPr lang="en-US" altLang="zh-CN" b="1" dirty="0"/>
              <a:t>2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2627784" y="2924944"/>
            <a:ext cx="108012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966487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4067944" y="2581683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1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203848" y="2904849"/>
            <a:ext cx="864096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945984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4067944" y="2581683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3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3707904" y="2904849"/>
            <a:ext cx="360040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7987727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292080" y="2060848"/>
            <a:ext cx="35283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1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的访问次数再加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4211960" y="2924944"/>
            <a:ext cx="1080120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152551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508104" y="2581683"/>
            <a:ext cx="309634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中没有，不命中，需要载入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  <a:stCxn id="2" idx="1"/>
          </p:cNvCxnSpPr>
          <p:nvPr/>
        </p:nvCxnSpPr>
        <p:spPr>
          <a:xfrm flipH="1">
            <a:off x="4644008" y="2904849"/>
            <a:ext cx="864096" cy="6681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6587621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292080" y="2348880"/>
            <a:ext cx="35283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中有数据块</a:t>
            </a:r>
            <a:r>
              <a:rPr lang="en-US" altLang="zh-CN" b="1" dirty="0"/>
              <a:t>4</a:t>
            </a:r>
            <a:r>
              <a:rPr lang="zh-CN" altLang="en-US" b="1" dirty="0"/>
              <a:t>，为命中，同时将数据块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的访问次数加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5076056" y="2924944"/>
            <a:ext cx="216024" cy="5760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39805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260648"/>
            <a:ext cx="3312368" cy="286232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行、第</a:t>
            </a:r>
            <a:r>
              <a:rPr lang="en-US" altLang="zh-CN" b="1" dirty="0"/>
              <a:t>2</a:t>
            </a:r>
            <a:r>
              <a:rPr lang="zh-CN" altLang="en-US" b="1" dirty="0"/>
              <a:t>行、第</a:t>
            </a:r>
            <a:r>
              <a:rPr lang="en-US" altLang="zh-CN" b="1" dirty="0"/>
              <a:t>3</a:t>
            </a:r>
            <a:r>
              <a:rPr lang="zh-CN" altLang="en-US" b="1" dirty="0"/>
              <a:t>行的计数值相同（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 ，都是最小，此时可采用随机替换算法或</a:t>
            </a:r>
            <a:r>
              <a:rPr lang="en-US" altLang="zh-CN" b="1" dirty="0"/>
              <a:t>FIFO</a:t>
            </a:r>
            <a:r>
              <a:rPr lang="zh-CN" altLang="en-US" b="1" dirty="0"/>
              <a:t>算法确定从</a:t>
            </a:r>
            <a:r>
              <a:rPr lang="en-US" altLang="zh-CN" b="1" dirty="0"/>
              <a:t>3</a:t>
            </a:r>
            <a:r>
              <a:rPr lang="zh-CN" altLang="en-US" b="1" dirty="0"/>
              <a:t>行中替换那一行，这里采用</a:t>
            </a:r>
            <a:r>
              <a:rPr lang="en-US" altLang="zh-CN" b="1" dirty="0"/>
              <a:t>FIFO</a:t>
            </a:r>
            <a:r>
              <a:rPr lang="zh-CN" altLang="en-US" b="1" dirty="0"/>
              <a:t>算法，因此替换第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行（数据块</a:t>
            </a:r>
            <a:r>
              <a:rPr lang="en-US" altLang="zh-CN" b="1" dirty="0"/>
              <a:t>2</a:t>
            </a:r>
            <a:r>
              <a:rPr lang="zh-CN" altLang="en-US" b="1" dirty="0"/>
              <a:t>最先载入）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5724128" y="3122970"/>
            <a:ext cx="1008112" cy="3060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4925690" y="4274046"/>
            <a:ext cx="288032" cy="10801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38115891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11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6228184" y="2845971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5436096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4240908641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12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6660232" y="2845971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5940152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950280183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13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7164288" y="2846999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6475958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4440755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14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 flipH="1">
            <a:off x="7668344" y="2846999"/>
            <a:ext cx="504056" cy="5830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7020272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09771016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15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>
            <a:off x="7164288" y="2780928"/>
            <a:ext cx="100811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7530678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67927305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zh-CN" altLang="en-US" sz="14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3084A8D7-ACB6-41CA-99E7-9AC8C188FACE}"/>
              </a:ext>
            </a:extLst>
          </p:cNvPr>
          <p:cNvSpPr txBox="1"/>
          <p:nvPr/>
        </p:nvSpPr>
        <p:spPr>
          <a:xfrm>
            <a:off x="5333256" y="1026602"/>
            <a:ext cx="3312368" cy="175432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16</a:t>
            </a:r>
            <a:r>
              <a:rPr lang="zh-CN" altLang="en-US" b="1" dirty="0"/>
              <a:t>次要访问数据块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中没有，需要载入，但是</a:t>
            </a:r>
            <a:r>
              <a:rPr lang="en-US" altLang="zh-CN" b="1" dirty="0"/>
              <a:t>cache</a:t>
            </a:r>
            <a:r>
              <a:rPr lang="zh-CN" altLang="en-US" b="1" dirty="0"/>
              <a:t>中已经满了，按照</a:t>
            </a:r>
            <a:r>
              <a:rPr lang="en-US" altLang="zh-CN" b="1" dirty="0"/>
              <a:t>LFU</a:t>
            </a:r>
            <a:r>
              <a:rPr lang="zh-CN" altLang="en-US" b="1" dirty="0"/>
              <a:t>算法淘汰计数值最小的那一行，第</a:t>
            </a:r>
            <a:r>
              <a:rPr lang="en-US" altLang="zh-CN" b="1" dirty="0"/>
              <a:t>1</a:t>
            </a:r>
            <a:r>
              <a:rPr lang="zh-CN" altLang="en-US" b="1" dirty="0"/>
              <a:t>行（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 的计数值最小，因此替换第</a:t>
            </a:r>
            <a:r>
              <a:rPr lang="en-US" altLang="zh-CN" b="1" dirty="0"/>
              <a:t>1</a:t>
            </a:r>
            <a:r>
              <a:rPr lang="zh-CN" altLang="en-US" b="1" dirty="0"/>
              <a:t>行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34A6F24-1562-4AC9-A23F-8B9EF7E63F09}"/>
              </a:ext>
            </a:extLst>
          </p:cNvPr>
          <p:cNvCxnSpPr>
            <a:cxnSpLocks/>
          </p:cNvCxnSpPr>
          <p:nvPr/>
        </p:nvCxnSpPr>
        <p:spPr>
          <a:xfrm>
            <a:off x="7678688" y="2814477"/>
            <a:ext cx="100811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1AE2ACA-E48D-4DEC-B251-E5A0A7F075E9}"/>
              </a:ext>
            </a:extLst>
          </p:cNvPr>
          <p:cNvSpPr/>
          <p:nvPr/>
        </p:nvSpPr>
        <p:spPr>
          <a:xfrm>
            <a:off x="8041084" y="4274046"/>
            <a:ext cx="288032" cy="307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62736951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的每行设置一个计数器，每访问该行一次，计数器加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；当需要替换时，对所有可淘汰行的计数值进行比较，将计数值最小的行淘汰掉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/>
              <a:t>LFU</a:t>
            </a:r>
            <a:r>
              <a:rPr lang="zh-CN" altLang="en-US" sz="1600" b="1" dirty="0"/>
              <a:t>算法的访问过程：</a:t>
            </a:r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endParaRPr lang="en-US" altLang="zh-CN" sz="1600" b="1" dirty="0"/>
          </a:p>
          <a:p>
            <a:pPr lvl="1"/>
            <a:r>
              <a:rPr lang="en-US" altLang="zh-CN" sz="1600" b="1" dirty="0">
                <a:solidFill>
                  <a:srgbClr val="FF0000"/>
                </a:solidFill>
              </a:rPr>
              <a:t>LFU</a:t>
            </a:r>
            <a:r>
              <a:rPr lang="zh-CN" altLang="en-US" sz="1600" b="1" dirty="0">
                <a:solidFill>
                  <a:srgbClr val="FF0000"/>
                </a:solidFill>
              </a:rPr>
              <a:t>算法的命中率</a:t>
            </a:r>
            <a:r>
              <a:rPr lang="en-US" altLang="zh-CN" sz="1600" b="1" dirty="0">
                <a:solidFill>
                  <a:srgbClr val="FF0000"/>
                </a:solidFill>
              </a:rPr>
              <a:t>=5/16=31.25%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323370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0654589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算法的访问过程</a:t>
            </a:r>
            <a:r>
              <a:rPr lang="zh-CN" altLang="en-US" sz="1600" b="1" dirty="0"/>
              <a:t>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211870"/>
              </p:ext>
            </p:extLst>
          </p:nvPr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237724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852936"/>
            <a:ext cx="5040560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187624" y="3176102"/>
            <a:ext cx="2376264" cy="61293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135528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64904"/>
            <a:ext cx="5040560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中是空的，需要载入，将数据块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1691680" y="3026569"/>
            <a:ext cx="1872208" cy="762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04179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64904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，因为</a:t>
            </a:r>
            <a:r>
              <a:rPr lang="en-US" altLang="zh-CN" b="1" dirty="0"/>
              <a:t>cache</a:t>
            </a:r>
            <a:r>
              <a:rPr lang="zh-CN" altLang="en-US" b="1" dirty="0"/>
              <a:t>中是空的，需要载入，将数据块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195736" y="3026569"/>
            <a:ext cx="1368152" cy="7624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928186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77678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99792" y="3039343"/>
            <a:ext cx="864096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1299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577678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203848" y="3039343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72996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3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3635896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716508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7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1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1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4139952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46010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8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中没有，需要载入，将数据块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4716016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68679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132856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9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4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中有，为命中，将数据块</a:t>
            </a:r>
            <a:r>
              <a:rPr lang="en-US" altLang="zh-CN" b="1" dirty="0"/>
              <a:t>4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），并将数据块</a:t>
            </a:r>
            <a:r>
              <a:rPr lang="en-US" altLang="zh-CN" b="1" dirty="0"/>
              <a:t>1</a:t>
            </a:r>
            <a:r>
              <a:rPr lang="zh-CN" altLang="en-US" b="1" dirty="0"/>
              <a:t>、数据块</a:t>
            </a:r>
            <a:r>
              <a:rPr lang="en-US" altLang="zh-CN" b="1" dirty="0"/>
              <a:t>2</a:t>
            </a:r>
            <a:r>
              <a:rPr lang="zh-CN" altLang="en-US" b="1" dirty="0"/>
              <a:t>、数据块</a:t>
            </a:r>
            <a:r>
              <a:rPr lang="en-US" altLang="zh-CN" b="1" dirty="0"/>
              <a:t>3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5148064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2340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10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3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2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 2</a:t>
            </a:r>
            <a:r>
              <a:rPr lang="en-US" altLang="zh-CN" b="1" baseline="30000" dirty="0">
                <a:solidFill>
                  <a:srgbClr val="FF0000"/>
                </a:solidFill>
              </a:rPr>
              <a:t>5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3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5652120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8DA80AE1-D218-4426-91A0-DDA4B93AC266}"/>
              </a:ext>
            </a:extLst>
          </p:cNvPr>
          <p:cNvSpPr/>
          <p:nvPr/>
        </p:nvSpPr>
        <p:spPr>
          <a:xfrm>
            <a:off x="4912990" y="4509120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044800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11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3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3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 3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6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1</a:t>
            </a:r>
            <a:r>
              <a:rPr lang="zh-CN" altLang="en-US" b="1" dirty="0"/>
              <a:t>、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6228184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A3F81222-9D01-4A0B-AD7D-E58EA1D30B6C}"/>
              </a:ext>
            </a:extLst>
          </p:cNvPr>
          <p:cNvSpPr/>
          <p:nvPr/>
        </p:nvSpPr>
        <p:spPr>
          <a:xfrm>
            <a:off x="5455146" y="4888210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64695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1556792"/>
            <a:ext cx="5328592" cy="1477328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12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中没有，需要替换，根据</a:t>
            </a:r>
            <a:r>
              <a:rPr lang="en-US" altLang="zh-CN" b="1" dirty="0"/>
              <a:t>LRU</a:t>
            </a:r>
            <a:r>
              <a:rPr lang="zh-CN" altLang="en-US" b="1" dirty="0"/>
              <a:t>算法，替换</a:t>
            </a:r>
            <a:r>
              <a:rPr lang="en-US" altLang="zh-CN" b="1" dirty="0"/>
              <a:t>4</a:t>
            </a:r>
            <a:r>
              <a:rPr lang="zh-CN" altLang="en-US" b="1" dirty="0"/>
              <a:t>个数据块中近期访问最少的那个数据块（</a:t>
            </a:r>
            <a:r>
              <a:rPr lang="en-US" altLang="zh-CN" b="1" dirty="0">
                <a:solidFill>
                  <a:srgbClr val="FF0000"/>
                </a:solidFill>
              </a:rPr>
              <a:t> 1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 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），即数据块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en-US" altLang="zh-CN" b="1" baseline="30000" dirty="0">
                <a:solidFill>
                  <a:srgbClr val="FF0000"/>
                </a:solidFill>
              </a:rPr>
              <a:t>4 </a:t>
            </a:r>
            <a:r>
              <a:rPr lang="zh-CN" altLang="en-US" b="1" dirty="0"/>
              <a:t>），同时将数据块</a:t>
            </a:r>
            <a:r>
              <a:rPr lang="en-US" altLang="zh-CN" b="1" dirty="0"/>
              <a:t>7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3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6732240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9689BAE3-CB09-4979-8150-291E860D19B2}"/>
              </a:ext>
            </a:extLst>
          </p:cNvPr>
          <p:cNvSpPr/>
          <p:nvPr/>
        </p:nvSpPr>
        <p:spPr>
          <a:xfrm>
            <a:off x="5965552" y="4096122"/>
            <a:ext cx="288032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910504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13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4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7164288" y="3056186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627449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14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6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6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5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 flipH="1">
            <a:off x="7740352" y="2996952"/>
            <a:ext cx="360040" cy="6776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5776100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15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7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7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5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6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>
            <a:off x="8100392" y="2996952"/>
            <a:ext cx="72008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8824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4254AC88-9FA7-4E2B-9951-786882D9D1FC}"/>
              </a:ext>
            </a:extLst>
          </p:cNvPr>
          <p:cNvSpPr txBox="1"/>
          <p:nvPr/>
        </p:nvSpPr>
        <p:spPr>
          <a:xfrm>
            <a:off x="3563888" y="2073622"/>
            <a:ext cx="5328592" cy="92333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第</a:t>
            </a:r>
            <a:r>
              <a:rPr lang="en-US" altLang="zh-CN" b="1" dirty="0"/>
              <a:t>16</a:t>
            </a:r>
            <a:r>
              <a:rPr lang="zh-CN" altLang="en-US" b="1" dirty="0"/>
              <a:t>次访问数据块</a:t>
            </a:r>
            <a:r>
              <a:rPr lang="en-US" altLang="zh-CN" b="1" dirty="0"/>
              <a:t>5</a:t>
            </a:r>
            <a:r>
              <a:rPr lang="zh-CN" altLang="en-US" b="1" dirty="0"/>
              <a:t>，</a:t>
            </a:r>
            <a:r>
              <a:rPr lang="en-US" altLang="zh-CN" b="1" dirty="0"/>
              <a:t>cache</a:t>
            </a:r>
            <a:r>
              <a:rPr lang="zh-CN" altLang="en-US" b="1" dirty="0"/>
              <a:t>中有，为命中，同时将数据块</a:t>
            </a:r>
            <a:r>
              <a:rPr lang="en-US" altLang="zh-CN" b="1" dirty="0"/>
              <a:t>5</a:t>
            </a:r>
            <a:r>
              <a:rPr lang="zh-CN" altLang="en-US" b="1" dirty="0"/>
              <a:t>的计数值清</a:t>
            </a:r>
            <a:r>
              <a:rPr lang="en-US" altLang="zh-CN" b="1" dirty="0"/>
              <a:t>0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en-US" altLang="zh-CN" b="1" baseline="30000" dirty="0">
                <a:solidFill>
                  <a:srgbClr val="FF0000"/>
                </a:solidFill>
              </a:rPr>
              <a:t>0</a:t>
            </a:r>
            <a:r>
              <a:rPr lang="zh-CN" altLang="en-US" b="1" dirty="0"/>
              <a:t>），将数据块</a:t>
            </a:r>
            <a:r>
              <a:rPr lang="en-US" altLang="zh-CN" b="1" dirty="0"/>
              <a:t>7</a:t>
            </a:r>
            <a:r>
              <a:rPr lang="zh-CN" altLang="en-US" b="1" dirty="0"/>
              <a:t>、</a:t>
            </a:r>
            <a:r>
              <a:rPr lang="en-US" altLang="zh-CN" b="1" dirty="0"/>
              <a:t>6</a:t>
            </a:r>
            <a:r>
              <a:rPr lang="zh-CN" altLang="en-US" b="1" dirty="0"/>
              <a:t>、</a:t>
            </a:r>
            <a:r>
              <a:rPr lang="en-US" altLang="zh-CN" b="1" dirty="0"/>
              <a:t>4</a:t>
            </a:r>
            <a:r>
              <a:rPr lang="zh-CN" altLang="en-US" b="1" dirty="0"/>
              <a:t>的计数值加</a:t>
            </a:r>
            <a:r>
              <a:rPr lang="en-US" altLang="zh-CN" b="1" dirty="0"/>
              <a:t>1</a:t>
            </a:r>
            <a:r>
              <a:rPr lang="zh-CN" altLang="en-US" b="1" dirty="0"/>
              <a:t>（</a:t>
            </a:r>
            <a:r>
              <a:rPr lang="en-US" altLang="zh-CN" b="1" dirty="0">
                <a:solidFill>
                  <a:srgbClr val="FF0000"/>
                </a:solidFill>
              </a:rPr>
              <a:t>7</a:t>
            </a:r>
            <a:r>
              <a:rPr lang="en-US" altLang="zh-CN" b="1" baseline="30000" dirty="0">
                <a:solidFill>
                  <a:srgbClr val="FF0000"/>
                </a:solidFill>
              </a:rPr>
              <a:t>1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en-US" altLang="zh-CN" b="1" baseline="30000" dirty="0">
                <a:solidFill>
                  <a:srgbClr val="FF0000"/>
                </a:solidFill>
              </a:rPr>
              <a:t>2</a:t>
            </a:r>
            <a:r>
              <a:rPr lang="zh-CN" altLang="en-US" b="1" dirty="0"/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4</a:t>
            </a:r>
            <a:r>
              <a:rPr lang="en-US" altLang="zh-CN" b="1" baseline="30000" dirty="0">
                <a:solidFill>
                  <a:srgbClr val="FF0000"/>
                </a:solidFill>
              </a:rPr>
              <a:t>7</a:t>
            </a:r>
            <a:r>
              <a:rPr lang="zh-CN" altLang="en-US" b="1" dirty="0"/>
              <a:t>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7025CD0A-AC7A-446B-8C2B-1165E1C42B42}"/>
              </a:ext>
            </a:extLst>
          </p:cNvPr>
          <p:cNvCxnSpPr>
            <a:cxnSpLocks/>
          </p:cNvCxnSpPr>
          <p:nvPr/>
        </p:nvCxnSpPr>
        <p:spPr>
          <a:xfrm>
            <a:off x="8100392" y="2996952"/>
            <a:ext cx="586408" cy="72008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373841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51FEE-2AF0-40B9-93D3-61AF22E01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4525963"/>
          </a:xfrm>
        </p:spPr>
        <p:txBody>
          <a:bodyPr/>
          <a:lstStyle/>
          <a:p>
            <a:r>
              <a:rPr lang="zh-CN" altLang="en-US" sz="1800" b="1" dirty="0"/>
              <a:t>例</a:t>
            </a:r>
            <a:r>
              <a:rPr lang="en-US" altLang="zh-CN" sz="1800" b="1" dirty="0"/>
              <a:t>4.5</a:t>
            </a:r>
            <a:r>
              <a:rPr lang="zh-CN" altLang="en-US" sz="1800" b="1" dirty="0"/>
              <a:t>：假设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有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行，某程序要访问主存的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个数据块（数据块编号为：</a:t>
            </a:r>
            <a:r>
              <a:rPr lang="en-US" altLang="zh-CN" sz="1800" b="1" dirty="0"/>
              <a:t>1</a:t>
            </a:r>
            <a:r>
              <a:rPr lang="zh-CN" altLang="en-US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800" b="1" dirty="0">
                <a:latin typeface="等线" panose="02010600030101010101" pitchFamily="2" charset="-122"/>
                <a:ea typeface="等线" panose="02010600030101010101" pitchFamily="2" charset="-122"/>
              </a:rPr>
              <a:t>7</a:t>
            </a:r>
            <a:r>
              <a:rPr lang="zh-CN" altLang="en-US" sz="1800" b="1" dirty="0"/>
              <a:t>），共访问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次，访问次序为：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3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1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4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6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7</a:t>
            </a:r>
            <a:r>
              <a:rPr lang="zh-CN" altLang="en-US" sz="1800" b="1" dirty="0"/>
              <a:t>、</a:t>
            </a:r>
            <a:r>
              <a:rPr lang="en-US" altLang="zh-CN" sz="1800" b="1" dirty="0"/>
              <a:t>5</a:t>
            </a:r>
            <a:r>
              <a:rPr lang="zh-CN" altLang="en-US" sz="1800" b="1" dirty="0"/>
              <a:t>。请分析</a:t>
            </a:r>
            <a:r>
              <a:rPr lang="en-US" altLang="zh-CN" sz="1800" b="1" dirty="0"/>
              <a:t>LFU</a:t>
            </a:r>
            <a:r>
              <a:rPr lang="zh-CN" altLang="en-US" sz="1800" b="1" dirty="0"/>
              <a:t>和</a:t>
            </a:r>
            <a:r>
              <a:rPr lang="en-US" altLang="zh-CN" sz="1800" b="1" dirty="0"/>
              <a:t>LRU</a:t>
            </a:r>
            <a:r>
              <a:rPr lang="zh-CN" altLang="en-US" sz="1800" b="1" dirty="0"/>
              <a:t>算法的访问过程，并计算命中率。</a:t>
            </a:r>
            <a:endParaRPr lang="en-US" altLang="zh-CN" sz="1800" b="1" dirty="0"/>
          </a:p>
          <a:p>
            <a:endParaRPr lang="en-US" altLang="zh-CN" sz="1800" b="1" dirty="0"/>
          </a:p>
          <a:p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8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算法：</a:t>
            </a:r>
            <a:r>
              <a:rPr lang="en-US" altLang="zh-CN" sz="1600" b="1" dirty="0"/>
              <a:t> cache</a:t>
            </a:r>
            <a:r>
              <a:rPr lang="zh-CN" altLang="en-US" sz="1600" b="1" dirty="0"/>
              <a:t>的每行设置一个计数器，当访问某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行时，该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行的计数器清</a:t>
            </a:r>
            <a:r>
              <a:rPr lang="en-US" altLang="zh-CN" sz="1600" b="1" dirty="0"/>
              <a:t>0</a:t>
            </a:r>
            <a:r>
              <a:rPr lang="zh-CN" altLang="en-US" sz="1600" b="1" dirty="0"/>
              <a:t>，其它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行的计数器加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；因此计数器是用于统计未被访问的次数；当需要替换时，比较所有可淘汰行的计数值，将计数值最大的行淘汰掉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/>
              <a:t>LRU</a:t>
            </a:r>
            <a:r>
              <a:rPr lang="zh-CN" altLang="en-US" sz="1600" b="1" dirty="0"/>
              <a:t>算法的访问过程：</a:t>
            </a:r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endParaRPr lang="en-US" altLang="zh-CN" sz="1600" b="1" dirty="0"/>
          </a:p>
          <a:p>
            <a:pPr marL="857250" lvl="1" indent="-342900" eaLnBrk="1" hangingPunct="1"/>
            <a:r>
              <a:rPr lang="en-US" altLang="zh-CN" sz="1600" b="1" dirty="0">
                <a:solidFill>
                  <a:srgbClr val="FF0000"/>
                </a:solidFill>
              </a:rPr>
              <a:t>LRU</a:t>
            </a:r>
            <a:r>
              <a:rPr lang="zh-CN" altLang="en-US" sz="1600" b="1" dirty="0">
                <a:solidFill>
                  <a:srgbClr val="FF0000"/>
                </a:solidFill>
              </a:rPr>
              <a:t>算法的命中率</a:t>
            </a:r>
            <a:r>
              <a:rPr lang="en-US" altLang="zh-CN" sz="1600" b="1" dirty="0">
                <a:solidFill>
                  <a:srgbClr val="FF0000"/>
                </a:solidFill>
              </a:rPr>
              <a:t>=9/16=56.25%</a:t>
            </a:r>
            <a:r>
              <a:rPr lang="zh-CN" altLang="en-US" sz="1600" b="1" dirty="0"/>
              <a:t>；显然比</a:t>
            </a:r>
            <a:r>
              <a:rPr lang="en-US" altLang="zh-CN" sz="1600" b="1" dirty="0"/>
              <a:t>LFU</a:t>
            </a:r>
            <a:r>
              <a:rPr lang="zh-CN" altLang="en-US" sz="1600" b="1" dirty="0"/>
              <a:t>算法的命中率高（</a:t>
            </a:r>
            <a:r>
              <a:rPr lang="en-US" altLang="zh-CN" sz="1600" b="1" dirty="0"/>
              <a:t>5/16=31.25%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  <a:p>
            <a:pPr lvl="1"/>
            <a:endParaRPr lang="en-US" altLang="zh-CN" sz="11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68F59DFC-BA3F-4B76-80A1-CC645C1CAF55}"/>
              </a:ext>
            </a:extLst>
          </p:cNvPr>
          <p:cNvGraphicFramePr>
            <a:graphicFrameLocks noGrp="1"/>
          </p:cNvGraphicFramePr>
          <p:nvPr/>
        </p:nvGraphicFramePr>
        <p:xfrm>
          <a:off x="107504" y="3554844"/>
          <a:ext cx="8882386" cy="239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0595">
                  <a:extLst>
                    <a:ext uri="{9D8B030D-6E8A-4147-A177-3AD203B41FA5}">
                      <a16:colId xmlns:a16="http://schemas.microsoft.com/office/drawing/2014/main" val="2362645680"/>
                    </a:ext>
                  </a:extLst>
                </a:gridCol>
                <a:gridCol w="513541">
                  <a:extLst>
                    <a:ext uri="{9D8B030D-6E8A-4147-A177-3AD203B41FA5}">
                      <a16:colId xmlns:a16="http://schemas.microsoft.com/office/drawing/2014/main" val="26832596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69582589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2243394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8566265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336569190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65870461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719311466"/>
                    </a:ext>
                  </a:extLst>
                </a:gridCol>
                <a:gridCol w="453970">
                  <a:extLst>
                    <a:ext uri="{9D8B030D-6E8A-4147-A177-3AD203B41FA5}">
                      <a16:colId xmlns:a16="http://schemas.microsoft.com/office/drawing/2014/main" val="941470376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051950772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4147348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530067698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50555284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330267337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1253873084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2439499980"/>
                    </a:ext>
                  </a:extLst>
                </a:gridCol>
                <a:gridCol w="522493">
                  <a:extLst>
                    <a:ext uri="{9D8B030D-6E8A-4147-A177-3AD203B41FA5}">
                      <a16:colId xmlns:a16="http://schemas.microsoft.com/office/drawing/2014/main" val="3675307803"/>
                    </a:ext>
                  </a:extLst>
                </a:gridCol>
              </a:tblGrid>
              <a:tr h="5006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地址流</a:t>
                      </a:r>
                      <a:endParaRPr lang="en-US" altLang="zh-CN" sz="1000" b="1" dirty="0"/>
                    </a:p>
                    <a:p>
                      <a:pPr algn="ctr"/>
                      <a:r>
                        <a:rPr lang="zh-CN" altLang="en-US" sz="800" b="1" dirty="0"/>
                        <a:t>（访问次序）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08414009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0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1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7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503653700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1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2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5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87849959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2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3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6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19005216"/>
                  </a:ext>
                </a:extLst>
              </a:tr>
              <a:tr h="3616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1" dirty="0"/>
                        <a:t>cache</a:t>
                      </a:r>
                    </a:p>
                    <a:p>
                      <a:pPr algn="ctr"/>
                      <a:r>
                        <a:rPr lang="zh-CN" altLang="en-US" sz="1000" b="1" dirty="0"/>
                        <a:t>第</a:t>
                      </a:r>
                      <a:r>
                        <a:rPr lang="en-US" altLang="zh-CN" sz="1000" b="1" dirty="0"/>
                        <a:t>3</a:t>
                      </a:r>
                      <a:r>
                        <a:rPr lang="zh-CN" altLang="en-US" sz="1000" b="1" dirty="0"/>
                        <a:t>行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baseline="300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3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50" b="1" dirty="0"/>
                        <a:t>4</a:t>
                      </a:r>
                      <a:r>
                        <a:rPr lang="en-US" altLang="zh-CN" sz="1050" b="1" baseline="30000" dirty="0"/>
                        <a:t>7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001417201"/>
                  </a:ext>
                </a:extLst>
              </a:tr>
              <a:tr h="30878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命中情况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载入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/>
                        <a:t>替换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dirty="0">
                          <a:solidFill>
                            <a:srgbClr val="FF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2346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0696626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>
            <a:extLst>
              <a:ext uri="{FF2B5EF4-FFF2-40B4-BE49-F238E27FC236}">
                <a16:creationId xmlns:a16="http://schemas.microsoft.com/office/drawing/2014/main" id="{4A3926E2-5C62-452A-AFA6-1104B8449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应用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348471"/>
            <a:ext cx="8229600" cy="2691035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、分离</a:t>
            </a:r>
            <a:r>
              <a:rPr lang="en-US" altLang="zh-CN" sz="2000" b="1" dirty="0"/>
              <a:t>cache</a:t>
            </a:r>
          </a:p>
          <a:p>
            <a:pPr lvl="2" eaLnBrk="1" hangingPunct="1"/>
            <a:r>
              <a:rPr lang="zh-CN" altLang="en-US" sz="1600" b="1" dirty="0"/>
              <a:t>早期的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中既存放指令又存放数据，称为</a:t>
            </a:r>
            <a:r>
              <a:rPr lang="zh-CN" altLang="en-US" sz="1600" b="1" dirty="0">
                <a:solidFill>
                  <a:srgbClr val="C00000"/>
                </a:solidFill>
              </a:rPr>
              <a:t>统一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随着</a:t>
            </a:r>
            <a:r>
              <a:rPr lang="zh-CN" altLang="en-US" sz="1600" b="1" dirty="0">
                <a:solidFill>
                  <a:srgbClr val="C00000"/>
                </a:solidFill>
              </a:rPr>
              <a:t>指令预取</a:t>
            </a:r>
            <a:r>
              <a:rPr lang="zh-CN" altLang="en-US" sz="1600" b="1" dirty="0"/>
              <a:t>等新技术的出现，需要将指令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I-cache</a:t>
            </a:r>
            <a:r>
              <a:rPr lang="zh-CN" altLang="en-US" sz="1600" b="1" dirty="0"/>
              <a:t>）和数据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D-cache</a:t>
            </a:r>
            <a:r>
              <a:rPr lang="zh-CN" altLang="en-US" sz="1600" b="1" dirty="0"/>
              <a:t>）分开设计，称为</a:t>
            </a:r>
            <a:r>
              <a:rPr lang="zh-CN" altLang="en-US" sz="1600" b="1" dirty="0">
                <a:solidFill>
                  <a:srgbClr val="C00000"/>
                </a:solidFill>
              </a:rPr>
              <a:t>分离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分离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可以实现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在存取数据时（访问数据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），同时完成取指令的功能（访问指令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），从而提高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访问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的速度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A39154-E7BA-4E77-8B05-1EB044BDDC70}"/>
              </a:ext>
            </a:extLst>
          </p:cNvPr>
          <p:cNvGrpSpPr/>
          <p:nvPr/>
        </p:nvGrpSpPr>
        <p:grpSpPr>
          <a:xfrm>
            <a:off x="3131840" y="3767821"/>
            <a:ext cx="3308407" cy="2691035"/>
            <a:chOff x="2915816" y="3936178"/>
            <a:chExt cx="3308407" cy="2805190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7B3B1332-648A-4334-8D29-8E2B29D36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59832" y="3936178"/>
              <a:ext cx="3164391" cy="2805190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3BE74148-0896-41EA-81CF-648F471143AF}"/>
                </a:ext>
              </a:extLst>
            </p:cNvPr>
            <p:cNvSpPr txBox="1"/>
            <p:nvPr/>
          </p:nvSpPr>
          <p:spPr>
            <a:xfrm>
              <a:off x="5580112" y="579503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7480AE2-8971-41E4-857E-D96D041CB59E}"/>
                </a:ext>
              </a:extLst>
            </p:cNvPr>
            <p:cNvSpPr txBox="1"/>
            <p:nvPr/>
          </p:nvSpPr>
          <p:spPr>
            <a:xfrm>
              <a:off x="2915816" y="5805264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78552703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6178A-D125-4219-90DF-E2906C51D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应用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7570" y="1417638"/>
            <a:ext cx="4988526" cy="4525963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、多级</a:t>
            </a:r>
            <a:r>
              <a:rPr lang="en-US" altLang="zh-CN" sz="2000" b="1" dirty="0"/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和处理器集成在同一个芯片内，这个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称为第一级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L1</a:t>
            </a:r>
            <a:r>
              <a:rPr lang="zh-CN" altLang="en-US" sz="1600" b="1" dirty="0">
                <a:solidFill>
                  <a:srgbClr val="C00000"/>
                </a:solidFill>
              </a:rPr>
              <a:t>）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由于</a:t>
            </a:r>
            <a:r>
              <a:rPr lang="en-US" altLang="zh-CN" sz="1600" b="1" dirty="0"/>
              <a:t>L1 cache</a:t>
            </a:r>
            <a:r>
              <a:rPr lang="zh-CN" altLang="en-US" sz="1600" b="1" dirty="0"/>
              <a:t>在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芯片内，减少了对片外总线的访问，加快了存取的速度，提高了系统的性能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但是</a:t>
            </a:r>
            <a:r>
              <a:rPr lang="en-US" altLang="zh-CN" sz="1600" b="1" dirty="0"/>
              <a:t>L1 cache</a:t>
            </a:r>
            <a:r>
              <a:rPr lang="zh-CN" altLang="en-US" sz="1600" b="1" dirty="0"/>
              <a:t>的容量通常较小，此时可以在</a:t>
            </a:r>
            <a:r>
              <a:rPr lang="en-US" altLang="zh-CN" sz="1600" b="1" dirty="0"/>
              <a:t>L1</a:t>
            </a:r>
            <a:r>
              <a:rPr lang="zh-CN" altLang="en-US" sz="1600" b="1" dirty="0"/>
              <a:t>与主存之间再设置一个容量较大的第二级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L2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随着技术的发展，还出现了</a:t>
            </a:r>
            <a:r>
              <a:rPr lang="en-US" altLang="zh-CN" sz="1600" b="1" dirty="0"/>
              <a:t>L3 cache</a:t>
            </a:r>
            <a:r>
              <a:rPr lang="zh-CN" altLang="en-US" sz="1600" b="1" dirty="0"/>
              <a:t>、</a:t>
            </a:r>
            <a:r>
              <a:rPr lang="en-US" altLang="zh-CN" sz="1600" b="1" dirty="0"/>
              <a:t>L4 cache</a:t>
            </a:r>
            <a:r>
              <a:rPr lang="zh-CN" altLang="en-US" sz="1600" b="1" dirty="0"/>
              <a:t>，称为</a:t>
            </a:r>
            <a:r>
              <a:rPr lang="zh-CN" altLang="en-US" sz="1600" b="1" dirty="0">
                <a:solidFill>
                  <a:srgbClr val="C00000"/>
                </a:solidFill>
              </a:rPr>
              <a:t>多级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B7B0D76-B745-4A1A-B30F-F77496A85D75}"/>
              </a:ext>
            </a:extLst>
          </p:cNvPr>
          <p:cNvGrpSpPr/>
          <p:nvPr/>
        </p:nvGrpSpPr>
        <p:grpSpPr>
          <a:xfrm>
            <a:off x="5749368" y="1885983"/>
            <a:ext cx="3406531" cy="3086033"/>
            <a:chOff x="3623158" y="3655335"/>
            <a:chExt cx="3406531" cy="3086033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AB3A9027-A63F-4E64-97E9-EC0935C40DF5}"/>
                </a:ext>
              </a:extLst>
            </p:cNvPr>
            <p:cNvGrpSpPr/>
            <p:nvPr/>
          </p:nvGrpSpPr>
          <p:grpSpPr>
            <a:xfrm>
              <a:off x="3623158" y="3655335"/>
              <a:ext cx="3406531" cy="3086033"/>
              <a:chOff x="3623158" y="3655335"/>
              <a:chExt cx="3406531" cy="3086033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0BADAE9F-9B95-4F83-8165-6A6DB42476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23158" y="3655335"/>
                <a:ext cx="1966371" cy="3086033"/>
              </a:xfrm>
              <a:prstGeom prst="rect">
                <a:avLst/>
              </a:prstGeom>
            </p:spPr>
          </p:pic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E485FB4-6D86-4FDE-BE36-083037C23F72}"/>
                  </a:ext>
                </a:extLst>
              </p:cNvPr>
              <p:cNvSpPr txBox="1"/>
              <p:nvPr/>
            </p:nvSpPr>
            <p:spPr>
              <a:xfrm>
                <a:off x="5589529" y="4437045"/>
                <a:ext cx="144016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b="1" dirty="0"/>
                  <a:t>cache</a:t>
                </a:r>
                <a:r>
                  <a:rPr lang="zh-CN" altLang="en-US" sz="1200" b="1" dirty="0"/>
                  <a:t>（</a:t>
                </a:r>
                <a:r>
                  <a:rPr lang="en-US" altLang="zh-CN" sz="1200" b="1" dirty="0"/>
                  <a:t>L1</a:t>
                </a:r>
                <a:r>
                  <a:rPr lang="zh-CN" altLang="en-US" sz="1200" b="1" dirty="0"/>
                  <a:t>）</a:t>
                </a:r>
                <a:endParaRPr lang="zh-CN" altLang="en-US" sz="1200" dirty="0"/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8F11041A-C085-476E-B128-6591D961A5F6}"/>
                </a:ext>
              </a:extLst>
            </p:cNvPr>
            <p:cNvSpPr txBox="1"/>
            <p:nvPr/>
          </p:nvSpPr>
          <p:spPr>
            <a:xfrm>
              <a:off x="4929622" y="5904253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0905150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BA7EBC89-8D3E-4C9A-BB63-95BA2AE2BF85}"/>
              </a:ext>
            </a:extLst>
          </p:cNvPr>
          <p:cNvGrpSpPr/>
          <p:nvPr/>
        </p:nvGrpSpPr>
        <p:grpSpPr>
          <a:xfrm>
            <a:off x="2437871" y="3218648"/>
            <a:ext cx="4982960" cy="3374288"/>
            <a:chOff x="2080520" y="2636912"/>
            <a:chExt cx="4982960" cy="337428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91C2C34-4B78-44B9-B2AC-2B7D5C13B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80520" y="2636912"/>
              <a:ext cx="4982960" cy="3374288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19AAD1F-4F39-428A-A7F7-5E69F63AC1A1}"/>
                </a:ext>
              </a:extLst>
            </p:cNvPr>
            <p:cNvSpPr txBox="1"/>
            <p:nvPr/>
          </p:nvSpPr>
          <p:spPr>
            <a:xfrm>
              <a:off x="2123728" y="3682236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内存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CEB9257E-972A-4FC3-97F1-02FE5888B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473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5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9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cache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应用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E39D8A0-50D7-4953-98E9-AE95D78906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528" y="1191861"/>
            <a:ext cx="8229600" cy="2255900"/>
          </a:xfrm>
        </p:spPr>
        <p:txBody>
          <a:bodyPr/>
          <a:lstStyle/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、软件</a:t>
            </a:r>
            <a:r>
              <a:rPr lang="en-US" altLang="zh-CN" sz="2000" b="1" dirty="0"/>
              <a:t>cache</a:t>
            </a:r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操作系统中的磁盘缓存</a:t>
            </a:r>
            <a:r>
              <a:rPr lang="en-US" altLang="zh-CN" sz="1600" b="1" dirty="0"/>
              <a:t>buffer cache</a:t>
            </a:r>
            <a:r>
              <a:rPr lang="zh-CN" altLang="en-US" sz="1600" b="1" dirty="0"/>
              <a:t>，其是通过软件方式实现的；磁盘缓存技术可以大大优化磁盘访问性能；此外在磁盘驱动器中也集成了硬件的缓存芯片（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600" b="1" dirty="0"/>
              <a:t>在</a:t>
            </a:r>
            <a:r>
              <a:rPr lang="en-US" altLang="zh-CN" sz="1600" b="1" dirty="0"/>
              <a:t>Web</a:t>
            </a:r>
            <a:r>
              <a:rPr lang="zh-CN" altLang="en-US" sz="1600" b="1" dirty="0"/>
              <a:t>访问中也使用了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技术，包括</a:t>
            </a:r>
            <a:r>
              <a:rPr lang="en-US" altLang="zh-CN" sz="1600" b="1" dirty="0"/>
              <a:t>Web</a:t>
            </a:r>
            <a:r>
              <a:rPr lang="zh-CN" altLang="en-US" sz="1600" b="1" dirty="0"/>
              <a:t>代理服务器（</a:t>
            </a:r>
            <a:r>
              <a:rPr lang="en-US" altLang="zh-CN" sz="1600" b="1" dirty="0"/>
              <a:t>Web Proxy</a:t>
            </a:r>
            <a:r>
              <a:rPr lang="zh-CN" altLang="en-US" sz="1600" b="1" dirty="0"/>
              <a:t>）中的软件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和本地浏览器中的软件</a:t>
            </a:r>
            <a:r>
              <a:rPr lang="en-US" altLang="zh-CN" sz="1600" b="1" dirty="0"/>
              <a:t>cache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F1290B-2920-4D2C-B168-7DAB6BA38F46}"/>
              </a:ext>
            </a:extLst>
          </p:cNvPr>
          <p:cNvSpPr txBox="1"/>
          <p:nvPr/>
        </p:nvSpPr>
        <p:spPr>
          <a:xfrm>
            <a:off x="1187624" y="5041266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硬件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2901D9-E4F6-47B6-B3DD-FFDDA62E58AE}"/>
              </a:ext>
            </a:extLst>
          </p:cNvPr>
          <p:cNvSpPr txBox="1"/>
          <p:nvPr/>
        </p:nvSpPr>
        <p:spPr>
          <a:xfrm>
            <a:off x="1187624" y="4402471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软件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702CDEFE-EBCE-448C-B0BA-806F40D0BFD1}"/>
              </a:ext>
            </a:extLst>
          </p:cNvPr>
          <p:cNvCxnSpPr/>
          <p:nvPr/>
        </p:nvCxnSpPr>
        <p:spPr>
          <a:xfrm flipH="1">
            <a:off x="2130884" y="4177442"/>
            <a:ext cx="691280" cy="2880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6E9B4C69-BD6A-489A-9728-73D04E0C5CBC}"/>
              </a:ext>
            </a:extLst>
          </p:cNvPr>
          <p:cNvCxnSpPr>
            <a:cxnSpLocks/>
          </p:cNvCxnSpPr>
          <p:nvPr/>
        </p:nvCxnSpPr>
        <p:spPr>
          <a:xfrm flipH="1" flipV="1">
            <a:off x="2381660" y="5195155"/>
            <a:ext cx="345640" cy="1975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D0884F3-C63F-45D7-87BA-8AEF660E54AB}"/>
              </a:ext>
            </a:extLst>
          </p:cNvPr>
          <p:cNvSpPr txBox="1"/>
          <p:nvPr/>
        </p:nvSpPr>
        <p:spPr>
          <a:xfrm>
            <a:off x="7063480" y="4221088"/>
            <a:ext cx="967509" cy="307777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软件</a:t>
            </a:r>
            <a:r>
              <a:rPr lang="en-US" altLang="zh-CN" sz="1400" b="1" dirty="0"/>
              <a:t>cache</a:t>
            </a:r>
            <a:endParaRPr lang="zh-CN" altLang="en-US" sz="1400" b="1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5FC6CD06-C4F6-4807-B36F-0A7948B12396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6446813" y="4005064"/>
            <a:ext cx="616667" cy="369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8CCD95A6-9A81-4A46-98D3-44D62EFAD0AD}"/>
              </a:ext>
            </a:extLst>
          </p:cNvPr>
          <p:cNvCxnSpPr>
            <a:cxnSpLocks/>
          </p:cNvCxnSpPr>
          <p:nvPr/>
        </p:nvCxnSpPr>
        <p:spPr>
          <a:xfrm flipV="1">
            <a:off x="6804248" y="4437112"/>
            <a:ext cx="259232" cy="6480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691128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2B093-3BC4-444F-B191-C76A3690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4.6    </a:t>
            </a:r>
            <a:r>
              <a:rPr lang="zh-CN" altLang="en-US" b="1" dirty="0">
                <a:solidFill>
                  <a:srgbClr val="002060"/>
                </a:solidFill>
                <a:latin typeface="+mn-lt"/>
                <a:ea typeface="黑体" pitchFamily="49" charset="-122"/>
              </a:rPr>
              <a:t>虚拟存储器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C0E745B6-C2D4-4E7C-A7AD-650510B645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80728"/>
            <a:ext cx="8229600" cy="5688632"/>
          </a:xfrm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虚拟存储器的工作原理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存储系统设计的目标是设计一个</a:t>
            </a:r>
            <a:r>
              <a:rPr lang="zh-CN" altLang="en-US" sz="1600" b="1" dirty="0">
                <a:solidFill>
                  <a:srgbClr val="C00000"/>
                </a:solidFill>
              </a:rPr>
              <a:t>访问速度快、存储容量大</a:t>
            </a:r>
            <a:r>
              <a:rPr lang="zh-CN" altLang="en-US" sz="1600" b="1" dirty="0"/>
              <a:t>的存储系统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/>
              <a:t>cache</a:t>
            </a:r>
            <a:r>
              <a:rPr lang="zh-CN" altLang="en-US" sz="1600" b="1" dirty="0"/>
              <a:t>技术可以大大提高主存的访问速度，但是并不能解决主存容量不足的问题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一方面，程序员总希望能够有一个</a:t>
            </a:r>
            <a:r>
              <a:rPr lang="zh-CN" altLang="en-US" sz="1600" b="1" dirty="0">
                <a:solidFill>
                  <a:srgbClr val="C00000"/>
                </a:solidFill>
              </a:rPr>
              <a:t>大于主存空间的编程空间</a:t>
            </a:r>
            <a:r>
              <a:rPr lang="zh-CN" altLang="en-US" sz="1600" b="1" dirty="0"/>
              <a:t>，这样编写程序时不受实际主存大小的限制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另一方面，多任务操作系统的计算机中有</a:t>
            </a:r>
            <a:r>
              <a:rPr lang="zh-CN" altLang="en-US" sz="1600" b="1" dirty="0">
                <a:solidFill>
                  <a:srgbClr val="C00000"/>
                </a:solidFill>
              </a:rPr>
              <a:t>多个用户程序的进程在运行</a:t>
            </a:r>
            <a:r>
              <a:rPr lang="zh-CN" altLang="en-US" sz="1600" b="1" dirty="0"/>
              <a:t>，每个进程都需要自己的独立地址空间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如何让更多的程序（程序的容量可能大于主存空间）在有限的主存空间中高效并发运行，并互不干扰，是</a:t>
            </a:r>
            <a:r>
              <a:rPr lang="zh-CN" altLang="en-US" sz="1600" b="1" dirty="0">
                <a:solidFill>
                  <a:srgbClr val="C00000"/>
                </a:solidFill>
              </a:rPr>
              <a:t>虚拟存储器</a:t>
            </a:r>
            <a:r>
              <a:rPr lang="zh-CN" altLang="en-US" sz="1600" b="1" dirty="0"/>
              <a:t>需要解决的问题</a:t>
            </a:r>
            <a:endParaRPr lang="en-US" altLang="zh-CN" sz="1600" b="1" dirty="0"/>
          </a:p>
          <a:p>
            <a:pPr lvl="1" eaLnBrk="1" hangingPunct="1"/>
            <a:endParaRPr lang="zh-CN" altLang="en-US" sz="1600" b="1" dirty="0"/>
          </a:p>
          <a:p>
            <a:pPr lvl="1" eaLnBrk="1" hangingPunct="1"/>
            <a:r>
              <a:rPr lang="zh-CN" altLang="en-US" sz="1600" b="1" dirty="0"/>
              <a:t>参考：</a:t>
            </a:r>
            <a:endParaRPr lang="en-US" altLang="zh-CN" sz="1600" b="1" dirty="0">
              <a:hlinkClick r:id="rId2"/>
            </a:endParaRPr>
          </a:p>
          <a:p>
            <a:pPr lvl="1" eaLnBrk="1" hangingPunct="1"/>
            <a:r>
              <a:rPr lang="zh-CN" altLang="en-US" sz="1600" b="1" dirty="0">
                <a:hlinkClick r:id="rId2"/>
              </a:rPr>
              <a:t>计算机体系结构</a:t>
            </a:r>
            <a:r>
              <a:rPr lang="en-US" altLang="zh-CN" sz="1600" b="1" dirty="0">
                <a:hlinkClick r:id="rId2"/>
              </a:rPr>
              <a:t>-</a:t>
            </a:r>
            <a:r>
              <a:rPr lang="zh-CN" altLang="en-US" sz="1600" b="1" dirty="0">
                <a:hlinkClick r:id="rId2"/>
              </a:rPr>
              <a:t>虚拟存储器 </a:t>
            </a:r>
            <a:r>
              <a:rPr lang="en-US" altLang="zh-CN" sz="1600" b="1" dirty="0">
                <a:hlinkClick r:id="rId2"/>
              </a:rPr>
              <a:t>- </a:t>
            </a:r>
            <a:r>
              <a:rPr lang="zh-CN" altLang="en-US" sz="1600" b="1" dirty="0">
                <a:hlinkClick r:id="rId2"/>
              </a:rPr>
              <a:t>知乎 </a:t>
            </a:r>
            <a:r>
              <a:rPr lang="en-US" altLang="zh-CN" sz="1600" b="1" dirty="0">
                <a:hlinkClick r:id="rId2"/>
              </a:rPr>
              <a:t>(zhihu.com)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操作系统之虚拟存储器 </a:t>
            </a:r>
            <a:r>
              <a:rPr lang="en-US" altLang="zh-CN" sz="1600" b="1" dirty="0"/>
              <a:t>- </a:t>
            </a:r>
            <a:r>
              <a:rPr lang="zh-CN" altLang="en-US" sz="1600" b="1" dirty="0"/>
              <a:t>知乎  </a:t>
            </a:r>
            <a:r>
              <a:rPr lang="en-US" altLang="zh-CN" sz="1600" b="1" u="sng" dirty="0"/>
              <a:t>https://www.zhihu.com/zvideo/1618385883492835328</a:t>
            </a:r>
          </a:p>
        </p:txBody>
      </p:sp>
    </p:spTree>
    <p:extLst>
      <p:ext uri="{BB962C8B-B14F-4D97-AF65-F5344CB8AC3E}">
        <p14:creationId xmlns:p14="http://schemas.microsoft.com/office/powerpoint/2010/main" val="135602673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E292E-C0C4-45D6-8F09-7811142B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虚拟存储器的工作原理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03AE2ED-30B8-49D4-8E42-B41FBF41D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虚拟存储器是</a:t>
            </a:r>
            <a:r>
              <a:rPr lang="en-US" altLang="zh-CN" sz="1600" b="1" dirty="0"/>
              <a:t>1961</a:t>
            </a:r>
            <a:r>
              <a:rPr lang="zh-CN" altLang="en-US" sz="1600" b="1" dirty="0"/>
              <a:t>年英国曼彻斯特大学</a:t>
            </a:r>
            <a:r>
              <a:rPr lang="en-US" altLang="zh-CN" sz="1600" b="1" dirty="0"/>
              <a:t>Kilburn</a:t>
            </a:r>
            <a:r>
              <a:rPr lang="zh-CN" altLang="en-US" sz="1600" b="1" dirty="0"/>
              <a:t>等人提出的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虚拟存储器处于“</a:t>
            </a:r>
            <a:r>
              <a:rPr lang="zh-CN" altLang="en-US" sz="1600" b="1" dirty="0">
                <a:solidFill>
                  <a:srgbClr val="C00000"/>
                </a:solidFill>
              </a:rPr>
              <a:t>主存</a:t>
            </a:r>
            <a:r>
              <a:rPr lang="en-US" altLang="zh-CN" sz="1600" b="1" dirty="0">
                <a:solidFill>
                  <a:srgbClr val="C00000"/>
                </a:solidFill>
              </a:rPr>
              <a:t>-</a:t>
            </a:r>
            <a:r>
              <a:rPr lang="zh-CN" altLang="en-US" sz="1600" b="1" dirty="0">
                <a:solidFill>
                  <a:srgbClr val="C00000"/>
                </a:solidFill>
              </a:rPr>
              <a:t>辅存</a:t>
            </a:r>
            <a:r>
              <a:rPr lang="zh-CN" altLang="en-US" sz="1600" b="1" dirty="0"/>
              <a:t>”存储层次，是为了解决存储系统“</a:t>
            </a:r>
            <a:r>
              <a:rPr lang="zh-CN" altLang="en-US" sz="1600" b="1" dirty="0">
                <a:solidFill>
                  <a:srgbClr val="C00000"/>
                </a:solidFill>
              </a:rPr>
              <a:t>存储容量大</a:t>
            </a:r>
            <a:r>
              <a:rPr lang="zh-CN" altLang="en-US" sz="1600" b="1" dirty="0"/>
              <a:t>”的问题；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处于“</a:t>
            </a:r>
            <a:r>
              <a:rPr lang="en-US" altLang="zh-CN" sz="1600" b="1" dirty="0">
                <a:solidFill>
                  <a:srgbClr val="C00000"/>
                </a:solidFill>
              </a:rPr>
              <a:t>CPU-</a:t>
            </a:r>
            <a:r>
              <a:rPr lang="zh-CN" altLang="en-US" sz="1600" b="1" dirty="0">
                <a:solidFill>
                  <a:srgbClr val="C00000"/>
                </a:solidFill>
              </a:rPr>
              <a:t>主存</a:t>
            </a:r>
            <a:r>
              <a:rPr lang="zh-CN" altLang="en-US" sz="1600" b="1" dirty="0"/>
              <a:t>”存储层次，是为了解决存储系统“</a:t>
            </a:r>
            <a:r>
              <a:rPr lang="zh-CN" altLang="en-US" sz="1600" b="1" dirty="0">
                <a:solidFill>
                  <a:srgbClr val="C00000"/>
                </a:solidFill>
              </a:rPr>
              <a:t>访问速度快</a:t>
            </a:r>
            <a:r>
              <a:rPr lang="zh-CN" altLang="en-US" sz="1600" b="1" dirty="0"/>
              <a:t>”的问题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有了虚拟存储器，程序员可以使用</a:t>
            </a:r>
            <a:r>
              <a:rPr lang="zh-CN" altLang="en-US" sz="1600" b="1" dirty="0">
                <a:solidFill>
                  <a:srgbClr val="C00000"/>
                </a:solidFill>
              </a:rPr>
              <a:t>虚拟地址</a:t>
            </a:r>
            <a:r>
              <a:rPr lang="zh-CN" altLang="en-US" sz="1600" b="1" dirty="0"/>
              <a:t>（虚拟地址空间比主存的物理地址空间要大很多）进行编程，这样程序员的编程</a:t>
            </a:r>
            <a:r>
              <a:rPr lang="zh-CN" altLang="en-US" sz="1600" b="1" dirty="0">
                <a:solidFill>
                  <a:srgbClr val="C00000"/>
                </a:solidFill>
              </a:rPr>
              <a:t>不再受实际主存空间大小的限制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虚拟存储器也充分利用了</a:t>
            </a:r>
            <a:r>
              <a:rPr lang="zh-CN" altLang="en-US" sz="1600" b="1" dirty="0">
                <a:solidFill>
                  <a:srgbClr val="C00000"/>
                </a:solidFill>
              </a:rPr>
              <a:t>程序的局部性</a:t>
            </a:r>
            <a:r>
              <a:rPr lang="zh-CN" altLang="en-US" sz="1600" b="1" dirty="0"/>
              <a:t>，采用按需加载的方式加载程序代码和数据；根据程序局部性原理，通常程序</a:t>
            </a:r>
            <a:r>
              <a:rPr lang="zh-CN" altLang="en-US" sz="1600" b="1" dirty="0">
                <a:solidFill>
                  <a:srgbClr val="C00000"/>
                </a:solidFill>
              </a:rPr>
              <a:t>只需要加载很小一部分空间</a:t>
            </a:r>
            <a:r>
              <a:rPr lang="zh-CN" altLang="en-US" sz="1600" b="1" dirty="0"/>
              <a:t>即可运行，这种方式避免了将程序全部载入内存，大大提高了主存的利用率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虚拟存储器也采用了和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类似的技术，尽量将辅存中</a:t>
            </a:r>
            <a:r>
              <a:rPr lang="zh-CN" altLang="en-US" sz="1600" b="1" dirty="0">
                <a:solidFill>
                  <a:srgbClr val="C00000"/>
                </a:solidFill>
              </a:rPr>
              <a:t>经常访问的</a:t>
            </a:r>
            <a:r>
              <a:rPr lang="zh-CN" altLang="en-US" sz="1600" b="1" dirty="0"/>
              <a:t>程序和数据的</a:t>
            </a:r>
            <a:r>
              <a:rPr lang="zh-CN" altLang="en-US" sz="1600" b="1" dirty="0">
                <a:solidFill>
                  <a:srgbClr val="C00000"/>
                </a:solidFill>
              </a:rPr>
              <a:t>副本</a:t>
            </a:r>
            <a:r>
              <a:rPr lang="zh-CN" altLang="en-US" sz="1600" b="1" dirty="0"/>
              <a:t>调度到主存储器中，使得大部分数据都可以通过直接访问快速的主存获得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如果主存空间消耗完毕（</a:t>
            </a:r>
            <a:r>
              <a:rPr lang="zh-CN" altLang="en-US" sz="1600" b="1" dirty="0">
                <a:solidFill>
                  <a:srgbClr val="C00000"/>
                </a:solidFill>
              </a:rPr>
              <a:t>内存满</a:t>
            </a:r>
            <a:r>
              <a:rPr lang="zh-CN" altLang="en-US" sz="1600" b="1" dirty="0"/>
              <a:t>），此时虚拟存储器选择最不经常访问的程序和数据进行</a:t>
            </a:r>
            <a:r>
              <a:rPr lang="zh-CN" altLang="en-US" sz="1600" b="1" dirty="0">
                <a:solidFill>
                  <a:srgbClr val="C00000"/>
                </a:solidFill>
              </a:rPr>
              <a:t>淘汰</a:t>
            </a:r>
            <a:r>
              <a:rPr lang="zh-CN" altLang="en-US" sz="1600" b="1" dirty="0"/>
              <a:t>，然后载入新的数据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3018338697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F1CB02-1CA8-4D69-83C6-28138B464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1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虚拟存储器的工作原理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03AE2ED-30B8-49D4-8E42-B41FBF41D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21327" y="1340768"/>
            <a:ext cx="4914809" cy="5242594"/>
          </a:xfrm>
        </p:spPr>
        <p:txBody>
          <a:bodyPr/>
          <a:lstStyle/>
          <a:p>
            <a:pPr lvl="1" eaLnBrk="1" hangingPunct="1">
              <a:lnSpc>
                <a:spcPct val="130000"/>
              </a:lnSpc>
            </a:pPr>
            <a:r>
              <a:rPr lang="zh-CN" altLang="en-US" sz="1600" b="1" dirty="0"/>
              <a:t>淘汰时，也存在</a:t>
            </a:r>
            <a:r>
              <a:rPr lang="zh-CN" altLang="en-US" sz="1600" b="1" dirty="0">
                <a:solidFill>
                  <a:srgbClr val="C00000"/>
                </a:solidFill>
              </a:rPr>
              <a:t>主存与辅存数据一致性</a:t>
            </a:r>
            <a:r>
              <a:rPr lang="zh-CN" altLang="en-US" sz="1600" b="1" dirty="0"/>
              <a:t>的问题；对于</a:t>
            </a:r>
            <a:r>
              <a:rPr lang="zh-CN" altLang="en-US" sz="1600" b="1" dirty="0">
                <a:highlight>
                  <a:srgbClr val="FFFF00"/>
                </a:highlight>
              </a:rPr>
              <a:t>静态</a:t>
            </a:r>
            <a:r>
              <a:rPr lang="zh-CN" altLang="en-US" sz="1600" b="1" dirty="0"/>
              <a:t>代码和数据（这部分的代码和数据是不可以修改的），可以</a:t>
            </a:r>
            <a:r>
              <a:rPr lang="zh-CN" altLang="en-US" sz="1600" b="1" dirty="0">
                <a:highlight>
                  <a:srgbClr val="FFFF00"/>
                </a:highlight>
              </a:rPr>
              <a:t>直接丢弃</a:t>
            </a:r>
            <a:r>
              <a:rPr lang="zh-CN" altLang="en-US" sz="1600" b="1" dirty="0"/>
              <a:t>；对于</a:t>
            </a:r>
            <a:r>
              <a:rPr lang="zh-CN" altLang="en-US" sz="1600" b="1" dirty="0">
                <a:highlight>
                  <a:srgbClr val="FFFF00"/>
                </a:highlight>
              </a:rPr>
              <a:t>动态</a:t>
            </a:r>
            <a:r>
              <a:rPr lang="zh-CN" altLang="en-US" sz="1600" b="1" dirty="0"/>
              <a:t>数据（这部分的数据是可以修改的），在丢弃时，需要同时保存到辅助存储器中</a:t>
            </a:r>
            <a:endParaRPr lang="en-US" altLang="zh-CN" sz="1600" b="1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1600" b="1" dirty="0"/>
              <a:t>总结：虚拟存储器的三个特性</a:t>
            </a:r>
            <a:endParaRPr lang="en-US" altLang="zh-CN" sz="1600" b="1" dirty="0"/>
          </a:p>
          <a:p>
            <a:pPr lvl="2">
              <a:lnSpc>
                <a:spcPct val="13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多次性</a:t>
            </a:r>
            <a:r>
              <a:rPr lang="zh-CN" altLang="en-US" sz="1600" b="1" dirty="0"/>
              <a:t>：指一个作业中的程序和数据允许被多次调入内存运行，即只需当前要运行的那部分程序和数据装入内存即可开始运行。</a:t>
            </a:r>
          </a:p>
          <a:p>
            <a:pPr lvl="2">
              <a:lnSpc>
                <a:spcPct val="13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对换性</a:t>
            </a:r>
            <a:r>
              <a:rPr lang="zh-CN" altLang="en-US" sz="1600" b="1" dirty="0"/>
              <a:t>：在进程运行期间，允许将那些暂不使用的代码和数据从内存调至外存的对换区，待以后需要时再将它们从外存调至内存。</a:t>
            </a:r>
          </a:p>
          <a:p>
            <a:pPr lvl="2">
              <a:lnSpc>
                <a:spcPct val="130000"/>
              </a:lnSpc>
            </a:pPr>
            <a:r>
              <a:rPr lang="zh-CN" altLang="en-US" sz="1600" b="1" dirty="0">
                <a:highlight>
                  <a:srgbClr val="FFFF00"/>
                </a:highlight>
              </a:rPr>
              <a:t>虚拟性</a:t>
            </a:r>
            <a:r>
              <a:rPr lang="zh-CN" altLang="en-US" sz="1600" b="1" dirty="0"/>
              <a:t>：是指能从逻辑上扩充内存容量</a:t>
            </a:r>
          </a:p>
          <a:p>
            <a:pPr lvl="3" eaLnBrk="1" hangingPunct="1">
              <a:lnSpc>
                <a:spcPct val="130000"/>
              </a:lnSpc>
            </a:pPr>
            <a:endParaRPr lang="en-US" altLang="zh-CN" sz="600" b="1" dirty="0"/>
          </a:p>
          <a:p>
            <a:pPr lvl="1" eaLnBrk="1" hangingPunct="1">
              <a:lnSpc>
                <a:spcPct val="130000"/>
              </a:lnSpc>
            </a:pPr>
            <a:endParaRPr lang="en-US" altLang="zh-CN" sz="1600" b="1" dirty="0"/>
          </a:p>
          <a:p>
            <a:pPr lvl="1" eaLnBrk="1" hangingPunct="1">
              <a:lnSpc>
                <a:spcPct val="130000"/>
              </a:lnSpc>
            </a:pPr>
            <a:endParaRPr lang="en-US" altLang="zh-CN" sz="1600" b="1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789BC30-6919-49F1-851A-DD474FA3A3AC}"/>
              </a:ext>
            </a:extLst>
          </p:cNvPr>
          <p:cNvGrpSpPr/>
          <p:nvPr/>
        </p:nvGrpSpPr>
        <p:grpSpPr>
          <a:xfrm>
            <a:off x="5508104" y="1771578"/>
            <a:ext cx="3178696" cy="3548470"/>
            <a:chOff x="5220072" y="3776789"/>
            <a:chExt cx="2920992" cy="3025667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1321FCAA-2A65-4D09-9105-0E01E54B20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52120" y="3776789"/>
              <a:ext cx="1816306" cy="2738875"/>
            </a:xfrm>
            <a:prstGeom prst="rect">
              <a:avLst/>
            </a:prstGeom>
          </p:spPr>
        </p:pic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6F26D817-4158-4AEC-9945-39FF80A7B6AA}"/>
                </a:ext>
              </a:extLst>
            </p:cNvPr>
            <p:cNvSpPr txBox="1"/>
            <p:nvPr/>
          </p:nvSpPr>
          <p:spPr>
            <a:xfrm>
              <a:off x="5220072" y="6540024"/>
              <a:ext cx="2920992" cy="2624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4.45  </a:t>
              </a:r>
              <a:r>
                <a:rPr lang="zh-CN" altLang="en-US" sz="1400" b="1" dirty="0"/>
                <a:t>虚拟存储器的典型组织结构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A7A15166-433E-48ED-A2D3-2DE0A24CE30B}"/>
              </a:ext>
            </a:extLst>
          </p:cNvPr>
          <p:cNvSpPr txBox="1"/>
          <p:nvPr/>
        </p:nvSpPr>
        <p:spPr>
          <a:xfrm>
            <a:off x="5336136" y="5733256"/>
            <a:ext cx="3628352" cy="276999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en-US" altLang="zh-CN" sz="1200" b="1" dirty="0"/>
              <a:t>MMU</a:t>
            </a:r>
            <a:r>
              <a:rPr lang="zh-CN" altLang="en-US" sz="1200" b="1" dirty="0"/>
              <a:t>：</a:t>
            </a:r>
            <a:r>
              <a:rPr lang="en-US" altLang="zh-CN" sz="1200" b="1" dirty="0" err="1"/>
              <a:t>emory</a:t>
            </a:r>
            <a:r>
              <a:rPr lang="en-US" altLang="zh-CN" sz="1200" b="1" dirty="0"/>
              <a:t> Management Unit</a:t>
            </a:r>
            <a:r>
              <a:rPr lang="zh-CN" altLang="en-US" sz="1200" b="1" dirty="0"/>
              <a:t>，存储器管理单元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15323693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BAD4D-E200-44D8-966F-ABA326873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8020"/>
            <a:ext cx="8229600" cy="962708"/>
          </a:xfrm>
        </p:spPr>
        <p:txBody>
          <a:bodyPr/>
          <a:lstStyle/>
          <a:p>
            <a:r>
              <a:rPr lang="zh-CN" altLang="en-US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2</a:t>
            </a:r>
            <a:r>
              <a:rPr lang="zh-CN" altLang="en-US" sz="3600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虚拟存储器的地址映射与变换</a:t>
            </a:r>
            <a:endParaRPr lang="zh-CN" altLang="en-US" sz="3600" dirty="0"/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C274E2F0-0134-40BB-94BF-710A2D3F3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74848" y="908720"/>
            <a:ext cx="8301608" cy="5832648"/>
          </a:xfrm>
        </p:spPr>
        <p:txBody>
          <a:bodyPr/>
          <a:lstStyle/>
          <a:p>
            <a:pPr lvl="1" eaLnBrk="1" hangingPunct="1"/>
            <a:r>
              <a:rPr lang="zh-CN" altLang="en-US" sz="1800" b="1" dirty="0"/>
              <a:t>虚拟存储器中有</a:t>
            </a:r>
            <a:r>
              <a:rPr lang="en-US" altLang="zh-CN" sz="1800" b="1" dirty="0">
                <a:solidFill>
                  <a:srgbClr val="C00000"/>
                </a:solidFill>
              </a:rPr>
              <a:t>3</a:t>
            </a:r>
            <a:r>
              <a:rPr lang="zh-CN" altLang="en-US" sz="1800" b="1" dirty="0">
                <a:solidFill>
                  <a:srgbClr val="C00000"/>
                </a:solidFill>
              </a:rPr>
              <a:t>种地址空间</a:t>
            </a:r>
            <a:r>
              <a:rPr lang="zh-CN" altLang="en-US" sz="1600" b="1" dirty="0"/>
              <a:t>：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>
                <a:highlight>
                  <a:srgbClr val="FFFF00"/>
                </a:highlight>
              </a:rPr>
              <a:t>虚拟地址空间</a:t>
            </a:r>
            <a:r>
              <a:rPr lang="zh-CN" altLang="en-US" sz="1600" b="1" dirty="0"/>
              <a:t>：也称为虚拟空间、虚地址空间，它是程序员用来编写程序的地址空间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>
                <a:highlight>
                  <a:srgbClr val="FFFF00"/>
                </a:highlight>
              </a:rPr>
              <a:t>主存地址空间</a:t>
            </a:r>
            <a:r>
              <a:rPr lang="zh-CN" altLang="en-US" sz="1600" b="1" dirty="0"/>
              <a:t>：也称物理地址空间、实地址空间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>
                <a:highlight>
                  <a:srgbClr val="FFFF00"/>
                </a:highlight>
              </a:rPr>
              <a:t>辅存地址空间</a:t>
            </a:r>
            <a:r>
              <a:rPr lang="zh-CN" altLang="en-US" sz="1600" b="1" dirty="0"/>
              <a:t>：也就是磁盘存储器的地址空间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对应</a:t>
            </a:r>
            <a:r>
              <a:rPr lang="en-US" altLang="zh-CN" sz="1600" b="1" dirty="0">
                <a:solidFill>
                  <a:srgbClr val="C00000"/>
                </a:solidFill>
              </a:rPr>
              <a:t>3</a:t>
            </a:r>
            <a:r>
              <a:rPr lang="zh-CN" altLang="en-US" sz="1600" b="1" dirty="0">
                <a:solidFill>
                  <a:srgbClr val="C00000"/>
                </a:solidFill>
              </a:rPr>
              <a:t>种地址</a:t>
            </a:r>
            <a:r>
              <a:rPr lang="zh-CN" altLang="en-US" sz="1600" b="1" dirty="0"/>
              <a:t>：虚拟地址（虚地址）；主存物理地址（实地址）；磁盘存储器地址（磁盘地址、辅存地址）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地址映射</a:t>
            </a:r>
            <a:r>
              <a:rPr lang="zh-CN" altLang="en-US" sz="1600" b="1" dirty="0"/>
              <a:t>：将</a:t>
            </a:r>
            <a:r>
              <a:rPr lang="zh-CN" altLang="en-US" sz="1600" b="1" dirty="0">
                <a:solidFill>
                  <a:srgbClr val="C00000"/>
                </a:solidFill>
              </a:rPr>
              <a:t>虚拟地址</a:t>
            </a:r>
            <a:r>
              <a:rPr lang="zh-CN" altLang="en-US" sz="1600" b="1" dirty="0"/>
              <a:t>空间</a:t>
            </a:r>
            <a:r>
              <a:rPr lang="zh-CN" altLang="en-US" sz="1600" b="1" dirty="0">
                <a:solidFill>
                  <a:srgbClr val="C00000"/>
                </a:solidFill>
              </a:rPr>
              <a:t>映射到主存地址空间</a:t>
            </a:r>
            <a:r>
              <a:rPr lang="zh-CN" altLang="en-US" sz="1600" b="1" dirty="0"/>
              <a:t>，即将用户利用虚拟地址访问的内容按照某种规则，从辅存装入主存中，并建立</a:t>
            </a:r>
            <a:r>
              <a:rPr lang="zh-CN" altLang="en-US" sz="1600" b="1" dirty="0">
                <a:solidFill>
                  <a:srgbClr val="C00000"/>
                </a:solidFill>
              </a:rPr>
              <a:t>虚地址与实地址</a:t>
            </a:r>
            <a:r>
              <a:rPr lang="zh-CN" altLang="en-US" sz="1600" b="1" dirty="0"/>
              <a:t>之间的对应关系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虚拟存储器的</a:t>
            </a:r>
            <a:r>
              <a:rPr lang="zh-CN" altLang="en-US" sz="1600" b="1" dirty="0">
                <a:solidFill>
                  <a:srgbClr val="C00000"/>
                </a:solidFill>
              </a:rPr>
              <a:t>地址变换</a:t>
            </a:r>
            <a:r>
              <a:rPr lang="zh-CN" altLang="en-US" sz="1600" b="1" dirty="0"/>
              <a:t>（转换）：程序被装入主存后，在实际运行时，将虚拟地址转换为实地址或磁盘地址，以便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从主存或磁盘中读取相应的信息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1600" b="1" dirty="0">
                <a:solidFill>
                  <a:srgbClr val="C00000"/>
                </a:solidFill>
              </a:rPr>
              <a:t>MMU</a:t>
            </a:r>
            <a:r>
              <a:rPr lang="zh-CN" altLang="en-US" sz="1600" b="1" dirty="0"/>
              <a:t>：</a:t>
            </a:r>
            <a:r>
              <a:rPr lang="en-US" altLang="zh-CN" sz="1600" b="1" dirty="0"/>
              <a:t>Memory Management Unit</a:t>
            </a:r>
            <a:r>
              <a:rPr lang="zh-CN" altLang="en-US" sz="1600" b="1" dirty="0"/>
              <a:t>，存储器管理单元，</a:t>
            </a:r>
            <a:r>
              <a:rPr lang="en-US" altLang="zh-CN" sz="1600" b="1" dirty="0"/>
              <a:t>MMU</a:t>
            </a:r>
            <a:r>
              <a:rPr lang="zh-CN" altLang="en-US" sz="1600" b="1" dirty="0"/>
              <a:t>完成虚拟地址到物理地址的转换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虚拟存储器分为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种不同的类型：</a:t>
            </a:r>
            <a:r>
              <a:rPr lang="zh-CN" altLang="en-US" sz="1600" b="1" dirty="0">
                <a:solidFill>
                  <a:srgbClr val="C00000"/>
                </a:solidFill>
              </a:rPr>
              <a:t>页式</a:t>
            </a:r>
            <a:r>
              <a:rPr lang="zh-CN" altLang="en-US" sz="1600" b="1" dirty="0"/>
              <a:t>虚拟存储器、</a:t>
            </a:r>
            <a:r>
              <a:rPr lang="zh-CN" altLang="en-US" sz="1600" b="1" dirty="0">
                <a:solidFill>
                  <a:srgbClr val="C00000"/>
                </a:solidFill>
              </a:rPr>
              <a:t>段式</a:t>
            </a:r>
            <a:r>
              <a:rPr lang="zh-CN" altLang="en-US" sz="1600" b="1" dirty="0"/>
              <a:t>虚拟存储器、</a:t>
            </a:r>
            <a:r>
              <a:rPr lang="zh-CN" altLang="en-US" sz="1600" b="1" dirty="0">
                <a:solidFill>
                  <a:srgbClr val="C00000"/>
                </a:solidFill>
              </a:rPr>
              <a:t>段页式</a:t>
            </a:r>
            <a:r>
              <a:rPr lang="zh-CN" altLang="en-US" sz="1600" b="1" dirty="0"/>
              <a:t>虚拟存储器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</p:spTree>
    <p:extLst>
      <p:ext uri="{BB962C8B-B14F-4D97-AF65-F5344CB8AC3E}">
        <p14:creationId xmlns:p14="http://schemas.microsoft.com/office/powerpoint/2010/main" val="1966435161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5EFBE7-B406-4A7F-B6DA-6F2C52100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041" y="22225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  <p:sp>
        <p:nvSpPr>
          <p:cNvPr id="28" name="内容占位符 2">
            <a:extLst>
              <a:ext uri="{FF2B5EF4-FFF2-40B4-BE49-F238E27FC236}">
                <a16:creationId xmlns:a16="http://schemas.microsoft.com/office/drawing/2014/main" id="{C274E2F0-0134-40BB-94BF-710A2D3F33B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1"/>
            <a:ext cx="8229600" cy="3600400"/>
          </a:xfrm>
        </p:spPr>
        <p:txBody>
          <a:bodyPr/>
          <a:lstStyle/>
          <a:p>
            <a:pPr lvl="1" eaLnBrk="1" hangingPunct="1"/>
            <a:r>
              <a:rPr lang="zh-CN" altLang="en-US" sz="1600" b="1" dirty="0"/>
              <a:t>以</a:t>
            </a:r>
            <a:r>
              <a:rPr lang="zh-CN" altLang="en-US" sz="1600" b="1" dirty="0">
                <a:highlight>
                  <a:srgbClr val="FFFF00"/>
                </a:highlight>
              </a:rPr>
              <a:t>页（</a:t>
            </a:r>
            <a:r>
              <a:rPr lang="en-US" altLang="zh-CN" sz="1600" b="1" dirty="0">
                <a:highlight>
                  <a:srgbClr val="FFFF00"/>
                </a:highlight>
              </a:rPr>
              <a:t>Page</a:t>
            </a:r>
            <a:r>
              <a:rPr lang="zh-CN" altLang="en-US" sz="1600" b="1" dirty="0">
                <a:highlight>
                  <a:srgbClr val="FFFF00"/>
                </a:highlight>
              </a:rPr>
              <a:t>）</a:t>
            </a:r>
            <a:r>
              <a:rPr lang="zh-CN" altLang="en-US" sz="1600" b="1" dirty="0"/>
              <a:t>为逻辑结构划分信息传送单位的虚拟存储器，称为</a:t>
            </a:r>
            <a:r>
              <a:rPr lang="zh-CN" altLang="en-US" sz="1600" b="1" dirty="0">
                <a:solidFill>
                  <a:srgbClr val="C00000"/>
                </a:solidFill>
              </a:rPr>
              <a:t>页式虚拟存储器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虚拟空间和主存空间均被划分为</a:t>
            </a:r>
            <a:r>
              <a:rPr lang="zh-CN" altLang="en-US" sz="1600" b="1" dirty="0">
                <a:solidFill>
                  <a:srgbClr val="C00000"/>
                </a:solidFill>
              </a:rPr>
              <a:t>固定大小的页</a:t>
            </a:r>
            <a:r>
              <a:rPr lang="zh-CN" altLang="en-US" sz="1600" b="1" dirty="0"/>
              <a:t>，常见的页大小为</a:t>
            </a:r>
            <a:r>
              <a:rPr lang="en-US" altLang="zh-CN" sz="1600" b="1" dirty="0">
                <a:solidFill>
                  <a:srgbClr val="C00000"/>
                </a:solidFill>
              </a:rPr>
              <a:t>4KB</a:t>
            </a:r>
            <a:r>
              <a:rPr lang="zh-CN" altLang="en-US" sz="1600" b="1" dirty="0"/>
              <a:t>，也有更大容量的页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en-US" altLang="zh-CN" sz="2000" b="1" dirty="0"/>
              <a:t>1</a:t>
            </a:r>
            <a:r>
              <a:rPr lang="zh-CN" altLang="en-US" sz="2000" b="1" dirty="0"/>
              <a:t>、虚拟地址划分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虚拟地址（</a:t>
            </a:r>
            <a:r>
              <a:rPr lang="en-US" altLang="zh-CN" sz="1400" b="1" dirty="0"/>
              <a:t>VA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虚拟页号（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 + </a:t>
            </a:r>
            <a:r>
              <a:rPr lang="zh-CN" altLang="en-US" sz="1400" b="1" dirty="0"/>
              <a:t>虚拟页偏移（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物理地址（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）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物理页号（</a:t>
            </a:r>
            <a:r>
              <a:rPr lang="en-US" altLang="zh-CN" sz="1400" b="1" dirty="0"/>
              <a:t>PPN </a:t>
            </a:r>
            <a:r>
              <a:rPr lang="zh-CN" altLang="en-US" sz="1400" b="1" dirty="0"/>
              <a:t>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物理页偏移（</a:t>
            </a:r>
            <a:r>
              <a:rPr lang="en-US" altLang="zh-CN" sz="1400" b="1" dirty="0"/>
              <a:t>PPO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虚拟页号也称为虚页号；物理页号也称为页框号、实页号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虚拟页偏移和物理页偏移的大小是相等的，也就是页式虚拟存储器</a:t>
            </a:r>
            <a:r>
              <a:rPr lang="zh-CN" altLang="en-US" sz="1400" b="1" dirty="0">
                <a:solidFill>
                  <a:srgbClr val="C00000"/>
                </a:solidFill>
              </a:rPr>
              <a:t>页的大小</a:t>
            </a:r>
            <a:endParaRPr lang="en-US" altLang="zh-CN" sz="1200" b="1" dirty="0">
              <a:solidFill>
                <a:srgbClr val="C00000"/>
              </a:solidFill>
            </a:endParaRPr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D0DC0B2-1E3C-4A44-A91A-35A726475B75}"/>
              </a:ext>
            </a:extLst>
          </p:cNvPr>
          <p:cNvGrpSpPr/>
          <p:nvPr/>
        </p:nvGrpSpPr>
        <p:grpSpPr>
          <a:xfrm>
            <a:off x="2219379" y="5076234"/>
            <a:ext cx="4464731" cy="1665134"/>
            <a:chOff x="2219379" y="5076234"/>
            <a:chExt cx="4464731" cy="1665134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396F62CD-0605-467E-B3A3-9C5C592DCF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9379" y="5076234"/>
              <a:ext cx="4464731" cy="1145711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D2DD8C31-AB20-40DC-BFCC-143BDD8C6C0E}"/>
                </a:ext>
              </a:extLst>
            </p:cNvPr>
            <p:cNvSpPr txBox="1"/>
            <p:nvPr/>
          </p:nvSpPr>
          <p:spPr>
            <a:xfrm>
              <a:off x="3635896" y="6464369"/>
              <a:ext cx="25330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4.46  </a:t>
              </a:r>
              <a:r>
                <a:rPr lang="zh-CN" altLang="en-US" sz="1200" b="1" dirty="0"/>
                <a:t>页式虚拟存储器的地址划分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EA8ED118-3070-4011-A591-CB4F36DB6706}"/>
              </a:ext>
            </a:extLst>
          </p:cNvPr>
          <p:cNvSpPr txBox="1"/>
          <p:nvPr/>
        </p:nvSpPr>
        <p:spPr>
          <a:xfrm>
            <a:off x="6588224" y="2780928"/>
            <a:ext cx="2160240" cy="1061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900" b="1" dirty="0"/>
              <a:t>VA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Virtual Address</a:t>
            </a:r>
            <a:r>
              <a:rPr lang="zh-CN" altLang="en-US" sz="900" b="1" dirty="0"/>
              <a:t>，虚拟地址</a:t>
            </a:r>
            <a:endParaRPr lang="en-US" altLang="zh-CN" sz="900" b="1" dirty="0"/>
          </a:p>
          <a:p>
            <a:r>
              <a:rPr lang="en-US" altLang="zh-CN" sz="900" b="1" dirty="0"/>
              <a:t>VPN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Virtual Page Number</a:t>
            </a:r>
            <a:r>
              <a:rPr lang="zh-CN" altLang="en-US" sz="900" b="1" dirty="0"/>
              <a:t>，虚页号</a:t>
            </a:r>
            <a:endParaRPr lang="en-US" altLang="zh-CN" sz="900" b="1" dirty="0"/>
          </a:p>
          <a:p>
            <a:r>
              <a:rPr lang="en-US" altLang="zh-CN" sz="900" b="1" dirty="0"/>
              <a:t>VPO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Virtual Page Offset</a:t>
            </a:r>
            <a:r>
              <a:rPr lang="zh-CN" altLang="en-US" sz="900" b="1" dirty="0"/>
              <a:t>，虚拟页偏移</a:t>
            </a:r>
            <a:endParaRPr lang="en-US" altLang="zh-CN" sz="900" b="1" dirty="0"/>
          </a:p>
          <a:p>
            <a:endParaRPr lang="en-US" altLang="zh-CN" sz="900" b="1" dirty="0"/>
          </a:p>
          <a:p>
            <a:r>
              <a:rPr lang="en-US" altLang="zh-CN" sz="900" b="1" dirty="0"/>
              <a:t>PA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Physical Address</a:t>
            </a:r>
            <a:r>
              <a:rPr lang="zh-CN" altLang="en-US" sz="900" b="1" dirty="0"/>
              <a:t>，物理地址</a:t>
            </a:r>
            <a:r>
              <a:rPr lang="en-US" altLang="zh-CN" sz="900" b="1" dirty="0"/>
              <a:t> </a:t>
            </a:r>
          </a:p>
          <a:p>
            <a:r>
              <a:rPr lang="en-US" altLang="zh-CN" sz="900" b="1" dirty="0"/>
              <a:t>PPN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Physical Page Number</a:t>
            </a:r>
            <a:r>
              <a:rPr lang="zh-CN" altLang="en-US" sz="900" b="1" dirty="0"/>
              <a:t>，物理页号</a:t>
            </a:r>
            <a:endParaRPr lang="en-US" altLang="zh-CN" sz="900" b="1" dirty="0"/>
          </a:p>
          <a:p>
            <a:r>
              <a:rPr lang="en-US" altLang="zh-CN" sz="900" b="1" dirty="0"/>
              <a:t>PPO</a:t>
            </a:r>
            <a:r>
              <a:rPr lang="zh-CN" altLang="en-US" sz="900" b="1" dirty="0"/>
              <a:t>：</a:t>
            </a:r>
            <a:r>
              <a:rPr lang="en-US" altLang="zh-CN" sz="900" b="1" dirty="0"/>
              <a:t>Physical Page Offset</a:t>
            </a:r>
            <a:r>
              <a:rPr lang="zh-CN" altLang="en-US" sz="900" b="1" dirty="0"/>
              <a:t>，物理页偏移</a:t>
            </a:r>
          </a:p>
        </p:txBody>
      </p:sp>
    </p:spTree>
    <p:extLst>
      <p:ext uri="{BB962C8B-B14F-4D97-AF65-F5344CB8AC3E}">
        <p14:creationId xmlns:p14="http://schemas.microsoft.com/office/powerpoint/2010/main" val="325444873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5" y="908720"/>
            <a:ext cx="8813927" cy="3186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2</a:t>
            </a:r>
            <a:r>
              <a:rPr lang="zh-CN" altLang="en-US" sz="2000" b="1" dirty="0"/>
              <a:t>、页表</a:t>
            </a:r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虚拟地址到物理地址的映射，本质上就是将</a:t>
            </a:r>
            <a:r>
              <a:rPr lang="zh-CN" altLang="en-US" sz="1400" b="1" dirty="0">
                <a:solidFill>
                  <a:srgbClr val="C00000"/>
                </a:solidFill>
              </a:rPr>
              <a:t>虚拟页号</a:t>
            </a:r>
            <a:r>
              <a:rPr lang="zh-CN" altLang="en-US" sz="1400" b="1" dirty="0"/>
              <a:t>（虚页号）转换为</a:t>
            </a:r>
            <a:r>
              <a:rPr lang="zh-CN" altLang="en-US" sz="1400" b="1" dirty="0">
                <a:solidFill>
                  <a:srgbClr val="C00000"/>
                </a:solidFill>
              </a:rPr>
              <a:t>物理页号（</a:t>
            </a:r>
            <a:r>
              <a:rPr lang="zh-CN" altLang="en-US" sz="1400" b="1" dirty="0"/>
              <a:t>实页号）；页式虚拟存储器中虚拟地址到物理地址之间的转换是</a:t>
            </a:r>
            <a:r>
              <a:rPr lang="zh-CN" altLang="en-US" sz="1400" b="1" dirty="0">
                <a:solidFill>
                  <a:srgbClr val="C00000"/>
                </a:solidFill>
              </a:rPr>
              <a:t>基于页表进行的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endParaRPr lang="en-US" altLang="zh-CN" sz="1400" b="1" dirty="0">
              <a:solidFill>
                <a:srgbClr val="C00000"/>
              </a:solidFill>
            </a:endParaRPr>
          </a:p>
          <a:p>
            <a:pPr lvl="2" eaLnBrk="1" hangingPunct="1"/>
            <a:r>
              <a:rPr lang="zh-CN" altLang="en-US" sz="1400" b="1" dirty="0">
                <a:solidFill>
                  <a:srgbClr val="C00000"/>
                </a:solidFill>
              </a:rPr>
              <a:t>页表</a:t>
            </a:r>
            <a:r>
              <a:rPr lang="zh-CN" altLang="en-US" sz="1400" b="1" dirty="0"/>
              <a:t>是一张保存虚拟页号和物理页号对应关系的查找表，是一个由若干个表项组成的数组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页表（</a:t>
            </a:r>
            <a:r>
              <a:rPr lang="zh-CN" altLang="en-US" sz="1400" b="1" dirty="0">
                <a:solidFill>
                  <a:srgbClr val="C00000"/>
                </a:solidFill>
              </a:rPr>
              <a:t>图</a:t>
            </a:r>
            <a:r>
              <a:rPr lang="en-US" altLang="zh-CN" sz="1400" b="1" dirty="0">
                <a:solidFill>
                  <a:srgbClr val="C00000"/>
                </a:solidFill>
              </a:rPr>
              <a:t>4.47</a:t>
            </a:r>
            <a:r>
              <a:rPr lang="zh-CN" altLang="en-US" sz="1400" b="1" dirty="0"/>
              <a:t>）采用虚拟页号作为索引进行访问，每一个表项主要包括：</a:t>
            </a:r>
            <a:r>
              <a:rPr lang="zh-CN" altLang="en-US" sz="1400" b="1" dirty="0">
                <a:solidFill>
                  <a:srgbClr val="0512BB"/>
                </a:solidFill>
              </a:rPr>
              <a:t>有效位和物理页</a:t>
            </a:r>
            <a:r>
              <a:rPr lang="zh-CN" altLang="en-US" sz="1400" b="1" dirty="0"/>
              <a:t>号（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），另外还包括：修改位、使用位、权限位等信息（图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中没有给出）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页表中的每一行称为</a:t>
            </a:r>
            <a:r>
              <a:rPr lang="zh-CN" altLang="en-US" sz="1400" b="1" dirty="0">
                <a:solidFill>
                  <a:srgbClr val="C00000"/>
                </a:solidFill>
              </a:rPr>
              <a:t>页表项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Page Table Entry</a:t>
            </a:r>
            <a:r>
              <a:rPr lang="zh-CN" altLang="en-US" sz="1400" b="1" dirty="0"/>
              <a:t>），图</a:t>
            </a:r>
            <a:r>
              <a:rPr lang="en-US" altLang="zh-CN" sz="1400" b="1" dirty="0"/>
              <a:t>4.47</a:t>
            </a:r>
            <a:r>
              <a:rPr lang="zh-CN" altLang="en-US" sz="1400" b="1" dirty="0"/>
              <a:t>中有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个页表项</a:t>
            </a:r>
            <a:r>
              <a:rPr lang="en-US" altLang="zh-CN" sz="1400" b="1" dirty="0"/>
              <a:t>PTE0</a:t>
            </a:r>
            <a:r>
              <a:rPr lang="zh-CN" altLang="en-US" sz="1400" b="1" dirty="0">
                <a:latin typeface="等线" panose="02010600030101010101" pitchFamily="2" charset="-122"/>
                <a:ea typeface="等线" panose="02010600030101010101" pitchFamily="2" charset="-122"/>
              </a:rPr>
              <a:t>～</a:t>
            </a:r>
            <a:r>
              <a:rPr lang="en-US" altLang="zh-CN" sz="1400" b="1" dirty="0"/>
              <a:t>PTE7</a:t>
            </a:r>
            <a:r>
              <a:rPr lang="zh-CN" altLang="en-US" sz="1400" b="1" dirty="0"/>
              <a:t>；主存和磁盘都分为固定大小的页面，用于存放</a:t>
            </a:r>
            <a:r>
              <a:rPr lang="zh-CN" altLang="en-US" sz="1400" b="1" dirty="0">
                <a:solidFill>
                  <a:srgbClr val="C00000"/>
                </a:solidFill>
              </a:rPr>
              <a:t>虚拟页面</a:t>
            </a:r>
            <a:r>
              <a:rPr lang="zh-CN" altLang="en-US" sz="1400" b="1" dirty="0"/>
              <a:t>（</a:t>
            </a:r>
            <a:r>
              <a:rPr lang="en-US" altLang="zh-CN" sz="1400" b="1" dirty="0" err="1"/>
              <a:t>vp</a:t>
            </a:r>
            <a:r>
              <a:rPr lang="zh-CN" altLang="en-US" sz="1400" b="1" dirty="0"/>
              <a:t>：</a:t>
            </a:r>
            <a:r>
              <a:rPr lang="en-US" altLang="zh-CN" sz="1400" b="1" dirty="0"/>
              <a:t>virtual page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磁盘中的</a:t>
            </a:r>
            <a:r>
              <a:rPr lang="zh-CN" altLang="en-US" sz="1400" b="1" dirty="0">
                <a:solidFill>
                  <a:srgbClr val="C00000"/>
                </a:solidFill>
              </a:rPr>
              <a:t>交换分区</a:t>
            </a:r>
            <a:r>
              <a:rPr lang="zh-CN" altLang="en-US" sz="1400" b="1" dirty="0"/>
              <a:t>用于存放主存页面替换出来的</a:t>
            </a:r>
            <a:r>
              <a:rPr lang="zh-CN" altLang="en-US" sz="1400" b="1" dirty="0">
                <a:solidFill>
                  <a:srgbClr val="C00000"/>
                </a:solidFill>
              </a:rPr>
              <a:t>动态修改数据</a:t>
            </a:r>
            <a:r>
              <a:rPr lang="zh-CN" altLang="en-US" sz="1400" b="1" dirty="0"/>
              <a:t>，磁盘中的</a:t>
            </a:r>
            <a:r>
              <a:rPr lang="zh-CN" altLang="en-US" sz="1400" b="1" dirty="0">
                <a:solidFill>
                  <a:srgbClr val="C00000"/>
                </a:solidFill>
              </a:rPr>
              <a:t>数据分区</a:t>
            </a:r>
            <a:r>
              <a:rPr lang="zh-CN" altLang="en-US" sz="1400" b="1" dirty="0"/>
              <a:t>用于存放用户程序和数据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marL="914400" lvl="2" indent="0" eaLnBrk="1" hangingPunct="1">
              <a:buNone/>
            </a:pPr>
            <a:endParaRPr lang="en-US" altLang="zh-CN" sz="1600" b="1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C86EFD22-1B20-4EFD-8A5A-25B3DD0C303D}"/>
              </a:ext>
            </a:extLst>
          </p:cNvPr>
          <p:cNvGrpSpPr/>
          <p:nvPr/>
        </p:nvGrpSpPr>
        <p:grpSpPr>
          <a:xfrm>
            <a:off x="1115616" y="4124081"/>
            <a:ext cx="4244761" cy="2617287"/>
            <a:chOff x="2915816" y="4077072"/>
            <a:chExt cx="4392488" cy="2736304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1E0E167-41BF-49B0-A70C-AA956576E6E2}"/>
                </a:ext>
              </a:extLst>
            </p:cNvPr>
            <p:cNvGrpSpPr/>
            <p:nvPr/>
          </p:nvGrpSpPr>
          <p:grpSpPr>
            <a:xfrm>
              <a:off x="3131840" y="4077072"/>
              <a:ext cx="4176464" cy="2736304"/>
              <a:chOff x="2529349" y="4057650"/>
              <a:chExt cx="4085301" cy="2382431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CC5CEE62-ACD8-4A3B-B1D5-16E023A75C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77BC516-2850-4F31-810D-A2EC08361E3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54E27C94-E89D-4C8A-80BA-E99EEA7F03CC}"/>
                </a:ext>
              </a:extLst>
            </p:cNvPr>
            <p:cNvSpPr txBox="1"/>
            <p:nvPr/>
          </p:nvSpPr>
          <p:spPr>
            <a:xfrm>
              <a:off x="2915816" y="5022911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85ACF171-2485-4215-A460-FF1D9B994DFB}"/>
              </a:ext>
            </a:extLst>
          </p:cNvPr>
          <p:cNvSpPr txBox="1"/>
          <p:nvPr/>
        </p:nvSpPr>
        <p:spPr>
          <a:xfrm>
            <a:off x="5796136" y="5805264"/>
            <a:ext cx="2810922" cy="6001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100" b="1" dirty="0"/>
              <a:t>PPN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Physical Page Number</a:t>
            </a:r>
            <a:r>
              <a:rPr lang="zh-CN" altLang="en-US" sz="1100" b="1" dirty="0"/>
              <a:t>，物理页号</a:t>
            </a:r>
            <a:endParaRPr lang="en-US" altLang="zh-CN" sz="1100" b="1" dirty="0"/>
          </a:p>
          <a:p>
            <a:r>
              <a:rPr lang="en-US" altLang="zh-CN" sz="1100" b="1" dirty="0"/>
              <a:t>PTE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Page Table Entry</a:t>
            </a:r>
            <a:r>
              <a:rPr lang="zh-CN" altLang="en-US" sz="1100" b="1" dirty="0"/>
              <a:t>，页表项</a:t>
            </a:r>
            <a:endParaRPr lang="en-US" altLang="zh-CN" sz="1100" b="1" dirty="0"/>
          </a:p>
          <a:p>
            <a:r>
              <a:rPr lang="en-US" altLang="zh-CN" sz="1100" b="1" dirty="0" err="1"/>
              <a:t>vp</a:t>
            </a:r>
            <a:r>
              <a:rPr lang="zh-CN" altLang="en-US" sz="1100" b="1" dirty="0"/>
              <a:t>：</a:t>
            </a:r>
            <a:r>
              <a:rPr lang="en-US" altLang="zh-CN" sz="1100" b="1" dirty="0"/>
              <a:t>virtual page</a:t>
            </a:r>
            <a:r>
              <a:rPr lang="zh-CN" altLang="en-US" sz="1100" b="1" dirty="0"/>
              <a:t>，虚拟页面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4EAA11-20A9-44DD-A8CB-0AE98060F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08" y="7621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85C2715-CD66-424D-8A62-3C0C8EC4DC6C}"/>
              </a:ext>
            </a:extLst>
          </p:cNvPr>
          <p:cNvSpPr txBox="1"/>
          <p:nvPr/>
        </p:nvSpPr>
        <p:spPr>
          <a:xfrm>
            <a:off x="5436096" y="4293096"/>
            <a:ext cx="30365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1" hangingPunct="1"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C00000"/>
                </a:solidFill>
              </a:rPr>
              <a:t>有效位：</a:t>
            </a:r>
            <a:r>
              <a:rPr lang="zh-CN" altLang="en-US" sz="1400" b="1" dirty="0"/>
              <a:t>有些页在执行程序的时候可能不在内存里，但是这些页肯定要在页表中存有记录</a:t>
            </a:r>
            <a:r>
              <a:rPr lang="zh-CN" altLang="en-US" sz="1400" b="1" dirty="0">
                <a:highlight>
                  <a:srgbClr val="FFFF00"/>
                </a:highlight>
              </a:rPr>
              <a:t>，用有效位标记记录是否有效</a:t>
            </a:r>
            <a:r>
              <a:rPr lang="zh-CN" altLang="en-US" sz="1400" b="1" dirty="0"/>
              <a:t>。</a:t>
            </a:r>
            <a:endParaRPr lang="en-US" altLang="zh-CN" sz="600" b="1" dirty="0"/>
          </a:p>
        </p:txBody>
      </p:sp>
    </p:spTree>
    <p:extLst>
      <p:ext uri="{BB962C8B-B14F-4D97-AF65-F5344CB8AC3E}">
        <p14:creationId xmlns:p14="http://schemas.microsoft.com/office/powerpoint/2010/main" val="3780533945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F4DE0B6-59B6-4DB8-88A7-46E816841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066618"/>
            <a:ext cx="8800944" cy="197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zh-CN" altLang="en-US" sz="1600" b="1" dirty="0"/>
              <a:t>页表中有效位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，且标记为</a:t>
            </a:r>
            <a:r>
              <a:rPr lang="en-US" altLang="zh-CN" sz="1600" b="1" dirty="0"/>
              <a:t>null</a:t>
            </a:r>
            <a:r>
              <a:rPr lang="zh-CN" altLang="en-US" sz="1600" b="1" dirty="0"/>
              <a:t>的页表项，其对应的虚拟页可能是暂未分配页（图</a:t>
            </a:r>
            <a:r>
              <a:rPr lang="en-US" altLang="zh-CN" sz="1600" b="1" dirty="0"/>
              <a:t>4.47</a:t>
            </a:r>
            <a:r>
              <a:rPr lang="zh-CN" altLang="en-US" sz="1600" b="1" dirty="0"/>
              <a:t>中有</a:t>
            </a:r>
            <a:r>
              <a:rPr lang="en-US" altLang="zh-CN" sz="1600" b="1" dirty="0">
                <a:solidFill>
                  <a:srgbClr val="FF0000"/>
                </a:solidFill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</a:rPr>
              <a:t>个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页表中有效位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，但没有标记为</a:t>
            </a:r>
            <a:r>
              <a:rPr lang="en-US" altLang="zh-CN" sz="1600" b="1" dirty="0"/>
              <a:t>null</a:t>
            </a:r>
            <a:r>
              <a:rPr lang="zh-CN" altLang="en-US" sz="1600" b="1" dirty="0"/>
              <a:t>的页表项，其对应的虚拟页在磁盘中（图</a:t>
            </a:r>
            <a:r>
              <a:rPr lang="en-US" altLang="zh-CN" sz="1600" b="1" dirty="0"/>
              <a:t>4.47</a:t>
            </a:r>
            <a:r>
              <a:rPr lang="zh-CN" altLang="en-US" sz="1600" b="1" dirty="0"/>
              <a:t>中有</a:t>
            </a:r>
            <a:r>
              <a:rPr lang="en-US" altLang="zh-CN" sz="1600" b="1" dirty="0">
                <a:solidFill>
                  <a:srgbClr val="FF0000"/>
                </a:solidFill>
              </a:rPr>
              <a:t>2</a:t>
            </a:r>
            <a:r>
              <a:rPr lang="zh-CN" altLang="en-US" sz="1600" b="1" dirty="0">
                <a:solidFill>
                  <a:srgbClr val="FF0000"/>
                </a:solidFill>
              </a:rPr>
              <a:t>个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页表中有效位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，其对应的虚拟页在主存中（图</a:t>
            </a:r>
            <a:r>
              <a:rPr lang="en-US" altLang="zh-CN" sz="1600" b="1" dirty="0"/>
              <a:t>4.47</a:t>
            </a:r>
            <a:r>
              <a:rPr lang="zh-CN" altLang="en-US" sz="1600" b="1" dirty="0"/>
              <a:t>中有</a:t>
            </a:r>
            <a:r>
              <a:rPr lang="en-US" altLang="zh-CN" sz="1600" b="1" dirty="0">
                <a:solidFill>
                  <a:srgbClr val="FF0000"/>
                </a:solidFill>
              </a:rPr>
              <a:t>4</a:t>
            </a:r>
            <a:r>
              <a:rPr lang="zh-CN" altLang="en-US" sz="1600" b="1" dirty="0">
                <a:solidFill>
                  <a:srgbClr val="FF0000"/>
                </a:solidFill>
              </a:rPr>
              <a:t>个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1" eaLnBrk="1" hangingPunct="1"/>
            <a:r>
              <a:rPr lang="zh-CN" altLang="en-US" sz="1600" b="1" dirty="0">
                <a:highlight>
                  <a:srgbClr val="FFFF00"/>
                </a:highlight>
              </a:rPr>
              <a:t>页表常驻内存（</a:t>
            </a:r>
            <a:r>
              <a:rPr lang="en-US" altLang="zh-CN" sz="1600" b="1" dirty="0">
                <a:highlight>
                  <a:srgbClr val="FFFF00"/>
                </a:highlight>
              </a:rPr>
              <a:t>DRAM</a:t>
            </a:r>
            <a:r>
              <a:rPr lang="zh-CN" altLang="en-US" sz="1600" b="1" dirty="0">
                <a:highlight>
                  <a:srgbClr val="FFFF00"/>
                </a:highlight>
              </a:rPr>
              <a:t>）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1" eaLnBrk="1" hangingPunct="1"/>
            <a:r>
              <a:rPr lang="zh-CN" altLang="en-US" sz="1600" b="1" dirty="0"/>
              <a:t>即页表存放在主存中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69CA3F6-53B8-4B10-B5CE-E4A00D5BE6CB}"/>
              </a:ext>
            </a:extLst>
          </p:cNvPr>
          <p:cNvGrpSpPr/>
          <p:nvPr/>
        </p:nvGrpSpPr>
        <p:grpSpPr>
          <a:xfrm>
            <a:off x="3608600" y="3041568"/>
            <a:ext cx="5172963" cy="3528392"/>
            <a:chOff x="1775301" y="3284984"/>
            <a:chExt cx="5172963" cy="3528392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19F5DE9D-880D-4450-AD26-731FE9179801}"/>
                </a:ext>
              </a:extLst>
            </p:cNvPr>
            <p:cNvGrpSpPr/>
            <p:nvPr/>
          </p:nvGrpSpPr>
          <p:grpSpPr>
            <a:xfrm>
              <a:off x="1979712" y="3284984"/>
              <a:ext cx="4968552" cy="3528392"/>
              <a:chOff x="2529349" y="4057650"/>
              <a:chExt cx="4085301" cy="2382431"/>
            </a:xfrm>
          </p:grpSpPr>
          <p:pic>
            <p:nvPicPr>
              <p:cNvPr id="6" name="图片 5">
                <a:extLst>
                  <a:ext uri="{FF2B5EF4-FFF2-40B4-BE49-F238E27FC236}">
                    <a16:creationId xmlns:a16="http://schemas.microsoft.com/office/drawing/2014/main" id="{54FCF96B-03BA-4797-8B84-A74D69339A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29349" y="4057650"/>
                <a:ext cx="4085301" cy="2082522"/>
              </a:xfrm>
              <a:prstGeom prst="rect">
                <a:avLst/>
              </a:prstGeom>
            </p:spPr>
          </p:pic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2637B1E-653C-48B9-9BD8-CBD633AF3B00}"/>
                  </a:ext>
                </a:extLst>
              </p:cNvPr>
              <p:cNvSpPr txBox="1"/>
              <p:nvPr/>
            </p:nvSpPr>
            <p:spPr>
              <a:xfrm>
                <a:off x="3579332" y="6163082"/>
                <a:ext cx="20714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图</a:t>
                </a:r>
                <a:r>
                  <a:rPr lang="en-US" altLang="zh-CN" sz="1200" b="1" dirty="0"/>
                  <a:t>4.47  </a:t>
                </a:r>
                <a:r>
                  <a:rPr lang="zh-CN" altLang="en-US" sz="1200" b="1" dirty="0"/>
                  <a:t>页式逻辑结构示意图</a:t>
                </a:r>
              </a:p>
            </p:txBody>
          </p:sp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34BD6F2-779F-4308-8B1C-D5FF6208022F}"/>
                </a:ext>
              </a:extLst>
            </p:cNvPr>
            <p:cNvSpPr txBox="1"/>
            <p:nvPr/>
          </p:nvSpPr>
          <p:spPr>
            <a:xfrm>
              <a:off x="1775301" y="4560265"/>
              <a:ext cx="4924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页表</a:t>
              </a:r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6287B797-05C6-4757-BB54-A1A99B39F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07094724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F4DE0B6-59B6-4DB8-88A7-46E816841A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531" y="1268760"/>
            <a:ext cx="8532269" cy="5256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假设虚拟地址空间</a:t>
            </a:r>
            <a:r>
              <a:rPr lang="en-US" altLang="zh-CN" sz="1800" b="1" dirty="0"/>
              <a:t>=2</a:t>
            </a:r>
            <a:r>
              <a:rPr lang="en-US" altLang="zh-CN" sz="1800" b="1" baseline="30000" dirty="0"/>
              <a:t>32</a:t>
            </a:r>
            <a:r>
              <a:rPr lang="en-US" altLang="zh-CN" sz="1800" b="1" dirty="0"/>
              <a:t>B=4GB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位地址空间），页大小</a:t>
            </a:r>
            <a:r>
              <a:rPr lang="en-US" altLang="zh-CN" sz="1800" b="1" dirty="0"/>
              <a:t>=4KB</a:t>
            </a:r>
            <a:r>
              <a:rPr lang="zh-CN" altLang="en-US" sz="1800" b="1" dirty="0"/>
              <a:t>，则页表项的数目（即页表中有多少行）</a:t>
            </a:r>
            <a:r>
              <a:rPr lang="en-US" altLang="zh-CN" sz="1800" b="1" dirty="0"/>
              <a:t>=4GB/4KB=2</a:t>
            </a:r>
            <a:r>
              <a:rPr lang="en-US" altLang="zh-CN" sz="1800" b="1" baseline="30000" dirty="0"/>
              <a:t>20</a:t>
            </a:r>
            <a:r>
              <a:rPr lang="en-US" altLang="zh-CN" sz="1800" b="1" dirty="0"/>
              <a:t>=1M=</a:t>
            </a:r>
            <a:r>
              <a:rPr lang="en-US" altLang="zh-CN" sz="1800" b="1" dirty="0">
                <a:solidFill>
                  <a:srgbClr val="C00000"/>
                </a:solidFill>
              </a:rPr>
              <a:t>1,048,576</a:t>
            </a:r>
            <a:r>
              <a:rPr lang="zh-CN" altLang="en-US" sz="1800" b="1" dirty="0">
                <a:solidFill>
                  <a:srgbClr val="C00000"/>
                </a:solidFill>
              </a:rPr>
              <a:t>行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假设每个页表项大小（即页表的每行大小）位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位，则该</a:t>
            </a:r>
            <a:r>
              <a:rPr lang="zh-CN" altLang="en-US" sz="1800" b="1" dirty="0">
                <a:solidFill>
                  <a:srgbClr val="C00000"/>
                </a:solidFill>
              </a:rPr>
              <a:t>页表的大小</a:t>
            </a:r>
            <a:r>
              <a:rPr lang="en-US" altLang="zh-CN" sz="1800" b="1" dirty="0"/>
              <a:t>=1Mx32</a:t>
            </a:r>
            <a:r>
              <a:rPr lang="zh-CN" altLang="en-US" sz="1800" b="1" dirty="0"/>
              <a:t>位</a:t>
            </a:r>
            <a:r>
              <a:rPr lang="en-US" altLang="zh-CN" sz="1800" b="1" dirty="0"/>
              <a:t>=4MB</a:t>
            </a:r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由于每个进程都拥有独立的虚拟地址空间，因此每个进程都要一张完整的页表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页表在主存中的首地址记录在</a:t>
            </a:r>
            <a:r>
              <a:rPr lang="zh-CN" altLang="en-US" sz="1800" b="1" dirty="0">
                <a:solidFill>
                  <a:srgbClr val="C00000"/>
                </a:solidFill>
              </a:rPr>
              <a:t>页表基址寄存器</a:t>
            </a:r>
            <a:r>
              <a:rPr lang="zh-CN" altLang="en-US" sz="1800" b="1" dirty="0"/>
              <a:t>（</a:t>
            </a:r>
            <a:r>
              <a:rPr lang="en-US" altLang="zh-CN" sz="1800" b="1" dirty="0"/>
              <a:t>PTBR</a:t>
            </a:r>
            <a:r>
              <a:rPr lang="zh-CN" altLang="en-US" sz="1800" b="1" dirty="0"/>
              <a:t>：</a:t>
            </a:r>
            <a:r>
              <a:rPr lang="en-US" altLang="zh-CN" sz="1800" b="1" dirty="0"/>
              <a:t>Page Table Base Register</a:t>
            </a:r>
            <a:r>
              <a:rPr lang="zh-CN" altLang="en-US" sz="1800" b="1" dirty="0"/>
              <a:t>）中</a:t>
            </a:r>
            <a:endParaRPr lang="en-US" altLang="zh-CN" sz="18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进行进程切换时，只需要简单地切换</a:t>
            </a:r>
            <a:r>
              <a:rPr lang="en-US" altLang="zh-CN" sz="1800" b="1" dirty="0"/>
              <a:t>PTBR</a:t>
            </a:r>
            <a:r>
              <a:rPr lang="zh-CN" altLang="en-US" sz="1800" b="1" dirty="0"/>
              <a:t>的值，就可以实现不同进程的页表的快速切换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81B282D-61FE-461C-A8D9-F22A2B6D5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3144"/>
            <a:ext cx="8229600" cy="1143000"/>
          </a:xfrm>
        </p:spPr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4.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6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.</a:t>
            </a:r>
            <a:r>
              <a:rPr lang="en-US" altLang="zh-CN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ea typeface="黑体" pitchFamily="49" charset="-122"/>
                <a:cs typeface="+mj-cs"/>
              </a:rPr>
              <a:t>　页式虚拟存储器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1567608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F7C74943-4631-4BF1-B543-66428BF59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297738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zh-CN" altLang="en-US" sz="1800" b="1" dirty="0"/>
              <a:t>基于页表的虚拟地址与物理地址的转换过程：</a:t>
            </a:r>
            <a:endParaRPr lang="en-US" altLang="zh-CN" sz="1600" b="1" dirty="0"/>
          </a:p>
          <a:p>
            <a:pPr lvl="1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虚拟地址</a:t>
            </a:r>
            <a:r>
              <a:rPr lang="en-US" altLang="zh-CN" sz="1600" b="1" dirty="0"/>
              <a:t>VA = </a:t>
            </a:r>
            <a:r>
              <a:rPr lang="zh-CN" altLang="en-US" sz="1600" b="1" dirty="0"/>
              <a:t>虚拟页号</a:t>
            </a:r>
            <a:r>
              <a:rPr lang="en-US" altLang="zh-CN" sz="1600" b="1" dirty="0"/>
              <a:t>VPN + </a:t>
            </a:r>
            <a:r>
              <a:rPr lang="zh-CN" altLang="en-US" sz="1600" b="1" dirty="0"/>
              <a:t>虚拟页偏移</a:t>
            </a:r>
            <a:r>
              <a:rPr lang="en-US" altLang="zh-CN" sz="1600" b="1" dirty="0"/>
              <a:t>VPO</a:t>
            </a:r>
          </a:p>
          <a:p>
            <a:pPr lvl="2" eaLnBrk="1" hangingPunct="1"/>
            <a:r>
              <a:rPr lang="zh-CN" altLang="en-US" sz="1600" b="1" dirty="0"/>
              <a:t>物理地址</a:t>
            </a:r>
            <a:r>
              <a:rPr lang="en-US" altLang="zh-CN" sz="1600" b="1" dirty="0"/>
              <a:t>PA = </a:t>
            </a:r>
            <a:r>
              <a:rPr lang="zh-CN" altLang="en-US" sz="1600" b="1" dirty="0"/>
              <a:t>物理页号</a:t>
            </a:r>
            <a:r>
              <a:rPr lang="en-US" altLang="zh-CN" sz="1600" b="1" dirty="0"/>
              <a:t>PPN + </a:t>
            </a:r>
            <a:r>
              <a:rPr lang="zh-CN" altLang="en-US" sz="1600" b="1" dirty="0"/>
              <a:t>物理页偏移</a:t>
            </a:r>
            <a:r>
              <a:rPr lang="en-US" altLang="zh-CN" sz="1600" b="1" dirty="0"/>
              <a:t>PPO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将虚拟地址中的虚拟页号（</a:t>
            </a:r>
            <a:r>
              <a:rPr lang="en-US" altLang="zh-CN" sz="1600" b="1" dirty="0"/>
              <a:t>VPN</a:t>
            </a:r>
            <a:r>
              <a:rPr lang="zh-CN" altLang="en-US" sz="1600" b="1" dirty="0"/>
              <a:t>）与页表基址寄存器的内容（</a:t>
            </a:r>
            <a:r>
              <a:rPr lang="en-US" altLang="zh-CN" sz="1600" b="1" dirty="0"/>
              <a:t>PTBR</a:t>
            </a:r>
            <a:r>
              <a:rPr lang="zh-CN" altLang="en-US" sz="1600" b="1" dirty="0"/>
              <a:t>）相加，结果作为页表项的地址（</a:t>
            </a:r>
            <a:r>
              <a:rPr lang="en-US" altLang="zh-CN" sz="1600" b="1" dirty="0"/>
              <a:t>PTEA</a:t>
            </a:r>
            <a:r>
              <a:rPr lang="zh-CN" altLang="en-US" sz="1600" b="1" dirty="0"/>
              <a:t>），即根据相加的结果找到页表的某一行；如果该页表项（页表行）的</a:t>
            </a:r>
            <a:r>
              <a:rPr lang="zh-CN" altLang="en-US" sz="1600" b="1" dirty="0">
                <a:solidFill>
                  <a:srgbClr val="C00000"/>
                </a:solidFill>
              </a:rPr>
              <a:t>有效位</a:t>
            </a:r>
            <a:r>
              <a:rPr lang="en-US" altLang="zh-CN" sz="1600" b="1" dirty="0">
                <a:solidFill>
                  <a:srgbClr val="C00000"/>
                </a:solidFill>
              </a:rPr>
              <a:t>V=1</a:t>
            </a:r>
            <a:r>
              <a:rPr lang="zh-CN" altLang="en-US" sz="1600" b="1" dirty="0"/>
              <a:t>，表明当前页的数据在主存中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此时直接利用页表中的物理页号（</a:t>
            </a:r>
            <a:r>
              <a:rPr lang="en-US" altLang="zh-CN" sz="1600" b="1" dirty="0"/>
              <a:t>PPN</a:t>
            </a:r>
            <a:r>
              <a:rPr lang="zh-CN" altLang="en-US" sz="1600" b="1" dirty="0"/>
              <a:t>）和虚拟地址中的页内偏移（</a:t>
            </a:r>
            <a:r>
              <a:rPr lang="en-US" altLang="zh-CN" sz="1600" b="1" dirty="0"/>
              <a:t>VPO</a:t>
            </a:r>
            <a:r>
              <a:rPr lang="zh-CN" altLang="en-US" sz="1600" b="1" dirty="0"/>
              <a:t>），就可以得到物理地址（</a:t>
            </a:r>
            <a:r>
              <a:rPr lang="en-US" altLang="zh-CN" sz="1600" b="1" dirty="0"/>
              <a:t>PA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如果</a:t>
            </a:r>
            <a:r>
              <a:rPr lang="zh-CN" altLang="en-US" sz="1600" b="1" dirty="0">
                <a:solidFill>
                  <a:srgbClr val="C00000"/>
                </a:solidFill>
              </a:rPr>
              <a:t>有效位</a:t>
            </a:r>
            <a:r>
              <a:rPr lang="en-US" altLang="zh-CN" sz="1600" b="1" dirty="0">
                <a:solidFill>
                  <a:srgbClr val="C00000"/>
                </a:solidFill>
              </a:rPr>
              <a:t>V=0</a:t>
            </a:r>
            <a:r>
              <a:rPr lang="zh-CN" altLang="en-US" sz="1600" b="1" dirty="0">
                <a:solidFill>
                  <a:srgbClr val="C00000"/>
                </a:solidFill>
              </a:rPr>
              <a:t>，表示缺页</a:t>
            </a:r>
            <a:r>
              <a:rPr lang="zh-CN" altLang="en-US" sz="1600" b="1" dirty="0"/>
              <a:t>，则由操作系统的缺页异常处理程序，将磁盘上对应的页载入主存中</a:t>
            </a:r>
            <a:endParaRPr lang="en-US" altLang="zh-CN" sz="1200" b="1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9B0C65-1070-429E-9465-2A694A502C68}"/>
              </a:ext>
            </a:extLst>
          </p:cNvPr>
          <p:cNvSpPr txBox="1"/>
          <p:nvPr/>
        </p:nvSpPr>
        <p:spPr>
          <a:xfrm>
            <a:off x="806896" y="4569697"/>
            <a:ext cx="2367143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zh-CN" sz="800" b="1" dirty="0"/>
              <a:t>VA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Address</a:t>
            </a:r>
            <a:r>
              <a:rPr lang="zh-CN" altLang="en-US" sz="800" b="1" dirty="0"/>
              <a:t>，虚拟地址</a:t>
            </a:r>
            <a:endParaRPr lang="en-US" altLang="zh-CN" sz="800" b="1" dirty="0"/>
          </a:p>
          <a:p>
            <a:r>
              <a:rPr lang="en-US" altLang="zh-CN" sz="800" b="1" dirty="0"/>
              <a:t>VPN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Number</a:t>
            </a:r>
            <a:r>
              <a:rPr lang="zh-CN" altLang="en-US" sz="800" b="1" dirty="0"/>
              <a:t>，虚页号</a:t>
            </a:r>
            <a:endParaRPr lang="en-US" altLang="zh-CN" sz="800" b="1" dirty="0"/>
          </a:p>
          <a:p>
            <a:r>
              <a:rPr lang="en-US" altLang="zh-CN" sz="800" b="1" dirty="0"/>
              <a:t>VPO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Virtual Page Offset</a:t>
            </a:r>
            <a:r>
              <a:rPr lang="zh-CN" altLang="en-US" sz="800" b="1" dirty="0"/>
              <a:t>，虚拟页偏移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Address</a:t>
            </a:r>
            <a:r>
              <a:rPr lang="zh-CN" altLang="en-US" sz="800" b="1" dirty="0"/>
              <a:t>，物理地址</a:t>
            </a:r>
            <a:r>
              <a:rPr lang="en-US" altLang="zh-CN" sz="800" b="1" dirty="0"/>
              <a:t> </a:t>
            </a:r>
          </a:p>
          <a:p>
            <a:r>
              <a:rPr lang="en-US" altLang="zh-CN" sz="800" b="1" dirty="0"/>
              <a:t>PPN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Number</a:t>
            </a:r>
            <a:r>
              <a:rPr lang="zh-CN" altLang="en-US" sz="800" b="1" dirty="0"/>
              <a:t>，物理页号</a:t>
            </a:r>
            <a:endParaRPr lang="en-US" altLang="zh-CN" sz="800" b="1" dirty="0"/>
          </a:p>
          <a:p>
            <a:r>
              <a:rPr lang="en-US" altLang="zh-CN" sz="800" b="1" dirty="0"/>
              <a:t>PPO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Physical Page Offset</a:t>
            </a:r>
            <a:r>
              <a:rPr lang="zh-CN" altLang="en-US" sz="800" b="1" dirty="0"/>
              <a:t>，物理页偏移</a:t>
            </a:r>
            <a:endParaRPr lang="en-US" altLang="zh-CN" sz="800" b="1" dirty="0"/>
          </a:p>
          <a:p>
            <a:endParaRPr lang="en-US" altLang="zh-CN" sz="800" b="1" dirty="0"/>
          </a:p>
          <a:p>
            <a:r>
              <a:rPr lang="en-US" altLang="zh-CN" sz="800" b="1" dirty="0"/>
              <a:t>PTE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</a:t>
            </a:r>
            <a:r>
              <a:rPr lang="zh-CN" altLang="en-US" sz="800" b="1" dirty="0"/>
              <a:t>，页表项</a:t>
            </a:r>
          </a:p>
          <a:p>
            <a:r>
              <a:rPr lang="en-US" altLang="zh-CN" sz="800" b="1" dirty="0"/>
              <a:t>PTBR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Base Register</a:t>
            </a:r>
            <a:r>
              <a:rPr lang="zh-CN" altLang="en-US" sz="800" b="1" dirty="0"/>
              <a:t>，页表基址寄存器</a:t>
            </a:r>
            <a:endParaRPr lang="en-US" altLang="zh-CN" sz="800" b="1" dirty="0"/>
          </a:p>
          <a:p>
            <a:r>
              <a:rPr lang="en-US" altLang="zh-CN" sz="800" b="1" dirty="0"/>
              <a:t>PTEA</a:t>
            </a:r>
            <a:r>
              <a:rPr lang="zh-CN" altLang="en-US" sz="800" b="1" dirty="0"/>
              <a:t>：</a:t>
            </a:r>
            <a:r>
              <a:rPr lang="en-US" altLang="zh-CN" sz="800" b="1" dirty="0"/>
              <a:t>Page Table Entry Address</a:t>
            </a:r>
            <a:r>
              <a:rPr lang="zh-CN" altLang="en-US" sz="800" b="1" dirty="0"/>
              <a:t>，页表项地址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1D14CC70-C6CF-481C-9BAA-0CA6529300A4}"/>
              </a:ext>
            </a:extLst>
          </p:cNvPr>
          <p:cNvGrpSpPr/>
          <p:nvPr/>
        </p:nvGrpSpPr>
        <p:grpSpPr>
          <a:xfrm>
            <a:off x="3563888" y="4132270"/>
            <a:ext cx="4569920" cy="2635273"/>
            <a:chOff x="2987824" y="4077072"/>
            <a:chExt cx="4569920" cy="2635273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4F5B7A62-AC3F-4444-B246-29159E274F4B}"/>
                </a:ext>
              </a:extLst>
            </p:cNvPr>
            <p:cNvGrpSpPr/>
            <p:nvPr/>
          </p:nvGrpSpPr>
          <p:grpSpPr>
            <a:xfrm>
              <a:off x="2987824" y="4077072"/>
              <a:ext cx="4544027" cy="2635273"/>
              <a:chOff x="2987824" y="4077072"/>
              <a:chExt cx="4544027" cy="2635273"/>
            </a:xfrm>
          </p:grpSpPr>
          <p:grpSp>
            <p:nvGrpSpPr>
              <p:cNvPr id="9" name="组合 8">
                <a:extLst>
                  <a:ext uri="{FF2B5EF4-FFF2-40B4-BE49-F238E27FC236}">
                    <a16:creationId xmlns:a16="http://schemas.microsoft.com/office/drawing/2014/main" id="{03F0ED24-11CB-4844-816C-6879561AE5C8}"/>
                  </a:ext>
                </a:extLst>
              </p:cNvPr>
              <p:cNvGrpSpPr/>
              <p:nvPr/>
            </p:nvGrpSpPr>
            <p:grpSpPr>
              <a:xfrm>
                <a:off x="2987824" y="4077072"/>
                <a:ext cx="4544027" cy="2635273"/>
                <a:chOff x="2987824" y="4164224"/>
                <a:chExt cx="4544027" cy="2635273"/>
              </a:xfrm>
            </p:grpSpPr>
            <p:pic>
              <p:nvPicPr>
                <p:cNvPr id="6" name="图片 5">
                  <a:extLst>
                    <a:ext uri="{FF2B5EF4-FFF2-40B4-BE49-F238E27FC236}">
                      <a16:creationId xmlns:a16="http://schemas.microsoft.com/office/drawing/2014/main" id="{1C027072-D34E-4DDF-8775-64776CE2B2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987824" y="4164224"/>
                  <a:ext cx="4427984" cy="2289112"/>
                </a:xfrm>
                <a:prstGeom prst="rect">
                  <a:avLst/>
                </a:prstGeom>
              </p:spPr>
            </p:pic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E637C11A-CAC5-4BE1-9016-3494539D86DB}"/>
                    </a:ext>
                  </a:extLst>
                </p:cNvPr>
                <p:cNvSpPr txBox="1"/>
                <p:nvPr/>
              </p:nvSpPr>
              <p:spPr>
                <a:xfrm>
                  <a:off x="3354104" y="6491720"/>
                  <a:ext cx="4177747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400" b="1" dirty="0"/>
                    <a:t>图</a:t>
                  </a:r>
                  <a:r>
                    <a:rPr lang="en-US" altLang="zh-CN" sz="1400" b="1" dirty="0"/>
                    <a:t>4.48  </a:t>
                  </a:r>
                  <a:r>
                    <a:rPr lang="zh-CN" altLang="en-US" sz="1400" b="1" dirty="0"/>
                    <a:t>基于页表的虚拟地址与物理地址的转换过程</a:t>
                  </a:r>
                </a:p>
              </p:txBody>
            </p:sp>
          </p:grp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664A7962-DE9A-48A5-AF95-AE5014F81B88}"/>
                  </a:ext>
                </a:extLst>
              </p:cNvPr>
              <p:cNvSpPr txBox="1"/>
              <p:nvPr/>
            </p:nvSpPr>
            <p:spPr>
              <a:xfrm>
                <a:off x="3656278" y="5114664"/>
                <a:ext cx="44114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b="1" dirty="0"/>
                  <a:t>页表</a:t>
                </a: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9CC0EAF-8A2E-420F-9A80-5FDF29622902}"/>
                </a:ext>
              </a:extLst>
            </p:cNvPr>
            <p:cNvSpPr txBox="1"/>
            <p:nvPr/>
          </p:nvSpPr>
          <p:spPr>
            <a:xfrm>
              <a:off x="6779967" y="6093353"/>
              <a:ext cx="777777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9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物理地址</a:t>
              </a:r>
              <a:r>
                <a:rPr lang="en-US" altLang="zh-CN" sz="900" b="1" dirty="0">
                  <a:latin typeface="黑体" panose="02010609060101010101" pitchFamily="49" charset="-122"/>
                  <a:ea typeface="黑体" panose="02010609060101010101" pitchFamily="49" charset="-122"/>
                </a:rPr>
                <a:t>PA</a:t>
              </a:r>
              <a:endParaRPr lang="zh-CN" altLang="en-US" sz="9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38419154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9D9BDE3-A970-4B37-A40A-7AF28E11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88640"/>
            <a:ext cx="8568952" cy="64807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例</a:t>
            </a:r>
            <a:r>
              <a:rPr lang="en-US" altLang="zh-CN" sz="1600" b="1" dirty="0"/>
              <a:t>4.6</a:t>
            </a:r>
            <a:r>
              <a:rPr lang="zh-CN" altLang="en-US" sz="1600" b="1" dirty="0"/>
              <a:t>：假设主存容量</a:t>
            </a:r>
            <a:r>
              <a:rPr lang="en-US" altLang="zh-CN" sz="1600" b="1" dirty="0"/>
              <a:t>=16MB</a:t>
            </a:r>
            <a:r>
              <a:rPr lang="zh-CN" altLang="en-US" sz="1600" b="1" dirty="0"/>
              <a:t>，按字节寻址；虚拟存储器容量</a:t>
            </a:r>
            <a:r>
              <a:rPr lang="en-US" altLang="zh-CN" sz="1600" b="1" dirty="0"/>
              <a:t>=4GB</a:t>
            </a:r>
            <a:r>
              <a:rPr lang="zh-CN" altLang="en-US" sz="1600" b="1" dirty="0"/>
              <a:t>，采用页式虚拟存储器，页面大小为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。请回答：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）计算物理页号、页内偏移、虚拟页号字段各为多少位？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）计算页表中页表项的数量。</a:t>
            </a:r>
            <a:endParaRPr lang="en-US" altLang="zh-CN" sz="16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）若部分页表内容如表</a:t>
            </a:r>
            <a:r>
              <a:rPr lang="en-US" altLang="zh-CN" sz="1600" b="1" dirty="0"/>
              <a:t>4.10</a:t>
            </a:r>
            <a:r>
              <a:rPr lang="zh-CN" altLang="en-US" sz="1600" b="1" dirty="0"/>
              <a:t>所示，求对应于虚拟地址</a:t>
            </a:r>
            <a:r>
              <a:rPr lang="en-US" altLang="zh-CN" sz="1600" b="1" dirty="0"/>
              <a:t>00015240H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03FFF180H</a:t>
            </a:r>
            <a:r>
              <a:rPr lang="zh-CN" altLang="en-US" sz="1600" b="1" dirty="0"/>
              <a:t>的物理地址。</a:t>
            </a: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400" b="1" dirty="0"/>
          </a:p>
          <a:p>
            <a:pPr lvl="1" eaLnBrk="1" hangingPunct="1">
              <a:lnSpc>
                <a:spcPct val="150000"/>
              </a:lnSpc>
            </a:pPr>
            <a:r>
              <a:rPr lang="zh-CN" altLang="en-US" sz="1800" b="1" dirty="0"/>
              <a:t>解：</a:t>
            </a:r>
            <a:endParaRPr lang="en-US" altLang="zh-CN" sz="1800" b="1" dirty="0"/>
          </a:p>
          <a:p>
            <a:pPr lvl="2" eaLnBrk="1" hangingPunct="1">
              <a:lnSpc>
                <a:spcPct val="150000"/>
              </a:lnSpc>
            </a:pPr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主存容量</a:t>
            </a:r>
            <a:r>
              <a:rPr lang="en-US" altLang="zh-CN" sz="1600" b="1" dirty="0"/>
              <a:t>=16MB</a:t>
            </a:r>
            <a:r>
              <a:rPr lang="zh-CN" altLang="en-US" sz="1600" b="1" dirty="0"/>
              <a:t>，因此物理地址</a:t>
            </a:r>
            <a:r>
              <a:rPr lang="en-US" altLang="zh-CN" sz="1600" b="1" dirty="0"/>
              <a:t>=24</a:t>
            </a:r>
            <a:r>
              <a:rPr lang="zh-CN" altLang="en-US" sz="1600" b="1" dirty="0"/>
              <a:t>位（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24</a:t>
            </a:r>
            <a:r>
              <a:rPr lang="en-US" altLang="zh-CN" sz="1600" b="1" dirty="0"/>
              <a:t>=16M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虚拟存储器容量</a:t>
            </a:r>
            <a:r>
              <a:rPr lang="en-US" altLang="zh-CN" sz="1600" b="1" dirty="0"/>
              <a:t>=4GB</a:t>
            </a:r>
            <a:r>
              <a:rPr lang="zh-CN" altLang="en-US" sz="1600" b="1" dirty="0"/>
              <a:t>，因此虚拟地址</a:t>
            </a:r>
            <a:r>
              <a:rPr lang="en-US" altLang="zh-CN" sz="1600" b="1" dirty="0"/>
              <a:t>=32</a:t>
            </a:r>
            <a:r>
              <a:rPr lang="zh-CN" altLang="en-US" sz="1600" b="1" dirty="0"/>
              <a:t>位（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32</a:t>
            </a:r>
            <a:r>
              <a:rPr lang="en-US" altLang="zh-CN" sz="1600" b="1" dirty="0"/>
              <a:t>=4G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/>
              <a:t>页面大小</a:t>
            </a:r>
            <a:r>
              <a:rPr lang="en-US" altLang="zh-CN" sz="1600" b="1" dirty="0"/>
              <a:t>=4KB</a:t>
            </a:r>
            <a:r>
              <a:rPr lang="zh-CN" altLang="en-US" sz="1600" b="1" dirty="0"/>
              <a:t>，因此</a:t>
            </a:r>
            <a:r>
              <a:rPr lang="zh-CN" altLang="en-US" sz="1600" b="1" dirty="0">
                <a:solidFill>
                  <a:srgbClr val="C00000"/>
                </a:solidFill>
              </a:rPr>
              <a:t>页内偏移</a:t>
            </a:r>
            <a:r>
              <a:rPr lang="en-US" altLang="zh-CN" sz="1600" b="1" dirty="0">
                <a:solidFill>
                  <a:srgbClr val="C00000"/>
                </a:solidFill>
              </a:rPr>
              <a:t>=12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12</a:t>
            </a:r>
            <a:r>
              <a:rPr lang="en-US" altLang="zh-CN" sz="1600" b="1" dirty="0"/>
              <a:t>=4K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物理页号</a:t>
            </a:r>
            <a:r>
              <a:rPr lang="en-US" altLang="zh-CN" sz="1600" b="1" dirty="0"/>
              <a:t>=</a:t>
            </a:r>
            <a:r>
              <a:rPr lang="zh-CN" altLang="en-US" sz="1600" b="1" dirty="0"/>
              <a:t>物理地址</a:t>
            </a:r>
            <a:r>
              <a:rPr lang="en-US" altLang="zh-CN" sz="1600" b="1" dirty="0"/>
              <a:t>-</a:t>
            </a:r>
            <a:r>
              <a:rPr lang="zh-CN" altLang="en-US" sz="1600" b="1" dirty="0"/>
              <a:t>页内偏移</a:t>
            </a:r>
            <a:r>
              <a:rPr lang="en-US" altLang="zh-CN" sz="1600" b="1" dirty="0"/>
              <a:t>=24-12= </a:t>
            </a:r>
            <a:r>
              <a:rPr lang="en-US" altLang="zh-CN" sz="1600" b="1" dirty="0">
                <a:solidFill>
                  <a:srgbClr val="C00000"/>
                </a:solidFill>
              </a:rPr>
              <a:t>12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3" eaLnBrk="1" hangingPunct="1"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虚拟页号</a:t>
            </a:r>
            <a:r>
              <a:rPr lang="en-US" altLang="zh-CN" sz="1600" b="1" dirty="0"/>
              <a:t>=</a:t>
            </a:r>
            <a:r>
              <a:rPr lang="zh-CN" altLang="en-US" sz="1600" b="1" dirty="0"/>
              <a:t>虚拟地址</a:t>
            </a:r>
            <a:r>
              <a:rPr lang="en-US" altLang="zh-CN" sz="1600" b="1" dirty="0"/>
              <a:t>-</a:t>
            </a:r>
            <a:r>
              <a:rPr lang="zh-CN" altLang="en-US" sz="1600" b="1" dirty="0"/>
              <a:t>页内偏移</a:t>
            </a:r>
            <a:r>
              <a:rPr lang="en-US" altLang="zh-CN" sz="1600" b="1" dirty="0"/>
              <a:t>=32-12= </a:t>
            </a:r>
            <a:r>
              <a:rPr lang="en-US" altLang="zh-CN" sz="1600" b="1" dirty="0">
                <a:solidFill>
                  <a:srgbClr val="C00000"/>
                </a:solidFill>
              </a:rPr>
              <a:t>20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endParaRPr lang="en-US" altLang="zh-CN" sz="1050" b="1" dirty="0">
              <a:solidFill>
                <a:srgbClr val="C00000"/>
              </a:solidFill>
            </a:endParaRPr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600" b="1" dirty="0"/>
          </a:p>
          <a:p>
            <a:pPr lvl="2" eaLnBrk="1" hangingPunct="1">
              <a:lnSpc>
                <a:spcPct val="150000"/>
              </a:lnSpc>
            </a:pPr>
            <a:endParaRPr lang="en-US" altLang="zh-CN" sz="10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5A81019-FB9E-4A5C-B458-BFD5773AF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751892"/>
              </p:ext>
            </p:extLst>
          </p:nvPr>
        </p:nvGraphicFramePr>
        <p:xfrm>
          <a:off x="2123728" y="2420888"/>
          <a:ext cx="5879976" cy="1245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996">
                  <a:extLst>
                    <a:ext uri="{9D8B030D-6E8A-4147-A177-3AD203B41FA5}">
                      <a16:colId xmlns:a16="http://schemas.microsoft.com/office/drawing/2014/main" val="328045636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844570005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81909503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37504944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21501514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552810139"/>
                    </a:ext>
                  </a:extLst>
                </a:gridCol>
              </a:tblGrid>
              <a:tr h="3492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2579816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002H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03FFFH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5162587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616535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87921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711062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9D9BDE3-A970-4B37-A40A-7AF28E11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3"/>
            <a:ext cx="8229600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zh-CN" altLang="en-US" sz="1600" b="1" dirty="0"/>
              <a:t>例</a:t>
            </a:r>
            <a:r>
              <a:rPr lang="en-US" altLang="zh-CN" sz="1600" b="1" dirty="0"/>
              <a:t>4.6</a:t>
            </a:r>
            <a:r>
              <a:rPr lang="zh-CN" altLang="en-US" sz="1600" b="1" dirty="0"/>
              <a:t>：假设主存容量</a:t>
            </a:r>
            <a:r>
              <a:rPr lang="en-US" altLang="zh-CN" sz="1600" b="1" dirty="0"/>
              <a:t>=16MB</a:t>
            </a:r>
            <a:r>
              <a:rPr lang="zh-CN" altLang="en-US" sz="1600" b="1" dirty="0"/>
              <a:t>，按字节寻址；虚拟存储器容量</a:t>
            </a:r>
            <a:r>
              <a:rPr lang="en-US" altLang="zh-CN" sz="1600" b="1" dirty="0"/>
              <a:t>=4GB</a:t>
            </a:r>
            <a:r>
              <a:rPr lang="zh-CN" altLang="en-US" sz="1600" b="1" dirty="0"/>
              <a:t>，采用页式虚拟存储器，页面大小为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。请回答：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）计算页表中页表项的数量。</a:t>
            </a:r>
            <a:endParaRPr lang="en-US" altLang="zh-CN" sz="1600" b="1" dirty="0"/>
          </a:p>
          <a:p>
            <a:pPr lvl="1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）若部分页表内容如表</a:t>
            </a:r>
            <a:r>
              <a:rPr lang="en-US" altLang="zh-CN" sz="1600" b="1" dirty="0"/>
              <a:t>4.10</a:t>
            </a:r>
            <a:r>
              <a:rPr lang="zh-CN" altLang="en-US" sz="1600" b="1" dirty="0"/>
              <a:t>所示，求对应于虚拟地址</a:t>
            </a:r>
            <a:r>
              <a:rPr lang="en-US" altLang="zh-CN" sz="1600" b="1" dirty="0"/>
              <a:t>00015240H</a:t>
            </a:r>
            <a:r>
              <a:rPr lang="zh-CN" altLang="en-US" sz="1600" b="1" dirty="0"/>
              <a:t>和</a:t>
            </a:r>
            <a:r>
              <a:rPr lang="en-US" altLang="zh-CN" sz="1600" b="1" dirty="0"/>
              <a:t>03FFF180H</a:t>
            </a:r>
            <a:r>
              <a:rPr lang="zh-CN" altLang="en-US" sz="1600" b="1" dirty="0"/>
              <a:t>的物理地址。</a:t>
            </a:r>
            <a:endParaRPr lang="en-US" altLang="zh-CN" sz="16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1" eaLnBrk="1" hangingPunct="1"/>
            <a:r>
              <a:rPr lang="zh-CN" altLang="en-US" sz="1800" b="1" dirty="0"/>
              <a:t>解（续）：</a:t>
            </a:r>
            <a:endParaRPr lang="en-US" altLang="zh-CN" sz="1800" b="1" dirty="0"/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页表项的数量（即页表中有多少行）与虚拟页号的位数有关；虚拟页号</a:t>
            </a:r>
            <a:r>
              <a:rPr lang="en-US" altLang="zh-CN" sz="1600" b="1" dirty="0"/>
              <a:t>=20</a:t>
            </a:r>
            <a:r>
              <a:rPr lang="zh-CN" altLang="en-US" sz="1600" b="1" dirty="0"/>
              <a:t>位，则页表项的数量</a:t>
            </a:r>
            <a:r>
              <a:rPr lang="en-US" altLang="zh-CN" sz="1600" b="1" dirty="0"/>
              <a:t>=2</a:t>
            </a:r>
            <a:r>
              <a:rPr lang="en-US" altLang="zh-CN" sz="1600" b="1" baseline="30000" dirty="0"/>
              <a:t>20</a:t>
            </a:r>
            <a:r>
              <a:rPr lang="en-US" altLang="zh-CN" sz="1600" b="1" dirty="0">
                <a:solidFill>
                  <a:srgbClr val="C00000"/>
                </a:solidFill>
              </a:rPr>
              <a:t>= 1,048,576</a:t>
            </a:r>
            <a:r>
              <a:rPr lang="zh-CN" altLang="en-US" sz="1600" b="1" dirty="0">
                <a:solidFill>
                  <a:srgbClr val="C00000"/>
                </a:solidFill>
              </a:rPr>
              <a:t>项（行）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3" eaLnBrk="1" hangingPunct="1"/>
            <a:endParaRPr lang="en-US" altLang="zh-CN" sz="1600" b="1" dirty="0">
              <a:solidFill>
                <a:srgbClr val="FF0000"/>
              </a:solidFill>
            </a:endParaRPr>
          </a:p>
          <a:p>
            <a:pPr lvl="2" eaLnBrk="1" hangingPunct="1"/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虚拟地址</a:t>
            </a:r>
            <a:r>
              <a:rPr lang="en-US" altLang="zh-CN" sz="1600" b="1" dirty="0"/>
              <a:t>=00015240H=00015H</a:t>
            </a:r>
            <a:r>
              <a:rPr lang="zh-CN" altLang="en-US" sz="1600" b="1" dirty="0"/>
              <a:t>（虚拟页号）</a:t>
            </a:r>
            <a:r>
              <a:rPr lang="en-US" altLang="zh-CN" sz="1600" b="1" dirty="0"/>
              <a:t> + 240H</a:t>
            </a:r>
            <a:r>
              <a:rPr lang="zh-CN" altLang="en-US" sz="1600" b="1" dirty="0"/>
              <a:t>（页内偏移）</a:t>
            </a:r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虚拟地址</a:t>
            </a:r>
            <a:r>
              <a:rPr lang="en-US" altLang="zh-CN" sz="1600" b="1" dirty="0"/>
              <a:t>=03FFF180H=03FFFH</a:t>
            </a:r>
            <a:r>
              <a:rPr lang="zh-CN" altLang="en-US" sz="1600" b="1" dirty="0"/>
              <a:t>（虚拟页号）</a:t>
            </a:r>
            <a:r>
              <a:rPr lang="en-US" altLang="zh-CN" sz="1600" b="1" dirty="0"/>
              <a:t> + 180H</a:t>
            </a:r>
            <a:r>
              <a:rPr lang="zh-CN" altLang="en-US" sz="1600" b="1" dirty="0"/>
              <a:t>（页内偏移）</a:t>
            </a:r>
            <a:endParaRPr lang="en-US" altLang="zh-CN" sz="1600" b="1" dirty="0"/>
          </a:p>
          <a:p>
            <a:pPr lvl="3" eaLnBrk="1" hangingPunct="1"/>
            <a:endParaRPr lang="en-US" altLang="zh-CN" sz="1600" b="1" dirty="0"/>
          </a:p>
          <a:p>
            <a:pPr lvl="3" eaLnBrk="1" hangingPunct="1"/>
            <a:r>
              <a:rPr lang="zh-CN" altLang="en-US" sz="1600" b="1" dirty="0"/>
              <a:t>查表</a:t>
            </a:r>
            <a:r>
              <a:rPr lang="en-US" altLang="zh-CN" sz="1600" b="1" dirty="0"/>
              <a:t>4.10</a:t>
            </a:r>
            <a:r>
              <a:rPr lang="zh-CN" altLang="en-US" sz="1600" b="1" dirty="0"/>
              <a:t>，虚页号</a:t>
            </a:r>
            <a:r>
              <a:rPr lang="en-US" altLang="zh-CN" sz="1600" b="1" dirty="0"/>
              <a:t>=00015H</a:t>
            </a:r>
            <a:r>
              <a:rPr lang="zh-CN" altLang="en-US" sz="1600" b="1" dirty="0"/>
              <a:t>，对应的实页号</a:t>
            </a:r>
            <a:r>
              <a:rPr lang="en-US" altLang="zh-CN" sz="1600" b="1" dirty="0"/>
              <a:t>=035H</a:t>
            </a:r>
            <a:r>
              <a:rPr lang="zh-CN" altLang="en-US" sz="1600" b="1" dirty="0"/>
              <a:t>，且有效位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，因此虚拟地址</a:t>
            </a:r>
            <a:r>
              <a:rPr lang="en-US" altLang="zh-CN" sz="1600" b="1" dirty="0"/>
              <a:t>00015240H</a:t>
            </a:r>
            <a:r>
              <a:rPr lang="zh-CN" altLang="en-US" sz="1600" b="1" dirty="0"/>
              <a:t>对应的物理地址</a:t>
            </a:r>
            <a:r>
              <a:rPr lang="en-US" altLang="zh-CN" sz="1600" b="1" dirty="0"/>
              <a:t>=035H</a:t>
            </a:r>
            <a:r>
              <a:rPr lang="zh-CN" altLang="en-US" sz="1600" b="1" dirty="0"/>
              <a:t>（物理页号）</a:t>
            </a:r>
            <a:r>
              <a:rPr lang="en-US" altLang="zh-CN" sz="1600" b="1" dirty="0"/>
              <a:t>+240H</a:t>
            </a:r>
            <a:r>
              <a:rPr lang="zh-CN" altLang="en-US" sz="1600" b="1" dirty="0"/>
              <a:t>（页内偏移）</a:t>
            </a:r>
            <a:r>
              <a:rPr lang="en-US" altLang="zh-CN" sz="1600" b="1" dirty="0"/>
              <a:t>=</a:t>
            </a:r>
            <a:r>
              <a:rPr lang="en-US" altLang="zh-CN" sz="1600" b="1" dirty="0">
                <a:solidFill>
                  <a:srgbClr val="C00000"/>
                </a:solidFill>
              </a:rPr>
              <a:t>035240H</a:t>
            </a:r>
          </a:p>
          <a:p>
            <a:pPr lvl="3" eaLnBrk="1" hangingPunct="1"/>
            <a:r>
              <a:rPr lang="zh-CN" altLang="en-US" sz="1600" b="1" dirty="0"/>
              <a:t>查表</a:t>
            </a:r>
            <a:r>
              <a:rPr lang="en-US" altLang="zh-CN" sz="1600" b="1" dirty="0"/>
              <a:t>4.10</a:t>
            </a:r>
            <a:r>
              <a:rPr lang="zh-CN" altLang="en-US" sz="1600" b="1" dirty="0"/>
              <a:t>，虚页号</a:t>
            </a:r>
            <a:r>
              <a:rPr lang="en-US" altLang="zh-CN" sz="1600" b="1" dirty="0"/>
              <a:t>=03FFFH</a:t>
            </a:r>
            <a:r>
              <a:rPr lang="zh-CN" altLang="en-US" sz="1600" b="1" dirty="0"/>
              <a:t>，对应的有效位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，表示该虚拟页不在主存中</a:t>
            </a:r>
            <a:endParaRPr lang="en-US" altLang="zh-CN" sz="1600" b="1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5A81019-FB9E-4A5C-B458-BFD5773AF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712007"/>
              </p:ext>
            </p:extLst>
          </p:nvPr>
        </p:nvGraphicFramePr>
        <p:xfrm>
          <a:off x="1619672" y="1556792"/>
          <a:ext cx="6480720" cy="1195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0740">
                  <a:extLst>
                    <a:ext uri="{9D8B030D-6E8A-4147-A177-3AD203B41FA5}">
                      <a16:colId xmlns:a16="http://schemas.microsoft.com/office/drawing/2014/main" val="328045636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844570005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81909503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375049441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4221501514"/>
                    </a:ext>
                  </a:extLst>
                </a:gridCol>
                <a:gridCol w="979996">
                  <a:extLst>
                    <a:ext uri="{9D8B030D-6E8A-4147-A177-3AD203B41FA5}">
                      <a16:colId xmlns:a16="http://schemas.microsoft.com/office/drawing/2014/main" val="1552810139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虚页号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/>
                        <a:t>实页号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125798162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00010H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002H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03FFFH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351625876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00015H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1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035H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61653500"/>
                  </a:ext>
                </a:extLst>
              </a:tr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1" dirty="0"/>
                        <a:t>……</a:t>
                      </a:r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487921027"/>
                  </a:ext>
                </a:extLst>
              </a:tr>
            </a:tbl>
          </a:graphicData>
        </a:graphic>
      </p:graphicFrame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55D95F02-02A7-410D-87B3-CDF10EDB82A0}"/>
              </a:ext>
            </a:extLst>
          </p:cNvPr>
          <p:cNvSpPr/>
          <p:nvPr/>
        </p:nvSpPr>
        <p:spPr>
          <a:xfrm>
            <a:off x="4355976" y="4192279"/>
            <a:ext cx="720080" cy="403239"/>
          </a:xfrm>
          <a:prstGeom prst="wedgeRoundRectCallout">
            <a:avLst>
              <a:gd name="adj1" fmla="val -43024"/>
              <a:gd name="adj2" fmla="val 978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20bit</a:t>
            </a:r>
            <a:endParaRPr lang="zh-CN" altLang="en-US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CA5A15C8-A2BC-4E1E-B3F9-990054D3FFBC}"/>
              </a:ext>
            </a:extLst>
          </p:cNvPr>
          <p:cNvSpPr/>
          <p:nvPr/>
        </p:nvSpPr>
        <p:spPr>
          <a:xfrm>
            <a:off x="6228184" y="4192279"/>
            <a:ext cx="720080" cy="403239"/>
          </a:xfrm>
          <a:prstGeom prst="wedgeRoundRectCallout">
            <a:avLst>
              <a:gd name="adj1" fmla="val -43024"/>
              <a:gd name="adj2" fmla="val 9782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12bit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35231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9181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3</a:t>
            </a:r>
            <a:r>
              <a:rPr lang="zh-CN" altLang="en-US" sz="2000" b="1" dirty="0"/>
              <a:t>、虚拟存储器访问流程</a:t>
            </a:r>
            <a:endParaRPr lang="en-US" altLang="zh-CN" sz="2000" b="1" dirty="0"/>
          </a:p>
          <a:p>
            <a:pPr lvl="2" eaLnBrk="1" hangingPunct="1"/>
            <a:r>
              <a:rPr lang="zh-CN" altLang="en-US" sz="1800" b="1" dirty="0"/>
              <a:t>页面命中时的访问流程：</a:t>
            </a:r>
            <a:endParaRPr lang="en-US" altLang="zh-CN" sz="18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2" eaLnBrk="1" hangingPunct="1">
              <a:buFont typeface="+mj-ea"/>
              <a:buAutoNum type="circleNumDbPlain"/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（处理器）给出一个</a:t>
            </a:r>
            <a:r>
              <a:rPr lang="zh-CN" altLang="en-US" sz="1400" b="1" dirty="0">
                <a:solidFill>
                  <a:srgbClr val="C00000"/>
                </a:solidFill>
              </a:rPr>
              <a:t>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VA</a:t>
            </a:r>
            <a:r>
              <a:rPr lang="zh-CN" altLang="en-US" sz="1400" b="1" dirty="0"/>
              <a:t>，并送到</a:t>
            </a:r>
            <a:r>
              <a:rPr lang="en-US" altLang="zh-CN" sz="1400" b="1" dirty="0"/>
              <a:t>MMU</a:t>
            </a:r>
          </a:p>
          <a:p>
            <a:pPr lvl="2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en-US" altLang="zh-CN" sz="1400" b="1" dirty="0"/>
              <a:t>MMU</a:t>
            </a:r>
            <a:r>
              <a:rPr lang="zh-CN" altLang="en-US" sz="1400" b="1" dirty="0"/>
              <a:t>根据虚拟地址</a:t>
            </a:r>
            <a:r>
              <a:rPr lang="en-US" altLang="zh-CN" sz="1400" b="1" dirty="0"/>
              <a:t>VA</a:t>
            </a:r>
            <a:r>
              <a:rPr lang="zh-CN" altLang="en-US" sz="1400" b="1" dirty="0"/>
              <a:t>中的虚拟页号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，以及页表基址寄存器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的内容，计算得到页表项地址</a:t>
            </a:r>
            <a:r>
              <a:rPr lang="en-US" altLang="zh-CN" sz="1400" b="1" dirty="0"/>
              <a:t>PTEA</a:t>
            </a:r>
            <a:r>
              <a:rPr lang="zh-CN" altLang="en-US" sz="1400" b="1" dirty="0"/>
              <a:t>，并根据</a:t>
            </a:r>
            <a:r>
              <a:rPr lang="zh-CN" altLang="en-US" sz="14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400" b="1" dirty="0">
                <a:solidFill>
                  <a:srgbClr val="C00000"/>
                </a:solidFill>
              </a:rPr>
              <a:t>PTEA</a:t>
            </a:r>
            <a:r>
              <a:rPr lang="zh-CN" altLang="en-US" sz="1400" b="1" dirty="0"/>
              <a:t>访问页表</a:t>
            </a: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页表向</a:t>
            </a:r>
            <a:r>
              <a:rPr lang="en-US" altLang="zh-CN" sz="1400" b="1" dirty="0"/>
              <a:t>MMU</a:t>
            </a:r>
            <a:r>
              <a:rPr lang="zh-CN" altLang="en-US" sz="1400" b="1" dirty="0"/>
              <a:t>返回</a:t>
            </a:r>
            <a:r>
              <a:rPr lang="zh-CN" altLang="en-US" sz="1400" b="1" dirty="0">
                <a:solidFill>
                  <a:srgbClr val="C00000"/>
                </a:solidFill>
              </a:rPr>
              <a:t>页表项</a:t>
            </a:r>
            <a:r>
              <a:rPr lang="en-US" altLang="zh-CN" sz="1400" b="1" dirty="0">
                <a:solidFill>
                  <a:srgbClr val="C00000"/>
                </a:solidFill>
              </a:rPr>
              <a:t>PTE</a:t>
            </a:r>
          </a:p>
          <a:p>
            <a:pPr lvl="2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若页表项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中的有效位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，则根据页表项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中的物理页号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和虚拟地址中的页内偏移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，构成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>
                <a:solidFill>
                  <a:srgbClr val="C00000"/>
                </a:solidFill>
              </a:rPr>
              <a:t>PA</a:t>
            </a:r>
          </a:p>
          <a:p>
            <a:pPr lvl="2" eaLnBrk="1" hangingPunct="1">
              <a:buFont typeface="+mj-ea"/>
              <a:buAutoNum type="circleNumDbPlain"/>
            </a:pPr>
            <a:endParaRPr lang="en-US" altLang="zh-CN" sz="14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400" b="1" dirty="0"/>
              <a:t>由物理地址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，从</a:t>
            </a:r>
            <a:r>
              <a:rPr lang="en-US" altLang="zh-CN" sz="1400" b="1" dirty="0"/>
              <a:t>cache/</a:t>
            </a:r>
            <a:r>
              <a:rPr lang="zh-CN" altLang="en-US" sz="1400" b="1" dirty="0"/>
              <a:t>主存中访问得到</a:t>
            </a:r>
            <a:r>
              <a:rPr lang="zh-CN" altLang="en-US" sz="1400" b="1" dirty="0">
                <a:solidFill>
                  <a:srgbClr val="C00000"/>
                </a:solidFill>
              </a:rPr>
              <a:t>数据</a:t>
            </a:r>
            <a:r>
              <a:rPr lang="zh-CN" altLang="en-US" sz="1400" b="1" dirty="0"/>
              <a:t>，并返回给</a:t>
            </a:r>
            <a:r>
              <a:rPr lang="en-US" altLang="zh-CN" sz="1400" b="1" dirty="0"/>
              <a:t>CPU</a:t>
            </a:r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8E964EF-410E-42E7-A223-B49CDC725258}"/>
              </a:ext>
            </a:extLst>
          </p:cNvPr>
          <p:cNvGrpSpPr/>
          <p:nvPr/>
        </p:nvGrpSpPr>
        <p:grpSpPr>
          <a:xfrm>
            <a:off x="1763688" y="4011742"/>
            <a:ext cx="5889092" cy="2583840"/>
            <a:chOff x="1944216" y="4088105"/>
            <a:chExt cx="5889092" cy="2583840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592A5868-EFF3-4937-818B-52CA6EF0FEB5}"/>
                </a:ext>
              </a:extLst>
            </p:cNvPr>
            <p:cNvGrpSpPr/>
            <p:nvPr/>
          </p:nvGrpSpPr>
          <p:grpSpPr>
            <a:xfrm>
              <a:off x="1944216" y="4088105"/>
              <a:ext cx="5889092" cy="2276063"/>
              <a:chOff x="1944216" y="4088105"/>
              <a:chExt cx="5889092" cy="2276063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493F8641-303E-4E75-B2CB-9707F25136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944216" y="4221088"/>
                <a:ext cx="5868144" cy="2143080"/>
              </a:xfrm>
              <a:prstGeom prst="rect">
                <a:avLst/>
              </a:prstGeom>
            </p:spPr>
          </p:pic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7414007-38CC-4EE8-9189-B475DABD4C65}"/>
                  </a:ext>
                </a:extLst>
              </p:cNvPr>
              <p:cNvSpPr txBox="1"/>
              <p:nvPr/>
            </p:nvSpPr>
            <p:spPr>
              <a:xfrm>
                <a:off x="6516216" y="4088105"/>
                <a:ext cx="13170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200" b="1" dirty="0"/>
                  <a:t>主存（含</a:t>
                </a:r>
                <a:r>
                  <a:rPr lang="en-US" altLang="zh-CN" sz="1200" b="1" dirty="0"/>
                  <a:t>cache</a:t>
                </a:r>
                <a:r>
                  <a:rPr lang="zh-CN" altLang="en-US" sz="1200" b="1" dirty="0"/>
                  <a:t>）</a:t>
                </a:r>
              </a:p>
            </p:txBody>
          </p: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2655564" y="6364168"/>
              <a:ext cx="44454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4.49</a:t>
              </a:r>
              <a:r>
                <a:rPr lang="zh-CN" altLang="en-US" sz="1400" b="1" dirty="0"/>
                <a:t>（</a:t>
              </a:r>
              <a:r>
                <a:rPr lang="en-US" altLang="zh-CN" sz="1400" b="1" dirty="0"/>
                <a:t>a</a:t>
              </a:r>
              <a:r>
                <a:rPr lang="zh-CN" altLang="en-US" sz="1400" b="1" dirty="0"/>
                <a:t>）</a:t>
              </a:r>
              <a:r>
                <a:rPr lang="en-US" altLang="zh-CN" sz="1400" b="1" dirty="0"/>
                <a:t>  </a:t>
              </a:r>
              <a:r>
                <a:rPr lang="zh-CN" altLang="en-US" sz="1400" b="1" dirty="0"/>
                <a:t>页式虚拟存储器的访问过程（页面命中）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8EE41DF4-E4CF-4D45-A2BA-D25FC8F9193A}"/>
              </a:ext>
            </a:extLst>
          </p:cNvPr>
          <p:cNvSpPr/>
          <p:nvPr/>
        </p:nvSpPr>
        <p:spPr>
          <a:xfrm>
            <a:off x="4737497" y="3873242"/>
            <a:ext cx="1603640" cy="276999"/>
          </a:xfrm>
          <a:prstGeom prst="wedgeRoundRectCallout">
            <a:avLst>
              <a:gd name="adj1" fmla="val 147"/>
              <a:gd name="adj2" fmla="val 15802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bg1"/>
                </a:solidFill>
              </a:rPr>
              <a:t>PTBR+VPN=PTEA</a:t>
            </a:r>
            <a:endParaRPr lang="zh-CN" altLang="en-U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4423771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5027D289-C6C9-43CB-B8F6-16BC1A94129B}"/>
              </a:ext>
            </a:extLst>
          </p:cNvPr>
          <p:cNvGrpSpPr/>
          <p:nvPr/>
        </p:nvGrpSpPr>
        <p:grpSpPr>
          <a:xfrm>
            <a:off x="1727684" y="3675955"/>
            <a:ext cx="5688632" cy="2872558"/>
            <a:chOff x="1835696" y="3911385"/>
            <a:chExt cx="5688632" cy="287255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83A1F937-BA9C-4E83-8FA3-2A1D4741EC27}"/>
                </a:ext>
              </a:extLst>
            </p:cNvPr>
            <p:cNvGrpSpPr/>
            <p:nvPr/>
          </p:nvGrpSpPr>
          <p:grpSpPr>
            <a:xfrm>
              <a:off x="1835696" y="3911385"/>
              <a:ext cx="5688632" cy="2541951"/>
              <a:chOff x="1835696" y="4207791"/>
              <a:chExt cx="5688632" cy="2541951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BECCA919-868C-443A-ADE2-C245A8C7FD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35696" y="4207791"/>
                <a:ext cx="5688632" cy="2389561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1108A3D-CDE4-4BB0-AB5F-EA3BD98B659C}"/>
                  </a:ext>
                </a:extLst>
              </p:cNvPr>
              <p:cNvSpPr txBox="1"/>
              <p:nvPr/>
            </p:nvSpPr>
            <p:spPr>
              <a:xfrm>
                <a:off x="5148788" y="6488132"/>
                <a:ext cx="122341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b="1" dirty="0"/>
                  <a:t>主存（含</a:t>
                </a:r>
                <a:r>
                  <a:rPr lang="en-US" altLang="zh-CN" sz="1100" b="1" dirty="0"/>
                  <a:t>cache</a:t>
                </a:r>
                <a:r>
                  <a:rPr lang="zh-CN" altLang="en-US" sz="1100" b="1" dirty="0"/>
                  <a:t>）</a:t>
                </a:r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A1920661-0AFA-4632-93E0-29AE6F34F242}"/>
                </a:ext>
              </a:extLst>
            </p:cNvPr>
            <p:cNvSpPr txBox="1"/>
            <p:nvPr/>
          </p:nvSpPr>
          <p:spPr>
            <a:xfrm>
              <a:off x="2599003" y="6476166"/>
              <a:ext cx="44534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4.49</a:t>
              </a:r>
              <a:r>
                <a:rPr lang="zh-CN" altLang="en-US" sz="1400" b="1" dirty="0"/>
                <a:t>（</a:t>
              </a:r>
              <a:r>
                <a:rPr lang="en-US" altLang="zh-CN" sz="1400" b="1" dirty="0"/>
                <a:t>b</a:t>
              </a:r>
              <a:r>
                <a:rPr lang="zh-CN" altLang="en-US" sz="1400" b="1" dirty="0"/>
                <a:t>）</a:t>
              </a:r>
              <a:r>
                <a:rPr lang="en-US" altLang="zh-CN" sz="1400" b="1" dirty="0"/>
                <a:t>  </a:t>
              </a:r>
              <a:r>
                <a:rPr lang="zh-CN" altLang="en-US" sz="1400" b="1" dirty="0"/>
                <a:t>页式虚拟存储器的访问过程（页面缺失）</a:t>
              </a:r>
            </a:p>
          </p:txBody>
        </p:sp>
      </p:grp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326157DE-AB12-40C7-974F-9937C6C9A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625"/>
            <a:ext cx="8229600" cy="3631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zh-CN" altLang="en-US" sz="2000" b="1" dirty="0"/>
              <a:t>页面缺失时的访问流程：</a:t>
            </a:r>
            <a:endParaRPr lang="en-US" altLang="zh-CN" sz="2000" b="1" dirty="0"/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/>
          </a:p>
          <a:p>
            <a:pPr lvl="2" eaLnBrk="1" hangingPunct="1">
              <a:buFont typeface="+mj-ea"/>
              <a:buAutoNum type="circleNumDbPlain"/>
            </a:pPr>
            <a:r>
              <a:rPr lang="en-US" altLang="zh-CN" sz="1600" b="1" dirty="0"/>
              <a:t>CPU</a:t>
            </a:r>
            <a:r>
              <a:rPr lang="zh-CN" altLang="en-US" sz="1600" b="1" dirty="0"/>
              <a:t>（处理器）给出一个</a:t>
            </a:r>
            <a:r>
              <a:rPr lang="zh-CN" altLang="en-US" sz="1600" b="1" dirty="0">
                <a:solidFill>
                  <a:srgbClr val="C00000"/>
                </a:solidFill>
              </a:rPr>
              <a:t>虚拟地址</a:t>
            </a:r>
            <a:r>
              <a:rPr lang="en-US" altLang="zh-CN" sz="1600" b="1" dirty="0">
                <a:solidFill>
                  <a:srgbClr val="C00000"/>
                </a:solidFill>
              </a:rPr>
              <a:t>VA</a:t>
            </a:r>
            <a:r>
              <a:rPr lang="zh-CN" altLang="en-US" sz="1600" b="1" dirty="0"/>
              <a:t>，并送到</a:t>
            </a:r>
            <a:r>
              <a:rPr lang="en-US" altLang="zh-CN" sz="1600" b="1" dirty="0"/>
              <a:t>MMU</a:t>
            </a:r>
          </a:p>
          <a:p>
            <a:pPr lvl="2" eaLnBrk="1" hangingPunct="1">
              <a:buFont typeface="+mj-ea"/>
              <a:buAutoNum type="circleNumDbPlain"/>
            </a:pPr>
            <a:r>
              <a:rPr lang="en-US" altLang="zh-CN" sz="1600" b="1" dirty="0"/>
              <a:t>MMU</a:t>
            </a:r>
            <a:r>
              <a:rPr lang="zh-CN" altLang="en-US" sz="1600" b="1" dirty="0"/>
              <a:t>根据虚拟地址</a:t>
            </a:r>
            <a:r>
              <a:rPr lang="en-US" altLang="zh-CN" sz="1600" b="1" dirty="0"/>
              <a:t>VA</a:t>
            </a:r>
            <a:r>
              <a:rPr lang="zh-CN" altLang="en-US" sz="1600" b="1" dirty="0"/>
              <a:t>中的虚拟页号</a:t>
            </a:r>
            <a:r>
              <a:rPr lang="en-US" altLang="zh-CN" sz="1600" b="1" dirty="0"/>
              <a:t>VPN</a:t>
            </a:r>
            <a:r>
              <a:rPr lang="zh-CN" altLang="en-US" sz="1600" b="1" dirty="0"/>
              <a:t>，以及页表基址寄存器</a:t>
            </a:r>
            <a:r>
              <a:rPr lang="en-US" altLang="zh-CN" sz="1600" b="1" dirty="0"/>
              <a:t>PTBR</a:t>
            </a:r>
            <a:r>
              <a:rPr lang="zh-CN" altLang="en-US" sz="1600" b="1" dirty="0"/>
              <a:t>的内容，计算得到页表项地址</a:t>
            </a:r>
            <a:r>
              <a:rPr lang="en-US" altLang="zh-CN" sz="1600" b="1" dirty="0"/>
              <a:t>PTEA</a:t>
            </a:r>
            <a:r>
              <a:rPr lang="zh-CN" altLang="en-US" sz="1600" b="1" dirty="0"/>
              <a:t>，并根据</a:t>
            </a:r>
            <a:r>
              <a:rPr lang="zh-CN" altLang="en-US" sz="16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600" b="1" dirty="0">
                <a:solidFill>
                  <a:srgbClr val="C00000"/>
                </a:solidFill>
              </a:rPr>
              <a:t>PTEA</a:t>
            </a:r>
            <a:r>
              <a:rPr lang="zh-CN" altLang="en-US" sz="1600" b="1" dirty="0"/>
              <a:t>访问页表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页表向</a:t>
            </a:r>
            <a:r>
              <a:rPr lang="en-US" altLang="zh-CN" sz="1600" b="1" dirty="0"/>
              <a:t>MMU</a:t>
            </a:r>
            <a:r>
              <a:rPr lang="zh-CN" altLang="en-US" sz="1600" b="1" dirty="0"/>
              <a:t>返回</a:t>
            </a:r>
            <a:r>
              <a:rPr lang="zh-CN" altLang="en-US" sz="1600" b="1" dirty="0">
                <a:solidFill>
                  <a:srgbClr val="C00000"/>
                </a:solidFill>
              </a:rPr>
              <a:t>页表项</a:t>
            </a:r>
            <a:r>
              <a:rPr lang="en-US" altLang="zh-CN" sz="1600" b="1" dirty="0">
                <a:solidFill>
                  <a:srgbClr val="C00000"/>
                </a:solidFill>
              </a:rPr>
              <a:t>PTE</a:t>
            </a:r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若页表项</a:t>
            </a:r>
            <a:r>
              <a:rPr lang="en-US" altLang="zh-CN" sz="1600" b="1" dirty="0"/>
              <a:t>PTE</a:t>
            </a:r>
            <a:r>
              <a:rPr lang="zh-CN" altLang="en-US" sz="1600" b="1" dirty="0"/>
              <a:t>中的有效位</a:t>
            </a:r>
            <a:r>
              <a:rPr lang="en-US" altLang="zh-CN" sz="1600" b="1" dirty="0"/>
              <a:t>=0</a:t>
            </a:r>
            <a:r>
              <a:rPr lang="zh-CN" altLang="en-US" sz="1600" b="1" dirty="0"/>
              <a:t>，表示所访问的页不在主存中，</a:t>
            </a:r>
            <a:r>
              <a:rPr lang="en-US" altLang="zh-CN" sz="1600" b="1" dirty="0"/>
              <a:t>MMU</a:t>
            </a:r>
            <a:r>
              <a:rPr lang="zh-CN" altLang="en-US" sz="1600" b="1" dirty="0"/>
              <a:t>触发</a:t>
            </a:r>
            <a:r>
              <a:rPr lang="zh-CN" altLang="en-US" sz="1600" b="1" dirty="0">
                <a:solidFill>
                  <a:srgbClr val="C00000"/>
                </a:solidFill>
              </a:rPr>
              <a:t>缺页异常</a:t>
            </a:r>
            <a:r>
              <a:rPr lang="zh-CN" altLang="en-US" sz="1600" b="1" dirty="0"/>
              <a:t>，调用操作系统内核中的缺页异常处理程序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如果主存页满，则需要根据替换算法确定换出页（哪一页被换出）；如果换出页的修改位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，则将该页换出到磁盘（</a:t>
            </a:r>
            <a:r>
              <a:rPr lang="zh-CN" altLang="en-US" sz="1600" b="1" dirty="0">
                <a:solidFill>
                  <a:srgbClr val="C00000"/>
                </a:solidFill>
              </a:rPr>
              <a:t>调出页</a:t>
            </a:r>
            <a:r>
              <a:rPr lang="zh-CN" altLang="en-US" sz="1600" b="1" dirty="0"/>
              <a:t>），否则直接丢弃</a:t>
            </a:r>
            <a:endParaRPr lang="en-US" altLang="zh-CN" sz="1600" b="1" dirty="0"/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缺页处理程序直接从磁盘中调入新的页（</a:t>
            </a:r>
            <a:r>
              <a:rPr lang="zh-CN" altLang="en-US" sz="1600" b="1" dirty="0">
                <a:solidFill>
                  <a:srgbClr val="C00000"/>
                </a:solidFill>
              </a:rPr>
              <a:t>调入页</a:t>
            </a:r>
            <a:r>
              <a:rPr lang="zh-CN" altLang="en-US" sz="1600" b="1" dirty="0"/>
              <a:t>），并更新存储器中的页表项</a:t>
            </a:r>
            <a:r>
              <a:rPr lang="en-US" altLang="zh-CN" sz="1600" b="1" dirty="0"/>
              <a:t>PTE</a:t>
            </a:r>
          </a:p>
          <a:p>
            <a:pPr lvl="2" eaLnBrk="1" hangingPunct="1">
              <a:buFont typeface="+mj-ea"/>
              <a:buAutoNum type="circleNumDbPlain"/>
            </a:pPr>
            <a:r>
              <a:rPr lang="zh-CN" altLang="en-US" sz="1600" b="1" dirty="0"/>
              <a:t>缺页处理程序</a:t>
            </a:r>
            <a:r>
              <a:rPr lang="zh-CN" altLang="en-US" sz="1600" b="1" dirty="0">
                <a:solidFill>
                  <a:srgbClr val="C00000"/>
                </a:solidFill>
              </a:rPr>
              <a:t>返回</a:t>
            </a:r>
            <a:r>
              <a:rPr lang="zh-CN" altLang="en-US" sz="1600" b="1" dirty="0"/>
              <a:t>到原来的进程</a:t>
            </a:r>
            <a:endParaRPr lang="en-US" altLang="zh-CN" sz="2000" b="1" dirty="0"/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F8E43CCC-BA5D-4E8C-80C9-3E168A23D09D}"/>
              </a:ext>
            </a:extLst>
          </p:cNvPr>
          <p:cNvSpPr/>
          <p:nvPr/>
        </p:nvSpPr>
        <p:spPr>
          <a:xfrm>
            <a:off x="2483768" y="4005064"/>
            <a:ext cx="1224136" cy="360040"/>
          </a:xfrm>
          <a:prstGeom prst="wedgeRoundRectCallout">
            <a:avLst>
              <a:gd name="adj1" fmla="val 69851"/>
              <a:gd name="adj2" fmla="val 455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/>
              <a:t>中断过程</a:t>
            </a:r>
          </a:p>
        </p:txBody>
      </p:sp>
    </p:spTree>
    <p:extLst>
      <p:ext uri="{BB962C8B-B14F-4D97-AF65-F5344CB8AC3E}">
        <p14:creationId xmlns:p14="http://schemas.microsoft.com/office/powerpoint/2010/main" val="2352170456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4624"/>
            <a:ext cx="8229600" cy="4536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4</a:t>
            </a:r>
            <a:r>
              <a:rPr lang="zh-CN" altLang="en-US" sz="2000" b="1" dirty="0"/>
              <a:t>、结合</a:t>
            </a:r>
            <a:r>
              <a:rPr lang="en-US" altLang="zh-CN" sz="2000" b="1" dirty="0"/>
              <a:t>cache</a:t>
            </a:r>
            <a:r>
              <a:rPr lang="zh-CN" altLang="en-US" sz="2000" b="1" dirty="0"/>
              <a:t>的虚拟存储器访问流程</a:t>
            </a:r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图</a:t>
            </a:r>
            <a:r>
              <a:rPr lang="en-US" altLang="zh-CN" sz="1600" b="1" dirty="0"/>
              <a:t>4.49</a:t>
            </a:r>
            <a:r>
              <a:rPr lang="zh-CN" altLang="en-US" sz="1600" b="1" dirty="0"/>
              <a:t>中的主存和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是合在一起的；结合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的虚拟存储器的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和主存是分开来的（图</a:t>
            </a:r>
            <a:r>
              <a:rPr lang="en-US" altLang="zh-CN" sz="1600" b="1" dirty="0"/>
              <a:t>4.50</a:t>
            </a:r>
            <a:r>
              <a:rPr lang="zh-CN" altLang="en-US" sz="1600" b="1" dirty="0"/>
              <a:t>），此时</a:t>
            </a:r>
            <a:r>
              <a:rPr lang="zh-CN" altLang="en-US" sz="1600" b="1" dirty="0">
                <a:highlight>
                  <a:srgbClr val="FFFF00"/>
                </a:highlight>
              </a:rPr>
              <a:t>部分页表块放在</a:t>
            </a:r>
            <a:r>
              <a:rPr lang="en-US" altLang="zh-CN" sz="1600" b="1" dirty="0">
                <a:highlight>
                  <a:srgbClr val="FFFF00"/>
                </a:highlight>
              </a:rPr>
              <a:t>cache</a:t>
            </a:r>
            <a:r>
              <a:rPr lang="zh-CN" altLang="en-US" sz="1600" b="1" dirty="0"/>
              <a:t>中</a:t>
            </a:r>
            <a:endParaRPr lang="en-US" altLang="zh-CN" sz="1600" b="1" dirty="0"/>
          </a:p>
          <a:p>
            <a:pPr lvl="2" eaLnBrk="1" hangingPunct="1"/>
            <a:r>
              <a:rPr lang="zh-CN" altLang="en-US" sz="1600" b="1" dirty="0"/>
              <a:t>结合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的虚拟存储器访问流程：</a:t>
            </a:r>
            <a:endParaRPr lang="en-US" altLang="zh-CN" sz="1600" b="1" dirty="0"/>
          </a:p>
          <a:p>
            <a:pPr marL="1435100" lvl="3" indent="-358775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CPU</a:t>
            </a:r>
            <a:r>
              <a:rPr lang="zh-CN" altLang="en-US" sz="1400" b="1" dirty="0"/>
              <a:t>（处理器）给出一个</a:t>
            </a:r>
            <a:r>
              <a:rPr lang="zh-CN" altLang="en-US" sz="1400" b="1" dirty="0">
                <a:solidFill>
                  <a:srgbClr val="C00000"/>
                </a:solidFill>
              </a:rPr>
              <a:t>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VA</a:t>
            </a:r>
            <a:r>
              <a:rPr lang="zh-CN" altLang="en-US" sz="1400" b="1" dirty="0"/>
              <a:t>，并送到</a:t>
            </a:r>
            <a:r>
              <a:rPr lang="en-US" altLang="zh-CN" sz="1400" b="1" dirty="0"/>
              <a:t>MMU</a:t>
            </a:r>
          </a:p>
          <a:p>
            <a:pPr marL="1435100" lvl="3" indent="-358775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1400" b="1" dirty="0"/>
              <a:t>MMU</a:t>
            </a:r>
            <a:r>
              <a:rPr lang="zh-CN" altLang="en-US" sz="1400" b="1" dirty="0"/>
              <a:t>根据虚拟地址</a:t>
            </a:r>
            <a:r>
              <a:rPr lang="en-US" altLang="zh-CN" sz="1400" b="1" dirty="0"/>
              <a:t>VA</a:t>
            </a:r>
            <a:r>
              <a:rPr lang="zh-CN" altLang="en-US" sz="1400" b="1" dirty="0"/>
              <a:t>中的虚拟页号</a:t>
            </a:r>
            <a:r>
              <a:rPr lang="en-US" altLang="zh-CN" sz="1400" b="1" dirty="0"/>
              <a:t>VPN</a:t>
            </a:r>
            <a:r>
              <a:rPr lang="zh-CN" altLang="en-US" sz="1400" b="1" dirty="0"/>
              <a:t>，以及页表基址寄存器</a:t>
            </a:r>
            <a:r>
              <a:rPr lang="en-US" altLang="zh-CN" sz="1400" b="1" dirty="0"/>
              <a:t>PTBR</a:t>
            </a:r>
            <a:r>
              <a:rPr lang="zh-CN" altLang="en-US" sz="1400" b="1" dirty="0"/>
              <a:t>的内容，计算得到页表项地址</a:t>
            </a:r>
            <a:r>
              <a:rPr lang="en-US" altLang="zh-CN" sz="1400" b="1" dirty="0"/>
              <a:t>PTEA</a:t>
            </a:r>
            <a:r>
              <a:rPr lang="zh-CN" altLang="en-US" sz="1400" b="1" dirty="0"/>
              <a:t>，并根据</a:t>
            </a:r>
            <a:r>
              <a:rPr lang="zh-CN" altLang="en-US" sz="14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400" b="1" dirty="0">
                <a:solidFill>
                  <a:srgbClr val="C00000"/>
                </a:solidFill>
              </a:rPr>
              <a:t>PTEA</a:t>
            </a:r>
            <a:r>
              <a:rPr lang="zh-CN" altLang="en-US" sz="1400" b="1" dirty="0"/>
              <a:t>访问位于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中的页表</a:t>
            </a:r>
            <a:endParaRPr lang="en-US" altLang="zh-CN" sz="1400" b="1" dirty="0"/>
          </a:p>
          <a:p>
            <a:pPr marL="1435100" lvl="3" indent="-358775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如果位于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中的页表有该页表项地址</a:t>
            </a:r>
            <a:r>
              <a:rPr lang="en-US" altLang="zh-CN" sz="1400" b="1" dirty="0"/>
              <a:t>PTEA</a:t>
            </a:r>
            <a:r>
              <a:rPr lang="zh-CN" altLang="en-US" sz="1400" b="1" dirty="0"/>
              <a:t>，则直接向</a:t>
            </a:r>
            <a:r>
              <a:rPr lang="en-US" altLang="zh-CN" sz="1400" b="1" dirty="0"/>
              <a:t>MMU</a:t>
            </a:r>
            <a:r>
              <a:rPr lang="zh-CN" altLang="en-US" sz="1400" b="1" dirty="0"/>
              <a:t>返回</a:t>
            </a:r>
            <a:r>
              <a:rPr lang="zh-CN" altLang="en-US" sz="1400" b="1" dirty="0">
                <a:solidFill>
                  <a:srgbClr val="C00000"/>
                </a:solidFill>
              </a:rPr>
              <a:t>页表项</a:t>
            </a:r>
            <a:r>
              <a:rPr lang="en-US" altLang="zh-CN" sz="1400" b="1" dirty="0">
                <a:solidFill>
                  <a:srgbClr val="C00000"/>
                </a:solidFill>
              </a:rPr>
              <a:t>PTE</a:t>
            </a:r>
            <a:r>
              <a:rPr lang="zh-CN" altLang="en-US" sz="1400" b="1" dirty="0"/>
              <a:t>（表示</a:t>
            </a:r>
            <a:r>
              <a:rPr lang="en-US" altLang="zh-CN" sz="1400" b="1" dirty="0"/>
              <a:t>PTEA</a:t>
            </a:r>
            <a:r>
              <a:rPr lang="zh-CN" altLang="en-US" sz="1400" b="1" dirty="0"/>
              <a:t>命中）；如果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中的页表没有该页表项地址</a:t>
            </a:r>
            <a:r>
              <a:rPr lang="en-US" altLang="zh-CN" sz="1400" b="1" dirty="0"/>
              <a:t>PTEA</a:t>
            </a:r>
            <a:r>
              <a:rPr lang="zh-CN" altLang="en-US" sz="1400" b="1" dirty="0"/>
              <a:t>（表示</a:t>
            </a:r>
            <a:r>
              <a:rPr lang="en-US" altLang="zh-CN" sz="1400" b="1" dirty="0"/>
              <a:t>PTEA</a:t>
            </a:r>
            <a:r>
              <a:rPr lang="zh-CN" altLang="en-US" sz="1400" b="1" dirty="0"/>
              <a:t>缺失），则需要从位于主存的页表中得到页表项</a:t>
            </a:r>
            <a:r>
              <a:rPr lang="en-US" altLang="zh-CN" sz="1400" b="1" dirty="0"/>
              <a:t>PTE</a:t>
            </a:r>
          </a:p>
          <a:p>
            <a:pPr marL="1435100" lvl="3" indent="-358775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若页表项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中的有效位</a:t>
            </a:r>
            <a:r>
              <a:rPr lang="en-US" altLang="zh-CN" sz="1400" b="1" dirty="0"/>
              <a:t>=1</a:t>
            </a:r>
            <a:r>
              <a:rPr lang="zh-CN" altLang="en-US" sz="1400" b="1" dirty="0"/>
              <a:t>，则根据页表项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中的物理页号</a:t>
            </a:r>
            <a:r>
              <a:rPr lang="en-US" altLang="zh-CN" sz="1400" b="1" dirty="0"/>
              <a:t>PPN</a:t>
            </a:r>
            <a:r>
              <a:rPr lang="zh-CN" altLang="en-US" sz="1400" b="1" dirty="0"/>
              <a:t>和虚拟地址中的页内偏移</a:t>
            </a:r>
            <a:r>
              <a:rPr lang="en-US" altLang="zh-CN" sz="1400" b="1" dirty="0"/>
              <a:t>VPO</a:t>
            </a:r>
            <a:r>
              <a:rPr lang="zh-CN" altLang="en-US" sz="1400" b="1" dirty="0"/>
              <a:t>，构成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>
                <a:solidFill>
                  <a:srgbClr val="C00000"/>
                </a:solidFill>
              </a:rPr>
              <a:t>PA</a:t>
            </a:r>
          </a:p>
          <a:p>
            <a:pPr marL="1435100" lvl="3" indent="-358775" eaLnBrk="1" hangingPunct="1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1400" b="1" dirty="0"/>
              <a:t>由物理地址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，如果直接从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中访问得到</a:t>
            </a:r>
            <a:r>
              <a:rPr lang="zh-CN" altLang="en-US" sz="1400" b="1" dirty="0">
                <a:solidFill>
                  <a:srgbClr val="C00000"/>
                </a:solidFill>
              </a:rPr>
              <a:t>数据</a:t>
            </a:r>
            <a:r>
              <a:rPr lang="zh-CN" altLang="en-US" sz="1400" b="1" dirty="0"/>
              <a:t>（表示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命中），并返回给</a:t>
            </a:r>
            <a:r>
              <a:rPr lang="en-US" altLang="zh-CN" sz="1400" b="1" dirty="0"/>
              <a:t>CPU</a:t>
            </a:r>
            <a:r>
              <a:rPr lang="zh-CN" altLang="en-US" sz="1400" b="1" dirty="0"/>
              <a:t>；若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中访问不到数据（表示</a:t>
            </a:r>
            <a:r>
              <a:rPr lang="en-US" altLang="zh-CN" sz="1400" b="1" dirty="0"/>
              <a:t>PA</a:t>
            </a:r>
            <a:r>
              <a:rPr lang="zh-CN" altLang="en-US" sz="1400" b="1" dirty="0"/>
              <a:t>缺失），则需要从主存中访问数据</a:t>
            </a:r>
            <a:endParaRPr lang="en-US" altLang="zh-CN" sz="1400" b="1" dirty="0">
              <a:solidFill>
                <a:srgbClr val="FF0000"/>
              </a:solidFill>
            </a:endParaRPr>
          </a:p>
          <a:p>
            <a:pPr lvl="3" eaLnBrk="1" hangingPunct="1">
              <a:buFont typeface="+mj-ea"/>
              <a:buAutoNum type="circleNumDbPlain"/>
            </a:pPr>
            <a:endParaRPr lang="en-US" altLang="zh-CN" sz="1200" b="1" dirty="0">
              <a:solidFill>
                <a:srgbClr val="FF0000"/>
              </a:solidFill>
            </a:endParaRPr>
          </a:p>
          <a:p>
            <a:pPr lvl="2" eaLnBrk="1" hangingPunct="1"/>
            <a:endParaRPr lang="en-US" altLang="zh-CN" sz="1200" b="1" dirty="0"/>
          </a:p>
          <a:p>
            <a:pPr lvl="2" eaLnBrk="1" hangingPunct="1"/>
            <a:endParaRPr lang="en-US" altLang="zh-CN" sz="14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31BA7F1-479B-4078-AA12-A22DA243F880}"/>
              </a:ext>
            </a:extLst>
          </p:cNvPr>
          <p:cNvGrpSpPr/>
          <p:nvPr/>
        </p:nvGrpSpPr>
        <p:grpSpPr>
          <a:xfrm>
            <a:off x="3419872" y="4581128"/>
            <a:ext cx="4371808" cy="2093548"/>
            <a:chOff x="2555776" y="4725144"/>
            <a:chExt cx="4371808" cy="2093548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8E32B990-EF41-4DD8-B1F4-616E16A746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55776" y="4725144"/>
              <a:ext cx="4371808" cy="1896692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E133208E-BD5D-4D3B-A7FD-5A3419187E76}"/>
                </a:ext>
              </a:extLst>
            </p:cNvPr>
            <p:cNvSpPr txBox="1"/>
            <p:nvPr/>
          </p:nvSpPr>
          <p:spPr>
            <a:xfrm>
              <a:off x="2987824" y="6541693"/>
              <a:ext cx="33577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4.50  </a:t>
              </a:r>
              <a:r>
                <a:rPr lang="zh-CN" altLang="en-US" sz="1200" b="1" dirty="0"/>
                <a:t>结合</a:t>
              </a:r>
              <a:r>
                <a:rPr lang="en-US" altLang="zh-CN" sz="1200" b="1" dirty="0"/>
                <a:t>cache</a:t>
              </a:r>
              <a:r>
                <a:rPr lang="zh-CN" altLang="en-US" sz="1200" b="1" dirty="0"/>
                <a:t>的页式虚拟存储器的访问过程</a:t>
              </a:r>
            </a:p>
          </p:txBody>
        </p:sp>
      </p:grp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3B8BA4EB-FEFA-4835-AA13-833AEF00BB2A}"/>
              </a:ext>
            </a:extLst>
          </p:cNvPr>
          <p:cNvSpPr/>
          <p:nvPr/>
        </p:nvSpPr>
        <p:spPr>
          <a:xfrm>
            <a:off x="1259632" y="4772996"/>
            <a:ext cx="1852743" cy="1624681"/>
          </a:xfrm>
          <a:prstGeom prst="wedgeRoundRectCallout">
            <a:avLst>
              <a:gd name="adj1" fmla="val 82236"/>
              <a:gd name="adj2" fmla="val 465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dirty="0"/>
              <a:t>此图中的</a:t>
            </a:r>
            <a:r>
              <a:rPr lang="en-US" altLang="zh-CN" sz="1400" dirty="0"/>
              <a:t>cache</a:t>
            </a:r>
            <a:r>
              <a:rPr lang="zh-CN" altLang="en-US" sz="1400" dirty="0"/>
              <a:t>里面既有</a:t>
            </a:r>
            <a:r>
              <a:rPr lang="en-US" altLang="zh-CN" sz="1400" dirty="0"/>
              <a:t>data</a:t>
            </a:r>
            <a:r>
              <a:rPr lang="zh-CN" altLang="en-US" sz="1400" dirty="0"/>
              <a:t>也有页表块；</a:t>
            </a:r>
            <a:endParaRPr lang="en-US" altLang="zh-CN" sz="1400" dirty="0"/>
          </a:p>
          <a:p>
            <a:r>
              <a:rPr lang="zh-CN" altLang="en-US" sz="1400" dirty="0"/>
              <a:t>一旦出现</a:t>
            </a:r>
            <a:r>
              <a:rPr lang="en-US" altLang="zh-CN" sz="1400" dirty="0"/>
              <a:t>miss</a:t>
            </a:r>
            <a:r>
              <a:rPr lang="zh-CN" altLang="en-US" sz="1400" dirty="0"/>
              <a:t>，则均需要从</a:t>
            </a:r>
            <a:r>
              <a:rPr lang="en-US" altLang="zh-CN" sz="1400" dirty="0"/>
              <a:t>mem</a:t>
            </a:r>
            <a:r>
              <a:rPr lang="zh-CN" altLang="en-US" sz="1400" dirty="0"/>
              <a:t>中提取，并更新对应的</a:t>
            </a:r>
            <a:r>
              <a:rPr lang="en-US" altLang="zh-CN" sz="1400" dirty="0"/>
              <a:t>cache</a:t>
            </a:r>
            <a:r>
              <a:rPr lang="zh-CN" altLang="en-US" sz="1400" dirty="0"/>
              <a:t>中内容</a:t>
            </a:r>
          </a:p>
        </p:txBody>
      </p:sp>
    </p:spTree>
    <p:extLst>
      <p:ext uri="{BB962C8B-B14F-4D97-AF65-F5344CB8AC3E}">
        <p14:creationId xmlns:p14="http://schemas.microsoft.com/office/powerpoint/2010/main" val="3824335218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8229600" cy="3594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5</a:t>
            </a:r>
            <a:r>
              <a:rPr lang="zh-CN" altLang="en-US" sz="2000" b="1" dirty="0"/>
              <a:t>、利用</a:t>
            </a:r>
            <a:r>
              <a:rPr lang="en-US" altLang="zh-CN" sz="2000" b="1" dirty="0"/>
              <a:t>TLB</a:t>
            </a:r>
            <a:r>
              <a:rPr lang="zh-CN" altLang="en-US" sz="2000" b="1" dirty="0"/>
              <a:t>加速虚拟存储器地址转换</a:t>
            </a:r>
            <a:endParaRPr lang="en-US" altLang="zh-CN" sz="2000" b="1" dirty="0"/>
          </a:p>
          <a:p>
            <a:pPr lvl="2" eaLnBrk="1" hangingPunct="1"/>
            <a:endParaRPr lang="en-US" altLang="zh-CN" sz="1600" b="1" dirty="0"/>
          </a:p>
          <a:p>
            <a:pPr lvl="2" eaLnBrk="1" hangingPunct="1"/>
            <a:r>
              <a:rPr lang="zh-CN" altLang="en-US" sz="1400" b="1" dirty="0"/>
              <a:t>为了进一步提高虚拟存储器地址转换的速度，现代计算机中都设置一个</a:t>
            </a:r>
            <a:r>
              <a:rPr lang="zh-CN" altLang="en-US" sz="1400" b="1" dirty="0">
                <a:solidFill>
                  <a:srgbClr val="C00000"/>
                </a:solidFill>
              </a:rPr>
              <a:t>转换旁路缓冲区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Translation Look-aside Buffer</a:t>
            </a:r>
            <a:r>
              <a:rPr lang="zh-CN" altLang="en-US" sz="1400" b="1" dirty="0"/>
              <a:t>，</a:t>
            </a:r>
            <a:r>
              <a:rPr lang="en-US" altLang="zh-CN" sz="1400" b="1" dirty="0">
                <a:solidFill>
                  <a:srgbClr val="C00000"/>
                </a:solidFill>
              </a:rPr>
              <a:t>TLB</a:t>
            </a:r>
            <a:r>
              <a:rPr lang="zh-CN" altLang="en-US" sz="1400" b="1" dirty="0"/>
              <a:t>），用于</a:t>
            </a:r>
            <a:r>
              <a:rPr lang="zh-CN" altLang="en-US" sz="1400" b="1" dirty="0">
                <a:highlight>
                  <a:srgbClr val="FFFF00"/>
                </a:highlight>
              </a:rPr>
              <a:t>缓冲经常访问的页表项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PTE</a:t>
            </a:r>
            <a:r>
              <a:rPr lang="zh-CN" altLang="en-US" sz="1400" b="1" dirty="0"/>
              <a:t>，即页表中经常会被访问的行）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TLB</a:t>
            </a:r>
            <a:r>
              <a:rPr lang="zh-CN" altLang="en-US" sz="1400" b="1" dirty="0"/>
              <a:t>本质上就是一个容量较小的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，为提高查找速度，大多采用</a:t>
            </a:r>
            <a:r>
              <a:rPr lang="zh-CN" altLang="en-US" sz="1400" b="1" dirty="0">
                <a:highlight>
                  <a:srgbClr val="FFFF00"/>
                </a:highlight>
              </a:rPr>
              <a:t>全相联或组相联方式</a:t>
            </a:r>
            <a:r>
              <a:rPr lang="zh-CN" altLang="en-US" sz="1400" b="1" dirty="0"/>
              <a:t>，且采用随机替换算法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en-US" altLang="zh-CN" sz="1400" b="1" dirty="0"/>
              <a:t>TLB</a:t>
            </a:r>
            <a:r>
              <a:rPr lang="zh-CN" altLang="en-US" sz="1400" b="1" dirty="0"/>
              <a:t>也称为</a:t>
            </a:r>
            <a:r>
              <a:rPr lang="zh-CN" altLang="en-US" sz="1400" b="1" dirty="0">
                <a:solidFill>
                  <a:srgbClr val="C00000"/>
                </a:solidFill>
              </a:rPr>
              <a:t>快表</a:t>
            </a:r>
            <a:r>
              <a:rPr lang="zh-CN" altLang="en-US" sz="1400" b="1" dirty="0"/>
              <a:t>，存放在主存中的页表称为</a:t>
            </a:r>
            <a:r>
              <a:rPr lang="zh-CN" altLang="en-US" sz="1400" b="1" dirty="0">
                <a:solidFill>
                  <a:srgbClr val="C00000"/>
                </a:solidFill>
              </a:rPr>
              <a:t>慢表</a:t>
            </a:r>
            <a:r>
              <a:rPr lang="zh-CN" altLang="en-US" sz="1400" b="1" dirty="0"/>
              <a:t>；快表是按</a:t>
            </a:r>
            <a:r>
              <a:rPr lang="zh-CN" altLang="en-US" sz="1400" b="1" dirty="0">
                <a:highlight>
                  <a:srgbClr val="FFFF00"/>
                </a:highlight>
              </a:rPr>
              <a:t>内容</a:t>
            </a:r>
            <a:r>
              <a:rPr lang="zh-CN" altLang="en-US" sz="1400" b="1" dirty="0"/>
              <a:t>访问的，慢表是按</a:t>
            </a:r>
            <a:r>
              <a:rPr lang="zh-CN" altLang="en-US" sz="1400" b="1" dirty="0">
                <a:highlight>
                  <a:srgbClr val="FFFF00"/>
                </a:highlight>
              </a:rPr>
              <a:t>地址</a:t>
            </a:r>
            <a:r>
              <a:rPr lang="zh-CN" altLang="en-US" sz="1400" b="1" dirty="0"/>
              <a:t>访问的；基于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的虚拟地址与物理地址的转换逻辑如表</a:t>
            </a:r>
            <a:r>
              <a:rPr lang="en-US" altLang="zh-CN" sz="1400" b="1" dirty="0"/>
              <a:t>4.52</a:t>
            </a:r>
            <a:r>
              <a:rPr lang="zh-CN" altLang="en-US" sz="1400" b="1" dirty="0"/>
              <a:t>所示</a:t>
            </a:r>
            <a:endParaRPr lang="en-US" altLang="zh-CN" sz="14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r>
              <a:rPr lang="zh-CN" altLang="en-US" sz="1400" b="1" dirty="0"/>
              <a:t>在进行地址转换时，往往同时查快表和慢表，如果查快表命中，则从快表中得到物理页号，同时终止查慢表的过程；如果查快表不命中，则从慢表中得到物理页号</a:t>
            </a:r>
            <a:endParaRPr lang="en-US" altLang="zh-CN" sz="14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744C60-6443-4EFA-A748-52576AC95DC8}"/>
              </a:ext>
            </a:extLst>
          </p:cNvPr>
          <p:cNvGrpSpPr/>
          <p:nvPr/>
        </p:nvGrpSpPr>
        <p:grpSpPr>
          <a:xfrm>
            <a:off x="2627784" y="3711183"/>
            <a:ext cx="4227185" cy="2767214"/>
            <a:chOff x="2472224" y="3789040"/>
            <a:chExt cx="4726431" cy="3140417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E50AB2D-D747-45C7-8F24-912A9CEB2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72224" y="3789040"/>
              <a:ext cx="4199551" cy="2664296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5B2E4F9-C937-4D99-9AD5-17BFD3803560}"/>
                </a:ext>
              </a:extLst>
            </p:cNvPr>
            <p:cNvSpPr txBox="1"/>
            <p:nvPr/>
          </p:nvSpPr>
          <p:spPr>
            <a:xfrm>
              <a:off x="2633249" y="6580171"/>
              <a:ext cx="4565406" cy="3492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4.52  </a:t>
              </a:r>
              <a:r>
                <a:rPr lang="zh-CN" altLang="en-US" sz="1400" b="1" dirty="0"/>
                <a:t>基于</a:t>
              </a:r>
              <a:r>
                <a:rPr lang="en-US" altLang="zh-CN" sz="1400" b="1" dirty="0"/>
                <a:t>TLB</a:t>
              </a:r>
              <a:r>
                <a:rPr lang="zh-CN" altLang="en-US" sz="1400" b="1" dirty="0"/>
                <a:t>的虚拟地址与物理地址的转换逻辑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848652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9181"/>
            <a:ext cx="4546848" cy="60381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000" b="1" dirty="0"/>
              <a:t>TLB</a:t>
            </a:r>
            <a:r>
              <a:rPr lang="zh-CN" altLang="en-US" sz="2000" b="1" dirty="0"/>
              <a:t>命中时的访问流程：</a:t>
            </a:r>
            <a:endParaRPr lang="en-US" altLang="zh-CN" sz="20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lvl="1" eaLnBrk="1" hangingPunct="1">
              <a:buFont typeface="+mj-ea"/>
              <a:buAutoNum type="circleNumDbPlain"/>
            </a:pPr>
            <a:r>
              <a:rPr lang="en-US" altLang="zh-CN" sz="1800" b="1" dirty="0"/>
              <a:t>CPU</a:t>
            </a:r>
            <a:r>
              <a:rPr lang="zh-CN" altLang="en-US" sz="1800" b="1" dirty="0"/>
              <a:t>（处理器）给出一个</a:t>
            </a:r>
            <a:r>
              <a:rPr lang="zh-CN" altLang="en-US" sz="1800" b="1" dirty="0">
                <a:solidFill>
                  <a:srgbClr val="C00000"/>
                </a:solidFill>
              </a:rPr>
              <a:t>虚拟地址</a:t>
            </a:r>
            <a:r>
              <a:rPr lang="en-US" altLang="zh-CN" sz="1800" b="1" dirty="0">
                <a:solidFill>
                  <a:srgbClr val="C00000"/>
                </a:solidFill>
              </a:rPr>
              <a:t>VA</a:t>
            </a:r>
            <a:r>
              <a:rPr lang="zh-CN" altLang="en-US" sz="1800" b="1" dirty="0"/>
              <a:t>，并送到</a:t>
            </a:r>
            <a:r>
              <a:rPr lang="en-US" altLang="zh-CN" sz="1800" b="1" dirty="0"/>
              <a:t>MMU</a:t>
            </a:r>
          </a:p>
          <a:p>
            <a:pPr lvl="1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lvl="1" eaLnBrk="1" hangingPunct="1">
              <a:buFont typeface="+mj-ea"/>
              <a:buAutoNum type="circleNumDbPlain"/>
            </a:pPr>
            <a:r>
              <a:rPr lang="en-US" altLang="zh-CN" sz="1800" b="1" dirty="0"/>
              <a:t>MMU</a:t>
            </a:r>
            <a:r>
              <a:rPr lang="zh-CN" altLang="en-US" sz="1800" b="1" dirty="0"/>
              <a:t>根据虚拟地址</a:t>
            </a:r>
            <a:r>
              <a:rPr lang="en-US" altLang="zh-CN" sz="1800" b="1" dirty="0"/>
              <a:t>VA</a:t>
            </a:r>
            <a:r>
              <a:rPr lang="zh-CN" altLang="en-US" sz="1800" b="1" dirty="0"/>
              <a:t>中的</a:t>
            </a:r>
            <a:r>
              <a:rPr lang="zh-CN" altLang="en-US" sz="1800" b="1" dirty="0">
                <a:solidFill>
                  <a:srgbClr val="C00000"/>
                </a:solidFill>
              </a:rPr>
              <a:t>虚拟页号</a:t>
            </a:r>
            <a:r>
              <a:rPr lang="en-US" altLang="zh-CN" sz="1800" b="1" dirty="0">
                <a:solidFill>
                  <a:srgbClr val="C00000"/>
                </a:solidFill>
              </a:rPr>
              <a:t>VPN</a:t>
            </a:r>
            <a:r>
              <a:rPr lang="zh-CN" altLang="en-US" sz="1800" b="1" dirty="0"/>
              <a:t>，查询</a:t>
            </a:r>
            <a:r>
              <a:rPr lang="en-US" altLang="zh-CN" sz="1800" b="1" dirty="0"/>
              <a:t>TLB</a:t>
            </a:r>
          </a:p>
          <a:p>
            <a:pPr lvl="1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800" b="1" dirty="0"/>
              <a:t>如果</a:t>
            </a:r>
            <a:r>
              <a:rPr lang="en-US" altLang="zh-CN" sz="1800" b="1" dirty="0"/>
              <a:t>TLB</a:t>
            </a:r>
            <a:r>
              <a:rPr lang="zh-CN" altLang="en-US" sz="1800" b="1" dirty="0"/>
              <a:t>访问命中，则</a:t>
            </a:r>
            <a:r>
              <a:rPr lang="en-US" altLang="zh-CN" sz="1800" b="1" dirty="0"/>
              <a:t>TLB</a:t>
            </a:r>
            <a:r>
              <a:rPr lang="zh-CN" altLang="en-US" sz="1800" b="1" dirty="0"/>
              <a:t>向</a:t>
            </a:r>
            <a:r>
              <a:rPr lang="en-US" altLang="zh-CN" sz="1800" b="1" dirty="0"/>
              <a:t>MMU</a:t>
            </a:r>
            <a:r>
              <a:rPr lang="zh-CN" altLang="en-US" sz="1800" b="1" dirty="0"/>
              <a:t>返回与虚拟页号</a:t>
            </a:r>
            <a:r>
              <a:rPr lang="en-US" altLang="zh-CN" sz="1800" b="1" dirty="0"/>
              <a:t>VPN</a:t>
            </a:r>
            <a:r>
              <a:rPr lang="zh-CN" altLang="en-US" sz="1800" b="1" dirty="0"/>
              <a:t>对应的</a:t>
            </a:r>
            <a:r>
              <a:rPr lang="zh-CN" altLang="en-US" sz="1800" b="1" dirty="0">
                <a:solidFill>
                  <a:srgbClr val="C00000"/>
                </a:solidFill>
              </a:rPr>
              <a:t>物理页号</a:t>
            </a:r>
            <a:r>
              <a:rPr lang="en-US" altLang="zh-CN" sz="1800" b="1" dirty="0">
                <a:solidFill>
                  <a:srgbClr val="C00000"/>
                </a:solidFill>
              </a:rPr>
              <a:t>PPN</a:t>
            </a:r>
          </a:p>
          <a:p>
            <a:pPr lvl="1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lvl="1" eaLnBrk="1" hangingPunct="1">
              <a:buFont typeface="+mj-ea"/>
              <a:buAutoNum type="circleNumDbPlain"/>
            </a:pPr>
            <a:r>
              <a:rPr lang="en-US" altLang="zh-CN" sz="1800" b="1" dirty="0"/>
              <a:t>MMU</a:t>
            </a:r>
            <a:r>
              <a:rPr lang="zh-CN" altLang="en-US" sz="1800" b="1" dirty="0"/>
              <a:t>根据物理页号</a:t>
            </a:r>
            <a:r>
              <a:rPr lang="en-US" altLang="zh-CN" sz="1800" b="1" dirty="0"/>
              <a:t>PPN</a:t>
            </a:r>
            <a:r>
              <a:rPr lang="zh-CN" altLang="en-US" sz="1800" b="1" dirty="0"/>
              <a:t>和虚拟地址中的页内偏移</a:t>
            </a:r>
            <a:r>
              <a:rPr lang="en-US" altLang="zh-CN" sz="1800" b="1" dirty="0"/>
              <a:t>VPO</a:t>
            </a:r>
            <a:r>
              <a:rPr lang="zh-CN" altLang="en-US" sz="1800" b="1" dirty="0"/>
              <a:t>，构成</a:t>
            </a:r>
            <a:r>
              <a:rPr lang="zh-CN" altLang="en-US" sz="1800" b="1" dirty="0">
                <a:solidFill>
                  <a:srgbClr val="C00000"/>
                </a:solidFill>
              </a:rPr>
              <a:t>物理地址</a:t>
            </a:r>
            <a:r>
              <a:rPr lang="en-US" altLang="zh-CN" sz="1800" b="1" dirty="0">
                <a:solidFill>
                  <a:srgbClr val="C00000"/>
                </a:solidFill>
              </a:rPr>
              <a:t>PA</a:t>
            </a:r>
          </a:p>
          <a:p>
            <a:pPr lvl="1" eaLnBrk="1" hangingPunct="1">
              <a:buFont typeface="+mj-ea"/>
              <a:buAutoNum type="circleNumDbPlain"/>
            </a:pPr>
            <a:endParaRPr lang="en-US" altLang="zh-CN" sz="1800" b="1" dirty="0"/>
          </a:p>
          <a:p>
            <a:pPr lvl="1" eaLnBrk="1" hangingPunct="1">
              <a:buFont typeface="+mj-ea"/>
              <a:buAutoNum type="circleNumDbPlain"/>
            </a:pPr>
            <a:r>
              <a:rPr lang="zh-CN" altLang="en-US" sz="1800" b="1" dirty="0"/>
              <a:t>由物理地址</a:t>
            </a:r>
            <a:r>
              <a:rPr lang="en-US" altLang="zh-CN" sz="1800" b="1" dirty="0"/>
              <a:t>PA</a:t>
            </a:r>
            <a:r>
              <a:rPr lang="zh-CN" altLang="en-US" sz="1800" b="1" dirty="0"/>
              <a:t>，从</a:t>
            </a:r>
            <a:r>
              <a:rPr lang="en-US" altLang="zh-CN" sz="1800" b="1" dirty="0"/>
              <a:t>cache/</a:t>
            </a:r>
            <a:r>
              <a:rPr lang="zh-CN" altLang="en-US" sz="1800" b="1" dirty="0"/>
              <a:t>主存中访问得到</a:t>
            </a:r>
            <a:r>
              <a:rPr lang="zh-CN" altLang="en-US" sz="1800" b="1" dirty="0">
                <a:solidFill>
                  <a:srgbClr val="C00000"/>
                </a:solidFill>
              </a:rPr>
              <a:t>数据</a:t>
            </a:r>
            <a:r>
              <a:rPr lang="zh-CN" altLang="en-US" sz="1800" b="1" dirty="0"/>
              <a:t>，并返回给</a:t>
            </a:r>
            <a:r>
              <a:rPr lang="en-US" altLang="zh-CN" sz="1800" b="1" dirty="0"/>
              <a:t>CPU</a:t>
            </a:r>
          </a:p>
          <a:p>
            <a:pPr eaLnBrk="1" hangingPunct="1"/>
            <a:endParaRPr lang="en-US" altLang="zh-CN" sz="2000" b="1" dirty="0"/>
          </a:p>
          <a:p>
            <a:pPr lvl="2" eaLnBrk="1" hangingPunct="1"/>
            <a:endParaRPr lang="en-US" altLang="zh-CN" sz="14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9D89158-548A-42F7-B024-5CB99BD2CBBC}"/>
              </a:ext>
            </a:extLst>
          </p:cNvPr>
          <p:cNvGrpSpPr/>
          <p:nvPr/>
        </p:nvGrpSpPr>
        <p:grpSpPr>
          <a:xfrm>
            <a:off x="5220072" y="1484784"/>
            <a:ext cx="3839513" cy="2839090"/>
            <a:chOff x="3131839" y="3717032"/>
            <a:chExt cx="3839513" cy="2839090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4102663" y="6248345"/>
              <a:ext cx="2188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4.53    TLB</a:t>
              </a:r>
              <a:r>
                <a:rPr lang="zh-CN" altLang="en-US" sz="1400" b="1" dirty="0"/>
                <a:t>命中访问流程</a:t>
              </a:r>
            </a:p>
          </p:txBody>
        </p:sp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6F9FCF14-B7CB-44CF-80BE-7B6F0D86C6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1839" y="3717032"/>
              <a:ext cx="3839513" cy="240112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1320435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2"/>
            <a:ext cx="4978896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1800" b="1" dirty="0"/>
              <a:t>TLB</a:t>
            </a:r>
            <a:r>
              <a:rPr lang="zh-CN" altLang="en-US" sz="1800" b="1" dirty="0"/>
              <a:t>不命中（缺失）时的访问流程：</a:t>
            </a:r>
            <a:endParaRPr lang="en-US" altLang="zh-CN" sz="1800" b="1" dirty="0"/>
          </a:p>
          <a:p>
            <a:pPr lvl="1"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eaLnBrk="1" hangingPunct="1">
              <a:buFont typeface="+mj-ea"/>
              <a:buAutoNum type="circleNumDbPlain"/>
            </a:pPr>
            <a:r>
              <a:rPr lang="en-US" altLang="zh-CN" sz="1600" b="1" dirty="0"/>
              <a:t>CPU</a:t>
            </a:r>
            <a:r>
              <a:rPr lang="zh-CN" altLang="en-US" sz="1600" b="1" dirty="0"/>
              <a:t>（处理器）给出一个</a:t>
            </a:r>
            <a:r>
              <a:rPr lang="zh-CN" altLang="en-US" sz="1600" b="1" dirty="0">
                <a:solidFill>
                  <a:srgbClr val="C00000"/>
                </a:solidFill>
              </a:rPr>
              <a:t>虚拟地址</a:t>
            </a:r>
            <a:r>
              <a:rPr lang="en-US" altLang="zh-CN" sz="1600" b="1" dirty="0">
                <a:solidFill>
                  <a:srgbClr val="C00000"/>
                </a:solidFill>
              </a:rPr>
              <a:t>VA</a:t>
            </a:r>
            <a:r>
              <a:rPr lang="zh-CN" altLang="en-US" sz="1600" b="1" dirty="0"/>
              <a:t>，并送到</a:t>
            </a:r>
            <a:r>
              <a:rPr lang="en-US" altLang="zh-CN" sz="1600" b="1" dirty="0"/>
              <a:t>MMU</a:t>
            </a:r>
          </a:p>
          <a:p>
            <a:pPr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eaLnBrk="1" hangingPunct="1">
              <a:buFont typeface="+mj-ea"/>
              <a:buAutoNum type="circleNumDbPlain"/>
            </a:pPr>
            <a:r>
              <a:rPr lang="en-US" altLang="zh-CN" sz="1600" b="1" dirty="0"/>
              <a:t>MMU</a:t>
            </a:r>
            <a:r>
              <a:rPr lang="zh-CN" altLang="en-US" sz="1600" b="1" dirty="0"/>
              <a:t>根据虚拟地址</a:t>
            </a:r>
            <a:r>
              <a:rPr lang="en-US" altLang="zh-CN" sz="1600" b="1" dirty="0"/>
              <a:t>VA</a:t>
            </a:r>
            <a:r>
              <a:rPr lang="zh-CN" altLang="en-US" sz="1600" b="1" dirty="0"/>
              <a:t>中的</a:t>
            </a:r>
            <a:r>
              <a:rPr lang="zh-CN" altLang="en-US" sz="1600" b="1" dirty="0">
                <a:solidFill>
                  <a:srgbClr val="C00000"/>
                </a:solidFill>
              </a:rPr>
              <a:t>虚拟页号</a:t>
            </a:r>
            <a:r>
              <a:rPr lang="en-US" altLang="zh-CN" sz="1600" b="1" dirty="0">
                <a:solidFill>
                  <a:srgbClr val="C00000"/>
                </a:solidFill>
              </a:rPr>
              <a:t>VPN</a:t>
            </a:r>
            <a:r>
              <a:rPr lang="zh-CN" altLang="en-US" sz="1600" b="1" dirty="0"/>
              <a:t>，查询</a:t>
            </a:r>
            <a:r>
              <a:rPr lang="en-US" altLang="zh-CN" sz="1600" b="1" dirty="0"/>
              <a:t>TLB</a:t>
            </a:r>
          </a:p>
          <a:p>
            <a:pPr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eaLnBrk="1" hangingPunct="1">
              <a:buFont typeface="+mj-ea"/>
              <a:buAutoNum type="circleNumDbPlain"/>
            </a:pPr>
            <a:r>
              <a:rPr lang="zh-CN" altLang="en-US" sz="1600" b="1" dirty="0"/>
              <a:t>如果</a:t>
            </a:r>
            <a:r>
              <a:rPr lang="en-US" altLang="zh-CN" sz="1600" b="1" dirty="0"/>
              <a:t>TLB</a:t>
            </a:r>
            <a:r>
              <a:rPr lang="zh-CN" altLang="en-US" sz="1600" b="1" dirty="0"/>
              <a:t>访问不命中（缺失），则</a:t>
            </a:r>
            <a:r>
              <a:rPr lang="en-US" altLang="zh-CN" sz="1600" b="1" dirty="0"/>
              <a:t>TLB</a:t>
            </a:r>
            <a:r>
              <a:rPr lang="zh-CN" altLang="en-US" sz="1600" b="1" dirty="0"/>
              <a:t>向</a:t>
            </a:r>
            <a:r>
              <a:rPr lang="en-US" altLang="zh-CN" sz="1600" b="1" dirty="0"/>
              <a:t>MMU</a:t>
            </a:r>
            <a:r>
              <a:rPr lang="zh-CN" altLang="en-US" sz="1600" b="1" dirty="0"/>
              <a:t>返回</a:t>
            </a:r>
            <a:r>
              <a:rPr lang="en-US" altLang="zh-CN" sz="1600" b="1" dirty="0">
                <a:solidFill>
                  <a:srgbClr val="C00000"/>
                </a:solidFill>
              </a:rPr>
              <a:t>TLB</a:t>
            </a:r>
            <a:r>
              <a:rPr lang="zh-CN" altLang="en-US" sz="1600" b="1" dirty="0">
                <a:solidFill>
                  <a:srgbClr val="C00000"/>
                </a:solidFill>
              </a:rPr>
              <a:t>访问缺失</a:t>
            </a:r>
            <a:r>
              <a:rPr lang="zh-CN" altLang="en-US" sz="1600" b="1" dirty="0"/>
              <a:t>信息</a:t>
            </a:r>
            <a:endParaRPr lang="en-US" altLang="zh-CN" sz="1600" b="1" dirty="0">
              <a:solidFill>
                <a:srgbClr val="FF0000"/>
              </a:solidFill>
            </a:endParaRPr>
          </a:p>
          <a:p>
            <a:pPr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eaLnBrk="1" hangingPunct="1">
              <a:buFont typeface="+mj-ea"/>
              <a:buAutoNum type="circleNumDbPlain"/>
            </a:pPr>
            <a:r>
              <a:rPr lang="en-US" altLang="zh-CN" sz="1600" b="1" dirty="0"/>
              <a:t>MMU</a:t>
            </a:r>
            <a:r>
              <a:rPr lang="zh-CN" altLang="en-US" sz="1600" b="1" dirty="0"/>
              <a:t>根据虚拟地址</a:t>
            </a:r>
            <a:r>
              <a:rPr lang="en-US" altLang="zh-CN" sz="1600" b="1" dirty="0"/>
              <a:t>VA</a:t>
            </a:r>
            <a:r>
              <a:rPr lang="zh-CN" altLang="en-US" sz="1600" b="1" dirty="0"/>
              <a:t>中的虚拟页号</a:t>
            </a:r>
            <a:r>
              <a:rPr lang="en-US" altLang="zh-CN" sz="1600" b="1" dirty="0"/>
              <a:t>VPN</a:t>
            </a:r>
            <a:r>
              <a:rPr lang="zh-CN" altLang="en-US" sz="1600" b="1" dirty="0"/>
              <a:t>，以及页表基址寄存器</a:t>
            </a:r>
            <a:r>
              <a:rPr lang="en-US" altLang="zh-CN" sz="1600" b="1" dirty="0"/>
              <a:t>PTBR</a:t>
            </a:r>
            <a:r>
              <a:rPr lang="zh-CN" altLang="en-US" sz="1600" b="1" dirty="0"/>
              <a:t>的内容，计算得到页表项地址</a:t>
            </a:r>
            <a:r>
              <a:rPr lang="en-US" altLang="zh-CN" sz="1600" b="1" dirty="0"/>
              <a:t>PTEA</a:t>
            </a:r>
            <a:r>
              <a:rPr lang="zh-CN" altLang="en-US" sz="1600" b="1" dirty="0"/>
              <a:t>，并根据</a:t>
            </a:r>
            <a:r>
              <a:rPr lang="zh-CN" altLang="en-US" sz="1600" b="1" dirty="0">
                <a:solidFill>
                  <a:srgbClr val="C00000"/>
                </a:solidFill>
              </a:rPr>
              <a:t>页表项地址</a:t>
            </a:r>
            <a:r>
              <a:rPr lang="en-US" altLang="zh-CN" sz="1600" b="1" dirty="0">
                <a:solidFill>
                  <a:srgbClr val="C00000"/>
                </a:solidFill>
              </a:rPr>
              <a:t>PTEA</a:t>
            </a:r>
            <a:r>
              <a:rPr lang="zh-CN" altLang="en-US" sz="1600" b="1" dirty="0"/>
              <a:t>访问页表</a:t>
            </a:r>
            <a:endParaRPr lang="en-US" altLang="zh-CN" sz="1600" b="1" dirty="0"/>
          </a:p>
          <a:p>
            <a:pPr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eaLnBrk="1" hangingPunct="1">
              <a:buFont typeface="+mj-ea"/>
              <a:buAutoNum type="circleNumDbPlain"/>
            </a:pPr>
            <a:r>
              <a:rPr lang="zh-CN" altLang="en-US" sz="1600" b="1" dirty="0"/>
              <a:t>页表向</a:t>
            </a:r>
            <a:r>
              <a:rPr lang="en-US" altLang="zh-CN" sz="1600" b="1" dirty="0"/>
              <a:t>MMU</a:t>
            </a:r>
            <a:r>
              <a:rPr lang="zh-CN" altLang="en-US" sz="1600" b="1" dirty="0"/>
              <a:t>返回</a:t>
            </a:r>
            <a:r>
              <a:rPr lang="zh-CN" altLang="en-US" sz="1600" b="1" dirty="0">
                <a:solidFill>
                  <a:srgbClr val="C00000"/>
                </a:solidFill>
              </a:rPr>
              <a:t>页表项</a:t>
            </a:r>
            <a:r>
              <a:rPr lang="en-US" altLang="zh-CN" sz="1600" b="1" dirty="0">
                <a:solidFill>
                  <a:srgbClr val="C00000"/>
                </a:solidFill>
              </a:rPr>
              <a:t>PTE</a:t>
            </a:r>
          </a:p>
          <a:p>
            <a:pPr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eaLnBrk="1" hangingPunct="1">
              <a:buFont typeface="+mj-ea"/>
              <a:buAutoNum type="circleNumDbPlain"/>
            </a:pPr>
            <a:r>
              <a:rPr lang="zh-CN" altLang="en-US" sz="1600" b="1" dirty="0"/>
              <a:t>若页表项</a:t>
            </a:r>
            <a:r>
              <a:rPr lang="en-US" altLang="zh-CN" sz="1600" b="1" dirty="0"/>
              <a:t>PTE</a:t>
            </a:r>
            <a:r>
              <a:rPr lang="zh-CN" altLang="en-US" sz="1600" b="1" dirty="0"/>
              <a:t>中的有效位</a:t>
            </a:r>
            <a:r>
              <a:rPr lang="en-US" altLang="zh-CN" sz="1600" b="1" dirty="0"/>
              <a:t>=1</a:t>
            </a:r>
            <a:r>
              <a:rPr lang="zh-CN" altLang="en-US" sz="1600" b="1" dirty="0"/>
              <a:t>，则需要</a:t>
            </a:r>
            <a:r>
              <a:rPr lang="zh-CN" altLang="en-US" sz="1600" b="1" dirty="0">
                <a:highlight>
                  <a:srgbClr val="FFFF00"/>
                </a:highlight>
              </a:rPr>
              <a:t>更新</a:t>
            </a:r>
            <a:r>
              <a:rPr lang="en-US" altLang="zh-CN" sz="1600" b="1" dirty="0">
                <a:highlight>
                  <a:srgbClr val="FFFF00"/>
                </a:highlight>
              </a:rPr>
              <a:t>TLB</a:t>
            </a:r>
            <a:r>
              <a:rPr lang="zh-CN" altLang="en-US" sz="1600" b="1" dirty="0"/>
              <a:t>；同时根据页表项</a:t>
            </a:r>
            <a:r>
              <a:rPr lang="en-US" altLang="zh-CN" sz="1600" b="1" dirty="0"/>
              <a:t>PTE</a:t>
            </a:r>
            <a:r>
              <a:rPr lang="zh-CN" altLang="en-US" sz="1600" b="1" dirty="0"/>
              <a:t>中的物理页号</a:t>
            </a:r>
            <a:r>
              <a:rPr lang="en-US" altLang="zh-CN" sz="1600" b="1" dirty="0"/>
              <a:t>PPN</a:t>
            </a:r>
            <a:r>
              <a:rPr lang="zh-CN" altLang="en-US" sz="1600" b="1" dirty="0"/>
              <a:t>和虚拟地址中的页内偏移</a:t>
            </a:r>
            <a:r>
              <a:rPr lang="en-US" altLang="zh-CN" sz="1600" b="1" dirty="0"/>
              <a:t>VPO</a:t>
            </a:r>
            <a:r>
              <a:rPr lang="zh-CN" altLang="en-US" sz="1600" b="1" dirty="0"/>
              <a:t>，构成</a:t>
            </a:r>
            <a:r>
              <a:rPr lang="zh-CN" altLang="en-US" sz="1600" b="1" dirty="0">
                <a:solidFill>
                  <a:srgbClr val="C00000"/>
                </a:solidFill>
              </a:rPr>
              <a:t>物理地址</a:t>
            </a:r>
            <a:r>
              <a:rPr lang="en-US" altLang="zh-CN" sz="1600" b="1" dirty="0">
                <a:solidFill>
                  <a:srgbClr val="C00000"/>
                </a:solidFill>
              </a:rPr>
              <a:t>PA</a:t>
            </a:r>
          </a:p>
          <a:p>
            <a:pPr eaLnBrk="1" hangingPunct="1">
              <a:buFont typeface="+mj-ea"/>
              <a:buAutoNum type="circleNumDbPlain"/>
            </a:pPr>
            <a:endParaRPr lang="en-US" altLang="zh-CN" sz="1600" b="1" dirty="0"/>
          </a:p>
          <a:p>
            <a:pPr eaLnBrk="1" hangingPunct="1">
              <a:buFont typeface="+mj-ea"/>
              <a:buAutoNum type="circleNumDbPlain"/>
            </a:pPr>
            <a:r>
              <a:rPr lang="zh-CN" altLang="en-US" sz="1600" b="1" dirty="0"/>
              <a:t>由物理地址</a:t>
            </a:r>
            <a:r>
              <a:rPr lang="en-US" altLang="zh-CN" sz="1600" b="1" dirty="0"/>
              <a:t>PA</a:t>
            </a:r>
            <a:r>
              <a:rPr lang="zh-CN" altLang="en-US" sz="1600" b="1" dirty="0"/>
              <a:t>，从</a:t>
            </a:r>
            <a:r>
              <a:rPr lang="en-US" altLang="zh-CN" sz="1600" b="1" dirty="0"/>
              <a:t>cache/</a:t>
            </a:r>
            <a:r>
              <a:rPr lang="zh-CN" altLang="en-US" sz="1600" b="1" dirty="0"/>
              <a:t>主存中访问得到</a:t>
            </a:r>
            <a:r>
              <a:rPr lang="zh-CN" altLang="en-US" sz="1600" b="1" dirty="0">
                <a:solidFill>
                  <a:srgbClr val="C00000"/>
                </a:solidFill>
              </a:rPr>
              <a:t>数据</a:t>
            </a:r>
            <a:r>
              <a:rPr lang="zh-CN" altLang="en-US" sz="1600" b="1" dirty="0"/>
              <a:t>，并返回给</a:t>
            </a:r>
            <a:r>
              <a:rPr lang="en-US" altLang="zh-CN" sz="1600" b="1" dirty="0"/>
              <a:t>CPU</a:t>
            </a:r>
          </a:p>
          <a:p>
            <a:pPr eaLnBrk="1" hangingPunct="1"/>
            <a:endParaRPr lang="en-US" altLang="zh-CN" sz="1800" b="1" dirty="0"/>
          </a:p>
          <a:p>
            <a:pPr eaLnBrk="1" hangingPunct="1"/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382B02F-0B47-46F3-A1DE-781B21F792E9}"/>
              </a:ext>
            </a:extLst>
          </p:cNvPr>
          <p:cNvGrpSpPr/>
          <p:nvPr/>
        </p:nvGrpSpPr>
        <p:grpSpPr>
          <a:xfrm>
            <a:off x="5377462" y="1412776"/>
            <a:ext cx="3587026" cy="3044081"/>
            <a:chOff x="3203848" y="4005064"/>
            <a:chExt cx="3766538" cy="3044081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E46EDF1-142C-4792-A134-B5148E657D0D}"/>
                </a:ext>
              </a:extLst>
            </p:cNvPr>
            <p:cNvSpPr txBox="1"/>
            <p:nvPr/>
          </p:nvSpPr>
          <p:spPr>
            <a:xfrm>
              <a:off x="3438257" y="6741368"/>
              <a:ext cx="32405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b="1" dirty="0"/>
                <a:t>图</a:t>
              </a:r>
              <a:r>
                <a:rPr lang="en-US" altLang="zh-CN" sz="1400" b="1" dirty="0"/>
                <a:t>4.54    TLB</a:t>
              </a:r>
              <a:r>
                <a:rPr lang="zh-CN" altLang="en-US" sz="1400" b="1" dirty="0"/>
                <a:t>不命中（缺失）访问流程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8302F70A-1779-4E9E-A819-A283CDAF2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203848" y="4005064"/>
              <a:ext cx="3766538" cy="23747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59365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9B52F6D-B2BE-4B1F-97D0-A9BBDF8ADB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16633"/>
            <a:ext cx="8335084" cy="1518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eaLnBrk="1" hangingPunct="1"/>
            <a:r>
              <a:rPr lang="en-US" altLang="zh-CN" sz="2000" b="1" dirty="0"/>
              <a:t>6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CPU</a:t>
            </a:r>
            <a:r>
              <a:rPr lang="zh-CN" altLang="en-US" sz="2000" b="1" dirty="0"/>
              <a:t>访存过程</a:t>
            </a:r>
            <a:endParaRPr lang="en-US" altLang="zh-CN" sz="2000" b="1" dirty="0"/>
          </a:p>
          <a:p>
            <a:pPr lvl="2" eaLnBrk="1" hangingPunct="1"/>
            <a:r>
              <a:rPr lang="zh-CN" altLang="en-US" sz="1600" b="1" dirty="0"/>
              <a:t>实地址模式：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只能用</a:t>
            </a:r>
            <a:r>
              <a:rPr lang="zh-CN" altLang="en-US" sz="1600" b="1" dirty="0">
                <a:highlight>
                  <a:srgbClr val="FFFF00"/>
                </a:highlight>
              </a:rPr>
              <a:t>物理地址</a:t>
            </a:r>
            <a:r>
              <a:rPr lang="zh-CN" altLang="en-US" sz="1600" b="1" dirty="0"/>
              <a:t>访问主存，也称</a:t>
            </a:r>
            <a:r>
              <a:rPr lang="zh-CN" altLang="en-US" sz="1600" b="1" dirty="0">
                <a:highlight>
                  <a:srgbClr val="FFFF00"/>
                </a:highlight>
              </a:rPr>
              <a:t>实模式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2" eaLnBrk="1" hangingPunct="1"/>
            <a:r>
              <a:rPr lang="zh-CN" altLang="en-US" sz="1600" b="1" dirty="0"/>
              <a:t>虚地址模式；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只能使用</a:t>
            </a:r>
            <a:r>
              <a:rPr lang="zh-CN" altLang="en-US" sz="1600" b="1" dirty="0">
                <a:highlight>
                  <a:srgbClr val="FFFF00"/>
                </a:highlight>
              </a:rPr>
              <a:t>虚拟地址</a:t>
            </a:r>
            <a:r>
              <a:rPr lang="zh-CN" altLang="en-US" sz="1600" b="1" dirty="0"/>
              <a:t>访问主存，也称</a:t>
            </a:r>
            <a:r>
              <a:rPr lang="zh-CN" altLang="en-US" sz="1600" b="1" dirty="0">
                <a:highlight>
                  <a:srgbClr val="FFFF00"/>
                </a:highlight>
              </a:rPr>
              <a:t>保护模式</a:t>
            </a:r>
            <a:endParaRPr lang="en-US" altLang="zh-CN" sz="1600" b="1" dirty="0">
              <a:highlight>
                <a:srgbClr val="FFFF00"/>
              </a:highlight>
            </a:endParaRPr>
          </a:p>
          <a:p>
            <a:pPr lvl="2" eaLnBrk="1" hangingPunct="1"/>
            <a:r>
              <a:rPr lang="zh-CN" altLang="en-US" sz="1600" b="1" dirty="0"/>
              <a:t>在一个具有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、虚拟存储器的系统中，</a:t>
            </a:r>
            <a:r>
              <a:rPr lang="en-US" altLang="zh-CN" sz="1600" b="1" dirty="0"/>
              <a:t>CPU</a:t>
            </a:r>
            <a:r>
              <a:rPr lang="zh-CN" altLang="en-US" sz="1600" b="1" dirty="0"/>
              <a:t>的一次完整的虚存访问操作流程如下所示</a:t>
            </a:r>
            <a:r>
              <a:rPr lang="zh-CN" altLang="en-US" sz="1400" b="1" dirty="0"/>
              <a:t>：</a:t>
            </a:r>
            <a:endParaRPr lang="en-US" altLang="zh-CN" sz="1600" b="1" dirty="0"/>
          </a:p>
          <a:p>
            <a:pPr lvl="2" eaLnBrk="1" hangingPunct="1"/>
            <a:endParaRPr lang="en-US" altLang="zh-CN" sz="1600" b="1" dirty="0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B12E3A60-CF6A-4EDC-9768-E7859163FCCD}"/>
              </a:ext>
            </a:extLst>
          </p:cNvPr>
          <p:cNvGrpSpPr/>
          <p:nvPr/>
        </p:nvGrpSpPr>
        <p:grpSpPr>
          <a:xfrm>
            <a:off x="179512" y="1907512"/>
            <a:ext cx="8889238" cy="4905864"/>
            <a:chOff x="179512" y="1907512"/>
            <a:chExt cx="8889238" cy="490586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3EEE97A5-4F09-46C8-8A3E-4ABF55DFAA02}"/>
                </a:ext>
              </a:extLst>
            </p:cNvPr>
            <p:cNvGrpSpPr/>
            <p:nvPr/>
          </p:nvGrpSpPr>
          <p:grpSpPr>
            <a:xfrm>
              <a:off x="179512" y="1907512"/>
              <a:ext cx="8889238" cy="4905864"/>
              <a:chOff x="179512" y="1907512"/>
              <a:chExt cx="8889238" cy="4905864"/>
            </a:xfrm>
          </p:grpSpPr>
          <p:grpSp>
            <p:nvGrpSpPr>
              <p:cNvPr id="54" name="组合 53">
                <a:extLst>
                  <a:ext uri="{FF2B5EF4-FFF2-40B4-BE49-F238E27FC236}">
                    <a16:creationId xmlns:a16="http://schemas.microsoft.com/office/drawing/2014/main" id="{AE2BB0D3-8352-43D8-BC5D-460A2E50EC8A}"/>
                  </a:ext>
                </a:extLst>
              </p:cNvPr>
              <p:cNvGrpSpPr/>
              <p:nvPr/>
            </p:nvGrpSpPr>
            <p:grpSpPr>
              <a:xfrm>
                <a:off x="2184165" y="2060848"/>
                <a:ext cx="5556187" cy="4752528"/>
                <a:chOff x="2184165" y="2060848"/>
                <a:chExt cx="5556187" cy="4752528"/>
              </a:xfrm>
            </p:grpSpPr>
            <p:pic>
              <p:nvPicPr>
                <p:cNvPr id="67" name="图片 66">
                  <a:extLst>
                    <a:ext uri="{FF2B5EF4-FFF2-40B4-BE49-F238E27FC236}">
                      <a16:creationId xmlns:a16="http://schemas.microsoft.com/office/drawing/2014/main" id="{D0CEC95E-2EE3-4D92-8EF5-9A51500922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184165" y="2060848"/>
                  <a:ext cx="5556187" cy="4392488"/>
                </a:xfrm>
                <a:prstGeom prst="rect">
                  <a:avLst/>
                </a:prstGeom>
              </p:spPr>
            </p:pic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3CC524B1-7E9F-482D-BB3F-D970BC163232}"/>
                    </a:ext>
                  </a:extLst>
                </p:cNvPr>
                <p:cNvSpPr txBox="1"/>
                <p:nvPr/>
              </p:nvSpPr>
              <p:spPr>
                <a:xfrm>
                  <a:off x="4096123" y="6536377"/>
                  <a:ext cx="19880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200" b="1" dirty="0"/>
                    <a:t>图</a:t>
                  </a:r>
                  <a:r>
                    <a:rPr lang="en-US" altLang="zh-CN" sz="1200" b="1" dirty="0"/>
                    <a:t>4.55    </a:t>
                  </a:r>
                  <a:r>
                    <a:rPr lang="zh-CN" altLang="en-US" sz="1200" b="1" dirty="0"/>
                    <a:t>虚存访问操作流程</a:t>
                  </a:r>
                </a:p>
              </p:txBody>
            </p:sp>
          </p:grpSp>
          <p:grpSp>
            <p:nvGrpSpPr>
              <p:cNvPr id="55" name="组合 54">
                <a:extLst>
                  <a:ext uri="{FF2B5EF4-FFF2-40B4-BE49-F238E27FC236}">
                    <a16:creationId xmlns:a16="http://schemas.microsoft.com/office/drawing/2014/main" id="{A41AEAA6-784A-4C79-AC25-571446AE13A1}"/>
                  </a:ext>
                </a:extLst>
              </p:cNvPr>
              <p:cNvGrpSpPr/>
              <p:nvPr/>
            </p:nvGrpSpPr>
            <p:grpSpPr>
              <a:xfrm>
                <a:off x="179512" y="1907512"/>
                <a:ext cx="8889238" cy="3371630"/>
                <a:chOff x="179512" y="1907512"/>
                <a:chExt cx="8889238" cy="3371630"/>
              </a:xfrm>
            </p:grpSpPr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7D95FBB6-D534-4998-8410-0682FB3418BE}"/>
                    </a:ext>
                  </a:extLst>
                </p:cNvPr>
                <p:cNvSpPr txBox="1"/>
                <p:nvPr/>
              </p:nvSpPr>
              <p:spPr>
                <a:xfrm>
                  <a:off x="179512" y="3420567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由虚拟地址</a:t>
                  </a:r>
                  <a:r>
                    <a:rPr lang="en-US" altLang="zh-CN" sz="1000" b="1" dirty="0"/>
                    <a:t>VA</a:t>
                  </a:r>
                  <a:r>
                    <a:rPr lang="zh-CN" altLang="en-US" sz="1000" b="1" dirty="0"/>
                    <a:t>中的虚页号</a:t>
                  </a:r>
                  <a:r>
                    <a:rPr lang="en-US" altLang="zh-CN" sz="1000" b="1" dirty="0"/>
                    <a:t>VPN</a:t>
                  </a:r>
                  <a:r>
                    <a:rPr lang="zh-CN" altLang="en-US" sz="1000" b="1" dirty="0"/>
                    <a:t>，查找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表，如果命中，则得到物理页号</a:t>
                  </a:r>
                  <a:r>
                    <a:rPr lang="en-US" altLang="zh-CN" sz="1000" b="1" dirty="0"/>
                    <a:t>PPN</a:t>
                  </a:r>
                  <a:endParaRPr lang="zh-CN" altLang="en-US" sz="1000" b="1" dirty="0"/>
                </a:p>
              </p:txBody>
            </p:sp>
            <p:sp>
              <p:nvSpPr>
                <p:cNvPr id="57" name="文本框 56">
                  <a:extLst>
                    <a:ext uri="{FF2B5EF4-FFF2-40B4-BE49-F238E27FC236}">
                      <a16:creationId xmlns:a16="http://schemas.microsoft.com/office/drawing/2014/main" id="{4829CD83-E85A-4A25-89B0-B35314D3C37F}"/>
                    </a:ext>
                  </a:extLst>
                </p:cNvPr>
                <p:cNvSpPr txBox="1"/>
                <p:nvPr/>
              </p:nvSpPr>
              <p:spPr>
                <a:xfrm>
                  <a:off x="179512" y="4675202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由物理页号</a:t>
                  </a:r>
                  <a:r>
                    <a:rPr lang="en-US" altLang="zh-CN" sz="1000" b="1" dirty="0"/>
                    <a:t>PPN</a:t>
                  </a:r>
                  <a:r>
                    <a:rPr lang="zh-CN" altLang="en-US" sz="1000" b="1" dirty="0"/>
                    <a:t>和虚拟地址</a:t>
                  </a:r>
                  <a:r>
                    <a:rPr lang="en-US" altLang="zh-CN" sz="1000" b="1" dirty="0"/>
                    <a:t>VA</a:t>
                  </a:r>
                  <a:r>
                    <a:rPr lang="zh-CN" altLang="en-US" sz="1000" b="1" dirty="0"/>
                    <a:t>中的页偏移</a:t>
                  </a:r>
                  <a:r>
                    <a:rPr lang="en-US" altLang="zh-CN" sz="1000" b="1" dirty="0"/>
                    <a:t>VPO</a:t>
                  </a:r>
                  <a:r>
                    <a:rPr lang="zh-CN" altLang="en-US" sz="1000" b="1" dirty="0"/>
                    <a:t>，得到物理地址</a:t>
                  </a:r>
                  <a:r>
                    <a:rPr lang="en-US" altLang="zh-CN" sz="1000" b="1" dirty="0"/>
                    <a:t>PA</a:t>
                  </a:r>
                  <a:endParaRPr lang="zh-CN" altLang="en-US" sz="1000" b="1" dirty="0"/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44BB1916-1163-4CBA-847D-119D90A2DBA5}"/>
                    </a:ext>
                  </a:extLst>
                </p:cNvPr>
                <p:cNvSpPr txBox="1"/>
                <p:nvPr/>
              </p:nvSpPr>
              <p:spPr>
                <a:xfrm>
                  <a:off x="4427985" y="1916832"/>
                  <a:ext cx="2086608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如果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不命中，则根据页表项地址</a:t>
                  </a:r>
                  <a:r>
                    <a:rPr lang="en-US" altLang="zh-CN" sz="1000" b="1" dirty="0"/>
                    <a:t>PTEA</a:t>
                  </a:r>
                  <a:r>
                    <a:rPr lang="zh-CN" altLang="en-US" sz="1000" b="1" dirty="0"/>
                    <a:t>，从位于</a:t>
                  </a:r>
                  <a:r>
                    <a:rPr lang="en-US" altLang="zh-CN" sz="1000" b="1" dirty="0"/>
                    <a:t>cache</a:t>
                  </a:r>
                  <a:r>
                    <a:rPr lang="zh-CN" altLang="en-US" sz="1000" b="1" dirty="0"/>
                    <a:t>的页表中查找，如果命中，则得到页表项</a:t>
                  </a:r>
                  <a:r>
                    <a:rPr lang="en-US" altLang="zh-CN" sz="1000" b="1" dirty="0"/>
                    <a:t>PTE</a:t>
                  </a:r>
                  <a:endParaRPr lang="zh-CN" altLang="en-US" sz="1000" b="1" dirty="0"/>
                </a:p>
              </p:txBody>
            </p:sp>
            <p:sp>
              <p:nvSpPr>
                <p:cNvPr id="59" name="文本框 58">
                  <a:extLst>
                    <a:ext uri="{FF2B5EF4-FFF2-40B4-BE49-F238E27FC236}">
                      <a16:creationId xmlns:a16="http://schemas.microsoft.com/office/drawing/2014/main" id="{C4885D87-604F-4935-854B-8D365732A8A6}"/>
                    </a:ext>
                  </a:extLst>
                </p:cNvPr>
                <p:cNvSpPr txBox="1"/>
                <p:nvPr/>
              </p:nvSpPr>
              <p:spPr>
                <a:xfrm>
                  <a:off x="7101001" y="1907512"/>
                  <a:ext cx="1691283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000" b="1" dirty="0"/>
                    <a:t>如果不命中，则根据页表项地址</a:t>
                  </a:r>
                  <a:r>
                    <a:rPr lang="en-US" altLang="zh-CN" sz="1000" b="1" dirty="0"/>
                    <a:t>PTEA</a:t>
                  </a:r>
                  <a:r>
                    <a:rPr lang="zh-CN" altLang="en-US" sz="1000" b="1" dirty="0"/>
                    <a:t>，从主存的页表中查找，得到页表项</a:t>
                  </a:r>
                  <a:r>
                    <a:rPr lang="en-US" altLang="zh-CN" sz="1000" b="1" dirty="0"/>
                    <a:t>PTE</a:t>
                  </a:r>
                  <a:endParaRPr lang="zh-CN" altLang="en-US" sz="1000" b="1" dirty="0"/>
                </a:p>
              </p:txBody>
            </p:sp>
            <p:sp>
              <p:nvSpPr>
                <p:cNvPr id="60" name="文本框 59">
                  <a:extLst>
                    <a:ext uri="{FF2B5EF4-FFF2-40B4-BE49-F238E27FC236}">
                      <a16:creationId xmlns:a16="http://schemas.microsoft.com/office/drawing/2014/main" id="{15D65FE9-F512-4FE1-9F29-3FC61296288F}"/>
                    </a:ext>
                  </a:extLst>
                </p:cNvPr>
                <p:cNvSpPr txBox="1"/>
                <p:nvPr/>
              </p:nvSpPr>
              <p:spPr>
                <a:xfrm>
                  <a:off x="7812360" y="4725144"/>
                  <a:ext cx="1254391" cy="55399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000" b="1"/>
                  </a:lvl1pPr>
                </a:lstStyle>
                <a:p>
                  <a:r>
                    <a:rPr lang="zh-CN" altLang="en-US" sz="1000" b="1" dirty="0"/>
                    <a:t>若页表项</a:t>
                  </a:r>
                  <a:r>
                    <a:rPr lang="en-US" altLang="zh-CN" sz="1000" b="1" dirty="0"/>
                    <a:t>PTE</a:t>
                  </a:r>
                  <a:r>
                    <a:rPr lang="zh-CN" altLang="en-US" sz="1000" b="1" dirty="0"/>
                    <a:t>中的有效位</a:t>
                  </a:r>
                  <a:r>
                    <a:rPr lang="en-US" altLang="zh-CN" sz="1000" b="1" dirty="0"/>
                    <a:t>=1</a:t>
                  </a:r>
                  <a:r>
                    <a:rPr lang="zh-CN" altLang="en-US" sz="1000" b="1" dirty="0"/>
                    <a:t>，则需要更新</a:t>
                  </a:r>
                  <a:r>
                    <a:rPr lang="en-US" altLang="zh-CN" sz="1000" b="1" dirty="0"/>
                    <a:t>TLB</a:t>
                  </a:r>
                  <a:r>
                    <a:rPr lang="zh-CN" altLang="en-US" sz="1000" b="1" dirty="0"/>
                    <a:t>表项</a:t>
                  </a:r>
                  <a:endParaRPr lang="zh-CN" altLang="en-US" dirty="0"/>
                </a:p>
              </p:txBody>
            </p:sp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3E93EEF9-1B83-4BFB-8303-E89A7EB27C30}"/>
                    </a:ext>
                  </a:extLst>
                </p:cNvPr>
                <p:cNvSpPr txBox="1"/>
                <p:nvPr/>
              </p:nvSpPr>
              <p:spPr>
                <a:xfrm>
                  <a:off x="7814359" y="3068960"/>
                  <a:ext cx="1254391" cy="1015663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>
                    <a:defRPr sz="1000" b="1"/>
                  </a:lvl1pPr>
                </a:lstStyle>
                <a:p>
                  <a:r>
                    <a:rPr lang="zh-CN" altLang="en-US" dirty="0"/>
                    <a:t>若页表项</a:t>
                  </a:r>
                  <a:r>
                    <a:rPr lang="en-US" altLang="zh-CN" dirty="0"/>
                    <a:t>PTE</a:t>
                  </a:r>
                  <a:r>
                    <a:rPr lang="zh-CN" altLang="en-US" dirty="0"/>
                    <a:t>中的有效位</a:t>
                  </a:r>
                  <a:r>
                    <a:rPr lang="en-US" altLang="zh-CN" dirty="0"/>
                    <a:t>=0</a:t>
                  </a:r>
                  <a:r>
                    <a:rPr lang="zh-CN" altLang="en-US" dirty="0"/>
                    <a:t>，表示所访问的页不在主存中，</a:t>
                  </a:r>
                  <a:r>
                    <a:rPr lang="en-US" altLang="zh-CN" dirty="0"/>
                    <a:t>MMU</a:t>
                  </a:r>
                  <a:r>
                    <a:rPr lang="zh-CN" altLang="en-US" dirty="0"/>
                    <a:t>调用操作系统内核中的缺页异常处理程序</a:t>
                  </a:r>
                </a:p>
              </p:txBody>
            </p:sp>
            <p:cxnSp>
              <p:nvCxnSpPr>
                <p:cNvPr id="62" name="直接箭头连接符 61">
                  <a:extLst>
                    <a:ext uri="{FF2B5EF4-FFF2-40B4-BE49-F238E27FC236}">
                      <a16:creationId xmlns:a16="http://schemas.microsoft.com/office/drawing/2014/main" id="{71913BF9-0AB4-47C8-A19E-E6283B984D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0795" y="3169042"/>
                  <a:ext cx="756989" cy="52852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直接箭头连接符 62">
                  <a:extLst>
                    <a:ext uri="{FF2B5EF4-FFF2-40B4-BE49-F238E27FC236}">
                      <a16:creationId xmlns:a16="http://schemas.microsoft.com/office/drawing/2014/main" id="{4798C262-32AC-4324-8DE6-71F6A565A6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70795" y="4642595"/>
                  <a:ext cx="468957" cy="304581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箭头连接符 63">
                  <a:extLst>
                    <a:ext uri="{FF2B5EF4-FFF2-40B4-BE49-F238E27FC236}">
                      <a16:creationId xmlns:a16="http://schemas.microsoft.com/office/drawing/2014/main" id="{8B677D7F-BE8B-4064-A663-68872D589A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80312" y="2492896"/>
                  <a:ext cx="504056" cy="57606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箭头连接符 64">
                  <a:extLst>
                    <a:ext uri="{FF2B5EF4-FFF2-40B4-BE49-F238E27FC236}">
                      <a16:creationId xmlns:a16="http://schemas.microsoft.com/office/drawing/2014/main" id="{2C33C673-B4CC-45FF-BB39-CD6A66AF93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804250" y="4322274"/>
                  <a:ext cx="1008110" cy="679869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箭头连接符 65">
                  <a:extLst>
                    <a:ext uri="{FF2B5EF4-FFF2-40B4-BE49-F238E27FC236}">
                      <a16:creationId xmlns:a16="http://schemas.microsoft.com/office/drawing/2014/main" id="{93B1628D-24C5-43A6-964E-434C160661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77742" y="3567745"/>
                  <a:ext cx="434618" cy="255744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69" name="直接箭头连接符 68">
              <a:extLst>
                <a:ext uri="{FF2B5EF4-FFF2-40B4-BE49-F238E27FC236}">
                  <a16:creationId xmlns:a16="http://schemas.microsoft.com/office/drawing/2014/main" id="{0C94B938-AE34-40BF-A201-38E1CBE96A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65204" y="2492896"/>
              <a:ext cx="606085" cy="39024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3212325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C365099F-81A3-414B-8B83-886A91424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3197"/>
            <a:ext cx="8229600" cy="493515"/>
          </a:xfrm>
        </p:spPr>
        <p:txBody>
          <a:bodyPr/>
          <a:lstStyle/>
          <a:p>
            <a:pPr lvl="2"/>
            <a:r>
              <a:rPr lang="zh-CN" altLang="en-US" sz="1600" b="1" dirty="0"/>
              <a:t>最左边的路径（红色）为最短路径，访问性能最优</a:t>
            </a:r>
            <a:endParaRPr lang="zh-CN" altLang="en-US" sz="700" b="1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92ADF96-80E0-4C4B-9C0D-E0DED06F84CC}"/>
              </a:ext>
            </a:extLst>
          </p:cNvPr>
          <p:cNvGrpSpPr/>
          <p:nvPr/>
        </p:nvGrpSpPr>
        <p:grpSpPr>
          <a:xfrm>
            <a:off x="1691680" y="1018189"/>
            <a:ext cx="6120680" cy="5219123"/>
            <a:chOff x="1547664" y="1484784"/>
            <a:chExt cx="5556187" cy="4898527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23F8494D-9450-4CF6-AE0F-B7D1B6B63AB9}"/>
                </a:ext>
              </a:extLst>
            </p:cNvPr>
            <p:cNvGrpSpPr/>
            <p:nvPr/>
          </p:nvGrpSpPr>
          <p:grpSpPr>
            <a:xfrm>
              <a:off x="1547664" y="1484784"/>
              <a:ext cx="5556187" cy="4392488"/>
              <a:chOff x="1547664" y="1124744"/>
              <a:chExt cx="5556187" cy="4392488"/>
            </a:xfrm>
          </p:grpSpPr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B0F25DC5-AAB8-4566-B64A-0E1E50104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47664" y="1124744"/>
                <a:ext cx="5556187" cy="4392488"/>
              </a:xfrm>
              <a:prstGeom prst="rect">
                <a:avLst/>
              </a:prstGeom>
            </p:spPr>
          </p:pic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F69B4367-F3D1-45B2-A16A-C0EACD4F0A45}"/>
                  </a:ext>
                </a:extLst>
              </p:cNvPr>
              <p:cNvCxnSpPr/>
              <p:nvPr/>
            </p:nvCxnSpPr>
            <p:spPr>
              <a:xfrm>
                <a:off x="2379864" y="1540844"/>
                <a:ext cx="0" cy="43204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72A1CDA6-33D8-43EE-96E4-80485242AF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85180" y="2282188"/>
                <a:ext cx="0" cy="108012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3798C2CA-BB75-4120-AE8D-94FF295DA1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74548" y="3660972"/>
                <a:ext cx="0" cy="56543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9E465C80-66B0-4BAB-B572-628CD330F4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74548" y="4541016"/>
                <a:ext cx="0" cy="616176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3894DB8-4ACC-4A41-B71F-1E1A320FCB18}"/>
                </a:ext>
              </a:extLst>
            </p:cNvPr>
            <p:cNvSpPr txBox="1"/>
            <p:nvPr/>
          </p:nvSpPr>
          <p:spPr>
            <a:xfrm>
              <a:off x="3347864" y="6044757"/>
              <a:ext cx="259878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/>
                <a:t>图</a:t>
              </a:r>
              <a:r>
                <a:rPr lang="en-US" altLang="zh-CN" sz="1600" b="1" dirty="0"/>
                <a:t>4.55    </a:t>
              </a:r>
              <a:r>
                <a:rPr lang="zh-CN" altLang="en-US" sz="1600" b="1" dirty="0"/>
                <a:t>虚存访问操作流程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040440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680557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8265" y="2780928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2483768" y="594928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1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4404" y="5085184"/>
            <a:ext cx="5243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2998456" y="5805264"/>
            <a:ext cx="5316" cy="5040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008341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685240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3923928" y="6072462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2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3347864" y="5661248"/>
            <a:ext cx="72008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4524156" y="5805889"/>
            <a:ext cx="0" cy="618506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3563888" y="6424395"/>
            <a:ext cx="957368" cy="129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425980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155544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4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2483768" y="59498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3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036324" y="4589430"/>
            <a:ext cx="0" cy="3531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4956694" y="4942538"/>
            <a:ext cx="107963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FBCBC94-FD29-44E3-BC82-CC930934AAD3}"/>
              </a:ext>
            </a:extLst>
          </p:cNvPr>
          <p:cNvCxnSpPr>
            <a:cxnSpLocks/>
          </p:cNvCxnSpPr>
          <p:nvPr/>
        </p:nvCxnSpPr>
        <p:spPr>
          <a:xfrm flipH="1">
            <a:off x="3564257" y="4953170"/>
            <a:ext cx="5036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73707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241277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3923928" y="6072462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4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32938AA-2715-4C3C-B753-009CFC438A27}"/>
              </a:ext>
            </a:extLst>
          </p:cNvPr>
          <p:cNvCxnSpPr>
            <a:cxnSpLocks/>
          </p:cNvCxnSpPr>
          <p:nvPr/>
        </p:nvCxnSpPr>
        <p:spPr>
          <a:xfrm>
            <a:off x="3019647" y="5085184"/>
            <a:ext cx="0" cy="50222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765C5D63-0EFC-4E8B-A2CB-5D7CC82FC7A5}"/>
              </a:ext>
            </a:extLst>
          </p:cNvPr>
          <p:cNvCxnSpPr>
            <a:cxnSpLocks/>
          </p:cNvCxnSpPr>
          <p:nvPr/>
        </p:nvCxnSpPr>
        <p:spPr>
          <a:xfrm>
            <a:off x="3374444" y="5671880"/>
            <a:ext cx="6935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036324" y="4589430"/>
            <a:ext cx="0" cy="3531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4956694" y="4942538"/>
            <a:ext cx="107963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CFBCBC94-FD29-44E3-BC82-CC930934AAD3}"/>
              </a:ext>
            </a:extLst>
          </p:cNvPr>
          <p:cNvCxnSpPr>
            <a:cxnSpLocks/>
          </p:cNvCxnSpPr>
          <p:nvPr/>
        </p:nvCxnSpPr>
        <p:spPr>
          <a:xfrm flipH="1">
            <a:off x="3564257" y="4953170"/>
            <a:ext cx="50368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4526082" y="5805264"/>
            <a:ext cx="0" cy="6268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E295DCED-F73F-4A21-8915-869DC2142657}"/>
              </a:ext>
            </a:extLst>
          </p:cNvPr>
          <p:cNvCxnSpPr>
            <a:cxnSpLocks/>
          </p:cNvCxnSpPr>
          <p:nvPr/>
        </p:nvCxnSpPr>
        <p:spPr>
          <a:xfrm flipH="1">
            <a:off x="3544645" y="6432072"/>
            <a:ext cx="9814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3344837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88381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6842414" y="529677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5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045753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724005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6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9FDDF1-6FC3-44BC-ACC3-3F670241B1CD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81DC396-3E3E-422B-91E4-F9A505BA173B}"/>
              </a:ext>
            </a:extLst>
          </p:cNvPr>
          <p:cNvCxnSpPr>
            <a:cxnSpLocks/>
          </p:cNvCxnSpPr>
          <p:nvPr/>
        </p:nvCxnSpPr>
        <p:spPr>
          <a:xfrm>
            <a:off x="3374444" y="5671880"/>
            <a:ext cx="69350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B26CE97A-9D05-4E82-AABC-0015216FC492}"/>
              </a:ext>
            </a:extLst>
          </p:cNvPr>
          <p:cNvCxnSpPr>
            <a:cxnSpLocks/>
          </p:cNvCxnSpPr>
          <p:nvPr/>
        </p:nvCxnSpPr>
        <p:spPr>
          <a:xfrm>
            <a:off x="4526082" y="5805264"/>
            <a:ext cx="0" cy="626808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AC85CAE-DD49-4B65-9F21-0F798436F6D2}"/>
              </a:ext>
            </a:extLst>
          </p:cNvPr>
          <p:cNvCxnSpPr>
            <a:cxnSpLocks/>
          </p:cNvCxnSpPr>
          <p:nvPr/>
        </p:nvCxnSpPr>
        <p:spPr>
          <a:xfrm flipH="1">
            <a:off x="3544645" y="6432072"/>
            <a:ext cx="981437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1BF500B6-181A-45DC-BD0D-27C3A768C742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96664013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632863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9752" y="2996952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7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4C08A27-22D4-43D2-81D9-41D5A145C44F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519FDDF1-6FC3-44BC-ACC3-3F670241B1CD}"/>
              </a:ext>
            </a:extLst>
          </p:cNvPr>
          <p:cNvCxnSpPr>
            <a:cxnSpLocks/>
          </p:cNvCxnSpPr>
          <p:nvPr/>
        </p:nvCxnSpPr>
        <p:spPr>
          <a:xfrm>
            <a:off x="3014404" y="3933056"/>
            <a:ext cx="0" cy="8853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6BC067E-91B7-4722-8490-8F993EEAF1FB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2875068334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D4DAEC67-18D8-41BF-9402-4CF01B98FD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582504"/>
              </p:ext>
            </p:extLst>
          </p:nvPr>
        </p:nvGraphicFramePr>
        <p:xfrm>
          <a:off x="1259632" y="442352"/>
          <a:ext cx="662473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912">
                  <a:extLst>
                    <a:ext uri="{9D8B030D-6E8A-4147-A177-3AD203B41FA5}">
                      <a16:colId xmlns:a16="http://schemas.microsoft.com/office/drawing/2014/main" val="3461045365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1507303541"/>
                    </a:ext>
                  </a:extLst>
                </a:gridCol>
                <a:gridCol w="462213">
                  <a:extLst>
                    <a:ext uri="{9D8B030D-6E8A-4147-A177-3AD203B41FA5}">
                      <a16:colId xmlns:a16="http://schemas.microsoft.com/office/drawing/2014/main" val="2632028909"/>
                    </a:ext>
                  </a:extLst>
                </a:gridCol>
                <a:gridCol w="528243">
                  <a:extLst>
                    <a:ext uri="{9D8B030D-6E8A-4147-A177-3AD203B41FA5}">
                      <a16:colId xmlns:a16="http://schemas.microsoft.com/office/drawing/2014/main" val="3639809302"/>
                    </a:ext>
                  </a:extLst>
                </a:gridCol>
                <a:gridCol w="594273">
                  <a:extLst>
                    <a:ext uri="{9D8B030D-6E8A-4147-A177-3AD203B41FA5}">
                      <a16:colId xmlns:a16="http://schemas.microsoft.com/office/drawing/2014/main" val="3964538130"/>
                    </a:ext>
                  </a:extLst>
                </a:gridCol>
                <a:gridCol w="4093882">
                  <a:extLst>
                    <a:ext uri="{9D8B030D-6E8A-4147-A177-3AD203B41FA5}">
                      <a16:colId xmlns:a16="http://schemas.microsoft.com/office/drawing/2014/main" val="4104632072"/>
                    </a:ext>
                  </a:extLst>
                </a:gridCol>
              </a:tblGrid>
              <a:tr h="219277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序号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cache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可能性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说明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75501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命中则页一定命中，页载入主存和数据块载入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078383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518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缺失后还可以访问慢速页表（慢表），页载入主存和数据块载入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并不同步，所以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有可能命中，也有可能缺失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3395594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43100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chemeClr val="tx1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这是最糟糕的情况，虚存系统初始化时常见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1668780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6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不可能</a:t>
                      </a:r>
                    </a:p>
                  </a:txBody>
                  <a:tcPr anchor="ctr" anchorCtr="1"/>
                </a:tc>
                <a:tc rowSpan="2"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页缺失说明页不在主存中，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中一定没有对应页表项，</a:t>
                      </a:r>
                      <a:r>
                        <a:rPr lang="en-US" altLang="zh-CN" sz="1000" b="1" dirty="0"/>
                        <a:t>TLB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463335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命中</a:t>
                      </a:r>
                    </a:p>
                  </a:txBody>
                  <a:tcPr anchor="ctr" anchorCtr="1"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8202626"/>
                  </a:ext>
                </a:extLst>
              </a:tr>
              <a:tr h="224618"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zh-CN" altLang="en-US" sz="10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缺失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命中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>
                          <a:solidFill>
                            <a:srgbClr val="C00000"/>
                          </a:solidFill>
                        </a:rPr>
                        <a:t>不可能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页缺失说明数据也不在主存中，所以</a:t>
                      </a:r>
                      <a:r>
                        <a:rPr lang="en-US" altLang="zh-CN" sz="1000" b="1" dirty="0"/>
                        <a:t>cache</a:t>
                      </a:r>
                      <a:r>
                        <a:rPr lang="zh-CN" altLang="en-US" sz="1000" b="1" dirty="0"/>
                        <a:t>不可能命中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4215632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8C7D5C6C-1C59-4349-BE02-20E72162CF70}"/>
              </a:ext>
            </a:extLst>
          </p:cNvPr>
          <p:cNvGrpSpPr/>
          <p:nvPr/>
        </p:nvGrpSpPr>
        <p:grpSpPr>
          <a:xfrm>
            <a:off x="2338265" y="2966464"/>
            <a:ext cx="4467467" cy="3805391"/>
            <a:chOff x="1979712" y="2852936"/>
            <a:chExt cx="4827507" cy="402141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780B091A-E9DA-4B72-9D76-EA2B101977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9712" y="2852936"/>
              <a:ext cx="4827507" cy="3816424"/>
            </a:xfrm>
            <a:prstGeom prst="rect">
              <a:avLst/>
            </a:prstGeom>
          </p:spPr>
        </p:pic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FB515A1-C3DC-418B-A128-DC4752B3EA20}"/>
                </a:ext>
              </a:extLst>
            </p:cNvPr>
            <p:cNvSpPr txBox="1"/>
            <p:nvPr/>
          </p:nvSpPr>
          <p:spPr>
            <a:xfrm>
              <a:off x="3520059" y="6597352"/>
              <a:ext cx="19880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/>
                <a:t>图</a:t>
              </a:r>
              <a:r>
                <a:rPr lang="en-US" altLang="zh-CN" sz="1200" b="1" dirty="0"/>
                <a:t>4.55    </a:t>
              </a:r>
              <a:r>
                <a:rPr lang="zh-CN" altLang="en-US" sz="1200" b="1" dirty="0"/>
                <a:t>虚存访问操作流程</a:t>
              </a:r>
            </a:p>
          </p:txBody>
        </p: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82C07FD5-E27B-4BCC-9205-D200F4219CAE}"/>
              </a:ext>
            </a:extLst>
          </p:cNvPr>
          <p:cNvSpPr txBox="1"/>
          <p:nvPr/>
        </p:nvSpPr>
        <p:spPr>
          <a:xfrm>
            <a:off x="3051038" y="128141"/>
            <a:ext cx="30419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表</a:t>
            </a:r>
            <a:r>
              <a:rPr lang="en-US" altLang="zh-CN" sz="1200" b="1" dirty="0"/>
              <a:t>4.11    TLB</a:t>
            </a:r>
            <a:r>
              <a:rPr lang="zh-CN" altLang="en-US" sz="1200" b="1" dirty="0"/>
              <a:t>命中、页命中、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命中组合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5D9FFE-0517-453F-864D-91F7DF3F781B}"/>
              </a:ext>
            </a:extLst>
          </p:cNvPr>
          <p:cNvSpPr txBox="1"/>
          <p:nvPr/>
        </p:nvSpPr>
        <p:spPr>
          <a:xfrm>
            <a:off x="1259632" y="4869160"/>
            <a:ext cx="441146" cy="215444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zh-CN" altLang="en-US" sz="800" b="1" dirty="0"/>
              <a:t>序号</a:t>
            </a:r>
            <a:r>
              <a:rPr lang="en-US" altLang="zh-CN" sz="800" b="1" dirty="0"/>
              <a:t>8</a:t>
            </a:r>
            <a:endParaRPr lang="zh-CN" altLang="en-US" sz="800" b="1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36632CB-ECD8-4395-B9FE-38571D2E186C}"/>
              </a:ext>
            </a:extLst>
          </p:cNvPr>
          <p:cNvCxnSpPr/>
          <p:nvPr/>
        </p:nvCxnSpPr>
        <p:spPr>
          <a:xfrm>
            <a:off x="3003772" y="3335728"/>
            <a:ext cx="0" cy="3600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2F2FA175-025C-41FC-9587-14A6FE76F8C7}"/>
              </a:ext>
            </a:extLst>
          </p:cNvPr>
          <p:cNvCxnSpPr>
            <a:cxnSpLocks/>
          </p:cNvCxnSpPr>
          <p:nvPr/>
        </p:nvCxnSpPr>
        <p:spPr>
          <a:xfrm>
            <a:off x="3353180" y="3834468"/>
            <a:ext cx="67876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62F49A7A-C609-457B-97A7-1C7EC3D601AE}"/>
              </a:ext>
            </a:extLst>
          </p:cNvPr>
          <p:cNvCxnSpPr>
            <a:cxnSpLocks/>
          </p:cNvCxnSpPr>
          <p:nvPr/>
        </p:nvCxnSpPr>
        <p:spPr>
          <a:xfrm>
            <a:off x="6382832" y="4447744"/>
            <a:ext cx="335876" cy="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43F69CD5-8C48-4EF1-95C3-A03BDF3D95B8}"/>
              </a:ext>
            </a:extLst>
          </p:cNvPr>
          <p:cNvCxnSpPr>
            <a:cxnSpLocks/>
          </p:cNvCxnSpPr>
          <p:nvPr/>
        </p:nvCxnSpPr>
        <p:spPr>
          <a:xfrm flipH="1">
            <a:off x="6476465" y="6154672"/>
            <a:ext cx="2557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FFEF129-8EEC-4E5E-80F2-A2B97C7AD05C}"/>
              </a:ext>
            </a:extLst>
          </p:cNvPr>
          <p:cNvCxnSpPr>
            <a:cxnSpLocks/>
          </p:cNvCxnSpPr>
          <p:nvPr/>
        </p:nvCxnSpPr>
        <p:spPr>
          <a:xfrm>
            <a:off x="6723911" y="4437112"/>
            <a:ext cx="0" cy="1717560"/>
          </a:xfrm>
          <a:prstGeom prst="straightConnector1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4C08A27-22D4-43D2-81D9-41D5A145C44F}"/>
              </a:ext>
            </a:extLst>
          </p:cNvPr>
          <p:cNvCxnSpPr>
            <a:cxnSpLocks/>
          </p:cNvCxnSpPr>
          <p:nvPr/>
        </p:nvCxnSpPr>
        <p:spPr>
          <a:xfrm>
            <a:off x="2998456" y="5805889"/>
            <a:ext cx="5316" cy="50343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3475691-7FF4-48DD-8422-C77999E52336}"/>
              </a:ext>
            </a:extLst>
          </p:cNvPr>
          <p:cNvSpPr txBox="1"/>
          <p:nvPr/>
        </p:nvSpPr>
        <p:spPr>
          <a:xfrm>
            <a:off x="1115616" y="5456756"/>
            <a:ext cx="646331" cy="276999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1200" b="1" dirty="0"/>
              <a:t>不可能</a:t>
            </a:r>
          </a:p>
        </p:txBody>
      </p:sp>
    </p:spTree>
    <p:extLst>
      <p:ext uri="{BB962C8B-B14F-4D97-AF65-F5344CB8AC3E}">
        <p14:creationId xmlns:p14="http://schemas.microsoft.com/office/powerpoint/2010/main" val="1322870584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4525963"/>
          </a:xfrm>
        </p:spPr>
        <p:txBody>
          <a:bodyPr/>
          <a:lstStyle/>
          <a:p>
            <a:r>
              <a:rPr lang="zh-CN" altLang="en-US" sz="1200" b="1" dirty="0"/>
              <a:t>例</a:t>
            </a:r>
            <a:r>
              <a:rPr lang="en-US" altLang="zh-CN" sz="1200" b="1" dirty="0"/>
              <a:t>4.7</a:t>
            </a:r>
            <a:r>
              <a:rPr lang="zh-CN" altLang="en-US" sz="1200" b="1" dirty="0"/>
              <a:t>：某计算机存储器按字节编址，虚拟（逻辑）地址空间大小为</a:t>
            </a:r>
            <a:r>
              <a:rPr lang="en-US" altLang="zh-CN" sz="1200" b="1" dirty="0"/>
              <a:t>16MB</a:t>
            </a:r>
            <a:r>
              <a:rPr lang="zh-CN" altLang="en-US" sz="1200" b="1" dirty="0"/>
              <a:t>，主存（物理）地址空间大小为</a:t>
            </a:r>
            <a:r>
              <a:rPr lang="en-US" altLang="zh-CN" sz="1200" b="1" dirty="0"/>
              <a:t>1MB</a:t>
            </a:r>
            <a:r>
              <a:rPr lang="zh-CN" altLang="en-US" sz="1200" b="1" dirty="0"/>
              <a:t>，页面大小为</a:t>
            </a:r>
            <a:r>
              <a:rPr lang="en-US" altLang="zh-CN" sz="1200" b="1" dirty="0"/>
              <a:t>4KB</a:t>
            </a:r>
            <a:r>
              <a:rPr lang="zh-CN" altLang="en-US" sz="1200" b="1" dirty="0"/>
              <a:t>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采用直接相联映射方式，共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行；主存与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之间交换块大小为</a:t>
            </a:r>
            <a:r>
              <a:rPr lang="en-US" altLang="zh-CN" sz="1200" b="1" dirty="0"/>
              <a:t>32B</a:t>
            </a:r>
            <a:r>
              <a:rPr lang="zh-CN" altLang="en-US" sz="1200" b="1" dirty="0"/>
              <a:t>。系统运行到某一时刻时，页表的部分内容和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的部分内容分别如下图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a</a:t>
            </a:r>
            <a:r>
              <a:rPr lang="zh-CN" altLang="en-US" sz="1200" b="1" dirty="0"/>
              <a:t>）、图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b</a:t>
            </a:r>
            <a:r>
              <a:rPr lang="zh-CN" altLang="en-US" sz="1200" b="1" dirty="0"/>
              <a:t>），图中页框号及标记字段的内容均为十六进制形式。请回答以下问题：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1</a:t>
            </a:r>
            <a:r>
              <a:rPr lang="zh-CN" altLang="en-US" sz="1200" b="1" dirty="0"/>
              <a:t>）虚拟地址共有几位？哪几位表示虚页号？物理地址共有几位？哪几位表示页框号（物理页号）？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）使用物理地址访问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时，物理地址应划分为哪几个字段？请说明每个字段的位数及在物理地址中的位置。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3</a:t>
            </a:r>
            <a:r>
              <a:rPr lang="zh-CN" altLang="en-US" sz="1200" b="1" dirty="0"/>
              <a:t>）虚拟地址</a:t>
            </a:r>
            <a:r>
              <a:rPr lang="en-US" altLang="zh-CN" sz="1200" b="1" dirty="0"/>
              <a:t>001C60H</a:t>
            </a:r>
            <a:r>
              <a:rPr lang="zh-CN" altLang="en-US" sz="1200" b="1" dirty="0"/>
              <a:t>所在的页面是否在主存中？若在主存中，则该虚拟地址对应的物理地址是什么？访问该地址时</a:t>
            </a:r>
            <a:r>
              <a:rPr lang="en-US" altLang="zh-CN" sz="1200" b="1" dirty="0"/>
              <a:t>cache</a:t>
            </a:r>
            <a:r>
              <a:rPr lang="zh-CN" altLang="en-US" sz="1200" b="1" dirty="0"/>
              <a:t>是否命中？请说明理由。</a:t>
            </a:r>
            <a:endParaRPr lang="en-US" altLang="zh-CN" sz="1200" b="1" dirty="0"/>
          </a:p>
          <a:p>
            <a:r>
              <a:rPr lang="zh-CN" altLang="en-US" sz="1200" b="1" dirty="0"/>
              <a:t>（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）假设为该计算机配置一个四路组相联的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（可存放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个页表项），若其当前内容如图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）所示（十六进制），则此时虚拟地址</a:t>
            </a:r>
            <a:r>
              <a:rPr lang="en-US" altLang="zh-CN" sz="1200" b="1" dirty="0"/>
              <a:t>024BACH</a:t>
            </a:r>
            <a:r>
              <a:rPr lang="zh-CN" altLang="en-US" sz="1200" b="1" dirty="0"/>
              <a:t>所在的页面是否存在于主存中？请说明理由。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C55ED6-922E-4447-AC1D-2CE20E4BE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724163"/>
              </p:ext>
            </p:extLst>
          </p:nvPr>
        </p:nvGraphicFramePr>
        <p:xfrm>
          <a:off x="2339752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2B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32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30EDA9A-F302-4F8E-B67C-E973BBBCBDD0}"/>
              </a:ext>
            </a:extLst>
          </p:cNvPr>
          <p:cNvSpPr txBox="1"/>
          <p:nvPr/>
        </p:nvSpPr>
        <p:spPr>
          <a:xfrm>
            <a:off x="5203743" y="2459888"/>
            <a:ext cx="1959191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 行号        有效位     标记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AE6A1B34-AF74-49A7-BDF4-C9A854BA3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42722"/>
              </p:ext>
            </p:extLst>
          </p:nvPr>
        </p:nvGraphicFramePr>
        <p:xfrm>
          <a:off x="5796136" y="2785132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01D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105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14D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27A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541F71E-371B-45F3-91A9-57E97F5AA13C}"/>
              </a:ext>
            </a:extLst>
          </p:cNvPr>
          <p:cNvSpPr txBox="1"/>
          <p:nvPr/>
        </p:nvSpPr>
        <p:spPr>
          <a:xfrm>
            <a:off x="1763688" y="2470520"/>
            <a:ext cx="2045753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虚页号     有效位   页框号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A31CF7B7-4CCE-4C9B-96AC-5FF908DD2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044213"/>
              </p:ext>
            </p:extLst>
          </p:nvPr>
        </p:nvGraphicFramePr>
        <p:xfrm>
          <a:off x="1223628" y="5301208"/>
          <a:ext cx="6804756" cy="122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425850768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84198759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143998412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44915027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2402205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68477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71266047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508154229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99194286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17957233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7425806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02792979"/>
                    </a:ext>
                  </a:extLst>
                </a:gridCol>
              </a:tblGrid>
              <a:tr h="426262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62615782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012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1F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41637774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2D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8534444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31F6A07-FA5E-4F17-99DA-1EDD4947E6C9}"/>
              </a:ext>
            </a:extLst>
          </p:cNvPr>
          <p:cNvSpPr txBox="1"/>
          <p:nvPr/>
        </p:nvSpPr>
        <p:spPr>
          <a:xfrm>
            <a:off x="3765218" y="6577436"/>
            <a:ext cx="18004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TLB</a:t>
            </a:r>
            <a:r>
              <a:rPr lang="zh-CN" altLang="en-US" sz="1000" b="1" dirty="0"/>
              <a:t>的部分内容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285AFD-6DDD-457E-8985-DE67D108AA12}"/>
              </a:ext>
            </a:extLst>
          </p:cNvPr>
          <p:cNvSpPr txBox="1"/>
          <p:nvPr/>
        </p:nvSpPr>
        <p:spPr>
          <a:xfrm>
            <a:off x="2123728" y="4869160"/>
            <a:ext cx="17475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a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</a:t>
            </a:r>
            <a:r>
              <a:rPr lang="zh-CN" altLang="en-US" sz="1000" b="1" dirty="0"/>
              <a:t>页表部分内容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022A8A-B0FD-42C4-9AE5-DE621D1291D3}"/>
              </a:ext>
            </a:extLst>
          </p:cNvPr>
          <p:cNvSpPr txBox="1"/>
          <p:nvPr/>
        </p:nvSpPr>
        <p:spPr>
          <a:xfrm>
            <a:off x="5704726" y="4869160"/>
            <a:ext cx="17924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b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cache</a:t>
            </a:r>
            <a:r>
              <a:rPr lang="zh-CN" altLang="en-US" sz="1000" b="1" dirty="0"/>
              <a:t>部分内容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7513E9-749F-4535-8E30-064314C06EB4}"/>
              </a:ext>
            </a:extLst>
          </p:cNvPr>
          <p:cNvSpPr txBox="1"/>
          <p:nvPr/>
        </p:nvSpPr>
        <p:spPr>
          <a:xfrm>
            <a:off x="703196" y="5253364"/>
            <a:ext cx="484428" cy="118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050" b="1" dirty="0"/>
              <a:t>组号 </a:t>
            </a:r>
            <a:endParaRPr lang="en-US" altLang="zh-CN" sz="1050" b="1" dirty="0"/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1</a:t>
            </a:r>
            <a:endParaRPr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070160530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34587"/>
            <a:ext cx="8568952" cy="2225770"/>
          </a:xfrm>
        </p:spPr>
        <p:txBody>
          <a:bodyPr/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例</a:t>
            </a:r>
            <a:r>
              <a:rPr lang="en-US" altLang="zh-CN" sz="1400" b="1" dirty="0">
                <a:solidFill>
                  <a:srgbClr val="C00000"/>
                </a:solidFill>
              </a:rPr>
              <a:t>4.7</a:t>
            </a:r>
            <a:r>
              <a:rPr lang="zh-CN" altLang="en-US" sz="1400" b="1" dirty="0"/>
              <a:t>：某计算机存储器按字节编址，</a:t>
            </a:r>
            <a:r>
              <a:rPr lang="zh-CN" altLang="en-US" sz="1400" b="1" dirty="0">
                <a:solidFill>
                  <a:srgbClr val="C00000"/>
                </a:solidFill>
              </a:rPr>
              <a:t>虚拟</a:t>
            </a:r>
            <a:r>
              <a:rPr lang="zh-CN" altLang="en-US" sz="1400" b="1" dirty="0"/>
              <a:t>（逻辑）地址空间大小为</a:t>
            </a:r>
            <a:r>
              <a:rPr lang="en-US" altLang="zh-CN" sz="1400" b="1" dirty="0">
                <a:solidFill>
                  <a:srgbClr val="C00000"/>
                </a:solidFill>
              </a:rPr>
              <a:t>16MB</a:t>
            </a:r>
            <a:r>
              <a:rPr lang="zh-CN" altLang="en-US" sz="1400" b="1" dirty="0"/>
              <a:t>，</a:t>
            </a:r>
            <a:r>
              <a:rPr lang="zh-CN" altLang="en-US" sz="1400" b="1" dirty="0">
                <a:solidFill>
                  <a:srgbClr val="C00000"/>
                </a:solidFill>
              </a:rPr>
              <a:t>主存</a:t>
            </a:r>
            <a:r>
              <a:rPr lang="zh-CN" altLang="en-US" sz="1400" b="1" dirty="0"/>
              <a:t>（物理）地址空间大小为</a:t>
            </a:r>
            <a:r>
              <a:rPr lang="en-US" altLang="zh-CN" sz="1400" b="1" dirty="0">
                <a:solidFill>
                  <a:srgbClr val="C00000"/>
                </a:solidFill>
              </a:rPr>
              <a:t>1MB</a:t>
            </a:r>
            <a:r>
              <a:rPr lang="zh-CN" altLang="en-US" sz="1400" b="1" dirty="0"/>
              <a:t>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</a:t>
            </a:r>
            <a:r>
              <a:rPr lang="zh-CN" altLang="en-US" sz="14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400" b="1" dirty="0"/>
              <a:t>方式，共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行；主存与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之间交换块大小为</a:t>
            </a:r>
            <a:r>
              <a:rPr lang="en-US" altLang="zh-CN" sz="1400" b="1" dirty="0">
                <a:highlight>
                  <a:srgbClr val="FFFF00"/>
                </a:highlight>
              </a:rPr>
              <a:t>32B</a:t>
            </a:r>
            <a:r>
              <a:rPr lang="zh-CN" altLang="en-US" sz="1400" b="1" dirty="0"/>
              <a:t>。系统运行到某一时刻时，页表的部分内容和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的部分内容分别如下图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），图中页框号及标记字段的内容均为十六进制形式。请回答以下问题：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1</a:t>
            </a:r>
            <a:r>
              <a:rPr lang="zh-CN" altLang="en-US" sz="1400" b="1" dirty="0"/>
              <a:t>）虚拟地址共有几位？哪几位表示虚页号？物理地址共有几位？哪几位表示页框号（物理页号）？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zh-CN" altLang="en-US" sz="1400" b="1" dirty="0"/>
              <a:t>）使用物理地址访问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时，物理地址应划分为哪几个字段？请说明每个字段的位数及在物理地址中的位置。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3</a:t>
            </a:r>
            <a:r>
              <a:rPr lang="zh-CN" altLang="en-US" sz="1400" b="1" dirty="0"/>
              <a:t>）虚拟地址</a:t>
            </a:r>
            <a:r>
              <a:rPr lang="en-US" altLang="zh-CN" sz="1400" b="1" dirty="0"/>
              <a:t>001C60H</a:t>
            </a:r>
            <a:r>
              <a:rPr lang="zh-CN" altLang="en-US" sz="1400" b="1" dirty="0"/>
              <a:t>所在的页面是否在主存中？若在主存中，则该虚拟地址对应的物理地址是什么？访问该地址时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是否命中？请说明理由。</a:t>
            </a:r>
            <a:endParaRPr lang="en-US" altLang="zh-CN" sz="1400" b="1" dirty="0"/>
          </a:p>
          <a:p>
            <a:r>
              <a:rPr lang="zh-CN" altLang="en-US" sz="1400" b="1" dirty="0"/>
              <a:t>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）假设为该计算机配置一个四路组相联的</a:t>
            </a:r>
            <a:r>
              <a:rPr lang="en-US" altLang="zh-CN" sz="1400" b="1" dirty="0"/>
              <a:t>TLB</a:t>
            </a:r>
            <a:r>
              <a:rPr lang="zh-CN" altLang="en-US" sz="1400" b="1" dirty="0"/>
              <a:t>（可存放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个页表项），若其当前内容如图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c</a:t>
            </a:r>
            <a:r>
              <a:rPr lang="zh-CN" altLang="en-US" sz="1400" b="1" dirty="0"/>
              <a:t>）所示（十六进制），则此时虚拟地址</a:t>
            </a:r>
            <a:r>
              <a:rPr lang="en-US" altLang="zh-CN" sz="1400" b="1" dirty="0"/>
              <a:t>024BACH</a:t>
            </a:r>
            <a:r>
              <a:rPr lang="zh-CN" altLang="en-US" sz="1400" b="1" dirty="0"/>
              <a:t>所在的页面是否存在于主存中？请说明理由。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B1C55ED6-922E-4447-AC1D-2CE20E4BE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976322"/>
              </p:ext>
            </p:extLst>
          </p:nvPr>
        </p:nvGraphicFramePr>
        <p:xfrm>
          <a:off x="2379369" y="2980590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2B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32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30EDA9A-F302-4F8E-B67C-E973BBBCBDD0}"/>
              </a:ext>
            </a:extLst>
          </p:cNvPr>
          <p:cNvSpPr txBox="1"/>
          <p:nvPr/>
        </p:nvSpPr>
        <p:spPr>
          <a:xfrm>
            <a:off x="5397858" y="2725599"/>
            <a:ext cx="1959191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 行号        有效位     标记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9" name="表格 4">
            <a:extLst>
              <a:ext uri="{FF2B5EF4-FFF2-40B4-BE49-F238E27FC236}">
                <a16:creationId xmlns:a16="http://schemas.microsoft.com/office/drawing/2014/main" id="{AE6A1B34-AF74-49A7-BDF4-C9A854BA3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578448"/>
              </p:ext>
            </p:extLst>
          </p:nvPr>
        </p:nvGraphicFramePr>
        <p:xfrm>
          <a:off x="5844881" y="3042008"/>
          <a:ext cx="1512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56">
                  <a:extLst>
                    <a:ext uri="{9D8B030D-6E8A-4147-A177-3AD203B41FA5}">
                      <a16:colId xmlns:a16="http://schemas.microsoft.com/office/drawing/2014/main" val="3816218350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169823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1989910702"/>
                    </a:ext>
                  </a:extLst>
                </a:gridCol>
              </a:tblGrid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020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837170867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2562556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01D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97734255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105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977535892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064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88779030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14D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73302883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0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03366655"/>
                  </a:ext>
                </a:extLst>
              </a:tr>
              <a:tr h="241709"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1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27A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50" b="1" dirty="0"/>
                        <a:t>……</a:t>
                      </a:r>
                      <a:endParaRPr lang="zh-CN" altLang="en-US" sz="105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177117507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3541F71E-371B-45F3-91A9-57E97F5AA13C}"/>
              </a:ext>
            </a:extLst>
          </p:cNvPr>
          <p:cNvSpPr txBox="1"/>
          <p:nvPr/>
        </p:nvSpPr>
        <p:spPr>
          <a:xfrm>
            <a:off x="1916507" y="2699155"/>
            <a:ext cx="2045753" cy="23720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000"/>
              </a:lnSpc>
            </a:pPr>
            <a:r>
              <a:rPr lang="zh-CN" altLang="en-US" sz="1050" b="1" dirty="0"/>
              <a:t>虚页号     有效位   页框号       </a:t>
            </a:r>
            <a:r>
              <a:rPr lang="en-US" altLang="zh-CN" sz="1050" b="1" dirty="0"/>
              <a:t>……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0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1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2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3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4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5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6</a:t>
            </a:r>
          </a:p>
          <a:p>
            <a:pPr>
              <a:lnSpc>
                <a:spcPts val="2000"/>
              </a:lnSpc>
            </a:pPr>
            <a:r>
              <a:rPr lang="en-US" altLang="zh-CN" sz="1050" b="1" dirty="0"/>
              <a:t>     7</a:t>
            </a:r>
            <a:endParaRPr lang="zh-CN" altLang="en-US" sz="1050" b="1" dirty="0"/>
          </a:p>
        </p:txBody>
      </p:sp>
      <p:graphicFrame>
        <p:nvGraphicFramePr>
          <p:cNvPr id="11" name="表格 11">
            <a:extLst>
              <a:ext uri="{FF2B5EF4-FFF2-40B4-BE49-F238E27FC236}">
                <a16:creationId xmlns:a16="http://schemas.microsoft.com/office/drawing/2014/main" id="{A31CF7B7-4CCE-4C9B-96AC-5FF908DD20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3625817"/>
              </p:ext>
            </p:extLst>
          </p:nvPr>
        </p:nvGraphicFramePr>
        <p:xfrm>
          <a:off x="1223628" y="5301208"/>
          <a:ext cx="6804756" cy="122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425850768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84198759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143998412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44915027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2402205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68477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71266047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508154229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99194286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4179572338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7425806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3302792979"/>
                    </a:ext>
                  </a:extLst>
                </a:gridCol>
              </a:tblGrid>
              <a:tr h="426262"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有效位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标记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zh-CN" altLang="en-US" sz="1000" b="1" dirty="0"/>
                        <a:t>页框号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2462615782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15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012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>
                          <a:solidFill>
                            <a:srgbClr val="FF0000"/>
                          </a:solidFill>
                        </a:rPr>
                        <a:t>1F</a:t>
                      </a:r>
                      <a:endParaRPr lang="zh-CN" altLang="en-US" sz="10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3241637774"/>
                  </a:ext>
                </a:extLst>
              </a:tr>
              <a:tr h="398937"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013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2D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1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008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7E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0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altLang="zh-CN" sz="1000" b="1" dirty="0"/>
                        <a:t>__</a:t>
                      </a:r>
                      <a:endParaRPr lang="zh-CN" altLang="en-US" sz="1000" b="1" dirty="0"/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val="4085344444"/>
                  </a:ext>
                </a:extLst>
              </a:tr>
            </a:tbl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731F6A07-FA5E-4F17-99DA-1EDD4947E6C9}"/>
              </a:ext>
            </a:extLst>
          </p:cNvPr>
          <p:cNvSpPr txBox="1"/>
          <p:nvPr/>
        </p:nvSpPr>
        <p:spPr>
          <a:xfrm>
            <a:off x="3765218" y="6577436"/>
            <a:ext cx="18004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c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TLB</a:t>
            </a:r>
            <a:r>
              <a:rPr lang="zh-CN" altLang="en-US" sz="1000" b="1" dirty="0"/>
              <a:t>的部分内容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285AFD-6DDD-457E-8985-DE67D108AA12}"/>
              </a:ext>
            </a:extLst>
          </p:cNvPr>
          <p:cNvSpPr txBox="1"/>
          <p:nvPr/>
        </p:nvSpPr>
        <p:spPr>
          <a:xfrm>
            <a:off x="2212102" y="5054987"/>
            <a:ext cx="17475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a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</a:t>
            </a:r>
            <a:r>
              <a:rPr lang="zh-CN" altLang="en-US" sz="1000" b="1" dirty="0"/>
              <a:t>页表部分内容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F022A8A-B0FD-42C4-9AE5-DE621D1291D3}"/>
              </a:ext>
            </a:extLst>
          </p:cNvPr>
          <p:cNvSpPr txBox="1"/>
          <p:nvPr/>
        </p:nvSpPr>
        <p:spPr>
          <a:xfrm>
            <a:off x="5704726" y="5071215"/>
            <a:ext cx="17924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000" b="1" dirty="0"/>
              <a:t>图</a:t>
            </a:r>
            <a:r>
              <a:rPr lang="en-US" altLang="zh-CN" sz="1000" b="1" dirty="0"/>
              <a:t>4.56</a:t>
            </a:r>
            <a:r>
              <a:rPr lang="zh-CN" altLang="en-US" sz="1000" b="1" dirty="0"/>
              <a:t>（</a:t>
            </a:r>
            <a:r>
              <a:rPr lang="en-US" altLang="zh-CN" sz="1000" b="1" dirty="0"/>
              <a:t>b</a:t>
            </a:r>
            <a:r>
              <a:rPr lang="zh-CN" altLang="en-US" sz="1000" b="1" dirty="0"/>
              <a:t>）</a:t>
            </a:r>
            <a:r>
              <a:rPr lang="en-US" altLang="zh-CN" sz="1000" b="1" dirty="0"/>
              <a:t>    cache</a:t>
            </a:r>
            <a:r>
              <a:rPr lang="zh-CN" altLang="en-US" sz="1000" b="1" dirty="0"/>
              <a:t>部分内容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82A912-6870-4184-9F79-197A270B539A}"/>
              </a:ext>
            </a:extLst>
          </p:cNvPr>
          <p:cNvSpPr txBox="1"/>
          <p:nvPr/>
        </p:nvSpPr>
        <p:spPr>
          <a:xfrm>
            <a:off x="703196" y="5253364"/>
            <a:ext cx="484428" cy="11858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000"/>
              </a:lnSpc>
            </a:pPr>
            <a:r>
              <a:rPr lang="zh-CN" altLang="en-US" sz="1050" b="1" dirty="0"/>
              <a:t>组号 </a:t>
            </a:r>
            <a:endParaRPr lang="en-US" altLang="zh-CN" sz="1050" b="1" dirty="0"/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</a:t>
            </a:r>
            <a:r>
              <a:rPr lang="en-US" altLang="zh-CN" sz="1050" b="1" dirty="0">
                <a:solidFill>
                  <a:srgbClr val="FF0000"/>
                </a:solidFill>
              </a:rPr>
              <a:t>0</a:t>
            </a:r>
          </a:p>
          <a:p>
            <a:pPr>
              <a:lnSpc>
                <a:spcPts val="3000"/>
              </a:lnSpc>
            </a:pPr>
            <a:r>
              <a:rPr lang="en-US" altLang="zh-CN" sz="1050" b="1" dirty="0"/>
              <a:t>     1</a:t>
            </a:r>
            <a:endParaRPr lang="zh-CN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2024382072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0871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例</a:t>
            </a:r>
            <a:r>
              <a:rPr lang="en-US" altLang="zh-CN" sz="1600" b="1" dirty="0">
                <a:solidFill>
                  <a:srgbClr val="C00000"/>
                </a:solidFill>
              </a:rPr>
              <a:t>4.7</a:t>
            </a:r>
            <a:r>
              <a:rPr lang="zh-CN" altLang="en-US" sz="1600" b="1" dirty="0"/>
              <a:t>：某计算机存储器按字节编址，虚拟（逻辑）地址空间大小为</a:t>
            </a:r>
            <a:r>
              <a:rPr lang="en-US" altLang="zh-CN" sz="1600" b="1" dirty="0"/>
              <a:t>16MB</a:t>
            </a:r>
            <a:r>
              <a:rPr lang="zh-CN" altLang="en-US" sz="1600" b="1" dirty="0"/>
              <a:t>，主存（物理）地址空间大小为</a:t>
            </a:r>
            <a:r>
              <a:rPr lang="en-US" altLang="zh-CN" sz="1600" b="1" dirty="0"/>
              <a:t>1MB</a:t>
            </a:r>
            <a:r>
              <a:rPr lang="zh-CN" altLang="en-US" sz="1600" b="1" dirty="0"/>
              <a:t>，页面大小为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采用直接相联映射方式，共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行；主存与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之间交换块大小为</a:t>
            </a:r>
            <a:r>
              <a:rPr lang="en-US" altLang="zh-CN" sz="1600" b="1" dirty="0"/>
              <a:t>32B</a:t>
            </a:r>
            <a:r>
              <a:rPr lang="zh-CN" altLang="en-US" sz="1600" b="1" dirty="0"/>
              <a:t>。系统运行到某一时刻时，页表的部分内容和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的部分内容分别如下图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）、图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），图中页框号及标记字段的内容均为十六进制形式。请回答以下问题：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）虚拟地址共有几位？哪几位表示虚页号？物理地址共有几位？哪几位表示页框号（物理页号）？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b="1" dirty="0"/>
              <a:t>解：（</a:t>
            </a:r>
            <a:r>
              <a:rPr lang="en-US" altLang="zh-CN" sz="1600" b="1" dirty="0"/>
              <a:t>1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虚拟地址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虚页号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页偏移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虚拟（逻辑）地址空间大小为</a:t>
            </a:r>
            <a:r>
              <a:rPr lang="en-US" altLang="zh-CN" sz="1400" b="1" dirty="0"/>
              <a:t>16MB</a:t>
            </a:r>
            <a:r>
              <a:rPr lang="zh-CN" altLang="en-US" sz="1400" b="1" dirty="0"/>
              <a:t>，因此，</a:t>
            </a:r>
            <a:r>
              <a:rPr lang="zh-CN" altLang="en-US" sz="1400" b="1" dirty="0">
                <a:solidFill>
                  <a:srgbClr val="C00000"/>
                </a:solidFill>
              </a:rPr>
              <a:t>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=24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24</a:t>
            </a:r>
            <a:r>
              <a:rPr lang="en-US" altLang="zh-CN" sz="1400" b="1" dirty="0"/>
              <a:t>=16M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，因此，页偏移</a:t>
            </a:r>
            <a:r>
              <a:rPr lang="en-US" altLang="zh-CN" sz="1400" b="1" dirty="0"/>
              <a:t>=12</a:t>
            </a:r>
            <a:r>
              <a:rPr lang="zh-CN" altLang="en-US" sz="1400" b="1" dirty="0"/>
              <a:t>位（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12</a:t>
            </a:r>
            <a:r>
              <a:rPr lang="en-US" altLang="zh-CN" sz="1400" b="1" dirty="0"/>
              <a:t>=4K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虚页号</a:t>
            </a:r>
            <a:r>
              <a:rPr lang="en-US" altLang="zh-CN" sz="1400" b="1" dirty="0">
                <a:solidFill>
                  <a:srgbClr val="C00000"/>
                </a:solidFill>
              </a:rPr>
              <a:t>=24-12=12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物理地址 </a:t>
            </a:r>
            <a:r>
              <a:rPr lang="en-US" altLang="zh-CN" sz="1400" b="1" dirty="0"/>
              <a:t>= </a:t>
            </a:r>
            <a:r>
              <a:rPr lang="zh-CN" altLang="en-US" sz="1400" b="1" dirty="0"/>
              <a:t>实页号（页框号）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页偏移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，因此，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>
                <a:solidFill>
                  <a:srgbClr val="C00000"/>
                </a:solidFill>
              </a:rPr>
              <a:t>=20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2</a:t>
            </a:r>
            <a:r>
              <a:rPr lang="en-US" altLang="zh-CN" sz="1400" b="1" baseline="30000" dirty="0"/>
              <a:t>20</a:t>
            </a:r>
            <a:r>
              <a:rPr lang="en-US" altLang="zh-CN" sz="1400" b="1" dirty="0"/>
              <a:t>=1M</a:t>
            </a:r>
            <a:r>
              <a:rPr lang="zh-CN" altLang="en-US" sz="14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因此，</a:t>
            </a:r>
            <a:r>
              <a:rPr lang="zh-CN" altLang="en-US" sz="1400" b="1" dirty="0">
                <a:solidFill>
                  <a:srgbClr val="C00000"/>
                </a:solidFill>
              </a:rPr>
              <a:t>页框号</a:t>
            </a:r>
            <a:r>
              <a:rPr lang="zh-CN" altLang="en-US" sz="1400" b="1" dirty="0"/>
              <a:t>（物理页号）</a:t>
            </a:r>
            <a:r>
              <a:rPr lang="en-US" altLang="zh-CN" sz="1400" b="1" dirty="0"/>
              <a:t>=20-12=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位</a:t>
            </a:r>
            <a:endParaRPr lang="zh-CN" altLang="en-US" sz="9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16558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48072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例</a:t>
            </a:r>
            <a:r>
              <a:rPr lang="en-US" altLang="zh-CN" sz="1600" b="1" dirty="0">
                <a:solidFill>
                  <a:srgbClr val="C00000"/>
                </a:solidFill>
              </a:rPr>
              <a:t>4.7</a:t>
            </a:r>
            <a:r>
              <a:rPr lang="zh-CN" altLang="en-US" sz="1600" b="1" dirty="0"/>
              <a:t>：某计算机存储器按字节编址，虚拟（逻辑）地址空间大小为</a:t>
            </a:r>
            <a:r>
              <a:rPr lang="en-US" altLang="zh-CN" sz="1600" b="1" dirty="0"/>
              <a:t>16MB</a:t>
            </a:r>
            <a:r>
              <a:rPr lang="zh-CN" altLang="en-US" sz="1600" b="1" dirty="0"/>
              <a:t>，主存（物理）地址空间大小为</a:t>
            </a:r>
            <a:r>
              <a:rPr lang="en-US" altLang="zh-CN" sz="1600" b="1" dirty="0"/>
              <a:t>1MB</a:t>
            </a:r>
            <a:r>
              <a:rPr lang="zh-CN" altLang="en-US" sz="1600" b="1" dirty="0"/>
              <a:t>，页面大小为</a:t>
            </a:r>
            <a:r>
              <a:rPr lang="en-US" altLang="zh-CN" sz="1600" b="1" dirty="0"/>
              <a:t>4KB</a:t>
            </a:r>
            <a:r>
              <a:rPr lang="zh-CN" altLang="en-US" sz="1600" b="1" dirty="0"/>
              <a:t>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采用</a:t>
            </a:r>
            <a:r>
              <a:rPr lang="zh-CN" altLang="en-US" sz="1600" b="1" dirty="0">
                <a:solidFill>
                  <a:srgbClr val="C00000"/>
                </a:solidFill>
              </a:rPr>
              <a:t>直接相联映射</a:t>
            </a:r>
            <a:r>
              <a:rPr lang="zh-CN" altLang="en-US" sz="1600" b="1" dirty="0"/>
              <a:t>方式，共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行；主存与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之间交换块大小为</a:t>
            </a:r>
            <a:r>
              <a:rPr lang="en-US" altLang="zh-CN" sz="1600" b="1" dirty="0">
                <a:solidFill>
                  <a:srgbClr val="C00000"/>
                </a:solidFill>
              </a:rPr>
              <a:t>32B</a:t>
            </a:r>
            <a:r>
              <a:rPr lang="zh-CN" altLang="en-US" sz="1600" b="1" dirty="0"/>
              <a:t>。系统运行到某一时刻时，页表的部分内容和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的部分内容分别如下图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a</a:t>
            </a:r>
            <a:r>
              <a:rPr lang="zh-CN" altLang="en-US" sz="1600" b="1" dirty="0"/>
              <a:t>）、图</a:t>
            </a:r>
            <a:r>
              <a:rPr lang="en-US" altLang="zh-CN" sz="1600" b="1" dirty="0"/>
              <a:t>4.56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b</a:t>
            </a:r>
            <a:r>
              <a:rPr lang="zh-CN" altLang="en-US" sz="1600" b="1" dirty="0"/>
              <a:t>），图中页框号及标记字段的内容均为十六进制形式。请回答以下问题：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（</a:t>
            </a:r>
            <a:r>
              <a:rPr lang="en-US" altLang="zh-CN" sz="1600" b="1" dirty="0">
                <a:solidFill>
                  <a:srgbClr val="C00000"/>
                </a:solidFill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</a:rPr>
              <a:t>）使用物理地址访问</a:t>
            </a:r>
            <a:r>
              <a:rPr lang="en-US" altLang="zh-CN" sz="1600" b="1" dirty="0">
                <a:solidFill>
                  <a:srgbClr val="C00000"/>
                </a:solidFill>
              </a:rPr>
              <a:t>cache</a:t>
            </a:r>
            <a:r>
              <a:rPr lang="zh-CN" altLang="en-US" sz="1600" b="1" dirty="0">
                <a:solidFill>
                  <a:srgbClr val="C00000"/>
                </a:solidFill>
              </a:rPr>
              <a:t>时，物理地址应划分为哪几个字段？请说明每个字段的位数及在物理地址中的位置。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解：（</a:t>
            </a:r>
            <a:r>
              <a:rPr lang="en-US" altLang="zh-CN" sz="1800" b="1" dirty="0"/>
              <a:t>2</a:t>
            </a:r>
            <a:r>
              <a:rPr lang="zh-CN" altLang="en-US" sz="1800" b="1" dirty="0"/>
              <a:t>）</a:t>
            </a:r>
            <a:endParaRPr lang="en-US" altLang="zh-CN" sz="16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因为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采用直接相联映射方式，因此，</a:t>
            </a:r>
            <a:r>
              <a:rPr lang="zh-CN" altLang="en-US" sz="1600" b="1" dirty="0">
                <a:solidFill>
                  <a:srgbClr val="C00000"/>
                </a:solidFill>
              </a:rPr>
              <a:t>物理地址（主存地址）</a:t>
            </a:r>
            <a:r>
              <a:rPr lang="en-US" altLang="zh-CN" sz="1600" b="1" dirty="0">
                <a:solidFill>
                  <a:srgbClr val="C00000"/>
                </a:solidFill>
              </a:rPr>
              <a:t>=</a:t>
            </a:r>
            <a:r>
              <a:rPr lang="zh-CN" altLang="en-US" sz="1600" b="1" dirty="0">
                <a:solidFill>
                  <a:srgbClr val="C00000"/>
                </a:solidFill>
              </a:rPr>
              <a:t>标记</a:t>
            </a:r>
            <a:r>
              <a:rPr lang="en-US" altLang="zh-CN" sz="1600" b="1" dirty="0">
                <a:solidFill>
                  <a:srgbClr val="C00000"/>
                </a:solidFill>
              </a:rPr>
              <a:t>tag + </a:t>
            </a:r>
            <a:r>
              <a:rPr lang="zh-CN" altLang="en-US" sz="1600" b="1" dirty="0">
                <a:solidFill>
                  <a:srgbClr val="C00000"/>
                </a:solidFill>
              </a:rPr>
              <a:t>行索引字段</a:t>
            </a:r>
            <a:r>
              <a:rPr lang="en-US" altLang="zh-CN" sz="1600" b="1" dirty="0">
                <a:solidFill>
                  <a:srgbClr val="C00000"/>
                </a:solidFill>
              </a:rPr>
              <a:t>index + </a:t>
            </a:r>
            <a:r>
              <a:rPr lang="zh-CN" altLang="en-US" sz="1600" b="1" dirty="0">
                <a:solidFill>
                  <a:srgbClr val="C00000"/>
                </a:solidFill>
              </a:rPr>
              <a:t>块内偏移</a:t>
            </a:r>
            <a:r>
              <a:rPr lang="en-US" altLang="zh-CN" sz="1600" b="1" dirty="0">
                <a:solidFill>
                  <a:srgbClr val="C00000"/>
                </a:solidFill>
              </a:rPr>
              <a:t>offset</a:t>
            </a:r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主存与</a:t>
            </a:r>
            <a:r>
              <a:rPr lang="en-US" altLang="zh-CN" sz="1600" b="1" dirty="0"/>
              <a:t>cache</a:t>
            </a:r>
            <a:r>
              <a:rPr lang="zh-CN" altLang="en-US" sz="1600" b="1" dirty="0"/>
              <a:t>之间交换块大小为</a:t>
            </a:r>
            <a:r>
              <a:rPr lang="en-US" altLang="zh-CN" sz="1600" b="1" dirty="0"/>
              <a:t>32B</a:t>
            </a:r>
            <a:r>
              <a:rPr lang="zh-CN" altLang="en-US" sz="1600" b="1" dirty="0"/>
              <a:t>，因此</a:t>
            </a:r>
            <a:r>
              <a:rPr lang="zh-CN" altLang="en-US" sz="1600" b="1" dirty="0">
                <a:solidFill>
                  <a:srgbClr val="C00000"/>
                </a:solidFill>
              </a:rPr>
              <a:t>块内偏移</a:t>
            </a:r>
            <a:r>
              <a:rPr lang="en-US" altLang="zh-CN" sz="1600" b="1" dirty="0">
                <a:solidFill>
                  <a:srgbClr val="C00000"/>
                </a:solidFill>
              </a:rPr>
              <a:t>=5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5</a:t>
            </a:r>
            <a:r>
              <a:rPr lang="en-US" altLang="zh-CN" sz="1600" b="1" dirty="0"/>
              <a:t>=32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>
              <a:lnSpc>
                <a:spcPct val="150000"/>
              </a:lnSpc>
            </a:pPr>
            <a:r>
              <a:rPr lang="en-US" altLang="zh-CN" sz="1600" b="1" dirty="0"/>
              <a:t>cache</a:t>
            </a:r>
            <a:r>
              <a:rPr lang="zh-CN" altLang="en-US" sz="1600" b="1" dirty="0"/>
              <a:t>共有</a:t>
            </a:r>
            <a:r>
              <a:rPr lang="en-US" altLang="zh-CN" sz="1600" b="1" dirty="0"/>
              <a:t>8</a:t>
            </a:r>
            <a:r>
              <a:rPr lang="zh-CN" altLang="en-US" sz="1600" b="1" dirty="0"/>
              <a:t>行，因</a:t>
            </a:r>
            <a:r>
              <a:rPr lang="zh-CN" altLang="en-US" sz="1600" b="1" dirty="0">
                <a:solidFill>
                  <a:srgbClr val="C00000"/>
                </a:solidFill>
              </a:rPr>
              <a:t>此行索引字段</a:t>
            </a:r>
            <a:r>
              <a:rPr lang="en-US" altLang="zh-CN" sz="1600" b="1" dirty="0">
                <a:solidFill>
                  <a:srgbClr val="C00000"/>
                </a:solidFill>
              </a:rPr>
              <a:t>=3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3</a:t>
            </a:r>
            <a:r>
              <a:rPr lang="en-US" altLang="zh-CN" sz="1600" b="1" dirty="0"/>
              <a:t>=8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主存（物理）地址空间大小为</a:t>
            </a:r>
            <a:r>
              <a:rPr lang="en-US" altLang="zh-CN" sz="1600" b="1" dirty="0"/>
              <a:t>1MB</a:t>
            </a:r>
            <a:r>
              <a:rPr lang="zh-CN" altLang="en-US" sz="1600" b="1" dirty="0"/>
              <a:t>，因此，</a:t>
            </a:r>
            <a:r>
              <a:rPr lang="zh-CN" altLang="en-US" sz="1600" b="1" dirty="0">
                <a:solidFill>
                  <a:srgbClr val="C00000"/>
                </a:solidFill>
              </a:rPr>
              <a:t>物理地址</a:t>
            </a:r>
            <a:r>
              <a:rPr lang="en-US" altLang="zh-CN" sz="1600" b="1" dirty="0">
                <a:solidFill>
                  <a:srgbClr val="C00000"/>
                </a:solidFill>
              </a:rPr>
              <a:t>=20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2</a:t>
            </a:r>
            <a:r>
              <a:rPr lang="en-US" altLang="zh-CN" sz="1600" b="1" baseline="30000" dirty="0"/>
              <a:t>20</a:t>
            </a:r>
            <a:r>
              <a:rPr lang="en-US" altLang="zh-CN" sz="1600" b="1" dirty="0"/>
              <a:t>=1M</a:t>
            </a:r>
            <a:r>
              <a:rPr lang="zh-CN" altLang="en-US" sz="1600" b="1" dirty="0"/>
              <a:t>）</a:t>
            </a:r>
            <a:endParaRPr lang="en-US" altLang="zh-CN" sz="1600" b="1" dirty="0"/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因此，</a:t>
            </a:r>
            <a:r>
              <a:rPr lang="zh-CN" altLang="en-US" sz="1600" b="1" dirty="0">
                <a:solidFill>
                  <a:srgbClr val="C00000"/>
                </a:solidFill>
              </a:rPr>
              <a:t>标记</a:t>
            </a:r>
            <a:r>
              <a:rPr lang="en-US" altLang="zh-CN" sz="1600" b="1" dirty="0">
                <a:solidFill>
                  <a:srgbClr val="C00000"/>
                </a:solidFill>
              </a:rPr>
              <a:t>tag=20-3-5=12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b="1" dirty="0"/>
              <a:t>物理地址（主存地址）</a:t>
            </a:r>
            <a:r>
              <a:rPr lang="en-US" altLang="zh-CN" sz="1600" b="1" dirty="0"/>
              <a:t>=</a:t>
            </a:r>
            <a:r>
              <a:rPr lang="zh-CN" altLang="en-US" sz="1600" b="1" dirty="0"/>
              <a:t>标记</a:t>
            </a:r>
            <a:r>
              <a:rPr lang="en-US" altLang="zh-CN" sz="1600" b="1" dirty="0"/>
              <a:t>tag + </a:t>
            </a:r>
            <a:r>
              <a:rPr lang="zh-CN" altLang="en-US" sz="1600" b="1" dirty="0"/>
              <a:t>行索引字段</a:t>
            </a:r>
            <a:r>
              <a:rPr lang="en-US" altLang="zh-CN" sz="1600" b="1" dirty="0"/>
              <a:t>index + </a:t>
            </a:r>
            <a:r>
              <a:rPr lang="zh-CN" altLang="en-US" sz="1600" b="1" dirty="0"/>
              <a:t>块内偏移</a:t>
            </a:r>
            <a:r>
              <a:rPr lang="en-US" altLang="zh-CN" sz="1600" b="1" dirty="0"/>
              <a:t>offset = </a:t>
            </a:r>
            <a:r>
              <a:rPr lang="en-US" altLang="zh-CN" sz="1600" b="1" dirty="0">
                <a:solidFill>
                  <a:srgbClr val="C00000"/>
                </a:solidFill>
              </a:rPr>
              <a:t>12</a:t>
            </a:r>
            <a:r>
              <a:rPr lang="zh-CN" altLang="en-US" sz="1600" b="1" dirty="0">
                <a:solidFill>
                  <a:srgbClr val="C00000"/>
                </a:solidFill>
              </a:rPr>
              <a:t>位 </a:t>
            </a:r>
            <a:r>
              <a:rPr lang="en-US" altLang="zh-CN" sz="1600" b="1" dirty="0">
                <a:solidFill>
                  <a:srgbClr val="C00000"/>
                </a:solidFill>
              </a:rPr>
              <a:t>+ 3</a:t>
            </a:r>
            <a:r>
              <a:rPr lang="zh-CN" altLang="en-US" sz="1600" b="1" dirty="0">
                <a:solidFill>
                  <a:srgbClr val="C00000"/>
                </a:solidFill>
              </a:rPr>
              <a:t>位 </a:t>
            </a:r>
            <a:r>
              <a:rPr lang="en-US" altLang="zh-CN" sz="1600" b="1" dirty="0">
                <a:solidFill>
                  <a:srgbClr val="C00000"/>
                </a:solidFill>
              </a:rPr>
              <a:t>+ 5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endParaRPr lang="en-US" altLang="zh-CN" sz="1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347807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0648"/>
            <a:ext cx="8229600" cy="63367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例</a:t>
            </a:r>
            <a:r>
              <a:rPr lang="en-US" altLang="zh-CN" sz="1400" b="1" dirty="0">
                <a:solidFill>
                  <a:srgbClr val="C00000"/>
                </a:solidFill>
              </a:rPr>
              <a:t>4.7</a:t>
            </a:r>
            <a:r>
              <a:rPr lang="zh-CN" altLang="en-US" sz="1400" b="1" dirty="0"/>
              <a:t>：某计算机存储器按字节编址，虚拟（逻辑）地址空间大小为</a:t>
            </a:r>
            <a:r>
              <a:rPr lang="en-US" altLang="zh-CN" sz="1400" b="1" dirty="0"/>
              <a:t>16MB</a:t>
            </a:r>
            <a:r>
              <a:rPr lang="zh-CN" altLang="en-US" sz="1400" b="1" dirty="0"/>
              <a:t>，主存（物理）地址空间大小为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采用直接相联映射方式，共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行；主存与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之间交换块大小为</a:t>
            </a:r>
            <a:r>
              <a:rPr lang="en-US" altLang="zh-CN" sz="1400" b="1" dirty="0"/>
              <a:t>32B</a:t>
            </a:r>
            <a:r>
              <a:rPr lang="zh-CN" altLang="en-US" sz="1400" b="1" dirty="0"/>
              <a:t>。系统运行到某一时刻时，页表的部分内容和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的部分内容分别如下图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），图中页框号及标记字段的内容均为十六进制形式。请回答以下问题：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3</a:t>
            </a:r>
            <a:r>
              <a:rPr lang="zh-CN" altLang="en-US" sz="1400" b="1" dirty="0">
                <a:solidFill>
                  <a:srgbClr val="C00000"/>
                </a:solidFill>
              </a:rPr>
              <a:t>）虚拟地址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001C60H</a:t>
            </a:r>
            <a:r>
              <a:rPr lang="zh-CN" altLang="en-US" sz="1400" b="1" dirty="0">
                <a:solidFill>
                  <a:srgbClr val="C00000"/>
                </a:solidFill>
              </a:rPr>
              <a:t>所在的页面是否在主存中？若在主存中，则该虚拟地址对应的物理地址是什么？访问该地址时</a:t>
            </a:r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是否命中？请说明理由。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endParaRPr lang="en-US" altLang="zh-CN" sz="14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800" b="1" dirty="0"/>
              <a:t>解：</a:t>
            </a:r>
            <a:r>
              <a:rPr lang="zh-CN" altLang="en-US" sz="1600" b="1" dirty="0"/>
              <a:t>（</a:t>
            </a:r>
            <a:r>
              <a:rPr lang="en-US" altLang="zh-CN" sz="1600" b="1" dirty="0"/>
              <a:t>3</a:t>
            </a:r>
            <a:r>
              <a:rPr lang="zh-CN" altLang="en-US" sz="1600" b="1" dirty="0"/>
              <a:t>）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虚拟地址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虚页号</a:t>
            </a:r>
            <a:r>
              <a:rPr lang="en-US" altLang="zh-CN" sz="1400" b="1" dirty="0"/>
              <a:t>+</a:t>
            </a:r>
            <a:r>
              <a:rPr lang="zh-CN" altLang="en-US" sz="1400" b="1" dirty="0"/>
              <a:t>页偏移 </a:t>
            </a:r>
            <a:r>
              <a:rPr lang="en-US" altLang="zh-CN" sz="1400" b="1" dirty="0"/>
              <a:t>= 12</a:t>
            </a:r>
            <a:r>
              <a:rPr lang="zh-CN" altLang="en-US" sz="1400" b="1" dirty="0"/>
              <a:t>位 </a:t>
            </a:r>
            <a:r>
              <a:rPr lang="en-US" altLang="zh-CN" sz="1400" b="1" dirty="0"/>
              <a:t>+ 12</a:t>
            </a:r>
            <a:r>
              <a:rPr lang="zh-CN" altLang="en-US" sz="1400" b="1" dirty="0"/>
              <a:t>位；虚拟地址</a:t>
            </a:r>
            <a:r>
              <a:rPr lang="en-US" altLang="zh-CN" sz="1400" b="1" dirty="0"/>
              <a:t>001C60H = 001H + C60H</a:t>
            </a:r>
            <a:r>
              <a:rPr lang="zh-CN" altLang="en-US" sz="1400" b="1" dirty="0"/>
              <a:t>；虚页号</a:t>
            </a:r>
            <a:r>
              <a:rPr lang="en-US" altLang="zh-CN" sz="1400" b="1" dirty="0"/>
              <a:t>=001</a:t>
            </a:r>
            <a:r>
              <a:rPr lang="en-US" altLang="zh-CN" sz="1400" b="1" dirty="0">
                <a:solidFill>
                  <a:srgbClr val="C00000"/>
                </a:solidFill>
              </a:rPr>
              <a:t>=1</a:t>
            </a:r>
            <a:r>
              <a:rPr lang="zh-CN" altLang="en-US" sz="1400" b="1" dirty="0"/>
              <a:t>，查页表（图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）），有效位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/>
              <a:t>，表示</a:t>
            </a:r>
            <a:r>
              <a:rPr lang="zh-CN" altLang="en-US" sz="1400" b="1" dirty="0">
                <a:solidFill>
                  <a:srgbClr val="C00000"/>
                </a:solidFill>
              </a:rPr>
              <a:t>命中</a:t>
            </a:r>
            <a:r>
              <a:rPr lang="zh-CN" altLang="en-US" sz="1400" b="1" dirty="0"/>
              <a:t>，即虚拟地址</a:t>
            </a:r>
            <a:r>
              <a:rPr lang="en-US" altLang="zh-CN" sz="1400" b="1" dirty="0"/>
              <a:t>001C60H</a:t>
            </a:r>
            <a:r>
              <a:rPr lang="zh-CN" altLang="en-US" sz="1400" b="1" dirty="0"/>
              <a:t>所在的</a:t>
            </a:r>
            <a:r>
              <a:rPr lang="zh-CN" altLang="en-US" sz="1400" b="1" dirty="0">
                <a:solidFill>
                  <a:srgbClr val="C00000"/>
                </a:solidFill>
              </a:rPr>
              <a:t>页面在主存中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由图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），该虚拟地址其对应的页框号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04</a:t>
            </a:r>
            <a:r>
              <a:rPr lang="zh-CN" altLang="en-US" sz="1400" b="1" dirty="0"/>
              <a:t>；因此，</a:t>
            </a:r>
            <a:r>
              <a:rPr lang="zh-CN" altLang="en-US" sz="1400" b="1" dirty="0">
                <a:solidFill>
                  <a:srgbClr val="C00000"/>
                </a:solidFill>
              </a:rPr>
              <a:t>物理地址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实页号（页框号）</a:t>
            </a:r>
            <a:r>
              <a:rPr lang="en-US" altLang="zh-CN" sz="1400" b="1" dirty="0"/>
              <a:t>+</a:t>
            </a:r>
            <a:r>
              <a:rPr lang="zh-CN" altLang="en-US" sz="1400" b="1" dirty="0"/>
              <a:t>页偏移</a:t>
            </a:r>
            <a:r>
              <a:rPr lang="en-US" altLang="zh-CN" sz="1400" b="1" dirty="0"/>
              <a:t>=04 + C60H = </a:t>
            </a:r>
            <a:r>
              <a:rPr lang="en-US" altLang="zh-CN" sz="1400" b="1" dirty="0">
                <a:solidFill>
                  <a:srgbClr val="C00000"/>
                </a:solidFill>
              </a:rPr>
              <a:t>04C60H</a:t>
            </a: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又根据：物理地址（主存地址）</a:t>
            </a:r>
            <a:r>
              <a:rPr lang="en-US" altLang="zh-CN" sz="1400" b="1" dirty="0"/>
              <a:t>=</a:t>
            </a:r>
            <a:r>
              <a:rPr lang="zh-CN" altLang="en-US" sz="1400" b="1" dirty="0"/>
              <a:t>标记</a:t>
            </a:r>
            <a:r>
              <a:rPr lang="en-US" altLang="zh-CN" sz="1400" b="1" dirty="0"/>
              <a:t>tag + </a:t>
            </a:r>
            <a:r>
              <a:rPr lang="zh-CN" altLang="en-US" sz="1400" b="1" dirty="0"/>
              <a:t>行索引字段</a:t>
            </a:r>
            <a:r>
              <a:rPr lang="en-US" altLang="zh-CN" sz="1400" b="1" dirty="0"/>
              <a:t>index + </a:t>
            </a:r>
            <a:r>
              <a:rPr lang="zh-CN" altLang="en-US" sz="1400" b="1" dirty="0"/>
              <a:t>块内偏移</a:t>
            </a:r>
            <a:r>
              <a:rPr lang="en-US" altLang="zh-CN" sz="1400" b="1" dirty="0"/>
              <a:t>offset=12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+3</a:t>
            </a:r>
            <a:r>
              <a:rPr lang="zh-CN" altLang="en-US" sz="1400" b="1" dirty="0"/>
              <a:t>位</a:t>
            </a:r>
            <a:r>
              <a:rPr lang="en-US" altLang="zh-CN" sz="1400" b="1" dirty="0"/>
              <a:t>+5</a:t>
            </a:r>
            <a:r>
              <a:rPr lang="zh-CN" altLang="en-US" sz="1400" b="1" dirty="0"/>
              <a:t>位</a:t>
            </a:r>
            <a:endParaRPr lang="en-US" altLang="zh-CN" sz="1400" b="1" dirty="0"/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物理地址（主存地址）</a:t>
            </a:r>
            <a:r>
              <a:rPr lang="en-US" altLang="zh-CN" sz="1400" b="1" dirty="0"/>
              <a:t>=04C60H = </a:t>
            </a:r>
            <a:r>
              <a:rPr lang="en-US" altLang="zh-CN" sz="1400" b="1" dirty="0">
                <a:solidFill>
                  <a:srgbClr val="00B050"/>
                </a:solidFill>
              </a:rPr>
              <a:t>0000 0100 1100</a:t>
            </a:r>
            <a:r>
              <a:rPr lang="en-US" altLang="zh-CN" sz="1400" b="1" dirty="0"/>
              <a:t> </a:t>
            </a:r>
            <a:r>
              <a:rPr lang="en-US" altLang="zh-CN" sz="1400" b="1" dirty="0">
                <a:solidFill>
                  <a:srgbClr val="7030A0"/>
                </a:solidFill>
              </a:rPr>
              <a:t>011</a:t>
            </a:r>
            <a:r>
              <a:rPr lang="en-US" altLang="zh-CN" sz="1400" b="1" dirty="0">
                <a:solidFill>
                  <a:srgbClr val="00B0F0"/>
                </a:solidFill>
              </a:rPr>
              <a:t>0 0000</a:t>
            </a:r>
            <a:r>
              <a:rPr lang="en-US" altLang="zh-CN" sz="1400" b="1" dirty="0"/>
              <a:t> = 04C + 3 + 0</a:t>
            </a:r>
            <a:r>
              <a:rPr lang="zh-CN" altLang="en-US" sz="1400" b="1" dirty="0"/>
              <a:t>；标记</a:t>
            </a:r>
            <a:r>
              <a:rPr lang="en-US" altLang="zh-CN" sz="1400" b="1" dirty="0"/>
              <a:t>=04C</a:t>
            </a:r>
            <a:r>
              <a:rPr lang="zh-CN" altLang="en-US" sz="1400" b="1" dirty="0"/>
              <a:t>，行索引字段</a:t>
            </a:r>
            <a:r>
              <a:rPr lang="en-US" altLang="zh-CN" sz="1400" b="1" dirty="0"/>
              <a:t>=011=3</a:t>
            </a:r>
          </a:p>
          <a:p>
            <a:pPr lvl="1">
              <a:lnSpc>
                <a:spcPct val="150000"/>
              </a:lnSpc>
            </a:pPr>
            <a:r>
              <a:rPr lang="zh-CN" altLang="en-US" sz="1400" b="1" dirty="0"/>
              <a:t>根据行索引字段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3</a:t>
            </a:r>
            <a:r>
              <a:rPr lang="zh-CN" altLang="en-US" sz="1400" b="1" dirty="0"/>
              <a:t>，查图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），有效位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</a:t>
            </a:r>
            <a:r>
              <a:rPr lang="zh-CN" altLang="en-US" sz="1400" b="1" dirty="0"/>
              <a:t>，但是标记</a:t>
            </a:r>
            <a:r>
              <a:rPr lang="en-US" altLang="zh-CN" sz="1400" b="1" dirty="0"/>
              <a:t>=</a:t>
            </a:r>
            <a:r>
              <a:rPr lang="en-US" altLang="zh-CN" sz="1400" b="1" dirty="0">
                <a:solidFill>
                  <a:srgbClr val="C00000"/>
                </a:solidFill>
              </a:rPr>
              <a:t>105</a:t>
            </a:r>
            <a:r>
              <a:rPr lang="zh-CN" altLang="en-US" sz="1400" b="1" dirty="0"/>
              <a:t>，与主存地址的标记</a:t>
            </a:r>
            <a:r>
              <a:rPr lang="en-US" altLang="zh-CN" sz="1400" b="1" dirty="0"/>
              <a:t>04C</a:t>
            </a:r>
            <a:r>
              <a:rPr lang="zh-CN" altLang="en-US" sz="1400" b="1" dirty="0"/>
              <a:t>，不相等，表示</a:t>
            </a:r>
            <a:r>
              <a:rPr lang="en-US" altLang="zh-CN" sz="1400" b="1" dirty="0">
                <a:solidFill>
                  <a:srgbClr val="C00000"/>
                </a:solidFill>
              </a:rPr>
              <a:t>cache</a:t>
            </a:r>
            <a:r>
              <a:rPr lang="zh-CN" altLang="en-US" sz="1400" b="1" dirty="0">
                <a:solidFill>
                  <a:srgbClr val="C00000"/>
                </a:solidFill>
              </a:rPr>
              <a:t>不命中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endParaRPr lang="en-US" altLang="zh-CN" sz="1600" b="1" dirty="0"/>
          </a:p>
          <a:p>
            <a:pPr lvl="1">
              <a:lnSpc>
                <a:spcPct val="150000"/>
              </a:lnSpc>
            </a:pPr>
            <a:endParaRPr lang="en-US" altLang="zh-CN" sz="1600" b="1" dirty="0"/>
          </a:p>
          <a:p>
            <a:pPr lvl="1">
              <a:lnSpc>
                <a:spcPct val="150000"/>
              </a:lnSpc>
            </a:pPr>
            <a:endParaRPr lang="en-US" altLang="zh-CN" sz="16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27EE80-40F3-4090-94A9-D0AA9B765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247" y="1935729"/>
            <a:ext cx="1292291" cy="158440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1798E70-9A5F-4209-934A-5FCAA04BB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264" y="1982846"/>
            <a:ext cx="1266040" cy="149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702114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E4C480-8E92-4EB0-9C90-F081062B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2228"/>
            <a:ext cx="8229600" cy="47929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例</a:t>
            </a:r>
            <a:r>
              <a:rPr lang="en-US" altLang="zh-CN" sz="1400" b="1" dirty="0">
                <a:solidFill>
                  <a:srgbClr val="C00000"/>
                </a:solidFill>
              </a:rPr>
              <a:t>4.7</a:t>
            </a:r>
            <a:r>
              <a:rPr lang="zh-CN" altLang="en-US" sz="1400" b="1" dirty="0"/>
              <a:t>：某计算机存储器按字节编址，虚拟（逻辑）地址空间大小为</a:t>
            </a:r>
            <a:r>
              <a:rPr lang="en-US" altLang="zh-CN" sz="1400" b="1" dirty="0"/>
              <a:t>16MB</a:t>
            </a:r>
            <a:r>
              <a:rPr lang="zh-CN" altLang="en-US" sz="1400" b="1" dirty="0"/>
              <a:t>，主存（物理）地址空间大小为</a:t>
            </a:r>
            <a:r>
              <a:rPr lang="en-US" altLang="zh-CN" sz="1400" b="1" dirty="0"/>
              <a:t>1MB</a:t>
            </a:r>
            <a:r>
              <a:rPr lang="zh-CN" altLang="en-US" sz="1400" b="1" dirty="0"/>
              <a:t>，页面大小为</a:t>
            </a:r>
            <a:r>
              <a:rPr lang="en-US" altLang="zh-CN" sz="1400" b="1" dirty="0"/>
              <a:t>4KB</a:t>
            </a:r>
            <a:r>
              <a:rPr lang="zh-CN" altLang="en-US" sz="1400" b="1" dirty="0"/>
              <a:t>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采用直接相联映射方式，共</a:t>
            </a:r>
            <a:r>
              <a:rPr lang="en-US" altLang="zh-CN" sz="1400" b="1" dirty="0"/>
              <a:t>8</a:t>
            </a:r>
            <a:r>
              <a:rPr lang="zh-CN" altLang="en-US" sz="1400" b="1" dirty="0"/>
              <a:t>行；主存与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之间交换块大小为</a:t>
            </a:r>
            <a:r>
              <a:rPr lang="en-US" altLang="zh-CN" sz="1400" b="1" dirty="0"/>
              <a:t>32B</a:t>
            </a:r>
            <a:r>
              <a:rPr lang="zh-CN" altLang="en-US" sz="1400" b="1" dirty="0"/>
              <a:t>。系统运行到某一时刻时，页表的部分内容和</a:t>
            </a:r>
            <a:r>
              <a:rPr lang="en-US" altLang="zh-CN" sz="1400" b="1" dirty="0"/>
              <a:t>cache</a:t>
            </a:r>
            <a:r>
              <a:rPr lang="zh-CN" altLang="en-US" sz="1400" b="1" dirty="0"/>
              <a:t>的部分内容分别如下图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a</a:t>
            </a:r>
            <a:r>
              <a:rPr lang="zh-CN" altLang="en-US" sz="1400" b="1" dirty="0"/>
              <a:t>）、图</a:t>
            </a:r>
            <a:r>
              <a:rPr lang="en-US" altLang="zh-CN" sz="1400" b="1" dirty="0"/>
              <a:t>4.56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b</a:t>
            </a:r>
            <a:r>
              <a:rPr lang="zh-CN" altLang="en-US" sz="1400" b="1" dirty="0"/>
              <a:t>），图中页框号及标记字段的内容均为十六进制形式。请回答以下问题：</a:t>
            </a:r>
            <a:endParaRPr lang="en-US" altLang="zh-CN" sz="1400" b="1" dirty="0"/>
          </a:p>
          <a:p>
            <a:pPr>
              <a:lnSpc>
                <a:spcPct val="150000"/>
              </a:lnSpc>
            </a:pP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4</a:t>
            </a:r>
            <a:r>
              <a:rPr lang="zh-CN" altLang="en-US" sz="1400" b="1" dirty="0">
                <a:solidFill>
                  <a:srgbClr val="C00000"/>
                </a:solidFill>
              </a:rPr>
              <a:t>）假设为该计算机配置一个四路组相联的</a:t>
            </a:r>
            <a:r>
              <a:rPr lang="en-US" altLang="zh-CN" sz="1400" b="1" dirty="0">
                <a:solidFill>
                  <a:srgbClr val="C00000"/>
                </a:solidFill>
              </a:rPr>
              <a:t>TLB</a:t>
            </a:r>
            <a:r>
              <a:rPr lang="zh-CN" altLang="en-US" sz="1400" b="1" dirty="0">
                <a:solidFill>
                  <a:srgbClr val="C00000"/>
                </a:solidFill>
              </a:rPr>
              <a:t>（可存放</a:t>
            </a:r>
            <a:r>
              <a:rPr lang="en-US" altLang="zh-CN" sz="1400" b="1" dirty="0">
                <a:solidFill>
                  <a:srgbClr val="C00000"/>
                </a:solidFill>
              </a:rPr>
              <a:t>8</a:t>
            </a:r>
            <a:r>
              <a:rPr lang="zh-CN" altLang="en-US" sz="1400" b="1" dirty="0">
                <a:solidFill>
                  <a:srgbClr val="C00000"/>
                </a:solidFill>
              </a:rPr>
              <a:t>个页表项），若其当前内容如图</a:t>
            </a:r>
            <a:r>
              <a:rPr lang="en-US" altLang="zh-CN" sz="1400" b="1" dirty="0">
                <a:solidFill>
                  <a:srgbClr val="C00000"/>
                </a:solidFill>
              </a:rPr>
              <a:t>4.56</a:t>
            </a:r>
            <a:r>
              <a:rPr lang="zh-CN" altLang="en-US" sz="1400" b="1" dirty="0">
                <a:solidFill>
                  <a:srgbClr val="C00000"/>
                </a:solidFill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</a:rPr>
              <a:t>c</a:t>
            </a:r>
            <a:r>
              <a:rPr lang="zh-CN" altLang="en-US" sz="1400" b="1" dirty="0">
                <a:solidFill>
                  <a:srgbClr val="C00000"/>
                </a:solidFill>
              </a:rPr>
              <a:t>）所示（十六进制），则此时虚拟地址</a:t>
            </a:r>
            <a:r>
              <a:rPr lang="en-US" altLang="zh-CN" sz="1400" b="1" dirty="0">
                <a:solidFill>
                  <a:srgbClr val="C00000"/>
                </a:solidFill>
              </a:rPr>
              <a:t>024BACH</a:t>
            </a:r>
            <a:r>
              <a:rPr lang="zh-CN" altLang="en-US" sz="1400" b="1" dirty="0">
                <a:solidFill>
                  <a:srgbClr val="C00000"/>
                </a:solidFill>
              </a:rPr>
              <a:t>所在的页面是否存在于主存中？请说明理由。</a:t>
            </a:r>
            <a:endParaRPr lang="en-US" altLang="zh-CN" sz="1400" b="1" dirty="0">
              <a:solidFill>
                <a:srgbClr val="C00000"/>
              </a:solidFill>
            </a:endParaRPr>
          </a:p>
          <a:p>
            <a:endParaRPr lang="en-US" altLang="zh-CN" sz="1400" b="1" dirty="0"/>
          </a:p>
          <a:p>
            <a:r>
              <a:rPr lang="zh-CN" altLang="en-US" sz="1600" b="1" dirty="0"/>
              <a:t>解：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4</a:t>
            </a:r>
            <a:r>
              <a:rPr lang="zh-CN" altLang="en-US" sz="1400" b="1" dirty="0"/>
              <a:t>）</a:t>
            </a:r>
            <a:endParaRPr lang="en-US" altLang="zh-CN" sz="1200" b="1" dirty="0"/>
          </a:p>
          <a:p>
            <a:pPr lvl="1"/>
            <a:r>
              <a:rPr lang="zh-CN" altLang="en-US" sz="1200" b="1" dirty="0"/>
              <a:t>组相联映射的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，虚拟地址（</a:t>
            </a:r>
            <a:r>
              <a:rPr lang="en-US" altLang="zh-CN" sz="1200" b="1" dirty="0"/>
              <a:t>24</a:t>
            </a:r>
            <a:r>
              <a:rPr lang="zh-CN" altLang="en-US" sz="1200" b="1" dirty="0"/>
              <a:t>位）</a:t>
            </a:r>
            <a:r>
              <a:rPr lang="en-US" altLang="zh-CN" sz="1200" b="1" dirty="0"/>
              <a:t>=</a:t>
            </a:r>
            <a:r>
              <a:rPr lang="zh-CN" altLang="en-US" sz="1200" b="1" dirty="0"/>
              <a:t>虚页号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 </a:t>
            </a:r>
            <a:r>
              <a:rPr lang="en-US" altLang="zh-CN" sz="1200" b="1" dirty="0"/>
              <a:t>= TLB</a:t>
            </a:r>
            <a:r>
              <a:rPr lang="zh-CN" altLang="en-US" sz="1200" b="1" dirty="0"/>
              <a:t>标记 </a:t>
            </a:r>
            <a:r>
              <a:rPr lang="en-US" altLang="zh-CN" sz="1200" b="1" dirty="0"/>
              <a:t>+ TLB</a:t>
            </a:r>
            <a:r>
              <a:rPr lang="zh-CN" altLang="en-US" sz="1200" b="1" dirty="0"/>
              <a:t>索引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因为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只有</a:t>
            </a:r>
            <a:r>
              <a:rPr lang="en-US" altLang="zh-CN" sz="1200" b="1" dirty="0"/>
              <a:t>8</a:t>
            </a:r>
            <a:r>
              <a:rPr lang="zh-CN" altLang="en-US" sz="1200" b="1" dirty="0"/>
              <a:t>个页表项，四路组相联映射的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有</a:t>
            </a:r>
            <a:r>
              <a:rPr lang="en-US" altLang="zh-CN" sz="1200" b="1" dirty="0"/>
              <a:t>2</a:t>
            </a:r>
            <a:r>
              <a:rPr lang="zh-CN" altLang="en-US" sz="1200" b="1" dirty="0"/>
              <a:t>组、每组</a:t>
            </a:r>
            <a:r>
              <a:rPr lang="en-US" altLang="zh-CN" sz="1200" b="1" dirty="0"/>
              <a:t>4</a:t>
            </a:r>
            <a:r>
              <a:rPr lang="zh-CN" altLang="en-US" sz="1200" b="1" dirty="0"/>
              <a:t>行，即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索引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位（</a:t>
            </a:r>
            <a:r>
              <a:rPr lang="en-US" altLang="zh-CN" sz="1200" b="1" dirty="0"/>
              <a:t>2</a:t>
            </a:r>
            <a:r>
              <a:rPr lang="en-US" altLang="zh-CN" sz="1200" b="1" baseline="30000" dirty="0"/>
              <a:t>1</a:t>
            </a:r>
            <a:r>
              <a:rPr lang="en-US" altLang="zh-CN" sz="1200" b="1" dirty="0"/>
              <a:t>=2</a:t>
            </a:r>
            <a:r>
              <a:rPr lang="zh-CN" altLang="en-US" sz="1200" b="1" dirty="0"/>
              <a:t>）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页偏移</a:t>
            </a:r>
            <a:r>
              <a:rPr lang="en-US" altLang="zh-CN" sz="1200" b="1" dirty="0"/>
              <a:t>=12</a:t>
            </a:r>
            <a:r>
              <a:rPr lang="zh-CN" altLang="en-US" sz="1200" b="1" dirty="0"/>
              <a:t>位，因此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标记</a:t>
            </a:r>
            <a:r>
              <a:rPr lang="en-US" altLang="zh-CN" sz="1200" b="1" dirty="0"/>
              <a:t>=24-1-12=11</a:t>
            </a:r>
            <a:r>
              <a:rPr lang="zh-CN" altLang="en-US" sz="1200" b="1" dirty="0"/>
              <a:t>位</a:t>
            </a:r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虚拟地址</a:t>
            </a:r>
            <a:r>
              <a:rPr lang="en-US" altLang="zh-CN" sz="1200" b="1" dirty="0"/>
              <a:t>=024BACH= </a:t>
            </a:r>
            <a:r>
              <a:rPr lang="en-US" altLang="zh-CN" sz="1200" b="1" dirty="0">
                <a:solidFill>
                  <a:srgbClr val="00B050"/>
                </a:solidFill>
              </a:rPr>
              <a:t>0000 0010 010</a:t>
            </a:r>
            <a:r>
              <a:rPr lang="en-US" altLang="zh-CN" sz="1200" b="1" dirty="0">
                <a:solidFill>
                  <a:srgbClr val="C00000"/>
                </a:solidFill>
              </a:rPr>
              <a:t>0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solidFill>
                  <a:srgbClr val="7030A0"/>
                </a:solidFill>
              </a:rPr>
              <a:t>1011 1010 1100</a:t>
            </a:r>
            <a:r>
              <a:rPr lang="en-US" altLang="zh-CN" sz="1200" b="1" dirty="0"/>
              <a:t> = TLB</a:t>
            </a:r>
            <a:r>
              <a:rPr lang="zh-CN" altLang="en-US" sz="1200" b="1" dirty="0"/>
              <a:t>标记 </a:t>
            </a:r>
            <a:r>
              <a:rPr lang="en-US" altLang="zh-CN" sz="1200" b="1" dirty="0"/>
              <a:t>+ TLB</a:t>
            </a:r>
            <a:r>
              <a:rPr lang="zh-CN" altLang="en-US" sz="1200" b="1" dirty="0"/>
              <a:t>索引 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</a:t>
            </a:r>
            <a:r>
              <a:rPr lang="en-US" altLang="zh-CN" sz="1200" b="1" dirty="0"/>
              <a:t>=12H + 0 + BACH</a:t>
            </a:r>
          </a:p>
          <a:p>
            <a:pPr lvl="1"/>
            <a:endParaRPr lang="en-US" altLang="zh-CN" sz="1200" b="1" dirty="0"/>
          </a:p>
          <a:p>
            <a:pPr lvl="1"/>
            <a:r>
              <a:rPr lang="zh-CN" altLang="en-US" sz="1200" b="1" dirty="0"/>
              <a:t>即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索引</a:t>
            </a:r>
            <a:r>
              <a:rPr lang="en-US" altLang="zh-CN" sz="1200" b="1" dirty="0"/>
              <a:t>=0</a:t>
            </a:r>
            <a:r>
              <a:rPr lang="zh-CN" altLang="en-US" sz="1200" b="1" dirty="0"/>
              <a:t>，表示是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的</a:t>
            </a:r>
            <a:r>
              <a:rPr lang="zh-CN" altLang="en-US" sz="1200" b="1" dirty="0">
                <a:solidFill>
                  <a:srgbClr val="C00000"/>
                </a:solidFill>
              </a:rPr>
              <a:t>第</a:t>
            </a:r>
            <a:r>
              <a:rPr lang="en-US" altLang="zh-CN" sz="1200" b="1" dirty="0">
                <a:solidFill>
                  <a:srgbClr val="C00000"/>
                </a:solidFill>
              </a:rPr>
              <a:t>0</a:t>
            </a:r>
            <a:r>
              <a:rPr lang="zh-CN" altLang="en-US" sz="1200" b="1" dirty="0">
                <a:solidFill>
                  <a:srgbClr val="C00000"/>
                </a:solidFill>
              </a:rPr>
              <a:t>组</a:t>
            </a:r>
            <a:r>
              <a:rPr lang="zh-CN" altLang="en-US" sz="1200" b="1" dirty="0"/>
              <a:t>；</a:t>
            </a:r>
            <a:r>
              <a:rPr lang="en-US" altLang="zh-CN" sz="1200" b="1" dirty="0"/>
              <a:t>TLB</a:t>
            </a:r>
            <a:r>
              <a:rPr lang="zh-CN" altLang="en-US" sz="1200" b="1" dirty="0"/>
              <a:t>标记</a:t>
            </a:r>
            <a:r>
              <a:rPr lang="en-US" altLang="zh-CN" sz="1200" b="1" dirty="0"/>
              <a:t>=0000 0010 010=</a:t>
            </a:r>
            <a:r>
              <a:rPr lang="en-US" altLang="zh-CN" sz="1200" b="1" dirty="0">
                <a:solidFill>
                  <a:srgbClr val="C00000"/>
                </a:solidFill>
              </a:rPr>
              <a:t>012H</a:t>
            </a:r>
            <a:r>
              <a:rPr lang="zh-CN" altLang="en-US" sz="1200" b="1" dirty="0"/>
              <a:t>，查图</a:t>
            </a:r>
            <a:r>
              <a:rPr lang="en-US" altLang="zh-CN" sz="1200" b="1" dirty="0"/>
              <a:t>4.56</a:t>
            </a:r>
            <a:r>
              <a:rPr lang="zh-CN" altLang="en-US" sz="1200" b="1" dirty="0"/>
              <a:t>（</a:t>
            </a:r>
            <a:r>
              <a:rPr lang="en-US" altLang="zh-CN" sz="1200" b="1" dirty="0"/>
              <a:t>c</a:t>
            </a:r>
            <a:r>
              <a:rPr lang="zh-CN" altLang="en-US" sz="1200" b="1" dirty="0"/>
              <a:t>），有效位</a:t>
            </a:r>
            <a:r>
              <a:rPr lang="en-US" altLang="zh-CN" sz="1200" b="1" dirty="0"/>
              <a:t>=1</a:t>
            </a:r>
            <a:r>
              <a:rPr lang="zh-CN" altLang="en-US" sz="1200" b="1" dirty="0"/>
              <a:t>，表示</a:t>
            </a:r>
            <a:r>
              <a:rPr lang="zh-CN" altLang="en-US" sz="1200" b="1" dirty="0">
                <a:solidFill>
                  <a:srgbClr val="C00000"/>
                </a:solidFill>
              </a:rPr>
              <a:t>页面在主存中</a:t>
            </a:r>
            <a:r>
              <a:rPr lang="zh-CN" altLang="en-US" sz="1200" b="1" dirty="0"/>
              <a:t>；页框号</a:t>
            </a:r>
            <a:r>
              <a:rPr lang="en-US" altLang="zh-CN" sz="1200" b="1" dirty="0"/>
              <a:t>=1FH</a:t>
            </a:r>
            <a:r>
              <a:rPr lang="zh-CN" altLang="en-US" sz="1200" b="1" dirty="0"/>
              <a:t>，则</a:t>
            </a:r>
            <a:r>
              <a:rPr lang="zh-CN" altLang="en-US" sz="1200" b="1" dirty="0">
                <a:solidFill>
                  <a:srgbClr val="C00000"/>
                </a:solidFill>
              </a:rPr>
              <a:t>主存地址（物理地址）</a:t>
            </a:r>
            <a:r>
              <a:rPr lang="en-US" altLang="zh-CN" sz="1200" b="1" dirty="0"/>
              <a:t>= </a:t>
            </a:r>
            <a:r>
              <a:rPr lang="zh-CN" altLang="en-US" sz="1200" b="1" dirty="0"/>
              <a:t>实页号（页框号）</a:t>
            </a:r>
            <a:r>
              <a:rPr lang="en-US" altLang="zh-CN" sz="1200" b="1" dirty="0"/>
              <a:t>+ </a:t>
            </a:r>
            <a:r>
              <a:rPr lang="zh-CN" altLang="en-US" sz="1200" b="1" dirty="0"/>
              <a:t>页偏移 </a:t>
            </a:r>
            <a:r>
              <a:rPr lang="en-US" altLang="zh-CN" sz="1200" b="1" dirty="0"/>
              <a:t>= 1FH + BACH = </a:t>
            </a:r>
            <a:r>
              <a:rPr lang="en-US" altLang="zh-CN" sz="1200" b="1" dirty="0">
                <a:solidFill>
                  <a:srgbClr val="C00000"/>
                </a:solidFill>
              </a:rPr>
              <a:t>1FBACH</a:t>
            </a:r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200" b="1" dirty="0"/>
          </a:p>
          <a:p>
            <a:pPr lvl="1"/>
            <a:endParaRPr lang="en-US" altLang="zh-CN" sz="1400" b="1" dirty="0"/>
          </a:p>
          <a:p>
            <a:pPr lvl="1"/>
            <a:endParaRPr lang="en-US" altLang="zh-CN" sz="1400" b="1" dirty="0">
              <a:solidFill>
                <a:srgbClr val="FF0000"/>
              </a:solidFill>
            </a:endParaRPr>
          </a:p>
          <a:p>
            <a:pPr lvl="1"/>
            <a:endParaRPr lang="zh-CN" altLang="en-US" sz="900" b="1" dirty="0">
              <a:solidFill>
                <a:srgbClr val="FF000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4E2BC4-A581-412A-992E-F7964407E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5301208"/>
            <a:ext cx="6331864" cy="1450672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BBB80258-9E57-4C1A-9B67-AFC01861DDBE}"/>
              </a:ext>
            </a:extLst>
          </p:cNvPr>
          <p:cNvCxnSpPr>
            <a:cxnSpLocks/>
          </p:cNvCxnSpPr>
          <p:nvPr/>
        </p:nvCxnSpPr>
        <p:spPr>
          <a:xfrm flipH="1">
            <a:off x="1830524" y="4848910"/>
            <a:ext cx="1373324" cy="9923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7D0798E-389F-4A2A-AAD3-C348031E7C0E}"/>
              </a:ext>
            </a:extLst>
          </p:cNvPr>
          <p:cNvCxnSpPr>
            <a:cxnSpLocks/>
          </p:cNvCxnSpPr>
          <p:nvPr/>
        </p:nvCxnSpPr>
        <p:spPr>
          <a:xfrm>
            <a:off x="5796136" y="4848910"/>
            <a:ext cx="1368152" cy="10283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936719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>
            <a:extLst>
              <a:ext uri="{FF2B5EF4-FFF2-40B4-BE49-F238E27FC236}">
                <a16:creationId xmlns:a16="http://schemas.microsoft.com/office/drawing/2014/main" id="{B1D2DD5F-843A-4E6B-858E-7C35BEAFBA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实践训练（实验</a:t>
            </a:r>
            <a:r>
              <a:rPr lang="en-US" altLang="zh-CN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D2ADA7-487E-47EE-B37D-A2AF88667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</a:t>
            </a:r>
            <a:r>
              <a:rPr lang="en-US" altLang="zh-CN" sz="1800" b="1" dirty="0"/>
              <a:t>ROM</a:t>
            </a:r>
            <a:r>
              <a:rPr lang="zh-CN" altLang="en-US" sz="1800" b="1" dirty="0"/>
              <a:t>组件构建能显示</a:t>
            </a:r>
            <a:r>
              <a:rPr lang="en-US" altLang="zh-CN" sz="1800" b="1" dirty="0"/>
              <a:t>16X16</a:t>
            </a:r>
            <a:r>
              <a:rPr lang="zh-CN" altLang="en-US" sz="1800" b="1" dirty="0"/>
              <a:t>点阵的汉字字库存储系统</a:t>
            </a:r>
            <a:endParaRPr lang="en-US" altLang="zh-CN" sz="1800" b="1" dirty="0"/>
          </a:p>
          <a:p>
            <a:pPr>
              <a:defRPr/>
            </a:pPr>
            <a:endParaRPr lang="en-US" altLang="zh-CN" sz="1800" b="1" dirty="0"/>
          </a:p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</a:t>
            </a:r>
            <a:r>
              <a:rPr lang="en-US" altLang="zh-CN" sz="1800" b="1" dirty="0"/>
              <a:t>RAM</a:t>
            </a:r>
            <a:r>
              <a:rPr lang="zh-CN" altLang="en-US" sz="1800" b="1" dirty="0"/>
              <a:t>组件构建能同时支持</a:t>
            </a:r>
            <a:r>
              <a:rPr lang="en-US" altLang="zh-CN" sz="1800" b="1" dirty="0"/>
              <a:t>8</a:t>
            </a:r>
            <a:r>
              <a:rPr lang="zh-CN" altLang="en-US" sz="1800" b="1" dirty="0"/>
              <a:t>位、</a:t>
            </a:r>
            <a:r>
              <a:rPr lang="en-US" altLang="zh-CN" sz="1800" b="1" dirty="0"/>
              <a:t>16</a:t>
            </a:r>
            <a:r>
              <a:rPr lang="zh-CN" altLang="en-US" sz="1800" b="1" dirty="0"/>
              <a:t>位、</a:t>
            </a:r>
            <a:r>
              <a:rPr lang="en-US" altLang="zh-CN" sz="1800" b="1" dirty="0"/>
              <a:t>32</a:t>
            </a:r>
            <a:r>
              <a:rPr lang="zh-CN" altLang="en-US" sz="1800" b="1" dirty="0"/>
              <a:t>位数据访问的存储器</a:t>
            </a:r>
            <a:endParaRPr lang="en-US" altLang="zh-CN" sz="1800" b="1" dirty="0"/>
          </a:p>
          <a:p>
            <a:pPr>
              <a:defRPr/>
            </a:pPr>
            <a:endParaRPr lang="en-US" altLang="zh-CN" sz="1800" b="1" dirty="0"/>
          </a:p>
          <a:p>
            <a:pPr>
              <a:defRPr/>
            </a:pPr>
            <a:r>
              <a:rPr lang="zh-CN" altLang="en-US" sz="1800" b="1" dirty="0"/>
              <a:t>在</a:t>
            </a:r>
            <a:r>
              <a:rPr lang="en-US" altLang="zh-CN" sz="1800" b="1" dirty="0"/>
              <a:t>Logisim</a:t>
            </a:r>
            <a:r>
              <a:rPr lang="zh-CN" altLang="en-US" sz="1800" b="1" dirty="0"/>
              <a:t>中利用给定的</a:t>
            </a:r>
            <a:r>
              <a:rPr lang="en-US" altLang="zh-CN" sz="1800" b="1" dirty="0"/>
              <a:t>cache</a:t>
            </a:r>
            <a:r>
              <a:rPr lang="zh-CN" altLang="en-US" sz="1800" b="1" dirty="0"/>
              <a:t>框架分别设计直接相联、全相联、组相联映射</a:t>
            </a:r>
            <a:r>
              <a:rPr lang="en-US" altLang="zh-CN" sz="1800" b="1" dirty="0"/>
              <a:t>cache</a:t>
            </a:r>
            <a:endParaRPr lang="zh-CN" altLang="en-US" sz="1500" b="1" dirty="0"/>
          </a:p>
        </p:txBody>
      </p:sp>
    </p:spTree>
    <p:extLst>
      <p:ext uri="{BB962C8B-B14F-4D97-AF65-F5344CB8AC3E}">
        <p14:creationId xmlns:p14="http://schemas.microsoft.com/office/powerpoint/2010/main" val="2010940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64667</TotalTime>
  <Words>38835</Words>
  <Application>Microsoft Office PowerPoint</Application>
  <PresentationFormat>全屏显示(4:3)</PresentationFormat>
  <Paragraphs>7008</Paragraphs>
  <Slides>215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215</vt:i4>
      </vt:variant>
    </vt:vector>
  </HeadingPairs>
  <TitlesOfParts>
    <vt:vector size="228" baseType="lpstr">
      <vt:lpstr>-apple-system</vt:lpstr>
      <vt:lpstr>PingFang SC</vt:lpstr>
      <vt:lpstr>等线</vt:lpstr>
      <vt:lpstr>黑体</vt:lpstr>
      <vt:lpstr>宋体</vt:lpstr>
      <vt:lpstr>Arial</vt:lpstr>
      <vt:lpstr>Calibri</vt:lpstr>
      <vt:lpstr>Cambria Math</vt:lpstr>
      <vt:lpstr>Courier New</vt:lpstr>
      <vt:lpstr>Tahoma</vt:lpstr>
      <vt:lpstr>Times New Roman</vt:lpstr>
      <vt:lpstr>Wingdings</vt:lpstr>
      <vt:lpstr>Office 主题</vt:lpstr>
      <vt:lpstr>《计算机组成原理》 （第四讲）</vt:lpstr>
      <vt:lpstr>目录</vt:lpstr>
      <vt:lpstr>第4章    存储系统</vt:lpstr>
      <vt:lpstr>4.1    存储器概述</vt:lpstr>
      <vt:lpstr>4.1.1　存储器分类</vt:lpstr>
      <vt:lpstr>4.1.1　存储器分类</vt:lpstr>
      <vt:lpstr>4.1.2　存储器技术指标</vt:lpstr>
      <vt:lpstr>4.1.2　存储器技术指标</vt:lpstr>
      <vt:lpstr>4.1.3　存储系统层次结构</vt:lpstr>
      <vt:lpstr>4.1.4　主存的基本结构</vt:lpstr>
      <vt:lpstr>4.1.5　主存中数据的存放</vt:lpstr>
      <vt:lpstr>4.1.5　主存中数据的存放</vt:lpstr>
      <vt:lpstr>4.1.5　主存中数据的存放</vt:lpstr>
      <vt:lpstr>4.1.5　主存中数据的存放</vt:lpstr>
      <vt:lpstr>4.1.5　主存中数据的存放</vt:lpstr>
      <vt:lpstr>4.2    半导体存储器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4.2.1　静态MOS存储器</vt:lpstr>
      <vt:lpstr>4.2.2　动态MOS存储器</vt:lpstr>
      <vt:lpstr>4.2.2　动态MOS存储器</vt:lpstr>
      <vt:lpstr>再生放大电路与刷新电路</vt:lpstr>
      <vt:lpstr>4.2.2　动态MOS存储器</vt:lpstr>
      <vt:lpstr>4.2.2　动态MOS存储器</vt:lpstr>
      <vt:lpstr>4.2.2　动态MOS存储器</vt:lpstr>
      <vt:lpstr>PowerPoint 演示文稿</vt:lpstr>
      <vt:lpstr>4.2.2　动态MOS存储器</vt:lpstr>
      <vt:lpstr>PowerPoint 演示文稿</vt:lpstr>
      <vt:lpstr>PowerPoint 演示文稿</vt:lpstr>
      <vt:lpstr>4.2.3　只读存储器</vt:lpstr>
      <vt:lpstr>4.2.3　只读存储器</vt:lpstr>
      <vt:lpstr>4.2.3　只读存储器</vt:lpstr>
      <vt:lpstr>4.2.3　只读存储器</vt:lpstr>
      <vt:lpstr>PowerPoint 演示文稿</vt:lpstr>
      <vt:lpstr>4.2.3　只读存储器</vt:lpstr>
      <vt:lpstr>4.2.3　只读存储器</vt:lpstr>
      <vt:lpstr>PowerPoint 演示文稿</vt:lpstr>
      <vt:lpstr>4.2.4　DRAM的发展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4.2.4　DRAM的发展</vt:lpstr>
      <vt:lpstr>PowerPoint 演示文稿</vt:lpstr>
      <vt:lpstr>PowerPoint 演示文稿</vt:lpstr>
      <vt:lpstr>4.2.4　DRAM的发展</vt:lpstr>
      <vt:lpstr>PowerPoint 演示文稿</vt:lpstr>
      <vt:lpstr>参考资料</vt:lpstr>
      <vt:lpstr>内存最新技术发展</vt:lpstr>
      <vt:lpstr>内存最新技术发展</vt:lpstr>
      <vt:lpstr>内存最新技术发展</vt:lpstr>
      <vt:lpstr>4.3  主存的组织及与CPU 的连接</vt:lpstr>
      <vt:lpstr>4.3.2　存储器的扩展</vt:lpstr>
      <vt:lpstr>4.3.2　存储器的扩展</vt:lpstr>
      <vt:lpstr>4.3.2　存储器的扩展</vt:lpstr>
      <vt:lpstr>4.3.2　存储器的扩展</vt:lpstr>
      <vt:lpstr>4.3.2　存储器的扩展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4.4    并行主存系统</vt:lpstr>
      <vt:lpstr>比对：单体多字存储器与多体交叉存储器</vt:lpstr>
      <vt:lpstr>4.5    高速缓冲存储器</vt:lpstr>
      <vt:lpstr>4.5.2　程序局部性</vt:lpstr>
      <vt:lpstr>4.5.2　程序局部性</vt:lpstr>
      <vt:lpstr>4.5.3　cache的基本概念</vt:lpstr>
      <vt:lpstr>4.5.3　cache的基本概念</vt:lpstr>
      <vt:lpstr>Cache优化策略</vt:lpstr>
      <vt:lpstr>4.5.4　cache读、写流程与关键技术</vt:lpstr>
      <vt:lpstr>PowerPoint 演示文稿</vt:lpstr>
      <vt:lpstr>4.5.4　cache读、写流程与关键技术</vt:lpstr>
      <vt:lpstr>PowerPoint 演示文稿</vt:lpstr>
      <vt:lpstr>4.5.4　cache读、写流程与关键技术</vt:lpstr>
      <vt:lpstr>PowerPoint 演示文稿</vt:lpstr>
      <vt:lpstr>PowerPoint 演示文稿</vt:lpstr>
      <vt:lpstr>PowerPoint 演示文稿</vt:lpstr>
      <vt:lpstr>写策略与写分配</vt:lpstr>
      <vt:lpstr>4.5.4　cache读、写流程与关键技术</vt:lpstr>
      <vt:lpstr>4.5.5　相联存储器</vt:lpstr>
      <vt:lpstr>4.5.5　相联存储器</vt:lpstr>
      <vt:lpstr>4.5.6　地址映射</vt:lpstr>
      <vt:lpstr>4.5.6　地址映射</vt:lpstr>
      <vt:lpstr>4.5.6　地址映射</vt:lpstr>
      <vt:lpstr>4.5.6　地址映射</vt:lpstr>
      <vt:lpstr>4.5.6　地址映射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4.5.6　地址映射</vt:lpstr>
      <vt:lpstr>4.5.6　地址映射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4.5.7　替换算法</vt:lpstr>
      <vt:lpstr>4.5.7　替换算法</vt:lpstr>
      <vt:lpstr>4.5.7　替换算法</vt:lpstr>
      <vt:lpstr>4.5.7　替换算法</vt:lpstr>
      <vt:lpstr>4.5.7　替换算法</vt:lpstr>
      <vt:lpstr>4.5.7　替换算法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4.5.9　cache应用</vt:lpstr>
      <vt:lpstr>4.5.9　cache应用</vt:lpstr>
      <vt:lpstr>4.5.9　cache应用</vt:lpstr>
      <vt:lpstr>4.6    虚拟存储器</vt:lpstr>
      <vt:lpstr>4.6.1　虚拟存储器的工作原理</vt:lpstr>
      <vt:lpstr>4.6.1　虚拟存储器的工作原理</vt:lpstr>
      <vt:lpstr>4.6.2　虚拟存储器的地址映射与变换</vt:lpstr>
      <vt:lpstr>4.6.3　页式虚拟存储器</vt:lpstr>
      <vt:lpstr>4.6.3　页式虚拟存储器</vt:lpstr>
      <vt:lpstr>4.6.3　页式虚拟存储器</vt:lpstr>
      <vt:lpstr>4.6.3　页式虚拟存储器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实践训练（实验3）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《嵌入式系统》 （第一讲）</dc:title>
  <dc:creator>apple</dc:creator>
  <cp:lastModifiedBy>Lenovo</cp:lastModifiedBy>
  <cp:revision>827</cp:revision>
  <dcterms:created xsi:type="dcterms:W3CDTF">2018-06-12T02:23:51Z</dcterms:created>
  <dcterms:modified xsi:type="dcterms:W3CDTF">2026-04-28T11:10:12Z</dcterms:modified>
</cp:coreProperties>
</file>