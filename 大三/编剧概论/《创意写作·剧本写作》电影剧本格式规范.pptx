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502" r:id="rId2"/>
    <p:sldId id="680" r:id="rId3"/>
    <p:sldId id="681" r:id="rId4"/>
    <p:sldId id="682" r:id="rId5"/>
    <p:sldId id="683" r:id="rId6"/>
    <p:sldId id="684" r:id="rId7"/>
    <p:sldId id="685" r:id="rId8"/>
    <p:sldId id="686" r:id="rId9"/>
    <p:sldId id="687" r:id="rId10"/>
    <p:sldId id="688" r:id="rId11"/>
    <p:sldId id="689" r:id="rId12"/>
    <p:sldId id="690" r:id="rId13"/>
    <p:sldId id="691" r:id="rId14"/>
    <p:sldId id="693" r:id="rId15"/>
    <p:sldId id="694" r:id="rId16"/>
    <p:sldId id="695" r:id="rId17"/>
    <p:sldId id="696" r:id="rId18"/>
    <p:sldId id="697" r:id="rId19"/>
    <p:sldId id="698" r:id="rId20"/>
    <p:sldId id="699" r:id="rId21"/>
    <p:sldId id="700" r:id="rId22"/>
    <p:sldId id="702" r:id="rId23"/>
    <p:sldId id="703" r:id="rId24"/>
    <p:sldId id="705" r:id="rId25"/>
    <p:sldId id="706" r:id="rId26"/>
  </p:sldIdLst>
  <p:sldSz cx="12192000" cy="6858000"/>
  <p:notesSz cx="6807200" cy="99393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4">
          <p15:clr>
            <a:srgbClr val="A4A3A4"/>
          </p15:clr>
        </p15:guide>
        <p15:guide id="2" pos="3888">
          <p15:clr>
            <a:srgbClr val="A4A3A4"/>
          </p15:clr>
        </p15:guide>
        <p15:guide id="3" orient="horz" pos="232">
          <p15:clr>
            <a:srgbClr val="A4A3A4"/>
          </p15:clr>
        </p15:guide>
        <p15:guide id="4" pos="255">
          <p15:clr>
            <a:srgbClr val="A4A3A4"/>
          </p15:clr>
        </p15:guide>
        <p15:guide id="5" pos="73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D7422A"/>
    <a:srgbClr val="0000FF"/>
    <a:srgbClr val="DD442B"/>
    <a:srgbClr val="FFFFFF"/>
    <a:srgbClr val="D8422A"/>
    <a:srgbClr val="E84C22"/>
    <a:srgbClr val="F0B9B0"/>
    <a:srgbClr val="F1947A"/>
    <a:srgbClr val="EEC8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785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293" y="238"/>
      </p:cViewPr>
      <p:guideLst>
        <p:guide orient="horz" pos="2084"/>
        <p:guide pos="3888"/>
        <p:guide orient="horz" pos="232"/>
        <p:guide pos="255"/>
        <p:guide pos="73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1ECB86-27E8-49B8-8C01-8AEB3EA7FCA4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9ADC42-6DA7-480B-8731-5F1CC93274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4267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zh-CN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727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D98A4-695F-4B48-95E5-853BA05E07D6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F147-5A32-4FB8-A850-36B8B0C9C018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 bwMode="auto">
          <a:xfrm>
            <a:off x="6031580" y="0"/>
            <a:ext cx="6160420" cy="770389"/>
            <a:chOff x="5000628" y="214290"/>
            <a:chExt cx="3970722" cy="660159"/>
          </a:xfrm>
        </p:grpSpPr>
        <p:pic>
          <p:nvPicPr>
            <p:cNvPr id="8" name="Picture 1"/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8502" y="216002"/>
              <a:ext cx="792848" cy="658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2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00628" y="214290"/>
              <a:ext cx="801466" cy="660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3"/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4222" y="219075"/>
              <a:ext cx="792128" cy="655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5" descr="E:\My Documents\My Pictures\厦门大学图片库\厦大风光\柳垂芙蓉.bmp"/>
            <p:cNvPicPr>
              <a:picLocks noChangeAspect="1" noChangeArrowheads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86351" y="216002"/>
              <a:ext cx="792151" cy="658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Picture 6" descr="E:\My Documents\My Pictures\厦门大学图片库\厦大风光\嘉庚铜像.jpg"/>
            <p:cNvPicPr>
              <a:picLocks noChangeAspect="1" noChangeArrowheads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02094" y="216002"/>
              <a:ext cx="792128" cy="658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66162"/>
            <a:ext cx="1539941" cy="153994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D98A4-695F-4B48-95E5-853BA05E07D6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F147-5A32-4FB8-A850-36B8B0C9C018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 bwMode="auto">
          <a:xfrm>
            <a:off x="6031580" y="0"/>
            <a:ext cx="6160420" cy="770389"/>
            <a:chOff x="5000628" y="214290"/>
            <a:chExt cx="3970722" cy="660159"/>
          </a:xfrm>
        </p:grpSpPr>
        <p:pic>
          <p:nvPicPr>
            <p:cNvPr id="8" name="Picture 1"/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8502" y="216002"/>
              <a:ext cx="792848" cy="658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2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00628" y="214290"/>
              <a:ext cx="801466" cy="660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3"/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4222" y="219075"/>
              <a:ext cx="792128" cy="655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5" descr="E:\My Documents\My Pictures\厦门大学图片库\厦大风光\柳垂芙蓉.bmp"/>
            <p:cNvPicPr>
              <a:picLocks noChangeAspect="1" noChangeArrowheads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86351" y="216002"/>
              <a:ext cx="792151" cy="658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Picture 6" descr="E:\My Documents\My Pictures\厦门大学图片库\厦大风光\嘉庚铜像.jpg"/>
            <p:cNvPicPr>
              <a:picLocks noChangeAspect="1" noChangeArrowheads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02094" y="216002"/>
              <a:ext cx="792128" cy="658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66162"/>
            <a:ext cx="1539941" cy="153994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D98A4-695F-4B48-95E5-853BA05E07D6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F147-5A32-4FB8-A850-36B8B0C9C01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D98A4-695F-4B48-95E5-853BA05E07D6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F147-5A32-4FB8-A850-36B8B0C9C01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D98A4-695F-4B48-95E5-853BA05E07D6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F147-5A32-4FB8-A850-36B8B0C9C01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0326_文广会展物料(转曲)-14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-20840" y="0"/>
            <a:ext cx="121708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D98A4-695F-4B48-95E5-853BA05E07D6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F147-5A32-4FB8-A850-36B8B0C9C01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D98A4-695F-4B48-95E5-853BA05E07D6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F147-5A32-4FB8-A850-36B8B0C9C01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D98A4-695F-4B48-95E5-853BA05E07D6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F147-5A32-4FB8-A850-36B8B0C9C01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D98A4-695F-4B48-95E5-853BA05E07D6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F147-5A32-4FB8-A850-36B8B0C9C01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D98A4-695F-4B48-95E5-853BA05E07D6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F147-5A32-4FB8-A850-36B8B0C9C01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D98A4-695F-4B48-95E5-853BA05E07D6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F147-5A32-4FB8-A850-36B8B0C9C01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800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372255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549275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773239"/>
            <a:ext cx="10972800" cy="4352925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8589903"/>
      </p:ext>
    </p:extLst>
  </p:cSld>
  <p:clrMapOvr>
    <a:masterClrMapping/>
  </p:clrMapOvr>
  <p:transition spd="med"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D98A4-695F-4B48-95E5-853BA05E07D6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F7F147-5A32-4FB8-A850-36B8B0C9C01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4294967295"/>
          </p:nvPr>
        </p:nvSpPr>
        <p:spPr>
          <a:xfrm>
            <a:off x="1614572" y="2180024"/>
            <a:ext cx="9242404" cy="1355655"/>
          </a:xfrm>
        </p:spPr>
        <p:txBody>
          <a:bodyPr rtlCol="0">
            <a:noAutofit/>
          </a:bodyPr>
          <a:lstStyle/>
          <a:p>
            <a:pPr marL="0" indent="0" algn="ctr">
              <a:buNone/>
            </a:pPr>
            <a:r>
              <a:rPr lang="zh-CN" altLang="en-US" sz="6000" dirty="0">
                <a:solidFill>
                  <a:schemeClr val="accent4">
                    <a:lumMod val="60000"/>
                    <a:lumOff val="40000"/>
                  </a:schemeClr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电影剧本的样式与格式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3079306" y="782170"/>
            <a:ext cx="7460677" cy="801624"/>
          </a:xfrm>
        </p:spPr>
        <p:txBody>
          <a:bodyPr>
            <a:normAutofit fontScale="90000"/>
          </a:bodyPr>
          <a:lstStyle/>
          <a:p>
            <a:pPr algn="r"/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>
                <a:solidFill>
                  <a:schemeClr val="accent4">
                    <a:lumMod val="60000"/>
                    <a:lumOff val="4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《</a:t>
            </a:r>
            <a:r>
              <a:rPr lang="zh-CN" alt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创意写作</a:t>
            </a:r>
            <a:r>
              <a:rPr lang="en-US" altLang="zh-CN" dirty="0">
                <a:solidFill>
                  <a:schemeClr val="accent4">
                    <a:lumMod val="60000"/>
                    <a:lumOff val="4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·</a:t>
            </a:r>
            <a:r>
              <a:rPr lang="zh-CN" alt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剧本写作</a:t>
            </a:r>
            <a:r>
              <a:rPr lang="en-US" altLang="zh-CN" dirty="0">
                <a:solidFill>
                  <a:schemeClr val="accent4">
                    <a:lumMod val="60000"/>
                    <a:lumOff val="4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》</a:t>
            </a:r>
            <a:br>
              <a:rPr lang="zh-CN" alt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</a:br>
            <a:br>
              <a:rPr lang="en-US" altLang="zh-CN" dirty="0"/>
            </a:br>
            <a:endParaRPr lang="zh-CN" altLang="en-US" sz="4400" dirty="0">
              <a:solidFill>
                <a:schemeClr val="accent4">
                  <a:lumMod val="60000"/>
                  <a:lumOff val="4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17" y="393138"/>
            <a:ext cx="1931837" cy="1249788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262128" y="393138"/>
            <a:ext cx="11585448" cy="6205728"/>
            <a:chOff x="-1872053" y="-19051"/>
            <a:chExt cx="14129368" cy="7150764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86" r="12156" b="37144"/>
            <a:stretch>
              <a:fillRect/>
            </a:stretch>
          </p:blipFill>
          <p:spPr>
            <a:xfrm>
              <a:off x="-1120878" y="4202882"/>
              <a:ext cx="13303046" cy="2928831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52251" y="5255614"/>
              <a:ext cx="12309566" cy="1843540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2634" r="37155"/>
            <a:stretch>
              <a:fillRect/>
            </a:stretch>
          </p:blipFill>
          <p:spPr>
            <a:xfrm>
              <a:off x="9325200" y="-19051"/>
              <a:ext cx="2885850" cy="2852239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9492328">
              <a:off x="-1872053" y="1199221"/>
              <a:ext cx="3744106" cy="3452158"/>
            </a:xfrm>
            <a:prstGeom prst="rect">
              <a:avLst/>
            </a:prstGeom>
          </p:spPr>
        </p:pic>
      </p:grpSp>
      <p:sp>
        <p:nvSpPr>
          <p:cNvPr id="14" name="文本框 13"/>
          <p:cNvSpPr txBox="1"/>
          <p:nvPr/>
        </p:nvSpPr>
        <p:spPr>
          <a:xfrm>
            <a:off x="7022592" y="4285488"/>
            <a:ext cx="44317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accent4">
                    <a:lumMod val="60000"/>
                    <a:lumOff val="4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厦门大学   王晓红</a:t>
            </a:r>
          </a:p>
        </p:txBody>
      </p:sp>
    </p:spTree>
    <p:extLst>
      <p:ext uri="{BB962C8B-B14F-4D97-AF65-F5344CB8AC3E}">
        <p14:creationId xmlns:p14="http://schemas.microsoft.com/office/powerpoint/2010/main" val="4101061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1472499" y="268014"/>
            <a:ext cx="4370202" cy="595936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ea typeface="宋体" panose="02010600030101010101" pitchFamily="2" charset="-122"/>
              </a:rPr>
              <a:t>剧本格式的常见种类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一</a:t>
            </a:r>
            <a:r>
              <a:rPr lang="en-US" altLang="zh-CN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.</a:t>
            </a:r>
            <a:r>
              <a:rPr lang="zh-CN" altLang="en-US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分场景格式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二</a:t>
            </a:r>
            <a:r>
              <a:rPr lang="en-US" altLang="zh-CN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.</a:t>
            </a:r>
            <a:r>
              <a:rPr lang="zh-CN" altLang="en-US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小说格式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三</a:t>
            </a:r>
            <a:r>
              <a:rPr lang="en-US" altLang="zh-CN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.</a:t>
            </a:r>
            <a:r>
              <a:rPr lang="zh-CN" altLang="en-US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分镜头格式</a:t>
            </a:r>
          </a:p>
        </p:txBody>
      </p:sp>
    </p:spTree>
    <p:extLst>
      <p:ext uri="{BB962C8B-B14F-4D97-AF65-F5344CB8AC3E}">
        <p14:creationId xmlns:p14="http://schemas.microsoft.com/office/powerpoint/2010/main" val="619983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分场景格式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ea typeface="宋体" panose="02010600030101010101" pitchFamily="2" charset="-122"/>
              </a:rPr>
              <a:t>场景是剧情发展的构成单位。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ea typeface="宋体" panose="02010600030101010101" pitchFamily="2" charset="-122"/>
              </a:rPr>
              <a:t>“一个场景即是一个缩微故事</a:t>
            </a:r>
            <a:r>
              <a:rPr lang="en-US" altLang="zh-CN" sz="2400" dirty="0">
                <a:ea typeface="宋体" panose="02010600030101010101" pitchFamily="2" charset="-122"/>
              </a:rPr>
              <a:t>——</a:t>
            </a:r>
            <a:r>
              <a:rPr lang="zh-CN" altLang="en-US" sz="2400" dirty="0">
                <a:ea typeface="宋体" panose="02010600030101010101" pitchFamily="2" charset="-122"/>
              </a:rPr>
              <a:t>在一个统一或连续的时空中通过冲突而表现出来的、改变人物生活中负载着价值的情境的一个动作。”</a:t>
            </a:r>
          </a:p>
          <a:p>
            <a:pPr algn="r">
              <a:lnSpc>
                <a:spcPct val="150000"/>
              </a:lnSpc>
              <a:buFontTx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               ——</a:t>
            </a:r>
            <a:r>
              <a:rPr lang="zh-CN" altLang="en-US" sz="2400" dirty="0">
                <a:ea typeface="宋体" panose="02010600030101010101" pitchFamily="2" charset="-122"/>
              </a:rPr>
              <a:t>罗伯特</a:t>
            </a:r>
            <a:r>
              <a:rPr lang="en-US" altLang="zh-CN" sz="2400" dirty="0">
                <a:ea typeface="宋体" panose="02010600030101010101" pitchFamily="2" charset="-122"/>
              </a:rPr>
              <a:t>·</a:t>
            </a:r>
            <a:r>
              <a:rPr lang="zh-CN" altLang="en-US" sz="2400" dirty="0">
                <a:ea typeface="宋体" panose="02010600030101010101" pitchFamily="2" charset="-122"/>
              </a:rPr>
              <a:t>麦基</a:t>
            </a:r>
            <a:r>
              <a:rPr lang="en-US" altLang="zh-CN" sz="2400" dirty="0">
                <a:ea typeface="宋体" panose="02010600030101010101" pitchFamily="2" charset="-122"/>
              </a:rPr>
              <a:t>《</a:t>
            </a:r>
            <a:r>
              <a:rPr lang="zh-CN" altLang="en-US" sz="2400" dirty="0">
                <a:ea typeface="宋体" panose="02010600030101010101" pitchFamily="2" charset="-122"/>
              </a:rPr>
              <a:t>故事</a:t>
            </a:r>
            <a:r>
              <a:rPr lang="en-US" altLang="zh-CN" sz="2400" dirty="0">
                <a:ea typeface="宋体" panose="02010600030101010101" pitchFamily="2" charset="-122"/>
              </a:rPr>
              <a:t>——</a:t>
            </a:r>
            <a:r>
              <a:rPr lang="zh-CN" altLang="en-US" sz="2400" dirty="0">
                <a:ea typeface="宋体" panose="02010600030101010101" pitchFamily="2" charset="-122"/>
              </a:rPr>
              <a:t>材质、结构、风格和银幕剧作的远离</a:t>
            </a:r>
            <a:r>
              <a:rPr lang="en-US" altLang="zh-CN" sz="2400" dirty="0">
                <a:ea typeface="宋体" panose="02010600030101010101" pitchFamily="2" charset="-122"/>
              </a:rPr>
              <a:t>》</a:t>
            </a:r>
          </a:p>
        </p:txBody>
      </p:sp>
    </p:spTree>
    <p:extLst>
      <p:ext uri="{BB962C8B-B14F-4D97-AF65-F5344CB8AC3E}">
        <p14:creationId xmlns:p14="http://schemas.microsoft.com/office/powerpoint/2010/main" val="1849129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ea typeface="宋体" panose="02010600030101010101" pitchFamily="2" charset="-122"/>
              </a:rPr>
              <a:t>场景的存在离不开时间和空间两个要素，其中任何一个要素发生变化，场景便发生变化。场景的长度不限，可以短到只有一个镜头，也可以长到十几或几十个镜头。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ea typeface="宋体" panose="02010600030101010101" pitchFamily="2" charset="-122"/>
              </a:rPr>
              <a:t>镜头：摄影机从开机到关机所拍摄下来的一段连续的画面，或两个剪接点之间的片段，也被称为一个镜头。镜头是构成整部影片的基本单位，若干个镜头构成一个段落或场景（场面），若干个段落或场面则构成一部完整的影片，镜头是叙事和表意的基础。</a:t>
            </a:r>
          </a:p>
          <a:p>
            <a:pPr>
              <a:lnSpc>
                <a:spcPct val="150000"/>
              </a:lnSpc>
            </a:pPr>
            <a:endParaRPr lang="zh-CN" altLang="en-US" dirty="0"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ea typeface="宋体" panose="02010600030101010101" pitchFamily="2" charset="-122"/>
              </a:rPr>
              <a:t>姜文</a:t>
            </a:r>
            <a:r>
              <a:rPr lang="en-US" altLang="zh-CN" dirty="0">
                <a:ea typeface="宋体" panose="02010600030101010101" pitchFamily="2" charset="-122"/>
              </a:rPr>
              <a:t>《</a:t>
            </a:r>
            <a:r>
              <a:rPr lang="zh-CN" altLang="en-US" dirty="0">
                <a:ea typeface="宋体" panose="02010600030101010101" pitchFamily="2" charset="-122"/>
              </a:rPr>
              <a:t>让子弹飞</a:t>
            </a:r>
            <a:r>
              <a:rPr lang="en-US" altLang="zh-CN" dirty="0">
                <a:ea typeface="宋体" panose="02010600030101010101" pitchFamily="2" charset="-122"/>
              </a:rPr>
              <a:t>》</a:t>
            </a:r>
            <a:r>
              <a:rPr lang="zh-CN" altLang="en-US" dirty="0">
                <a:ea typeface="宋体" panose="02010600030101010101" pitchFamily="2" charset="-122"/>
              </a:rPr>
              <a:t>分场景剧本</a:t>
            </a:r>
          </a:p>
        </p:txBody>
      </p:sp>
    </p:spTree>
    <p:extLst>
      <p:ext uri="{BB962C8B-B14F-4D97-AF65-F5344CB8AC3E}">
        <p14:creationId xmlns:p14="http://schemas.microsoft.com/office/powerpoint/2010/main" val="260370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1721069" y="352796"/>
            <a:ext cx="4786937" cy="656481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ea typeface="宋体" panose="02010600030101010101" pitchFamily="2" charset="-122"/>
              </a:rPr>
              <a:t>场景与镜头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ea typeface="宋体" panose="02010600030101010101" pitchFamily="2" charset="-122"/>
              </a:rPr>
              <a:t>场景是由镜头组成的。可以是单个镜头，也可以是一组镜头。</a:t>
            </a:r>
          </a:p>
          <a:p>
            <a:pPr>
              <a:lnSpc>
                <a:spcPct val="150000"/>
              </a:lnSpc>
            </a:pPr>
            <a:endParaRPr lang="zh-CN" altLang="en-US" sz="2400" dirty="0"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ea typeface="宋体" panose="02010600030101010101" pitchFamily="2" charset="-122"/>
              </a:rPr>
              <a:t>例如：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ea typeface="宋体" panose="02010600030101010101" pitchFamily="2" charset="-122"/>
              </a:rPr>
              <a:t>太阳从山后升起。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ea typeface="宋体" panose="02010600030101010101" pitchFamily="2" charset="-122"/>
              </a:rPr>
              <a:t>老人打开抽屉，双手颤抖地拿出一封信。</a:t>
            </a:r>
          </a:p>
          <a:p>
            <a:endParaRPr lang="en-US" altLang="zh-CN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3999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831952" y="365126"/>
            <a:ext cx="9521847" cy="889810"/>
          </a:xfr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分场景剧本内容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sz="2400" dirty="0">
                <a:ea typeface="宋体" panose="02010600030101010101" pitchFamily="2" charset="-122"/>
              </a:rPr>
              <a:t>场景标题</a:t>
            </a:r>
          </a:p>
          <a:p>
            <a:pPr>
              <a:lnSpc>
                <a:spcPct val="200000"/>
              </a:lnSpc>
            </a:pPr>
            <a:endParaRPr lang="zh-CN" altLang="en-US" sz="2400" dirty="0"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dirty="0">
                <a:ea typeface="宋体" panose="02010600030101010101" pitchFamily="2" charset="-122"/>
              </a:rPr>
              <a:t>动作段落（场景设计、介绍人物等）</a:t>
            </a:r>
          </a:p>
          <a:p>
            <a:pPr>
              <a:lnSpc>
                <a:spcPct val="200000"/>
              </a:lnSpc>
            </a:pPr>
            <a:r>
              <a:rPr lang="zh-CN" altLang="en-US" sz="2400" dirty="0">
                <a:ea typeface="宋体" panose="02010600030101010101" pitchFamily="2" charset="-122"/>
              </a:rPr>
              <a:t>人物对话</a:t>
            </a:r>
          </a:p>
          <a:p>
            <a:endParaRPr lang="zh-CN" altLang="en-US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0324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919536" y="476672"/>
            <a:ext cx="3105545" cy="528344"/>
          </a:xfrm>
        </p:spPr>
        <p:txBody>
          <a:bodyPr>
            <a:noAutofit/>
          </a:bodyPr>
          <a:lstStyle/>
          <a:p>
            <a:r>
              <a:rPr lang="zh-CN" altLang="en-US" sz="36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场景标题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0259" y="1252960"/>
            <a:ext cx="9424088" cy="532083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b="1" dirty="0">
                <a:ea typeface="宋体" panose="02010600030101010101" pitchFamily="2" charset="-122"/>
              </a:rPr>
              <a:t>场景标题，也被称为嵌入条，即一个场景的简介。包括：</a:t>
            </a:r>
          </a:p>
          <a:p>
            <a:pPr>
              <a:lnSpc>
                <a:spcPct val="150000"/>
              </a:lnSpc>
            </a:pPr>
            <a:r>
              <a:rPr lang="zh-CN" altLang="en-US" sz="1800" b="1" dirty="0">
                <a:ea typeface="宋体" panose="02010600030101010101" pitchFamily="2" charset="-122"/>
              </a:rPr>
              <a:t>序号：</a:t>
            </a:r>
            <a:r>
              <a:rPr lang="en-US" altLang="zh-CN" sz="1800" b="1" dirty="0">
                <a:ea typeface="宋体" panose="02010600030101010101" pitchFamily="2" charset="-122"/>
              </a:rPr>
              <a:t>1 2 3……</a:t>
            </a:r>
          </a:p>
          <a:p>
            <a:pPr>
              <a:lnSpc>
                <a:spcPct val="150000"/>
              </a:lnSpc>
            </a:pPr>
            <a:r>
              <a:rPr lang="zh-CN" altLang="en-US" sz="1800" b="1" dirty="0">
                <a:ea typeface="宋体" panose="02010600030101010101" pitchFamily="2" charset="-122"/>
              </a:rPr>
              <a:t>地点：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1800" b="1" dirty="0">
                <a:ea typeface="宋体" panose="02010600030101010101" pitchFamily="2" charset="-122"/>
              </a:rPr>
              <a:t>具体地点：客厅、街道、超市、河边、树林等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zh-CN" altLang="en-US" sz="1800" b="1" dirty="0">
                <a:ea typeface="宋体" panose="02010600030101010101" pitchFamily="2" charset="-122"/>
              </a:rPr>
              <a:t>大致地点：内</a:t>
            </a:r>
            <a:r>
              <a:rPr lang="en-US" altLang="zh-CN" sz="1800" b="1" dirty="0">
                <a:ea typeface="宋体" panose="02010600030101010101" pitchFamily="2" charset="-122"/>
              </a:rPr>
              <a:t>——</a:t>
            </a:r>
            <a:r>
              <a:rPr lang="zh-CN" altLang="en-US" sz="1800" b="1" dirty="0">
                <a:ea typeface="宋体" panose="02010600030101010101" pitchFamily="2" charset="-122"/>
              </a:rPr>
              <a:t>内景</a:t>
            </a:r>
            <a:r>
              <a:rPr lang="en-US" altLang="zh-CN" sz="1800" b="1" dirty="0">
                <a:ea typeface="宋体" panose="02010600030101010101" pitchFamily="2" charset="-122"/>
              </a:rPr>
              <a:t>/</a:t>
            </a:r>
            <a:r>
              <a:rPr lang="zh-CN" altLang="en-US" sz="1800" b="1" dirty="0">
                <a:ea typeface="宋体" panose="02010600030101010101" pitchFamily="2" charset="-122"/>
              </a:rPr>
              <a:t>室内场景   外</a:t>
            </a:r>
            <a:r>
              <a:rPr lang="en-US" altLang="zh-CN" sz="1800" b="1" dirty="0">
                <a:ea typeface="宋体" panose="02010600030101010101" pitchFamily="2" charset="-122"/>
              </a:rPr>
              <a:t>——</a:t>
            </a:r>
            <a:r>
              <a:rPr lang="zh-CN" altLang="en-US" sz="1800" b="1" dirty="0">
                <a:ea typeface="宋体" panose="02010600030101010101" pitchFamily="2" charset="-122"/>
              </a:rPr>
              <a:t>外景</a:t>
            </a:r>
            <a:r>
              <a:rPr lang="en-US" altLang="zh-CN" sz="1800" b="1" dirty="0">
                <a:ea typeface="宋体" panose="02010600030101010101" pitchFamily="2" charset="-122"/>
              </a:rPr>
              <a:t>/</a:t>
            </a:r>
            <a:r>
              <a:rPr lang="zh-CN" altLang="en-US" sz="1800" b="1" dirty="0">
                <a:ea typeface="宋体" panose="02010600030101010101" pitchFamily="2" charset="-122"/>
              </a:rPr>
              <a:t>室外场景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zh-CN" altLang="en-US" sz="1800" b="1" dirty="0">
                <a:ea typeface="宋体" panose="02010600030101010101" pitchFamily="2" charset="-122"/>
              </a:rPr>
              <a:t>发生时间：日景或夜景</a:t>
            </a:r>
          </a:p>
          <a:p>
            <a:pPr>
              <a:lnSpc>
                <a:spcPct val="150000"/>
              </a:lnSpc>
            </a:pPr>
            <a:r>
              <a:rPr lang="zh-CN" altLang="en-US" sz="1800" b="1" dirty="0">
                <a:ea typeface="宋体" panose="02010600030101010101" pitchFamily="2" charset="-122"/>
              </a:rPr>
              <a:t>字幕、画外音等</a:t>
            </a:r>
          </a:p>
          <a:p>
            <a:pPr>
              <a:lnSpc>
                <a:spcPct val="150000"/>
              </a:lnSpc>
            </a:pPr>
            <a:r>
              <a:rPr lang="zh-CN" altLang="en-US" sz="1800" b="1" dirty="0">
                <a:ea typeface="宋体" panose="02010600030101010101" pitchFamily="2" charset="-122"/>
              </a:rPr>
              <a:t>范例：</a:t>
            </a:r>
            <a:endParaRPr lang="en-US" altLang="zh-CN" sz="1800" b="1" dirty="0">
              <a:ea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800" b="1" dirty="0">
                <a:ea typeface="宋体" panose="02010600030101010101" pitchFamily="2" charset="-122"/>
              </a:rPr>
              <a:t>  </a:t>
            </a:r>
            <a:r>
              <a:rPr lang="en-US" altLang="zh-CN" sz="1800" b="1" dirty="0">
                <a:ea typeface="宋体" panose="02010600030101010101" pitchFamily="2" charset="-122"/>
              </a:rPr>
              <a:t>1.</a:t>
            </a:r>
            <a:r>
              <a:rPr lang="zh-CN" altLang="en-US" sz="1800" b="1" dirty="0">
                <a:ea typeface="宋体" panose="02010600030101010101" pitchFamily="2" charset="-122"/>
              </a:rPr>
              <a:t>  地铁站</a:t>
            </a:r>
            <a:r>
              <a:rPr lang="en-US" altLang="zh-CN" sz="1800" b="1" dirty="0">
                <a:ea typeface="宋体" panose="02010600030101010101" pitchFamily="2" charset="-122"/>
              </a:rPr>
              <a:t>   </a:t>
            </a:r>
            <a:r>
              <a:rPr lang="zh-CN" altLang="en-US" sz="1800" b="1" dirty="0">
                <a:ea typeface="宋体" panose="02010600030101010101" pitchFamily="2" charset="-122"/>
              </a:rPr>
              <a:t>外  日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zh-CN" altLang="en-US" sz="1800" b="1" dirty="0">
                <a:ea typeface="宋体" panose="02010600030101010101" pitchFamily="2" charset="-122"/>
              </a:rPr>
              <a:t>  </a:t>
            </a:r>
            <a:r>
              <a:rPr lang="en-US" altLang="zh-CN" sz="1800" b="1" dirty="0">
                <a:ea typeface="宋体" panose="02010600030101010101" pitchFamily="2" charset="-122"/>
              </a:rPr>
              <a:t>2.</a:t>
            </a:r>
            <a:r>
              <a:rPr lang="zh-CN" altLang="en-US" sz="1800" b="1" dirty="0">
                <a:ea typeface="宋体" panose="02010600030101010101" pitchFamily="2" charset="-122"/>
              </a:rPr>
              <a:t> 博物馆   内 </a:t>
            </a:r>
            <a:r>
              <a:rPr lang="en-US" altLang="zh-CN" sz="1800" b="1" dirty="0">
                <a:ea typeface="宋体" panose="02010600030101010101" pitchFamily="2" charset="-122"/>
              </a:rPr>
              <a:t> </a:t>
            </a:r>
            <a:r>
              <a:rPr lang="zh-CN" altLang="en-US" sz="1800" b="1" dirty="0">
                <a:ea typeface="宋体" panose="02010600030101010101" pitchFamily="2" charset="-122"/>
              </a:rPr>
              <a:t>夜</a:t>
            </a:r>
            <a:endParaRPr lang="zh-CN" altLang="en-US" sz="1800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59279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1742303" y="195049"/>
            <a:ext cx="8229600" cy="575469"/>
          </a:xfrm>
        </p:spPr>
        <p:txBody>
          <a:bodyPr/>
          <a:lstStyle/>
          <a:p>
            <a:r>
              <a:rPr lang="zh-CN" altLang="en-US" sz="2800" dirty="0">
                <a:ea typeface="宋体" panose="02010600030101010101" pitchFamily="2" charset="-122"/>
              </a:rPr>
              <a:t>场景标题 注意点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4605" y="1139370"/>
            <a:ext cx="9135643" cy="51461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ea typeface="宋体" panose="02010600030101010101" pitchFamily="2" charset="-122"/>
              </a:rPr>
              <a:t>要求：短而精炼，避免冗杂。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ea typeface="宋体" panose="02010600030101010101" pitchFamily="2" charset="-122"/>
              </a:rPr>
              <a:t>避免重复：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   宫殿外面  外       </a:t>
            </a:r>
            <a:r>
              <a:rPr lang="zh-CN" altLang="en-US" sz="2000" dirty="0">
                <a:solidFill>
                  <a:srgbClr val="C00000"/>
                </a:solidFill>
                <a:ea typeface="宋体" panose="02010600030101010101" pitchFamily="2" charset="-122"/>
              </a:rPr>
              <a:t>宫殿  外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   宿舍里面  内</a:t>
            </a:r>
            <a:r>
              <a:rPr lang="zh-CN" altLang="en-US" sz="2000" dirty="0">
                <a:solidFill>
                  <a:srgbClr val="C00000"/>
                </a:solidFill>
                <a:ea typeface="宋体" panose="02010600030101010101" pitchFamily="2" charset="-122"/>
              </a:rPr>
              <a:t>        宿舍  内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ea typeface="宋体" panose="02010600030101010101" pitchFamily="2" charset="-122"/>
              </a:rPr>
              <a:t>避免繁琐：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   外  公寓旁边的一条交通拥挤的街道上</a:t>
            </a:r>
            <a:r>
              <a:rPr lang="en-US" altLang="zh-CN" sz="2000" dirty="0">
                <a:ea typeface="宋体" panose="02010600030101010101" pitchFamily="2" charset="-122"/>
              </a:rPr>
              <a:t>——2008</a:t>
            </a:r>
            <a:r>
              <a:rPr lang="zh-CN" altLang="en-US" sz="2000" dirty="0">
                <a:ea typeface="宋体" panose="02010600030101010101" pitchFamily="2" charset="-122"/>
              </a:rPr>
              <a:t>年</a:t>
            </a:r>
            <a:r>
              <a:rPr lang="en-US" altLang="zh-CN" sz="2000" dirty="0">
                <a:ea typeface="宋体" panose="02010600030101010101" pitchFamily="2" charset="-122"/>
              </a:rPr>
              <a:t>5</a:t>
            </a:r>
            <a:r>
              <a:rPr lang="zh-CN" altLang="en-US" sz="2000" dirty="0">
                <a:ea typeface="宋体" panose="02010600030101010101" pitchFamily="2" charset="-122"/>
              </a:rPr>
              <a:t>月</a:t>
            </a:r>
            <a:r>
              <a:rPr lang="en-US" altLang="zh-CN" sz="2000" dirty="0">
                <a:ea typeface="宋体" panose="02010600030101010101" pitchFamily="2" charset="-122"/>
              </a:rPr>
              <a:t>5</a:t>
            </a:r>
            <a:r>
              <a:rPr lang="zh-CN" altLang="en-US" sz="2000" dirty="0">
                <a:ea typeface="宋体" panose="02010600030101010101" pitchFamily="2" charset="-122"/>
              </a:rPr>
              <a:t>日上午</a:t>
            </a:r>
            <a:r>
              <a:rPr lang="en-US" altLang="zh-CN" sz="2000" dirty="0">
                <a:ea typeface="宋体" panose="02010600030101010101" pitchFamily="2" charset="-122"/>
              </a:rPr>
              <a:t>8</a:t>
            </a:r>
            <a:r>
              <a:rPr lang="zh-CN" altLang="en-US" sz="2000" dirty="0">
                <a:ea typeface="宋体" panose="02010600030101010101" pitchFamily="2" charset="-122"/>
              </a:rPr>
              <a:t>点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   </a:t>
            </a:r>
            <a:r>
              <a:rPr lang="en-US" altLang="zh-CN" sz="2000" u="sng" dirty="0">
                <a:ea typeface="宋体" panose="02010600030101010101" pitchFamily="2" charset="-122"/>
              </a:rPr>
              <a:t>【</a:t>
            </a:r>
            <a:r>
              <a:rPr lang="zh-CN" altLang="en-US" sz="2000" u="sng" dirty="0">
                <a:ea typeface="宋体" panose="02010600030101010101" pitchFamily="2" charset="-122"/>
              </a:rPr>
              <a:t>将细节部分写在标题后即将开始的动作段落内</a:t>
            </a:r>
            <a:r>
              <a:rPr lang="en-US" altLang="zh-CN" sz="2000" u="sng" dirty="0">
                <a:ea typeface="宋体" panose="02010600030101010101" pitchFamily="2" charset="-122"/>
              </a:rPr>
              <a:t>】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    街道  外</a:t>
            </a:r>
            <a:r>
              <a:rPr lang="en-US" altLang="zh-CN" sz="2000" dirty="0">
                <a:ea typeface="宋体" panose="02010600030101010101" pitchFamily="2" charset="-122"/>
              </a:rPr>
              <a:t>  </a:t>
            </a:r>
            <a:r>
              <a:rPr lang="zh-CN" altLang="en-US" sz="2000" dirty="0">
                <a:ea typeface="宋体" panose="02010600030101010101" pitchFamily="2" charset="-122"/>
              </a:rPr>
              <a:t>日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    </a:t>
            </a:r>
            <a:r>
              <a:rPr lang="en-US" altLang="zh-CN" sz="2000" dirty="0">
                <a:ea typeface="宋体" panose="02010600030101010101" pitchFamily="2" charset="-122"/>
              </a:rPr>
              <a:t>2008</a:t>
            </a:r>
            <a:r>
              <a:rPr lang="zh-CN" altLang="en-US" sz="2000" dirty="0">
                <a:ea typeface="宋体" panose="02010600030101010101" pitchFamily="2" charset="-122"/>
              </a:rPr>
              <a:t>年</a:t>
            </a:r>
            <a:r>
              <a:rPr lang="en-US" altLang="zh-CN" sz="2000" dirty="0">
                <a:ea typeface="宋体" panose="02010600030101010101" pitchFamily="2" charset="-122"/>
              </a:rPr>
              <a:t>5</a:t>
            </a:r>
            <a:r>
              <a:rPr lang="zh-CN" altLang="en-US" sz="2000" dirty="0">
                <a:ea typeface="宋体" panose="02010600030101010101" pitchFamily="2" charset="-122"/>
              </a:rPr>
              <a:t>月</a:t>
            </a:r>
            <a:r>
              <a:rPr lang="en-US" altLang="zh-CN" sz="2000" dirty="0">
                <a:ea typeface="宋体" panose="02010600030101010101" pitchFamily="2" charset="-122"/>
              </a:rPr>
              <a:t>5</a:t>
            </a:r>
            <a:r>
              <a:rPr lang="zh-CN" altLang="en-US" sz="2000" dirty="0">
                <a:ea typeface="宋体" panose="02010600030101010101" pitchFamily="2" charset="-122"/>
              </a:rPr>
              <a:t>日，清晨，一条忙碌的街道，一栋公寓建筑。</a:t>
            </a:r>
          </a:p>
        </p:txBody>
      </p:sp>
    </p:spTree>
    <p:extLst>
      <p:ext uri="{BB962C8B-B14F-4D97-AF65-F5344CB8AC3E}">
        <p14:creationId xmlns:p14="http://schemas.microsoft.com/office/powerpoint/2010/main" val="3686560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49276"/>
            <a:ext cx="8229600" cy="719485"/>
          </a:xfrm>
        </p:spPr>
        <p:txBody>
          <a:bodyPr/>
          <a:lstStyle/>
          <a:p>
            <a:r>
              <a:rPr lang="zh-CN" altLang="en-US" sz="36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动作段落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0831" y="1515762"/>
            <a:ext cx="10519719" cy="45802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ea typeface="宋体" panose="02010600030101010101" pitchFamily="2" charset="-122"/>
              </a:rPr>
              <a:t>编剧用动作段落来提供一些精炼、清晰而且简洁的陈述。（包括一些叙事、描写等）这些故事元素无法在对话中体现，却又必须让观众看到。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ea typeface="宋体" panose="02010600030101010101" pitchFamily="2" charset="-122"/>
              </a:rPr>
              <a:t>在动作段落中，必须通过场面设计表现场景中的“假定情境”。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ea typeface="宋体" panose="02010600030101010101" pitchFamily="2" charset="-122"/>
              </a:rPr>
              <a:t>例如：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ea typeface="宋体" panose="02010600030101010101" pitchFamily="2" charset="-122"/>
              </a:rPr>
              <a:t>背景</a:t>
            </a:r>
            <a:r>
              <a:rPr lang="en-US" altLang="zh-CN" sz="2000" dirty="0">
                <a:ea typeface="宋体" panose="02010600030101010101" pitchFamily="2" charset="-122"/>
              </a:rPr>
              <a:t>——</a:t>
            </a:r>
            <a:r>
              <a:rPr lang="zh-CN" altLang="en-US" sz="2000" dirty="0">
                <a:ea typeface="宋体" panose="02010600030101010101" pitchFamily="2" charset="-122"/>
              </a:rPr>
              <a:t>一个繁华的商业城，一个安静的公园等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ea typeface="宋体" panose="02010600030101010101" pitchFamily="2" charset="-122"/>
              </a:rPr>
              <a:t>能够影响人物行动的环境因素</a:t>
            </a:r>
            <a:r>
              <a:rPr lang="en-US" altLang="zh-CN" sz="2000" dirty="0">
                <a:ea typeface="宋体" panose="02010600030101010101" pitchFamily="2" charset="-122"/>
              </a:rPr>
              <a:t>——</a:t>
            </a:r>
            <a:r>
              <a:rPr lang="zh-CN" altLang="en-US" sz="2000" dirty="0">
                <a:ea typeface="宋体" panose="02010600030101010101" pitchFamily="2" charset="-122"/>
              </a:rPr>
              <a:t>时间、季节、气候等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ea typeface="宋体" panose="02010600030101010101" pitchFamily="2" charset="-122"/>
              </a:rPr>
              <a:t>能够提供有关人物和故事潜在线索的物理环境的细节</a:t>
            </a:r>
            <a:r>
              <a:rPr lang="en-US" altLang="zh-CN" sz="2000" dirty="0">
                <a:ea typeface="宋体" panose="02010600030101010101" pitchFamily="2" charset="-122"/>
              </a:rPr>
              <a:t>——</a:t>
            </a:r>
            <a:r>
              <a:rPr lang="zh-CN" altLang="en-US" sz="2000" dirty="0">
                <a:ea typeface="宋体" panose="02010600030101010101" pitchFamily="2" charset="-122"/>
              </a:rPr>
              <a:t>一个相框、一束玫瑰、一杯酒等</a:t>
            </a:r>
          </a:p>
        </p:txBody>
      </p:sp>
    </p:spTree>
    <p:extLst>
      <p:ext uri="{BB962C8B-B14F-4D97-AF65-F5344CB8AC3E}">
        <p14:creationId xmlns:p14="http://schemas.microsoft.com/office/powerpoint/2010/main" val="3590544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1750541" y="466897"/>
            <a:ext cx="2920313" cy="791493"/>
          </a:xfrm>
        </p:spPr>
        <p:txBody>
          <a:bodyPr/>
          <a:lstStyle/>
          <a:p>
            <a:r>
              <a:rPr lang="zh-CN" altLang="en-US" sz="36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场景设计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0789" y="1258390"/>
            <a:ext cx="11030465" cy="495293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ea typeface="宋体" panose="02010600030101010101" pitchFamily="2" charset="-122"/>
              </a:rPr>
              <a:t>场景设计是展现故事环境的细节。没有成规，却要求迅速传达影片所需要的氛围。将场景诉诸视觉和听觉（如同在脑海里重现一般）。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ea typeface="宋体" panose="02010600030101010101" pitchFamily="2" charset="-122"/>
              </a:rPr>
              <a:t>例如，以时间、季节或象征性事物开始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ea typeface="宋体" panose="02010600030101010101" pitchFamily="2" charset="-122"/>
              </a:rPr>
              <a:t>晚上，屋外传来阵阵鞭炮声。屋子窗户上结着冰花，屋子里的锅里翻腾着饺子。（冬天、春节、北方、传统家庭）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ea typeface="宋体" panose="02010600030101010101" pitchFamily="2" charset="-122"/>
              </a:rPr>
              <a:t>早晨，屋外传来阵阵鞭炮声。屋子窗户上贴着红双喜，风扇呼呼转动，桌子上摆着糖果和点心。（夏天、婚礼）</a:t>
            </a:r>
          </a:p>
          <a:p>
            <a:pPr>
              <a:lnSpc>
                <a:spcPct val="90000"/>
              </a:lnSpc>
            </a:pPr>
            <a:endParaRPr lang="en-US" altLang="zh-CN" sz="2400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7108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49276"/>
            <a:ext cx="8229600" cy="719485"/>
          </a:xfrm>
        </p:spPr>
        <p:txBody>
          <a:bodyPr/>
          <a:lstStyle/>
          <a:p>
            <a:r>
              <a:rPr lang="zh-CN" altLang="en-US" sz="36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介绍人物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0173" y="1433384"/>
            <a:ext cx="10758616" cy="464614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ea typeface="宋体" panose="02010600030101010101" pitchFamily="2" charset="-122"/>
              </a:rPr>
              <a:t>赋予主要人物一个合适的称呼</a:t>
            </a:r>
            <a:r>
              <a:rPr lang="en-US" altLang="zh-CN" sz="2400" dirty="0">
                <a:ea typeface="宋体" panose="02010600030101010101" pitchFamily="2" charset="-122"/>
              </a:rPr>
              <a:t>/</a:t>
            </a:r>
            <a:r>
              <a:rPr lang="zh-CN" altLang="en-US" sz="2400" dirty="0">
                <a:ea typeface="宋体" panose="02010600030101010101" pitchFamily="2" charset="-122"/>
              </a:rPr>
              <a:t>名字。当他</a:t>
            </a:r>
            <a:r>
              <a:rPr lang="en-US" altLang="zh-CN" sz="2400" dirty="0">
                <a:ea typeface="宋体" panose="02010600030101010101" pitchFamily="2" charset="-122"/>
              </a:rPr>
              <a:t>/</a:t>
            </a:r>
            <a:r>
              <a:rPr lang="zh-CN" altLang="en-US" sz="2400" dirty="0">
                <a:ea typeface="宋体" panose="02010600030101010101" pitchFamily="2" charset="-122"/>
              </a:rPr>
              <a:t>她出场的时候，可按需要做描述性、叙述性介绍。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ea typeface="宋体" panose="02010600030101010101" pitchFamily="2" charset="-122"/>
              </a:rPr>
              <a:t>能够显示人物身份、性格和情感等方面的形象、动作描写</a:t>
            </a:r>
            <a:r>
              <a:rPr lang="en-US" altLang="zh-CN" sz="2400" dirty="0">
                <a:ea typeface="宋体" panose="02010600030101010101" pitchFamily="2" charset="-122"/>
              </a:rPr>
              <a:t>——</a:t>
            </a:r>
            <a:r>
              <a:rPr lang="zh-CN" altLang="en-US" sz="2400" dirty="0">
                <a:ea typeface="宋体" panose="02010600030101010101" pitchFamily="2" charset="-122"/>
              </a:rPr>
              <a:t>不停抽烟、赤脚行走、呼吸急促等等。</a:t>
            </a:r>
          </a:p>
          <a:p>
            <a:pPr>
              <a:lnSpc>
                <a:spcPct val="150000"/>
              </a:lnSpc>
            </a:pPr>
            <a:endParaRPr lang="zh-CN" altLang="en-US" sz="2400" dirty="0"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ea typeface="宋体" panose="02010600030101010101" pitchFamily="2" charset="-122"/>
              </a:rPr>
              <a:t>以属性称谓来介绍配角或背景人物。如两个警察、一群愤怒的民工等。</a:t>
            </a:r>
          </a:p>
        </p:txBody>
      </p:sp>
    </p:spTree>
    <p:extLst>
      <p:ext uri="{BB962C8B-B14F-4D97-AF65-F5344CB8AC3E}">
        <p14:creationId xmlns:p14="http://schemas.microsoft.com/office/powerpoint/2010/main" val="1956885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2088292" y="359209"/>
            <a:ext cx="3233351" cy="858123"/>
          </a:xfrm>
        </p:spPr>
        <p:txBody>
          <a:bodyPr/>
          <a:lstStyle/>
          <a:p>
            <a:r>
              <a:rPr lang="zh-CN" altLang="en-US" sz="36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人物对话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1277" y="1217332"/>
            <a:ext cx="11310550" cy="517522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ea typeface="宋体" panose="02010600030101010101" pitchFamily="2" charset="-122"/>
              </a:rPr>
              <a:t>电影中的对话应该简洁。如果一个人物的台词过长，这样的台词太损伤动作。可以考虑加入一些动作和他人语言来打断。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   例如：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ea typeface="宋体" panose="02010600030101010101" pitchFamily="2" charset="-122"/>
              </a:rPr>
              <a:t>小美：今天真难捱。我要休息一下，重新开始崭新的明天。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zh-CN" altLang="en-US" sz="2000" dirty="0">
                <a:solidFill>
                  <a:srgbClr val="C00000"/>
                </a:solidFill>
                <a:ea typeface="宋体" panose="02010600030101010101" pitchFamily="2" charset="-122"/>
              </a:rPr>
              <a:t>               </a:t>
            </a:r>
            <a:r>
              <a:rPr lang="zh-CN" altLang="en-US" sz="2000" u="sng" dirty="0">
                <a:solidFill>
                  <a:srgbClr val="C00000"/>
                </a:solidFill>
                <a:ea typeface="宋体" panose="02010600030101010101" pitchFamily="2" charset="-122"/>
              </a:rPr>
              <a:t>她走向吧台，倒了一杯酒。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    小美：这场闹剧，太让我难受了。真不知道我能不能撑得过去。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ea typeface="宋体" panose="02010600030101010101" pitchFamily="2" charset="-122"/>
              </a:rPr>
              <a:t>小美：今天真难捱。我要休息一下，重新开始崭新的明天。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   小帅 </a:t>
            </a:r>
            <a:r>
              <a:rPr lang="zh-CN" altLang="en-US" sz="2000" u="sng" dirty="0">
                <a:solidFill>
                  <a:srgbClr val="C00000"/>
                </a:solidFill>
                <a:ea typeface="宋体" panose="02010600030101010101" pitchFamily="2" charset="-122"/>
              </a:rPr>
              <a:t>：这样也好。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    小美：这场闹剧，太让我难受了。真不知道我能不能撑得过去。</a:t>
            </a:r>
          </a:p>
        </p:txBody>
      </p:sp>
    </p:spTree>
    <p:extLst>
      <p:ext uri="{BB962C8B-B14F-4D97-AF65-F5344CB8AC3E}">
        <p14:creationId xmlns:p14="http://schemas.microsoft.com/office/powerpoint/2010/main" val="4167283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1182129" y="606940"/>
            <a:ext cx="8229600" cy="863501"/>
          </a:xfrm>
        </p:spPr>
        <p:txBody>
          <a:bodyPr/>
          <a:lstStyle/>
          <a:p>
            <a:r>
              <a:rPr lang="zh-CN" altLang="en-US" sz="36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分场景剧本写作注意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4843" y="1470441"/>
            <a:ext cx="11013989" cy="465027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ea typeface="楷体_GB2312" pitchFamily="49" charset="-122"/>
              </a:rPr>
              <a:t>“电影剧作者没有责任按摄影机角度和细致的镜头来写作。这不是剧作家的任务。剧作家用不着告诉导演拍什么和如何拍，如果你具体写明每个场景怎么样来拍，导演就可能把剧本扔掉。这是合乎情理的。剧作者的工作就是写剧本，导演的工作就是把剧本拍摄成影片，把纸上的字变成影片上的形象。摄影师的作用是决定场景的照明和摄影机的位置，从而以电影化的方式抓住故事。”</a:t>
            </a:r>
          </a:p>
          <a:p>
            <a:pPr algn="r">
              <a:lnSpc>
                <a:spcPct val="150000"/>
              </a:lnSpc>
              <a:buFontTx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——</a:t>
            </a:r>
            <a:r>
              <a:rPr lang="zh-CN" altLang="en-US" sz="2400" dirty="0">
                <a:ea typeface="宋体" panose="02010600030101010101" pitchFamily="2" charset="-122"/>
              </a:rPr>
              <a:t>悉德</a:t>
            </a:r>
            <a:r>
              <a:rPr lang="en-US" altLang="zh-CN" sz="2400" dirty="0">
                <a:ea typeface="宋体" panose="02010600030101010101" pitchFamily="2" charset="-122"/>
              </a:rPr>
              <a:t>·</a:t>
            </a:r>
            <a:r>
              <a:rPr lang="zh-CN" altLang="en-US" sz="2400" dirty="0">
                <a:ea typeface="宋体" panose="02010600030101010101" pitchFamily="2" charset="-122"/>
              </a:rPr>
              <a:t>菲尔德</a:t>
            </a:r>
            <a:r>
              <a:rPr lang="en-US" altLang="zh-CN" sz="2400" dirty="0">
                <a:ea typeface="宋体" panose="02010600030101010101" pitchFamily="2" charset="-122"/>
              </a:rPr>
              <a:t>《</a:t>
            </a:r>
            <a:r>
              <a:rPr lang="zh-CN" altLang="en-US" sz="2400" dirty="0">
                <a:ea typeface="宋体" panose="02010600030101010101" pitchFamily="2" charset="-122"/>
              </a:rPr>
              <a:t>电影剧本写作基础</a:t>
            </a:r>
            <a:r>
              <a:rPr lang="en-US" altLang="zh-CN" sz="2400" dirty="0">
                <a:ea typeface="宋体" panose="02010600030101010101" pitchFamily="2" charset="-122"/>
              </a:rPr>
              <a:t>》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尽量避免使用特写、主观镜头、切入、淡出等术语，尽量避免提到摄影机的拍摄方式和角度，将如何拍摄和剪辑的决定权留给导演。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不要有“我们能看到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……”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、“我们听到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……”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这样的说法。</a:t>
            </a:r>
          </a:p>
        </p:txBody>
      </p:sp>
    </p:spTree>
    <p:extLst>
      <p:ext uri="{BB962C8B-B14F-4D97-AF65-F5344CB8AC3E}">
        <p14:creationId xmlns:p14="http://schemas.microsoft.com/office/powerpoint/2010/main" val="1877178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9345" y="993602"/>
            <a:ext cx="10801865" cy="499530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ea typeface="宋体" panose="02010600030101010101" pitchFamily="2" charset="-122"/>
              </a:rPr>
              <a:t>“把动作留给演员，把导演的工作留给导演干。”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ea typeface="宋体" panose="02010600030101010101" pitchFamily="2" charset="-122"/>
              </a:rPr>
              <a:t>一个优秀的编剧能够不必使用“镜头”的词汇，就能在文本中以暗示的手法掌控镜头的角度和剪辑。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ea typeface="宋体" panose="02010600030101010101" pitchFamily="2" charset="-122"/>
              </a:rPr>
              <a:t>例如：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ea typeface="宋体" panose="02010600030101010101" pitchFamily="2" charset="-122"/>
              </a:rPr>
              <a:t>外  游行场地（暗示广角镜头）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ea typeface="宋体" panose="02010600030101010101" pitchFamily="2" charset="-122"/>
              </a:rPr>
              <a:t>红旗在看台上飘扬（暗示中景）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ea typeface="宋体" panose="02010600030101010101" pitchFamily="2" charset="-122"/>
              </a:rPr>
              <a:t>校长走向麦克风（暗示特写）</a:t>
            </a:r>
          </a:p>
        </p:txBody>
      </p:sp>
    </p:spTree>
    <p:extLst>
      <p:ext uri="{BB962C8B-B14F-4D97-AF65-F5344CB8AC3E}">
        <p14:creationId xmlns:p14="http://schemas.microsoft.com/office/powerpoint/2010/main" val="2424984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49276"/>
            <a:ext cx="8229600" cy="791493"/>
          </a:xfrm>
        </p:spPr>
        <p:txBody>
          <a:bodyPr/>
          <a:lstStyle/>
          <a:p>
            <a:r>
              <a:rPr lang="zh-CN" altLang="en-US" sz="3600" dirty="0">
                <a:ea typeface="宋体" panose="02010600030101010101" pitchFamily="2" charset="-122"/>
              </a:rPr>
              <a:t>场景设计注意点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1319" y="1655804"/>
            <a:ext cx="11252886" cy="465437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ea typeface="宋体" panose="02010600030101010101" pitchFamily="2" charset="-122"/>
              </a:rPr>
              <a:t>在进行场景设计的时候，要注意电影场景和电视剧场景的区别。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电影制作成本高，放映银幕大，具有强烈的视觉冲击力，观看环境比较固定，所以可以表现大的场景。</a:t>
            </a:r>
            <a:endParaRPr lang="en-US" altLang="zh-CN" sz="2400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电视剧制作成本低，播放屏幕小，观看环境比较随意，不能产生强烈的震撼效果，所以尽量避免大的场景。</a:t>
            </a:r>
          </a:p>
        </p:txBody>
      </p:sp>
    </p:spTree>
    <p:extLst>
      <p:ext uri="{BB962C8B-B14F-4D97-AF65-F5344CB8AC3E}">
        <p14:creationId xmlns:p14="http://schemas.microsoft.com/office/powerpoint/2010/main" val="40505085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7135" y="683742"/>
            <a:ext cx="11541211" cy="599714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场景设计在数量上没有硬性规定，一般来说，节奏快的作品，场景就较多，反之，就少些。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《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法国中尉的女人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》 138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《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东京物语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》176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《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鳗鱼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》 168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《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寄生虫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》  161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《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鬼子来了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》 125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《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让子弹飞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》184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电视连续剧每集大概在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45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分钟，场景较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100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多分钟的电影要少得多，大概在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30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60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个。</a:t>
            </a:r>
          </a:p>
        </p:txBody>
      </p:sp>
    </p:spTree>
    <p:extLst>
      <p:ext uri="{BB962C8B-B14F-4D97-AF65-F5344CB8AC3E}">
        <p14:creationId xmlns:p14="http://schemas.microsoft.com/office/powerpoint/2010/main" val="17981200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在进行场景设计和描写时，要注意场景的独立性和完整性。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一个场景之所以能成为一个场景，是因为它有着相对独立的人物和事件。即便是纯粹的景物描写，它也有着一定的独立作用。</a:t>
            </a:r>
          </a:p>
        </p:txBody>
      </p:sp>
    </p:spTree>
    <p:extLst>
      <p:ext uri="{BB962C8B-B14F-4D97-AF65-F5344CB8AC3E}">
        <p14:creationId xmlns:p14="http://schemas.microsoft.com/office/powerpoint/2010/main" val="17626107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19536" y="692697"/>
            <a:ext cx="8229600" cy="791493"/>
          </a:xfrm>
        </p:spPr>
        <p:txBody>
          <a:bodyPr/>
          <a:lstStyle/>
          <a:p>
            <a:r>
              <a:rPr lang="zh-CN" altLang="en-US" sz="36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音效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6735" y="1746422"/>
            <a:ext cx="9364409" cy="409069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当剧本中的人物或者观众需要听到特殊的声响，就必须写音效。但是尽量不要特别注明“音效”，而多以声音的来源表明声效。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例如：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1.</a:t>
            </a:r>
            <a:r>
              <a:rPr lang="zh-CN" altLang="en-US" sz="24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街角  外</a:t>
            </a:r>
            <a:r>
              <a:rPr lang="en-US" altLang="zh-CN" sz="24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  </a:t>
            </a:r>
            <a:r>
              <a:rPr lang="zh-CN" altLang="en-US" sz="24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夜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倾盆大雨，</a:t>
            </a:r>
            <a:r>
              <a:rPr lang="zh-CN" altLang="en-US" sz="2400" dirty="0">
                <a:solidFill>
                  <a:srgbClr val="C0000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电闪雷鸣。</a:t>
            </a:r>
            <a:r>
              <a:rPr lang="zh-CN" altLang="en-US" sz="24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一个空的电话亭。一两汽车急驰而过。</a:t>
            </a:r>
            <a:r>
              <a:rPr lang="zh-CN" altLang="en-US" sz="2400" dirty="0">
                <a:solidFill>
                  <a:srgbClr val="C0000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电话铃响。一只游荡的狗冲着电话亭吠叫。</a:t>
            </a:r>
          </a:p>
        </p:txBody>
      </p:sp>
    </p:spTree>
    <p:extLst>
      <p:ext uri="{BB962C8B-B14F-4D97-AF65-F5344CB8AC3E}">
        <p14:creationId xmlns:p14="http://schemas.microsoft.com/office/powerpoint/2010/main" val="12388085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450422"/>
            <a:ext cx="3595816" cy="935509"/>
          </a:xfrm>
        </p:spPr>
        <p:txBody>
          <a:bodyPr/>
          <a:lstStyle/>
          <a:p>
            <a:r>
              <a:rPr lang="zh-CN" altLang="en-US" sz="36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小说格式剧本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3783" y="1458097"/>
            <a:ext cx="10832757" cy="481913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小说格式剧本在注意影像画面的同时，主要采取小说的叙述方式，对人物形象、环境氛围和剧情发展等内容进行比较详细的描写。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优点：既为导演、演员等成员的二度创作提供了自由的空间，又具有较强的可读性和审美性。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有的剧本虽然分了场景，但是，场景内的写法还是小说格式的。</a:t>
            </a:r>
          </a:p>
        </p:txBody>
      </p:sp>
    </p:spTree>
    <p:extLst>
      <p:ext uri="{BB962C8B-B14F-4D97-AF65-F5344CB8AC3E}">
        <p14:creationId xmlns:p14="http://schemas.microsoft.com/office/powerpoint/2010/main" val="8254636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0216" y="823785"/>
            <a:ext cx="11063416" cy="573353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         </a:t>
            </a:r>
            <a:r>
              <a:rPr lang="zh-CN" altLang="en-US" sz="2000" u="sng" dirty="0">
                <a:solidFill>
                  <a:srgbClr val="C0000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罗马。风和日丽的晌午时分。（景物描写）</a:t>
            </a:r>
            <a:r>
              <a:rPr lang="zh-CN" altLang="en-US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“职业介绍所”古老的楼房。石砌的楼梯从街上直通二楼。在高高的梯磴上站着“介绍所”的职员，</a:t>
            </a:r>
            <a:r>
              <a:rPr lang="zh-CN" altLang="en-US" sz="2000" u="sng" dirty="0">
                <a:solidFill>
                  <a:srgbClr val="C0000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一个上了年纪的神情疲乏的人，戴着眼镜。他嘴上叼着一截灭了的香烟头。（肖像描写）</a:t>
            </a:r>
            <a:r>
              <a:rPr lang="zh-CN" altLang="en-US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他在按着名单叫那些今天有可能找到工作的失业者。下面是一群饿得有气无力、渴望着干活的人在紧张地听着他发话。他们都把头昂起来，期待地朝上面望去。可是幸运的人并不多。</a:t>
            </a:r>
            <a:endParaRPr lang="en-US" altLang="zh-CN" sz="2000" dirty="0"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         “安东</a:t>
            </a:r>
            <a:r>
              <a:rPr lang="en-US" altLang="zh-CN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·</a:t>
            </a:r>
            <a:r>
              <a:rPr lang="zh-CN" altLang="en-US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里西！里西在不在？”职员问。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         “里西</a:t>
            </a:r>
            <a:r>
              <a:rPr lang="en-US" altLang="zh-CN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!”</a:t>
            </a:r>
            <a:r>
              <a:rPr lang="zh-CN" altLang="en-US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一个青年工人接过去喊着。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            没有人答应。看样子，里西是没有在这儿。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          “里西，里西！”马上又有几个人喊着。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           由于幸运的里西始终也没有出来答话，那个青年工人就到处找他去了。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            </a:t>
            </a:r>
            <a:r>
              <a:rPr lang="en-US" altLang="zh-CN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1052756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62465" y="774356"/>
            <a:ext cx="11302313" cy="5807675"/>
          </a:xfrm>
        </p:spPr>
        <p:txBody>
          <a:bodyPr>
            <a:noAutofit/>
          </a:bodyPr>
          <a:lstStyle/>
          <a:p>
            <a:pPr>
              <a:lnSpc>
                <a:spcPts val="3600"/>
              </a:lnSpc>
            </a:pPr>
            <a:r>
              <a:rPr lang="en-US" altLang="zh-CN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      </a:t>
            </a:r>
            <a:r>
              <a:rPr lang="zh-CN" altLang="en-US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安东把介绍信捧在眼前，转身走到一边去了。他像着了魔一样，盯住了介绍信就挪不开眼睛。</a:t>
            </a:r>
          </a:p>
          <a:p>
            <a:pPr>
              <a:lnSpc>
                <a:spcPts val="3600"/>
              </a:lnSpc>
            </a:pPr>
            <a:r>
              <a:rPr lang="zh-CN" altLang="en-US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      “喂，里西！”职员忽然想起来。“别忘了带一辆自行车去。你应该带着自行车去上工！这在介绍信上也注明了的。”</a:t>
            </a:r>
          </a:p>
          <a:p>
            <a:pPr>
              <a:lnSpc>
                <a:spcPts val="3600"/>
              </a:lnSpc>
            </a:pPr>
            <a:r>
              <a:rPr lang="zh-CN" altLang="en-US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     “自行车？”里西反问一句。</a:t>
            </a:r>
          </a:p>
          <a:p>
            <a:pPr>
              <a:lnSpc>
                <a:spcPts val="3600"/>
              </a:lnSpc>
            </a:pPr>
            <a:r>
              <a:rPr lang="zh-CN" altLang="en-US" sz="2000" dirty="0">
                <a:solidFill>
                  <a:srgbClr val="C0000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    </a:t>
            </a:r>
            <a:r>
              <a:rPr lang="zh-CN" altLang="en-US" sz="2000" u="sng" dirty="0">
                <a:solidFill>
                  <a:srgbClr val="C0000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他的脸色显得很不安了。现在他只想多赢得一点时间。（心理刻画）</a:t>
            </a:r>
          </a:p>
          <a:p>
            <a:pPr>
              <a:lnSpc>
                <a:spcPts val="3600"/>
              </a:lnSpc>
            </a:pPr>
            <a:r>
              <a:rPr lang="zh-CN" altLang="en-US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    “我那车可已经</a:t>
            </a:r>
            <a:r>
              <a:rPr lang="en-US" altLang="zh-CN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……</a:t>
            </a:r>
            <a:r>
              <a:rPr lang="zh-CN" altLang="en-US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过几天我就有车了。”</a:t>
            </a:r>
          </a:p>
          <a:p>
            <a:pPr>
              <a:lnSpc>
                <a:spcPts val="3600"/>
              </a:lnSpc>
            </a:pPr>
            <a:r>
              <a:rPr lang="zh-CN" altLang="en-US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    “唉，那不成！”职员反对说。“你这会儿就得有</a:t>
            </a:r>
            <a:r>
              <a:rPr lang="en-US" altLang="zh-CN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—</a:t>
            </a:r>
            <a:r>
              <a:rPr lang="zh-CN" altLang="en-US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辆！</a:t>
            </a:r>
            <a:r>
              <a:rPr lang="en-US" altLang="zh-CN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……</a:t>
            </a:r>
            <a:r>
              <a:rPr lang="zh-CN" altLang="en-US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否则我不派你去。”</a:t>
            </a:r>
          </a:p>
          <a:p>
            <a:pPr>
              <a:lnSpc>
                <a:spcPts val="3600"/>
              </a:lnSpc>
            </a:pPr>
            <a:r>
              <a:rPr lang="zh-CN" altLang="en-US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     “这有什么关系</a:t>
            </a:r>
            <a:r>
              <a:rPr lang="en-US" altLang="zh-CN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?……</a:t>
            </a:r>
            <a:r>
              <a:rPr lang="zh-CN" altLang="en-US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头几天我就跑跑路也行。”</a:t>
            </a:r>
          </a:p>
          <a:p>
            <a:pPr>
              <a:lnSpc>
                <a:spcPts val="3600"/>
              </a:lnSpc>
            </a:pPr>
            <a:r>
              <a:rPr lang="zh-CN" altLang="en-US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     “是这样，里西！”职员还是坚持着，“你实话实说吧，到底有没有自行车？你要是没有，我就另外派人，省得叫你去了。”      </a:t>
            </a:r>
          </a:p>
        </p:txBody>
      </p:sp>
    </p:spTree>
    <p:extLst>
      <p:ext uri="{BB962C8B-B14F-4D97-AF65-F5344CB8AC3E}">
        <p14:creationId xmlns:p14="http://schemas.microsoft.com/office/powerpoint/2010/main" val="38518174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1711411" y="303213"/>
            <a:ext cx="4598773" cy="899511"/>
          </a:xfrm>
        </p:spPr>
        <p:txBody>
          <a:bodyPr>
            <a:normAutofit/>
          </a:bodyPr>
          <a:lstStyle/>
          <a:p>
            <a:r>
              <a:rPr lang="zh-CN" altLang="en-US" sz="36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分镜头格式剧本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4270" y="1202724"/>
            <a:ext cx="11186984" cy="5239265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分镜头格式就是把场景进一步划分为镜头。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镜头是指摄影机或摄像机从开机到停止期间所拍下的一系列画面。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分镜头格式通常以一个或一组镜头为一个句子单位进行叙事。</a:t>
            </a:r>
            <a:endParaRPr lang="en-US" altLang="zh-CN" dirty="0"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分镜头剧本特点：</a:t>
            </a:r>
            <a:endParaRPr lang="en-US" altLang="zh-CN" dirty="0"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画面感强，时空跳跃性大，语言精炼，很少有描述性词语。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常常在每个句子（分镜头）前加上序列号。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分镜头格式只是要求编剧有一般的镜头思维能力，并不需要标清楚每个镜头如何拍摄。</a:t>
            </a:r>
          </a:p>
          <a:p>
            <a:endParaRPr lang="en-US" altLang="zh-CN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32901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1390135" y="282746"/>
            <a:ext cx="4565822" cy="755221"/>
          </a:xfrm>
        </p:spPr>
        <p:txBody>
          <a:bodyPr>
            <a:normAutofit/>
          </a:bodyPr>
          <a:lstStyle/>
          <a:p>
            <a:r>
              <a:rPr lang="zh-CN" altLang="en-US" sz="36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冯小宁</a:t>
            </a:r>
            <a:r>
              <a:rPr lang="en-US" altLang="zh-CN" sz="36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《</a:t>
            </a:r>
            <a:r>
              <a:rPr lang="zh-CN" altLang="en-US" sz="36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红河谷</a:t>
            </a:r>
            <a:r>
              <a:rPr lang="en-US" altLang="zh-CN" sz="36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》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7178" y="1037968"/>
            <a:ext cx="11112844" cy="5577016"/>
          </a:xfrm>
        </p:spPr>
        <p:txBody>
          <a:bodyPr>
            <a:normAutofit lnSpcReduction="10000"/>
          </a:bodyPr>
          <a:lstStyle/>
          <a:p>
            <a:pPr marL="609600" indent="-609600">
              <a:lnSpc>
                <a:spcPct val="150000"/>
              </a:lnSpc>
            </a:pPr>
            <a:r>
              <a:rPr lang="zh-CN" altLang="en-US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四十六  草原上  傍晚  外</a:t>
            </a:r>
          </a:p>
          <a:p>
            <a:pPr marL="609600" indent="-609600">
              <a:lnSpc>
                <a:spcPct val="150000"/>
              </a:lnSpc>
              <a:buNone/>
            </a:pPr>
            <a:r>
              <a:rPr lang="en-US" altLang="zh-CN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……</a:t>
            </a:r>
          </a:p>
          <a:p>
            <a:pPr marL="609600" indent="-609600">
              <a:lnSpc>
                <a:spcPct val="150000"/>
              </a:lnSpc>
              <a:buFont typeface="Wingdings" panose="05000000000000000000" pitchFamily="2" charset="2"/>
              <a:buAutoNum type="arabicPlain" startAt="531"/>
            </a:pPr>
            <a:r>
              <a:rPr lang="zh-CN" altLang="en-US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草原上夕阳将落，长袖翻舞，彩裙摆动，半醉的丹珠捧着酒碗动情地唱着敬酒歌。</a:t>
            </a:r>
          </a:p>
          <a:p>
            <a:pPr marL="609600" indent="-609600">
              <a:lnSpc>
                <a:spcPct val="150000"/>
              </a:lnSpc>
              <a:buFont typeface="Wingdings" panose="05000000000000000000" pitchFamily="2" charset="2"/>
              <a:buAutoNum type="arabicPlain" startAt="531"/>
            </a:pPr>
            <a:r>
              <a:rPr lang="zh-CN" altLang="en-US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 格桑已站立不稳，仍一碗碗地接过喝下去</a:t>
            </a:r>
            <a:r>
              <a:rPr lang="en-US" altLang="zh-CN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……</a:t>
            </a:r>
            <a:r>
              <a:rPr lang="zh-CN" altLang="en-US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雪儿上前扶住他。</a:t>
            </a:r>
          </a:p>
          <a:p>
            <a:pPr marL="609600" indent="-609600">
              <a:lnSpc>
                <a:spcPct val="150000"/>
              </a:lnSpc>
              <a:buFont typeface="Wingdings" panose="05000000000000000000" pitchFamily="2" charset="2"/>
              <a:buAutoNum type="arabicPlain" startAt="531"/>
            </a:pPr>
            <a:r>
              <a:rPr lang="zh-CN" altLang="en-US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 丹珠不停地在唱</a:t>
            </a:r>
            <a:r>
              <a:rPr lang="en-US" altLang="zh-CN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……</a:t>
            </a:r>
          </a:p>
          <a:p>
            <a:pPr marL="609600" indent="-609600">
              <a:lnSpc>
                <a:spcPct val="150000"/>
              </a:lnSpc>
              <a:buFont typeface="Wingdings" panose="05000000000000000000" pitchFamily="2" charset="2"/>
              <a:buAutoNum type="arabicPlain" startAt="531"/>
            </a:pPr>
            <a:r>
              <a:rPr lang="en-US" altLang="zh-CN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 </a:t>
            </a:r>
            <a:r>
              <a:rPr lang="zh-CN" altLang="en-US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格桑喝下最后一碗，轰然倒下</a:t>
            </a:r>
            <a:r>
              <a:rPr lang="en-US" altLang="zh-CN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……</a:t>
            </a:r>
          </a:p>
          <a:p>
            <a:pPr marL="609600" indent="-609600">
              <a:lnSpc>
                <a:spcPct val="150000"/>
              </a:lnSpc>
              <a:buFont typeface="Wingdings" panose="05000000000000000000" pitchFamily="2" charset="2"/>
              <a:buAutoNum type="arabicPlain" startAt="531"/>
            </a:pPr>
            <a:r>
              <a:rPr lang="zh-CN" altLang="en-US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琼斯捧着碗，仰头喝下。</a:t>
            </a:r>
          </a:p>
          <a:p>
            <a:pPr marL="609600" indent="-609600">
              <a:lnSpc>
                <a:spcPct val="150000"/>
              </a:lnSpc>
              <a:buFont typeface="Wingdings" panose="05000000000000000000" pitchFamily="2" charset="2"/>
              <a:buAutoNum type="arabicPlain" startAt="531"/>
            </a:pPr>
            <a:r>
              <a:rPr lang="zh-CN" altLang="en-US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丹珠又捧上一碗，仍在唱着</a:t>
            </a:r>
            <a:r>
              <a:rPr lang="en-US" altLang="zh-CN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……</a:t>
            </a:r>
          </a:p>
          <a:p>
            <a:pPr marL="609600" indent="-609600">
              <a:lnSpc>
                <a:spcPct val="150000"/>
              </a:lnSpc>
              <a:buFont typeface="Wingdings" panose="05000000000000000000" pitchFamily="2" charset="2"/>
              <a:buAutoNum type="arabicPlain" startAt="531"/>
            </a:pPr>
            <a:r>
              <a:rPr lang="zh-CN" altLang="en-US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琼斯吃力地接过来：“度母</a:t>
            </a:r>
            <a:r>
              <a:rPr lang="en-US" altLang="zh-CN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……</a:t>
            </a:r>
            <a:r>
              <a:rPr lang="zh-CN" altLang="en-US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也喝酒妈？”</a:t>
            </a:r>
          </a:p>
          <a:p>
            <a:pPr marL="609600" indent="-609600">
              <a:lnSpc>
                <a:spcPct val="150000"/>
              </a:lnSpc>
              <a:buFont typeface="Wingdings" panose="05000000000000000000" pitchFamily="2" charset="2"/>
              <a:buAutoNum type="arabicPlain" startAt="531"/>
            </a:pPr>
            <a:r>
              <a:rPr lang="zh-CN" altLang="en-US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丹珠将一碗酒喝尽，又接着唱下去。</a:t>
            </a:r>
          </a:p>
        </p:txBody>
      </p:sp>
    </p:spTree>
    <p:extLst>
      <p:ext uri="{BB962C8B-B14F-4D97-AF65-F5344CB8AC3E}">
        <p14:creationId xmlns:p14="http://schemas.microsoft.com/office/powerpoint/2010/main" val="14109495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1857633" y="137385"/>
            <a:ext cx="8229600" cy="863501"/>
          </a:xfrm>
        </p:spPr>
        <p:txBody>
          <a:bodyPr/>
          <a:lstStyle/>
          <a:p>
            <a:r>
              <a:rPr lang="zh-CN" altLang="en-US" sz="36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分镜头完成台本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9027" y="1112108"/>
            <a:ext cx="10725665" cy="51815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分镜头完成台本：场记对影片所做的镜头记录。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分镜头完成台本详细地标出了每个镜头的拍摄手法，涉及到镜头的很多专业知识，大致包括：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zh-CN" altLang="en-US" sz="2000" b="1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  景别（远景、全景、中景、近景、特写）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zh-CN" altLang="en-US" sz="2000" b="1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  焦距（标准镜头、短焦距镜头、长焦距镜头、变焦距镜头）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zh-CN" altLang="en-US" sz="2000" b="1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  运动（推镜头、拉镜头、摇镜头、移镜头、跟镜头）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zh-CN" altLang="en-US" sz="2000" b="1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  角度（平视镜头、俯视镜头、仰视镜头）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zh-CN" altLang="en-US" sz="2000" b="1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  视点（客观镜头、主观镜头）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zh-CN" altLang="en-US" sz="2000" b="1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  </a:t>
            </a:r>
            <a:r>
              <a:rPr lang="en-US" altLang="zh-CN" sz="2000" b="1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3548049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ea typeface="宋体" panose="02010600030101010101" pitchFamily="2" charset="-122"/>
              </a:rPr>
              <a:t>《</a:t>
            </a:r>
            <a:r>
              <a:rPr lang="zh-CN" altLang="en-US" sz="3600" dirty="0">
                <a:ea typeface="宋体" panose="02010600030101010101" pitchFamily="2" charset="-122"/>
              </a:rPr>
              <a:t>黄土地</a:t>
            </a:r>
            <a:r>
              <a:rPr lang="en-US" altLang="zh-CN" sz="3600" dirty="0">
                <a:ea typeface="宋体" panose="02010600030101010101" pitchFamily="2" charset="-122"/>
              </a:rPr>
              <a:t>》“</a:t>
            </a:r>
            <a:r>
              <a:rPr lang="zh-CN" altLang="en-US" sz="3600" dirty="0">
                <a:ea typeface="宋体" panose="02010600030101010101" pitchFamily="2" charset="-122"/>
              </a:rPr>
              <a:t>求雨”场景</a:t>
            </a:r>
          </a:p>
        </p:txBody>
      </p:sp>
      <p:graphicFrame>
        <p:nvGraphicFramePr>
          <p:cNvPr id="69635" name="Group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599" cy="4545965"/>
        </p:xfrm>
        <a:graphic>
          <a:graphicData uri="http://schemas.openxmlformats.org/drawingml/2006/table">
            <a:tbl>
              <a:tblPr/>
              <a:tblGrid>
                <a:gridCol w="856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32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416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91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08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35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85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镜号</a:t>
                      </a:r>
                    </a:p>
                  </a:txBody>
                  <a:tcPr marL="116840" marR="1168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镜位</a:t>
                      </a:r>
                    </a:p>
                  </a:txBody>
                  <a:tcPr marL="116840" marR="1168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摄法</a:t>
                      </a:r>
                    </a:p>
                  </a:txBody>
                  <a:tcPr marL="116840" marR="1168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内容</a:t>
                      </a:r>
                    </a:p>
                  </a:txBody>
                  <a:tcPr marL="116840" marR="1168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音乐</a:t>
                      </a:r>
                    </a:p>
                  </a:txBody>
                  <a:tcPr marL="116840" marR="1168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效果</a:t>
                      </a:r>
                    </a:p>
                  </a:txBody>
                  <a:tcPr marL="116840" marR="1168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长度</a:t>
                      </a:r>
                    </a:p>
                  </a:txBody>
                  <a:tcPr marL="116840" marR="1168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4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510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511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512</a:t>
                      </a:r>
                    </a:p>
                  </a:txBody>
                  <a:tcPr marL="116840" marR="1168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全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特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中</a:t>
                      </a:r>
                    </a:p>
                  </a:txBody>
                  <a:tcPr marL="116840" marR="1168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仰</a:t>
                      </a:r>
                    </a:p>
                  </a:txBody>
                  <a:tcPr marL="116840" marR="1168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4/5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天空）仰天跪着的庄稼汉们的全景，他们的头被低低地压在画面底部，他们等待着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……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水塘中静止不动的圣水瓶。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跪在庄稼汉前面的翠巧爹，用手抹了抹眼里流出的泪水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……</a:t>
                      </a:r>
                    </a:p>
                  </a:txBody>
                  <a:tcPr marL="116840" marR="1168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840" marR="1168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840" marR="1168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6840" marR="1168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3357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637450258638150867</Template>
  <TotalTime>4776</TotalTime>
  <Words>2362</Words>
  <Application>Microsoft Office PowerPoint</Application>
  <PresentationFormat>宽屏</PresentationFormat>
  <Paragraphs>183</Paragraphs>
  <Slides>25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5" baseType="lpstr">
      <vt:lpstr>Microsoft YaHei UI</vt:lpstr>
      <vt:lpstr>等线</vt:lpstr>
      <vt:lpstr>等线 Light</vt:lpstr>
      <vt:lpstr>方正粗黑宋简体</vt:lpstr>
      <vt:lpstr>华文隶书</vt:lpstr>
      <vt:lpstr>楷体_GB2312</vt:lpstr>
      <vt:lpstr>宋体</vt:lpstr>
      <vt:lpstr>Arial</vt:lpstr>
      <vt:lpstr>Wingdings</vt:lpstr>
      <vt:lpstr>Office 主题​​</vt:lpstr>
      <vt:lpstr>  《创意写作·剧本写作》  </vt:lpstr>
      <vt:lpstr>剧本格式的常见种类</vt:lpstr>
      <vt:lpstr>分场景格式</vt:lpstr>
      <vt:lpstr>PowerPoint 演示文稿</vt:lpstr>
      <vt:lpstr>场景与镜头</vt:lpstr>
      <vt:lpstr>分场景剧本内容</vt:lpstr>
      <vt:lpstr>场景标题</vt:lpstr>
      <vt:lpstr>场景标题 注意点</vt:lpstr>
      <vt:lpstr>动作段落</vt:lpstr>
      <vt:lpstr>场景设计</vt:lpstr>
      <vt:lpstr>介绍人物</vt:lpstr>
      <vt:lpstr>人物对话</vt:lpstr>
      <vt:lpstr>分场景剧本写作注意</vt:lpstr>
      <vt:lpstr>PowerPoint 演示文稿</vt:lpstr>
      <vt:lpstr>场景设计注意点</vt:lpstr>
      <vt:lpstr>PowerPoint 演示文稿</vt:lpstr>
      <vt:lpstr>PowerPoint 演示文稿</vt:lpstr>
      <vt:lpstr>音效</vt:lpstr>
      <vt:lpstr>小说格式剧本</vt:lpstr>
      <vt:lpstr>PowerPoint 演示文稿</vt:lpstr>
      <vt:lpstr>PowerPoint 演示文稿</vt:lpstr>
      <vt:lpstr>分镜头格式剧本</vt:lpstr>
      <vt:lpstr>冯小宁《红河谷》</vt:lpstr>
      <vt:lpstr>分镜头完成台本</vt:lpstr>
      <vt:lpstr>《黄土地》“求雨”场景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袁颖</dc:creator>
  <cp:lastModifiedBy>7423189@qq.com</cp:lastModifiedBy>
  <cp:revision>612</cp:revision>
  <cp:lastPrinted>2021-06-11T06:40:00Z</cp:lastPrinted>
  <dcterms:created xsi:type="dcterms:W3CDTF">2020-07-22T07:30:00Z</dcterms:created>
  <dcterms:modified xsi:type="dcterms:W3CDTF">2026-04-27T01:26:26Z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2052-11.1.0.10667</vt:lpwstr>
  </property>
  <property fmtid="{D5CDD505-2E9C-101B-9397-08002B2CF9AE}" pid="3" name="ICV">
    <vt:lpwstr>3FA5EADB6F5949EBB7C8C35870E30C9C</vt:lpwstr>
  </property>
</Properties>
</file>