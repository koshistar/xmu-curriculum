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502" r:id="rId2"/>
    <p:sldId id="530" r:id="rId3"/>
    <p:sldId id="557" r:id="rId4"/>
    <p:sldId id="558" r:id="rId5"/>
    <p:sldId id="559" r:id="rId6"/>
    <p:sldId id="560" r:id="rId7"/>
    <p:sldId id="561" r:id="rId8"/>
    <p:sldId id="562" r:id="rId9"/>
    <p:sldId id="563" r:id="rId10"/>
    <p:sldId id="566" r:id="rId11"/>
    <p:sldId id="567" r:id="rId12"/>
    <p:sldId id="569" r:id="rId13"/>
    <p:sldId id="570" r:id="rId14"/>
    <p:sldId id="571" r:id="rId15"/>
    <p:sldId id="572" r:id="rId16"/>
    <p:sldId id="573" r:id="rId17"/>
    <p:sldId id="574" r:id="rId18"/>
    <p:sldId id="575" r:id="rId19"/>
    <p:sldId id="578" r:id="rId20"/>
    <p:sldId id="580" r:id="rId21"/>
    <p:sldId id="581" r:id="rId22"/>
  </p:sldIdLst>
  <p:sldSz cx="12192000" cy="6858000"/>
  <p:notesSz cx="6807200" cy="99393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4">
          <p15:clr>
            <a:srgbClr val="A4A3A4"/>
          </p15:clr>
        </p15:guide>
        <p15:guide id="2" pos="3888">
          <p15:clr>
            <a:srgbClr val="A4A3A4"/>
          </p15:clr>
        </p15:guide>
        <p15:guide id="3" orient="horz" pos="232">
          <p15:clr>
            <a:srgbClr val="A4A3A4"/>
          </p15:clr>
        </p15:guide>
        <p15:guide id="4" pos="255">
          <p15:clr>
            <a:srgbClr val="A4A3A4"/>
          </p15:clr>
        </p15:guide>
        <p15:guide id="5" pos="737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D7422A"/>
    <a:srgbClr val="0000FF"/>
    <a:srgbClr val="DD442B"/>
    <a:srgbClr val="FFFFFF"/>
    <a:srgbClr val="D8422A"/>
    <a:srgbClr val="E84C22"/>
    <a:srgbClr val="F0B9B0"/>
    <a:srgbClr val="F1947A"/>
    <a:srgbClr val="EEC8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85" autoAdjust="0"/>
    <p:restoredTop sz="94660"/>
  </p:normalViewPr>
  <p:slideViewPr>
    <p:cSldViewPr snapToGrid="0">
      <p:cViewPr varScale="1">
        <p:scale>
          <a:sx n="66" d="100"/>
          <a:sy n="66" d="100"/>
        </p:scale>
        <p:origin x="62" y="348"/>
      </p:cViewPr>
      <p:guideLst>
        <p:guide orient="horz" pos="2084"/>
        <p:guide pos="3888"/>
        <p:guide orient="horz" pos="232"/>
        <p:guide pos="255"/>
        <p:guide pos="737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271ECB86-27E8-49B8-8C01-8AEB3EA7FCA4}" type="datetimeFigureOut">
              <a:rPr lang="zh-CN" altLang="en-US" smtClean="0"/>
              <a:t>2026/4/27</a:t>
            </a:fld>
            <a:endParaRPr lang="zh-CN" altLang="en-US"/>
          </a:p>
        </p:txBody>
      </p:sp>
      <p:sp>
        <p:nvSpPr>
          <p:cNvPr id="4" name="幻灯片图像占位符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389ADC42-6DA7-480B-8731-5F1CC932741D}" type="slidenum">
              <a:rPr lang="zh-CN" altLang="en-US" smtClean="0"/>
              <a:t>‹#›</a:t>
            </a:fld>
            <a:endParaRPr lang="zh-CN" altLang="en-US"/>
          </a:p>
        </p:txBody>
      </p:sp>
    </p:spTree>
    <p:extLst>
      <p:ext uri="{BB962C8B-B14F-4D97-AF65-F5344CB8AC3E}">
        <p14:creationId xmlns:p14="http://schemas.microsoft.com/office/powerpoint/2010/main" val="1294267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rtlCol="0"/>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DF61EA0F-A667-4B49-8422-0062BC55E249}" type="slidenum">
              <a:rPr lang="en-US" altLang="zh-CN" smtClean="0"/>
              <a:t>1</a:t>
            </a:fld>
            <a:endParaRPr lang="zh-CN" altLang="en-US"/>
          </a:p>
        </p:txBody>
      </p:sp>
    </p:spTree>
    <p:extLst>
      <p:ext uri="{BB962C8B-B14F-4D97-AF65-F5344CB8AC3E}">
        <p14:creationId xmlns:p14="http://schemas.microsoft.com/office/powerpoint/2010/main" val="18507274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20ED98A4-695F-4B48-95E5-853BA05E07D6}" type="datetimeFigureOut">
              <a:rPr lang="zh-CN" altLang="en-US" smtClean="0"/>
              <a:t>2026/4/27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F7F147-5A32-4FB8-A850-36B8B0C9C018}" type="slidenum">
              <a:rPr lang="zh-CN" altLang="en-US" smtClean="0"/>
              <a:t>‹#›</a:t>
            </a:fld>
            <a:endParaRPr lang="zh-CN" altLang="en-US"/>
          </a:p>
        </p:txBody>
      </p:sp>
      <p:grpSp>
        <p:nvGrpSpPr>
          <p:cNvPr id="7" name="组合 6"/>
          <p:cNvGrpSpPr/>
          <p:nvPr userDrawn="1"/>
        </p:nvGrpSpPr>
        <p:grpSpPr bwMode="auto">
          <a:xfrm>
            <a:off x="6031580" y="0"/>
            <a:ext cx="6160420" cy="770389"/>
            <a:chOff x="5000628" y="214290"/>
            <a:chExt cx="3970722" cy="660159"/>
          </a:xfrm>
        </p:grpSpPr>
        <p:pic>
          <p:nvPicPr>
            <p:cNvPr id="8" name="Picture 1"/>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78502" y="216002"/>
              <a:ext cx="792848"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000628" y="214290"/>
              <a:ext cx="801466" cy="660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594222" y="219075"/>
              <a:ext cx="792128" cy="65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5" descr="E:\My Documents\My Pictures\厦门大学图片库\厦大风光\柳垂芙蓉.bmp"/>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386351" y="216002"/>
              <a:ext cx="792151"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6" descr="E:\My Documents\My Pictures\厦门大学图片库\厦大风光\嘉庚铜像.jpg"/>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802094" y="216002"/>
              <a:ext cx="792128"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 name="图片 12"/>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0" y="-266162"/>
            <a:ext cx="1539941" cy="153994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0ED98A4-695F-4B48-95E5-853BA05E07D6}" type="datetimeFigureOut">
              <a:rPr lang="zh-CN" altLang="en-US" smtClean="0"/>
              <a:t>2026/4/27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F7F147-5A32-4FB8-A850-36B8B0C9C018}" type="slidenum">
              <a:rPr lang="zh-CN" altLang="en-US" smtClean="0"/>
              <a:t>‹#›</a:t>
            </a:fld>
            <a:endParaRPr lang="zh-CN" altLang="en-US"/>
          </a:p>
        </p:txBody>
      </p:sp>
      <p:grpSp>
        <p:nvGrpSpPr>
          <p:cNvPr id="7" name="组合 6"/>
          <p:cNvGrpSpPr/>
          <p:nvPr userDrawn="1"/>
        </p:nvGrpSpPr>
        <p:grpSpPr bwMode="auto">
          <a:xfrm>
            <a:off x="6031580" y="0"/>
            <a:ext cx="6160420" cy="770389"/>
            <a:chOff x="5000628" y="214290"/>
            <a:chExt cx="3970722" cy="660159"/>
          </a:xfrm>
        </p:grpSpPr>
        <p:pic>
          <p:nvPicPr>
            <p:cNvPr id="8" name="Picture 1"/>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78502" y="216002"/>
              <a:ext cx="792848"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000628" y="214290"/>
              <a:ext cx="801466" cy="660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594222" y="219075"/>
              <a:ext cx="792128" cy="65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5" descr="E:\My Documents\My Pictures\厦门大学图片库\厦大风光\柳垂芙蓉.bmp"/>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386351" y="216002"/>
              <a:ext cx="792151"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6" descr="E:\My Documents\My Pictures\厦门大学图片库\厦大风光\嘉庚铜像.jpg"/>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802094" y="216002"/>
              <a:ext cx="792128"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 name="图片 12"/>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0" y="-266162"/>
            <a:ext cx="1539941" cy="153994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20ED98A4-695F-4B48-95E5-853BA05E07D6}" type="datetimeFigureOut">
              <a:rPr lang="zh-CN" altLang="en-US" smtClean="0"/>
              <a:t>2026/4/27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F7F147-5A32-4FB8-A850-36B8B0C9C018}"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0ED98A4-695F-4B48-95E5-853BA05E07D6}" type="datetimeFigureOut">
              <a:rPr lang="zh-CN" altLang="en-US" smtClean="0"/>
              <a:t>2026/4/27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F7F147-5A32-4FB8-A850-36B8B0C9C018}"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0ED98A4-695F-4B48-95E5-853BA05E07D6}" type="datetimeFigureOut">
              <a:rPr lang="zh-CN" altLang="en-US" smtClean="0"/>
              <a:t>2026/4/27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FF7F147-5A32-4FB8-A850-36B8B0C9C018}"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7" name="图片 6" descr="0326_文广会展物料(转曲)-14.jpg"/>
          <p:cNvPicPr>
            <a:picLocks noChangeAspect="1"/>
          </p:cNvPicPr>
          <p:nvPr userDrawn="1"/>
        </p:nvPicPr>
        <p:blipFill>
          <a:blip r:embed="rId2" cstate="print"/>
          <a:stretch>
            <a:fillRect/>
          </a:stretch>
        </p:blipFill>
        <p:spPr>
          <a:xfrm>
            <a:off x="-20840" y="0"/>
            <a:ext cx="12170800" cy="6858000"/>
          </a:xfrm>
          <a:prstGeom prst="rect">
            <a:avLst/>
          </a:prstGeom>
        </p:spPr>
      </p:pic>
      <p:sp>
        <p:nvSpPr>
          <p:cNvPr id="3" name="日期占位符 2"/>
          <p:cNvSpPr>
            <a:spLocks noGrp="1"/>
          </p:cNvSpPr>
          <p:nvPr>
            <p:ph type="dt" sz="half" idx="10"/>
          </p:nvPr>
        </p:nvSpPr>
        <p:spPr/>
        <p:txBody>
          <a:bodyPr/>
          <a:lstStyle/>
          <a:p>
            <a:fld id="{20ED98A4-695F-4B48-95E5-853BA05E07D6}" type="datetimeFigureOut">
              <a:rPr lang="zh-CN" altLang="en-US" smtClean="0"/>
              <a:t>2026/4/27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F7F147-5A32-4FB8-A850-36B8B0C9C018}"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ED98A4-695F-4B48-95E5-853BA05E07D6}" type="datetimeFigureOut">
              <a:rPr lang="zh-CN" altLang="en-US" smtClean="0"/>
              <a:t>2026/4/27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FF7F147-5A32-4FB8-A850-36B8B0C9C018}"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20ED98A4-695F-4B48-95E5-853BA05E07D6}" type="datetimeFigureOut">
              <a:rPr lang="zh-CN" altLang="en-US" smtClean="0"/>
              <a:t>2026/4/27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F7F147-5A32-4FB8-A850-36B8B0C9C018}"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20ED98A4-695F-4B48-95E5-853BA05E07D6}" type="datetimeFigureOut">
              <a:rPr lang="zh-CN" altLang="en-US" smtClean="0"/>
              <a:t>2026/4/27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F7F147-5A32-4FB8-A850-36B8B0C9C018}"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0ED98A4-695F-4B48-95E5-853BA05E07D6}" type="datetimeFigureOut">
              <a:rPr lang="zh-CN" altLang="en-US" smtClean="0"/>
              <a:t>2026/4/27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F7F147-5A32-4FB8-A850-36B8B0C9C01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0ED98A4-695F-4B48-95E5-853BA05E07D6}" type="datetimeFigureOut">
              <a:rPr lang="zh-CN" altLang="en-US" smtClean="0"/>
              <a:t>2026/4/27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F7F147-5A32-4FB8-A850-36B8B0C9C018}"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长方形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800"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Tree>
    <p:extLst>
      <p:ext uri="{BB962C8B-B14F-4D97-AF65-F5344CB8AC3E}">
        <p14:creationId xmlns:p14="http://schemas.microsoft.com/office/powerpoint/2010/main" val="2837225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ED98A4-695F-4B48-95E5-853BA05E07D6}" type="datetimeFigureOut">
              <a:rPr lang="zh-CN" altLang="en-US" smtClean="0"/>
              <a:t>2026/4/27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F7F147-5A32-4FB8-A850-36B8B0C9C01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4294967295"/>
          </p:nvPr>
        </p:nvSpPr>
        <p:spPr>
          <a:xfrm>
            <a:off x="1614572" y="2180024"/>
            <a:ext cx="9242404" cy="1355655"/>
          </a:xfrm>
        </p:spPr>
        <p:txBody>
          <a:bodyPr rtlCol="0">
            <a:noAutofit/>
          </a:bodyPr>
          <a:lstStyle/>
          <a:p>
            <a:pPr marL="0" indent="0" algn="ctr" rtl="0">
              <a:buNone/>
            </a:pPr>
            <a:r>
              <a:rPr lang="zh-CN" altLang="en-US" sz="6000" dirty="0">
                <a:solidFill>
                  <a:schemeClr val="accent4">
                    <a:lumMod val="60000"/>
                    <a:lumOff val="40000"/>
                  </a:schemeClr>
                </a:solidFill>
                <a:latin typeface="方正粗黑宋简体" panose="02000000000000000000" pitchFamily="2" charset="-122"/>
                <a:ea typeface="方正粗黑宋简体" panose="02000000000000000000" pitchFamily="2" charset="-122"/>
              </a:rPr>
              <a:t>戏剧剧本样式与格式</a:t>
            </a:r>
          </a:p>
        </p:txBody>
      </p:sp>
      <p:sp>
        <p:nvSpPr>
          <p:cNvPr id="5" name="标题 4"/>
          <p:cNvSpPr>
            <a:spLocks noGrp="1"/>
          </p:cNvSpPr>
          <p:nvPr>
            <p:ph type="title"/>
          </p:nvPr>
        </p:nvSpPr>
        <p:spPr>
          <a:xfrm>
            <a:off x="2524413" y="709039"/>
            <a:ext cx="6918960" cy="801624"/>
          </a:xfrm>
        </p:spPr>
        <p:txBody>
          <a:bodyPr>
            <a:normAutofit fontScale="90000"/>
          </a:bodyPr>
          <a:lstStyle/>
          <a:p>
            <a:pPr algn="r"/>
            <a:br>
              <a:rPr lang="en-US" altLang="zh-CN" dirty="0"/>
            </a:br>
            <a:br>
              <a:rPr lang="en-US" altLang="zh-CN" dirty="0"/>
            </a:br>
            <a:r>
              <a:rPr lang="en-US" altLang="zh-CN" dirty="0">
                <a:solidFill>
                  <a:schemeClr val="accent4">
                    <a:lumMod val="60000"/>
                    <a:lumOff val="40000"/>
                  </a:schemeClr>
                </a:solidFill>
                <a:latin typeface="华文隶书" panose="02010800040101010101" pitchFamily="2" charset="-122"/>
                <a:ea typeface="华文隶书" panose="02010800040101010101" pitchFamily="2" charset="-122"/>
              </a:rPr>
              <a:t>《</a:t>
            </a:r>
            <a:r>
              <a:rPr lang="zh-CN" altLang="en-US" dirty="0">
                <a:solidFill>
                  <a:schemeClr val="accent4">
                    <a:lumMod val="60000"/>
                    <a:lumOff val="40000"/>
                  </a:schemeClr>
                </a:solidFill>
                <a:latin typeface="华文隶书" panose="02010800040101010101" pitchFamily="2" charset="-122"/>
                <a:ea typeface="华文隶书" panose="02010800040101010101" pitchFamily="2" charset="-122"/>
              </a:rPr>
              <a:t>编剧概论</a:t>
            </a:r>
            <a:r>
              <a:rPr lang="en-US" altLang="zh-CN" dirty="0">
                <a:solidFill>
                  <a:schemeClr val="accent4">
                    <a:lumMod val="60000"/>
                    <a:lumOff val="40000"/>
                  </a:schemeClr>
                </a:solidFill>
                <a:latin typeface="华文隶书" panose="02010800040101010101" pitchFamily="2" charset="-122"/>
                <a:ea typeface="华文隶书" panose="02010800040101010101" pitchFamily="2" charset="-122"/>
              </a:rPr>
              <a:t>》</a:t>
            </a:r>
            <a:br>
              <a:rPr lang="zh-CN" altLang="en-US" dirty="0">
                <a:solidFill>
                  <a:schemeClr val="accent4">
                    <a:lumMod val="60000"/>
                    <a:lumOff val="40000"/>
                  </a:schemeClr>
                </a:solidFill>
                <a:latin typeface="华文隶书" panose="02010800040101010101" pitchFamily="2" charset="-122"/>
                <a:ea typeface="华文隶书" panose="02010800040101010101" pitchFamily="2" charset="-122"/>
              </a:rPr>
            </a:br>
            <a:br>
              <a:rPr lang="en-US" altLang="zh-CN" dirty="0"/>
            </a:br>
            <a:endParaRPr lang="zh-CN" altLang="en-US" sz="4400" dirty="0">
              <a:solidFill>
                <a:schemeClr val="accent4">
                  <a:lumMod val="60000"/>
                  <a:lumOff val="40000"/>
                </a:schemeClr>
              </a:solidFill>
              <a:latin typeface="华文隶书" panose="02010800040101010101" pitchFamily="2" charset="-122"/>
              <a:ea typeface="华文隶书" panose="02010800040101010101" pitchFamily="2" charset="-122"/>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817" y="393138"/>
            <a:ext cx="1931837" cy="1249788"/>
          </a:xfrm>
          <a:prstGeom prst="rect">
            <a:avLst/>
          </a:prstGeom>
        </p:spPr>
      </p:pic>
      <p:grpSp>
        <p:nvGrpSpPr>
          <p:cNvPr id="7" name="组合 6"/>
          <p:cNvGrpSpPr/>
          <p:nvPr/>
        </p:nvGrpSpPr>
        <p:grpSpPr>
          <a:xfrm>
            <a:off x="228822" y="393138"/>
            <a:ext cx="11585448" cy="6205728"/>
            <a:chOff x="-1872053" y="-19051"/>
            <a:chExt cx="14129368" cy="7150764"/>
          </a:xfrm>
        </p:grpSpPr>
        <p:pic>
          <p:nvPicPr>
            <p:cNvPr id="8" name="图片 7"/>
            <p:cNvPicPr>
              <a:picLocks noChangeAspect="1"/>
            </p:cNvPicPr>
            <p:nvPr/>
          </p:nvPicPr>
          <p:blipFill rotWithShape="1">
            <a:blip r:embed="rId4" cstate="print">
              <a:extLst>
                <a:ext uri="{28A0092B-C50C-407E-A947-70E740481C1C}">
                  <a14:useLocalDpi xmlns:a14="http://schemas.microsoft.com/office/drawing/2010/main" val="0"/>
                </a:ext>
              </a:extLst>
            </a:blip>
            <a:srcRect l="5786" r="12156" b="37144"/>
            <a:stretch>
              <a:fillRect/>
            </a:stretch>
          </p:blipFill>
          <p:spPr>
            <a:xfrm>
              <a:off x="-1120878" y="4202882"/>
              <a:ext cx="13303046" cy="2928831"/>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251" y="5255614"/>
              <a:ext cx="12309566" cy="1843540"/>
            </a:xfrm>
            <a:prstGeom prst="rect">
              <a:avLst/>
            </a:prstGeom>
          </p:spPr>
        </p:pic>
        <p:pic>
          <p:nvPicPr>
            <p:cNvPr id="10" name="图片 9"/>
            <p:cNvPicPr>
              <a:picLocks noChangeAspect="1"/>
            </p:cNvPicPr>
            <p:nvPr/>
          </p:nvPicPr>
          <p:blipFill rotWithShape="1">
            <a:blip r:embed="rId6" cstate="print">
              <a:extLst>
                <a:ext uri="{28A0092B-C50C-407E-A947-70E740481C1C}">
                  <a14:useLocalDpi xmlns:a14="http://schemas.microsoft.com/office/drawing/2010/main" val="0"/>
                </a:ext>
              </a:extLst>
            </a:blip>
            <a:srcRect t="32634" r="37155"/>
            <a:stretch>
              <a:fillRect/>
            </a:stretch>
          </p:blipFill>
          <p:spPr>
            <a:xfrm>
              <a:off x="9325200" y="-19051"/>
              <a:ext cx="2885850" cy="2852239"/>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9492328">
              <a:off x="-1872053" y="1199221"/>
              <a:ext cx="3744106" cy="3452158"/>
            </a:xfrm>
            <a:prstGeom prst="rect">
              <a:avLst/>
            </a:prstGeom>
          </p:spPr>
        </p:pic>
      </p:grpSp>
      <p:sp>
        <p:nvSpPr>
          <p:cNvPr id="14" name="文本框 13"/>
          <p:cNvSpPr txBox="1"/>
          <p:nvPr/>
        </p:nvSpPr>
        <p:spPr>
          <a:xfrm>
            <a:off x="7022592" y="4285488"/>
            <a:ext cx="4431792" cy="707886"/>
          </a:xfrm>
          <a:prstGeom prst="rect">
            <a:avLst/>
          </a:prstGeom>
          <a:noFill/>
        </p:spPr>
        <p:txBody>
          <a:bodyPr wrap="square" rtlCol="0">
            <a:spAutoFit/>
          </a:bodyPr>
          <a:lstStyle/>
          <a:p>
            <a:r>
              <a:rPr lang="zh-CN" altLang="en-US" sz="4000" dirty="0">
                <a:solidFill>
                  <a:schemeClr val="accent4">
                    <a:lumMod val="60000"/>
                    <a:lumOff val="40000"/>
                  </a:schemeClr>
                </a:solidFill>
                <a:latin typeface="华文隶书" panose="02010800040101010101" pitchFamily="2" charset="-122"/>
                <a:ea typeface="华文隶书" panose="02010800040101010101" pitchFamily="2" charset="-122"/>
              </a:rPr>
              <a:t>厦门大学   王晓红</a:t>
            </a:r>
          </a:p>
        </p:txBody>
      </p:sp>
    </p:spTree>
    <p:extLst>
      <p:ext uri="{BB962C8B-B14F-4D97-AF65-F5344CB8AC3E}">
        <p14:creationId xmlns:p14="http://schemas.microsoft.com/office/powerpoint/2010/main" val="4101061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xfrm>
            <a:off x="2052353" y="343931"/>
            <a:ext cx="7506457" cy="842973"/>
          </a:xfrm>
        </p:spPr>
        <p:txBody>
          <a:bodyPr>
            <a:normAutofit/>
          </a:bodyPr>
          <a:lstStyle/>
          <a:p>
            <a:pPr algn="ctr"/>
            <a:r>
              <a:rPr lang="zh-CN" altLang="en-US" sz="4000" dirty="0">
                <a:latin typeface="方正粗黑宋简体" panose="02000000000000000000" pitchFamily="2" charset="-122"/>
                <a:ea typeface="方正粗黑宋简体" panose="02000000000000000000" pitchFamily="2" charset="-122"/>
              </a:rPr>
              <a:t>戏剧剧组构成</a:t>
            </a:r>
          </a:p>
        </p:txBody>
      </p:sp>
      <p:sp>
        <p:nvSpPr>
          <p:cNvPr id="5123" name="内容占位符 2"/>
          <p:cNvSpPr>
            <a:spLocks noGrp="1"/>
          </p:cNvSpPr>
          <p:nvPr>
            <p:ph sz="half" idx="1"/>
          </p:nvPr>
        </p:nvSpPr>
        <p:spPr>
          <a:xfrm>
            <a:off x="1809751" y="1643063"/>
            <a:ext cx="3357563" cy="4572000"/>
          </a:xfrm>
        </p:spPr>
        <p:txBody>
          <a:bodyPr>
            <a:normAutofit lnSpcReduction="10000"/>
          </a:bodyPr>
          <a:lstStyle/>
          <a:p>
            <a:r>
              <a:rPr lang="zh-CN" altLang="en-US" sz="2400" b="1">
                <a:latin typeface="黑体" panose="02010609060101010101" pitchFamily="49" charset="-122"/>
                <a:ea typeface="黑体" panose="02010609060101010101" pitchFamily="49" charset="-122"/>
              </a:rPr>
              <a:t>策划</a:t>
            </a:r>
            <a:endParaRPr lang="en-US" altLang="zh-CN" sz="2400" b="1">
              <a:latin typeface="黑体" panose="02010609060101010101" pitchFamily="49" charset="-122"/>
              <a:ea typeface="黑体" panose="02010609060101010101" pitchFamily="49" charset="-122"/>
            </a:endParaRPr>
          </a:p>
          <a:p>
            <a:r>
              <a:rPr lang="zh-CN" altLang="en-US" sz="2400" b="1">
                <a:latin typeface="黑体" panose="02010609060101010101" pitchFamily="49" charset="-122"/>
                <a:ea typeface="黑体" panose="02010609060101010101" pitchFamily="49" charset="-122"/>
              </a:rPr>
              <a:t>监制</a:t>
            </a:r>
            <a:endParaRPr lang="en-US" altLang="zh-CN" sz="2400" b="1">
              <a:latin typeface="黑体" panose="02010609060101010101" pitchFamily="49" charset="-122"/>
              <a:ea typeface="黑体" panose="02010609060101010101" pitchFamily="49" charset="-122"/>
            </a:endParaRPr>
          </a:p>
          <a:p>
            <a:r>
              <a:rPr lang="zh-CN" altLang="en-US" sz="2400" b="1">
                <a:latin typeface="黑体" panose="02010609060101010101" pitchFamily="49" charset="-122"/>
                <a:ea typeface="黑体" panose="02010609060101010101" pitchFamily="49" charset="-122"/>
              </a:rPr>
              <a:t>顾问</a:t>
            </a:r>
            <a:endParaRPr lang="en-US" altLang="zh-CN" sz="2400" b="1">
              <a:latin typeface="黑体" panose="02010609060101010101" pitchFamily="49" charset="-122"/>
              <a:ea typeface="黑体" panose="02010609060101010101" pitchFamily="49" charset="-122"/>
            </a:endParaRPr>
          </a:p>
          <a:p>
            <a:r>
              <a:rPr lang="zh-CN" altLang="en-US" sz="2400" b="1">
                <a:latin typeface="黑体" panose="02010609060101010101" pitchFamily="49" charset="-122"/>
                <a:ea typeface="黑体" panose="02010609060101010101" pitchFamily="49" charset="-122"/>
              </a:rPr>
              <a:t>艺术总监（指导）</a:t>
            </a:r>
            <a:endParaRPr lang="en-US" altLang="zh-CN" sz="2400" b="1">
              <a:latin typeface="黑体" panose="02010609060101010101" pitchFamily="49" charset="-122"/>
              <a:ea typeface="黑体" panose="02010609060101010101" pitchFamily="49" charset="-122"/>
            </a:endParaRPr>
          </a:p>
          <a:p>
            <a:r>
              <a:rPr lang="zh-CN" altLang="en-US" sz="2400" b="1">
                <a:latin typeface="黑体" panose="02010609060101010101" pitchFamily="49" charset="-122"/>
                <a:ea typeface="黑体" panose="02010609060101010101" pitchFamily="49" charset="-122"/>
              </a:rPr>
              <a:t>制作人</a:t>
            </a:r>
            <a:endParaRPr lang="en-US" altLang="zh-CN" sz="2400" b="1">
              <a:latin typeface="黑体" panose="02010609060101010101" pitchFamily="49" charset="-122"/>
              <a:ea typeface="黑体" panose="02010609060101010101" pitchFamily="49" charset="-122"/>
            </a:endParaRPr>
          </a:p>
          <a:p>
            <a:r>
              <a:rPr lang="zh-CN" altLang="en-US" sz="2400" b="1">
                <a:latin typeface="黑体" panose="02010609060101010101" pitchFamily="49" charset="-122"/>
                <a:ea typeface="黑体" panose="02010609060101010101" pitchFamily="49" charset="-122"/>
              </a:rPr>
              <a:t>（执行制作）</a:t>
            </a:r>
            <a:endParaRPr lang="en-US" altLang="zh-CN" sz="2400" b="1">
              <a:latin typeface="黑体" panose="02010609060101010101" pitchFamily="49" charset="-122"/>
              <a:ea typeface="黑体" panose="02010609060101010101" pitchFamily="49" charset="-122"/>
            </a:endParaRPr>
          </a:p>
          <a:p>
            <a:endParaRPr lang="en-US" altLang="zh-CN" sz="2400" b="1">
              <a:latin typeface="黑体" panose="02010609060101010101" pitchFamily="49" charset="-122"/>
              <a:ea typeface="黑体" panose="02010609060101010101" pitchFamily="49" charset="-122"/>
            </a:endParaRPr>
          </a:p>
          <a:p>
            <a:r>
              <a:rPr lang="zh-CN" altLang="en-US" sz="2400" b="1">
                <a:latin typeface="黑体" panose="02010609060101010101" pitchFamily="49" charset="-122"/>
                <a:ea typeface="黑体" panose="02010609060101010101" pitchFamily="49" charset="-122"/>
              </a:rPr>
              <a:t>编剧</a:t>
            </a:r>
            <a:endParaRPr lang="en-US" altLang="zh-CN" sz="2400" b="1">
              <a:latin typeface="黑体" panose="02010609060101010101" pitchFamily="49" charset="-122"/>
              <a:ea typeface="黑体" panose="02010609060101010101" pitchFamily="49" charset="-122"/>
            </a:endParaRPr>
          </a:p>
          <a:p>
            <a:r>
              <a:rPr lang="zh-CN" altLang="en-US" sz="2400" b="1">
                <a:latin typeface="黑体" panose="02010609060101010101" pitchFamily="49" charset="-122"/>
                <a:ea typeface="黑体" panose="02010609060101010101" pitchFamily="49" charset="-122"/>
              </a:rPr>
              <a:t>导演</a:t>
            </a:r>
            <a:endParaRPr lang="en-US" altLang="zh-CN" sz="2400" b="1">
              <a:latin typeface="黑体" panose="02010609060101010101" pitchFamily="49" charset="-122"/>
              <a:ea typeface="黑体" panose="02010609060101010101" pitchFamily="49" charset="-122"/>
            </a:endParaRPr>
          </a:p>
          <a:p>
            <a:endParaRPr lang="en-US" altLang="zh-CN"/>
          </a:p>
          <a:p>
            <a:endParaRPr lang="zh-CN" altLang="en-US"/>
          </a:p>
        </p:txBody>
      </p:sp>
      <p:sp>
        <p:nvSpPr>
          <p:cNvPr id="5124" name="内容占位符 3"/>
          <p:cNvSpPr>
            <a:spLocks noGrp="1"/>
          </p:cNvSpPr>
          <p:nvPr>
            <p:ph sz="half" idx="2"/>
          </p:nvPr>
        </p:nvSpPr>
        <p:spPr>
          <a:xfrm>
            <a:off x="6881814" y="1500188"/>
            <a:ext cx="3500437" cy="4857750"/>
          </a:xfrm>
        </p:spPr>
        <p:txBody>
          <a:bodyPr>
            <a:normAutofit lnSpcReduction="10000"/>
          </a:bodyPr>
          <a:lstStyle/>
          <a:p>
            <a:r>
              <a:rPr lang="zh-CN" altLang="en-US" sz="2200" b="1" dirty="0">
                <a:latin typeface="黑体" panose="02010609060101010101" pitchFamily="49" charset="-122"/>
                <a:ea typeface="黑体" panose="02010609060101010101" pitchFamily="49" charset="-122"/>
              </a:rPr>
              <a:t>舞台监督</a:t>
            </a:r>
            <a:endParaRPr lang="en-US" altLang="zh-CN" sz="2200" b="1" dirty="0">
              <a:latin typeface="黑体" panose="02010609060101010101" pitchFamily="49" charset="-122"/>
              <a:ea typeface="黑体" panose="02010609060101010101" pitchFamily="49" charset="-122"/>
            </a:endParaRPr>
          </a:p>
          <a:p>
            <a:r>
              <a:rPr lang="zh-CN" altLang="en-US" sz="2200" b="1" dirty="0">
                <a:latin typeface="黑体" panose="02010609060101010101" pitchFamily="49" charset="-122"/>
                <a:ea typeface="黑体" panose="02010609060101010101" pitchFamily="49" charset="-122"/>
              </a:rPr>
              <a:t>（导演助理）</a:t>
            </a:r>
            <a:endParaRPr lang="en-US" altLang="zh-CN" sz="2200" b="1" dirty="0">
              <a:latin typeface="黑体" panose="02010609060101010101" pitchFamily="49" charset="-122"/>
              <a:ea typeface="黑体" panose="02010609060101010101" pitchFamily="49" charset="-122"/>
            </a:endParaRPr>
          </a:p>
          <a:p>
            <a:r>
              <a:rPr lang="zh-CN" altLang="en-US" sz="2200" b="1" dirty="0">
                <a:latin typeface="黑体" panose="02010609060101010101" pitchFamily="49" charset="-122"/>
                <a:ea typeface="黑体" panose="02010609060101010101" pitchFamily="49" charset="-122"/>
              </a:rPr>
              <a:t>舞美设计</a:t>
            </a:r>
            <a:endParaRPr lang="en-US" altLang="zh-CN" sz="2200" b="1" dirty="0">
              <a:latin typeface="黑体" panose="02010609060101010101" pitchFamily="49" charset="-122"/>
              <a:ea typeface="黑体" panose="02010609060101010101" pitchFamily="49" charset="-122"/>
            </a:endParaRPr>
          </a:p>
          <a:p>
            <a:r>
              <a:rPr lang="zh-CN" altLang="en-US" sz="2200" b="1">
                <a:latin typeface="黑体" panose="02010609060101010101" pitchFamily="49" charset="-122"/>
                <a:ea typeface="黑体" panose="02010609060101010101" pitchFamily="49" charset="-122"/>
              </a:rPr>
              <a:t>灯光设计</a:t>
            </a:r>
            <a:endParaRPr lang="en-US" altLang="zh-CN" sz="2200" b="1">
              <a:latin typeface="黑体" panose="02010609060101010101" pitchFamily="49" charset="-122"/>
              <a:ea typeface="黑体" panose="02010609060101010101" pitchFamily="49" charset="-122"/>
            </a:endParaRPr>
          </a:p>
          <a:p>
            <a:r>
              <a:rPr lang="zh-CN" altLang="en-US" sz="2200" b="1" dirty="0">
                <a:latin typeface="黑体" panose="02010609060101010101" pitchFamily="49" charset="-122"/>
                <a:ea typeface="黑体" panose="02010609060101010101" pitchFamily="49" charset="-122"/>
              </a:rPr>
              <a:t>音乐总监</a:t>
            </a:r>
            <a:endParaRPr lang="en-US" altLang="zh-CN" sz="2200" b="1" dirty="0">
              <a:latin typeface="黑体" panose="02010609060101010101" pitchFamily="49" charset="-122"/>
              <a:ea typeface="黑体" panose="02010609060101010101" pitchFamily="49" charset="-122"/>
            </a:endParaRPr>
          </a:p>
          <a:p>
            <a:r>
              <a:rPr lang="zh-CN" altLang="en-US" sz="2200" b="1" dirty="0">
                <a:latin typeface="黑体" panose="02010609060101010101" pitchFamily="49" charset="-122"/>
                <a:ea typeface="黑体" panose="02010609060101010101" pitchFamily="49" charset="-122"/>
              </a:rPr>
              <a:t>音效设计</a:t>
            </a:r>
            <a:endParaRPr lang="en-US" altLang="zh-CN" sz="2200" b="1" dirty="0">
              <a:latin typeface="黑体" panose="02010609060101010101" pitchFamily="49" charset="-122"/>
              <a:ea typeface="黑体" panose="02010609060101010101" pitchFamily="49" charset="-122"/>
            </a:endParaRPr>
          </a:p>
          <a:p>
            <a:r>
              <a:rPr lang="zh-CN" altLang="en-US" sz="2200" b="1" dirty="0">
                <a:latin typeface="黑体" panose="02010609060101010101" pitchFamily="49" charset="-122"/>
                <a:ea typeface="黑体" panose="02010609060101010101" pitchFamily="49" charset="-122"/>
              </a:rPr>
              <a:t>服装</a:t>
            </a:r>
            <a:endParaRPr lang="en-US" altLang="zh-CN" sz="2200" b="1" dirty="0">
              <a:latin typeface="黑体" panose="02010609060101010101" pitchFamily="49" charset="-122"/>
              <a:ea typeface="黑体" panose="02010609060101010101" pitchFamily="49" charset="-122"/>
            </a:endParaRPr>
          </a:p>
          <a:p>
            <a:r>
              <a:rPr lang="zh-CN" altLang="en-US" sz="2200" b="1" dirty="0">
                <a:latin typeface="黑体" panose="02010609060101010101" pitchFamily="49" charset="-122"/>
                <a:ea typeface="黑体" panose="02010609060101010101" pitchFamily="49" charset="-122"/>
              </a:rPr>
              <a:t>道具</a:t>
            </a:r>
            <a:endParaRPr lang="en-US" altLang="zh-CN" sz="2200" b="1" dirty="0">
              <a:latin typeface="黑体" panose="02010609060101010101" pitchFamily="49" charset="-122"/>
              <a:ea typeface="黑体" panose="02010609060101010101" pitchFamily="49" charset="-122"/>
            </a:endParaRPr>
          </a:p>
          <a:p>
            <a:r>
              <a:rPr lang="zh-CN" altLang="en-US" sz="2200" b="1" dirty="0">
                <a:latin typeface="黑体" panose="02010609060101010101" pitchFamily="49" charset="-122"/>
                <a:ea typeface="黑体" panose="02010609060101010101" pitchFamily="49" charset="-122"/>
              </a:rPr>
              <a:t>化妆</a:t>
            </a:r>
            <a:endParaRPr lang="en-US" altLang="zh-CN" sz="2200" b="1" dirty="0">
              <a:latin typeface="黑体" panose="02010609060101010101" pitchFamily="49" charset="-122"/>
              <a:ea typeface="黑体" panose="02010609060101010101" pitchFamily="49" charset="-122"/>
            </a:endParaRPr>
          </a:p>
          <a:p>
            <a:r>
              <a:rPr lang="zh-CN" altLang="en-US" sz="2200" b="1" dirty="0">
                <a:latin typeface="黑体" panose="02010609060101010101" pitchFamily="49" charset="-122"/>
                <a:ea typeface="黑体" panose="02010609060101010101" pitchFamily="49" charset="-122"/>
              </a:rPr>
              <a:t>造型</a:t>
            </a:r>
            <a:endParaRPr lang="en-US" altLang="zh-CN" sz="2200" b="1" dirty="0">
              <a:latin typeface="黑体" panose="02010609060101010101" pitchFamily="49" charset="-122"/>
              <a:ea typeface="黑体" panose="02010609060101010101" pitchFamily="49" charset="-122"/>
            </a:endParaRPr>
          </a:p>
          <a:p>
            <a:r>
              <a:rPr lang="zh-CN" altLang="en-US" sz="2200" b="1" dirty="0">
                <a:latin typeface="黑体" panose="02010609060101010101" pitchFamily="49" charset="-122"/>
                <a:ea typeface="黑体" panose="02010609060101010101" pitchFamily="49" charset="-122"/>
              </a:rPr>
              <a:t>宣传</a:t>
            </a:r>
            <a:endParaRPr lang="en-US" altLang="zh-CN" sz="2200" b="1" dirty="0">
              <a:latin typeface="黑体" panose="02010609060101010101" pitchFamily="49" charset="-122"/>
              <a:ea typeface="黑体" panose="02010609060101010101" pitchFamily="49" charset="-122"/>
            </a:endParaRPr>
          </a:p>
          <a:p>
            <a:r>
              <a:rPr lang="zh-CN" altLang="en-US" sz="2200" b="1" dirty="0">
                <a:latin typeface="黑体" panose="02010609060101010101" pitchFamily="49" charset="-122"/>
                <a:ea typeface="黑体" panose="02010609060101010101" pitchFamily="49" charset="-122"/>
              </a:rPr>
              <a:t>剧务</a:t>
            </a:r>
          </a:p>
        </p:txBody>
      </p:sp>
      <p:sp>
        <p:nvSpPr>
          <p:cNvPr id="5125" name="TextBox 6"/>
          <p:cNvSpPr txBox="1">
            <a:spLocks noChangeArrowheads="1"/>
          </p:cNvSpPr>
          <p:nvPr/>
        </p:nvSpPr>
        <p:spPr bwMode="auto">
          <a:xfrm>
            <a:off x="5401430" y="2571750"/>
            <a:ext cx="677108"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굴림" pitchFamily="34" charset="-127"/>
                <a:ea typeface="굴림" pitchFamily="34" charset="-127"/>
              </a:defRPr>
            </a:lvl1pPr>
            <a:lvl2pPr marL="742950" indent="-285750">
              <a:defRPr kumimoji="1" sz="2400">
                <a:solidFill>
                  <a:schemeClr val="tx1"/>
                </a:solidFill>
                <a:latin typeface="굴림" pitchFamily="34" charset="-127"/>
                <a:ea typeface="굴림" pitchFamily="34" charset="-127"/>
              </a:defRPr>
            </a:lvl2pPr>
            <a:lvl3pPr marL="1143000" indent="-228600">
              <a:defRPr kumimoji="1" sz="2400">
                <a:solidFill>
                  <a:schemeClr val="tx1"/>
                </a:solidFill>
                <a:latin typeface="굴림" pitchFamily="34" charset="-127"/>
                <a:ea typeface="굴림" pitchFamily="34" charset="-127"/>
              </a:defRPr>
            </a:lvl3pPr>
            <a:lvl4pPr marL="1600200" indent="-228600">
              <a:defRPr kumimoji="1" sz="2400">
                <a:solidFill>
                  <a:schemeClr val="tx1"/>
                </a:solidFill>
                <a:latin typeface="굴림" pitchFamily="34" charset="-127"/>
                <a:ea typeface="굴림" pitchFamily="34" charset="-127"/>
              </a:defRPr>
            </a:lvl4pPr>
            <a:lvl5pPr marL="2057400" indent="-228600">
              <a:defRPr kumimoji="1" sz="2400">
                <a:solidFill>
                  <a:schemeClr val="tx1"/>
                </a:solidFill>
                <a:latin typeface="굴림" pitchFamily="34" charset="-127"/>
                <a:ea typeface="굴림" pitchFamily="34" charset="-127"/>
              </a:defRPr>
            </a:lvl5pPr>
            <a:lvl6pPr marL="2514600" indent="-228600" eaLnBrk="0" fontAlgn="base" hangingPunct="0">
              <a:spcBef>
                <a:spcPct val="0"/>
              </a:spcBef>
              <a:spcAft>
                <a:spcPct val="0"/>
              </a:spcAft>
              <a:defRPr kumimoji="1" sz="2400">
                <a:solidFill>
                  <a:schemeClr val="tx1"/>
                </a:solidFill>
                <a:latin typeface="굴림" pitchFamily="34" charset="-127"/>
                <a:ea typeface="굴림" pitchFamily="34" charset="-127"/>
              </a:defRPr>
            </a:lvl6pPr>
            <a:lvl7pPr marL="2971800" indent="-228600" eaLnBrk="0" fontAlgn="base" hangingPunct="0">
              <a:spcBef>
                <a:spcPct val="0"/>
              </a:spcBef>
              <a:spcAft>
                <a:spcPct val="0"/>
              </a:spcAft>
              <a:defRPr kumimoji="1" sz="2400">
                <a:solidFill>
                  <a:schemeClr val="tx1"/>
                </a:solidFill>
                <a:latin typeface="굴림" pitchFamily="34" charset="-127"/>
                <a:ea typeface="굴림" pitchFamily="34" charset="-127"/>
              </a:defRPr>
            </a:lvl7pPr>
            <a:lvl8pPr marL="3429000" indent="-228600" eaLnBrk="0" fontAlgn="base" hangingPunct="0">
              <a:spcBef>
                <a:spcPct val="0"/>
              </a:spcBef>
              <a:spcAft>
                <a:spcPct val="0"/>
              </a:spcAft>
              <a:defRPr kumimoji="1" sz="2400">
                <a:solidFill>
                  <a:schemeClr val="tx1"/>
                </a:solidFill>
                <a:latin typeface="굴림" pitchFamily="34" charset="-127"/>
                <a:ea typeface="굴림" pitchFamily="34" charset="-127"/>
              </a:defRPr>
            </a:lvl8pPr>
            <a:lvl9pPr marL="3886200" indent="-228600" eaLnBrk="0" fontAlgn="base" hangingPunct="0">
              <a:spcBef>
                <a:spcPct val="0"/>
              </a:spcBef>
              <a:spcAft>
                <a:spcPct val="0"/>
              </a:spcAft>
              <a:defRPr kumimoji="1" sz="2400">
                <a:solidFill>
                  <a:schemeClr val="tx1"/>
                </a:solidFill>
                <a:latin typeface="굴림" pitchFamily="34" charset="-127"/>
                <a:ea typeface="굴림" pitchFamily="34" charset="-127"/>
              </a:defRPr>
            </a:lvl9pPr>
          </a:lstStyle>
          <a:p>
            <a:pPr eaLnBrk="1" latinLnBrk="1" hangingPunct="1"/>
            <a:r>
              <a:rPr lang="zh-CN" altLang="en-US" sz="3200" b="1">
                <a:latin typeface="黑体" panose="02010609060101010101" pitchFamily="49" charset="-122"/>
                <a:ea typeface="黑体" panose="02010609060101010101" pitchFamily="49" charset="-122"/>
              </a:rPr>
              <a:t>职员表</a:t>
            </a:r>
          </a:p>
        </p:txBody>
      </p:sp>
      <p:sp>
        <p:nvSpPr>
          <p:cNvPr id="5126" name="TextBox 7"/>
          <p:cNvSpPr txBox="1">
            <a:spLocks noChangeArrowheads="1"/>
          </p:cNvSpPr>
          <p:nvPr/>
        </p:nvSpPr>
        <p:spPr bwMode="auto">
          <a:xfrm>
            <a:off x="5347455" y="4214813"/>
            <a:ext cx="677108"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굴림" pitchFamily="34" charset="-127"/>
                <a:ea typeface="굴림" pitchFamily="34" charset="-127"/>
              </a:defRPr>
            </a:lvl1pPr>
            <a:lvl2pPr marL="742950" indent="-285750">
              <a:defRPr kumimoji="1" sz="2400">
                <a:solidFill>
                  <a:schemeClr val="tx1"/>
                </a:solidFill>
                <a:latin typeface="굴림" pitchFamily="34" charset="-127"/>
                <a:ea typeface="굴림" pitchFamily="34" charset="-127"/>
              </a:defRPr>
            </a:lvl2pPr>
            <a:lvl3pPr marL="1143000" indent="-228600">
              <a:defRPr kumimoji="1" sz="2400">
                <a:solidFill>
                  <a:schemeClr val="tx1"/>
                </a:solidFill>
                <a:latin typeface="굴림" pitchFamily="34" charset="-127"/>
                <a:ea typeface="굴림" pitchFamily="34" charset="-127"/>
              </a:defRPr>
            </a:lvl3pPr>
            <a:lvl4pPr marL="1600200" indent="-228600">
              <a:defRPr kumimoji="1" sz="2400">
                <a:solidFill>
                  <a:schemeClr val="tx1"/>
                </a:solidFill>
                <a:latin typeface="굴림" pitchFamily="34" charset="-127"/>
                <a:ea typeface="굴림" pitchFamily="34" charset="-127"/>
              </a:defRPr>
            </a:lvl4pPr>
            <a:lvl5pPr marL="2057400" indent="-228600">
              <a:defRPr kumimoji="1" sz="2400">
                <a:solidFill>
                  <a:schemeClr val="tx1"/>
                </a:solidFill>
                <a:latin typeface="굴림" pitchFamily="34" charset="-127"/>
                <a:ea typeface="굴림" pitchFamily="34" charset="-127"/>
              </a:defRPr>
            </a:lvl5pPr>
            <a:lvl6pPr marL="2514600" indent="-228600" eaLnBrk="0" fontAlgn="base" hangingPunct="0">
              <a:spcBef>
                <a:spcPct val="0"/>
              </a:spcBef>
              <a:spcAft>
                <a:spcPct val="0"/>
              </a:spcAft>
              <a:defRPr kumimoji="1" sz="2400">
                <a:solidFill>
                  <a:schemeClr val="tx1"/>
                </a:solidFill>
                <a:latin typeface="굴림" pitchFamily="34" charset="-127"/>
                <a:ea typeface="굴림" pitchFamily="34" charset="-127"/>
              </a:defRPr>
            </a:lvl6pPr>
            <a:lvl7pPr marL="2971800" indent="-228600" eaLnBrk="0" fontAlgn="base" hangingPunct="0">
              <a:spcBef>
                <a:spcPct val="0"/>
              </a:spcBef>
              <a:spcAft>
                <a:spcPct val="0"/>
              </a:spcAft>
              <a:defRPr kumimoji="1" sz="2400">
                <a:solidFill>
                  <a:schemeClr val="tx1"/>
                </a:solidFill>
                <a:latin typeface="굴림" pitchFamily="34" charset="-127"/>
                <a:ea typeface="굴림" pitchFamily="34" charset="-127"/>
              </a:defRPr>
            </a:lvl7pPr>
            <a:lvl8pPr marL="3429000" indent="-228600" eaLnBrk="0" fontAlgn="base" hangingPunct="0">
              <a:spcBef>
                <a:spcPct val="0"/>
              </a:spcBef>
              <a:spcAft>
                <a:spcPct val="0"/>
              </a:spcAft>
              <a:defRPr kumimoji="1" sz="2400">
                <a:solidFill>
                  <a:schemeClr val="tx1"/>
                </a:solidFill>
                <a:latin typeface="굴림" pitchFamily="34" charset="-127"/>
                <a:ea typeface="굴림" pitchFamily="34" charset="-127"/>
              </a:defRPr>
            </a:lvl8pPr>
            <a:lvl9pPr marL="3886200" indent="-228600" eaLnBrk="0" fontAlgn="base" hangingPunct="0">
              <a:spcBef>
                <a:spcPct val="0"/>
              </a:spcBef>
              <a:spcAft>
                <a:spcPct val="0"/>
              </a:spcAft>
              <a:defRPr kumimoji="1" sz="2400">
                <a:solidFill>
                  <a:schemeClr val="tx1"/>
                </a:solidFill>
                <a:latin typeface="굴림" pitchFamily="34" charset="-127"/>
                <a:ea typeface="굴림" pitchFamily="34" charset="-127"/>
              </a:defRPr>
            </a:lvl9pPr>
          </a:lstStyle>
          <a:p>
            <a:pPr eaLnBrk="1" latinLnBrk="1" hangingPunct="1"/>
            <a:r>
              <a:rPr lang="zh-CN" altLang="en-US" sz="3200" b="1">
                <a:latin typeface="黑体" panose="02010609060101010101" pitchFamily="49" charset="-122"/>
                <a:ea typeface="黑体" panose="02010609060101010101" pitchFamily="49" charset="-122"/>
              </a:rPr>
              <a:t>演员表</a:t>
            </a:r>
          </a:p>
        </p:txBody>
      </p:sp>
    </p:spTree>
    <p:extLst>
      <p:ext uri="{BB962C8B-B14F-4D97-AF65-F5344CB8AC3E}">
        <p14:creationId xmlns:p14="http://schemas.microsoft.com/office/powerpoint/2010/main" val="2115237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865450" y="1050652"/>
            <a:ext cx="10515600" cy="921623"/>
          </a:xfrm>
        </p:spPr>
        <p:txBody>
          <a:bodyPr/>
          <a:lstStyle/>
          <a:p>
            <a:pPr algn="ctr"/>
            <a:r>
              <a:rPr lang="zh-CN" altLang="en-US" b="1" dirty="0">
                <a:latin typeface="隶书" panose="02010509060101010101" pitchFamily="49" charset="-122"/>
                <a:ea typeface="隶书" panose="02010509060101010101" pitchFamily="49" charset="-122"/>
              </a:rPr>
              <a:t>剧本文字的组成</a:t>
            </a:r>
          </a:p>
        </p:txBody>
      </p:sp>
      <p:sp>
        <p:nvSpPr>
          <p:cNvPr id="32771" name="Rectangle 3"/>
          <p:cNvSpPr>
            <a:spLocks noGrp="1" noChangeArrowheads="1"/>
          </p:cNvSpPr>
          <p:nvPr>
            <p:ph type="body" idx="1"/>
          </p:nvPr>
        </p:nvSpPr>
        <p:spPr>
          <a:xfrm>
            <a:off x="838200" y="2476751"/>
            <a:ext cx="10515600" cy="3700211"/>
          </a:xfrm>
        </p:spPr>
        <p:txBody>
          <a:bodyPr/>
          <a:lstStyle/>
          <a:p>
            <a:endParaRPr lang="en-US" altLang="zh-CN" sz="3200" b="1" dirty="0">
              <a:latin typeface="黑体" panose="02010609060101010101" pitchFamily="49" charset="-122"/>
              <a:ea typeface="黑体" panose="02010609060101010101" pitchFamily="49" charset="-122"/>
            </a:endParaRPr>
          </a:p>
          <a:p>
            <a:r>
              <a:rPr lang="zh-CN" altLang="en-US" sz="3200" b="1" dirty="0">
                <a:latin typeface="黑体" panose="02010609060101010101" pitchFamily="49" charset="-122"/>
                <a:ea typeface="黑体" panose="02010609060101010101" pitchFamily="49" charset="-122"/>
              </a:rPr>
              <a:t>舞台指示（或舞台提示，说明性文字）</a:t>
            </a:r>
          </a:p>
          <a:p>
            <a:endParaRPr lang="zh-CN" altLang="en-US" sz="3200" b="1" dirty="0">
              <a:latin typeface="黑体" panose="02010609060101010101" pitchFamily="49" charset="-122"/>
              <a:ea typeface="黑体" panose="02010609060101010101" pitchFamily="49" charset="-122"/>
            </a:endParaRPr>
          </a:p>
          <a:p>
            <a:r>
              <a:rPr lang="zh-CN" altLang="en-US" sz="3200" b="1" dirty="0">
                <a:latin typeface="黑体" panose="02010609060101010101" pitchFamily="49" charset="-122"/>
                <a:ea typeface="黑体" panose="02010609060101010101" pitchFamily="49" charset="-122"/>
              </a:rPr>
              <a:t>台词（对话、独白、旁白）</a:t>
            </a:r>
          </a:p>
        </p:txBody>
      </p:sp>
    </p:spTree>
    <p:extLst>
      <p:ext uri="{BB962C8B-B14F-4D97-AF65-F5344CB8AC3E}">
        <p14:creationId xmlns:p14="http://schemas.microsoft.com/office/powerpoint/2010/main" val="198493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466472" y="719874"/>
            <a:ext cx="8229600" cy="990600"/>
          </a:xfrm>
        </p:spPr>
        <p:txBody>
          <a:bodyPr>
            <a:normAutofit/>
          </a:bodyPr>
          <a:lstStyle/>
          <a:p>
            <a:pPr algn="ctr"/>
            <a:r>
              <a:rPr lang="zh-CN" altLang="en-US" sz="3600" dirty="0">
                <a:latin typeface="黑体" panose="02010609060101010101" pitchFamily="49" charset="-122"/>
                <a:ea typeface="黑体" panose="02010609060101010101" pitchFamily="49" charset="-122"/>
              </a:rPr>
              <a:t>舞台指示（舞台提示）</a:t>
            </a:r>
          </a:p>
        </p:txBody>
      </p:sp>
      <p:sp>
        <p:nvSpPr>
          <p:cNvPr id="33795" name="Rectangle 3"/>
          <p:cNvSpPr>
            <a:spLocks noGrp="1" noChangeArrowheads="1"/>
          </p:cNvSpPr>
          <p:nvPr>
            <p:ph type="body" idx="1"/>
          </p:nvPr>
        </p:nvSpPr>
        <p:spPr>
          <a:xfrm>
            <a:off x="723143" y="1744021"/>
            <a:ext cx="10745713" cy="4587896"/>
          </a:xfrm>
        </p:spPr>
        <p:txBody>
          <a:bodyPr>
            <a:normAutofit/>
          </a:bodyPr>
          <a:lstStyle/>
          <a:p>
            <a:pPr>
              <a:lnSpc>
                <a:spcPct val="150000"/>
              </a:lnSpc>
            </a:pPr>
            <a:r>
              <a:rPr lang="zh-CN" altLang="en-US" sz="2400" b="1" dirty="0">
                <a:latin typeface="黑体" panose="02010609060101010101" pitchFamily="49" charset="-122"/>
                <a:ea typeface="黑体" panose="02010609060101010101" pitchFamily="49" charset="-122"/>
              </a:rPr>
              <a:t>舞台指示：指不要求在演出时说出的文字说明部分，是以剧作者的口气来写的叙述性的文字说明，一般在剧本中起解释、标注的作用。</a:t>
            </a:r>
          </a:p>
          <a:p>
            <a:pPr>
              <a:lnSpc>
                <a:spcPct val="150000"/>
              </a:lnSpc>
            </a:pPr>
            <a:r>
              <a:rPr lang="zh-CN" altLang="en-US" sz="2400" b="1" dirty="0">
                <a:latin typeface="黑体" panose="02010609060101010101" pitchFamily="49" charset="-122"/>
                <a:ea typeface="黑体" panose="02010609060101010101" pitchFamily="49" charset="-122"/>
              </a:rPr>
              <a:t>舞台提示为二度创作提供客观的环境和情感依据，可以从中窥探剧本台词没有完全传达出来的背景、气氛、情感倾向，使表演获得深层次的精神依据。</a:t>
            </a:r>
          </a:p>
          <a:p>
            <a:pPr>
              <a:lnSpc>
                <a:spcPct val="150000"/>
              </a:lnSpc>
            </a:pPr>
            <a:r>
              <a:rPr lang="zh-CN" altLang="en-US" sz="2400" b="1" dirty="0">
                <a:latin typeface="黑体" panose="02010609060101010101" pitchFamily="49" charset="-122"/>
                <a:ea typeface="黑体" panose="02010609060101010101" pitchFamily="49" charset="-122"/>
              </a:rPr>
              <a:t>舞台提示的表述可以是叙述性、描述性的，甚至可以是夹叙夹议的。</a:t>
            </a:r>
          </a:p>
        </p:txBody>
      </p:sp>
    </p:spTree>
    <p:extLst>
      <p:ext uri="{BB962C8B-B14F-4D97-AF65-F5344CB8AC3E}">
        <p14:creationId xmlns:p14="http://schemas.microsoft.com/office/powerpoint/2010/main" val="3129190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2"/>
          <p:cNvSpPr>
            <a:spLocks noGrp="1"/>
          </p:cNvSpPr>
          <p:nvPr>
            <p:ph type="title"/>
          </p:nvPr>
        </p:nvSpPr>
        <p:spPr>
          <a:xfrm>
            <a:off x="1348860" y="94430"/>
            <a:ext cx="7772400" cy="990600"/>
          </a:xfrm>
        </p:spPr>
        <p:txBody>
          <a:bodyPr>
            <a:normAutofit/>
          </a:bodyPr>
          <a:lstStyle/>
          <a:p>
            <a:r>
              <a:rPr lang="en-US" altLang="zh-CN" sz="3200" dirty="0">
                <a:latin typeface="黑体" panose="02010609060101010101" pitchFamily="49" charset="-122"/>
                <a:ea typeface="黑体" panose="02010609060101010101" pitchFamily="49" charset="-122"/>
              </a:rPr>
              <a:t>《</a:t>
            </a:r>
            <a:r>
              <a:rPr lang="zh-CN" altLang="en-US" sz="3200" dirty="0">
                <a:latin typeface="黑体" panose="02010609060101010101" pitchFamily="49" charset="-122"/>
                <a:ea typeface="黑体" panose="02010609060101010101" pitchFamily="49" charset="-122"/>
              </a:rPr>
              <a:t>青春禁忌游戏</a:t>
            </a:r>
            <a:r>
              <a:rPr lang="en-US" altLang="zh-CN" sz="3200" dirty="0">
                <a:latin typeface="黑体" panose="02010609060101010101" pitchFamily="49" charset="-122"/>
                <a:ea typeface="黑体" panose="02010609060101010101" pitchFamily="49" charset="-122"/>
              </a:rPr>
              <a:t>》</a:t>
            </a:r>
            <a:r>
              <a:rPr lang="zh-CN" altLang="en-US" sz="3200" dirty="0">
                <a:latin typeface="黑体" panose="02010609060101010101" pitchFamily="49" charset="-122"/>
                <a:ea typeface="黑体" panose="02010609060101010101" pitchFamily="49" charset="-122"/>
              </a:rPr>
              <a:t>片段</a:t>
            </a:r>
          </a:p>
        </p:txBody>
      </p:sp>
      <p:sp>
        <p:nvSpPr>
          <p:cNvPr id="34819" name="Rectangle 3"/>
          <p:cNvSpPr>
            <a:spLocks noGrp="1" noChangeArrowheads="1"/>
          </p:cNvSpPr>
          <p:nvPr>
            <p:ph idx="1"/>
          </p:nvPr>
        </p:nvSpPr>
        <p:spPr>
          <a:xfrm>
            <a:off x="314892" y="1005234"/>
            <a:ext cx="11357333" cy="5559068"/>
          </a:xfrm>
        </p:spPr>
        <p:txBody>
          <a:bodyPr>
            <a:normAutofit/>
          </a:bodyPr>
          <a:lstStyle/>
          <a:p>
            <a:pPr>
              <a:lnSpc>
                <a:spcPct val="80000"/>
              </a:lnSpc>
            </a:pPr>
            <a:r>
              <a:rPr lang="zh-CN" altLang="en-US" sz="2000" dirty="0">
                <a:latin typeface="楷体_GB2312" pitchFamily="49" charset="-122"/>
                <a:ea typeface="楷体_GB2312" pitchFamily="49" charset="-122"/>
              </a:rPr>
              <a:t>叶莲娜：听着，你们不怕我明天向学校告发你们？ </a:t>
            </a:r>
          </a:p>
          <a:p>
            <a:pPr>
              <a:lnSpc>
                <a:spcPct val="80000"/>
              </a:lnSpc>
            </a:pPr>
            <a:r>
              <a:rPr lang="zh-CN" altLang="en-US" sz="2000" dirty="0">
                <a:latin typeface="楷体_GB2312" pitchFamily="49" charset="-122"/>
                <a:ea typeface="楷体_GB2312" pitchFamily="49" charset="-122"/>
              </a:rPr>
              <a:t>瓦洛佳：您不会。 </a:t>
            </a:r>
          </a:p>
          <a:p>
            <a:pPr>
              <a:lnSpc>
                <a:spcPct val="80000"/>
              </a:lnSpc>
            </a:pPr>
            <a:r>
              <a:rPr lang="zh-CN" altLang="en-US" sz="2000" dirty="0">
                <a:latin typeface="楷体_GB2312" pitchFamily="49" charset="-122"/>
                <a:ea typeface="楷体_GB2312" pitchFamily="49" charset="-122"/>
              </a:rPr>
              <a:t>叶莲娜：凭什么？ </a:t>
            </a:r>
          </a:p>
          <a:p>
            <a:pPr>
              <a:lnSpc>
                <a:spcPct val="80000"/>
              </a:lnSpc>
            </a:pPr>
            <a:r>
              <a:rPr lang="zh-CN" altLang="en-US" sz="2000" dirty="0">
                <a:latin typeface="楷体_GB2312" pitchFamily="49" charset="-122"/>
                <a:ea typeface="楷体_GB2312" pitchFamily="49" charset="-122"/>
              </a:rPr>
              <a:t>瓦洛佳：因为您会给我们钥匙。 </a:t>
            </a:r>
          </a:p>
          <a:p>
            <a:pPr>
              <a:lnSpc>
                <a:spcPct val="80000"/>
              </a:lnSpc>
            </a:pPr>
            <a:r>
              <a:rPr lang="zh-CN" altLang="en-US" sz="2000" dirty="0">
                <a:latin typeface="楷体_GB2312" pitchFamily="49" charset="-122"/>
                <a:ea typeface="楷体_GB2312" pitchFamily="49" charset="-122"/>
              </a:rPr>
              <a:t>叶莲娜：如果我不给呢？ </a:t>
            </a:r>
          </a:p>
          <a:p>
            <a:pPr>
              <a:lnSpc>
                <a:spcPct val="80000"/>
              </a:lnSpc>
            </a:pPr>
            <a:r>
              <a:rPr lang="zh-CN" altLang="en-US" sz="2000" dirty="0">
                <a:latin typeface="楷体_GB2312" pitchFamily="49" charset="-122"/>
                <a:ea typeface="楷体_GB2312" pitchFamily="49" charset="-122"/>
              </a:rPr>
              <a:t>瓦洛佳：我们会说服您。 </a:t>
            </a:r>
          </a:p>
          <a:p>
            <a:pPr>
              <a:lnSpc>
                <a:spcPct val="80000"/>
              </a:lnSpc>
            </a:pPr>
            <a:r>
              <a:rPr lang="zh-CN" altLang="en-US" sz="2000" dirty="0">
                <a:latin typeface="楷体_GB2312" pitchFamily="49" charset="-122"/>
                <a:ea typeface="楷体_GB2312" pitchFamily="49" charset="-122"/>
              </a:rPr>
              <a:t>叶莲娜：你肯定？ </a:t>
            </a:r>
          </a:p>
          <a:p>
            <a:pPr>
              <a:lnSpc>
                <a:spcPct val="80000"/>
              </a:lnSpc>
            </a:pPr>
            <a:r>
              <a:rPr lang="zh-CN" altLang="en-US" sz="2000" dirty="0">
                <a:latin typeface="楷体_GB2312" pitchFamily="49" charset="-122"/>
                <a:ea typeface="楷体_GB2312" pitchFamily="49" charset="-122"/>
              </a:rPr>
              <a:t>瓦洛佳：或者强迫您给我们钥匙。 </a:t>
            </a:r>
          </a:p>
          <a:p>
            <a:pPr>
              <a:lnSpc>
                <a:spcPct val="80000"/>
              </a:lnSpc>
            </a:pPr>
            <a:r>
              <a:rPr lang="zh-CN" altLang="en-US" sz="2000" dirty="0">
                <a:latin typeface="楷体_GB2312" pitchFamily="49" charset="-122"/>
                <a:ea typeface="楷体_GB2312" pitchFamily="49" charset="-122"/>
              </a:rPr>
              <a:t>叶莲娜：（强压住愤怒）现在就从这儿滚出去！ </a:t>
            </a:r>
            <a:endParaRPr lang="zh-CN" altLang="en-US" sz="2000" u="sng" dirty="0">
              <a:latin typeface="楷体_GB2312" pitchFamily="49" charset="-122"/>
              <a:ea typeface="楷体_GB2312" pitchFamily="49" charset="-122"/>
            </a:endParaRPr>
          </a:p>
          <a:p>
            <a:pPr>
              <a:lnSpc>
                <a:spcPct val="80000"/>
              </a:lnSpc>
            </a:pPr>
            <a:r>
              <a:rPr lang="en-US" altLang="zh-CN" sz="2000" dirty="0">
                <a:solidFill>
                  <a:srgbClr val="FF0000"/>
                </a:solidFill>
                <a:latin typeface="黑体" panose="02010609060101010101" pitchFamily="49" charset="-122"/>
                <a:ea typeface="黑体" panose="02010609060101010101" pitchFamily="49" charset="-122"/>
              </a:rPr>
              <a:t>【</a:t>
            </a:r>
            <a:r>
              <a:rPr lang="zh-CN" altLang="en-US" sz="2000" dirty="0">
                <a:solidFill>
                  <a:srgbClr val="FF0000"/>
                </a:solidFill>
                <a:latin typeface="黑体" panose="02010609060101010101" pitchFamily="49" charset="-122"/>
                <a:ea typeface="黑体" panose="02010609060101010101" pitchFamily="49" charset="-122"/>
              </a:rPr>
              <a:t>瓦洛佳依旧隔着餐桌与自己的老师对峙着，他高大魁梧的体魄与桌子对面瘦弱单薄的叶莲娜老师形成巨大的反差，他的脸上透露着一丝的兴奋和得意，似乎好戏才刚刚开始</a:t>
            </a:r>
            <a:r>
              <a:rPr lang="en-US" altLang="zh-CN" sz="2000" dirty="0">
                <a:solidFill>
                  <a:srgbClr val="FF0000"/>
                </a:solidFill>
                <a:latin typeface="黑体" panose="02010609060101010101" pitchFamily="49" charset="-122"/>
                <a:ea typeface="黑体" panose="02010609060101010101" pitchFamily="49" charset="-122"/>
              </a:rPr>
              <a:t>…… 】</a:t>
            </a:r>
          </a:p>
          <a:p>
            <a:pPr>
              <a:lnSpc>
                <a:spcPct val="80000"/>
              </a:lnSpc>
            </a:pPr>
            <a:r>
              <a:rPr lang="zh-CN" altLang="en-US" sz="2000" dirty="0">
                <a:latin typeface="楷体_GB2312" pitchFamily="49" charset="-122"/>
                <a:ea typeface="楷体_GB2312" pitchFamily="49" charset="-122"/>
              </a:rPr>
              <a:t>瓦洛佳：（严肃地）叶莲娜</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谢尔盖耶夫娜，我们哪儿都不去。您拒绝了他们，也许就是逼他们犯罪。 </a:t>
            </a:r>
          </a:p>
          <a:p>
            <a:pPr>
              <a:lnSpc>
                <a:spcPct val="80000"/>
              </a:lnSpc>
            </a:pPr>
            <a:r>
              <a:rPr lang="zh-CN" altLang="en-US" sz="2000" dirty="0">
                <a:latin typeface="楷体_GB2312" pitchFamily="49" charset="-122"/>
                <a:ea typeface="楷体_GB2312" pitchFamily="49" charset="-122"/>
              </a:rPr>
              <a:t> 叶莲娜：我？！犯罪？您疯了！你们能干出什么坏事来？ </a:t>
            </a:r>
          </a:p>
          <a:p>
            <a:pPr>
              <a:lnSpc>
                <a:spcPct val="80000"/>
              </a:lnSpc>
            </a:pPr>
            <a:r>
              <a:rPr lang="zh-CN" altLang="en-US" sz="2000" dirty="0">
                <a:latin typeface="楷体_GB2312" pitchFamily="49" charset="-122"/>
                <a:ea typeface="楷体_GB2312" pitchFamily="49" charset="-122"/>
              </a:rPr>
              <a:t>维佳：我们无恶不作。 </a:t>
            </a:r>
          </a:p>
        </p:txBody>
      </p:sp>
    </p:spTree>
    <p:extLst>
      <p:ext uri="{BB962C8B-B14F-4D97-AF65-F5344CB8AC3E}">
        <p14:creationId xmlns:p14="http://schemas.microsoft.com/office/powerpoint/2010/main" val="2153209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582926" y="583127"/>
            <a:ext cx="5580807" cy="1059936"/>
          </a:xfrm>
        </p:spPr>
        <p:txBody>
          <a:bodyPr>
            <a:normAutofit/>
          </a:bodyPr>
          <a:lstStyle/>
          <a:p>
            <a:pPr algn="ctr"/>
            <a:r>
              <a:rPr lang="zh-CN" altLang="en-US" sz="3600" dirty="0">
                <a:latin typeface="方正粗黑宋简体" panose="02000000000000000000" pitchFamily="2" charset="-122"/>
                <a:ea typeface="方正粗黑宋简体" panose="02000000000000000000" pitchFamily="2" charset="-122"/>
              </a:rPr>
              <a:t>舞台提示类型</a:t>
            </a:r>
            <a:endParaRPr lang="zh-CN" altLang="zh-CN" sz="3600" dirty="0">
              <a:latin typeface="方正粗黑宋简体" panose="02000000000000000000" pitchFamily="2" charset="-122"/>
              <a:ea typeface="方正粗黑宋简体" panose="02000000000000000000" pitchFamily="2" charset="-122"/>
            </a:endParaRPr>
          </a:p>
        </p:txBody>
      </p:sp>
      <p:sp>
        <p:nvSpPr>
          <p:cNvPr id="35843" name="Rectangle 3"/>
          <p:cNvSpPr>
            <a:spLocks noGrp="1" noChangeArrowheads="1"/>
          </p:cNvSpPr>
          <p:nvPr>
            <p:ph type="body" idx="1"/>
          </p:nvPr>
        </p:nvSpPr>
        <p:spPr>
          <a:xfrm>
            <a:off x="1302327" y="1665623"/>
            <a:ext cx="9079923" cy="4478001"/>
          </a:xfrm>
        </p:spPr>
        <p:txBody>
          <a:bodyPr>
            <a:normAutofit/>
          </a:bodyPr>
          <a:lstStyle/>
          <a:p>
            <a:pPr marL="514350" indent="-514350">
              <a:lnSpc>
                <a:spcPct val="150000"/>
              </a:lnSpc>
              <a:buFont typeface="+mj-lt"/>
              <a:buAutoNum type="arabicPeriod"/>
            </a:pPr>
            <a:r>
              <a:rPr lang="zh-CN" altLang="en-US" b="1" dirty="0">
                <a:latin typeface="黑体" panose="02010609060101010101" pitchFamily="49" charset="-122"/>
                <a:ea typeface="黑体" panose="02010609060101010101" pitchFamily="49" charset="-122"/>
              </a:rPr>
              <a:t>人物活动环境的说明</a:t>
            </a:r>
            <a:endParaRPr lang="en-US" altLang="zh-CN" b="1" dirty="0">
              <a:latin typeface="黑体" panose="02010609060101010101" pitchFamily="49" charset="-122"/>
              <a:ea typeface="黑体" panose="02010609060101010101" pitchFamily="49" charset="-122"/>
            </a:endParaRPr>
          </a:p>
          <a:p>
            <a:pPr marL="514350" indent="-514350">
              <a:lnSpc>
                <a:spcPct val="150000"/>
              </a:lnSpc>
              <a:buFont typeface="+mj-lt"/>
              <a:buAutoNum type="arabicPeriod"/>
            </a:pPr>
            <a:r>
              <a:rPr lang="zh-CN" altLang="en-US" b="1" dirty="0">
                <a:latin typeface="黑体" panose="02010609060101010101" pitchFamily="49" charset="-122"/>
                <a:ea typeface="黑体" panose="02010609060101010101" pitchFamily="49" charset="-122"/>
              </a:rPr>
              <a:t>人物上下场的说明</a:t>
            </a:r>
            <a:endParaRPr lang="en-US" altLang="zh-CN" b="1" dirty="0">
              <a:latin typeface="黑体" panose="02010609060101010101" pitchFamily="49" charset="-122"/>
              <a:ea typeface="黑体" panose="02010609060101010101" pitchFamily="49" charset="-122"/>
            </a:endParaRPr>
          </a:p>
          <a:p>
            <a:pPr marL="514350" indent="-514350">
              <a:lnSpc>
                <a:spcPct val="150000"/>
              </a:lnSpc>
              <a:buFont typeface="+mj-lt"/>
              <a:buAutoNum type="arabicPeriod"/>
            </a:pPr>
            <a:r>
              <a:rPr lang="zh-CN" altLang="en-US" b="1" dirty="0">
                <a:latin typeface="黑体" panose="02010609060101010101" pitchFamily="49" charset="-122"/>
                <a:ea typeface="黑体" panose="02010609060101010101" pitchFamily="49" charset="-122"/>
              </a:rPr>
              <a:t>人物外部动作的提示</a:t>
            </a:r>
            <a:endParaRPr lang="en-US" altLang="zh-CN" b="1" dirty="0">
              <a:latin typeface="黑体" panose="02010609060101010101" pitchFamily="49" charset="-122"/>
              <a:ea typeface="黑体" panose="02010609060101010101" pitchFamily="49" charset="-122"/>
            </a:endParaRPr>
          </a:p>
          <a:p>
            <a:pPr marL="514350" indent="-514350">
              <a:lnSpc>
                <a:spcPct val="150000"/>
              </a:lnSpc>
              <a:buFont typeface="+mj-lt"/>
              <a:buAutoNum type="arabicPeriod"/>
            </a:pPr>
            <a:r>
              <a:rPr lang="zh-CN" altLang="en-US" b="1" dirty="0">
                <a:latin typeface="黑体" panose="02010609060101010101" pitchFamily="49" charset="-122"/>
                <a:ea typeface="黑体" panose="02010609060101010101" pitchFamily="49" charset="-122"/>
              </a:rPr>
              <a:t>人物内心动作（心理情绪）的提示</a:t>
            </a:r>
          </a:p>
        </p:txBody>
      </p:sp>
    </p:spTree>
    <p:extLst>
      <p:ext uri="{BB962C8B-B14F-4D97-AF65-F5344CB8AC3E}">
        <p14:creationId xmlns:p14="http://schemas.microsoft.com/office/powerpoint/2010/main" val="3279177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pPr marL="800100" indent="-800100"/>
            <a:r>
              <a:rPr lang="en-US" altLang="zh-CN" sz="4000" dirty="0">
                <a:latin typeface="黑体" panose="02010609060101010101" pitchFamily="49" charset="-122"/>
                <a:ea typeface="黑体" panose="02010609060101010101" pitchFamily="49" charset="-122"/>
              </a:rPr>
              <a:t>1.</a:t>
            </a:r>
            <a:r>
              <a:rPr lang="zh-CN" altLang="en-US" sz="4000" dirty="0">
                <a:latin typeface="黑体" panose="02010609060101010101" pitchFamily="49" charset="-122"/>
                <a:ea typeface="黑体" panose="02010609060101010101" pitchFamily="49" charset="-122"/>
              </a:rPr>
              <a:t>人物活动环境的说明</a:t>
            </a:r>
          </a:p>
        </p:txBody>
      </p:sp>
      <p:sp>
        <p:nvSpPr>
          <p:cNvPr id="36867" name="Rectangle 3"/>
          <p:cNvSpPr>
            <a:spLocks noGrp="1" noChangeArrowheads="1"/>
          </p:cNvSpPr>
          <p:nvPr>
            <p:ph type="body" idx="1"/>
          </p:nvPr>
        </p:nvSpPr>
        <p:spPr>
          <a:xfrm>
            <a:off x="769698" y="1788776"/>
            <a:ext cx="10033544" cy="4311746"/>
          </a:xfrm>
        </p:spPr>
        <p:txBody>
          <a:bodyPr/>
          <a:lstStyle/>
          <a:p>
            <a:pPr>
              <a:lnSpc>
                <a:spcPct val="150000"/>
              </a:lnSpc>
            </a:pPr>
            <a:r>
              <a:rPr lang="zh-CN" altLang="en-US" dirty="0">
                <a:latin typeface="黑体" panose="02010609060101010101" pitchFamily="49" charset="-122"/>
                <a:ea typeface="黑体" panose="02010609060101010101" pitchFamily="49" charset="-122"/>
              </a:rPr>
              <a:t>即对具体场面环境的描述。这种描述不是面对观众的，而是面对戏剧二度创作各个部门的。（因为观众看到的是舞台呈现出来的状态而不是文字状态）</a:t>
            </a:r>
            <a:r>
              <a:rPr lang="zh-CN" altLang="en-US" dirty="0"/>
              <a:t>。</a:t>
            </a:r>
          </a:p>
        </p:txBody>
      </p:sp>
    </p:spTree>
    <p:extLst>
      <p:ext uri="{BB962C8B-B14F-4D97-AF65-F5344CB8AC3E}">
        <p14:creationId xmlns:p14="http://schemas.microsoft.com/office/powerpoint/2010/main" val="506940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731690" y="479531"/>
            <a:ext cx="5364310" cy="774700"/>
          </a:xfrm>
        </p:spPr>
        <p:txBody>
          <a:bodyPr>
            <a:normAutofit/>
          </a:bodyPr>
          <a:lstStyle/>
          <a:p>
            <a:pPr algn="ctr"/>
            <a:r>
              <a:rPr lang="en-US" altLang="zh-CN" sz="3200" dirty="0">
                <a:latin typeface="方正粗黑宋简体" panose="02000000000000000000" pitchFamily="2" charset="-122"/>
                <a:ea typeface="方正粗黑宋简体" panose="02000000000000000000" pitchFamily="2" charset="-122"/>
              </a:rPr>
              <a:t>《</a:t>
            </a:r>
            <a:r>
              <a:rPr lang="zh-CN" altLang="en-US" sz="3200" dirty="0">
                <a:latin typeface="方正粗黑宋简体" panose="02000000000000000000" pitchFamily="2" charset="-122"/>
                <a:ea typeface="方正粗黑宋简体" panose="02000000000000000000" pitchFamily="2" charset="-122"/>
              </a:rPr>
              <a:t>雷雨</a:t>
            </a:r>
            <a:r>
              <a:rPr lang="en-US" altLang="zh-CN" sz="3200" dirty="0">
                <a:latin typeface="方正粗黑宋简体" panose="02000000000000000000" pitchFamily="2" charset="-122"/>
                <a:ea typeface="方正粗黑宋简体" panose="02000000000000000000" pitchFamily="2" charset="-122"/>
              </a:rPr>
              <a:t>》</a:t>
            </a:r>
            <a:r>
              <a:rPr lang="zh-CN" altLang="en-US" sz="3200" dirty="0">
                <a:latin typeface="方正粗黑宋简体" panose="02000000000000000000" pitchFamily="2" charset="-122"/>
                <a:ea typeface="方正粗黑宋简体" panose="02000000000000000000" pitchFamily="2" charset="-122"/>
              </a:rPr>
              <a:t>第一幕 舞台提示</a:t>
            </a:r>
          </a:p>
        </p:txBody>
      </p:sp>
      <p:sp>
        <p:nvSpPr>
          <p:cNvPr id="37891" name="Rectangle 3"/>
          <p:cNvSpPr>
            <a:spLocks noGrp="1" noChangeArrowheads="1"/>
          </p:cNvSpPr>
          <p:nvPr>
            <p:ph type="body" idx="1"/>
          </p:nvPr>
        </p:nvSpPr>
        <p:spPr>
          <a:xfrm>
            <a:off x="393616" y="1489685"/>
            <a:ext cx="10060073" cy="5020116"/>
          </a:xfrm>
        </p:spPr>
        <p:txBody>
          <a:bodyPr>
            <a:normAutofit fontScale="85000" lnSpcReduction="10000"/>
          </a:bodyPr>
          <a:lstStyle/>
          <a:p>
            <a:pPr>
              <a:lnSpc>
                <a:spcPts val="3000"/>
              </a:lnSpc>
            </a:pPr>
            <a:r>
              <a:rPr lang="zh-CN" altLang="en-US" sz="2000" b="1" dirty="0">
                <a:latin typeface="楷体" panose="02010609060101010101" pitchFamily="49" charset="-122"/>
                <a:ea typeface="楷体" panose="02010609060101010101" pitchFamily="49" charset="-122"/>
              </a:rPr>
              <a:t>开幕时舞台全黑，隔十秒钟，渐明。</a:t>
            </a:r>
            <a:endParaRPr lang="en-US" altLang="zh-CN" sz="2000" b="1" dirty="0">
              <a:latin typeface="楷体" panose="02010609060101010101" pitchFamily="49" charset="-122"/>
              <a:ea typeface="楷体" panose="02010609060101010101" pitchFamily="49" charset="-122"/>
            </a:endParaRPr>
          </a:p>
          <a:p>
            <a:pPr>
              <a:lnSpc>
                <a:spcPts val="3000"/>
              </a:lnSpc>
            </a:pPr>
            <a:r>
              <a:rPr lang="zh-CN" altLang="en-US" sz="2000" b="1" dirty="0">
                <a:latin typeface="楷体" panose="02010609060101010101" pitchFamily="49" charset="-122"/>
                <a:ea typeface="楷体" panose="02010609060101010101" pitchFamily="49" charset="-122"/>
              </a:rPr>
              <a:t>景－－大致和序幕相同，但是全屋的气象是比较华丽的。这是十年前一个夏天的上午，在周宅的客厅里。</a:t>
            </a:r>
            <a:endParaRPr lang="en-US" altLang="zh-CN" sz="2000" b="1" dirty="0">
              <a:latin typeface="楷体" panose="02010609060101010101" pitchFamily="49" charset="-122"/>
              <a:ea typeface="楷体" panose="02010609060101010101" pitchFamily="49" charset="-122"/>
            </a:endParaRPr>
          </a:p>
          <a:p>
            <a:pPr>
              <a:lnSpc>
                <a:spcPts val="3000"/>
              </a:lnSpc>
            </a:pPr>
            <a:r>
              <a:rPr lang="zh-CN" altLang="en-US" sz="2000" b="1" dirty="0">
                <a:latin typeface="楷体" panose="02010609060101010101" pitchFamily="49" charset="-122"/>
                <a:ea typeface="楷体" panose="02010609060101010101" pitchFamily="49" charset="-122"/>
              </a:rPr>
              <a:t>壁龛的帷幔还是深掩着，里面放着艳丽的盆花。中间的门开着，隔一层铁纱门，从纱门望出去，花园的树木绿荫荫地，并且听见蝉在叫。右边的衣服柜，铺上一张黄桌布，上面放着许多小巧的摆饰，最显明的是一张旧相片，很不调和地和这些精致东西放在一起。柜前面狭长的矮几，放着华贵的烟具同一些零碎物件。右边炉上有一个钟同话盆，墙上，挂一幅油画。炉前有两把圈椅，背朝着墙。中间靠左的玻璃柜放满了古玩，前面的小矮桌有绿花的椅垫，左角的长沙发不旧，上面放着三四个缎制的厚垫子。沙发前的矮几排置烟具等物，台中两个沙发同圆桌都很华丽，圆桌上放着吕宋烟盒和扇子。</a:t>
            </a:r>
            <a:endParaRPr lang="en-US" altLang="zh-CN" sz="2000" b="1" dirty="0">
              <a:latin typeface="楷体" panose="02010609060101010101" pitchFamily="49" charset="-122"/>
              <a:ea typeface="楷体" panose="02010609060101010101" pitchFamily="49" charset="-122"/>
            </a:endParaRPr>
          </a:p>
          <a:p>
            <a:pPr>
              <a:lnSpc>
                <a:spcPts val="3000"/>
              </a:lnSpc>
            </a:pPr>
            <a:r>
              <a:rPr lang="zh-CN" altLang="en-US" sz="2000" b="1" dirty="0">
                <a:latin typeface="楷体" panose="02010609060101010101" pitchFamily="49" charset="-122"/>
                <a:ea typeface="楷体" panose="02010609060101010101" pitchFamily="49" charset="-122"/>
              </a:rPr>
              <a:t>所有的帷幕都是崭新的，一切都是兴旺的气象，屋里家俱非常洁净，有金属的地方都放着光彩。屋中很气闷，郁热逼人，空气低压着。外面没有阳光，天空灰暗，是将要落暴雨的神气。</a:t>
            </a:r>
            <a:br>
              <a:rPr lang="zh-CN" altLang="en-US" sz="2000" dirty="0"/>
            </a:br>
            <a:endParaRPr lang="zh-CN" altLang="en-US" sz="2000" dirty="0"/>
          </a:p>
        </p:txBody>
      </p:sp>
    </p:spTree>
    <p:extLst>
      <p:ext uri="{BB962C8B-B14F-4D97-AF65-F5344CB8AC3E}">
        <p14:creationId xmlns:p14="http://schemas.microsoft.com/office/powerpoint/2010/main" val="1634599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1690340" y="211285"/>
            <a:ext cx="3857625" cy="990600"/>
          </a:xfrm>
        </p:spPr>
        <p:txBody>
          <a:bodyPr>
            <a:normAutofit/>
          </a:bodyPr>
          <a:lstStyle/>
          <a:p>
            <a:r>
              <a:rPr lang="zh-CN" altLang="en-US" sz="3600" dirty="0">
                <a:latin typeface="方正粗黑宋简体" panose="02000000000000000000" pitchFamily="2" charset="-122"/>
                <a:ea typeface="方正粗黑宋简体" panose="02000000000000000000" pitchFamily="2" charset="-122"/>
              </a:rPr>
              <a:t>邹静之</a:t>
            </a:r>
            <a:r>
              <a:rPr lang="en-US" altLang="zh-CN" sz="3600" dirty="0">
                <a:latin typeface="方正粗黑宋简体" panose="02000000000000000000" pitchFamily="2" charset="-122"/>
                <a:ea typeface="方正粗黑宋简体" panose="02000000000000000000" pitchFamily="2" charset="-122"/>
              </a:rPr>
              <a:t>《</a:t>
            </a:r>
            <a:r>
              <a:rPr lang="zh-CN" altLang="en-US" sz="3600" dirty="0">
                <a:latin typeface="方正粗黑宋简体" panose="02000000000000000000" pitchFamily="2" charset="-122"/>
                <a:ea typeface="方正粗黑宋简体" panose="02000000000000000000" pitchFamily="2" charset="-122"/>
              </a:rPr>
              <a:t>操场</a:t>
            </a:r>
            <a:r>
              <a:rPr lang="en-US" altLang="zh-CN" sz="3600" dirty="0">
                <a:latin typeface="方正粗黑宋简体" panose="02000000000000000000" pitchFamily="2" charset="-122"/>
                <a:ea typeface="方正粗黑宋简体" panose="02000000000000000000" pitchFamily="2" charset="-122"/>
              </a:rPr>
              <a:t>》</a:t>
            </a:r>
            <a:endParaRPr lang="zh-CN" altLang="en-US" sz="3600" dirty="0">
              <a:latin typeface="方正粗黑宋简体" panose="02000000000000000000" pitchFamily="2" charset="-122"/>
              <a:ea typeface="方正粗黑宋简体" panose="02000000000000000000" pitchFamily="2" charset="-122"/>
            </a:endParaRPr>
          </a:p>
        </p:txBody>
      </p:sp>
      <p:sp>
        <p:nvSpPr>
          <p:cNvPr id="38915" name="内容占位符 2"/>
          <p:cNvSpPr>
            <a:spLocks noGrp="1"/>
          </p:cNvSpPr>
          <p:nvPr>
            <p:ph idx="1"/>
          </p:nvPr>
        </p:nvSpPr>
        <p:spPr>
          <a:xfrm>
            <a:off x="660063" y="1201886"/>
            <a:ext cx="10615517" cy="5123220"/>
          </a:xfrm>
        </p:spPr>
        <p:txBody>
          <a:bodyPr>
            <a:normAutofit lnSpcReduction="10000"/>
          </a:bodyPr>
          <a:lstStyle/>
          <a:p>
            <a:r>
              <a:rPr lang="zh-CN" altLang="en-US" sz="2200" b="1" dirty="0">
                <a:latin typeface="华文楷体" panose="02010600040101010101" pitchFamily="2" charset="-122"/>
                <a:ea typeface="华文楷体" panose="02010600040101010101" pitchFamily="2" charset="-122"/>
              </a:rPr>
              <a:t>时间</a:t>
            </a:r>
            <a:r>
              <a:rPr lang="en-US" altLang="zh-CN" sz="2200"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当代夏末的某一天。</a:t>
            </a:r>
          </a:p>
          <a:p>
            <a:r>
              <a:rPr lang="zh-CN" altLang="en-US" sz="2200" b="1" dirty="0">
                <a:latin typeface="华文楷体" panose="02010600040101010101" pitchFamily="2" charset="-122"/>
                <a:ea typeface="华文楷体" panose="02010600040101010101" pitchFamily="2" charset="-122"/>
              </a:rPr>
              <a:t>地点  </a:t>
            </a:r>
            <a:r>
              <a:rPr lang="en-US" altLang="zh-CN" sz="2200" b="1" dirty="0">
                <a:latin typeface="华文楷体" panose="02010600040101010101" pitchFamily="2" charset="-122"/>
                <a:ea typeface="华文楷体" panose="02010600040101010101" pitchFamily="2" charset="-122"/>
              </a:rPr>
              <a:t> </a:t>
            </a:r>
            <a:r>
              <a:rPr lang="en-US" altLang="zh-CN" sz="2200"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某大学操场</a:t>
            </a:r>
          </a:p>
          <a:p>
            <a:r>
              <a:rPr lang="en-US" altLang="zh-CN" sz="2200" b="1" dirty="0">
                <a:latin typeface="华文楷体" panose="02010600040101010101" pitchFamily="2" charset="-122"/>
                <a:ea typeface="华文楷体" panose="02010600040101010101" pitchFamily="2" charset="-122"/>
              </a:rPr>
              <a:t>[</a:t>
            </a:r>
            <a:r>
              <a:rPr lang="zh-CN" altLang="en-US" sz="2200" b="1" dirty="0">
                <a:latin typeface="华文楷体" panose="02010600040101010101" pitchFamily="2" charset="-122"/>
                <a:ea typeface="华文楷体" panose="02010600040101010101" pitchFamily="2" charset="-122"/>
              </a:rPr>
              <a:t>操场。</a:t>
            </a:r>
          </a:p>
          <a:p>
            <a:r>
              <a:rPr lang="en-US" altLang="zh-CN" sz="2200" b="1" dirty="0">
                <a:latin typeface="华文楷体" panose="02010600040101010101" pitchFamily="2" charset="-122"/>
                <a:ea typeface="华文楷体" panose="02010600040101010101" pitchFamily="2" charset="-122"/>
              </a:rPr>
              <a:t>[</a:t>
            </a:r>
            <a:r>
              <a:rPr lang="zh-CN" altLang="en-US" sz="2200" b="1" dirty="0">
                <a:latin typeface="华文楷体" panose="02010600040101010101" pitchFamily="2" charset="-122"/>
                <a:ea typeface="华文楷体" panose="02010600040101010101" pitchFamily="2" charset="-122"/>
              </a:rPr>
              <a:t>背景看台</a:t>
            </a:r>
            <a:r>
              <a:rPr lang="en-US" altLang="zh-CN" sz="2200" b="1" dirty="0">
                <a:latin typeface="华文楷体" panose="02010600040101010101" pitchFamily="2" charset="-122"/>
                <a:ea typeface="华文楷体" panose="02010600040101010101" pitchFamily="2" charset="-122"/>
              </a:rPr>
              <a:t>——</a:t>
            </a:r>
            <a:r>
              <a:rPr lang="zh-CN" altLang="en-US" sz="2200" b="1" dirty="0">
                <a:latin typeface="华文楷体" panose="02010600040101010101" pitchFamily="2" charset="-122"/>
                <a:ea typeface="华文楷体" panose="02010600040101010101" pitchFamily="2" charset="-122"/>
              </a:rPr>
              <a:t>像台阶一样，横着分成两大组，朝向观众。</a:t>
            </a:r>
          </a:p>
          <a:p>
            <a:r>
              <a:rPr lang="en-US" altLang="zh-CN" sz="2200" b="1" dirty="0">
                <a:latin typeface="华文楷体" panose="02010600040101010101" pitchFamily="2" charset="-122"/>
                <a:ea typeface="华文楷体" panose="02010600040101010101" pitchFamily="2" charset="-122"/>
              </a:rPr>
              <a:t>[</a:t>
            </a:r>
            <a:r>
              <a:rPr lang="zh-CN" altLang="en-US" sz="2200" b="1" dirty="0">
                <a:latin typeface="华文楷体" panose="02010600040101010101" pitchFamily="2" charset="-122"/>
                <a:ea typeface="华文楷体" panose="02010600040101010101" pitchFamily="2" charset="-122"/>
              </a:rPr>
              <a:t>台阶依次高耸，占据整个天幕，给舞台一个封闭感。</a:t>
            </a:r>
          </a:p>
          <a:p>
            <a:r>
              <a:rPr lang="en-US" altLang="zh-CN" sz="2200" b="1" dirty="0">
                <a:latin typeface="华文楷体" panose="02010600040101010101" pitchFamily="2" charset="-122"/>
                <a:ea typeface="华文楷体" panose="02010600040101010101" pitchFamily="2" charset="-122"/>
              </a:rPr>
              <a:t>[</a:t>
            </a:r>
            <a:r>
              <a:rPr lang="zh-CN" altLang="en-US" sz="2200" b="1" dirty="0">
                <a:latin typeface="华文楷体" panose="02010600040101010101" pitchFamily="2" charset="-122"/>
                <a:ea typeface="华文楷体" panose="02010600040101010101" pitchFamily="2" charset="-122"/>
              </a:rPr>
              <a:t>看台的墙根下立了块黑板，不太显眼。</a:t>
            </a:r>
          </a:p>
          <a:p>
            <a:r>
              <a:rPr lang="en-US" altLang="zh-CN" sz="2200" b="1" dirty="0">
                <a:latin typeface="华文楷体" panose="02010600040101010101" pitchFamily="2" charset="-122"/>
                <a:ea typeface="华文楷体" panose="02010600040101010101" pitchFamily="2" charset="-122"/>
              </a:rPr>
              <a:t>[</a:t>
            </a:r>
            <a:r>
              <a:rPr lang="zh-CN" altLang="en-US" sz="2200" b="1" dirty="0">
                <a:latin typeface="华文楷体" panose="02010600040101010101" pitchFamily="2" charset="-122"/>
                <a:ea typeface="华文楷体" panose="02010600040101010101" pitchFamily="2" charset="-122"/>
              </a:rPr>
              <a:t>看台前是操场的跑道。</a:t>
            </a:r>
          </a:p>
          <a:p>
            <a:r>
              <a:rPr lang="en-US" altLang="zh-CN" sz="2200" b="1" dirty="0">
                <a:latin typeface="华文楷体" panose="02010600040101010101" pitchFamily="2" charset="-122"/>
                <a:ea typeface="华文楷体" panose="02010600040101010101" pitchFamily="2" charset="-122"/>
              </a:rPr>
              <a:t>[</a:t>
            </a:r>
            <a:r>
              <a:rPr lang="zh-CN" altLang="en-US" sz="2200" b="1" dirty="0">
                <a:latin typeface="华文楷体" panose="02010600040101010101" pitchFamily="2" charset="-122"/>
                <a:ea typeface="华文楷体" panose="02010600040101010101" pitchFamily="2" charset="-122"/>
              </a:rPr>
              <a:t>跑道再往前是运动场的边缘（舞台的前沿）。</a:t>
            </a:r>
          </a:p>
          <a:p>
            <a:r>
              <a:rPr lang="en-US" altLang="zh-CN" sz="2200" b="1" dirty="0">
                <a:latin typeface="华文楷体" panose="02010600040101010101" pitchFamily="2" charset="-122"/>
                <a:ea typeface="华文楷体" panose="02010600040101010101" pitchFamily="2" charset="-122"/>
              </a:rPr>
              <a:t>[</a:t>
            </a:r>
            <a:r>
              <a:rPr lang="zh-CN" altLang="en-US" sz="2200" b="1" dirty="0">
                <a:latin typeface="华文楷体" panose="02010600040101010101" pitchFamily="2" charset="-122"/>
                <a:ea typeface="华文楷体" panose="02010600040101010101" pitchFamily="2" charset="-122"/>
              </a:rPr>
              <a:t>看台的左边，有一座白色的高高的裁判架子。</a:t>
            </a:r>
          </a:p>
          <a:p>
            <a:r>
              <a:rPr lang="en-US" altLang="zh-CN" sz="2200" b="1" dirty="0">
                <a:latin typeface="华文楷体" panose="02010600040101010101" pitchFamily="2" charset="-122"/>
                <a:ea typeface="华文楷体" panose="02010600040101010101" pitchFamily="2" charset="-122"/>
              </a:rPr>
              <a:t>[</a:t>
            </a:r>
            <a:r>
              <a:rPr lang="zh-CN" altLang="en-US" sz="2200" b="1" dirty="0">
                <a:latin typeface="华文楷体" panose="02010600040101010101" pitchFamily="2" charset="-122"/>
                <a:ea typeface="华文楷体" panose="02010600040101010101" pitchFamily="2" charset="-122"/>
              </a:rPr>
              <a:t>看台中间有一座砌成塔样的钟。</a:t>
            </a:r>
          </a:p>
          <a:p>
            <a:pPr marL="0" indent="0">
              <a:buNone/>
            </a:pPr>
            <a:endParaRPr lang="zh-CN" altLang="en-US" sz="2200" b="1" dirty="0">
              <a:latin typeface="华文楷体" panose="02010600040101010101" pitchFamily="2" charset="-122"/>
              <a:ea typeface="华文楷体" panose="02010600040101010101" pitchFamily="2" charset="-122"/>
            </a:endParaRPr>
          </a:p>
          <a:p>
            <a:r>
              <a:rPr lang="en-US" altLang="zh-CN" sz="2200" b="1" dirty="0">
                <a:latin typeface="华文楷体" panose="02010600040101010101" pitchFamily="2" charset="-122"/>
                <a:ea typeface="华文楷体" panose="02010600040101010101" pitchFamily="2" charset="-122"/>
              </a:rPr>
              <a:t>[</a:t>
            </a:r>
            <a:r>
              <a:rPr lang="zh-CN" altLang="en-US" sz="2200" b="1" dirty="0">
                <a:latin typeface="华文楷体" panose="02010600040101010101" pitchFamily="2" charset="-122"/>
                <a:ea typeface="华文楷体" panose="02010600040101010101" pitchFamily="2" charset="-122"/>
              </a:rPr>
              <a:t>黎明。钟的时间是早晨四点半。</a:t>
            </a:r>
          </a:p>
          <a:p>
            <a:r>
              <a:rPr lang="en-US" altLang="zh-CN" sz="2200" b="1" dirty="0">
                <a:latin typeface="华文楷体" panose="02010600040101010101" pitchFamily="2" charset="-122"/>
                <a:ea typeface="华文楷体" panose="02010600040101010101" pitchFamily="2" charset="-122"/>
              </a:rPr>
              <a:t>[</a:t>
            </a:r>
            <a:r>
              <a:rPr lang="zh-CN" altLang="en-US" sz="2200" b="1" dirty="0">
                <a:latin typeface="华文楷体" panose="02010600040101010101" pitchFamily="2" charset="-122"/>
                <a:ea typeface="华文楷体" panose="02010600040101010101" pitchFamily="2" charset="-122"/>
              </a:rPr>
              <a:t>这时老迟在中间一层台阶上坐着发呆。</a:t>
            </a:r>
          </a:p>
          <a:p>
            <a:endParaRPr lang="zh-CN" altLang="en-US" dirty="0"/>
          </a:p>
        </p:txBody>
      </p:sp>
    </p:spTree>
    <p:extLst>
      <p:ext uri="{BB962C8B-B14F-4D97-AF65-F5344CB8AC3E}">
        <p14:creationId xmlns:p14="http://schemas.microsoft.com/office/powerpoint/2010/main" val="3298147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endParaRPr lang="zh-CN" altLang="zh-CN"/>
          </a:p>
        </p:txBody>
      </p:sp>
      <p:sp>
        <p:nvSpPr>
          <p:cNvPr id="41987" name="Rectangle 3"/>
          <p:cNvSpPr>
            <a:spLocks noGrp="1" noChangeArrowheads="1"/>
          </p:cNvSpPr>
          <p:nvPr>
            <p:ph type="body" idx="1"/>
          </p:nvPr>
        </p:nvSpPr>
        <p:spPr>
          <a:xfrm>
            <a:off x="741816" y="1362517"/>
            <a:ext cx="10888020" cy="5026172"/>
          </a:xfrm>
        </p:spPr>
        <p:txBody>
          <a:bodyPr>
            <a:normAutofit fontScale="92500"/>
          </a:bodyPr>
          <a:lstStyle/>
          <a:p>
            <a:pPr>
              <a:lnSpc>
                <a:spcPct val="150000"/>
              </a:lnSpc>
            </a:pPr>
            <a:r>
              <a:rPr lang="zh-CN" altLang="en-US" b="1" dirty="0">
                <a:latin typeface="黑体" panose="02010609060101010101" pitchFamily="49" charset="-122"/>
                <a:ea typeface="黑体" panose="02010609060101010101" pitchFamily="49" charset="-122"/>
              </a:rPr>
              <a:t>环境提示不仅能为演员表演提供简单的行动支点、为二度创作的其它部门提供环境说明的作用，还可以展示人物与生存环境的内在互动关系，展现人对环境的主观改造结果或者环境对人的性格形成的影响等。</a:t>
            </a:r>
            <a:endParaRPr lang="en-US" altLang="zh-CN" b="1" dirty="0">
              <a:latin typeface="黑体" panose="02010609060101010101" pitchFamily="49" charset="-122"/>
              <a:ea typeface="黑体" panose="02010609060101010101" pitchFamily="49" charset="-122"/>
            </a:endParaRPr>
          </a:p>
          <a:p>
            <a:pPr>
              <a:lnSpc>
                <a:spcPct val="150000"/>
              </a:lnSpc>
            </a:pPr>
            <a:endParaRPr lang="en-US" altLang="zh-CN" b="1" dirty="0">
              <a:latin typeface="黑体" panose="02010609060101010101" pitchFamily="49" charset="-122"/>
              <a:ea typeface="黑体" panose="02010609060101010101" pitchFamily="49" charset="-122"/>
            </a:endParaRPr>
          </a:p>
          <a:p>
            <a:pPr>
              <a:lnSpc>
                <a:spcPct val="150000"/>
              </a:lnSpc>
            </a:pPr>
            <a:r>
              <a:rPr lang="zh-CN" altLang="en-US" b="1" dirty="0">
                <a:latin typeface="黑体" panose="02010609060101010101" pitchFamily="49" charset="-122"/>
                <a:ea typeface="黑体" panose="02010609060101010101" pitchFamily="49" charset="-122"/>
              </a:rPr>
              <a:t>现代剧场创作者并不喜欢过多的环境提示，因为可能会限制了二度创作。环境提示与剧情、人物行动、人物个性结合在一起则更加精彩。</a:t>
            </a:r>
          </a:p>
        </p:txBody>
      </p:sp>
    </p:spTree>
    <p:extLst>
      <p:ext uri="{BB962C8B-B14F-4D97-AF65-F5344CB8AC3E}">
        <p14:creationId xmlns:p14="http://schemas.microsoft.com/office/powerpoint/2010/main" val="3001112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838200" y="365126"/>
            <a:ext cx="10515600" cy="921696"/>
          </a:xfrm>
        </p:spPr>
        <p:txBody>
          <a:bodyPr>
            <a:normAutofit/>
          </a:bodyPr>
          <a:lstStyle/>
          <a:p>
            <a:r>
              <a:rPr lang="en-US" altLang="zh-CN" sz="3600" dirty="0">
                <a:latin typeface="方正粗黑宋简体" panose="02000000000000000000" pitchFamily="2" charset="-122"/>
                <a:ea typeface="方正粗黑宋简体" panose="02000000000000000000" pitchFamily="2" charset="-122"/>
              </a:rPr>
              <a:t>2.</a:t>
            </a:r>
            <a:r>
              <a:rPr lang="zh-CN" altLang="en-US" sz="3600" dirty="0">
                <a:latin typeface="方正粗黑宋简体" panose="02000000000000000000" pitchFamily="2" charset="-122"/>
                <a:ea typeface="方正粗黑宋简体" panose="02000000000000000000" pitchFamily="2" charset="-122"/>
              </a:rPr>
              <a:t> 人物上下场的说明</a:t>
            </a:r>
          </a:p>
        </p:txBody>
      </p:sp>
      <p:sp>
        <p:nvSpPr>
          <p:cNvPr id="43011" name="Rectangle 3"/>
          <p:cNvSpPr>
            <a:spLocks noGrp="1" noChangeArrowheads="1"/>
          </p:cNvSpPr>
          <p:nvPr>
            <p:ph type="body" idx="1"/>
          </p:nvPr>
        </p:nvSpPr>
        <p:spPr>
          <a:xfrm>
            <a:off x="626758" y="1532074"/>
            <a:ext cx="10863798" cy="4754426"/>
          </a:xfrm>
        </p:spPr>
        <p:txBody>
          <a:bodyPr>
            <a:normAutofit fontScale="85000" lnSpcReduction="20000"/>
          </a:bodyPr>
          <a:lstStyle/>
          <a:p>
            <a:pPr marL="0" indent="0">
              <a:lnSpc>
                <a:spcPct val="200000"/>
              </a:lnSpc>
              <a:buNone/>
            </a:pPr>
            <a:r>
              <a:rPr lang="en-US" altLang="zh-CN" sz="2200" dirty="0">
                <a:latin typeface="方正粗黑宋简体" panose="02000000000000000000" pitchFamily="2" charset="-122"/>
                <a:ea typeface="方正粗黑宋简体" panose="02000000000000000000" pitchFamily="2" charset="-122"/>
              </a:rPr>
              <a:t>1.</a:t>
            </a:r>
            <a:r>
              <a:rPr lang="zh-CN" altLang="en-US" sz="2200" dirty="0">
                <a:latin typeface="方正粗黑宋简体" panose="02000000000000000000" pitchFamily="2" charset="-122"/>
                <a:ea typeface="方正粗黑宋简体" panose="02000000000000000000" pitchFamily="2" charset="-122"/>
              </a:rPr>
              <a:t>出场人物形象说明。剧作者将人物的外貌、气质用文字直接描写出来，以利于导演、演员和其它舞台部门塑造形象。完整的人物塑造必须将说明与人物行为的展现结合起来共同分析，否则，既不能完全领会作者的意图，也不能创造出丰满生动的人物形象。</a:t>
            </a:r>
          </a:p>
          <a:p>
            <a:pPr marL="0" indent="0">
              <a:lnSpc>
                <a:spcPct val="200000"/>
              </a:lnSpc>
              <a:buNone/>
            </a:pPr>
            <a:r>
              <a:rPr lang="en-US" altLang="zh-CN" sz="2200" dirty="0">
                <a:latin typeface="方正粗黑宋简体" panose="02000000000000000000" pitchFamily="2" charset="-122"/>
                <a:ea typeface="方正粗黑宋简体" panose="02000000000000000000" pitchFamily="2" charset="-122"/>
              </a:rPr>
              <a:t>2.</a:t>
            </a:r>
            <a:r>
              <a:rPr lang="zh-CN" altLang="en-US" sz="2200" dirty="0">
                <a:latin typeface="方正粗黑宋简体" panose="02000000000000000000" pitchFamily="2" charset="-122"/>
                <a:ea typeface="方正粗黑宋简体" panose="02000000000000000000" pitchFamily="2" charset="-122"/>
              </a:rPr>
              <a:t>人物上场、下场说明。</a:t>
            </a:r>
            <a:endParaRPr lang="en-US" altLang="zh-CN" sz="2200" dirty="0">
              <a:latin typeface="方正粗黑宋简体" panose="02000000000000000000" pitchFamily="2" charset="-122"/>
              <a:ea typeface="方正粗黑宋简体" panose="02000000000000000000" pitchFamily="2" charset="-122"/>
            </a:endParaRPr>
          </a:p>
          <a:p>
            <a:pPr marL="0" indent="0">
              <a:lnSpc>
                <a:spcPct val="200000"/>
              </a:lnSpc>
              <a:buNone/>
            </a:pPr>
            <a:endParaRPr lang="en-US" altLang="zh-CN" sz="2200" dirty="0">
              <a:latin typeface="方正粗黑宋简体" panose="02000000000000000000" pitchFamily="2" charset="-122"/>
              <a:ea typeface="方正粗黑宋简体" panose="02000000000000000000" pitchFamily="2" charset="-122"/>
            </a:endParaRPr>
          </a:p>
          <a:p>
            <a:pPr>
              <a:lnSpc>
                <a:spcPct val="150000"/>
              </a:lnSpc>
            </a:pPr>
            <a:r>
              <a:rPr lang="zh-CN" altLang="en-US" sz="2200" b="1" dirty="0">
                <a:latin typeface="方正粗黑宋简体" panose="02000000000000000000" pitchFamily="2" charset="-122"/>
                <a:ea typeface="方正粗黑宋简体" panose="02000000000000000000" pitchFamily="2" charset="-122"/>
              </a:rPr>
              <a:t>舞台上情节要集中，与情节无关的人，站在台上，无戏可演，要合理安排下场；与情节有关的人，不能不在场。</a:t>
            </a:r>
            <a:endParaRPr lang="en-US" altLang="zh-CN" sz="2200" b="1" dirty="0">
              <a:latin typeface="方正粗黑宋简体" panose="02000000000000000000" pitchFamily="2" charset="-122"/>
              <a:ea typeface="方正粗黑宋简体" panose="02000000000000000000" pitchFamily="2" charset="-122"/>
            </a:endParaRPr>
          </a:p>
          <a:p>
            <a:pPr>
              <a:lnSpc>
                <a:spcPct val="150000"/>
              </a:lnSpc>
            </a:pPr>
            <a:r>
              <a:rPr lang="zh-CN" altLang="en-US" sz="2200" b="1" dirty="0">
                <a:latin typeface="方正粗黑宋简体" panose="02000000000000000000" pitchFamily="2" charset="-122"/>
                <a:ea typeface="方正粗黑宋简体" panose="02000000000000000000" pitchFamily="2" charset="-122"/>
              </a:rPr>
              <a:t>舞台上的人，多一个不行，少一个也不行。所以，人物上下场的处理和安排，也是编剧需要认真考虑的一个问题。 </a:t>
            </a:r>
          </a:p>
          <a:p>
            <a:pPr marL="0" indent="0">
              <a:lnSpc>
                <a:spcPct val="200000"/>
              </a:lnSpc>
              <a:buNone/>
            </a:pPr>
            <a:endParaRPr lang="zh-CN" altLang="en-US" sz="2000" dirty="0">
              <a:latin typeface="方正粗黑宋简体" panose="02000000000000000000" pitchFamily="2" charset="-122"/>
              <a:ea typeface="方正粗黑宋简体" panose="02000000000000000000" pitchFamily="2" charset="-122"/>
            </a:endParaRPr>
          </a:p>
        </p:txBody>
      </p:sp>
    </p:spTree>
    <p:extLst>
      <p:ext uri="{BB962C8B-B14F-4D97-AF65-F5344CB8AC3E}">
        <p14:creationId xmlns:p14="http://schemas.microsoft.com/office/powerpoint/2010/main" val="660790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normAutofit/>
          </a:bodyPr>
          <a:lstStyle/>
          <a:p>
            <a:pPr marL="800100" indent="-800100"/>
            <a:r>
              <a:rPr lang="en-US" altLang="zh-CN" sz="3600" b="1" dirty="0">
                <a:latin typeface="黑体" panose="02010609060101010101" pitchFamily="49" charset="-122"/>
                <a:ea typeface="黑体" panose="02010609060101010101" pitchFamily="49" charset="-122"/>
              </a:rPr>
              <a:t>3.</a:t>
            </a:r>
            <a:r>
              <a:rPr lang="zh-CN" altLang="en-US" sz="3600" b="1" dirty="0">
                <a:latin typeface="黑体" panose="02010609060101010101" pitchFamily="49" charset="-122"/>
                <a:ea typeface="黑体" panose="02010609060101010101" pitchFamily="49" charset="-122"/>
              </a:rPr>
              <a:t>人物外部动作的提示</a:t>
            </a:r>
          </a:p>
        </p:txBody>
      </p:sp>
      <p:sp>
        <p:nvSpPr>
          <p:cNvPr id="45059" name="Rectangle 3"/>
          <p:cNvSpPr>
            <a:spLocks noGrp="1" noChangeArrowheads="1"/>
          </p:cNvSpPr>
          <p:nvPr>
            <p:ph type="body" idx="1"/>
          </p:nvPr>
        </p:nvSpPr>
        <p:spPr>
          <a:xfrm>
            <a:off x="505645" y="1725854"/>
            <a:ext cx="10969772" cy="4417772"/>
          </a:xfrm>
        </p:spPr>
        <p:txBody>
          <a:bodyPr/>
          <a:lstStyle/>
          <a:p>
            <a:pPr>
              <a:lnSpc>
                <a:spcPct val="150000"/>
              </a:lnSpc>
            </a:pPr>
            <a:r>
              <a:rPr lang="zh-CN" altLang="en-US" dirty="0">
                <a:latin typeface="黑体" panose="02010609060101010101" pitchFamily="49" charset="-122"/>
                <a:ea typeface="黑体" panose="02010609060101010101" pitchFamily="49" charset="-122"/>
              </a:rPr>
              <a:t>对人物外部动作的提示主要是对人物角色肢体动作的规定，并且常常是为了表达人物的特定情绪。编剧对人物肢体动作的设计，在演出中不一定能够完全实现，因为演员和导演都可以依据这种提示进行再加工。</a:t>
            </a:r>
          </a:p>
        </p:txBody>
      </p:sp>
    </p:spTree>
    <p:extLst>
      <p:ext uri="{BB962C8B-B14F-4D97-AF65-F5344CB8AC3E}">
        <p14:creationId xmlns:p14="http://schemas.microsoft.com/office/powerpoint/2010/main" val="757450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type="body" idx="1"/>
          </p:nvPr>
        </p:nvSpPr>
        <p:spPr>
          <a:xfrm>
            <a:off x="623730" y="1177819"/>
            <a:ext cx="11018217" cy="5335009"/>
          </a:xfrm>
        </p:spPr>
        <p:txBody>
          <a:bodyPr>
            <a:normAutofit lnSpcReduction="10000"/>
          </a:bodyPr>
          <a:lstStyle/>
          <a:p>
            <a:pPr>
              <a:lnSpc>
                <a:spcPct val="150000"/>
              </a:lnSpc>
            </a:pPr>
            <a:r>
              <a:rPr lang="zh-CN" altLang="en-US" sz="2400" dirty="0">
                <a:latin typeface="华文楷体" panose="02010600040101010101" pitchFamily="2" charset="-122"/>
                <a:ea typeface="华文楷体" panose="02010600040101010101" pitchFamily="2" charset="-122"/>
              </a:rPr>
              <a:t>维佳：就是说，我就只能得两分了，啊？ </a:t>
            </a:r>
          </a:p>
          <a:p>
            <a:pPr>
              <a:lnSpc>
                <a:spcPct val="150000"/>
              </a:lnSpc>
            </a:pPr>
            <a:r>
              <a:rPr lang="zh-CN" altLang="en-US" sz="2400" dirty="0">
                <a:latin typeface="华文楷体" panose="02010600040101010101" pitchFamily="2" charset="-122"/>
                <a:ea typeface="华文楷体" panose="02010600040101010101" pitchFamily="2" charset="-122"/>
              </a:rPr>
              <a:t>拉拉：两分总比蹲两年大狱好。巴沙，走啊！ </a:t>
            </a:r>
          </a:p>
          <a:p>
            <a:pPr>
              <a:lnSpc>
                <a:spcPct val="150000"/>
              </a:lnSpc>
            </a:pPr>
            <a:r>
              <a:rPr lang="zh-CN" altLang="en-US" sz="2400" dirty="0">
                <a:latin typeface="华文楷体" panose="02010600040101010101" pitchFamily="2" charset="-122"/>
                <a:ea typeface="华文楷体" panose="02010600040101010101" pitchFamily="2" charset="-122"/>
              </a:rPr>
              <a:t>巴沙：可能，的确不值得？</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有时候理智地收手</a:t>
            </a:r>
            <a:r>
              <a:rPr lang="en-US" altLang="zh-CN" sz="2400" dirty="0">
                <a:latin typeface="华文楷体" panose="02010600040101010101" pitchFamily="2" charset="-122"/>
                <a:ea typeface="华文楷体" panose="02010600040101010101" pitchFamily="2" charset="-122"/>
              </a:rPr>
              <a:t>…… </a:t>
            </a:r>
          </a:p>
          <a:p>
            <a:pPr>
              <a:lnSpc>
                <a:spcPct val="150000"/>
              </a:lnSpc>
            </a:pPr>
            <a:r>
              <a:rPr lang="zh-CN" altLang="en-US" sz="2400" dirty="0">
                <a:latin typeface="华文楷体" panose="02010600040101010101" pitchFamily="2" charset="-122"/>
                <a:ea typeface="华文楷体" panose="02010600040101010101" pitchFamily="2" charset="-122"/>
              </a:rPr>
              <a:t>瓦洛佳：（轻声）滚！你们全都滚！</a:t>
            </a:r>
          </a:p>
          <a:p>
            <a:pPr>
              <a:lnSpc>
                <a:spcPct val="150000"/>
              </a:lnSpc>
            </a:pP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没有了老师的客厅显得格外冷清，维佳和巴沙都似乎有些迷茫了。 </a:t>
            </a:r>
          </a:p>
          <a:p>
            <a:pPr>
              <a:lnSpc>
                <a:spcPct val="150000"/>
              </a:lnSpc>
            </a:pPr>
            <a:r>
              <a:rPr lang="en-US" altLang="zh-CN" sz="2400" b="1" u="sng" dirty="0">
                <a:solidFill>
                  <a:srgbClr val="0070C0"/>
                </a:solidFill>
                <a:latin typeface="华文楷体" panose="02010600040101010101" pitchFamily="2" charset="-122"/>
                <a:ea typeface="华文楷体" panose="02010600040101010101" pitchFamily="2" charset="-122"/>
              </a:rPr>
              <a:t>【</a:t>
            </a:r>
            <a:r>
              <a:rPr lang="zh-CN" altLang="en-US" sz="2400" b="1" u="sng" dirty="0">
                <a:solidFill>
                  <a:srgbClr val="0070C0"/>
                </a:solidFill>
                <a:latin typeface="华文楷体" panose="02010600040101010101" pitchFamily="2" charset="-122"/>
                <a:ea typeface="华文楷体" panose="02010600040101010101" pitchFamily="2" charset="-122"/>
              </a:rPr>
              <a:t>拉拉在一边用冷冷的眼光打量着他们。维佳又一次下意识地咽下一口香槟；巴沙摘下眼镜取出手绢仔细地擦拭着，没有了镜片的掩饰，他的眼中暴露的只有惶恐；</a:t>
            </a:r>
            <a:r>
              <a:rPr lang="zh-CN" altLang="en-US" sz="2400" b="1" u="sng" dirty="0">
                <a:solidFill>
                  <a:srgbClr val="FF0000"/>
                </a:solidFill>
                <a:latin typeface="华文楷体" panose="02010600040101010101" pitchFamily="2" charset="-122"/>
                <a:ea typeface="华文楷体" panose="02010600040101010101" pitchFamily="2" charset="-122"/>
              </a:rPr>
              <a:t>瓦洛佳察觉到了一丝不祥的预兆，他必须给他们希望，但此刻他也觉得自己力不从心。</a:t>
            </a:r>
            <a:r>
              <a:rPr lang="en-US" altLang="zh-CN" sz="2400" b="1" u="sng" dirty="0">
                <a:solidFill>
                  <a:srgbClr val="FF0000"/>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4126910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640352" y="632151"/>
            <a:ext cx="7772400" cy="990600"/>
          </a:xfrm>
        </p:spPr>
        <p:txBody>
          <a:bodyPr>
            <a:normAutofit/>
          </a:bodyPr>
          <a:lstStyle/>
          <a:p>
            <a:r>
              <a:rPr lang="zh-CN" altLang="en-US" sz="3200" dirty="0">
                <a:latin typeface="方正粗黑宋简体" panose="02000000000000000000" pitchFamily="2" charset="-122"/>
                <a:ea typeface="方正粗黑宋简体" panose="02000000000000000000" pitchFamily="2" charset="-122"/>
              </a:rPr>
              <a:t>舞台动作和现实动作的区别</a:t>
            </a:r>
            <a:endParaRPr lang="zh-CN" altLang="zh-CN" sz="3200" dirty="0">
              <a:latin typeface="方正粗黑宋简体" panose="02000000000000000000" pitchFamily="2" charset="-122"/>
              <a:ea typeface="方正粗黑宋简体" panose="02000000000000000000" pitchFamily="2" charset="-122"/>
            </a:endParaRPr>
          </a:p>
        </p:txBody>
      </p:sp>
      <p:sp>
        <p:nvSpPr>
          <p:cNvPr id="47107" name="Rectangle 3"/>
          <p:cNvSpPr>
            <a:spLocks noGrp="1" noChangeArrowheads="1"/>
          </p:cNvSpPr>
          <p:nvPr>
            <p:ph type="body" idx="1"/>
          </p:nvPr>
        </p:nvSpPr>
        <p:spPr>
          <a:xfrm>
            <a:off x="472339" y="1665298"/>
            <a:ext cx="11045468" cy="4808170"/>
          </a:xfrm>
        </p:spPr>
        <p:txBody>
          <a:bodyPr/>
          <a:lstStyle/>
          <a:p>
            <a:pPr>
              <a:lnSpc>
                <a:spcPct val="150000"/>
              </a:lnSpc>
            </a:pPr>
            <a:r>
              <a:rPr lang="zh-CN" altLang="en-US" dirty="0">
                <a:latin typeface="方正粗黑宋简体" panose="02000000000000000000" pitchFamily="2" charset="-122"/>
                <a:ea typeface="方正粗黑宋简体" panose="02000000000000000000" pitchFamily="2" charset="-122"/>
              </a:rPr>
              <a:t>现实生活中，人们常常下意识地动作着，往往不知道决定个人</a:t>
            </a:r>
            <a:r>
              <a:rPr lang="zh-CN" altLang="en-US" dirty="0">
                <a:solidFill>
                  <a:srgbClr val="FF0000"/>
                </a:solidFill>
                <a:latin typeface="方正粗黑宋简体" panose="02000000000000000000" pitchFamily="2" charset="-122"/>
                <a:ea typeface="方正粗黑宋简体" panose="02000000000000000000" pitchFamily="2" charset="-122"/>
              </a:rPr>
              <a:t>行动的自我原因和所要追求的目标是什么</a:t>
            </a:r>
            <a:r>
              <a:rPr lang="zh-CN" altLang="en-US" dirty="0">
                <a:latin typeface="方正粗黑宋简体" panose="02000000000000000000" pitchFamily="2" charset="-122"/>
                <a:ea typeface="方正粗黑宋简体" panose="02000000000000000000" pitchFamily="2" charset="-122"/>
              </a:rPr>
              <a:t>；</a:t>
            </a:r>
            <a:endParaRPr lang="en-US" altLang="zh-CN" dirty="0">
              <a:latin typeface="方正粗黑宋简体" panose="02000000000000000000" pitchFamily="2" charset="-122"/>
              <a:ea typeface="方正粗黑宋简体" panose="02000000000000000000" pitchFamily="2" charset="-122"/>
            </a:endParaRPr>
          </a:p>
          <a:p>
            <a:pPr>
              <a:lnSpc>
                <a:spcPct val="150000"/>
              </a:lnSpc>
            </a:pPr>
            <a:r>
              <a:rPr lang="zh-CN" altLang="en-US" dirty="0">
                <a:latin typeface="方正粗黑宋简体" panose="02000000000000000000" pitchFamily="2" charset="-122"/>
                <a:ea typeface="方正粗黑宋简体" panose="02000000000000000000" pitchFamily="2" charset="-122"/>
              </a:rPr>
              <a:t>舞台演出时，人物行为的特殊性必须让剧本的呈现者</a:t>
            </a:r>
            <a:r>
              <a:rPr lang="en-US" altLang="zh-CN" dirty="0">
                <a:latin typeface="方正粗黑宋简体" panose="02000000000000000000" pitchFamily="2" charset="-122"/>
                <a:ea typeface="方正粗黑宋简体" panose="02000000000000000000" pitchFamily="2" charset="-122"/>
              </a:rPr>
              <a:t>——</a:t>
            </a:r>
            <a:r>
              <a:rPr lang="zh-CN" altLang="en-US" dirty="0">
                <a:latin typeface="方正粗黑宋简体" panose="02000000000000000000" pitchFamily="2" charset="-122"/>
                <a:ea typeface="方正粗黑宋简体" panose="02000000000000000000" pitchFamily="2" charset="-122"/>
              </a:rPr>
              <a:t>演员明白，并通过其外化为角色的舞台动作，否则表演就会陷入混乱无序状态。</a:t>
            </a:r>
          </a:p>
        </p:txBody>
      </p:sp>
    </p:spTree>
    <p:extLst>
      <p:ext uri="{BB962C8B-B14F-4D97-AF65-F5344CB8AC3E}">
        <p14:creationId xmlns:p14="http://schemas.microsoft.com/office/powerpoint/2010/main" val="278478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endParaRPr lang="zh-CN" altLang="zh-CN"/>
          </a:p>
        </p:txBody>
      </p:sp>
      <p:sp>
        <p:nvSpPr>
          <p:cNvPr id="48131" name="Rectangle 3"/>
          <p:cNvSpPr>
            <a:spLocks noGrp="1" noChangeArrowheads="1"/>
          </p:cNvSpPr>
          <p:nvPr>
            <p:ph type="body" idx="1"/>
          </p:nvPr>
        </p:nvSpPr>
        <p:spPr>
          <a:xfrm>
            <a:off x="469312" y="1480601"/>
            <a:ext cx="11475416" cy="4734463"/>
          </a:xfrm>
        </p:spPr>
        <p:txBody>
          <a:bodyPr/>
          <a:lstStyle/>
          <a:p>
            <a:pPr>
              <a:lnSpc>
                <a:spcPts val="4500"/>
              </a:lnSpc>
            </a:pPr>
            <a:r>
              <a:rPr lang="zh-CN" altLang="en-US" sz="2600" b="1" dirty="0">
                <a:latin typeface="黑体" panose="02010609060101010101" pitchFamily="49" charset="-122"/>
                <a:ea typeface="黑体" panose="02010609060101010101" pitchFamily="49" charset="-122"/>
              </a:rPr>
              <a:t>专业的演员所必须明白的“舞台任务三要素”</a:t>
            </a:r>
          </a:p>
          <a:p>
            <a:pPr>
              <a:lnSpc>
                <a:spcPts val="4500"/>
              </a:lnSpc>
            </a:pPr>
            <a:r>
              <a:rPr lang="zh-CN" altLang="en-US" sz="2600" b="1" dirty="0">
                <a:latin typeface="黑体" panose="02010609060101010101" pitchFamily="49" charset="-122"/>
                <a:ea typeface="黑体" panose="02010609060101010101" pitchFamily="49" charset="-122"/>
              </a:rPr>
              <a:t>第一：动作</a:t>
            </a:r>
            <a:r>
              <a:rPr lang="en-US" altLang="zh-CN" sz="2600" b="1" dirty="0">
                <a:latin typeface="黑体" panose="02010609060101010101" pitchFamily="49" charset="-122"/>
                <a:ea typeface="黑体" panose="02010609060101010101" pitchFamily="49" charset="-122"/>
              </a:rPr>
              <a:t>——</a:t>
            </a:r>
            <a:r>
              <a:rPr lang="zh-CN" altLang="en-US" sz="2600" b="1" dirty="0">
                <a:latin typeface="黑体" panose="02010609060101010101" pitchFamily="49" charset="-122"/>
                <a:ea typeface="黑体" panose="02010609060101010101" pitchFamily="49" charset="-122"/>
              </a:rPr>
              <a:t>我要做什么</a:t>
            </a:r>
          </a:p>
          <a:p>
            <a:pPr>
              <a:lnSpc>
                <a:spcPts val="4500"/>
              </a:lnSpc>
            </a:pPr>
            <a:r>
              <a:rPr lang="zh-CN" altLang="en-US" sz="2600" b="1" dirty="0">
                <a:latin typeface="黑体" panose="02010609060101010101" pitchFamily="49" charset="-122"/>
                <a:ea typeface="黑体" panose="02010609060101010101" pitchFamily="49" charset="-122"/>
              </a:rPr>
              <a:t>第二：立意</a:t>
            </a:r>
            <a:r>
              <a:rPr lang="en-US" altLang="zh-CN" sz="2600" b="1" dirty="0">
                <a:latin typeface="黑体" panose="02010609060101010101" pitchFamily="49" charset="-122"/>
                <a:ea typeface="黑体" panose="02010609060101010101" pitchFamily="49" charset="-122"/>
              </a:rPr>
              <a:t>——</a:t>
            </a:r>
            <a:r>
              <a:rPr lang="zh-CN" altLang="en-US" sz="2600" b="1" dirty="0">
                <a:latin typeface="黑体" panose="02010609060101010101" pitchFamily="49" charset="-122"/>
                <a:ea typeface="黑体" panose="02010609060101010101" pitchFamily="49" charset="-122"/>
              </a:rPr>
              <a:t>我为什么做这个</a:t>
            </a:r>
          </a:p>
          <a:p>
            <a:pPr>
              <a:lnSpc>
                <a:spcPts val="4500"/>
              </a:lnSpc>
            </a:pPr>
            <a:r>
              <a:rPr lang="zh-CN" altLang="en-US" sz="2600" b="1" dirty="0">
                <a:latin typeface="黑体" panose="02010609060101010101" pitchFamily="49" charset="-122"/>
                <a:ea typeface="黑体" panose="02010609060101010101" pitchFamily="49" charset="-122"/>
              </a:rPr>
              <a:t>第三：调度</a:t>
            </a:r>
            <a:r>
              <a:rPr lang="en-US" altLang="zh-CN" sz="2600" b="1" dirty="0">
                <a:latin typeface="黑体" panose="02010609060101010101" pitchFamily="49" charset="-122"/>
                <a:ea typeface="黑体" panose="02010609060101010101" pitchFamily="49" charset="-122"/>
              </a:rPr>
              <a:t>——</a:t>
            </a:r>
            <a:r>
              <a:rPr lang="zh-CN" altLang="en-US" sz="2600" b="1" dirty="0">
                <a:latin typeface="黑体" panose="02010609060101010101" pitchFamily="49" charset="-122"/>
                <a:ea typeface="黑体" panose="02010609060101010101" pitchFamily="49" charset="-122"/>
              </a:rPr>
              <a:t>我怎样做，即行动的性质与形状。</a:t>
            </a:r>
          </a:p>
          <a:p>
            <a:pPr>
              <a:lnSpc>
                <a:spcPts val="4500"/>
              </a:lnSpc>
            </a:pPr>
            <a:r>
              <a:rPr lang="zh-CN" altLang="en-US" sz="2600" b="1" dirty="0">
                <a:latin typeface="黑体" panose="02010609060101010101" pitchFamily="49" charset="-122"/>
                <a:ea typeface="黑体" panose="02010609060101010101" pitchFamily="49" charset="-122"/>
              </a:rPr>
              <a:t>这个逻辑对编剧同样重要。编剧只有准确地把握了人物在特定环境中的心理状态（为什么做），才能准确地赋予人物具体的外部形体动作（怎样做）。 </a:t>
            </a:r>
          </a:p>
        </p:txBody>
      </p:sp>
    </p:spTree>
    <p:extLst>
      <p:ext uri="{BB962C8B-B14F-4D97-AF65-F5344CB8AC3E}">
        <p14:creationId xmlns:p14="http://schemas.microsoft.com/office/powerpoint/2010/main" val="36934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747366" y="1093042"/>
            <a:ext cx="6573890" cy="755093"/>
          </a:xfrm>
        </p:spPr>
        <p:txBody>
          <a:bodyPr>
            <a:normAutofit fontScale="90000"/>
          </a:bodyPr>
          <a:lstStyle/>
          <a:p>
            <a:pPr marL="800100" indent="-800100"/>
            <a:r>
              <a:rPr lang="en-US" altLang="zh-CN" sz="3200" dirty="0">
                <a:latin typeface="方正粗黑宋简体" panose="02000000000000000000" pitchFamily="2" charset="-122"/>
                <a:ea typeface="方正粗黑宋简体" panose="02000000000000000000" pitchFamily="2" charset="-122"/>
              </a:rPr>
              <a:t>4.</a:t>
            </a:r>
            <a:r>
              <a:rPr lang="zh-CN" altLang="en-US" sz="3200" dirty="0">
                <a:latin typeface="方正粗黑宋简体" panose="02000000000000000000" pitchFamily="2" charset="-122"/>
                <a:ea typeface="方正粗黑宋简体" panose="02000000000000000000" pitchFamily="2" charset="-122"/>
              </a:rPr>
              <a:t>人物内在动作（心理情绪）的提示</a:t>
            </a:r>
          </a:p>
        </p:txBody>
      </p:sp>
      <p:sp>
        <p:nvSpPr>
          <p:cNvPr id="49155" name="Rectangle 3"/>
          <p:cNvSpPr>
            <a:spLocks noGrp="1" noChangeArrowheads="1"/>
          </p:cNvSpPr>
          <p:nvPr>
            <p:ph type="body" idx="1"/>
          </p:nvPr>
        </p:nvSpPr>
        <p:spPr>
          <a:xfrm>
            <a:off x="590424" y="2301138"/>
            <a:ext cx="11142357" cy="3842487"/>
          </a:xfrm>
        </p:spPr>
        <p:txBody>
          <a:bodyPr>
            <a:normAutofit/>
          </a:bodyPr>
          <a:lstStyle/>
          <a:p>
            <a:pPr>
              <a:lnSpc>
                <a:spcPct val="150000"/>
              </a:lnSpc>
            </a:pPr>
            <a:r>
              <a:rPr lang="zh-CN" altLang="en-US" sz="2400" dirty="0">
                <a:latin typeface="方正粗黑宋简体" panose="02000000000000000000" pitchFamily="2" charset="-122"/>
                <a:ea typeface="方正粗黑宋简体" panose="02000000000000000000" pitchFamily="2" charset="-122"/>
              </a:rPr>
              <a:t>人物内在动作的说明性文字份量较少，是对人物当下的心理情绪做直接说明，如“他愤怒到了极点”“痛苦地”“平静地”</a:t>
            </a:r>
            <a:r>
              <a:rPr lang="en-US" altLang="zh-CN" sz="2400" dirty="0">
                <a:latin typeface="方正粗黑宋简体" panose="02000000000000000000" pitchFamily="2" charset="-122"/>
                <a:ea typeface="方正粗黑宋简体" panose="02000000000000000000" pitchFamily="2" charset="-122"/>
              </a:rPr>
              <a:t>……</a:t>
            </a:r>
          </a:p>
          <a:p>
            <a:pPr>
              <a:lnSpc>
                <a:spcPct val="150000"/>
              </a:lnSpc>
            </a:pPr>
            <a:r>
              <a:rPr lang="zh-CN" altLang="en-US" sz="2400" dirty="0">
                <a:latin typeface="方正粗黑宋简体" panose="02000000000000000000" pitchFamily="2" charset="-122"/>
                <a:ea typeface="方正粗黑宋简体" panose="02000000000000000000" pitchFamily="2" charset="-122"/>
              </a:rPr>
              <a:t>这种提示帮助演员</a:t>
            </a:r>
            <a:r>
              <a:rPr lang="en-US" altLang="zh-CN" sz="2400" dirty="0">
                <a:latin typeface="方正粗黑宋简体" panose="02000000000000000000" pitchFamily="2" charset="-122"/>
                <a:ea typeface="方正粗黑宋简体" panose="02000000000000000000" pitchFamily="2" charset="-122"/>
              </a:rPr>
              <a:t>/</a:t>
            </a:r>
            <a:r>
              <a:rPr lang="zh-CN" altLang="en-US" sz="2400" dirty="0">
                <a:latin typeface="方正粗黑宋简体" panose="02000000000000000000" pitchFamily="2" charset="-122"/>
                <a:ea typeface="方正粗黑宋简体" panose="02000000000000000000" pitchFamily="2" charset="-122"/>
              </a:rPr>
              <a:t>读者体会人物心理变化的内在轨迹。二度创作要将这种情绪在舞台上充分表达出来，需要演员组织起符合人物性格的外在动作，或者在台词处理中将这种情绪充分渲染出来。</a:t>
            </a:r>
          </a:p>
        </p:txBody>
      </p:sp>
    </p:spTree>
    <p:extLst>
      <p:ext uri="{BB962C8B-B14F-4D97-AF65-F5344CB8AC3E}">
        <p14:creationId xmlns:p14="http://schemas.microsoft.com/office/powerpoint/2010/main" val="1239369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286317" y="643683"/>
            <a:ext cx="4399919" cy="640109"/>
          </a:xfrm>
        </p:spPr>
        <p:txBody>
          <a:bodyPr>
            <a:normAutofit fontScale="90000"/>
          </a:bodyPr>
          <a:lstStyle/>
          <a:p>
            <a:pPr algn="ctr"/>
            <a:r>
              <a:rPr lang="en-US" altLang="zh-CN" dirty="0">
                <a:latin typeface="方正粗黑宋简体" panose="02000000000000000000" pitchFamily="2" charset="-122"/>
                <a:ea typeface="方正粗黑宋简体" panose="02000000000000000000" pitchFamily="2" charset="-122"/>
              </a:rPr>
              <a:t>【</a:t>
            </a:r>
            <a:r>
              <a:rPr lang="zh-CN" altLang="en-US" dirty="0">
                <a:latin typeface="方正粗黑宋简体" panose="02000000000000000000" pitchFamily="2" charset="-122"/>
                <a:ea typeface="方正粗黑宋简体" panose="02000000000000000000" pitchFamily="2" charset="-122"/>
              </a:rPr>
              <a:t>停顿</a:t>
            </a:r>
            <a:r>
              <a:rPr lang="en-US" altLang="zh-CN" dirty="0">
                <a:latin typeface="方正粗黑宋简体" panose="02000000000000000000" pitchFamily="2" charset="-122"/>
                <a:ea typeface="方正粗黑宋简体" panose="02000000000000000000" pitchFamily="2" charset="-122"/>
              </a:rPr>
              <a:t>】</a:t>
            </a:r>
          </a:p>
        </p:txBody>
      </p:sp>
      <p:sp>
        <p:nvSpPr>
          <p:cNvPr id="50179" name="Rectangle 3"/>
          <p:cNvSpPr>
            <a:spLocks noGrp="1" noChangeArrowheads="1"/>
          </p:cNvSpPr>
          <p:nvPr>
            <p:ph type="body" idx="1"/>
          </p:nvPr>
        </p:nvSpPr>
        <p:spPr>
          <a:xfrm>
            <a:off x="617674" y="1562352"/>
            <a:ext cx="11184747" cy="5041311"/>
          </a:xfrm>
        </p:spPr>
        <p:txBody>
          <a:bodyPr/>
          <a:lstStyle/>
          <a:p>
            <a:pPr>
              <a:lnSpc>
                <a:spcPct val="150000"/>
              </a:lnSpc>
            </a:pPr>
            <a:r>
              <a:rPr lang="en-US" altLang="zh-CN" dirty="0">
                <a:latin typeface="方正粗黑宋简体" panose="02000000000000000000" pitchFamily="2" charset="-122"/>
                <a:ea typeface="方正粗黑宋简体" panose="02000000000000000000" pitchFamily="2" charset="-122"/>
              </a:rPr>
              <a:t> </a:t>
            </a:r>
            <a:r>
              <a:rPr lang="zh-CN" altLang="en-US" dirty="0">
                <a:latin typeface="方正粗黑宋简体" panose="02000000000000000000" pitchFamily="2" charset="-122"/>
                <a:ea typeface="方正粗黑宋简体" panose="02000000000000000000" pitchFamily="2" charset="-122"/>
              </a:rPr>
              <a:t>有一些剧作家在剧本中提出的“停顿”特别值得注意。这些停顿的点往往是一个或者几个人物心理矛盾发展到最高潮的一种反映。这种停顿就像中国画中的“留白”一样，给读者、演员、观众留下了百味杂陈的思索空间，同时，也在客观上调整了演出的节奏。</a:t>
            </a:r>
            <a:endParaRPr lang="en-US" altLang="zh-CN" dirty="0">
              <a:latin typeface="方正粗黑宋简体" panose="02000000000000000000" pitchFamily="2" charset="-122"/>
              <a:ea typeface="方正粗黑宋简体" panose="02000000000000000000" pitchFamily="2" charset="-122"/>
            </a:endParaRPr>
          </a:p>
          <a:p>
            <a:pPr>
              <a:lnSpc>
                <a:spcPct val="150000"/>
              </a:lnSpc>
            </a:pPr>
            <a:r>
              <a:rPr lang="zh-CN" altLang="en-US" dirty="0">
                <a:latin typeface="方正粗黑宋简体" panose="02000000000000000000" pitchFamily="2" charset="-122"/>
                <a:ea typeface="方正粗黑宋简体" panose="02000000000000000000" pitchFamily="2" charset="-122"/>
              </a:rPr>
              <a:t>契诃夫</a:t>
            </a:r>
            <a:r>
              <a:rPr lang="en-US" altLang="zh-CN" dirty="0">
                <a:latin typeface="方正粗黑宋简体" panose="02000000000000000000" pitchFamily="2" charset="-122"/>
                <a:ea typeface="方正粗黑宋简体" panose="02000000000000000000" pitchFamily="2" charset="-122"/>
              </a:rPr>
              <a:t>《</a:t>
            </a:r>
            <a:r>
              <a:rPr lang="zh-CN" altLang="en-US" dirty="0">
                <a:latin typeface="方正粗黑宋简体" panose="02000000000000000000" pitchFamily="2" charset="-122"/>
                <a:ea typeface="方正粗黑宋简体" panose="02000000000000000000" pitchFamily="2" charset="-122"/>
              </a:rPr>
              <a:t>樱桃园</a:t>
            </a:r>
            <a:r>
              <a:rPr lang="en-US" altLang="zh-CN" dirty="0">
                <a:latin typeface="方正粗黑宋简体" panose="02000000000000000000" pitchFamily="2" charset="-122"/>
                <a:ea typeface="方正粗黑宋简体" panose="02000000000000000000" pitchFamily="2" charset="-122"/>
              </a:rPr>
              <a:t>》33</a:t>
            </a:r>
            <a:r>
              <a:rPr lang="zh-CN" altLang="en-US" dirty="0">
                <a:latin typeface="方正粗黑宋简体" panose="02000000000000000000" pitchFamily="2" charset="-122"/>
                <a:ea typeface="方正粗黑宋简体" panose="02000000000000000000" pitchFamily="2" charset="-122"/>
              </a:rPr>
              <a:t>处停顿</a:t>
            </a:r>
          </a:p>
        </p:txBody>
      </p:sp>
    </p:spTree>
    <p:extLst>
      <p:ext uri="{BB962C8B-B14F-4D97-AF65-F5344CB8AC3E}">
        <p14:creationId xmlns:p14="http://schemas.microsoft.com/office/powerpoint/2010/main" val="1049453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725855" y="636992"/>
            <a:ext cx="3509237" cy="766763"/>
          </a:xfrm>
        </p:spPr>
        <p:txBody>
          <a:bodyPr>
            <a:normAutofit/>
          </a:bodyPr>
          <a:lstStyle/>
          <a:p>
            <a:pPr algn="ctr"/>
            <a:r>
              <a:rPr lang="en-US" altLang="zh-CN" sz="4000" b="1" dirty="0">
                <a:latin typeface="方正粗黑宋简体" panose="02000000000000000000" pitchFamily="2" charset="-122"/>
                <a:ea typeface="方正粗黑宋简体" panose="02000000000000000000" pitchFamily="2" charset="-122"/>
              </a:rPr>
              <a:t>“</a:t>
            </a:r>
            <a:r>
              <a:rPr lang="zh-CN" altLang="en-US" sz="4000" b="1" dirty="0">
                <a:latin typeface="方正粗黑宋简体" panose="02000000000000000000" pitchFamily="2" charset="-122"/>
                <a:ea typeface="方正粗黑宋简体" panose="02000000000000000000" pitchFamily="2" charset="-122"/>
              </a:rPr>
              <a:t>幕”与“场”</a:t>
            </a:r>
          </a:p>
        </p:txBody>
      </p:sp>
      <p:sp>
        <p:nvSpPr>
          <p:cNvPr id="51203" name="Rectangle 3"/>
          <p:cNvSpPr>
            <a:spLocks noGrp="1" noChangeArrowheads="1"/>
          </p:cNvSpPr>
          <p:nvPr>
            <p:ph type="body" idx="1"/>
          </p:nvPr>
        </p:nvSpPr>
        <p:spPr>
          <a:xfrm>
            <a:off x="856871" y="1616853"/>
            <a:ext cx="11000051" cy="4865698"/>
          </a:xfrm>
        </p:spPr>
        <p:txBody>
          <a:bodyPr>
            <a:normAutofit lnSpcReduction="10000"/>
          </a:bodyPr>
          <a:lstStyle/>
          <a:p>
            <a:pPr>
              <a:lnSpc>
                <a:spcPct val="150000"/>
              </a:lnSpc>
            </a:pP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幕”是指舞台前的大幕拉开一次，算是一幕。每一幕用写实的舞台布置，把时间和空间固定下来。“幕”是根据剧情段落平均地划分的，大体相当于小说分段、诗歌分章。</a:t>
            </a:r>
          </a:p>
          <a:p>
            <a:pPr>
              <a:lnSpc>
                <a:spcPct val="150000"/>
              </a:lnSpc>
            </a:pPr>
            <a:r>
              <a:rPr lang="zh-CN" altLang="en-US" sz="2400" b="1" dirty="0">
                <a:latin typeface="黑体" panose="02010609060101010101" pitchFamily="49" charset="-122"/>
                <a:ea typeface="黑体" panose="02010609060101010101" pitchFamily="49" charset="-122"/>
              </a:rPr>
              <a:t>一幕的演出一般在</a:t>
            </a:r>
            <a:r>
              <a:rPr lang="en-US" altLang="zh-CN" sz="2400" b="1" dirty="0">
                <a:latin typeface="黑体" panose="02010609060101010101" pitchFamily="49" charset="-122"/>
                <a:ea typeface="黑体" panose="02010609060101010101" pitchFamily="49" charset="-122"/>
              </a:rPr>
              <a:t>30</a:t>
            </a:r>
            <a:r>
              <a:rPr lang="zh-CN" altLang="en-US" sz="2400" b="1" dirty="0">
                <a:latin typeface="黑体" panose="02010609060101010101" pitchFamily="49" charset="-122"/>
                <a:ea typeface="黑体" panose="02010609060101010101" pitchFamily="49" charset="-122"/>
              </a:rPr>
              <a:t>分钟以上。 一般分幕在五幕以内。</a:t>
            </a:r>
            <a:endParaRPr lang="en-US" altLang="zh-CN" sz="2400" b="1" dirty="0">
              <a:latin typeface="黑体" panose="02010609060101010101" pitchFamily="49" charset="-122"/>
              <a:ea typeface="黑体" panose="02010609060101010101" pitchFamily="49" charset="-122"/>
            </a:endParaRPr>
          </a:p>
          <a:p>
            <a:pPr>
              <a:lnSpc>
                <a:spcPct val="150000"/>
              </a:lnSpc>
            </a:pP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场”是每一幕中划分的小段落。分场时，一般不闭大幕，只闭二道幕，换上布景（改变舞台布置）之后，二道幕再拉开。</a:t>
            </a:r>
            <a:endParaRPr lang="en-US" altLang="zh-CN" sz="2400" b="1" dirty="0">
              <a:latin typeface="黑体" panose="02010609060101010101" pitchFamily="49" charset="-122"/>
              <a:ea typeface="黑体" panose="02010609060101010101" pitchFamily="49" charset="-122"/>
            </a:endParaRPr>
          </a:p>
          <a:p>
            <a:pPr>
              <a:lnSpc>
                <a:spcPct val="150000"/>
              </a:lnSpc>
            </a:pPr>
            <a:r>
              <a:rPr lang="zh-CN" altLang="en-US" sz="2400" b="1" dirty="0">
                <a:latin typeface="黑体" panose="02010609060101010101" pitchFamily="49" charset="-122"/>
                <a:ea typeface="黑体" panose="02010609060101010101" pitchFamily="49" charset="-122"/>
              </a:rPr>
              <a:t>也有只是灯光突暗</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渐暗之后再亮，表示时间、场景变化，称之为“暗转”。</a:t>
            </a:r>
          </a:p>
          <a:p>
            <a:pPr>
              <a:lnSpc>
                <a:spcPct val="150000"/>
              </a:lnSpc>
            </a:pPr>
            <a:r>
              <a:rPr lang="zh-CN" altLang="en-US" sz="2400" b="1" dirty="0">
                <a:latin typeface="黑体" panose="02010609060101010101" pitchFamily="49" charset="-122"/>
                <a:ea typeface="黑体" panose="02010609060101010101" pitchFamily="49" charset="-122"/>
              </a:rPr>
              <a:t>当代戏剧多以“场”代“幕”，更加灵活自由。</a:t>
            </a:r>
          </a:p>
        </p:txBody>
      </p:sp>
    </p:spTree>
    <p:extLst>
      <p:ext uri="{BB962C8B-B14F-4D97-AF65-F5344CB8AC3E}">
        <p14:creationId xmlns:p14="http://schemas.microsoft.com/office/powerpoint/2010/main" val="1271224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477069" y="343931"/>
            <a:ext cx="4418086" cy="833890"/>
          </a:xfrm>
        </p:spPr>
        <p:txBody>
          <a:bodyPr>
            <a:normAutofit/>
          </a:bodyPr>
          <a:lstStyle/>
          <a:p>
            <a:pPr algn="ctr"/>
            <a:r>
              <a:rPr lang="zh-CN" altLang="en-US" sz="3600" dirty="0">
                <a:latin typeface="方正粗黑宋简体" panose="02000000000000000000" pitchFamily="2" charset="-122"/>
                <a:ea typeface="方正粗黑宋简体" panose="02000000000000000000" pitchFamily="2" charset="-122"/>
              </a:rPr>
              <a:t>明场与暗场</a:t>
            </a:r>
          </a:p>
        </p:txBody>
      </p:sp>
      <p:sp>
        <p:nvSpPr>
          <p:cNvPr id="54275" name="Rectangle 3"/>
          <p:cNvSpPr>
            <a:spLocks noGrp="1" noChangeArrowheads="1"/>
          </p:cNvSpPr>
          <p:nvPr>
            <p:ph type="body" idx="1"/>
          </p:nvPr>
        </p:nvSpPr>
        <p:spPr>
          <a:xfrm>
            <a:off x="847788" y="1289849"/>
            <a:ext cx="10854715" cy="4996651"/>
          </a:xfrm>
        </p:spPr>
        <p:txBody>
          <a:bodyPr>
            <a:normAutofit fontScale="70000" lnSpcReduction="20000"/>
          </a:bodyPr>
          <a:lstStyle/>
          <a:p>
            <a:pPr>
              <a:lnSpc>
                <a:spcPct val="150000"/>
              </a:lnSpc>
            </a:pPr>
            <a:r>
              <a:rPr lang="zh-CN" altLang="en-US" b="1" dirty="0">
                <a:latin typeface="黑体" panose="02010609060101010101" pitchFamily="49" charset="-122"/>
                <a:ea typeface="黑体" panose="02010609060101010101" pitchFamily="49" charset="-122"/>
              </a:rPr>
              <a:t>即场内戏和场外戏</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实写和虚写。</a:t>
            </a:r>
          </a:p>
          <a:p>
            <a:pPr>
              <a:lnSpc>
                <a:spcPct val="150000"/>
              </a:lnSpc>
            </a:pPr>
            <a:r>
              <a:rPr lang="zh-CN" altLang="en-US" b="1" dirty="0">
                <a:latin typeface="黑体" panose="02010609060101010101" pitchFamily="49" charset="-122"/>
                <a:ea typeface="黑体" panose="02010609060101010101" pitchFamily="49" charset="-122"/>
              </a:rPr>
              <a:t>凡通过演员在舞台上直接表演，通过视觉形象可供直观的戏，统称为明场，即实写；</a:t>
            </a:r>
          </a:p>
          <a:p>
            <a:pPr>
              <a:lnSpc>
                <a:spcPct val="150000"/>
              </a:lnSpc>
            </a:pPr>
            <a:r>
              <a:rPr lang="zh-CN" altLang="en-US" b="1" dirty="0">
                <a:latin typeface="黑体" panose="02010609060101010101" pitchFamily="49" charset="-122"/>
                <a:ea typeface="黑体" panose="02010609060101010101" pitchFamily="49" charset="-122"/>
              </a:rPr>
              <a:t>不在舞台上直接出现视觉形象，由人物在台词中叙述交代，或通过幕后的音响效果，基本上诉之于听觉形象的戏，称为暗场，即虚写。</a:t>
            </a:r>
            <a:endParaRPr lang="en-US" altLang="zh-CN" b="1" dirty="0">
              <a:latin typeface="黑体" panose="02010609060101010101" pitchFamily="49" charset="-122"/>
              <a:ea typeface="黑体" panose="02010609060101010101" pitchFamily="49" charset="-122"/>
            </a:endParaRPr>
          </a:p>
          <a:p>
            <a:pPr>
              <a:lnSpc>
                <a:spcPts val="4500"/>
              </a:lnSpc>
            </a:pPr>
            <a:r>
              <a:rPr lang="zh-CN" altLang="en-US" b="1" dirty="0">
                <a:latin typeface="黑体" panose="02010609060101010101" pitchFamily="49" charset="-122"/>
                <a:ea typeface="黑体" panose="02010609060101010101" pitchFamily="49" charset="-122"/>
              </a:rPr>
              <a:t>明场戏和暗场戏的结合，可以拓展戏剧舞台的时空疆域，扩大戏剧的容量，有效避免戏剧舞台的限制。</a:t>
            </a:r>
          </a:p>
          <a:p>
            <a:pPr>
              <a:lnSpc>
                <a:spcPts val="4500"/>
              </a:lnSpc>
            </a:pPr>
            <a:r>
              <a:rPr lang="zh-CN" altLang="en-US" b="1" dirty="0">
                <a:latin typeface="黑体" panose="02010609060101010101" pitchFamily="49" charset="-122"/>
                <a:ea typeface="黑体" panose="02010609060101010101" pitchFamily="49" charset="-122"/>
              </a:rPr>
              <a:t>明场戏与暗场戏的选择处理，和戏剧场面的主次划分、舞台形象特殊的审美要求有关。剧中的主要场面，一般都作明场处理，次要场面或有碍于舞台表演的情节场面，则作暗场处理。  </a:t>
            </a:r>
          </a:p>
        </p:txBody>
      </p:sp>
    </p:spTree>
    <p:extLst>
      <p:ext uri="{BB962C8B-B14F-4D97-AF65-F5344CB8AC3E}">
        <p14:creationId xmlns:p14="http://schemas.microsoft.com/office/powerpoint/2010/main" val="4009743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759160" y="213736"/>
            <a:ext cx="3748434" cy="1036752"/>
          </a:xfrm>
        </p:spPr>
        <p:txBody>
          <a:bodyPr>
            <a:normAutofit/>
          </a:bodyPr>
          <a:lstStyle/>
          <a:p>
            <a:r>
              <a:rPr lang="zh-CN" altLang="en-US" sz="3600" b="1" dirty="0">
                <a:latin typeface="方正粗黑宋简体" panose="02000000000000000000" pitchFamily="2" charset="-122"/>
                <a:ea typeface="方正粗黑宋简体" panose="02000000000000000000" pitchFamily="2" charset="-122"/>
              </a:rPr>
              <a:t>戏剧剧本的格式</a:t>
            </a:r>
          </a:p>
        </p:txBody>
      </p:sp>
      <p:sp>
        <p:nvSpPr>
          <p:cNvPr id="56323" name="Rectangle 3"/>
          <p:cNvSpPr>
            <a:spLocks noGrp="1" noChangeArrowheads="1"/>
          </p:cNvSpPr>
          <p:nvPr>
            <p:ph type="body" idx="1"/>
          </p:nvPr>
        </p:nvSpPr>
        <p:spPr>
          <a:xfrm>
            <a:off x="917427" y="1383710"/>
            <a:ext cx="10364209" cy="5069477"/>
          </a:xfrm>
        </p:spPr>
        <p:txBody>
          <a:bodyPr/>
          <a:lstStyle/>
          <a:p>
            <a:pPr>
              <a:lnSpc>
                <a:spcPct val="80000"/>
              </a:lnSpc>
            </a:pPr>
            <a:r>
              <a:rPr lang="zh-CN" altLang="en-US" b="1" dirty="0">
                <a:latin typeface="宋体" panose="02010600030101010101" pitchFamily="2" charset="-122"/>
                <a:ea typeface="宋体" panose="02010600030101010101" pitchFamily="2" charset="-122"/>
              </a:rPr>
              <a:t>剧名</a:t>
            </a:r>
          </a:p>
          <a:p>
            <a:pPr>
              <a:lnSpc>
                <a:spcPct val="80000"/>
              </a:lnSpc>
            </a:pPr>
            <a:r>
              <a:rPr lang="zh-CN" altLang="en-US" b="1" dirty="0">
                <a:latin typeface="宋体" panose="02010600030101010101" pitchFamily="2" charset="-122"/>
                <a:ea typeface="宋体" panose="02010600030101010101" pitchFamily="2" charset="-122"/>
              </a:rPr>
              <a:t>编剧</a:t>
            </a:r>
          </a:p>
          <a:p>
            <a:pPr>
              <a:lnSpc>
                <a:spcPct val="80000"/>
              </a:lnSpc>
            </a:pPr>
            <a:r>
              <a:rPr lang="zh-CN" altLang="en-US" b="1" dirty="0">
                <a:latin typeface="宋体" panose="02010600030101010101" pitchFamily="2" charset="-122"/>
                <a:ea typeface="宋体" panose="02010600030101010101" pitchFamily="2" charset="-122"/>
              </a:rPr>
              <a:t>人物表（姓名、性别、年龄、人物关系的简单说明）</a:t>
            </a:r>
          </a:p>
          <a:p>
            <a:pPr>
              <a:lnSpc>
                <a:spcPct val="80000"/>
              </a:lnSpc>
            </a:pPr>
            <a:r>
              <a:rPr lang="zh-CN" altLang="en-US" b="1" dirty="0">
                <a:latin typeface="宋体" panose="02010600030101010101" pitchFamily="2" charset="-122"/>
                <a:ea typeface="宋体" panose="02010600030101010101" pitchFamily="2" charset="-122"/>
              </a:rPr>
              <a:t>时间</a:t>
            </a:r>
          </a:p>
          <a:p>
            <a:pPr>
              <a:lnSpc>
                <a:spcPct val="80000"/>
              </a:lnSpc>
            </a:pPr>
            <a:r>
              <a:rPr lang="zh-CN" altLang="en-US" b="1" dirty="0">
                <a:latin typeface="宋体" panose="02010600030101010101" pitchFamily="2" charset="-122"/>
                <a:ea typeface="宋体" panose="02010600030101010101" pitchFamily="2" charset="-122"/>
              </a:rPr>
              <a:t>地点</a:t>
            </a:r>
          </a:p>
          <a:p>
            <a:pPr>
              <a:lnSpc>
                <a:spcPct val="80000"/>
              </a:lnSpc>
            </a:pPr>
            <a:r>
              <a:rPr lang="zh-CN" altLang="en-US" b="1" dirty="0">
                <a:latin typeface="宋体" panose="02010600030101010101" pitchFamily="2" charset="-122"/>
                <a:ea typeface="宋体" panose="02010600030101010101" pitchFamily="2" charset="-122"/>
              </a:rPr>
              <a:t>幕</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场（时间、地点）</a:t>
            </a:r>
          </a:p>
          <a:p>
            <a:pPr>
              <a:lnSpc>
                <a:spcPct val="80000"/>
              </a:lnSpc>
            </a:pPr>
            <a:r>
              <a:rPr lang="zh-CN" altLang="en-US" b="1" dirty="0">
                <a:latin typeface="宋体" panose="02010600030101010101" pitchFamily="2" charset="-122"/>
                <a:ea typeface="宋体" panose="02010600030101010101" pitchFamily="2" charset="-122"/>
              </a:rPr>
              <a:t>舞台说明</a:t>
            </a:r>
          </a:p>
          <a:p>
            <a:pPr>
              <a:lnSpc>
                <a:spcPct val="80000"/>
              </a:lnSpc>
            </a:pPr>
            <a:r>
              <a:rPr lang="zh-CN" altLang="en-US" b="1" dirty="0">
                <a:latin typeface="宋体" panose="02010600030101010101" pitchFamily="2" charset="-122"/>
                <a:ea typeface="宋体" panose="02010600030101010101" pitchFamily="2" charset="-122"/>
              </a:rPr>
              <a:t>台词</a:t>
            </a:r>
          </a:p>
          <a:p>
            <a:pPr>
              <a:lnSpc>
                <a:spcPct val="80000"/>
              </a:lnSpc>
              <a:buFont typeface="Wingdings" panose="05000000000000000000" pitchFamily="2" charset="2"/>
              <a:buNone/>
            </a:pPr>
            <a:endParaRPr lang="zh-CN" altLang="en-US" b="1" dirty="0">
              <a:latin typeface="宋体" panose="02010600030101010101" pitchFamily="2" charset="-122"/>
              <a:ea typeface="宋体" panose="02010600030101010101" pitchFamily="2" charset="-122"/>
            </a:endParaRPr>
          </a:p>
          <a:p>
            <a:pPr>
              <a:lnSpc>
                <a:spcPct val="80000"/>
              </a:lnSpc>
            </a:pPr>
            <a:r>
              <a:rPr lang="zh-CN" altLang="en-US" b="1" dirty="0">
                <a:latin typeface="宋体" panose="02010600030101010101" pitchFamily="2" charset="-122"/>
                <a:ea typeface="宋体" panose="02010600030101010101" pitchFamily="2" charset="-122"/>
              </a:rPr>
              <a:t>注意标点格式、字体和标点符号。</a:t>
            </a:r>
          </a:p>
        </p:txBody>
      </p:sp>
    </p:spTree>
    <p:extLst>
      <p:ext uri="{BB962C8B-B14F-4D97-AF65-F5344CB8AC3E}">
        <p14:creationId xmlns:p14="http://schemas.microsoft.com/office/powerpoint/2010/main" val="637887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6B377E-ED4E-59D1-AF7F-FBC6A4B076FD}"/>
              </a:ext>
            </a:extLst>
          </p:cNvPr>
          <p:cNvSpPr>
            <a:spLocks noGrp="1"/>
          </p:cNvSpPr>
          <p:nvPr>
            <p:ph type="title"/>
          </p:nvPr>
        </p:nvSpPr>
        <p:spPr>
          <a:xfrm>
            <a:off x="838200" y="681037"/>
            <a:ext cx="10515600" cy="1009651"/>
          </a:xfrm>
        </p:spPr>
        <p:txBody>
          <a:bodyPr/>
          <a:lstStyle/>
          <a:p>
            <a:r>
              <a:rPr lang="zh-CN" altLang="en-US" dirty="0"/>
              <a:t>作业（</a:t>
            </a:r>
            <a:r>
              <a:rPr lang="en-US" altLang="zh-CN" dirty="0">
                <a:solidFill>
                  <a:srgbClr val="FF0000"/>
                </a:solidFill>
              </a:rPr>
              <a:t>5</a:t>
            </a:r>
            <a:r>
              <a:rPr lang="zh-CN" altLang="en-US" dirty="0">
                <a:solidFill>
                  <a:srgbClr val="FF0000"/>
                </a:solidFill>
              </a:rPr>
              <a:t>月</a:t>
            </a:r>
            <a:r>
              <a:rPr lang="en-US" altLang="zh-CN" dirty="0">
                <a:solidFill>
                  <a:srgbClr val="FF0000"/>
                </a:solidFill>
              </a:rPr>
              <a:t>6</a:t>
            </a:r>
            <a:r>
              <a:rPr lang="zh-CN" altLang="en-US" dirty="0">
                <a:solidFill>
                  <a:srgbClr val="FF0000"/>
                </a:solidFill>
              </a:rPr>
              <a:t>日前提交电子版</a:t>
            </a:r>
            <a:r>
              <a:rPr lang="zh-CN" altLang="en-US" dirty="0"/>
              <a:t>）</a:t>
            </a:r>
          </a:p>
        </p:txBody>
      </p:sp>
      <p:sp>
        <p:nvSpPr>
          <p:cNvPr id="3" name="内容占位符 2">
            <a:extLst>
              <a:ext uri="{FF2B5EF4-FFF2-40B4-BE49-F238E27FC236}">
                <a16:creationId xmlns:a16="http://schemas.microsoft.com/office/drawing/2014/main" id="{76BB684A-CB6A-33AF-38A7-4E28E252A5E2}"/>
              </a:ext>
            </a:extLst>
          </p:cNvPr>
          <p:cNvSpPr>
            <a:spLocks noGrp="1"/>
          </p:cNvSpPr>
          <p:nvPr>
            <p:ph idx="1"/>
          </p:nvPr>
        </p:nvSpPr>
        <p:spPr/>
        <p:txBody>
          <a:bodyPr>
            <a:normAutofit/>
          </a:bodyPr>
          <a:lstStyle/>
          <a:p>
            <a:r>
              <a:rPr lang="en-US" altLang="zh-CN" sz="3200" b="1" dirty="0"/>
              <a:t>1.</a:t>
            </a:r>
            <a:r>
              <a:rPr lang="zh-CN" altLang="en-US" sz="3200" b="1" dirty="0"/>
              <a:t>根据剧本大纲规范，完成第一种类型的剧本大纲。</a:t>
            </a:r>
            <a:endParaRPr lang="en-US" altLang="zh-CN" sz="3200" b="1" dirty="0"/>
          </a:p>
          <a:p>
            <a:r>
              <a:rPr lang="en-US" altLang="zh-CN" sz="3200" b="1" dirty="0"/>
              <a:t>2.</a:t>
            </a:r>
            <a:r>
              <a:rPr lang="zh-CN" altLang="en-US" sz="3200" b="1" dirty="0"/>
              <a:t>撰写第二种类型的剧本大纲。</a:t>
            </a:r>
            <a:endParaRPr lang="en-US" altLang="zh-CN" sz="3200" b="1" dirty="0"/>
          </a:p>
          <a:p>
            <a:r>
              <a:rPr lang="en-US" altLang="zh-CN" sz="3200" b="1" dirty="0"/>
              <a:t>1</a:t>
            </a:r>
            <a:r>
              <a:rPr lang="zh-CN" altLang="en-US" sz="3200" b="1" dirty="0"/>
              <a:t>）主要人物</a:t>
            </a:r>
            <a:r>
              <a:rPr lang="en-US" altLang="zh-CN" sz="3200" b="1" dirty="0"/>
              <a:t>1-2</a:t>
            </a:r>
            <a:r>
              <a:rPr lang="zh-CN" altLang="en-US" sz="3200" b="1" dirty="0"/>
              <a:t>人，次要人物不超过</a:t>
            </a:r>
            <a:r>
              <a:rPr lang="en-US" altLang="zh-CN" sz="3200" b="1" dirty="0"/>
              <a:t>3</a:t>
            </a:r>
            <a:r>
              <a:rPr lang="zh-CN" altLang="en-US" sz="3200" b="1" dirty="0"/>
              <a:t>人，其他群众人物不限。</a:t>
            </a:r>
            <a:endParaRPr lang="en-US" altLang="zh-CN" sz="3200" b="1" dirty="0"/>
          </a:p>
          <a:p>
            <a:r>
              <a:rPr lang="en-US" altLang="zh-CN" sz="3200" b="1" dirty="0"/>
              <a:t>2</a:t>
            </a:r>
            <a:r>
              <a:rPr lang="zh-CN" altLang="en-US" sz="3200" b="1" dirty="0"/>
              <a:t>）围绕核心事件，反映社会问题。</a:t>
            </a:r>
            <a:endParaRPr lang="en-US" altLang="zh-CN" sz="3200" b="1" dirty="0"/>
          </a:p>
          <a:p>
            <a:r>
              <a:rPr lang="en-US" altLang="zh-CN" sz="3200" b="1" dirty="0"/>
              <a:t>3</a:t>
            </a:r>
            <a:r>
              <a:rPr lang="zh-CN" altLang="en-US" sz="3200" b="1" dirty="0"/>
              <a:t>）故事完整，结构合理。</a:t>
            </a:r>
            <a:endParaRPr lang="en-US" altLang="zh-CN" sz="3200" b="1" dirty="0"/>
          </a:p>
          <a:p>
            <a:r>
              <a:rPr lang="en-US" altLang="zh-CN" sz="3200" b="1" dirty="0"/>
              <a:t>3.</a:t>
            </a:r>
            <a:r>
              <a:rPr lang="zh-CN" altLang="en-US" sz="3200" b="1" dirty="0"/>
              <a:t>（自选）开始第一种类型剧本的写作。</a:t>
            </a:r>
          </a:p>
        </p:txBody>
      </p:sp>
    </p:spTree>
    <p:extLst>
      <p:ext uri="{BB962C8B-B14F-4D97-AF65-F5344CB8AC3E}">
        <p14:creationId xmlns:p14="http://schemas.microsoft.com/office/powerpoint/2010/main" val="56786152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637450258638150867</Template>
  <TotalTime>141</TotalTime>
  <Words>2138</Words>
  <Application>Microsoft Office PowerPoint</Application>
  <PresentationFormat>宽屏</PresentationFormat>
  <Paragraphs>138</Paragraphs>
  <Slides>21</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21</vt:i4>
      </vt:variant>
    </vt:vector>
  </HeadingPairs>
  <TitlesOfParts>
    <vt:vector size="35" baseType="lpstr">
      <vt:lpstr>Microsoft YaHei UI</vt:lpstr>
      <vt:lpstr>等线</vt:lpstr>
      <vt:lpstr>等线 Light</vt:lpstr>
      <vt:lpstr>方正粗黑宋简体</vt:lpstr>
      <vt:lpstr>黑体</vt:lpstr>
      <vt:lpstr>华文楷体</vt:lpstr>
      <vt:lpstr>华文隶书</vt:lpstr>
      <vt:lpstr>楷体</vt:lpstr>
      <vt:lpstr>楷体_GB2312</vt:lpstr>
      <vt:lpstr>隶书</vt:lpstr>
      <vt:lpstr>宋体</vt:lpstr>
      <vt:lpstr>Arial</vt:lpstr>
      <vt:lpstr>Wingdings</vt:lpstr>
      <vt:lpstr>Office 主题​​</vt:lpstr>
      <vt:lpstr>  《编剧概论》  </vt:lpstr>
      <vt:lpstr>戏剧剧组构成</vt:lpstr>
      <vt:lpstr>剧本文字的组成</vt:lpstr>
      <vt:lpstr>舞台指示（舞台提示）</vt:lpstr>
      <vt:lpstr>《青春禁忌游戏》片段</vt:lpstr>
      <vt:lpstr>舞台提示类型</vt:lpstr>
      <vt:lpstr>1.人物活动环境的说明</vt:lpstr>
      <vt:lpstr>《雷雨》第一幕 舞台提示</vt:lpstr>
      <vt:lpstr>邹静之《操场》</vt:lpstr>
      <vt:lpstr>PowerPoint 演示文稿</vt:lpstr>
      <vt:lpstr>2. 人物上下场的说明</vt:lpstr>
      <vt:lpstr>3.人物外部动作的提示</vt:lpstr>
      <vt:lpstr>PowerPoint 演示文稿</vt:lpstr>
      <vt:lpstr>舞台动作和现实动作的区别</vt:lpstr>
      <vt:lpstr>PowerPoint 演示文稿</vt:lpstr>
      <vt:lpstr>4.人物内在动作（心理情绪）的提示</vt:lpstr>
      <vt:lpstr>【停顿】</vt:lpstr>
      <vt:lpstr>“幕”与“场”</vt:lpstr>
      <vt:lpstr>明场与暗场</vt:lpstr>
      <vt:lpstr>戏剧剧本的格式</vt:lpstr>
      <vt:lpstr>作业（5月6日前提交电子版）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袁颖</dc:creator>
  <cp:lastModifiedBy>7423189@qq.com</cp:lastModifiedBy>
  <cp:revision>484</cp:revision>
  <cp:lastPrinted>2021-06-11T06:40:00Z</cp:lastPrinted>
  <dcterms:created xsi:type="dcterms:W3CDTF">2020-07-22T07:30:00Z</dcterms:created>
  <dcterms:modified xsi:type="dcterms:W3CDTF">2026-04-27T04:08:57Z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2052-11.1.0.10667</vt:lpwstr>
  </property>
  <property fmtid="{D5CDD505-2E9C-101B-9397-08002B2CF9AE}" pid="3" name="ICV">
    <vt:lpwstr>3FA5EADB6F5949EBB7C8C35870E30C9C</vt:lpwstr>
  </property>
</Properties>
</file>