
<file path=[Content_Types].xml><?xml version="1.0" encoding="utf-8"?>
<Types xmlns="http://schemas.openxmlformats.org/package/2006/content-types">
  <Default Extension="png" ContentType="image/png"/>
  <Default Extension="jpeg" ContentType="image/jpeg"/>
  <Default Extension="m4a" ContentType="audio/mp4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316" r:id="rId2"/>
    <p:sldId id="2398" r:id="rId3"/>
    <p:sldId id="2243" r:id="rId4"/>
    <p:sldId id="2252" r:id="rId5"/>
    <p:sldId id="2251" r:id="rId6"/>
    <p:sldId id="2250" r:id="rId7"/>
    <p:sldId id="2193" r:id="rId8"/>
    <p:sldId id="2237" r:id="rId9"/>
    <p:sldId id="2236" r:id="rId10"/>
    <p:sldId id="2238" r:id="rId11"/>
    <p:sldId id="2239" r:id="rId12"/>
    <p:sldId id="2240" r:id="rId13"/>
    <p:sldId id="2241" r:id="rId14"/>
    <p:sldId id="2242" r:id="rId15"/>
    <p:sldId id="2317" r:id="rId16"/>
    <p:sldId id="2244" r:id="rId17"/>
    <p:sldId id="2245" r:id="rId18"/>
    <p:sldId id="2246" r:id="rId19"/>
    <p:sldId id="2248" r:id="rId20"/>
    <p:sldId id="2249" r:id="rId21"/>
    <p:sldId id="2330" r:id="rId22"/>
    <p:sldId id="2577" r:id="rId23"/>
    <p:sldId id="2576" r:id="rId24"/>
    <p:sldId id="2553" r:id="rId25"/>
    <p:sldId id="2578" r:id="rId26"/>
    <p:sldId id="2431" r:id="rId27"/>
    <p:sldId id="2579" r:id="rId28"/>
    <p:sldId id="2580" r:id="rId29"/>
    <p:sldId id="2581" r:id="rId30"/>
    <p:sldId id="2583" r:id="rId31"/>
    <p:sldId id="2582" r:id="rId32"/>
    <p:sldId id="2584" r:id="rId33"/>
    <p:sldId id="2354" r:id="rId34"/>
    <p:sldId id="2429" r:id="rId35"/>
    <p:sldId id="2585" r:id="rId36"/>
    <p:sldId id="2586" r:id="rId37"/>
    <p:sldId id="2587" r:id="rId38"/>
    <p:sldId id="2588" r:id="rId39"/>
    <p:sldId id="2589" r:id="rId40"/>
    <p:sldId id="2590" r:id="rId41"/>
    <p:sldId id="2591" r:id="rId42"/>
    <p:sldId id="2592" r:id="rId43"/>
    <p:sldId id="2593" r:id="rId44"/>
    <p:sldId id="2594" r:id="rId45"/>
    <p:sldId id="2595" r:id="rId46"/>
    <p:sldId id="2596" r:id="rId47"/>
    <p:sldId id="2597" r:id="rId48"/>
    <p:sldId id="2598" r:id="rId49"/>
    <p:sldId id="2320" r:id="rId50"/>
    <p:sldId id="2599" r:id="rId51"/>
    <p:sldId id="2601" r:id="rId52"/>
    <p:sldId id="2602" r:id="rId53"/>
    <p:sldId id="2604" r:id="rId54"/>
    <p:sldId id="2605" r:id="rId55"/>
    <p:sldId id="2606" r:id="rId56"/>
    <p:sldId id="2607" r:id="rId57"/>
    <p:sldId id="2226" r:id="rId58"/>
    <p:sldId id="2608" r:id="rId59"/>
    <p:sldId id="2609" r:id="rId60"/>
    <p:sldId id="2260" r:id="rId61"/>
    <p:sldId id="2261" r:id="rId62"/>
    <p:sldId id="2258" r:id="rId63"/>
    <p:sldId id="2259" r:id="rId64"/>
    <p:sldId id="2262" r:id="rId65"/>
    <p:sldId id="2263" r:id="rId66"/>
    <p:sldId id="2265" r:id="rId67"/>
    <p:sldId id="2266" r:id="rId68"/>
    <p:sldId id="2268" r:id="rId69"/>
    <p:sldId id="2278" r:id="rId70"/>
    <p:sldId id="2279" r:id="rId71"/>
    <p:sldId id="2280" r:id="rId72"/>
    <p:sldId id="2281" r:id="rId73"/>
    <p:sldId id="2282" r:id="rId74"/>
    <p:sldId id="2283" r:id="rId75"/>
    <p:sldId id="2284" r:id="rId76"/>
    <p:sldId id="2285" r:id="rId77"/>
    <p:sldId id="2610" r:id="rId7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562E4-7408-4E12-9275-7B60721CF550}" type="datetimeFigureOut">
              <a:rPr lang="zh-CN" altLang="en-US" smtClean="0"/>
              <a:t>2022-5-14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C72CB-CCD0-46A7-938A-EB34A92298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727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大家好，我是曹志伟，首先由我为大家介绍我们所测试的系统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471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我们测试的对象是</a:t>
            </a:r>
            <a:r>
              <a:rPr lang="en-US" altLang="zh-CN"/>
              <a:t>Github</a:t>
            </a:r>
            <a:r>
              <a:rPr lang="zh-CN" altLang="en-US"/>
              <a:t>上一个使用</a:t>
            </a:r>
            <a:r>
              <a:rPr lang="en-US" altLang="zh-CN"/>
              <a:t>Springboot </a:t>
            </a:r>
            <a:r>
              <a:rPr lang="zh-CN" altLang="en-US"/>
              <a:t>、</a:t>
            </a:r>
            <a:r>
              <a:rPr lang="en-US" altLang="zh-CN"/>
              <a:t>SpringSecurity </a:t>
            </a:r>
            <a:r>
              <a:rPr lang="zh-CN" altLang="en-US"/>
              <a:t>和 </a:t>
            </a:r>
            <a:r>
              <a:rPr lang="en-US" altLang="zh-CN"/>
              <a:t>JWT </a:t>
            </a:r>
            <a:r>
              <a:rPr lang="zh-CN" altLang="en-US"/>
              <a:t>实现的基于</a:t>
            </a:r>
            <a:r>
              <a:rPr lang="en-US" altLang="zh-CN"/>
              <a:t>Token</a:t>
            </a:r>
            <a:r>
              <a:rPr lang="zh-CN" altLang="en-US"/>
              <a:t>的权限管理</a:t>
            </a:r>
            <a:r>
              <a:rPr lang="en-US" altLang="zh-CN"/>
              <a:t>Demo</a:t>
            </a:r>
            <a:r>
              <a:rPr lang="zh-CN" altLang="en-US"/>
              <a:t>。该系统包含</a:t>
            </a:r>
            <a:r>
              <a:rPr lang="en-US" altLang="zh-CN"/>
              <a:t>6</a:t>
            </a:r>
            <a:r>
              <a:rPr lang="zh-CN" altLang="en-US"/>
              <a:t>个功能，分别是用户注册、用户登录、获取任务、创建任务、更新任务、删除任务，其中与任务相关的功能并没有实现具体功能，而是返回一段指定字符串以表示功能的成功调用。主要是进行功能调用时的权限管理，不包含功能实现细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264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大家好，我是曹志伟，接下来由我为大家介绍单元测试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835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我将分</a:t>
            </a:r>
            <a:r>
              <a:rPr lang="en-US" altLang="zh-CN"/>
              <a:t>5</a:t>
            </a:r>
            <a:r>
              <a:rPr lang="zh-CN" altLang="en-US"/>
              <a:t>部分来介绍，分别是设计测试用例、设计测试类及运行、覆盖率测试、边界测试、行代码运行效能测试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175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首先是设计测试用例</a:t>
            </a:r>
            <a:endParaRPr lang="en-US" altLang="zh-CN"/>
          </a:p>
          <a:p>
            <a:r>
              <a:rPr lang="zh-CN" altLang="en-US"/>
              <a:t>如图是注册功能，我们通过代码导出流程图，然后由流程图得到控制流图，最后导出基本路径，计算得到环形路径复杂度为</a:t>
            </a:r>
            <a:r>
              <a:rPr lang="en-US" altLang="zh-CN"/>
              <a:t>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852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然后是创建任务功能，我们通过代码导出流程图，然后由流程图得到控制流图，最后导出基本路径，计算得到环形路径复杂度为</a:t>
            </a:r>
            <a:r>
              <a:rPr lang="en-US" altLang="zh-CN"/>
              <a:t>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898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然后是测试用例的设计，如图为注册功能，左边为该功能的参数约束，右边为我们设计的测试用例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161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如图为登录功能，左边为该功能的参数约束，相比于注册多了一个参数</a:t>
            </a:r>
            <a:r>
              <a:rPr lang="en-US" altLang="zh-CN"/>
              <a:t>rememberMe</a:t>
            </a:r>
            <a:r>
              <a:rPr lang="zh-CN" altLang="en-US"/>
              <a:t>，右边为我们设计的测试用例</a:t>
            </a:r>
            <a:endParaRPr lang="en-US" altLang="zh-CN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855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然后是获取任务列表功能，其参数为</a:t>
            </a:r>
            <a:r>
              <a:rPr lang="en-US" altLang="zh-CN"/>
              <a:t>Authorization</a:t>
            </a:r>
            <a:r>
              <a:rPr lang="zh-CN" altLang="en-US"/>
              <a:t>，右边为我们设计的测试用例，根据</a:t>
            </a:r>
            <a:r>
              <a:rPr lang="en-US" altLang="zh-CN"/>
              <a:t>token</a:t>
            </a:r>
            <a:r>
              <a:rPr lang="zh-CN" altLang="en-US"/>
              <a:t>是为空，是否超时，其表示的角色等，进行测试用例的设计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728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然后是获取任务列表功能，其参数为</a:t>
            </a:r>
            <a:r>
              <a:rPr lang="en-US" altLang="zh-CN"/>
              <a:t>Authorization</a:t>
            </a:r>
            <a:r>
              <a:rPr lang="zh-CN" altLang="en-US"/>
              <a:t>和</a:t>
            </a:r>
            <a:r>
              <a:rPr lang="en-US" altLang="zh-CN"/>
              <a:t>taskId</a:t>
            </a:r>
            <a:r>
              <a:rPr lang="zh-CN" altLang="en-US"/>
              <a:t>，右边为我们设计的测试用例，根据</a:t>
            </a:r>
            <a:r>
              <a:rPr lang="en-US" altLang="zh-CN"/>
              <a:t>token</a:t>
            </a:r>
            <a:r>
              <a:rPr lang="zh-CN" altLang="en-US"/>
              <a:t>是为空，是否超时，其表示的角色等，进行测试用例的设计</a:t>
            </a:r>
            <a:endParaRPr lang="en-US" altLang="zh-CN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162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然后是根据设计的测试用例，进行测试类的设计及运行，如图是注册和登录功能在</a:t>
            </a:r>
            <a:r>
              <a:rPr lang="en-US" altLang="zh-CN"/>
              <a:t>Controller</a:t>
            </a:r>
            <a:r>
              <a:rPr lang="zh-CN" altLang="en-US"/>
              <a:t>层的测试类，其结果是全部通过的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286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然后是与任务相关的功能在</a:t>
            </a:r>
            <a:r>
              <a:rPr lang="en-US" altLang="zh-CN"/>
              <a:t>Controller</a:t>
            </a:r>
            <a:r>
              <a:rPr lang="zh-CN" altLang="en-US"/>
              <a:t>层的测试类，其结果也是全部通过的</a:t>
            </a:r>
            <a:endParaRPr lang="en-US" altLang="zh-CN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586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除了刚刚讲的</a:t>
            </a:r>
            <a:r>
              <a:rPr lang="en-US" altLang="zh-CN"/>
              <a:t>Controller</a:t>
            </a:r>
            <a:r>
              <a:rPr lang="zh-CN" altLang="en-US"/>
              <a:t>层的测试外，我们还进行了</a:t>
            </a:r>
            <a:r>
              <a:rPr lang="en-US" altLang="zh-CN"/>
              <a:t>Service</a:t>
            </a:r>
            <a:r>
              <a:rPr lang="zh-CN" altLang="en-US"/>
              <a:t>层、</a:t>
            </a:r>
            <a:r>
              <a:rPr lang="en-US" altLang="zh-CN"/>
              <a:t>Mapper</a:t>
            </a:r>
            <a:r>
              <a:rPr lang="zh-CN" altLang="en-US"/>
              <a:t>层和工具类的测试，它们的结果也是全部通过的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263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然后是进行覆盖率测试，可以看到我们的测试用例基本覆盖率所有的类和方法，除了在</a:t>
            </a:r>
            <a:r>
              <a:rPr lang="en-US" altLang="zh-CN"/>
              <a:t>Entity</a:t>
            </a:r>
            <a:r>
              <a:rPr lang="zh-CN" altLang="en-US"/>
              <a:t>和</a:t>
            </a:r>
            <a:r>
              <a:rPr lang="en-US" altLang="zh-CN"/>
              <a:t>Exception</a:t>
            </a:r>
            <a:r>
              <a:rPr lang="zh-CN" altLang="en-US"/>
              <a:t>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9558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接下来是边界测试，对于注册和登录功能而言，要求账号和密码的输入长度为</a:t>
            </a:r>
            <a:r>
              <a:rPr lang="en-US" altLang="zh-CN"/>
              <a:t>6-16</a:t>
            </a:r>
            <a:r>
              <a:rPr lang="zh-CN" altLang="en-US"/>
              <a:t>，由此，我们设计了账号和密码长度分别为</a:t>
            </a:r>
            <a:r>
              <a:rPr lang="en-US" altLang="zh-CN"/>
              <a:t>7</a:t>
            </a:r>
            <a:r>
              <a:rPr lang="zh-CN" altLang="en-US"/>
              <a:t>，</a:t>
            </a:r>
            <a:r>
              <a:rPr lang="en-US" altLang="zh-CN"/>
              <a:t>8</a:t>
            </a:r>
            <a:r>
              <a:rPr lang="zh-CN" altLang="en-US"/>
              <a:t>，</a:t>
            </a:r>
            <a:r>
              <a:rPr lang="en-US" altLang="zh-CN"/>
              <a:t>16</a:t>
            </a:r>
            <a:r>
              <a:rPr lang="zh-CN" altLang="en-US"/>
              <a:t>，</a:t>
            </a:r>
            <a:r>
              <a:rPr lang="en-US" altLang="zh-CN"/>
              <a:t>17</a:t>
            </a:r>
            <a:r>
              <a:rPr lang="zh-CN" altLang="en-US"/>
              <a:t>的测试用例进行边界测试，测试结果都是通过的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1794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然后是行代码效能测试，我们使用</a:t>
            </a:r>
            <a:r>
              <a:rPr lang="en-US" altLang="zh-CN"/>
              <a:t>JProfiler</a:t>
            </a:r>
            <a:r>
              <a:rPr lang="zh-CN" altLang="en-US"/>
              <a:t>进行测试，如图所示，在进行垃圾回收前，存在部分 </a:t>
            </a:r>
            <a:r>
              <a:rPr lang="en-US" altLang="zh-CN"/>
              <a:t>char </a:t>
            </a:r>
            <a:r>
              <a:rPr lang="zh-CN" altLang="en-US"/>
              <a:t>和</a:t>
            </a:r>
            <a:r>
              <a:rPr lang="en-US" altLang="zh-CN"/>
              <a:t> object </a:t>
            </a:r>
            <a:r>
              <a:rPr lang="zh-CN" altLang="en-US"/>
              <a:t>没有被释放。在执行垃圾回收后，我们可以发现这些对象占用的内存空间都被释放了，这表明该系统不存在内存泄漏问题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2019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除了关于于内存泄漏问题外，我们还对</a:t>
            </a:r>
            <a:r>
              <a:rPr lang="en-US" altLang="zh-CN"/>
              <a:t>CPU</a:t>
            </a:r>
            <a:r>
              <a:rPr lang="zh-CN" altLang="en-US"/>
              <a:t>运行时间进行观察，使用</a:t>
            </a:r>
            <a:r>
              <a:rPr lang="en-US" altLang="zh-CN"/>
              <a:t>Junit4</a:t>
            </a:r>
            <a:r>
              <a:rPr lang="zh-CN" altLang="en-US"/>
              <a:t>运行测试用例时，可以发现系统占用</a:t>
            </a:r>
            <a:r>
              <a:rPr lang="en-US" altLang="zh-CN"/>
              <a:t>CPU</a:t>
            </a:r>
            <a:r>
              <a:rPr lang="zh-CN" altLang="en-US"/>
              <a:t>的大部分时间用于进行数据库连接和查询操作</a:t>
            </a:r>
            <a:endParaRPr lang="en-US" altLang="zh-CN"/>
          </a:p>
          <a:p>
            <a:endParaRPr lang="en-US"/>
          </a:p>
          <a:p>
            <a:r>
              <a:rPr lang="zh-CN" altLang="en-US"/>
              <a:t>使用</a:t>
            </a:r>
            <a:r>
              <a:rPr lang="en-US" altLang="zh-CN"/>
              <a:t>Postman</a:t>
            </a:r>
            <a:r>
              <a:rPr lang="zh-CN" altLang="en-US"/>
              <a:t>进行真实访问时，发现系统占用</a:t>
            </a:r>
            <a:r>
              <a:rPr lang="en-US" altLang="zh-CN"/>
              <a:t>CPU</a:t>
            </a:r>
            <a:r>
              <a:rPr lang="zh-CN" altLang="en-US"/>
              <a:t>的大部分时间集中在请求的过滤上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比较两种情况，我觉得</a:t>
            </a:r>
            <a:r>
              <a:rPr lang="en-US" altLang="zh-CN"/>
              <a:t>Postman</a:t>
            </a:r>
            <a:r>
              <a:rPr lang="zh-CN" altLang="en-US"/>
              <a:t>得出的结果更符合情况，因为实际环境中，大部分请求都是在登录后对系统进行操作，所以</a:t>
            </a:r>
            <a:r>
              <a:rPr lang="en-US" altLang="zh-CN"/>
              <a:t>JWT</a:t>
            </a:r>
            <a:r>
              <a:rPr lang="zh-CN" altLang="en-US"/>
              <a:t>授权过滤是改权限系统最主要的瓶颈之一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4030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0488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9377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0901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1757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8985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2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6381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6781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7072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0777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5074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2743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5301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7136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3368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4224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339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9975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2434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6923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2173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9529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182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2A44F-C291-49AB-90A8-A7028D3B4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4F9ED7-DA03-4759-8AC6-E7A927E51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ED3618-B6D2-4111-B2E0-2A4A9E4C6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B890-F2DA-489F-A2DE-138FC2F80629}" type="datetimeFigureOut">
              <a:rPr lang="zh-CN" altLang="en-US" smtClean="0"/>
              <a:t>2022-5-14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F9DB21-3461-4D4E-9198-E71D91F0D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04C885-49BF-4755-902D-E00D8D32B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43E4-861D-4F87-9524-6422432F0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595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549FA-0D8E-4560-B5ED-1597B1F59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E2CDD7-A8A5-48A4-B729-17709351F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4C88C9-0839-471B-9520-F3CD7CBB0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B890-F2DA-489F-A2DE-138FC2F80629}" type="datetimeFigureOut">
              <a:rPr lang="zh-CN" altLang="en-US" smtClean="0"/>
              <a:t>2022-5-14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28D41C-984F-46AD-8C74-3C5B74541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F8D8F6-98C9-45D7-BE75-DED7C21E4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43E4-861D-4F87-9524-6422432F0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322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091F5-F553-4F75-942D-778D4F618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63F06E-9758-479F-B22D-14D6050C1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9802B9-71CC-4AFC-BDD4-7BADE6754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B890-F2DA-489F-A2DE-138FC2F80629}" type="datetimeFigureOut">
              <a:rPr lang="zh-CN" altLang="en-US" smtClean="0"/>
              <a:t>2022-5-14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BF4BA7-74A3-4FE9-BBF9-474AE40A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9A93F9-2E22-417A-B1F2-7631FC790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43E4-861D-4F87-9524-6422432F0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230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17746D-13F0-4274-9ED4-71D3DEF9F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1B43E7-8A39-4FEB-8F93-7B0947C65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1EC37D-CE15-4016-BE8A-99C076FEC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8A0DC3-844F-4AC7-BADB-E106C2998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B890-F2DA-489F-A2DE-138FC2F80629}" type="datetimeFigureOut">
              <a:rPr lang="zh-CN" altLang="en-US" smtClean="0"/>
              <a:t>2022-5-14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8EE625-03CE-4051-B592-F9F3A726C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CDB0E7-CF9B-4193-8439-6B794AC03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43E4-861D-4F87-9524-6422432F0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589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612DB-EC7B-4842-B1FC-4690F1794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0A1DEF-AED5-4F2A-8FCC-A480BA415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FDBF74-73D2-4E44-AA25-94BE6F823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61616E7-D898-4317-8575-DCD1B3A89F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0C2DAC-93C9-4EE7-99F9-385706621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42A5EC-1461-429B-BE12-E06CCC8FE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B890-F2DA-489F-A2DE-138FC2F80629}" type="datetimeFigureOut">
              <a:rPr lang="zh-CN" altLang="en-US" smtClean="0"/>
              <a:t>2022-5-14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340A9A3-1391-4C04-A3A2-B44022FA1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AC5CEF-AFED-4EDF-9C29-41F11FB89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43E4-861D-4F87-9524-6422432F0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958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EDE198-8860-4C51-BCBD-9FB7192CC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D61C93F-C15F-4470-91A8-E33D2048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B890-F2DA-489F-A2DE-138FC2F80629}" type="datetimeFigureOut">
              <a:rPr lang="zh-CN" altLang="en-US" smtClean="0"/>
              <a:t>2022-5-14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F6304E-5C22-458D-B33F-9D944651A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BBE5CD2-B752-4224-9F29-D123E10C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43E4-861D-4F87-9524-6422432F0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26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09148A-859F-45E3-8A1B-497CA32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B890-F2DA-489F-A2DE-138FC2F80629}" type="datetimeFigureOut">
              <a:rPr lang="zh-CN" altLang="en-US" smtClean="0"/>
              <a:t>2022-5-14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E57889-6D26-4C88-A30B-F571350F9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7FB292-4BAB-4BC1-A877-5F6AB01D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43E4-861D-4F87-9524-6422432F0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216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5B68D-F24E-4CA8-9CC8-024090ACC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91AC31-1E34-4045-8480-DDB1A79D9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7D7032-72B4-42E0-9D6A-3B0329378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019F2C-D01A-41B8-BDE3-637FFD7D7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B890-F2DA-489F-A2DE-138FC2F80629}" type="datetimeFigureOut">
              <a:rPr lang="zh-CN" altLang="en-US" smtClean="0"/>
              <a:t>2022-5-14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4D9D3C-0C26-446F-80A6-A4CA06BF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4F025E-BCE5-456D-9D3C-EC8F33D4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43E4-861D-4F87-9524-6422432F0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366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79BF7-B76E-4CBA-A4BA-CD3AAC372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158E4F3-EDA4-44D1-A05D-4A730BB7FB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FAF12E-B960-4B71-961C-7BCBA561F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503FE1-0D15-4F48-A9A1-996C61DD5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B890-F2DA-489F-A2DE-138FC2F80629}" type="datetimeFigureOut">
              <a:rPr lang="zh-CN" altLang="en-US" smtClean="0"/>
              <a:t>2022-5-14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5B6478-9775-449A-B45E-49A23FC29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B8D00E-4A13-4AAB-B30C-B2DDF64BF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43E4-861D-4F87-9524-6422432F0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826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A5AE6-F45A-40A4-9F2F-561A86435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1E0AF1-D909-4E21-8FB1-1B45CFACB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7AC6F8-E6E6-4625-AD38-2BC4AF27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B890-F2DA-489F-A2DE-138FC2F80629}" type="datetimeFigureOut">
              <a:rPr lang="zh-CN" altLang="en-US" smtClean="0"/>
              <a:t>2022-5-14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DDF0AA-A9AB-409B-90D3-3089E7ADD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79DF79-4592-4B7B-A737-EBE70487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43E4-861D-4F87-9524-6422432F0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391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AB1DBC0-0970-47C3-815D-7019ABB77A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5DBA4-C9C4-4F43-B2C2-048F4F953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A58138-3A09-4B57-8272-628D87A8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B890-F2DA-489F-A2DE-138FC2F80629}" type="datetimeFigureOut">
              <a:rPr lang="zh-CN" altLang="en-US" smtClean="0"/>
              <a:t>2022-5-14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5CBA3F-1236-4716-A38A-A7BFB205A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2E7C3E-62BB-4730-9219-81F10D08C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43E4-861D-4F87-9524-6422432F0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028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92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Lato Light" charset="0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599238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5643987" y="289932"/>
            <a:ext cx="948100" cy="345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101306" cy="685800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Lato Light" charset="0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31035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767687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Placeholder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71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Placeholder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098261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297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onry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0" y="3456878"/>
            <a:ext cx="3157159" cy="3401122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3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Poppins Light" charset="0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3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3307469" y="0"/>
            <a:ext cx="2804991" cy="6858000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3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Poppins Light" charset="0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4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0" y="1"/>
            <a:ext cx="3157159" cy="3323063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3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Poppins Light" charset="0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226405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3995220" y="0"/>
            <a:ext cx="819678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520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5643987" y="289932"/>
            <a:ext cx="948100" cy="345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6090694" y="0"/>
            <a:ext cx="6101306" cy="6858000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Lato Light" charset="0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80137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Placehol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7323951" y="1"/>
            <a:ext cx="2474070" cy="6858000"/>
          </a:xfrm>
          <a:custGeom>
            <a:avLst/>
            <a:gdLst>
              <a:gd name="connsiteX0" fmla="*/ 3814104 w 4946852"/>
              <a:gd name="connsiteY0" fmla="*/ 11540901 h 13716000"/>
              <a:gd name="connsiteX1" fmla="*/ 3832578 w 4946852"/>
              <a:gd name="connsiteY1" fmla="*/ 11577834 h 13716000"/>
              <a:gd name="connsiteX2" fmla="*/ 3872728 w 4946852"/>
              <a:gd name="connsiteY2" fmla="*/ 11698239 h 13716000"/>
              <a:gd name="connsiteX3" fmla="*/ 3698782 w 4946852"/>
              <a:gd name="connsiteY3" fmla="*/ 11214745 h 13716000"/>
              <a:gd name="connsiteX4" fmla="*/ 3774362 w 4946852"/>
              <a:gd name="connsiteY4" fmla="*/ 11434240 h 13716000"/>
              <a:gd name="connsiteX5" fmla="*/ 3814104 w 4946852"/>
              <a:gd name="connsiteY5" fmla="*/ 11540901 h 13716000"/>
              <a:gd name="connsiteX6" fmla="*/ 3772352 w 4946852"/>
              <a:gd name="connsiteY6" fmla="*/ 11457429 h 13716000"/>
              <a:gd name="connsiteX7" fmla="*/ 3692052 w 4946852"/>
              <a:gd name="connsiteY7" fmla="*/ 11217531 h 13716000"/>
              <a:gd name="connsiteX8" fmla="*/ 514535 w 4946852"/>
              <a:gd name="connsiteY8" fmla="*/ 0 h 13716000"/>
              <a:gd name="connsiteX9" fmla="*/ 4946852 w 4946852"/>
              <a:gd name="connsiteY9" fmla="*/ 0 h 13716000"/>
              <a:gd name="connsiteX10" fmla="*/ 4935802 w 4946852"/>
              <a:gd name="connsiteY10" fmla="*/ 488713 h 13716000"/>
              <a:gd name="connsiteX11" fmla="*/ 4756038 w 4946852"/>
              <a:gd name="connsiteY11" fmla="*/ 2012931 h 13716000"/>
              <a:gd name="connsiteX12" fmla="*/ 4515134 w 4946852"/>
              <a:gd name="connsiteY12" fmla="*/ 2474484 h 13716000"/>
              <a:gd name="connsiteX13" fmla="*/ 4333546 w 4946852"/>
              <a:gd name="connsiteY13" fmla="*/ 3938500 h 13716000"/>
              <a:gd name="connsiteX14" fmla="*/ 4294308 w 4946852"/>
              <a:gd name="connsiteY14" fmla="*/ 5442650 h 13716000"/>
              <a:gd name="connsiteX15" fmla="*/ 4374608 w 4946852"/>
              <a:gd name="connsiteY15" fmla="*/ 6965956 h 13716000"/>
              <a:gd name="connsiteX16" fmla="*/ 4493326 w 4946852"/>
              <a:gd name="connsiteY16" fmla="*/ 8459773 h 13716000"/>
              <a:gd name="connsiteX17" fmla="*/ 4484794 w 4946852"/>
              <a:gd name="connsiteY17" fmla="*/ 8421990 h 13716000"/>
              <a:gd name="connsiteX18" fmla="*/ 4413846 w 4946852"/>
              <a:gd name="connsiteY18" fmla="*/ 8128959 h 13716000"/>
              <a:gd name="connsiteX19" fmla="*/ 4494148 w 4946852"/>
              <a:gd name="connsiteY19" fmla="*/ 8470107 h 13716000"/>
              <a:gd name="connsiteX20" fmla="*/ 4493326 w 4946852"/>
              <a:gd name="connsiteY20" fmla="*/ 8459773 h 13716000"/>
              <a:gd name="connsiteX21" fmla="*/ 4554372 w 4946852"/>
              <a:gd name="connsiteY21" fmla="*/ 8730073 h 13716000"/>
              <a:gd name="connsiteX22" fmla="*/ 4595436 w 4946852"/>
              <a:gd name="connsiteY22" fmla="*/ 8990950 h 13716000"/>
              <a:gd name="connsiteX23" fmla="*/ 4595436 w 4946852"/>
              <a:gd name="connsiteY23" fmla="*/ 9151490 h 13716000"/>
              <a:gd name="connsiteX24" fmla="*/ 4474984 w 4946852"/>
              <a:gd name="connsiteY24" fmla="*/ 9492638 h 13716000"/>
              <a:gd name="connsiteX25" fmla="*/ 4434834 w 4946852"/>
              <a:gd name="connsiteY25" fmla="*/ 9833785 h 13716000"/>
              <a:gd name="connsiteX26" fmla="*/ 4474984 w 4946852"/>
              <a:gd name="connsiteY26" fmla="*/ 10214156 h 13716000"/>
              <a:gd name="connsiteX27" fmla="*/ 4515134 w 4946852"/>
              <a:gd name="connsiteY27" fmla="*/ 10414831 h 13716000"/>
              <a:gd name="connsiteX28" fmla="*/ 4595436 w 4946852"/>
              <a:gd name="connsiteY28" fmla="*/ 10615506 h 13716000"/>
              <a:gd name="connsiteX29" fmla="*/ 4474984 w 4946852"/>
              <a:gd name="connsiteY29" fmla="*/ 10916519 h 13716000"/>
              <a:gd name="connsiteX30" fmla="*/ 4654748 w 4946852"/>
              <a:gd name="connsiteY30" fmla="*/ 11477497 h 13716000"/>
              <a:gd name="connsiteX31" fmla="*/ 4776112 w 4946852"/>
              <a:gd name="connsiteY31" fmla="*/ 11738374 h 13716000"/>
              <a:gd name="connsiteX32" fmla="*/ 4836338 w 4946852"/>
              <a:gd name="connsiteY32" fmla="*/ 11878847 h 13716000"/>
              <a:gd name="connsiteX33" fmla="*/ 4895652 w 4946852"/>
              <a:gd name="connsiteY33" fmla="*/ 11999252 h 13716000"/>
              <a:gd name="connsiteX34" fmla="*/ 4776112 w 4946852"/>
              <a:gd name="connsiteY34" fmla="*/ 11858779 h 13716000"/>
              <a:gd name="connsiteX35" fmla="*/ 4714974 w 4946852"/>
              <a:gd name="connsiteY35" fmla="*/ 11698239 h 13716000"/>
              <a:gd name="connsiteX36" fmla="*/ 4634674 w 4946852"/>
              <a:gd name="connsiteY36" fmla="*/ 11798577 h 13716000"/>
              <a:gd name="connsiteX37" fmla="*/ 4554372 w 4946852"/>
              <a:gd name="connsiteY37" fmla="*/ 11898914 h 13716000"/>
              <a:gd name="connsiteX38" fmla="*/ 4374608 w 4946852"/>
              <a:gd name="connsiteY38" fmla="*/ 11537699 h 13716000"/>
              <a:gd name="connsiteX39" fmla="*/ 4254158 w 4946852"/>
              <a:gd name="connsiteY39" fmla="*/ 11137261 h 13716000"/>
              <a:gd name="connsiteX40" fmla="*/ 4153782 w 4946852"/>
              <a:gd name="connsiteY40" fmla="*/ 11176484 h 13716000"/>
              <a:gd name="connsiteX41" fmla="*/ 4234082 w 4946852"/>
              <a:gd name="connsiteY41" fmla="*/ 11417294 h 13716000"/>
              <a:gd name="connsiteX42" fmla="*/ 4314382 w 4946852"/>
              <a:gd name="connsiteY42" fmla="*/ 11617969 h 13716000"/>
              <a:gd name="connsiteX43" fmla="*/ 4354534 w 4946852"/>
              <a:gd name="connsiteY43" fmla="*/ 11718307 h 13716000"/>
              <a:gd name="connsiteX44" fmla="*/ 4394684 w 4946852"/>
              <a:gd name="connsiteY44" fmla="*/ 11838712 h 13716000"/>
              <a:gd name="connsiteX45" fmla="*/ 4494148 w 4946852"/>
              <a:gd name="connsiteY45" fmla="*/ 12059454 h 13716000"/>
              <a:gd name="connsiteX46" fmla="*/ 4394684 w 4946852"/>
              <a:gd name="connsiteY46" fmla="*/ 12521007 h 13716000"/>
              <a:gd name="connsiteX47" fmla="*/ 4193932 w 4946852"/>
              <a:gd name="connsiteY47" fmla="*/ 12199927 h 13716000"/>
              <a:gd name="connsiteX48" fmla="*/ 4033330 w 4946852"/>
              <a:gd name="connsiteY48" fmla="*/ 11818644 h 13716000"/>
              <a:gd name="connsiteX49" fmla="*/ 3892804 w 4946852"/>
              <a:gd name="connsiteY49" fmla="*/ 11438274 h 13716000"/>
              <a:gd name="connsiteX50" fmla="*/ 3752276 w 4946852"/>
              <a:gd name="connsiteY50" fmla="*/ 11056991 h 13716000"/>
              <a:gd name="connsiteX51" fmla="*/ 3732516 w 4946852"/>
              <a:gd name="connsiteY51" fmla="*/ 11200785 h 13716000"/>
              <a:gd name="connsiteX52" fmla="*/ 3698782 w 4946852"/>
              <a:gd name="connsiteY52" fmla="*/ 11214745 h 13716000"/>
              <a:gd name="connsiteX53" fmla="*/ 3687374 w 4946852"/>
              <a:gd name="connsiteY53" fmla="*/ 11181615 h 13716000"/>
              <a:gd name="connsiteX54" fmla="*/ 3531450 w 4946852"/>
              <a:gd name="connsiteY54" fmla="*/ 10695776 h 13716000"/>
              <a:gd name="connsiteX55" fmla="*/ 3231234 w 4946852"/>
              <a:gd name="connsiteY55" fmla="*/ 9673245 h 13716000"/>
              <a:gd name="connsiteX56" fmla="*/ 3129946 w 4946852"/>
              <a:gd name="connsiteY56" fmla="*/ 9693313 h 13716000"/>
              <a:gd name="connsiteX57" fmla="*/ 3191084 w 4946852"/>
              <a:gd name="connsiteY57" fmla="*/ 9953278 h 13716000"/>
              <a:gd name="connsiteX58" fmla="*/ 2990332 w 4946852"/>
              <a:gd name="connsiteY58" fmla="*/ 10014393 h 13716000"/>
              <a:gd name="connsiteX59" fmla="*/ 2809654 w 4946852"/>
              <a:gd name="connsiteY59" fmla="*/ 9452503 h 13716000"/>
              <a:gd name="connsiteX60" fmla="*/ 2769504 w 4946852"/>
              <a:gd name="connsiteY60" fmla="*/ 9291963 h 13716000"/>
              <a:gd name="connsiteX61" fmla="*/ 2729354 w 4946852"/>
              <a:gd name="connsiteY61" fmla="*/ 9131423 h 13716000"/>
              <a:gd name="connsiteX62" fmla="*/ 2628978 w 4946852"/>
              <a:gd name="connsiteY62" fmla="*/ 8830410 h 13716000"/>
              <a:gd name="connsiteX63" fmla="*/ 2548676 w 4946852"/>
              <a:gd name="connsiteY63" fmla="*/ 8570445 h 13716000"/>
              <a:gd name="connsiteX64" fmla="*/ 2448300 w 4946852"/>
              <a:gd name="connsiteY64" fmla="*/ 8389837 h 13716000"/>
              <a:gd name="connsiteX65" fmla="*/ 2227474 w 4946852"/>
              <a:gd name="connsiteY65" fmla="*/ 8349702 h 13716000"/>
              <a:gd name="connsiteX66" fmla="*/ 2268536 w 4946852"/>
              <a:gd name="connsiteY66" fmla="*/ 8609667 h 13716000"/>
              <a:gd name="connsiteX67" fmla="*/ 2107935 w 4946852"/>
              <a:gd name="connsiteY67" fmla="*/ 8630647 h 13716000"/>
              <a:gd name="connsiteX68" fmla="*/ 2147172 w 4946852"/>
              <a:gd name="connsiteY68" fmla="*/ 9051153 h 13716000"/>
              <a:gd name="connsiteX69" fmla="*/ 2207398 w 4946852"/>
              <a:gd name="connsiteY69" fmla="*/ 9492638 h 13716000"/>
              <a:gd name="connsiteX70" fmla="*/ 2327850 w 4946852"/>
              <a:gd name="connsiteY70" fmla="*/ 10334561 h 13716000"/>
              <a:gd name="connsiteX71" fmla="*/ 2167248 w 4946852"/>
              <a:gd name="connsiteY71" fmla="*/ 10394763 h 13716000"/>
              <a:gd name="connsiteX72" fmla="*/ 2066872 w 4946852"/>
              <a:gd name="connsiteY72" fmla="*/ 10014393 h 13716000"/>
              <a:gd name="connsiteX73" fmla="*/ 2107935 w 4946852"/>
              <a:gd name="connsiteY73" fmla="*/ 10254291 h 13716000"/>
              <a:gd name="connsiteX74" fmla="*/ 2086947 w 4946852"/>
              <a:gd name="connsiteY74" fmla="*/ 10454966 h 13716000"/>
              <a:gd name="connsiteX75" fmla="*/ 2027634 w 4946852"/>
              <a:gd name="connsiteY75" fmla="*/ 10715844 h 13716000"/>
              <a:gd name="connsiteX76" fmla="*/ 2047710 w 4946852"/>
              <a:gd name="connsiteY76" fmla="*/ 11137261 h 13716000"/>
              <a:gd name="connsiteX77" fmla="*/ 2167248 w 4946852"/>
              <a:gd name="connsiteY77" fmla="*/ 11658104 h 13716000"/>
              <a:gd name="connsiteX78" fmla="*/ 2608902 w 4946852"/>
              <a:gd name="connsiteY78" fmla="*/ 12841175 h 13716000"/>
              <a:gd name="connsiteX79" fmla="*/ 2508526 w 4946852"/>
              <a:gd name="connsiteY79" fmla="*/ 13042762 h 13716000"/>
              <a:gd name="connsiteX80" fmla="*/ 2689204 w 4946852"/>
              <a:gd name="connsiteY80" fmla="*/ 13403066 h 13716000"/>
              <a:gd name="connsiteX81" fmla="*/ 2793554 w 4946852"/>
              <a:gd name="connsiteY81" fmla="*/ 13716000 h 13716000"/>
              <a:gd name="connsiteX82" fmla="*/ 2642784 w 4946852"/>
              <a:gd name="connsiteY82" fmla="*/ 13716000 h 13716000"/>
              <a:gd name="connsiteX83" fmla="*/ 2480924 w 4946852"/>
              <a:gd name="connsiteY83" fmla="*/ 13389254 h 13716000"/>
              <a:gd name="connsiteX84" fmla="*/ 2307774 w 4946852"/>
              <a:gd name="connsiteY84" fmla="*/ 13001715 h 13716000"/>
              <a:gd name="connsiteX85" fmla="*/ 1746581 w 4946852"/>
              <a:gd name="connsiteY85" fmla="*/ 11397227 h 13716000"/>
              <a:gd name="connsiteX86" fmla="*/ 1284852 w 4946852"/>
              <a:gd name="connsiteY86" fmla="*/ 9793650 h 13716000"/>
              <a:gd name="connsiteX87" fmla="*/ 863272 w 4946852"/>
              <a:gd name="connsiteY87" fmla="*/ 8208317 h 13716000"/>
              <a:gd name="connsiteX88" fmla="*/ 642445 w 4946852"/>
              <a:gd name="connsiteY88" fmla="*/ 7827947 h 13716000"/>
              <a:gd name="connsiteX89" fmla="*/ 583132 w 4946852"/>
              <a:gd name="connsiteY89" fmla="*/ 7427509 h 13716000"/>
              <a:gd name="connsiteX90" fmla="*/ 342229 w 4946852"/>
              <a:gd name="connsiteY90" fmla="*/ 7306192 h 13716000"/>
              <a:gd name="connsiteX91" fmla="*/ 41101 w 4946852"/>
              <a:gd name="connsiteY91" fmla="*/ 5422584 h 13716000"/>
              <a:gd name="connsiteX92" fmla="*/ 81252 w 4946852"/>
              <a:gd name="connsiteY92" fmla="*/ 3637487 h 13716000"/>
              <a:gd name="connsiteX93" fmla="*/ 201703 w 4946852"/>
              <a:gd name="connsiteY93" fmla="*/ 2273809 h 13716000"/>
              <a:gd name="connsiteX94" fmla="*/ 81252 w 4946852"/>
              <a:gd name="connsiteY94" fmla="*/ 2273809 h 13716000"/>
              <a:gd name="connsiteX95" fmla="*/ 141477 w 4946852"/>
              <a:gd name="connsiteY95" fmla="*/ 1872458 h 13716000"/>
              <a:gd name="connsiteX96" fmla="*/ 261928 w 4946852"/>
              <a:gd name="connsiteY96" fmla="*/ 1872458 h 13716000"/>
              <a:gd name="connsiteX97" fmla="*/ 321242 w 4946852"/>
              <a:gd name="connsiteY97" fmla="*/ 1611581 h 13716000"/>
              <a:gd name="connsiteX98" fmla="*/ 422530 w 4946852"/>
              <a:gd name="connsiteY98" fmla="*/ 1611581 h 13716000"/>
              <a:gd name="connsiteX99" fmla="*/ 401542 w 4946852"/>
              <a:gd name="connsiteY99" fmla="*/ 809793 h 13716000"/>
              <a:gd name="connsiteX100" fmla="*/ 522906 w 4946852"/>
              <a:gd name="connsiteY100" fmla="*/ 829860 h 13716000"/>
              <a:gd name="connsiteX101" fmla="*/ 502831 w 4946852"/>
              <a:gd name="connsiteY101" fmla="*/ 288950 h 13716000"/>
              <a:gd name="connsiteX102" fmla="*/ 603207 w 4946852"/>
              <a:gd name="connsiteY102" fmla="*/ 288950 h 13716000"/>
              <a:gd name="connsiteX103" fmla="*/ 502831 w 4946852"/>
              <a:gd name="connsiteY103" fmla="*/ 148477 h 13716000"/>
              <a:gd name="connsiteX104" fmla="*/ 514123 w 4946852"/>
              <a:gd name="connsiteY104" fmla="*/ 1201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4946852" h="13716000">
                <a:moveTo>
                  <a:pt x="3814104" y="11540901"/>
                </a:moveTo>
                <a:lnTo>
                  <a:pt x="3832578" y="11577834"/>
                </a:lnTo>
                <a:cubicBezTo>
                  <a:pt x="3852654" y="11617969"/>
                  <a:pt x="3852654" y="11658104"/>
                  <a:pt x="3872728" y="11698239"/>
                </a:cubicBezTo>
                <a:close/>
                <a:moveTo>
                  <a:pt x="3698782" y="11214745"/>
                </a:moveTo>
                <a:lnTo>
                  <a:pt x="3774362" y="11434240"/>
                </a:lnTo>
                <a:lnTo>
                  <a:pt x="3814104" y="11540901"/>
                </a:lnTo>
                <a:lnTo>
                  <a:pt x="3772352" y="11457429"/>
                </a:lnTo>
                <a:cubicBezTo>
                  <a:pt x="3752276" y="11378071"/>
                  <a:pt x="3712126" y="11277734"/>
                  <a:pt x="3692052" y="11217531"/>
                </a:cubicBezTo>
                <a:close/>
                <a:moveTo>
                  <a:pt x="514535" y="0"/>
                </a:moveTo>
                <a:lnTo>
                  <a:pt x="4946852" y="0"/>
                </a:lnTo>
                <a:lnTo>
                  <a:pt x="4935802" y="488713"/>
                </a:lnTo>
                <a:cubicBezTo>
                  <a:pt x="4895652" y="1030535"/>
                  <a:pt x="4855500" y="1551378"/>
                  <a:pt x="4756038" y="2012931"/>
                </a:cubicBezTo>
                <a:cubicBezTo>
                  <a:pt x="4695812" y="2133336"/>
                  <a:pt x="4574448" y="2374146"/>
                  <a:pt x="4515134" y="2474484"/>
                </a:cubicBezTo>
                <a:cubicBezTo>
                  <a:pt x="4413846" y="2956104"/>
                  <a:pt x="4354534" y="3436812"/>
                  <a:pt x="4333546" y="3938500"/>
                </a:cubicBezTo>
                <a:cubicBezTo>
                  <a:pt x="4294308" y="4439275"/>
                  <a:pt x="4294308" y="4940963"/>
                  <a:pt x="4294308" y="5442650"/>
                </a:cubicBezTo>
                <a:cubicBezTo>
                  <a:pt x="4314382" y="5962581"/>
                  <a:pt x="4333546" y="6464269"/>
                  <a:pt x="4374608" y="6965956"/>
                </a:cubicBezTo>
                <a:lnTo>
                  <a:pt x="4493326" y="8459773"/>
                </a:lnTo>
                <a:lnTo>
                  <a:pt x="4484794" y="8421990"/>
                </a:lnTo>
                <a:cubicBezTo>
                  <a:pt x="4459700" y="8319373"/>
                  <a:pt x="4434378" y="8219263"/>
                  <a:pt x="4413846" y="8128959"/>
                </a:cubicBezTo>
                <a:cubicBezTo>
                  <a:pt x="4434834" y="8249365"/>
                  <a:pt x="4454910" y="8349702"/>
                  <a:pt x="4494148" y="8470107"/>
                </a:cubicBezTo>
                <a:lnTo>
                  <a:pt x="4493326" y="8459773"/>
                </a:lnTo>
                <a:lnTo>
                  <a:pt x="4554372" y="8730073"/>
                </a:lnTo>
                <a:cubicBezTo>
                  <a:pt x="4574448" y="8830410"/>
                  <a:pt x="4595436" y="8910680"/>
                  <a:pt x="4595436" y="8990950"/>
                </a:cubicBezTo>
                <a:cubicBezTo>
                  <a:pt x="4615510" y="9071220"/>
                  <a:pt x="4615510" y="9131423"/>
                  <a:pt x="4595436" y="9151490"/>
                </a:cubicBezTo>
                <a:cubicBezTo>
                  <a:pt x="4535210" y="9271895"/>
                  <a:pt x="4494148" y="9372233"/>
                  <a:pt x="4474984" y="9492638"/>
                </a:cubicBezTo>
                <a:cubicBezTo>
                  <a:pt x="4454910" y="9592975"/>
                  <a:pt x="4434834" y="9713380"/>
                  <a:pt x="4434834" y="9833785"/>
                </a:cubicBezTo>
                <a:cubicBezTo>
                  <a:pt x="4434834" y="9953278"/>
                  <a:pt x="4454910" y="10093751"/>
                  <a:pt x="4474984" y="10214156"/>
                </a:cubicBezTo>
                <a:cubicBezTo>
                  <a:pt x="4494148" y="10274358"/>
                  <a:pt x="4494148" y="10354628"/>
                  <a:pt x="4515134" y="10414831"/>
                </a:cubicBezTo>
                <a:cubicBezTo>
                  <a:pt x="4554372" y="10475033"/>
                  <a:pt x="4574448" y="10555303"/>
                  <a:pt x="4595436" y="10615506"/>
                </a:cubicBezTo>
                <a:cubicBezTo>
                  <a:pt x="4494148" y="10655641"/>
                  <a:pt x="4474984" y="10776046"/>
                  <a:pt x="4474984" y="10916519"/>
                </a:cubicBezTo>
                <a:cubicBezTo>
                  <a:pt x="4494148" y="11096214"/>
                  <a:pt x="4574448" y="11277734"/>
                  <a:pt x="4654748" y="11477497"/>
                </a:cubicBezTo>
                <a:cubicBezTo>
                  <a:pt x="4695812" y="11557767"/>
                  <a:pt x="4735050" y="11658104"/>
                  <a:pt x="4776112" y="11738374"/>
                </a:cubicBezTo>
                <a:cubicBezTo>
                  <a:pt x="4795276" y="11798577"/>
                  <a:pt x="4815350" y="11838712"/>
                  <a:pt x="4836338" y="11878847"/>
                </a:cubicBezTo>
                <a:cubicBezTo>
                  <a:pt x="4855500" y="11918982"/>
                  <a:pt x="4875576" y="11959117"/>
                  <a:pt x="4895652" y="11999252"/>
                </a:cubicBezTo>
                <a:cubicBezTo>
                  <a:pt x="4855500" y="11959117"/>
                  <a:pt x="4815350" y="11918982"/>
                  <a:pt x="4776112" y="11858779"/>
                </a:cubicBezTo>
                <a:cubicBezTo>
                  <a:pt x="4756038" y="11818644"/>
                  <a:pt x="4735050" y="11758442"/>
                  <a:pt x="4714974" y="11698239"/>
                </a:cubicBezTo>
                <a:cubicBezTo>
                  <a:pt x="4654748" y="11658104"/>
                  <a:pt x="4634674" y="11738374"/>
                  <a:pt x="4634674" y="11798577"/>
                </a:cubicBezTo>
                <a:cubicBezTo>
                  <a:pt x="4615510" y="11878847"/>
                  <a:pt x="4595436" y="11959117"/>
                  <a:pt x="4554372" y="11898914"/>
                </a:cubicBezTo>
                <a:cubicBezTo>
                  <a:pt x="4474984" y="11818644"/>
                  <a:pt x="4413846" y="11679084"/>
                  <a:pt x="4374608" y="11537699"/>
                </a:cubicBezTo>
                <a:cubicBezTo>
                  <a:pt x="4333546" y="11397227"/>
                  <a:pt x="4294308" y="11236687"/>
                  <a:pt x="4254158" y="11137261"/>
                </a:cubicBezTo>
                <a:cubicBezTo>
                  <a:pt x="4254158" y="11137261"/>
                  <a:pt x="4254158" y="11137261"/>
                  <a:pt x="4153782" y="11176484"/>
                </a:cubicBezTo>
                <a:cubicBezTo>
                  <a:pt x="4173856" y="11256754"/>
                  <a:pt x="4214006" y="11337024"/>
                  <a:pt x="4234082" y="11417294"/>
                </a:cubicBezTo>
                <a:cubicBezTo>
                  <a:pt x="4254158" y="11477497"/>
                  <a:pt x="4294308" y="11557767"/>
                  <a:pt x="4314382" y="11617969"/>
                </a:cubicBezTo>
                <a:cubicBezTo>
                  <a:pt x="4333546" y="11658104"/>
                  <a:pt x="4354534" y="11698239"/>
                  <a:pt x="4354534" y="11718307"/>
                </a:cubicBezTo>
                <a:cubicBezTo>
                  <a:pt x="4374608" y="11758442"/>
                  <a:pt x="4394684" y="11798577"/>
                  <a:pt x="4394684" y="11838712"/>
                </a:cubicBezTo>
                <a:cubicBezTo>
                  <a:pt x="4434834" y="11898914"/>
                  <a:pt x="4454910" y="11979184"/>
                  <a:pt x="4494148" y="12059454"/>
                </a:cubicBezTo>
                <a:cubicBezTo>
                  <a:pt x="4595436" y="12420669"/>
                  <a:pt x="4494148" y="12600365"/>
                  <a:pt x="4394684" y="12521007"/>
                </a:cubicBezTo>
                <a:cubicBezTo>
                  <a:pt x="4314382" y="12420669"/>
                  <a:pt x="4254158" y="12320332"/>
                  <a:pt x="4193932" y="12199927"/>
                </a:cubicBezTo>
                <a:cubicBezTo>
                  <a:pt x="4133706" y="12079522"/>
                  <a:pt x="4073480" y="11959117"/>
                  <a:pt x="4033330" y="11818644"/>
                </a:cubicBezTo>
                <a:cubicBezTo>
                  <a:pt x="3973104" y="11698239"/>
                  <a:pt x="3932954" y="11557767"/>
                  <a:pt x="3892804" y="11438274"/>
                </a:cubicBezTo>
                <a:cubicBezTo>
                  <a:pt x="3832578" y="11297801"/>
                  <a:pt x="3792428" y="11176484"/>
                  <a:pt x="3752276" y="11056991"/>
                </a:cubicBezTo>
                <a:cubicBezTo>
                  <a:pt x="3782390" y="11146611"/>
                  <a:pt x="3767332" y="11180817"/>
                  <a:pt x="3732516" y="11200785"/>
                </a:cubicBezTo>
                <a:lnTo>
                  <a:pt x="3698782" y="11214745"/>
                </a:lnTo>
                <a:lnTo>
                  <a:pt x="3687374" y="11181615"/>
                </a:lnTo>
                <a:cubicBezTo>
                  <a:pt x="3632282" y="11016172"/>
                  <a:pt x="3582094" y="10855860"/>
                  <a:pt x="3531450" y="10695776"/>
                </a:cubicBezTo>
                <a:cubicBezTo>
                  <a:pt x="3431074" y="10354628"/>
                  <a:pt x="3331610" y="10033548"/>
                  <a:pt x="3231234" y="9673245"/>
                </a:cubicBezTo>
                <a:cubicBezTo>
                  <a:pt x="3231234" y="9673245"/>
                  <a:pt x="3231234" y="9673245"/>
                  <a:pt x="3129946" y="9693313"/>
                </a:cubicBezTo>
                <a:cubicBezTo>
                  <a:pt x="3129946" y="9693313"/>
                  <a:pt x="3129946" y="9693313"/>
                  <a:pt x="3191084" y="9953278"/>
                </a:cubicBezTo>
                <a:cubicBezTo>
                  <a:pt x="3129946" y="9953278"/>
                  <a:pt x="3030482" y="9994325"/>
                  <a:pt x="2990332" y="10014393"/>
                </a:cubicBezTo>
                <a:cubicBezTo>
                  <a:pt x="2930106" y="9853853"/>
                  <a:pt x="2869880" y="9652266"/>
                  <a:pt x="2809654" y="9452503"/>
                </a:cubicBezTo>
                <a:cubicBezTo>
                  <a:pt x="2789580" y="9392300"/>
                  <a:pt x="2789580" y="9352165"/>
                  <a:pt x="2769504" y="9291963"/>
                </a:cubicBezTo>
                <a:cubicBezTo>
                  <a:pt x="2749430" y="9231760"/>
                  <a:pt x="2749430" y="9191625"/>
                  <a:pt x="2729354" y="9131423"/>
                </a:cubicBezTo>
                <a:cubicBezTo>
                  <a:pt x="2689204" y="9031085"/>
                  <a:pt x="2669128" y="8930748"/>
                  <a:pt x="2628978" y="8830410"/>
                </a:cubicBezTo>
                <a:cubicBezTo>
                  <a:pt x="2608902" y="8730073"/>
                  <a:pt x="2568752" y="8650715"/>
                  <a:pt x="2548676" y="8570445"/>
                </a:cubicBezTo>
                <a:cubicBezTo>
                  <a:pt x="2508526" y="8490175"/>
                  <a:pt x="2488452" y="8429972"/>
                  <a:pt x="2448300" y="8389837"/>
                </a:cubicBezTo>
                <a:cubicBezTo>
                  <a:pt x="2388076" y="8288587"/>
                  <a:pt x="2307774" y="8269432"/>
                  <a:pt x="2227474" y="8349702"/>
                </a:cubicBezTo>
                <a:cubicBezTo>
                  <a:pt x="2227474" y="8349702"/>
                  <a:pt x="2227474" y="8349702"/>
                  <a:pt x="2268536" y="8609667"/>
                </a:cubicBezTo>
                <a:cubicBezTo>
                  <a:pt x="2207398" y="8609667"/>
                  <a:pt x="2107935" y="8630647"/>
                  <a:pt x="2107935" y="8630647"/>
                </a:cubicBezTo>
                <a:cubicBezTo>
                  <a:pt x="2127098" y="8770208"/>
                  <a:pt x="2127098" y="8910680"/>
                  <a:pt x="2147172" y="9051153"/>
                </a:cubicBezTo>
                <a:cubicBezTo>
                  <a:pt x="2167248" y="9191625"/>
                  <a:pt x="2188236" y="9332098"/>
                  <a:pt x="2207398" y="9492638"/>
                </a:cubicBezTo>
                <a:cubicBezTo>
                  <a:pt x="2247548" y="9793650"/>
                  <a:pt x="2287700" y="10074595"/>
                  <a:pt x="2327850" y="10334561"/>
                </a:cubicBezTo>
                <a:cubicBezTo>
                  <a:pt x="2327850" y="10334561"/>
                  <a:pt x="2227474" y="10374696"/>
                  <a:pt x="2167248" y="10394763"/>
                </a:cubicBezTo>
                <a:cubicBezTo>
                  <a:pt x="2127098" y="10254291"/>
                  <a:pt x="2107935" y="10133886"/>
                  <a:pt x="2066872" y="10014393"/>
                </a:cubicBezTo>
                <a:cubicBezTo>
                  <a:pt x="2086947" y="10093751"/>
                  <a:pt x="2107935" y="10194088"/>
                  <a:pt x="2107935" y="10254291"/>
                </a:cubicBezTo>
                <a:cubicBezTo>
                  <a:pt x="2107935" y="10334561"/>
                  <a:pt x="2107935" y="10394763"/>
                  <a:pt x="2086947" y="10454966"/>
                </a:cubicBezTo>
                <a:cubicBezTo>
                  <a:pt x="2066872" y="10555303"/>
                  <a:pt x="2047710" y="10655641"/>
                  <a:pt x="2027634" y="10715844"/>
                </a:cubicBezTo>
                <a:cubicBezTo>
                  <a:pt x="2006646" y="10836249"/>
                  <a:pt x="2006646" y="10976721"/>
                  <a:pt x="2047710" y="11137261"/>
                </a:cubicBezTo>
                <a:cubicBezTo>
                  <a:pt x="2066872" y="11297801"/>
                  <a:pt x="2107935" y="11477497"/>
                  <a:pt x="2167248" y="11658104"/>
                </a:cubicBezTo>
                <a:cubicBezTo>
                  <a:pt x="2287700" y="12039387"/>
                  <a:pt x="2468376" y="12459892"/>
                  <a:pt x="2608902" y="12841175"/>
                </a:cubicBezTo>
                <a:cubicBezTo>
                  <a:pt x="2649052" y="12981647"/>
                  <a:pt x="2548676" y="13021782"/>
                  <a:pt x="2508526" y="13042762"/>
                </a:cubicBezTo>
                <a:cubicBezTo>
                  <a:pt x="2568752" y="13182323"/>
                  <a:pt x="2628978" y="13282660"/>
                  <a:pt x="2689204" y="13403066"/>
                </a:cubicBezTo>
                <a:lnTo>
                  <a:pt x="2793554" y="13716000"/>
                </a:lnTo>
                <a:lnTo>
                  <a:pt x="2642784" y="13716000"/>
                </a:lnTo>
                <a:lnTo>
                  <a:pt x="2480924" y="13389254"/>
                </a:lnTo>
                <a:cubicBezTo>
                  <a:pt x="2420698" y="13261338"/>
                  <a:pt x="2362982" y="13132154"/>
                  <a:pt x="2307774" y="13001715"/>
                </a:cubicBezTo>
                <a:cubicBezTo>
                  <a:pt x="2086947" y="12480872"/>
                  <a:pt x="1906270" y="11939049"/>
                  <a:pt x="1746581" y="11397227"/>
                </a:cubicBezTo>
                <a:cubicBezTo>
                  <a:pt x="1565904" y="10876384"/>
                  <a:pt x="1425378" y="10334561"/>
                  <a:pt x="1284852" y="9793650"/>
                </a:cubicBezTo>
                <a:cubicBezTo>
                  <a:pt x="1164400" y="9271895"/>
                  <a:pt x="1023874" y="8730073"/>
                  <a:pt x="863272" y="8208317"/>
                </a:cubicBezTo>
                <a:cubicBezTo>
                  <a:pt x="824034" y="7928284"/>
                  <a:pt x="683508" y="8108892"/>
                  <a:pt x="642445" y="7827947"/>
                </a:cubicBezTo>
                <a:cubicBezTo>
                  <a:pt x="622370" y="7687474"/>
                  <a:pt x="603207" y="7547002"/>
                  <a:pt x="583132" y="7427509"/>
                </a:cubicBezTo>
                <a:cubicBezTo>
                  <a:pt x="481843" y="7567069"/>
                  <a:pt x="362304" y="7446664"/>
                  <a:pt x="342229" y="7306192"/>
                </a:cubicBezTo>
                <a:cubicBezTo>
                  <a:pt x="201703" y="6704166"/>
                  <a:pt x="101327" y="6063831"/>
                  <a:pt x="41101" y="5422584"/>
                </a:cubicBezTo>
                <a:cubicBezTo>
                  <a:pt x="-19124" y="4800491"/>
                  <a:pt x="-19124" y="4179310"/>
                  <a:pt x="81252" y="3637487"/>
                </a:cubicBezTo>
                <a:cubicBezTo>
                  <a:pt x="141477" y="3216069"/>
                  <a:pt x="181628" y="2815632"/>
                  <a:pt x="201703" y="2273809"/>
                </a:cubicBezTo>
                <a:cubicBezTo>
                  <a:pt x="141477" y="2273809"/>
                  <a:pt x="141477" y="2273809"/>
                  <a:pt x="81252" y="2273809"/>
                </a:cubicBezTo>
                <a:cubicBezTo>
                  <a:pt x="201703" y="2273809"/>
                  <a:pt x="81252" y="2012931"/>
                  <a:pt x="141477" y="1872458"/>
                </a:cubicBezTo>
                <a:cubicBezTo>
                  <a:pt x="201703" y="1872458"/>
                  <a:pt x="201703" y="1872458"/>
                  <a:pt x="261928" y="1872458"/>
                </a:cubicBezTo>
                <a:cubicBezTo>
                  <a:pt x="302079" y="1872458"/>
                  <a:pt x="321242" y="1752053"/>
                  <a:pt x="321242" y="1611581"/>
                </a:cubicBezTo>
                <a:cubicBezTo>
                  <a:pt x="382380" y="1611581"/>
                  <a:pt x="382380" y="1611581"/>
                  <a:pt x="422530" y="1611581"/>
                </a:cubicBezTo>
                <a:cubicBezTo>
                  <a:pt x="382380" y="1351615"/>
                  <a:pt x="502831" y="1090738"/>
                  <a:pt x="401542" y="809793"/>
                </a:cubicBezTo>
                <a:cubicBezTo>
                  <a:pt x="462680" y="829860"/>
                  <a:pt x="462680" y="829860"/>
                  <a:pt x="522906" y="829860"/>
                </a:cubicBezTo>
                <a:cubicBezTo>
                  <a:pt x="462680" y="689388"/>
                  <a:pt x="603207" y="428510"/>
                  <a:pt x="502831" y="288950"/>
                </a:cubicBezTo>
                <a:cubicBezTo>
                  <a:pt x="542069" y="288950"/>
                  <a:pt x="542069" y="288950"/>
                  <a:pt x="603207" y="288950"/>
                </a:cubicBezTo>
                <a:cubicBezTo>
                  <a:pt x="542069" y="288950"/>
                  <a:pt x="502831" y="288950"/>
                  <a:pt x="502831" y="148477"/>
                </a:cubicBezTo>
                <a:cubicBezTo>
                  <a:pt x="507850" y="98080"/>
                  <a:pt x="511614" y="52814"/>
                  <a:pt x="514123" y="120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349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28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540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laceholder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2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235D82F-C9FE-441D-B0D7-96D6DBA4C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9511E-D247-423D-8D4E-A90E84123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E86649-BBBC-4DAF-842B-50D9E277E7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7B890-F2DA-489F-A2DE-138FC2F80629}" type="datetimeFigureOut">
              <a:rPr lang="zh-CN" altLang="en-US" smtClean="0"/>
              <a:t>2022-5-14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C6A20C-4458-4E9C-A60F-56E783C20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66CC-419C-4153-A3C4-51A375138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943E4-861D-4F87-9524-6422432F0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343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7" Type="http://schemas.openxmlformats.org/officeDocument/2006/relationships/image" Target="../media/image5.png"/><Relationship Id="rId2" Type="http://schemas.microsoft.com/office/2007/relationships/media" Target="../media/media1.m4a"/><Relationship Id="rId1" Type="http://schemas.openxmlformats.org/officeDocument/2006/relationships/tags" Target="../tags/tag1.xml"/><Relationship Id="rId6" Type="http://schemas.openxmlformats.org/officeDocument/2006/relationships/image" Target="../media/image4.jp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audio" Target="../media/media2.m4a"/><Relationship Id="rId7" Type="http://schemas.openxmlformats.org/officeDocument/2006/relationships/hyperlink" Target="https://github.com/echisan/springboot-jwt-demo" TargetMode="External"/><Relationship Id="rId2" Type="http://schemas.microsoft.com/office/2007/relationships/media" Target="../media/media2.m4a"/><Relationship Id="rId1" Type="http://schemas.openxmlformats.org/officeDocument/2006/relationships/tags" Target="../tags/tag2.xml"/><Relationship Id="rId6" Type="http://schemas.openxmlformats.org/officeDocument/2006/relationships/image" Target="../media/image4.jp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7" Type="http://schemas.openxmlformats.org/officeDocument/2006/relationships/image" Target="../media/image5.png"/><Relationship Id="rId2" Type="http://schemas.microsoft.com/office/2007/relationships/media" Target="../media/media3.m4a"/><Relationship Id="rId1" Type="http://schemas.openxmlformats.org/officeDocument/2006/relationships/tags" Target="../tags/tag3.xml"/><Relationship Id="rId6" Type="http://schemas.openxmlformats.org/officeDocument/2006/relationships/image" Target="../media/image6.jp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7" Type="http://schemas.openxmlformats.org/officeDocument/2006/relationships/image" Target="../media/image5.png"/><Relationship Id="rId2" Type="http://schemas.microsoft.com/office/2007/relationships/media" Target="../media/media4.m4a"/><Relationship Id="rId1" Type="http://schemas.openxmlformats.org/officeDocument/2006/relationships/tags" Target="../tags/tag4.xml"/><Relationship Id="rId6" Type="http://schemas.openxmlformats.org/officeDocument/2006/relationships/image" Target="../media/image6.jp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0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3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9.png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3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5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5.png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31.png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5.png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5.png"/><Relationship Id="rId5" Type="http://schemas.openxmlformats.org/officeDocument/2006/relationships/image" Target="../media/image34.png"/><Relationship Id="rId4" Type="http://schemas.openxmlformats.org/officeDocument/2006/relationships/notesSlide" Target="../notesSlides/notesSlide1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36.png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35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5.xml"/><Relationship Id="rId9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5.png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notesSlide" Target="../notesSlides/notesSlide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5.png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notesSlide" Target="../notesSlides/notesSlide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83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573" r="17573"/>
          <a:stretch>
            <a:fillRect/>
          </a:stretch>
        </p:blipFill>
        <p:spPr/>
      </p:pic>
      <p:sp>
        <p:nvSpPr>
          <p:cNvPr id="10" name="Rectangle 9"/>
          <p:cNvSpPr/>
          <p:nvPr/>
        </p:nvSpPr>
        <p:spPr>
          <a:xfrm>
            <a:off x="1588" y="0"/>
            <a:ext cx="1218882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B8BBC1">
                  <a:alpha val="87000"/>
                  <a:lumMod val="4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Montserrat Light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31958" y="2214314"/>
            <a:ext cx="6962274" cy="226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750" spc="300" dirty="0">
                <a:solidFill>
                  <a:schemeClr val="bg1"/>
                </a:solidFill>
                <a:latin typeface="Oswald" charset="0"/>
                <a:ea typeface="Oswald" charset="0"/>
                <a:cs typeface="Oswald" charset="0"/>
              </a:rPr>
              <a:t>JWT Demo </a:t>
            </a:r>
            <a:r>
              <a:rPr lang="zh-CN" altLang="en-US" sz="5750" spc="300" dirty="0">
                <a:solidFill>
                  <a:schemeClr val="bg1"/>
                </a:solidFill>
                <a:latin typeface="Oswald" charset="0"/>
                <a:ea typeface="Oswald" charset="0"/>
                <a:cs typeface="Oswald" charset="0"/>
              </a:rPr>
              <a:t>测试汇报</a:t>
            </a:r>
            <a:endParaRPr lang="en-US" altLang="zh-CN" sz="5750" spc="300" dirty="0">
              <a:solidFill>
                <a:schemeClr val="bg1"/>
              </a:solidFill>
              <a:latin typeface="Oswald" charset="0"/>
              <a:ea typeface="Oswald" charset="0"/>
              <a:cs typeface="Oswald" charset="0"/>
            </a:endParaRPr>
          </a:p>
          <a:p>
            <a:pPr algn="ctr"/>
            <a:endParaRPr lang="en-US" altLang="zh-CN" sz="2800" spc="300" dirty="0">
              <a:solidFill>
                <a:schemeClr val="bg1"/>
              </a:solidFill>
              <a:latin typeface="Oswald" charset="0"/>
              <a:ea typeface="Oswald" charset="0"/>
              <a:cs typeface="Oswald" charset="0"/>
            </a:endParaRPr>
          </a:p>
          <a:p>
            <a:pPr algn="ctr"/>
            <a:r>
              <a:rPr lang="zh-CN" altLang="en-US" sz="2800" spc="300">
                <a:solidFill>
                  <a:schemeClr val="bg1"/>
                </a:solidFill>
                <a:latin typeface="Oswald" charset="0"/>
                <a:ea typeface="Oswald" charset="0"/>
                <a:cs typeface="Oswald" charset="0"/>
              </a:rPr>
              <a:t>第</a:t>
            </a:r>
            <a:r>
              <a:rPr lang="en-US" altLang="zh-CN" sz="2800" spc="300">
                <a:solidFill>
                  <a:schemeClr val="bg1"/>
                </a:solidFill>
                <a:latin typeface="Oswald" charset="0"/>
                <a:ea typeface="Oswald" charset="0"/>
                <a:cs typeface="Oswald" charset="0"/>
              </a:rPr>
              <a:t>25</a:t>
            </a:r>
            <a:r>
              <a:rPr lang="zh-CN" altLang="en-US" sz="2800" spc="300">
                <a:solidFill>
                  <a:schemeClr val="bg1"/>
                </a:solidFill>
                <a:latin typeface="Oswald" charset="0"/>
                <a:ea typeface="Oswald" charset="0"/>
                <a:cs typeface="Oswald" charset="0"/>
              </a:rPr>
              <a:t>组 </a:t>
            </a:r>
            <a:r>
              <a:rPr lang="zh-CN" altLang="en-US" sz="2800" spc="300" dirty="0">
                <a:solidFill>
                  <a:schemeClr val="bg1"/>
                </a:solidFill>
                <a:latin typeface="Oswald" charset="0"/>
                <a:ea typeface="Oswald" charset="0"/>
                <a:cs typeface="Oswald" charset="0"/>
              </a:rPr>
              <a:t>曹志伟 孙鲁喆 苏畅</a:t>
            </a:r>
            <a:endParaRPr lang="en-US" altLang="zh-CN" sz="2800" spc="300" dirty="0">
              <a:solidFill>
                <a:schemeClr val="bg1"/>
              </a:solidFill>
              <a:latin typeface="Oswald" charset="0"/>
              <a:ea typeface="Oswald" charset="0"/>
              <a:cs typeface="Oswald" charset="0"/>
            </a:endParaRPr>
          </a:p>
          <a:p>
            <a:pPr algn="ctr"/>
            <a:r>
              <a:rPr lang="en-US" altLang="zh-CN" sz="2800" spc="300" dirty="0">
                <a:solidFill>
                  <a:schemeClr val="bg1"/>
                </a:solidFill>
                <a:latin typeface="Oswald" charset="0"/>
                <a:ea typeface="Oswald" charset="0"/>
                <a:cs typeface="Oswald" charset="0"/>
              </a:rPr>
              <a:t>2020-05-29</a:t>
            </a:r>
            <a:endParaRPr lang="en-US" sz="2800" spc="300" dirty="0">
              <a:solidFill>
                <a:schemeClr val="bg1"/>
              </a:solidFill>
              <a:latin typeface="Oswald" charset="0"/>
              <a:ea typeface="Oswald" charset="0"/>
              <a:cs typeface="Oswa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048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39488" y="1483440"/>
            <a:ext cx="53618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CONTENT</a:t>
            </a:r>
          </a:p>
          <a:p>
            <a:pPr algn="ctr"/>
            <a:endParaRPr lang="en-US" sz="48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  <a:p>
            <a:pPr marL="457200" indent="-457200" algn="ctr">
              <a:buFont typeface="Wingdings" panose="05000000000000000000" pitchFamily="2" charset="2"/>
              <a:buChar char="ü"/>
            </a:pPr>
            <a:r>
              <a:rPr lang="zh-CN" altLang="en-US" sz="3200" spc="300" dirty="0">
                <a:solidFill>
                  <a:schemeClr val="tx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Montserrat" charset="0"/>
              </a:rPr>
              <a:t>系统简介</a:t>
            </a:r>
            <a:endParaRPr lang="en-US" altLang="zh-CN" sz="3200" spc="3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Montserrat" charset="0"/>
            </a:endParaRPr>
          </a:p>
          <a:p>
            <a:pPr marL="457200" indent="-457200" algn="ctr">
              <a:buFont typeface="Wingdings" panose="05000000000000000000" pitchFamily="2" charset="2"/>
              <a:buChar char="ü"/>
            </a:pPr>
            <a:r>
              <a:rPr lang="zh-CN" altLang="en-US" sz="3200" spc="300" dirty="0">
                <a:solidFill>
                  <a:schemeClr val="tx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Montserrat" charset="0"/>
              </a:rPr>
              <a:t>单元测试</a:t>
            </a:r>
            <a:endParaRPr lang="en-US" altLang="zh-CN" sz="3200" spc="3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Montserrat" charset="0"/>
            </a:endParaRPr>
          </a:p>
          <a:p>
            <a:pPr marL="457200" indent="-457200" algn="ctr">
              <a:buFont typeface="Wingdings" panose="05000000000000000000" pitchFamily="2" charset="2"/>
              <a:buChar char="ü"/>
            </a:pPr>
            <a:r>
              <a:rPr lang="zh-CN" altLang="en-US" sz="3200" spc="300" dirty="0">
                <a:solidFill>
                  <a:schemeClr val="tx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Montserrat" charset="0"/>
              </a:rPr>
              <a:t>功能测试</a:t>
            </a:r>
            <a:endParaRPr lang="en-US" altLang="zh-CN" sz="3200" spc="3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Montserrat" charset="0"/>
            </a:endParaRPr>
          </a:p>
          <a:p>
            <a:pPr marL="457200" indent="-457200" algn="ctr">
              <a:buFont typeface="Wingdings" panose="05000000000000000000" pitchFamily="2" charset="2"/>
              <a:buChar char="ü"/>
            </a:pPr>
            <a:r>
              <a:rPr lang="zh-CN" altLang="en-US" sz="3200" spc="300" dirty="0">
                <a:solidFill>
                  <a:schemeClr val="tx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Montserrat" charset="0"/>
              </a:rPr>
              <a:t>性能测试</a:t>
            </a:r>
            <a:endParaRPr lang="en-US" sz="3200" spc="3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Montserrat" charset="0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378" r="2037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4427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2852102" y="682996"/>
            <a:ext cx="64877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swald" charset="0"/>
                <a:ea typeface="Oswald" charset="0"/>
                <a:cs typeface="Oswald" charset="0"/>
              </a:rPr>
              <a:t>任务分工</a:t>
            </a:r>
            <a:endParaRPr lang="en-US" sz="6600" spc="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swald" charset="0"/>
              <a:ea typeface="Oswald" charset="0"/>
              <a:cs typeface="Oswald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00CD059-5CBF-477F-A141-0CBBF290B7CF}"/>
              </a:ext>
            </a:extLst>
          </p:cNvPr>
          <p:cNvGrpSpPr/>
          <p:nvPr/>
        </p:nvGrpSpPr>
        <p:grpSpPr>
          <a:xfrm>
            <a:off x="2273904" y="2789007"/>
            <a:ext cx="10100634" cy="1559487"/>
            <a:chOff x="637704" y="2865150"/>
            <a:chExt cx="11289912" cy="1933197"/>
          </a:xfrm>
        </p:grpSpPr>
        <p:cxnSp>
          <p:nvCxnSpPr>
            <p:cNvPr id="3" name="Straight Connector 2"/>
            <p:cNvCxnSpPr/>
            <p:nvPr/>
          </p:nvCxnSpPr>
          <p:spPr>
            <a:xfrm>
              <a:off x="637704" y="3878993"/>
              <a:ext cx="98184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riangle 6"/>
            <p:cNvSpPr/>
            <p:nvPr/>
          </p:nvSpPr>
          <p:spPr>
            <a:xfrm rot="10800000">
              <a:off x="3148070" y="3710550"/>
              <a:ext cx="168443" cy="168443"/>
            </a:xfrm>
            <a:prstGeom prst="triangle">
              <a:avLst/>
            </a:prstGeom>
            <a:solidFill>
              <a:srgbClr val="00000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23" name="Triangle 22"/>
            <p:cNvSpPr/>
            <p:nvPr/>
          </p:nvSpPr>
          <p:spPr>
            <a:xfrm>
              <a:off x="6787443" y="3870971"/>
              <a:ext cx="168443" cy="168443"/>
            </a:xfrm>
            <a:prstGeom prst="triangle">
              <a:avLst/>
            </a:prstGeom>
            <a:solidFill>
              <a:srgbClr val="00000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238586" y="4280248"/>
              <a:ext cx="1987407" cy="4847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050"/>
                </a:lnSpc>
              </a:pPr>
              <a:r>
                <a:rPr lang="zh-CN" altLang="en-US" sz="3200" spc="150" dirty="0">
                  <a:latin typeface="Lato Light" charset="0"/>
                  <a:ea typeface="Lato Light" charset="0"/>
                  <a:cs typeface="Lato Light" charset="0"/>
                </a:rPr>
                <a:t>曹志伟</a:t>
              </a:r>
              <a:endParaRPr lang="en-US" sz="3200" spc="150" dirty="0">
                <a:latin typeface="Lato Light" charset="0"/>
                <a:ea typeface="Lato Light" charset="0"/>
                <a:cs typeface="Lato Light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760847" y="2865150"/>
              <a:ext cx="2942887" cy="724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spc="300" dirty="0">
                  <a:solidFill>
                    <a:schemeClr val="tx2"/>
                  </a:solidFill>
                  <a:latin typeface="Oswald" charset="0"/>
                  <a:ea typeface="Oswald" charset="0"/>
                  <a:cs typeface="Oswald" charset="0"/>
                </a:rPr>
                <a:t>单元测试</a:t>
              </a:r>
              <a:endParaRPr lang="en-US" sz="3200" spc="300" dirty="0">
                <a:solidFill>
                  <a:schemeClr val="tx2"/>
                </a:solidFill>
                <a:latin typeface="Oswald" charset="0"/>
                <a:ea typeface="Oswald" charset="0"/>
                <a:cs typeface="Oswald" charset="0"/>
              </a:endParaRPr>
            </a:p>
          </p:txBody>
        </p:sp>
        <p:sp>
          <p:nvSpPr>
            <p:cNvPr id="33" name="Triangle 32"/>
            <p:cNvSpPr/>
            <p:nvPr/>
          </p:nvSpPr>
          <p:spPr>
            <a:xfrm rot="10800000">
              <a:off x="10426815" y="3710550"/>
              <a:ext cx="168443" cy="168443"/>
            </a:xfrm>
            <a:prstGeom prst="triangle">
              <a:avLst/>
            </a:prstGeom>
            <a:solidFill>
              <a:srgbClr val="00000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25" name="TextBox 44">
              <a:extLst>
                <a:ext uri="{FF2B5EF4-FFF2-40B4-BE49-F238E27FC236}">
                  <a16:creationId xmlns:a16="http://schemas.microsoft.com/office/drawing/2014/main" id="{087D956B-044A-41F6-A894-A274DC6A03C5}"/>
                </a:ext>
              </a:extLst>
            </p:cNvPr>
            <p:cNvSpPr txBox="1"/>
            <p:nvPr/>
          </p:nvSpPr>
          <p:spPr>
            <a:xfrm>
              <a:off x="9462468" y="4280248"/>
              <a:ext cx="1987407" cy="4847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050"/>
                </a:lnSpc>
              </a:pPr>
              <a:r>
                <a:rPr lang="zh-CN" altLang="en-US" sz="3200" spc="150" dirty="0">
                  <a:latin typeface="Lato Light" charset="0"/>
                  <a:ea typeface="Lato Light" charset="0"/>
                  <a:cs typeface="Lato Light" charset="0"/>
                </a:rPr>
                <a:t>苏 畅</a:t>
              </a:r>
              <a:endParaRPr lang="en-US" sz="3200" spc="150" dirty="0">
                <a:latin typeface="Lato Light" charset="0"/>
                <a:ea typeface="Lato Light" charset="0"/>
                <a:cs typeface="Lato Light" charset="0"/>
              </a:endParaRPr>
            </a:p>
          </p:txBody>
        </p:sp>
        <p:sp>
          <p:nvSpPr>
            <p:cNvPr id="26" name="TextBox 20">
              <a:extLst>
                <a:ext uri="{FF2B5EF4-FFF2-40B4-BE49-F238E27FC236}">
                  <a16:creationId xmlns:a16="http://schemas.microsoft.com/office/drawing/2014/main" id="{57F933CE-1FBA-429A-BED1-3FFA47EA7414}"/>
                </a:ext>
              </a:extLst>
            </p:cNvPr>
            <p:cNvSpPr txBox="1"/>
            <p:nvPr/>
          </p:nvSpPr>
          <p:spPr>
            <a:xfrm>
              <a:off x="8984729" y="2865150"/>
              <a:ext cx="2942887" cy="724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spc="300" dirty="0">
                  <a:solidFill>
                    <a:schemeClr val="tx2"/>
                  </a:solidFill>
                  <a:latin typeface="Oswald" charset="0"/>
                  <a:ea typeface="Oswald" charset="0"/>
                  <a:cs typeface="Oswald" charset="0"/>
                </a:rPr>
                <a:t>性能测试</a:t>
              </a:r>
              <a:endParaRPr lang="en-US" sz="3200" spc="300" dirty="0">
                <a:solidFill>
                  <a:schemeClr val="tx2"/>
                </a:solidFill>
                <a:latin typeface="Oswald" charset="0"/>
                <a:ea typeface="Oswald" charset="0"/>
                <a:cs typeface="Oswald" charset="0"/>
              </a:endParaRPr>
            </a:p>
          </p:txBody>
        </p:sp>
        <p:sp>
          <p:nvSpPr>
            <p:cNvPr id="27" name="TextBox 44">
              <a:extLst>
                <a:ext uri="{FF2B5EF4-FFF2-40B4-BE49-F238E27FC236}">
                  <a16:creationId xmlns:a16="http://schemas.microsoft.com/office/drawing/2014/main" id="{2887D5F9-437E-416D-AE00-4B319EDFB48F}"/>
                </a:ext>
              </a:extLst>
            </p:cNvPr>
            <p:cNvSpPr txBox="1"/>
            <p:nvPr/>
          </p:nvSpPr>
          <p:spPr>
            <a:xfrm>
              <a:off x="5877960" y="3171908"/>
              <a:ext cx="1987407" cy="4847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050"/>
                </a:lnSpc>
              </a:pPr>
              <a:r>
                <a:rPr lang="zh-CN" altLang="en-US" sz="3200" spc="150" dirty="0">
                  <a:latin typeface="Lato Light" charset="0"/>
                  <a:ea typeface="Lato Light" charset="0"/>
                  <a:cs typeface="Lato Light" charset="0"/>
                </a:rPr>
                <a:t>孙鲁喆</a:t>
              </a:r>
              <a:endParaRPr lang="en-US" sz="3200" spc="150" dirty="0">
                <a:latin typeface="Lato Light" charset="0"/>
                <a:ea typeface="Lato Light" charset="0"/>
                <a:cs typeface="Lato Light" charset="0"/>
              </a:endParaRPr>
            </a:p>
          </p:txBody>
        </p:sp>
        <p:sp>
          <p:nvSpPr>
            <p:cNvPr id="28" name="TextBox 20">
              <a:extLst>
                <a:ext uri="{FF2B5EF4-FFF2-40B4-BE49-F238E27FC236}">
                  <a16:creationId xmlns:a16="http://schemas.microsoft.com/office/drawing/2014/main" id="{32D616C0-FD4D-4280-A49D-36B3DAA82EB7}"/>
                </a:ext>
              </a:extLst>
            </p:cNvPr>
            <p:cNvSpPr txBox="1"/>
            <p:nvPr/>
          </p:nvSpPr>
          <p:spPr>
            <a:xfrm>
              <a:off x="5372787" y="4073439"/>
              <a:ext cx="2942887" cy="724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spc="300" dirty="0">
                  <a:solidFill>
                    <a:schemeClr val="tx2"/>
                  </a:solidFill>
                  <a:latin typeface="Oswald" charset="0"/>
                  <a:ea typeface="Oswald" charset="0"/>
                  <a:cs typeface="Oswald" charset="0"/>
                </a:rPr>
                <a:t>功能测试</a:t>
              </a:r>
              <a:endParaRPr lang="en-US" sz="3200" spc="300" dirty="0">
                <a:solidFill>
                  <a:schemeClr val="tx2"/>
                </a:solidFill>
                <a:latin typeface="Oswald" charset="0"/>
                <a:ea typeface="Oswald" charset="0"/>
                <a:cs typeface="Oswald" charset="0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12E98FFD-7EEE-4C3E-9C8B-C3AC98967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86457" y="859065"/>
            <a:ext cx="5322076" cy="549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32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28">
            <a:extLst>
              <a:ext uri="{FF2B5EF4-FFF2-40B4-BE49-F238E27FC236}">
                <a16:creationId xmlns:a16="http://schemas.microsoft.com/office/drawing/2014/main" id="{B0B52D7C-08FF-4BBB-B6B4-B5B7DEE2F8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" r="13"/>
          <a:stretch>
            <a:fillRect/>
          </a:stretch>
        </p:blipFill>
        <p:spPr>
          <a:xfrm>
            <a:off x="0" y="-1"/>
            <a:ext cx="12188825" cy="6858000"/>
          </a:xfrm>
          <a:prstGeom prst="rect">
            <a:avLst/>
          </a:prstGeom>
        </p:spPr>
      </p:pic>
      <p:sp>
        <p:nvSpPr>
          <p:cNvPr id="6" name="PA_形状 26">
            <a:extLst>
              <a:ext uri="{FF2B5EF4-FFF2-40B4-BE49-F238E27FC236}">
                <a16:creationId xmlns:a16="http://schemas.microsoft.com/office/drawing/2014/main" id="{8E855FD2-B93A-4D4C-A67B-E233F92A7E2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174" y="-1"/>
            <a:ext cx="12188826" cy="6858000"/>
          </a:xfrm>
          <a:prstGeom prst="rect">
            <a:avLst/>
          </a:prstGeom>
          <a:solidFill>
            <a:schemeClr val="lt1">
              <a:alpha val="57000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4800" b="0" i="0" u="none" strike="noStrike" cap="none">
              <a:solidFill>
                <a:schemeClr val="lt1"/>
              </a:solidFill>
              <a:latin typeface="Montserrat" panose="02000505000000020004"/>
              <a:ea typeface="Montserrat" panose="02000505000000020004"/>
              <a:cs typeface="Montserrat" panose="02000505000000020004"/>
              <a:sym typeface="Montserrat" panose="02000505000000020004"/>
            </a:endParaRPr>
          </a:p>
        </p:txBody>
      </p:sp>
      <p:pic>
        <p:nvPicPr>
          <p:cNvPr id="2" name="音频 1">
            <a:hlinkClick r:id="" action="ppaction://media"/>
            <a:extLst>
              <a:ext uri="{FF2B5EF4-FFF2-40B4-BE49-F238E27FC236}">
                <a16:creationId xmlns:a16="http://schemas.microsoft.com/office/drawing/2014/main" id="{F8BD8F09-3EAD-4447-8B9A-E0F208A7BDC2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C1958ADB-9149-40D7-91A7-0449A3FC434A}"/>
              </a:ext>
            </a:extLst>
          </p:cNvPr>
          <p:cNvSpPr/>
          <p:nvPr/>
        </p:nvSpPr>
        <p:spPr>
          <a:xfrm rot="16200000">
            <a:off x="4117428" y="1450428"/>
            <a:ext cx="3957145" cy="3957145"/>
          </a:xfrm>
          <a:prstGeom prst="rect">
            <a:avLst/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629F87B3-1B6F-46EB-9158-99647EA81F8B}"/>
              </a:ext>
            </a:extLst>
          </p:cNvPr>
          <p:cNvSpPr txBox="1"/>
          <p:nvPr/>
        </p:nvSpPr>
        <p:spPr>
          <a:xfrm>
            <a:off x="4392440" y="2497976"/>
            <a:ext cx="340712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750" spc="300" dirty="0">
                <a:latin typeface="Oswald" charset="0"/>
                <a:ea typeface="Oswald" charset="0"/>
                <a:cs typeface="Oswald" charset="0"/>
              </a:rPr>
              <a:t>PART 1</a:t>
            </a:r>
          </a:p>
          <a:p>
            <a:pPr algn="ctr"/>
            <a:r>
              <a:rPr lang="zh-CN" altLang="en-US" sz="5750" spc="300" dirty="0">
                <a:latin typeface="Oswald" charset="0"/>
                <a:ea typeface="Oswald" charset="0"/>
                <a:cs typeface="Oswald" charset="0"/>
              </a:rPr>
              <a:t>系统简介</a:t>
            </a:r>
            <a:endParaRPr lang="en-US" sz="5750" spc="300" dirty="0">
              <a:latin typeface="Oswald" charset="0"/>
              <a:ea typeface="Oswald" charset="0"/>
              <a:cs typeface="Oswa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965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740"/>
    </mc:Choice>
    <mc:Fallback xmlns="">
      <p:transition advClick="0" advTm="37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28">
            <a:extLst>
              <a:ext uri="{FF2B5EF4-FFF2-40B4-BE49-F238E27FC236}">
                <a16:creationId xmlns:a16="http://schemas.microsoft.com/office/drawing/2014/main" id="{47F08E0B-6B80-4890-8F43-7ED954E910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" r="13"/>
          <a:stretch>
            <a:fillRect/>
          </a:stretch>
        </p:blipFill>
        <p:spPr>
          <a:xfrm>
            <a:off x="0" y="-1"/>
            <a:ext cx="12188825" cy="6858000"/>
          </a:xfrm>
          <a:prstGeom prst="rect">
            <a:avLst/>
          </a:prstGeom>
        </p:spPr>
      </p:pic>
      <p:sp>
        <p:nvSpPr>
          <p:cNvPr id="63" name="Rectangle 20">
            <a:extLst>
              <a:ext uri="{FF2B5EF4-FFF2-40B4-BE49-F238E27FC236}">
                <a16:creationId xmlns:a16="http://schemas.microsoft.com/office/drawing/2014/main" id="{EE14D62C-8036-49BA-ADBE-72A1B779404F}"/>
              </a:ext>
            </a:extLst>
          </p:cNvPr>
          <p:cNvSpPr/>
          <p:nvPr/>
        </p:nvSpPr>
        <p:spPr>
          <a:xfrm>
            <a:off x="4030824" y="2134"/>
            <a:ext cx="817972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47361C-A6AA-49D1-AE0B-8D80217AEDBD}"/>
              </a:ext>
            </a:extLst>
          </p:cNvPr>
          <p:cNvSpPr txBox="1"/>
          <p:nvPr/>
        </p:nvSpPr>
        <p:spPr>
          <a:xfrm>
            <a:off x="4489803" y="1758806"/>
            <a:ext cx="731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使用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Spring Boot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+ Spring Security + Jwt 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技术实现的基于 </a:t>
            </a:r>
            <a:r>
              <a:rPr lang="en-US" altLang="zh-CN" sz="2000" b="1" u="sng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Token </a:t>
            </a:r>
            <a:r>
              <a:rPr lang="zh-CN" altLang="en-US" sz="2000" b="1" u="sng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的权限管理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Demo</a:t>
            </a:r>
            <a:endParaRPr lang="zh-CN" altLang="en-US" sz="2000" b="1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5" name="Rectangle 43">
            <a:extLst>
              <a:ext uri="{FF2B5EF4-FFF2-40B4-BE49-F238E27FC236}">
                <a16:creationId xmlns:a16="http://schemas.microsoft.com/office/drawing/2014/main" id="{F9AF928B-755E-4592-947E-2934D809D2E6}"/>
              </a:ext>
            </a:extLst>
          </p:cNvPr>
          <p:cNvSpPr>
            <a:spLocks/>
          </p:cNvSpPr>
          <p:nvPr/>
        </p:nvSpPr>
        <p:spPr bwMode="auto">
          <a:xfrm>
            <a:off x="4478316" y="636015"/>
            <a:ext cx="1579984" cy="44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en-US" altLang="zh-CN" sz="2700" b="1" spc="250">
                <a:latin typeface="Poppins" charset="0"/>
                <a:ea typeface="Poppins" charset="0"/>
                <a:cs typeface="Poppins" charset="0"/>
                <a:sym typeface="Bebas Neue" charset="0"/>
              </a:rPr>
              <a:t>JwtDemo</a:t>
            </a:r>
            <a:endParaRPr lang="en-US" altLang="zh-CN" sz="2700" b="1" spc="250" dirty="0"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F04F355-DF60-423C-BA0F-2CAE58F434A6}"/>
              </a:ext>
            </a:extLst>
          </p:cNvPr>
          <p:cNvGrpSpPr/>
          <p:nvPr/>
        </p:nvGrpSpPr>
        <p:grpSpPr>
          <a:xfrm>
            <a:off x="5222628" y="2912879"/>
            <a:ext cx="1826974" cy="646331"/>
            <a:chOff x="5268308" y="3162361"/>
            <a:chExt cx="1788180" cy="646330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D93B7237-F430-4CB9-BF0B-677E536F2761}"/>
                </a:ext>
              </a:extLst>
            </p:cNvPr>
            <p:cNvSpPr/>
            <p:nvPr/>
          </p:nvSpPr>
          <p:spPr>
            <a:xfrm>
              <a:off x="5268308" y="3162361"/>
              <a:ext cx="1788180" cy="646330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50800" dir="5400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2D6A77E2-F80C-4AD1-B3B3-B2D6C8394260}"/>
                </a:ext>
              </a:extLst>
            </p:cNvPr>
            <p:cNvSpPr txBox="1"/>
            <p:nvPr/>
          </p:nvSpPr>
          <p:spPr>
            <a:xfrm>
              <a:off x="5547426" y="3328562"/>
              <a:ext cx="12299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spc="250">
                  <a:latin typeface="Poppins" charset="0"/>
                </a:rPr>
                <a:t>用户注册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B18EAD09-D99E-4EEE-AC4F-6CD3DCA44786}"/>
              </a:ext>
            </a:extLst>
          </p:cNvPr>
          <p:cNvGrpSpPr/>
          <p:nvPr/>
        </p:nvGrpSpPr>
        <p:grpSpPr>
          <a:xfrm>
            <a:off x="7730173" y="2912879"/>
            <a:ext cx="1826974" cy="646331"/>
            <a:chOff x="5268308" y="3162361"/>
            <a:chExt cx="1788180" cy="646330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013C70F6-D94F-4CF7-9D81-A017D86A8C2B}"/>
                </a:ext>
              </a:extLst>
            </p:cNvPr>
            <p:cNvSpPr/>
            <p:nvPr/>
          </p:nvSpPr>
          <p:spPr>
            <a:xfrm>
              <a:off x="5268308" y="3162361"/>
              <a:ext cx="1788180" cy="646330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50800" dir="5400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45A5121D-94B1-482E-B7D6-E2166DD29C2E}"/>
                </a:ext>
              </a:extLst>
            </p:cNvPr>
            <p:cNvSpPr txBox="1"/>
            <p:nvPr/>
          </p:nvSpPr>
          <p:spPr>
            <a:xfrm>
              <a:off x="5547426" y="3328562"/>
              <a:ext cx="12299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spc="250">
                  <a:latin typeface="Poppins" charset="0"/>
                </a:rPr>
                <a:t>用户登录</a:t>
              </a: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BAB36E1C-DFC0-46AD-9918-E361EFF2690E}"/>
              </a:ext>
            </a:extLst>
          </p:cNvPr>
          <p:cNvGrpSpPr/>
          <p:nvPr/>
        </p:nvGrpSpPr>
        <p:grpSpPr>
          <a:xfrm>
            <a:off x="5222628" y="4038169"/>
            <a:ext cx="1826974" cy="646331"/>
            <a:chOff x="5268308" y="3162361"/>
            <a:chExt cx="1788180" cy="646330"/>
          </a:xfrm>
        </p:grpSpPr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64DD6412-340A-4AE4-A143-03018227E4AF}"/>
                </a:ext>
              </a:extLst>
            </p:cNvPr>
            <p:cNvSpPr/>
            <p:nvPr/>
          </p:nvSpPr>
          <p:spPr>
            <a:xfrm>
              <a:off x="5268308" y="3162361"/>
              <a:ext cx="1788180" cy="646330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50800" dir="5400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B5A9FDF-AB1E-4AC5-A2F9-77040027D145}"/>
                </a:ext>
              </a:extLst>
            </p:cNvPr>
            <p:cNvSpPr txBox="1"/>
            <p:nvPr/>
          </p:nvSpPr>
          <p:spPr>
            <a:xfrm>
              <a:off x="5547426" y="3328562"/>
              <a:ext cx="12299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spc="250">
                  <a:latin typeface="Poppins" charset="0"/>
                </a:rPr>
                <a:t>获取任务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4B4B634-9A2A-453E-AA97-2846C3EA527C}"/>
              </a:ext>
            </a:extLst>
          </p:cNvPr>
          <p:cNvGrpSpPr/>
          <p:nvPr/>
        </p:nvGrpSpPr>
        <p:grpSpPr>
          <a:xfrm>
            <a:off x="7730172" y="5158964"/>
            <a:ext cx="1826974" cy="646331"/>
            <a:chOff x="5268308" y="3162361"/>
            <a:chExt cx="1788180" cy="646330"/>
          </a:xfrm>
        </p:grpSpPr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0350B056-A698-4C1A-A350-07CC5DCE600F}"/>
                </a:ext>
              </a:extLst>
            </p:cNvPr>
            <p:cNvSpPr/>
            <p:nvPr/>
          </p:nvSpPr>
          <p:spPr>
            <a:xfrm>
              <a:off x="5268308" y="3162361"/>
              <a:ext cx="1788180" cy="646330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50800" dir="5400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58E8240A-0230-40FF-A7B6-77A45B4AC37B}"/>
                </a:ext>
              </a:extLst>
            </p:cNvPr>
            <p:cNvSpPr txBox="1"/>
            <p:nvPr/>
          </p:nvSpPr>
          <p:spPr>
            <a:xfrm>
              <a:off x="5547426" y="3328562"/>
              <a:ext cx="12299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spc="250">
                  <a:latin typeface="Poppins" charset="0"/>
                </a:rPr>
                <a:t>删除任务</a:t>
              </a: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D86CBA6-BA73-4BA6-B91E-82C294BCDB57}"/>
              </a:ext>
            </a:extLst>
          </p:cNvPr>
          <p:cNvGrpSpPr/>
          <p:nvPr/>
        </p:nvGrpSpPr>
        <p:grpSpPr>
          <a:xfrm>
            <a:off x="7730172" y="4038169"/>
            <a:ext cx="1826974" cy="646331"/>
            <a:chOff x="5268308" y="3162361"/>
            <a:chExt cx="1788180" cy="646330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66A5F1ED-2CD8-4181-8005-168BB6924883}"/>
                </a:ext>
              </a:extLst>
            </p:cNvPr>
            <p:cNvSpPr/>
            <p:nvPr/>
          </p:nvSpPr>
          <p:spPr>
            <a:xfrm>
              <a:off x="5268308" y="3162361"/>
              <a:ext cx="1788180" cy="646330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50800" dir="5400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B6C173E3-CBCC-4F45-B1F8-04614B216F19}"/>
                </a:ext>
              </a:extLst>
            </p:cNvPr>
            <p:cNvSpPr txBox="1"/>
            <p:nvPr/>
          </p:nvSpPr>
          <p:spPr>
            <a:xfrm>
              <a:off x="5547426" y="3328562"/>
              <a:ext cx="12299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spc="250">
                  <a:latin typeface="Poppins" charset="0"/>
                </a:rPr>
                <a:t>创建任务</a:t>
              </a:r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D450F709-A359-441A-89C9-B1D7E30DEFAF}"/>
              </a:ext>
            </a:extLst>
          </p:cNvPr>
          <p:cNvGrpSpPr/>
          <p:nvPr/>
        </p:nvGrpSpPr>
        <p:grpSpPr>
          <a:xfrm>
            <a:off x="5222628" y="5158964"/>
            <a:ext cx="1826974" cy="646331"/>
            <a:chOff x="5268308" y="3162361"/>
            <a:chExt cx="1788180" cy="646330"/>
          </a:xfrm>
        </p:grpSpPr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B1127387-4BBC-4FEA-AB11-F64C0AE6275B}"/>
                </a:ext>
              </a:extLst>
            </p:cNvPr>
            <p:cNvSpPr/>
            <p:nvPr/>
          </p:nvSpPr>
          <p:spPr>
            <a:xfrm>
              <a:off x="5268308" y="3162361"/>
              <a:ext cx="1788180" cy="646330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50800" dir="5400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34C4903B-9DF9-47C6-8F15-810CA390C07C}"/>
                </a:ext>
              </a:extLst>
            </p:cNvPr>
            <p:cNvSpPr txBox="1"/>
            <p:nvPr/>
          </p:nvSpPr>
          <p:spPr>
            <a:xfrm>
              <a:off x="5547426" y="3328562"/>
              <a:ext cx="12299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spc="250">
                  <a:latin typeface="Poppins" charset="0"/>
                </a:rPr>
                <a:t>更新任务</a:t>
              </a:r>
            </a:p>
          </p:txBody>
        </p:sp>
      </p:grpSp>
      <p:sp>
        <p:nvSpPr>
          <p:cNvPr id="6" name="左大括号 5">
            <a:extLst>
              <a:ext uri="{FF2B5EF4-FFF2-40B4-BE49-F238E27FC236}">
                <a16:creationId xmlns:a16="http://schemas.microsoft.com/office/drawing/2014/main" id="{FF9306D6-B59F-4B92-8B05-21C60BAB1144}"/>
              </a:ext>
            </a:extLst>
          </p:cNvPr>
          <p:cNvSpPr/>
          <p:nvPr/>
        </p:nvSpPr>
        <p:spPr>
          <a:xfrm rot="10800000">
            <a:off x="9827792" y="4038169"/>
            <a:ext cx="409924" cy="1767126"/>
          </a:xfrm>
          <a:prstGeom prst="leftBrac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9FE69B-FE40-4BFE-A411-F1440A2AC291}"/>
              </a:ext>
            </a:extLst>
          </p:cNvPr>
          <p:cNvSpPr txBox="1"/>
          <p:nvPr/>
        </p:nvSpPr>
        <p:spPr>
          <a:xfrm>
            <a:off x="10379787" y="4598566"/>
            <a:ext cx="1210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返回指定字符串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A5E7B4-863A-4BBF-AC1F-FFB66BB18776}"/>
              </a:ext>
            </a:extLst>
          </p:cNvPr>
          <p:cNvSpPr/>
          <p:nvPr/>
        </p:nvSpPr>
        <p:spPr>
          <a:xfrm>
            <a:off x="6133702" y="695804"/>
            <a:ext cx="5134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hlinkClick r:id="rId7"/>
              </a:rPr>
              <a:t>https://github.com/echisan/springboot-jwt-demo</a:t>
            </a:r>
            <a:endParaRPr lang="zh-CN" altLang="en-US"/>
          </a:p>
        </p:txBody>
      </p:sp>
      <p:sp>
        <p:nvSpPr>
          <p:cNvPr id="72" name="PA_形状 26">
            <a:extLst>
              <a:ext uri="{FF2B5EF4-FFF2-40B4-BE49-F238E27FC236}">
                <a16:creationId xmlns:a16="http://schemas.microsoft.com/office/drawing/2014/main" id="{3BAB1B44-F709-4F00-9BFB-C24C1CACEFA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998" y="2788"/>
            <a:ext cx="4027650" cy="6858000"/>
          </a:xfrm>
          <a:prstGeom prst="rect">
            <a:avLst/>
          </a:prstGeom>
          <a:solidFill>
            <a:schemeClr val="lt1">
              <a:alpha val="57000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4800" b="0" i="0" u="none" strike="noStrike" cap="none">
              <a:solidFill>
                <a:schemeClr val="lt1"/>
              </a:solidFill>
              <a:latin typeface="Montserrat" panose="02000505000000020004"/>
              <a:ea typeface="Montserrat" panose="02000505000000020004"/>
              <a:cs typeface="Montserrat" panose="02000505000000020004"/>
              <a:sym typeface="Montserrat" panose="02000505000000020004"/>
            </a:endParaRPr>
          </a:p>
        </p:txBody>
      </p:sp>
      <p:sp>
        <p:nvSpPr>
          <p:cNvPr id="44" name="Rectangle 43"/>
          <p:cNvSpPr>
            <a:spLocks/>
          </p:cNvSpPr>
          <p:nvPr/>
        </p:nvSpPr>
        <p:spPr bwMode="auto">
          <a:xfrm>
            <a:off x="960971" y="2744431"/>
            <a:ext cx="2179058" cy="44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en-US" altLang="zh-CN" sz="2700" b="1" spc="250">
                <a:latin typeface="Poppins" charset="0"/>
                <a:ea typeface="Poppins" charset="0"/>
                <a:cs typeface="Poppins" charset="0"/>
                <a:sym typeface="Bebas Neue" charset="0"/>
              </a:rPr>
              <a:t>Introduction</a:t>
            </a:r>
            <a:endParaRPr lang="en-US" altLang="zh-CN" sz="2700" b="1" spc="250" dirty="0"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>
            <a:off x="1103826" y="3328562"/>
            <a:ext cx="18626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音频 14">
            <a:hlinkClick r:id="" action="ppaction://media"/>
            <a:extLst>
              <a:ext uri="{FF2B5EF4-FFF2-40B4-BE49-F238E27FC236}">
                <a16:creationId xmlns:a16="http://schemas.microsoft.com/office/drawing/2014/main" id="{79A990B1-4BA0-405E-8271-9874392EF5BF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7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7998"/>
    </mc:Choice>
    <mc:Fallback xmlns="">
      <p:transition advTm="279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5">
            <a:extLst>
              <a:ext uri="{FF2B5EF4-FFF2-40B4-BE49-F238E27FC236}">
                <a16:creationId xmlns:a16="http://schemas.microsoft.com/office/drawing/2014/main" id="{C30E0F36-F34A-453D-9C07-E3EC437C713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349" t="28934" r="25362" b="28934"/>
          <a:stretch/>
        </p:blipFill>
        <p:spPr>
          <a:xfrm>
            <a:off x="0" y="-30181"/>
            <a:ext cx="12188826" cy="6918362"/>
          </a:xfrm>
          <a:prstGeom prst="rect">
            <a:avLst/>
          </a:prstGeom>
        </p:spPr>
      </p:pic>
      <p:sp>
        <p:nvSpPr>
          <p:cNvPr id="7" name="PA_形状 26">
            <a:extLst>
              <a:ext uri="{FF2B5EF4-FFF2-40B4-BE49-F238E27FC236}">
                <a16:creationId xmlns:a16="http://schemas.microsoft.com/office/drawing/2014/main" id="{F3BAB4A0-1D87-43EE-ABDC-6509390B68F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174" y="-1"/>
            <a:ext cx="12188826" cy="6858000"/>
          </a:xfrm>
          <a:prstGeom prst="rect">
            <a:avLst/>
          </a:prstGeom>
          <a:solidFill>
            <a:schemeClr val="lt1">
              <a:alpha val="57000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4800" b="0" i="0" u="none" strike="noStrike" cap="none">
              <a:solidFill>
                <a:schemeClr val="lt1"/>
              </a:solidFill>
              <a:latin typeface="Montserrat" panose="02000505000000020004"/>
              <a:ea typeface="Montserrat" panose="02000505000000020004"/>
              <a:cs typeface="Montserrat" panose="02000505000000020004"/>
              <a:sym typeface="Montserrat" panose="02000505000000020004"/>
            </a:endParaRPr>
          </a:p>
        </p:txBody>
      </p:sp>
      <p:pic>
        <p:nvPicPr>
          <p:cNvPr id="2" name="音频 1">
            <a:hlinkClick r:id="" action="ppaction://media"/>
            <a:extLst>
              <a:ext uri="{FF2B5EF4-FFF2-40B4-BE49-F238E27FC236}">
                <a16:creationId xmlns:a16="http://schemas.microsoft.com/office/drawing/2014/main" id="{62051E1B-69B9-4C9D-874D-98EFFF11F11D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B2F55ED1-3D12-45A4-B7AF-75370DEADF80}"/>
              </a:ext>
            </a:extLst>
          </p:cNvPr>
          <p:cNvSpPr/>
          <p:nvPr/>
        </p:nvSpPr>
        <p:spPr>
          <a:xfrm rot="16200000">
            <a:off x="4117428" y="1450428"/>
            <a:ext cx="3957145" cy="3957145"/>
          </a:xfrm>
          <a:prstGeom prst="rect">
            <a:avLst/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4B355A1-F00C-4E66-8DA0-BD1D8176A2B9}"/>
              </a:ext>
            </a:extLst>
          </p:cNvPr>
          <p:cNvSpPr txBox="1"/>
          <p:nvPr/>
        </p:nvSpPr>
        <p:spPr>
          <a:xfrm>
            <a:off x="4392440" y="2497976"/>
            <a:ext cx="340712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750" spc="300" dirty="0">
                <a:latin typeface="Oswald" charset="0"/>
                <a:ea typeface="Oswald" charset="0"/>
                <a:cs typeface="Oswald" charset="0"/>
              </a:rPr>
              <a:t>PART 2</a:t>
            </a:r>
          </a:p>
          <a:p>
            <a:pPr algn="ctr"/>
            <a:r>
              <a:rPr lang="zh-CN" altLang="en-US" sz="5750" spc="300" dirty="0">
                <a:latin typeface="Oswald" charset="0"/>
                <a:ea typeface="Oswald" charset="0"/>
                <a:cs typeface="Oswald" charset="0"/>
              </a:rPr>
              <a:t>单元测试</a:t>
            </a:r>
            <a:endParaRPr lang="en-US" sz="5750" spc="300" dirty="0">
              <a:latin typeface="Oswald" charset="0"/>
              <a:ea typeface="Oswald" charset="0"/>
              <a:cs typeface="Oswa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72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4904"/>
    </mc:Choice>
    <mc:Fallback xmlns="">
      <p:transition advClick="0" advTm="49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Placeholder 5">
            <a:extLst>
              <a:ext uri="{FF2B5EF4-FFF2-40B4-BE49-F238E27FC236}">
                <a16:creationId xmlns:a16="http://schemas.microsoft.com/office/drawing/2014/main" id="{1CBA24F5-8E27-4BCF-B836-DF7C9B7293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934" b="28934"/>
          <a:stretch>
            <a:fillRect/>
          </a:stretch>
        </p:blipFill>
        <p:spPr>
          <a:xfrm>
            <a:off x="-10185481" y="-45090"/>
            <a:ext cx="24729602" cy="6918362"/>
          </a:xfrm>
          <a:prstGeom prst="rect">
            <a:avLst/>
          </a:prstGeom>
        </p:spPr>
      </p:pic>
      <p:sp>
        <p:nvSpPr>
          <p:cNvPr id="63" name="Rectangle 20">
            <a:extLst>
              <a:ext uri="{FF2B5EF4-FFF2-40B4-BE49-F238E27FC236}">
                <a16:creationId xmlns:a16="http://schemas.microsoft.com/office/drawing/2014/main" id="{EE14D62C-8036-49BA-ADBE-72A1B779404F}"/>
              </a:ext>
            </a:extLst>
          </p:cNvPr>
          <p:cNvSpPr/>
          <p:nvPr/>
        </p:nvSpPr>
        <p:spPr>
          <a:xfrm>
            <a:off x="4030824" y="2134"/>
            <a:ext cx="817972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2" name="文本框 6">
            <a:extLst>
              <a:ext uri="{FF2B5EF4-FFF2-40B4-BE49-F238E27FC236}">
                <a16:creationId xmlns:a16="http://schemas.microsoft.com/office/drawing/2014/main" id="{E8857C08-1A0C-48BC-BF1E-0223FE453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508" y="383939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设计测试用例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E5BB94D-505C-4382-A882-B29746D70CB2}"/>
              </a:ext>
            </a:extLst>
          </p:cNvPr>
          <p:cNvSpPr/>
          <p:nvPr/>
        </p:nvSpPr>
        <p:spPr>
          <a:xfrm>
            <a:off x="4634537" y="426315"/>
            <a:ext cx="516078" cy="51607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2" name="文本框 6">
            <a:extLst>
              <a:ext uri="{FF2B5EF4-FFF2-40B4-BE49-F238E27FC236}">
                <a16:creationId xmlns:a16="http://schemas.microsoft.com/office/drawing/2014/main" id="{1F3EB396-FD28-45D9-89F9-BDFBCC710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511" y="1469170"/>
            <a:ext cx="20681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设计测试类及运行</a:t>
            </a: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2C625D32-6830-4A8E-9E09-CF6226EE0CE3}"/>
              </a:ext>
            </a:extLst>
          </p:cNvPr>
          <p:cNvSpPr/>
          <p:nvPr/>
        </p:nvSpPr>
        <p:spPr>
          <a:xfrm>
            <a:off x="4634539" y="1511546"/>
            <a:ext cx="516078" cy="51607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5" name="文本框 6">
            <a:extLst>
              <a:ext uri="{FF2B5EF4-FFF2-40B4-BE49-F238E27FC236}">
                <a16:creationId xmlns:a16="http://schemas.microsoft.com/office/drawing/2014/main" id="{E9476DCF-FAF9-4E98-B913-4189D6CC3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505" y="2633401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覆盖率测试</a:t>
            </a: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5A1DDB9D-7312-4816-9734-B5A9B52F8EC2}"/>
              </a:ext>
            </a:extLst>
          </p:cNvPr>
          <p:cNvSpPr/>
          <p:nvPr/>
        </p:nvSpPr>
        <p:spPr>
          <a:xfrm>
            <a:off x="4634534" y="2675777"/>
            <a:ext cx="516078" cy="51607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58" name="文本框 6">
            <a:extLst>
              <a:ext uri="{FF2B5EF4-FFF2-40B4-BE49-F238E27FC236}">
                <a16:creationId xmlns:a16="http://schemas.microsoft.com/office/drawing/2014/main" id="{117E5BEB-D4D9-43B9-A132-E6E94B6B8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511" y="3871006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边界测试</a:t>
            </a: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8D59582E-2AF1-479F-AC72-2C7C1130FE60}"/>
              </a:ext>
            </a:extLst>
          </p:cNvPr>
          <p:cNvSpPr/>
          <p:nvPr/>
        </p:nvSpPr>
        <p:spPr>
          <a:xfrm>
            <a:off x="4634539" y="3913382"/>
            <a:ext cx="516078" cy="51607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61" name="文本框 6">
            <a:extLst>
              <a:ext uri="{FF2B5EF4-FFF2-40B4-BE49-F238E27FC236}">
                <a16:creationId xmlns:a16="http://schemas.microsoft.com/office/drawing/2014/main" id="{C6689CB4-1EF2-4390-949B-B1AEB0E79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506" y="5108611"/>
            <a:ext cx="23310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行代码运行效能测试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38470154-07A7-41A4-9B1A-FCB86120EBEF}"/>
              </a:ext>
            </a:extLst>
          </p:cNvPr>
          <p:cNvSpPr/>
          <p:nvPr/>
        </p:nvSpPr>
        <p:spPr>
          <a:xfrm>
            <a:off x="4634535" y="5150987"/>
            <a:ext cx="516078" cy="51607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76EB92-1359-4E0A-8B46-70C3E7DACA6F}"/>
              </a:ext>
            </a:extLst>
          </p:cNvPr>
          <p:cNvSpPr/>
          <p:nvPr/>
        </p:nvSpPr>
        <p:spPr>
          <a:xfrm>
            <a:off x="5183505" y="753271"/>
            <a:ext cx="67208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设计测试用例的步骤包括：画出程序流图，导出基本路径，设计具体测试用例</a:t>
            </a:r>
            <a:endParaRPr lang="zh-CN" altLang="en-US" sz="140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50B1EC-408D-465A-9FC4-ABA42106A66E}"/>
              </a:ext>
            </a:extLst>
          </p:cNvPr>
          <p:cNvSpPr/>
          <p:nvPr/>
        </p:nvSpPr>
        <p:spPr>
          <a:xfrm>
            <a:off x="5183505" y="1836987"/>
            <a:ext cx="23934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使用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IDEA</a:t>
            </a:r>
            <a:r>
              <a:rPr lang="zh-CN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集成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Junit4</a:t>
            </a:r>
            <a:r>
              <a:rPr lang="zh-CN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进行测试</a:t>
            </a:r>
            <a:endParaRPr lang="zh-CN" altLang="en-US" sz="140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7D8A75-FB30-4393-9597-36686DD3E4DD}"/>
              </a:ext>
            </a:extLst>
          </p:cNvPr>
          <p:cNvSpPr/>
          <p:nvPr/>
        </p:nvSpPr>
        <p:spPr>
          <a:xfrm>
            <a:off x="5183505" y="3000326"/>
            <a:ext cx="64222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使用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IDEA </a:t>
            </a:r>
            <a:r>
              <a:rPr lang="zh-CN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编译器的自带的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Run With Coverage </a:t>
            </a:r>
            <a:r>
              <a:rPr lang="zh-CN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进行覆盖率测试，并统计类覆盖率和行代码覆盖率</a:t>
            </a:r>
            <a:endParaRPr lang="zh-CN" altLang="en-US" sz="140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ADF7C5-2F1B-4369-A116-7B8CDE283E49}"/>
              </a:ext>
            </a:extLst>
          </p:cNvPr>
          <p:cNvSpPr/>
          <p:nvPr/>
        </p:nvSpPr>
        <p:spPr>
          <a:xfrm>
            <a:off x="5183504" y="4240338"/>
            <a:ext cx="63102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设计边界测试用例进行测试，包括设计具体测试用例和进行测试</a:t>
            </a:r>
            <a:endParaRPr lang="zh-CN" altLang="en-US" sz="140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393647-92D8-436D-A5DD-12E1B2DB02C1}"/>
              </a:ext>
            </a:extLst>
          </p:cNvPr>
          <p:cNvSpPr/>
          <p:nvPr/>
        </p:nvSpPr>
        <p:spPr>
          <a:xfrm>
            <a:off x="5183504" y="5483220"/>
            <a:ext cx="63102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使用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 JProfiler </a:t>
            </a:r>
            <a:r>
              <a:rPr lang="zh-CN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进行行代码运行效能测试，监控内存消耗情况、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GC</a:t>
            </a:r>
            <a:r>
              <a:rPr lang="zh-CN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（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JVM</a:t>
            </a:r>
            <a:r>
              <a:rPr lang="zh-CN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垃圾回收）活动情况、类加载情况、线程情况和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CPU</a:t>
            </a:r>
            <a:r>
              <a:rPr lang="zh-CN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消耗情况</a:t>
            </a:r>
            <a:endParaRPr lang="zh-CN" altLang="en-US" sz="140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</a:endParaRPr>
          </a:p>
        </p:txBody>
      </p:sp>
      <p:sp>
        <p:nvSpPr>
          <p:cNvPr id="23" name="PA_形状 26">
            <a:extLst>
              <a:ext uri="{FF2B5EF4-FFF2-40B4-BE49-F238E27FC236}">
                <a16:creationId xmlns:a16="http://schemas.microsoft.com/office/drawing/2014/main" id="{F1EF5799-7C59-4646-84DD-F5680951439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998" y="2788"/>
            <a:ext cx="4027650" cy="6858000"/>
          </a:xfrm>
          <a:prstGeom prst="rect">
            <a:avLst/>
          </a:prstGeom>
          <a:solidFill>
            <a:schemeClr val="lt1">
              <a:alpha val="57000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4800" b="0" i="0" u="none" strike="noStrike" cap="none">
              <a:solidFill>
                <a:schemeClr val="lt1"/>
              </a:solidFill>
              <a:latin typeface="Montserrat" panose="02000505000000020004"/>
              <a:ea typeface="Montserrat" panose="02000505000000020004"/>
              <a:cs typeface="Montserrat" panose="02000505000000020004"/>
              <a:sym typeface="Montserrat" panose="02000505000000020004"/>
            </a:endParaRPr>
          </a:p>
        </p:txBody>
      </p:sp>
      <p:sp>
        <p:nvSpPr>
          <p:cNvPr id="44" name="Rectangle 43"/>
          <p:cNvSpPr>
            <a:spLocks/>
          </p:cNvSpPr>
          <p:nvPr/>
        </p:nvSpPr>
        <p:spPr bwMode="auto">
          <a:xfrm>
            <a:off x="1365726" y="2744431"/>
            <a:ext cx="1369542" cy="44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en-US" altLang="zh-CN" sz="2700" b="1" spc="250">
                <a:latin typeface="Poppins" charset="0"/>
                <a:ea typeface="Poppins" charset="0"/>
                <a:cs typeface="Poppins" charset="0"/>
                <a:sym typeface="Bebas Neue" charset="0"/>
              </a:rPr>
              <a:t>Content</a:t>
            </a:r>
            <a:endParaRPr lang="en-US" sz="2700" b="1" spc="250" dirty="0"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>
            <a:off x="1103826" y="3328562"/>
            <a:ext cx="18626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音频 4">
            <a:hlinkClick r:id="" action="ppaction://media"/>
            <a:extLst>
              <a:ext uri="{FF2B5EF4-FFF2-40B4-BE49-F238E27FC236}">
                <a16:creationId xmlns:a16="http://schemas.microsoft.com/office/drawing/2014/main" id="{93D1A059-4227-4AFD-A179-51241D6BE757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81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2022"/>
    </mc:Choice>
    <mc:Fallback xmlns="">
      <p:transition advTm="120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1593738"/>
            <a:ext cx="1959429" cy="892012"/>
          </a:xfrm>
          <a:prstGeom prst="rect">
            <a:avLst/>
          </a:prstGeom>
          <a:solidFill>
            <a:srgbClr val="0070C0">
              <a:alpha val="72157"/>
            </a:srgb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4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单元测试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1" y="1840965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设计测试用例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2608590"/>
            <a:ext cx="13388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设计测试类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及运行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3629227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覆盖率测试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边界测试</a:t>
            </a:r>
          </a:p>
        </p:txBody>
      </p:sp>
      <p:sp>
        <p:nvSpPr>
          <p:cNvPr id="492" name="文本框 6">
            <a:extLst>
              <a:ext uri="{FF2B5EF4-FFF2-40B4-BE49-F238E27FC236}">
                <a16:creationId xmlns:a16="http://schemas.microsoft.com/office/drawing/2014/main" id="{0881A901-57FE-4A53-806C-6C469D4DA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80" y="5273635"/>
            <a:ext cx="15696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行代码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运行效能测试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直接连接符 494">
            <a:extLst>
              <a:ext uri="{FF2B5EF4-FFF2-40B4-BE49-F238E27FC236}">
                <a16:creationId xmlns:a16="http://schemas.microsoft.com/office/drawing/2014/main" id="{A3BC5BD9-CF3E-4B45-A419-C596C7A5D6D0}"/>
              </a:ext>
            </a:extLst>
          </p:cNvPr>
          <p:cNvCxnSpPr>
            <a:cxnSpLocks/>
          </p:cNvCxnSpPr>
          <p:nvPr/>
        </p:nvCxnSpPr>
        <p:spPr>
          <a:xfrm>
            <a:off x="527249" y="5150794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Rectangle 480">
            <a:extLst>
              <a:ext uri="{FF2B5EF4-FFF2-40B4-BE49-F238E27FC236}">
                <a16:creationId xmlns:a16="http://schemas.microsoft.com/office/drawing/2014/main" id="{61B3B501-F7FC-490A-81E2-7E4033D1D9C8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2818079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程序流程图</a:t>
            </a:r>
            <a:r>
              <a:rPr lang="en-US" altLang="zh-CN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——</a:t>
            </a: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注册</a:t>
            </a:r>
            <a:endParaRPr lang="en-US" sz="2400" b="1" dirty="0">
              <a:solidFill>
                <a:schemeClr val="dk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sp>
        <p:nvSpPr>
          <p:cNvPr id="498" name="矩形: 圆角 497">
            <a:extLst>
              <a:ext uri="{FF2B5EF4-FFF2-40B4-BE49-F238E27FC236}">
                <a16:creationId xmlns:a16="http://schemas.microsoft.com/office/drawing/2014/main" id="{7DA95E4F-3104-4E8B-8542-73AD165D139E}"/>
              </a:ext>
            </a:extLst>
          </p:cNvPr>
          <p:cNvSpPr/>
          <p:nvPr/>
        </p:nvSpPr>
        <p:spPr>
          <a:xfrm>
            <a:off x="3030425" y="1925713"/>
            <a:ext cx="1296955" cy="5691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请求</a:t>
            </a:r>
          </a:p>
        </p:txBody>
      </p:sp>
      <p:sp>
        <p:nvSpPr>
          <p:cNvPr id="499" name="矩形: 圆角 498">
            <a:extLst>
              <a:ext uri="{FF2B5EF4-FFF2-40B4-BE49-F238E27FC236}">
                <a16:creationId xmlns:a16="http://schemas.microsoft.com/office/drawing/2014/main" id="{E7D6EE64-0A9A-45AF-9ACF-16379C2AE5C9}"/>
              </a:ext>
            </a:extLst>
          </p:cNvPr>
          <p:cNvSpPr/>
          <p:nvPr/>
        </p:nvSpPr>
        <p:spPr>
          <a:xfrm>
            <a:off x="3030424" y="2980072"/>
            <a:ext cx="1296955" cy="5691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参数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规范检查</a:t>
            </a:r>
          </a:p>
        </p:txBody>
      </p:sp>
      <p:sp>
        <p:nvSpPr>
          <p:cNvPr id="500" name="矩形: 圆角 499">
            <a:extLst>
              <a:ext uri="{FF2B5EF4-FFF2-40B4-BE49-F238E27FC236}">
                <a16:creationId xmlns:a16="http://schemas.microsoft.com/office/drawing/2014/main" id="{ED676254-6947-4252-AA43-3000446A9D6C}"/>
              </a:ext>
            </a:extLst>
          </p:cNvPr>
          <p:cNvSpPr/>
          <p:nvPr/>
        </p:nvSpPr>
        <p:spPr>
          <a:xfrm>
            <a:off x="3030424" y="4034431"/>
            <a:ext cx="1296955" cy="5691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数据库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查重</a:t>
            </a:r>
          </a:p>
        </p:txBody>
      </p:sp>
      <p:sp>
        <p:nvSpPr>
          <p:cNvPr id="501" name="矩形: 圆角 500">
            <a:extLst>
              <a:ext uri="{FF2B5EF4-FFF2-40B4-BE49-F238E27FC236}">
                <a16:creationId xmlns:a16="http://schemas.microsoft.com/office/drawing/2014/main" id="{1D87E023-256A-492F-A0AF-2EA084F0A2B3}"/>
              </a:ext>
            </a:extLst>
          </p:cNvPr>
          <p:cNvSpPr/>
          <p:nvPr/>
        </p:nvSpPr>
        <p:spPr>
          <a:xfrm>
            <a:off x="3030424" y="5088790"/>
            <a:ext cx="1296955" cy="5691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返回结果</a:t>
            </a:r>
          </a:p>
        </p:txBody>
      </p:sp>
      <p:cxnSp>
        <p:nvCxnSpPr>
          <p:cNvPr id="502" name="直接箭头连接符 501">
            <a:extLst>
              <a:ext uri="{FF2B5EF4-FFF2-40B4-BE49-F238E27FC236}">
                <a16:creationId xmlns:a16="http://schemas.microsoft.com/office/drawing/2014/main" id="{76051DAD-BDAC-4A51-8934-7C0AD633C0E0}"/>
              </a:ext>
            </a:extLst>
          </p:cNvPr>
          <p:cNvCxnSpPr>
            <a:cxnSpLocks/>
            <a:stCxn id="498" idx="2"/>
            <a:endCxn id="499" idx="0"/>
          </p:cNvCxnSpPr>
          <p:nvPr/>
        </p:nvCxnSpPr>
        <p:spPr>
          <a:xfrm flipH="1">
            <a:off x="3678902" y="2494880"/>
            <a:ext cx="1" cy="485192"/>
          </a:xfrm>
          <a:prstGeom prst="straightConnector1">
            <a:avLst/>
          </a:prstGeom>
          <a:ln w="25400">
            <a:solidFill>
              <a:schemeClr val="tx1"/>
            </a:solidFill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直接箭头连接符 502">
            <a:extLst>
              <a:ext uri="{FF2B5EF4-FFF2-40B4-BE49-F238E27FC236}">
                <a16:creationId xmlns:a16="http://schemas.microsoft.com/office/drawing/2014/main" id="{B80103A7-BBE7-4875-A792-D1AB151729A0}"/>
              </a:ext>
            </a:extLst>
          </p:cNvPr>
          <p:cNvCxnSpPr>
            <a:cxnSpLocks/>
            <a:stCxn id="499" idx="2"/>
            <a:endCxn id="500" idx="0"/>
          </p:cNvCxnSpPr>
          <p:nvPr/>
        </p:nvCxnSpPr>
        <p:spPr>
          <a:xfrm>
            <a:off x="3678902" y="3549239"/>
            <a:ext cx="0" cy="485192"/>
          </a:xfrm>
          <a:prstGeom prst="straightConnector1">
            <a:avLst/>
          </a:prstGeom>
          <a:ln w="25400">
            <a:solidFill>
              <a:schemeClr val="tx1"/>
            </a:solidFill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直接箭头连接符 503">
            <a:extLst>
              <a:ext uri="{FF2B5EF4-FFF2-40B4-BE49-F238E27FC236}">
                <a16:creationId xmlns:a16="http://schemas.microsoft.com/office/drawing/2014/main" id="{FF902632-73BA-4C19-8EE4-3C61FEE5037A}"/>
              </a:ext>
            </a:extLst>
          </p:cNvPr>
          <p:cNvCxnSpPr>
            <a:cxnSpLocks/>
            <a:stCxn id="500" idx="2"/>
            <a:endCxn id="501" idx="0"/>
          </p:cNvCxnSpPr>
          <p:nvPr/>
        </p:nvCxnSpPr>
        <p:spPr>
          <a:xfrm>
            <a:off x="3678902" y="4603598"/>
            <a:ext cx="0" cy="485192"/>
          </a:xfrm>
          <a:prstGeom prst="straightConnector1">
            <a:avLst/>
          </a:prstGeom>
          <a:ln w="25400">
            <a:solidFill>
              <a:schemeClr val="tx1"/>
            </a:solidFill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连接符: 肘形 504">
            <a:extLst>
              <a:ext uri="{FF2B5EF4-FFF2-40B4-BE49-F238E27FC236}">
                <a16:creationId xmlns:a16="http://schemas.microsoft.com/office/drawing/2014/main" id="{55C2E3E6-205C-4A0D-A806-84D6F823BCCF}"/>
              </a:ext>
            </a:extLst>
          </p:cNvPr>
          <p:cNvCxnSpPr>
            <a:cxnSpLocks/>
            <a:stCxn id="499" idx="1"/>
            <a:endCxn id="501" idx="1"/>
          </p:cNvCxnSpPr>
          <p:nvPr/>
        </p:nvCxnSpPr>
        <p:spPr>
          <a:xfrm rot="10800000" flipV="1">
            <a:off x="3030424" y="3264656"/>
            <a:ext cx="12700" cy="2108718"/>
          </a:xfrm>
          <a:prstGeom prst="bentConnector3">
            <a:avLst>
              <a:gd name="adj1" fmla="val 3342858"/>
            </a:avLst>
          </a:prstGeom>
          <a:ln w="25400">
            <a:solidFill>
              <a:schemeClr val="tx1"/>
            </a:solidFill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箭头: 右 14">
            <a:extLst>
              <a:ext uri="{FF2B5EF4-FFF2-40B4-BE49-F238E27FC236}">
                <a16:creationId xmlns:a16="http://schemas.microsoft.com/office/drawing/2014/main" id="{02D31C89-DBA1-42FA-A3D8-7C761C6A9C6F}"/>
              </a:ext>
            </a:extLst>
          </p:cNvPr>
          <p:cNvSpPr/>
          <p:nvPr/>
        </p:nvSpPr>
        <p:spPr>
          <a:xfrm>
            <a:off x="4795092" y="3571297"/>
            <a:ext cx="513180" cy="485192"/>
          </a:xfrm>
          <a:prstGeom prst="rightArrow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24F6221-CD2B-429F-8827-132796E6E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3600" y="1647237"/>
            <a:ext cx="2509296" cy="4038546"/>
          </a:xfrm>
          <a:prstGeom prst="rect">
            <a:avLst/>
          </a:prstGeom>
        </p:spPr>
      </p:pic>
      <p:sp>
        <p:nvSpPr>
          <p:cNvPr id="561" name="箭头: 右 560">
            <a:extLst>
              <a:ext uri="{FF2B5EF4-FFF2-40B4-BE49-F238E27FC236}">
                <a16:creationId xmlns:a16="http://schemas.microsoft.com/office/drawing/2014/main" id="{D028389D-6EB9-40F9-B9AD-4F9CBD6EA669}"/>
              </a:ext>
            </a:extLst>
          </p:cNvPr>
          <p:cNvSpPr/>
          <p:nvPr/>
        </p:nvSpPr>
        <p:spPr>
          <a:xfrm>
            <a:off x="8064249" y="3571511"/>
            <a:ext cx="513180" cy="485192"/>
          </a:xfrm>
          <a:prstGeom prst="rightArrow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文本框 561">
            <a:extLst>
              <a:ext uri="{FF2B5EF4-FFF2-40B4-BE49-F238E27FC236}">
                <a16:creationId xmlns:a16="http://schemas.microsoft.com/office/drawing/2014/main" id="{B8DA92DC-3ECB-4493-8BF9-5E362CE88A5F}"/>
              </a:ext>
            </a:extLst>
          </p:cNvPr>
          <p:cNvSpPr txBox="1"/>
          <p:nvPr/>
        </p:nvSpPr>
        <p:spPr>
          <a:xfrm>
            <a:off x="8744587" y="2083675"/>
            <a:ext cx="31991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环形路径复杂度：</a:t>
            </a:r>
            <a:r>
              <a:rPr lang="en-US" altLang="zh-CN"/>
              <a:t>15-11+2=6</a:t>
            </a:r>
          </a:p>
          <a:p>
            <a:r>
              <a:rPr lang="zh-CN" altLang="en-US"/>
              <a:t>基本路径：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路径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1</a:t>
            </a:r>
            <a:r>
              <a:rPr lang="zh-CN" altLang="en-US"/>
              <a:t>→ </a:t>
            </a:r>
            <a:r>
              <a:rPr lang="en-US" altLang="zh-CN"/>
              <a:t>2</a:t>
            </a:r>
            <a:r>
              <a:rPr lang="zh-CN" altLang="en-US"/>
              <a:t> →</a:t>
            </a:r>
            <a:r>
              <a:rPr lang="en-US" altLang="zh-CN"/>
              <a:t>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路径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1</a:t>
            </a:r>
            <a:r>
              <a:rPr lang="zh-CN" altLang="en-US"/>
              <a:t>→ </a:t>
            </a:r>
            <a:r>
              <a:rPr lang="en-US" altLang="zh-CN"/>
              <a:t>4</a:t>
            </a:r>
            <a:r>
              <a:rPr lang="zh-CN" altLang="en-US"/>
              <a:t> → </a:t>
            </a:r>
            <a:r>
              <a:rPr lang="en-US" altLang="zh-CN"/>
              <a:t>5</a:t>
            </a:r>
            <a:r>
              <a:rPr lang="zh-CN" altLang="en-US"/>
              <a:t> → </a:t>
            </a:r>
            <a:r>
              <a:rPr lang="en-US" altLang="zh-CN"/>
              <a:t>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路径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1</a:t>
            </a:r>
            <a:r>
              <a:rPr lang="zh-CN" altLang="en-US"/>
              <a:t>→ </a:t>
            </a:r>
            <a:r>
              <a:rPr lang="en-US" altLang="zh-CN"/>
              <a:t>4</a:t>
            </a:r>
            <a:r>
              <a:rPr lang="zh-CN" altLang="en-US"/>
              <a:t> →</a:t>
            </a:r>
            <a:r>
              <a:rPr lang="en-US" altLang="zh-CN"/>
              <a:t> 7</a:t>
            </a:r>
            <a:r>
              <a:rPr lang="zh-CN" altLang="en-US"/>
              <a:t> → </a:t>
            </a:r>
            <a:r>
              <a:rPr lang="en-US" altLang="zh-CN"/>
              <a:t>8</a:t>
            </a:r>
            <a:r>
              <a:rPr lang="zh-CN" altLang="en-US"/>
              <a:t> → </a:t>
            </a:r>
            <a:r>
              <a:rPr lang="en-US" altLang="zh-CN"/>
              <a:t>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路径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1</a:t>
            </a:r>
            <a:r>
              <a:rPr lang="zh-CN" altLang="en-US"/>
              <a:t>→ </a:t>
            </a:r>
            <a:r>
              <a:rPr lang="en-US" altLang="zh-CN"/>
              <a:t>4</a:t>
            </a:r>
            <a:r>
              <a:rPr lang="zh-CN" altLang="en-US"/>
              <a:t> →</a:t>
            </a:r>
            <a:r>
              <a:rPr lang="en-US" altLang="zh-CN"/>
              <a:t> 7</a:t>
            </a:r>
            <a:r>
              <a:rPr lang="zh-CN" altLang="en-US"/>
              <a:t> → </a:t>
            </a:r>
            <a:r>
              <a:rPr lang="en-US" altLang="zh-CN"/>
              <a:t>10</a:t>
            </a:r>
            <a:r>
              <a:rPr lang="zh-CN" altLang="en-US"/>
              <a:t> → </a:t>
            </a:r>
            <a:r>
              <a:rPr lang="en-US" altLang="zh-CN"/>
              <a:t>11</a:t>
            </a:r>
            <a:r>
              <a:rPr lang="zh-CN" altLang="en-US"/>
              <a:t> → </a:t>
            </a:r>
            <a:r>
              <a:rPr lang="en-US" altLang="zh-CN"/>
              <a:t>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路径</a:t>
            </a:r>
            <a:r>
              <a:rPr lang="en-US" altLang="zh-CN"/>
              <a:t>5</a:t>
            </a:r>
            <a:r>
              <a:rPr lang="zh-CN" altLang="en-US"/>
              <a:t>：</a:t>
            </a:r>
            <a:r>
              <a:rPr lang="en-US" altLang="zh-CN"/>
              <a:t>1</a:t>
            </a:r>
            <a:r>
              <a:rPr lang="zh-CN" altLang="en-US"/>
              <a:t>→ </a:t>
            </a:r>
            <a:r>
              <a:rPr lang="en-US" altLang="zh-CN"/>
              <a:t>4</a:t>
            </a:r>
            <a:r>
              <a:rPr lang="zh-CN" altLang="en-US"/>
              <a:t> →</a:t>
            </a:r>
            <a:r>
              <a:rPr lang="en-US" altLang="zh-CN"/>
              <a:t> 7</a:t>
            </a:r>
            <a:r>
              <a:rPr lang="zh-CN" altLang="en-US"/>
              <a:t> → </a:t>
            </a:r>
            <a:r>
              <a:rPr lang="en-US" altLang="zh-CN"/>
              <a:t>10</a:t>
            </a:r>
            <a:r>
              <a:rPr lang="zh-CN" altLang="en-US"/>
              <a:t> → </a:t>
            </a:r>
            <a:r>
              <a:rPr lang="en-US" altLang="zh-CN"/>
              <a:t>13</a:t>
            </a:r>
            <a:r>
              <a:rPr lang="zh-CN" altLang="en-US"/>
              <a:t> → </a:t>
            </a:r>
            <a:r>
              <a:rPr lang="en-US" altLang="zh-CN"/>
              <a:t>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路径</a:t>
            </a:r>
            <a:r>
              <a:rPr lang="en-US" altLang="zh-CN"/>
              <a:t>6</a:t>
            </a:r>
            <a:r>
              <a:rPr lang="zh-CN" altLang="en-US"/>
              <a:t>：</a:t>
            </a:r>
            <a:r>
              <a:rPr lang="en-US" altLang="zh-CN"/>
              <a:t>1</a:t>
            </a:r>
            <a:r>
              <a:rPr lang="zh-CN" altLang="en-US"/>
              <a:t>→ </a:t>
            </a:r>
            <a:r>
              <a:rPr lang="en-US" altLang="zh-CN"/>
              <a:t>4</a:t>
            </a:r>
            <a:r>
              <a:rPr lang="zh-CN" altLang="en-US"/>
              <a:t> →</a:t>
            </a:r>
            <a:r>
              <a:rPr lang="en-US" altLang="zh-CN"/>
              <a:t> 7</a:t>
            </a:r>
            <a:r>
              <a:rPr lang="zh-CN" altLang="en-US"/>
              <a:t> → </a:t>
            </a:r>
            <a:r>
              <a:rPr lang="en-US" altLang="zh-CN"/>
              <a:t>10</a:t>
            </a:r>
            <a:r>
              <a:rPr lang="zh-CN" altLang="en-US"/>
              <a:t> → </a:t>
            </a:r>
            <a:r>
              <a:rPr lang="en-US" altLang="zh-CN"/>
              <a:t>13</a:t>
            </a:r>
            <a:r>
              <a:rPr lang="zh-CN" altLang="en-US"/>
              <a:t> → </a:t>
            </a:r>
            <a:r>
              <a:rPr lang="en-US" altLang="zh-CN"/>
              <a:t>14</a:t>
            </a:r>
            <a:r>
              <a:rPr lang="zh-CN" altLang="en-US"/>
              <a:t> → </a:t>
            </a:r>
            <a:r>
              <a:rPr lang="en-US" altLang="zh-CN"/>
              <a:t>16</a:t>
            </a:r>
          </a:p>
        </p:txBody>
      </p:sp>
      <p:pic>
        <p:nvPicPr>
          <p:cNvPr id="6" name="音频 5">
            <a:hlinkClick r:id="" action="ppaction://media"/>
            <a:extLst>
              <a:ext uri="{FF2B5EF4-FFF2-40B4-BE49-F238E27FC236}">
                <a16:creationId xmlns:a16="http://schemas.microsoft.com/office/drawing/2014/main" id="{2DD1C0C2-8D19-4256-B19D-DCD78B8767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27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4139"/>
    </mc:Choice>
    <mc:Fallback xmlns="">
      <p:transition advTm="141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1593738"/>
            <a:ext cx="1959429" cy="892012"/>
          </a:xfrm>
          <a:prstGeom prst="rect">
            <a:avLst/>
          </a:prstGeom>
          <a:solidFill>
            <a:srgbClr val="0070C0">
              <a:alpha val="72157"/>
            </a:srgb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4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单元测试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1" y="1840965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设计测试用例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2608590"/>
            <a:ext cx="13388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设计测试类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及运行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3629227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覆盖率测试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边界测试</a:t>
            </a:r>
          </a:p>
        </p:txBody>
      </p:sp>
      <p:sp>
        <p:nvSpPr>
          <p:cNvPr id="492" name="文本框 6">
            <a:extLst>
              <a:ext uri="{FF2B5EF4-FFF2-40B4-BE49-F238E27FC236}">
                <a16:creationId xmlns:a16="http://schemas.microsoft.com/office/drawing/2014/main" id="{0881A901-57FE-4A53-806C-6C469D4DA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80" y="5273635"/>
            <a:ext cx="15696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行代码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运行效能测试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直接连接符 494">
            <a:extLst>
              <a:ext uri="{FF2B5EF4-FFF2-40B4-BE49-F238E27FC236}">
                <a16:creationId xmlns:a16="http://schemas.microsoft.com/office/drawing/2014/main" id="{A3BC5BD9-CF3E-4B45-A419-C596C7A5D6D0}"/>
              </a:ext>
            </a:extLst>
          </p:cNvPr>
          <p:cNvCxnSpPr>
            <a:cxnSpLocks/>
          </p:cNvCxnSpPr>
          <p:nvPr/>
        </p:nvCxnSpPr>
        <p:spPr>
          <a:xfrm>
            <a:off x="527249" y="5150794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Rectangle 480">
            <a:extLst>
              <a:ext uri="{FF2B5EF4-FFF2-40B4-BE49-F238E27FC236}">
                <a16:creationId xmlns:a16="http://schemas.microsoft.com/office/drawing/2014/main" id="{61B3B501-F7FC-490A-81E2-7E4033D1D9C8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3433632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程序流程图</a:t>
            </a:r>
            <a:r>
              <a:rPr lang="en-US" altLang="zh-CN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——</a:t>
            </a: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创建任务</a:t>
            </a:r>
            <a:endParaRPr lang="en-US" sz="2400" b="1" dirty="0">
              <a:solidFill>
                <a:schemeClr val="dk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sp>
        <p:nvSpPr>
          <p:cNvPr id="498" name="矩形: 圆角 497">
            <a:extLst>
              <a:ext uri="{FF2B5EF4-FFF2-40B4-BE49-F238E27FC236}">
                <a16:creationId xmlns:a16="http://schemas.microsoft.com/office/drawing/2014/main" id="{7DA95E4F-3104-4E8B-8542-73AD165D139E}"/>
              </a:ext>
            </a:extLst>
          </p:cNvPr>
          <p:cNvSpPr/>
          <p:nvPr/>
        </p:nvSpPr>
        <p:spPr>
          <a:xfrm>
            <a:off x="3030425" y="1478240"/>
            <a:ext cx="1296955" cy="5691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请求</a:t>
            </a:r>
          </a:p>
        </p:txBody>
      </p:sp>
      <p:sp>
        <p:nvSpPr>
          <p:cNvPr id="499" name="矩形: 圆角 498">
            <a:extLst>
              <a:ext uri="{FF2B5EF4-FFF2-40B4-BE49-F238E27FC236}">
                <a16:creationId xmlns:a16="http://schemas.microsoft.com/office/drawing/2014/main" id="{E7D6EE64-0A9A-45AF-9ACF-16379C2AE5C9}"/>
              </a:ext>
            </a:extLst>
          </p:cNvPr>
          <p:cNvSpPr/>
          <p:nvPr/>
        </p:nvSpPr>
        <p:spPr>
          <a:xfrm>
            <a:off x="3030424" y="2532599"/>
            <a:ext cx="1296955" cy="5691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请求头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检查</a:t>
            </a:r>
          </a:p>
        </p:txBody>
      </p:sp>
      <p:sp>
        <p:nvSpPr>
          <p:cNvPr id="500" name="矩形: 圆角 499">
            <a:extLst>
              <a:ext uri="{FF2B5EF4-FFF2-40B4-BE49-F238E27FC236}">
                <a16:creationId xmlns:a16="http://schemas.microsoft.com/office/drawing/2014/main" id="{ED676254-6947-4252-AA43-3000446A9D6C}"/>
              </a:ext>
            </a:extLst>
          </p:cNvPr>
          <p:cNvSpPr/>
          <p:nvPr/>
        </p:nvSpPr>
        <p:spPr>
          <a:xfrm>
            <a:off x="3030424" y="3586958"/>
            <a:ext cx="1296955" cy="5691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超时检查</a:t>
            </a:r>
          </a:p>
        </p:txBody>
      </p:sp>
      <p:sp>
        <p:nvSpPr>
          <p:cNvPr id="501" name="矩形: 圆角 500">
            <a:extLst>
              <a:ext uri="{FF2B5EF4-FFF2-40B4-BE49-F238E27FC236}">
                <a16:creationId xmlns:a16="http://schemas.microsoft.com/office/drawing/2014/main" id="{1D87E023-256A-492F-A0AF-2EA084F0A2B3}"/>
              </a:ext>
            </a:extLst>
          </p:cNvPr>
          <p:cNvSpPr/>
          <p:nvPr/>
        </p:nvSpPr>
        <p:spPr>
          <a:xfrm>
            <a:off x="3030424" y="4641317"/>
            <a:ext cx="1296955" cy="5691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权限检查</a:t>
            </a:r>
          </a:p>
        </p:txBody>
      </p:sp>
      <p:cxnSp>
        <p:nvCxnSpPr>
          <p:cNvPr id="502" name="直接箭头连接符 501">
            <a:extLst>
              <a:ext uri="{FF2B5EF4-FFF2-40B4-BE49-F238E27FC236}">
                <a16:creationId xmlns:a16="http://schemas.microsoft.com/office/drawing/2014/main" id="{76051DAD-BDAC-4A51-8934-7C0AD633C0E0}"/>
              </a:ext>
            </a:extLst>
          </p:cNvPr>
          <p:cNvCxnSpPr>
            <a:cxnSpLocks/>
            <a:stCxn id="498" idx="2"/>
            <a:endCxn id="499" idx="0"/>
          </p:cNvCxnSpPr>
          <p:nvPr/>
        </p:nvCxnSpPr>
        <p:spPr>
          <a:xfrm flipH="1">
            <a:off x="3678902" y="2047407"/>
            <a:ext cx="1" cy="485192"/>
          </a:xfrm>
          <a:prstGeom prst="straightConnector1">
            <a:avLst/>
          </a:prstGeom>
          <a:ln w="25400">
            <a:solidFill>
              <a:schemeClr val="tx1"/>
            </a:solidFill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直接箭头连接符 502">
            <a:extLst>
              <a:ext uri="{FF2B5EF4-FFF2-40B4-BE49-F238E27FC236}">
                <a16:creationId xmlns:a16="http://schemas.microsoft.com/office/drawing/2014/main" id="{B80103A7-BBE7-4875-A792-D1AB151729A0}"/>
              </a:ext>
            </a:extLst>
          </p:cNvPr>
          <p:cNvCxnSpPr>
            <a:cxnSpLocks/>
            <a:stCxn id="499" idx="2"/>
            <a:endCxn id="500" idx="0"/>
          </p:cNvCxnSpPr>
          <p:nvPr/>
        </p:nvCxnSpPr>
        <p:spPr>
          <a:xfrm>
            <a:off x="3678902" y="3101766"/>
            <a:ext cx="0" cy="485192"/>
          </a:xfrm>
          <a:prstGeom prst="straightConnector1">
            <a:avLst/>
          </a:prstGeom>
          <a:ln w="25400">
            <a:solidFill>
              <a:schemeClr val="tx1"/>
            </a:solidFill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直接箭头连接符 503">
            <a:extLst>
              <a:ext uri="{FF2B5EF4-FFF2-40B4-BE49-F238E27FC236}">
                <a16:creationId xmlns:a16="http://schemas.microsoft.com/office/drawing/2014/main" id="{FF902632-73BA-4C19-8EE4-3C61FEE5037A}"/>
              </a:ext>
            </a:extLst>
          </p:cNvPr>
          <p:cNvCxnSpPr>
            <a:cxnSpLocks/>
            <a:stCxn id="500" idx="2"/>
            <a:endCxn id="501" idx="0"/>
          </p:cNvCxnSpPr>
          <p:nvPr/>
        </p:nvCxnSpPr>
        <p:spPr>
          <a:xfrm>
            <a:off x="3678902" y="4156125"/>
            <a:ext cx="0" cy="485192"/>
          </a:xfrm>
          <a:prstGeom prst="straightConnector1">
            <a:avLst/>
          </a:prstGeom>
          <a:ln w="25400">
            <a:solidFill>
              <a:schemeClr val="tx1"/>
            </a:solidFill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连接符: 肘形 504">
            <a:extLst>
              <a:ext uri="{FF2B5EF4-FFF2-40B4-BE49-F238E27FC236}">
                <a16:creationId xmlns:a16="http://schemas.microsoft.com/office/drawing/2014/main" id="{55C2E3E6-205C-4A0D-A806-84D6F823BCCF}"/>
              </a:ext>
            </a:extLst>
          </p:cNvPr>
          <p:cNvCxnSpPr>
            <a:cxnSpLocks/>
            <a:stCxn id="499" idx="1"/>
            <a:endCxn id="563" idx="1"/>
          </p:cNvCxnSpPr>
          <p:nvPr/>
        </p:nvCxnSpPr>
        <p:spPr>
          <a:xfrm rot="10800000" flipV="1">
            <a:off x="3030424" y="2817182"/>
            <a:ext cx="12700" cy="3163077"/>
          </a:xfrm>
          <a:prstGeom prst="bentConnector3">
            <a:avLst>
              <a:gd name="adj1" fmla="val 3025535"/>
            </a:avLst>
          </a:prstGeom>
          <a:ln w="25400">
            <a:solidFill>
              <a:schemeClr val="tx1"/>
            </a:solidFill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箭头: 右 14">
            <a:extLst>
              <a:ext uri="{FF2B5EF4-FFF2-40B4-BE49-F238E27FC236}">
                <a16:creationId xmlns:a16="http://schemas.microsoft.com/office/drawing/2014/main" id="{02D31C89-DBA1-42FA-A3D8-7C761C6A9C6F}"/>
              </a:ext>
            </a:extLst>
          </p:cNvPr>
          <p:cNvSpPr/>
          <p:nvPr/>
        </p:nvSpPr>
        <p:spPr>
          <a:xfrm>
            <a:off x="4795092" y="3571297"/>
            <a:ext cx="513180" cy="485192"/>
          </a:xfrm>
          <a:prstGeom prst="rightArrow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箭头: 右 560">
            <a:extLst>
              <a:ext uri="{FF2B5EF4-FFF2-40B4-BE49-F238E27FC236}">
                <a16:creationId xmlns:a16="http://schemas.microsoft.com/office/drawing/2014/main" id="{D028389D-6EB9-40F9-B9AD-4F9CBD6EA669}"/>
              </a:ext>
            </a:extLst>
          </p:cNvPr>
          <p:cNvSpPr/>
          <p:nvPr/>
        </p:nvSpPr>
        <p:spPr>
          <a:xfrm>
            <a:off x="8064249" y="3571511"/>
            <a:ext cx="513180" cy="485192"/>
          </a:xfrm>
          <a:prstGeom prst="rightArrow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文本框 561">
            <a:extLst>
              <a:ext uri="{FF2B5EF4-FFF2-40B4-BE49-F238E27FC236}">
                <a16:creationId xmlns:a16="http://schemas.microsoft.com/office/drawing/2014/main" id="{B8DA92DC-3ECB-4493-8BF9-5E362CE88A5F}"/>
              </a:ext>
            </a:extLst>
          </p:cNvPr>
          <p:cNvSpPr txBox="1"/>
          <p:nvPr/>
        </p:nvSpPr>
        <p:spPr>
          <a:xfrm>
            <a:off x="8760259" y="2802325"/>
            <a:ext cx="31991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环形路径复杂度：</a:t>
            </a:r>
            <a:r>
              <a:rPr lang="en-US" altLang="zh-CN"/>
              <a:t>9-7+2=4</a:t>
            </a:r>
          </a:p>
          <a:p>
            <a:r>
              <a:rPr lang="zh-CN" altLang="en-US"/>
              <a:t>基本路径：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路径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1</a:t>
            </a:r>
            <a:r>
              <a:rPr lang="zh-CN" altLang="en-US"/>
              <a:t>→ </a:t>
            </a:r>
            <a:r>
              <a:rPr lang="en-US" altLang="zh-CN"/>
              <a:t>2</a:t>
            </a:r>
            <a:r>
              <a:rPr lang="zh-CN" altLang="en-US"/>
              <a:t> →</a:t>
            </a:r>
            <a:r>
              <a:rPr lang="en-US" altLang="zh-CN"/>
              <a:t>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路径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1</a:t>
            </a:r>
            <a:r>
              <a:rPr lang="zh-CN" altLang="en-US"/>
              <a:t>→ </a:t>
            </a:r>
            <a:r>
              <a:rPr lang="en-US" altLang="zh-CN"/>
              <a:t>4</a:t>
            </a:r>
            <a:r>
              <a:rPr lang="zh-CN" altLang="en-US"/>
              <a:t> → </a:t>
            </a:r>
            <a:r>
              <a:rPr lang="en-US" altLang="zh-CN"/>
              <a:t>5</a:t>
            </a:r>
            <a:r>
              <a:rPr lang="zh-CN" altLang="en-US"/>
              <a:t> → </a:t>
            </a:r>
            <a:r>
              <a:rPr lang="en-US" altLang="zh-CN"/>
              <a:t>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路径</a:t>
            </a:r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1</a:t>
            </a:r>
            <a:r>
              <a:rPr lang="zh-CN" altLang="en-US"/>
              <a:t>→ </a:t>
            </a:r>
            <a:r>
              <a:rPr lang="en-US" altLang="zh-CN"/>
              <a:t>4</a:t>
            </a:r>
            <a:r>
              <a:rPr lang="zh-CN" altLang="en-US"/>
              <a:t> →</a:t>
            </a:r>
            <a:r>
              <a:rPr lang="en-US" altLang="zh-CN"/>
              <a:t> 7</a:t>
            </a:r>
            <a:r>
              <a:rPr lang="zh-CN" altLang="en-US"/>
              <a:t> → </a:t>
            </a:r>
            <a:r>
              <a:rPr lang="en-US" altLang="zh-CN"/>
              <a:t>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路径</a:t>
            </a:r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1</a:t>
            </a:r>
            <a:r>
              <a:rPr lang="zh-CN" altLang="en-US"/>
              <a:t>→ </a:t>
            </a:r>
            <a:r>
              <a:rPr lang="en-US" altLang="zh-CN"/>
              <a:t>4</a:t>
            </a:r>
            <a:r>
              <a:rPr lang="zh-CN" altLang="en-US"/>
              <a:t> →</a:t>
            </a:r>
            <a:r>
              <a:rPr lang="en-US" altLang="zh-CN"/>
              <a:t> 7</a:t>
            </a:r>
            <a:r>
              <a:rPr lang="zh-CN" altLang="en-US"/>
              <a:t> → </a:t>
            </a:r>
            <a:r>
              <a:rPr lang="en-US" altLang="zh-CN"/>
              <a:t>10</a:t>
            </a:r>
            <a:r>
              <a:rPr lang="zh-CN" altLang="en-US"/>
              <a:t> → </a:t>
            </a:r>
            <a:r>
              <a:rPr lang="en-US" altLang="zh-CN"/>
              <a:t>16</a:t>
            </a:r>
          </a:p>
        </p:txBody>
      </p:sp>
      <p:sp>
        <p:nvSpPr>
          <p:cNvPr id="563" name="矩形: 圆角 562">
            <a:extLst>
              <a:ext uri="{FF2B5EF4-FFF2-40B4-BE49-F238E27FC236}">
                <a16:creationId xmlns:a16="http://schemas.microsoft.com/office/drawing/2014/main" id="{AE81997E-E8E8-4720-AF20-9CF6942278F9}"/>
              </a:ext>
            </a:extLst>
          </p:cNvPr>
          <p:cNvSpPr/>
          <p:nvPr/>
        </p:nvSpPr>
        <p:spPr>
          <a:xfrm>
            <a:off x="3030424" y="5695676"/>
            <a:ext cx="1296955" cy="5691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返回结果</a:t>
            </a:r>
          </a:p>
        </p:txBody>
      </p:sp>
      <p:cxnSp>
        <p:nvCxnSpPr>
          <p:cNvPr id="564" name="直接箭头连接符 563">
            <a:extLst>
              <a:ext uri="{FF2B5EF4-FFF2-40B4-BE49-F238E27FC236}">
                <a16:creationId xmlns:a16="http://schemas.microsoft.com/office/drawing/2014/main" id="{91FDD2E4-299D-4ABD-9F91-B01A1FA91F6F}"/>
              </a:ext>
            </a:extLst>
          </p:cNvPr>
          <p:cNvCxnSpPr>
            <a:cxnSpLocks/>
            <a:stCxn id="501" idx="2"/>
            <a:endCxn id="563" idx="0"/>
          </p:cNvCxnSpPr>
          <p:nvPr/>
        </p:nvCxnSpPr>
        <p:spPr>
          <a:xfrm>
            <a:off x="3678902" y="5210484"/>
            <a:ext cx="0" cy="485192"/>
          </a:xfrm>
          <a:prstGeom prst="straightConnector1">
            <a:avLst/>
          </a:prstGeom>
          <a:ln w="25400">
            <a:solidFill>
              <a:schemeClr val="tx1"/>
            </a:solidFill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连接符: 肘形 564">
            <a:extLst>
              <a:ext uri="{FF2B5EF4-FFF2-40B4-BE49-F238E27FC236}">
                <a16:creationId xmlns:a16="http://schemas.microsoft.com/office/drawing/2014/main" id="{FF1712B2-C26A-443F-BEA6-D7B6D6D71E67}"/>
              </a:ext>
            </a:extLst>
          </p:cNvPr>
          <p:cNvCxnSpPr>
            <a:cxnSpLocks/>
            <a:stCxn id="500" idx="3"/>
            <a:endCxn id="563" idx="3"/>
          </p:cNvCxnSpPr>
          <p:nvPr/>
        </p:nvCxnSpPr>
        <p:spPr>
          <a:xfrm>
            <a:off x="4327379" y="3871542"/>
            <a:ext cx="12700" cy="2108718"/>
          </a:xfrm>
          <a:prstGeom prst="bentConnector3">
            <a:avLst>
              <a:gd name="adj1" fmla="val 2489362"/>
            </a:avLst>
          </a:prstGeom>
          <a:ln w="25400">
            <a:solidFill>
              <a:schemeClr val="tx1"/>
            </a:solidFill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6" name="组合 565">
            <a:extLst>
              <a:ext uri="{FF2B5EF4-FFF2-40B4-BE49-F238E27FC236}">
                <a16:creationId xmlns:a16="http://schemas.microsoft.com/office/drawing/2014/main" id="{C57E140C-42C3-46E5-AFE5-F37D6D2D2AE5}"/>
              </a:ext>
            </a:extLst>
          </p:cNvPr>
          <p:cNvGrpSpPr/>
          <p:nvPr/>
        </p:nvGrpSpPr>
        <p:grpSpPr>
          <a:xfrm>
            <a:off x="5468050" y="2039744"/>
            <a:ext cx="2148566" cy="3358982"/>
            <a:chOff x="5912423" y="1883889"/>
            <a:chExt cx="2148566" cy="3358982"/>
          </a:xfrm>
          <a:solidFill>
            <a:schemeClr val="bg1"/>
          </a:solidFill>
        </p:grpSpPr>
        <p:sp>
          <p:nvSpPr>
            <p:cNvPr id="567" name="椭圆 566">
              <a:extLst>
                <a:ext uri="{FF2B5EF4-FFF2-40B4-BE49-F238E27FC236}">
                  <a16:creationId xmlns:a16="http://schemas.microsoft.com/office/drawing/2014/main" id="{6D874B2E-8EB2-4EFF-B793-F870A5AE395D}"/>
                </a:ext>
              </a:extLst>
            </p:cNvPr>
            <p:cNvSpPr/>
            <p:nvPr/>
          </p:nvSpPr>
          <p:spPr>
            <a:xfrm>
              <a:off x="7158030" y="1883889"/>
              <a:ext cx="487757" cy="4877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1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68" name="椭圆 567">
              <a:extLst>
                <a:ext uri="{FF2B5EF4-FFF2-40B4-BE49-F238E27FC236}">
                  <a16:creationId xmlns:a16="http://schemas.microsoft.com/office/drawing/2014/main" id="{C994FCC7-7AB7-430C-AD50-A6A05ED19964}"/>
                </a:ext>
              </a:extLst>
            </p:cNvPr>
            <p:cNvSpPr/>
            <p:nvPr/>
          </p:nvSpPr>
          <p:spPr>
            <a:xfrm>
              <a:off x="7573232" y="2601696"/>
              <a:ext cx="487757" cy="4877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2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69" name="椭圆 568">
              <a:extLst>
                <a:ext uri="{FF2B5EF4-FFF2-40B4-BE49-F238E27FC236}">
                  <a16:creationId xmlns:a16="http://schemas.microsoft.com/office/drawing/2014/main" id="{049CB72E-749C-4A50-8866-AECE5E1C2FDB}"/>
                </a:ext>
              </a:extLst>
            </p:cNvPr>
            <p:cNvSpPr/>
            <p:nvPr/>
          </p:nvSpPr>
          <p:spPr>
            <a:xfrm>
              <a:off x="6742827" y="2601696"/>
              <a:ext cx="487757" cy="4877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4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70" name="椭圆 569">
              <a:extLst>
                <a:ext uri="{FF2B5EF4-FFF2-40B4-BE49-F238E27FC236}">
                  <a16:creationId xmlns:a16="http://schemas.microsoft.com/office/drawing/2014/main" id="{4CADF0A7-DD89-4730-A763-7F440DA9D821}"/>
                </a:ext>
              </a:extLst>
            </p:cNvPr>
            <p:cNvSpPr/>
            <p:nvPr/>
          </p:nvSpPr>
          <p:spPr>
            <a:xfrm>
              <a:off x="7158030" y="3319502"/>
              <a:ext cx="487757" cy="4877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5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71" name="椭圆 570">
              <a:extLst>
                <a:ext uri="{FF2B5EF4-FFF2-40B4-BE49-F238E27FC236}">
                  <a16:creationId xmlns:a16="http://schemas.microsoft.com/office/drawing/2014/main" id="{2C402FB0-5CAB-499E-8071-399D49CC56F6}"/>
                </a:ext>
              </a:extLst>
            </p:cNvPr>
            <p:cNvSpPr/>
            <p:nvPr/>
          </p:nvSpPr>
          <p:spPr>
            <a:xfrm>
              <a:off x="6327625" y="3319504"/>
              <a:ext cx="487757" cy="4877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7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72" name="椭圆 571">
              <a:extLst>
                <a:ext uri="{FF2B5EF4-FFF2-40B4-BE49-F238E27FC236}">
                  <a16:creationId xmlns:a16="http://schemas.microsoft.com/office/drawing/2014/main" id="{46A8B04A-F2E4-4FE8-9156-BF9DD1CC2ADC}"/>
                </a:ext>
              </a:extLst>
            </p:cNvPr>
            <p:cNvSpPr/>
            <p:nvPr/>
          </p:nvSpPr>
          <p:spPr>
            <a:xfrm>
              <a:off x="5912423" y="4037312"/>
              <a:ext cx="487757" cy="4877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10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73" name="椭圆 572">
              <a:extLst>
                <a:ext uri="{FF2B5EF4-FFF2-40B4-BE49-F238E27FC236}">
                  <a16:creationId xmlns:a16="http://schemas.microsoft.com/office/drawing/2014/main" id="{48828AF8-15EB-4D82-9A63-47E3A435BF32}"/>
                </a:ext>
              </a:extLst>
            </p:cNvPr>
            <p:cNvSpPr/>
            <p:nvPr/>
          </p:nvSpPr>
          <p:spPr>
            <a:xfrm>
              <a:off x="7158029" y="4755114"/>
              <a:ext cx="487757" cy="4877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16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cxnSp>
          <p:nvCxnSpPr>
            <p:cNvPr id="574" name="直接箭头连接符 573">
              <a:extLst>
                <a:ext uri="{FF2B5EF4-FFF2-40B4-BE49-F238E27FC236}">
                  <a16:creationId xmlns:a16="http://schemas.microsoft.com/office/drawing/2014/main" id="{3FF7B033-582A-48EA-B011-BF750E8E6E11}"/>
                </a:ext>
              </a:extLst>
            </p:cNvPr>
            <p:cNvCxnSpPr>
              <a:cxnSpLocks/>
              <a:stCxn id="567" idx="4"/>
              <a:endCxn id="569" idx="0"/>
            </p:cNvCxnSpPr>
            <p:nvPr/>
          </p:nvCxnSpPr>
          <p:spPr>
            <a:xfrm flipH="1">
              <a:off x="6986706" y="2371646"/>
              <a:ext cx="415202" cy="230050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直接箭头连接符 574">
              <a:extLst>
                <a:ext uri="{FF2B5EF4-FFF2-40B4-BE49-F238E27FC236}">
                  <a16:creationId xmlns:a16="http://schemas.microsoft.com/office/drawing/2014/main" id="{9B74E5A4-C4D6-4F93-8F44-4A0A81D32551}"/>
                </a:ext>
              </a:extLst>
            </p:cNvPr>
            <p:cNvCxnSpPr>
              <a:cxnSpLocks/>
              <a:stCxn id="567" idx="4"/>
              <a:endCxn id="568" idx="0"/>
            </p:cNvCxnSpPr>
            <p:nvPr/>
          </p:nvCxnSpPr>
          <p:spPr>
            <a:xfrm>
              <a:off x="7401908" y="2371646"/>
              <a:ext cx="415202" cy="230050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直接箭头连接符 575">
              <a:extLst>
                <a:ext uri="{FF2B5EF4-FFF2-40B4-BE49-F238E27FC236}">
                  <a16:creationId xmlns:a16="http://schemas.microsoft.com/office/drawing/2014/main" id="{22D5F2E0-7073-4276-9960-E0D20EFA4979}"/>
                </a:ext>
              </a:extLst>
            </p:cNvPr>
            <p:cNvCxnSpPr>
              <a:cxnSpLocks/>
              <a:stCxn id="569" idx="4"/>
              <a:endCxn id="571" idx="0"/>
            </p:cNvCxnSpPr>
            <p:nvPr/>
          </p:nvCxnSpPr>
          <p:spPr>
            <a:xfrm flipH="1">
              <a:off x="6571503" y="3089452"/>
              <a:ext cx="415202" cy="230051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直接箭头连接符 576">
              <a:extLst>
                <a:ext uri="{FF2B5EF4-FFF2-40B4-BE49-F238E27FC236}">
                  <a16:creationId xmlns:a16="http://schemas.microsoft.com/office/drawing/2014/main" id="{A9DE3FFF-8993-43F7-B4A2-E3B9B1B1A5CB}"/>
                </a:ext>
              </a:extLst>
            </p:cNvPr>
            <p:cNvCxnSpPr>
              <a:cxnSpLocks/>
              <a:stCxn id="569" idx="4"/>
              <a:endCxn id="570" idx="0"/>
            </p:cNvCxnSpPr>
            <p:nvPr/>
          </p:nvCxnSpPr>
          <p:spPr>
            <a:xfrm>
              <a:off x="6986706" y="3089452"/>
              <a:ext cx="415202" cy="230050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直接箭头连接符 577">
              <a:extLst>
                <a:ext uri="{FF2B5EF4-FFF2-40B4-BE49-F238E27FC236}">
                  <a16:creationId xmlns:a16="http://schemas.microsoft.com/office/drawing/2014/main" id="{B58D7D35-F068-48D7-A0EC-9B446C8399FB}"/>
                </a:ext>
              </a:extLst>
            </p:cNvPr>
            <p:cNvCxnSpPr>
              <a:cxnSpLocks/>
              <a:stCxn id="571" idx="4"/>
              <a:endCxn id="572" idx="0"/>
            </p:cNvCxnSpPr>
            <p:nvPr/>
          </p:nvCxnSpPr>
          <p:spPr>
            <a:xfrm flipH="1">
              <a:off x="6156301" y="3807260"/>
              <a:ext cx="415202" cy="230051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直接箭头连接符 578">
              <a:extLst>
                <a:ext uri="{FF2B5EF4-FFF2-40B4-BE49-F238E27FC236}">
                  <a16:creationId xmlns:a16="http://schemas.microsoft.com/office/drawing/2014/main" id="{2DB1AF25-3A70-49B0-86B3-DBE767E60871}"/>
                </a:ext>
              </a:extLst>
            </p:cNvPr>
            <p:cNvCxnSpPr>
              <a:cxnSpLocks/>
              <a:stCxn id="571" idx="4"/>
              <a:endCxn id="573" idx="0"/>
            </p:cNvCxnSpPr>
            <p:nvPr/>
          </p:nvCxnSpPr>
          <p:spPr>
            <a:xfrm>
              <a:off x="6571504" y="3807261"/>
              <a:ext cx="830404" cy="947853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直接箭头连接符 579">
              <a:extLst>
                <a:ext uri="{FF2B5EF4-FFF2-40B4-BE49-F238E27FC236}">
                  <a16:creationId xmlns:a16="http://schemas.microsoft.com/office/drawing/2014/main" id="{6CD928BD-0FB6-4218-9702-B2CA9C65169D}"/>
                </a:ext>
              </a:extLst>
            </p:cNvPr>
            <p:cNvCxnSpPr>
              <a:cxnSpLocks/>
              <a:stCxn id="570" idx="4"/>
              <a:endCxn id="573" idx="0"/>
            </p:cNvCxnSpPr>
            <p:nvPr/>
          </p:nvCxnSpPr>
          <p:spPr>
            <a:xfrm flipH="1">
              <a:off x="7401908" y="3807259"/>
              <a:ext cx="1" cy="947855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直接箭头连接符 580">
              <a:extLst>
                <a:ext uri="{FF2B5EF4-FFF2-40B4-BE49-F238E27FC236}">
                  <a16:creationId xmlns:a16="http://schemas.microsoft.com/office/drawing/2014/main" id="{95171D8C-E4AC-4924-A3A4-FF3387AB8741}"/>
                </a:ext>
              </a:extLst>
            </p:cNvPr>
            <p:cNvCxnSpPr>
              <a:cxnSpLocks/>
              <a:stCxn id="568" idx="4"/>
              <a:endCxn id="573" idx="0"/>
            </p:cNvCxnSpPr>
            <p:nvPr/>
          </p:nvCxnSpPr>
          <p:spPr>
            <a:xfrm flipH="1">
              <a:off x="7401908" y="3089453"/>
              <a:ext cx="415203" cy="1665661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直接箭头连接符 581">
              <a:extLst>
                <a:ext uri="{FF2B5EF4-FFF2-40B4-BE49-F238E27FC236}">
                  <a16:creationId xmlns:a16="http://schemas.microsoft.com/office/drawing/2014/main" id="{0FC0190F-C8D5-4573-A5CB-07725AC676B3}"/>
                </a:ext>
              </a:extLst>
            </p:cNvPr>
            <p:cNvCxnSpPr>
              <a:stCxn id="572" idx="4"/>
              <a:endCxn id="573" idx="0"/>
            </p:cNvCxnSpPr>
            <p:nvPr/>
          </p:nvCxnSpPr>
          <p:spPr>
            <a:xfrm>
              <a:off x="6156302" y="4525069"/>
              <a:ext cx="1245606" cy="230045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音频 7">
            <a:hlinkClick r:id="" action="ppaction://media"/>
            <a:extLst>
              <a:ext uri="{FF2B5EF4-FFF2-40B4-BE49-F238E27FC236}">
                <a16:creationId xmlns:a16="http://schemas.microsoft.com/office/drawing/2014/main" id="{35D723CE-1082-4864-9474-EE5635F5E8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149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3090"/>
    </mc:Choice>
    <mc:Fallback xmlns="">
      <p:transition advTm="130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1583578"/>
            <a:ext cx="1959429" cy="892012"/>
          </a:xfrm>
          <a:prstGeom prst="rect">
            <a:avLst/>
          </a:prstGeom>
          <a:solidFill>
            <a:srgbClr val="0070C0">
              <a:alpha val="72157"/>
            </a:srgb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4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单元测试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1" y="1840965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设计测试用例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2608590"/>
            <a:ext cx="13388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设计测试类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及运行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3629227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覆盖率测试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边界测试</a:t>
            </a:r>
          </a:p>
        </p:txBody>
      </p:sp>
      <p:sp>
        <p:nvSpPr>
          <p:cNvPr id="492" name="文本框 6">
            <a:extLst>
              <a:ext uri="{FF2B5EF4-FFF2-40B4-BE49-F238E27FC236}">
                <a16:creationId xmlns:a16="http://schemas.microsoft.com/office/drawing/2014/main" id="{0881A901-57FE-4A53-806C-6C469D4DA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80" y="5273635"/>
            <a:ext cx="15696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行代码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运行效能测试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直接连接符 494">
            <a:extLst>
              <a:ext uri="{FF2B5EF4-FFF2-40B4-BE49-F238E27FC236}">
                <a16:creationId xmlns:a16="http://schemas.microsoft.com/office/drawing/2014/main" id="{A3BC5BD9-CF3E-4B45-A419-C596C7A5D6D0}"/>
              </a:ext>
            </a:extLst>
          </p:cNvPr>
          <p:cNvCxnSpPr>
            <a:cxnSpLocks/>
          </p:cNvCxnSpPr>
          <p:nvPr/>
        </p:nvCxnSpPr>
        <p:spPr>
          <a:xfrm>
            <a:off x="527249" y="5150794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Rectangle 480">
            <a:extLst>
              <a:ext uri="{FF2B5EF4-FFF2-40B4-BE49-F238E27FC236}">
                <a16:creationId xmlns:a16="http://schemas.microsoft.com/office/drawing/2014/main" id="{61B3B501-F7FC-490A-81E2-7E4033D1D9C8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2510303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测试用例</a:t>
            </a:r>
            <a:r>
              <a:rPr lang="en-US" altLang="zh-CN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——</a:t>
            </a: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注册</a:t>
            </a:r>
            <a:endParaRPr lang="en-US" sz="2400" b="1" dirty="0">
              <a:solidFill>
                <a:schemeClr val="dk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26AE61-6E4D-4ECE-925A-60D9D97990A1}"/>
              </a:ext>
            </a:extLst>
          </p:cNvPr>
          <p:cNvSpPr txBox="1"/>
          <p:nvPr/>
        </p:nvSpPr>
        <p:spPr>
          <a:xfrm>
            <a:off x="2254183" y="22879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参数约束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B88FE8F-0FAB-4665-9656-9D25681F2D20}"/>
              </a:ext>
            </a:extLst>
          </p:cNvPr>
          <p:cNvSpPr txBox="1"/>
          <p:nvPr/>
        </p:nvSpPr>
        <p:spPr>
          <a:xfrm>
            <a:off x="6156960" y="4277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测试用例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2F2226-E055-4814-8AA0-63D89512A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202" y="835089"/>
            <a:ext cx="5852667" cy="400084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468FE7B-772B-4884-A147-B5C7F70768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2121" y="4722910"/>
            <a:ext cx="5867908" cy="20423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8C4A3CD-5CB3-4F36-8E92-7A67D3923B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9198" y="2749164"/>
            <a:ext cx="3823740" cy="1510264"/>
          </a:xfrm>
          <a:prstGeom prst="rect">
            <a:avLst/>
          </a:prstGeom>
        </p:spPr>
      </p:pic>
      <p:pic>
        <p:nvPicPr>
          <p:cNvPr id="11" name="音频 10">
            <a:hlinkClick r:id="" action="ppaction://media"/>
            <a:extLst>
              <a:ext uri="{FF2B5EF4-FFF2-40B4-BE49-F238E27FC236}">
                <a16:creationId xmlns:a16="http://schemas.microsoft.com/office/drawing/2014/main" id="{A7EB65B7-A6F9-477A-B8C3-263029B48E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9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244"/>
    </mc:Choice>
    <mc:Fallback xmlns="">
      <p:transition advTm="92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1583578"/>
            <a:ext cx="1959429" cy="892012"/>
          </a:xfrm>
          <a:prstGeom prst="rect">
            <a:avLst/>
          </a:prstGeom>
          <a:solidFill>
            <a:srgbClr val="0070C0">
              <a:alpha val="72157"/>
            </a:srgb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4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单元测试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1" y="1840965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设计测试用例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2608590"/>
            <a:ext cx="13388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设计测试类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及运行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3629227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覆盖率测试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边界测试</a:t>
            </a:r>
          </a:p>
        </p:txBody>
      </p:sp>
      <p:sp>
        <p:nvSpPr>
          <p:cNvPr id="492" name="文本框 6">
            <a:extLst>
              <a:ext uri="{FF2B5EF4-FFF2-40B4-BE49-F238E27FC236}">
                <a16:creationId xmlns:a16="http://schemas.microsoft.com/office/drawing/2014/main" id="{0881A901-57FE-4A53-806C-6C469D4DA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80" y="5273635"/>
            <a:ext cx="15696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行代码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运行效能测试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直接连接符 494">
            <a:extLst>
              <a:ext uri="{FF2B5EF4-FFF2-40B4-BE49-F238E27FC236}">
                <a16:creationId xmlns:a16="http://schemas.microsoft.com/office/drawing/2014/main" id="{A3BC5BD9-CF3E-4B45-A419-C596C7A5D6D0}"/>
              </a:ext>
            </a:extLst>
          </p:cNvPr>
          <p:cNvCxnSpPr>
            <a:cxnSpLocks/>
          </p:cNvCxnSpPr>
          <p:nvPr/>
        </p:nvCxnSpPr>
        <p:spPr>
          <a:xfrm>
            <a:off x="527249" y="5150794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Rectangle 480">
            <a:extLst>
              <a:ext uri="{FF2B5EF4-FFF2-40B4-BE49-F238E27FC236}">
                <a16:creationId xmlns:a16="http://schemas.microsoft.com/office/drawing/2014/main" id="{61B3B501-F7FC-490A-81E2-7E4033D1D9C8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2510303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测试用例</a:t>
            </a:r>
            <a:r>
              <a:rPr lang="en-US" altLang="zh-CN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——</a:t>
            </a: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登录</a:t>
            </a:r>
            <a:endParaRPr lang="en-US" sz="2400" b="1" dirty="0">
              <a:solidFill>
                <a:schemeClr val="dk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26AE61-6E4D-4ECE-925A-60D9D97990A1}"/>
              </a:ext>
            </a:extLst>
          </p:cNvPr>
          <p:cNvSpPr txBox="1"/>
          <p:nvPr/>
        </p:nvSpPr>
        <p:spPr>
          <a:xfrm>
            <a:off x="2254183" y="22879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参数约束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B88FE8F-0FAB-4665-9656-9D25681F2D20}"/>
              </a:ext>
            </a:extLst>
          </p:cNvPr>
          <p:cNvSpPr txBox="1"/>
          <p:nvPr/>
        </p:nvSpPr>
        <p:spPr>
          <a:xfrm>
            <a:off x="6156960" y="4277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测试用例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67CC874-574F-4863-A072-D63E073D20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943" y="826978"/>
            <a:ext cx="5311600" cy="393226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2037103-FFC1-4315-AA0E-B32071D408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322" y="1718821"/>
            <a:ext cx="5326842" cy="361981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1FFD626-65D1-4400-AC34-12D387334D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839" y="2287946"/>
            <a:ext cx="5349704" cy="365029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FA86A9A-AAF8-49AB-8241-9A5E0AB667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0702" y="2843168"/>
            <a:ext cx="5342083" cy="364267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437F263-E9D1-4A75-B850-6F8C90DC983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20435"/>
          <a:stretch/>
        </p:blipFill>
        <p:spPr>
          <a:xfrm>
            <a:off x="6257839" y="3238185"/>
            <a:ext cx="5349704" cy="361981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9DEBE64-291C-4962-85C5-B25EB0104E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3030" y="2722323"/>
            <a:ext cx="3855323" cy="2184486"/>
          </a:xfrm>
          <a:prstGeom prst="rect">
            <a:avLst/>
          </a:prstGeom>
        </p:spPr>
      </p:pic>
      <p:pic>
        <p:nvPicPr>
          <p:cNvPr id="4" name="音频 3">
            <a:hlinkClick r:id="" action="ppaction://media"/>
            <a:extLst>
              <a:ext uri="{FF2B5EF4-FFF2-40B4-BE49-F238E27FC236}">
                <a16:creationId xmlns:a16="http://schemas.microsoft.com/office/drawing/2014/main" id="{C2502F86-CAEA-47A9-A49C-8AEA649A59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6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8519"/>
    </mc:Choice>
    <mc:Fallback xmlns="">
      <p:transition advTm="85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1583578"/>
            <a:ext cx="1959429" cy="892012"/>
          </a:xfrm>
          <a:prstGeom prst="rect">
            <a:avLst/>
          </a:prstGeom>
          <a:solidFill>
            <a:srgbClr val="0070C0">
              <a:alpha val="72157"/>
            </a:srgb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4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单元测试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1" y="1840965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设计测试用例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2608590"/>
            <a:ext cx="13388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设计测试类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及运行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3629227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覆盖率测试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边界测试</a:t>
            </a:r>
          </a:p>
        </p:txBody>
      </p:sp>
      <p:sp>
        <p:nvSpPr>
          <p:cNvPr id="492" name="文本框 6">
            <a:extLst>
              <a:ext uri="{FF2B5EF4-FFF2-40B4-BE49-F238E27FC236}">
                <a16:creationId xmlns:a16="http://schemas.microsoft.com/office/drawing/2014/main" id="{0881A901-57FE-4A53-806C-6C469D4DA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80" y="5273635"/>
            <a:ext cx="15696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行代码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运行效能测试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直接连接符 494">
            <a:extLst>
              <a:ext uri="{FF2B5EF4-FFF2-40B4-BE49-F238E27FC236}">
                <a16:creationId xmlns:a16="http://schemas.microsoft.com/office/drawing/2014/main" id="{A3BC5BD9-CF3E-4B45-A419-C596C7A5D6D0}"/>
              </a:ext>
            </a:extLst>
          </p:cNvPr>
          <p:cNvCxnSpPr>
            <a:cxnSpLocks/>
          </p:cNvCxnSpPr>
          <p:nvPr/>
        </p:nvCxnSpPr>
        <p:spPr>
          <a:xfrm>
            <a:off x="527249" y="5150794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Rectangle 480">
            <a:extLst>
              <a:ext uri="{FF2B5EF4-FFF2-40B4-BE49-F238E27FC236}">
                <a16:creationId xmlns:a16="http://schemas.microsoft.com/office/drawing/2014/main" id="{61B3B501-F7FC-490A-81E2-7E4033D1D9C8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3125856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测试用例</a:t>
            </a:r>
            <a:r>
              <a:rPr lang="en-US" altLang="zh-CN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——</a:t>
            </a: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获取任务</a:t>
            </a:r>
            <a:endParaRPr lang="en-US" sz="2400" b="1" dirty="0">
              <a:solidFill>
                <a:schemeClr val="dk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26AE61-6E4D-4ECE-925A-60D9D97990A1}"/>
              </a:ext>
            </a:extLst>
          </p:cNvPr>
          <p:cNvSpPr txBox="1"/>
          <p:nvPr/>
        </p:nvSpPr>
        <p:spPr>
          <a:xfrm>
            <a:off x="2254183" y="22879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参数约束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B88FE8F-0FAB-4665-9656-9D25681F2D20}"/>
              </a:ext>
            </a:extLst>
          </p:cNvPr>
          <p:cNvSpPr txBox="1"/>
          <p:nvPr/>
        </p:nvSpPr>
        <p:spPr>
          <a:xfrm>
            <a:off x="6156960" y="2431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测试用例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EFCACC-7DD5-4910-BDF8-8FB0D71AD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3763" y="2698612"/>
            <a:ext cx="3891490" cy="76827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4FDE2D4-ECB3-4C87-B397-A000DFEB25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0900" y="612432"/>
            <a:ext cx="5303980" cy="479339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19ED322-DE3B-4799-B8AA-08CE8B0CEF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469" y="2375273"/>
            <a:ext cx="5326842" cy="422946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C23B6F9-E513-4C7A-B48D-736FB16E66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9469" y="4747077"/>
            <a:ext cx="5296359" cy="2110923"/>
          </a:xfrm>
          <a:prstGeom prst="rect">
            <a:avLst/>
          </a:prstGeom>
        </p:spPr>
      </p:pic>
      <p:pic>
        <p:nvPicPr>
          <p:cNvPr id="6" name="音频 5">
            <a:hlinkClick r:id="" action="ppaction://media"/>
            <a:extLst>
              <a:ext uri="{FF2B5EF4-FFF2-40B4-BE49-F238E27FC236}">
                <a16:creationId xmlns:a16="http://schemas.microsoft.com/office/drawing/2014/main" id="{2E115B66-ADC5-4DC8-AC31-F0F73B5C7D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10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860"/>
    </mc:Choice>
    <mc:Fallback xmlns="">
      <p:transition advTm="48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1583578"/>
            <a:ext cx="1959429" cy="892012"/>
          </a:xfrm>
          <a:prstGeom prst="rect">
            <a:avLst/>
          </a:prstGeom>
          <a:solidFill>
            <a:srgbClr val="0070C0">
              <a:alpha val="72157"/>
            </a:srgb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4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单元测试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1" y="1840965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设计测试用例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2608590"/>
            <a:ext cx="13388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设计测试类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及运行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3629227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覆盖率测试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边界测试</a:t>
            </a:r>
          </a:p>
        </p:txBody>
      </p:sp>
      <p:sp>
        <p:nvSpPr>
          <p:cNvPr id="492" name="文本框 6">
            <a:extLst>
              <a:ext uri="{FF2B5EF4-FFF2-40B4-BE49-F238E27FC236}">
                <a16:creationId xmlns:a16="http://schemas.microsoft.com/office/drawing/2014/main" id="{0881A901-57FE-4A53-806C-6C469D4DA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80" y="5273635"/>
            <a:ext cx="15696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行代码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运行效能测试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直接连接符 494">
            <a:extLst>
              <a:ext uri="{FF2B5EF4-FFF2-40B4-BE49-F238E27FC236}">
                <a16:creationId xmlns:a16="http://schemas.microsoft.com/office/drawing/2014/main" id="{A3BC5BD9-CF3E-4B45-A419-C596C7A5D6D0}"/>
              </a:ext>
            </a:extLst>
          </p:cNvPr>
          <p:cNvCxnSpPr>
            <a:cxnSpLocks/>
          </p:cNvCxnSpPr>
          <p:nvPr/>
        </p:nvCxnSpPr>
        <p:spPr>
          <a:xfrm>
            <a:off x="527249" y="5150794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Rectangle 480">
            <a:extLst>
              <a:ext uri="{FF2B5EF4-FFF2-40B4-BE49-F238E27FC236}">
                <a16:creationId xmlns:a16="http://schemas.microsoft.com/office/drawing/2014/main" id="{61B3B501-F7FC-490A-81E2-7E4033D1D9C8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3125856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测试用例</a:t>
            </a:r>
            <a:r>
              <a:rPr lang="en-US" altLang="zh-CN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——</a:t>
            </a: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删除任务</a:t>
            </a:r>
            <a:endParaRPr lang="en-US" sz="2400" b="1" dirty="0">
              <a:solidFill>
                <a:schemeClr val="dk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26AE61-6E4D-4ECE-925A-60D9D97990A1}"/>
              </a:ext>
            </a:extLst>
          </p:cNvPr>
          <p:cNvSpPr txBox="1"/>
          <p:nvPr/>
        </p:nvSpPr>
        <p:spPr>
          <a:xfrm>
            <a:off x="2254183" y="22879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参数约束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B88FE8F-0FAB-4665-9656-9D25681F2D20}"/>
              </a:ext>
            </a:extLst>
          </p:cNvPr>
          <p:cNvSpPr txBox="1"/>
          <p:nvPr/>
        </p:nvSpPr>
        <p:spPr>
          <a:xfrm>
            <a:off x="6156960" y="2431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测试用例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1E9AC39-C49F-4EB9-953E-8F778EB1B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183" y="2683016"/>
            <a:ext cx="3878446" cy="122068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7DAC59D-40DB-45D4-9A73-3CFF666500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783" y="627942"/>
            <a:ext cx="5311600" cy="272819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998FA35-2C3C-4CCA-9399-AA28B8A2BF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0541" y="2287946"/>
            <a:ext cx="5326842" cy="512108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3661D16-9312-4B87-96BA-E068CBD1CC0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6726"/>
          <a:stretch/>
        </p:blipFill>
        <p:spPr>
          <a:xfrm>
            <a:off x="6278162" y="3597592"/>
            <a:ext cx="5326842" cy="272819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0119F98-D6A6-4C3D-A68D-83E29819E5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0541" y="4896762"/>
            <a:ext cx="5311600" cy="2400508"/>
          </a:xfrm>
          <a:prstGeom prst="rect">
            <a:avLst/>
          </a:prstGeom>
        </p:spPr>
      </p:pic>
      <p:pic>
        <p:nvPicPr>
          <p:cNvPr id="2" name="音频 1">
            <a:hlinkClick r:id="" action="ppaction://media"/>
            <a:extLst>
              <a:ext uri="{FF2B5EF4-FFF2-40B4-BE49-F238E27FC236}">
                <a16:creationId xmlns:a16="http://schemas.microsoft.com/office/drawing/2014/main" id="{FFD4A21B-3D33-4306-8352-C5E12F8505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83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5684"/>
    </mc:Choice>
    <mc:Fallback xmlns="">
      <p:transition advClick="0" advTm="56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2469248"/>
            <a:ext cx="1959429" cy="892012"/>
          </a:xfrm>
          <a:prstGeom prst="rect">
            <a:avLst/>
          </a:prstGeom>
          <a:solidFill>
            <a:srgbClr val="0070C0">
              <a:alpha val="72157"/>
            </a:srgb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4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单元测试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1" y="1840965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设计测试用例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2608590"/>
            <a:ext cx="13388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设计测试类</a:t>
            </a:r>
            <a:endParaRPr lang="en-US" altLang="zh-CN" sz="1800" b="1">
              <a:solidFill>
                <a:schemeClr val="bg1"/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及运行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3629227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覆盖率测试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边界测试</a:t>
            </a:r>
          </a:p>
        </p:txBody>
      </p:sp>
      <p:sp>
        <p:nvSpPr>
          <p:cNvPr id="492" name="文本框 6">
            <a:extLst>
              <a:ext uri="{FF2B5EF4-FFF2-40B4-BE49-F238E27FC236}">
                <a16:creationId xmlns:a16="http://schemas.microsoft.com/office/drawing/2014/main" id="{0881A901-57FE-4A53-806C-6C469D4DA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80" y="5273635"/>
            <a:ext cx="15696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行代码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运行效能测试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直接连接符 494">
            <a:extLst>
              <a:ext uri="{FF2B5EF4-FFF2-40B4-BE49-F238E27FC236}">
                <a16:creationId xmlns:a16="http://schemas.microsoft.com/office/drawing/2014/main" id="{A3BC5BD9-CF3E-4B45-A419-C596C7A5D6D0}"/>
              </a:ext>
            </a:extLst>
          </p:cNvPr>
          <p:cNvCxnSpPr>
            <a:cxnSpLocks/>
          </p:cNvCxnSpPr>
          <p:nvPr/>
        </p:nvCxnSpPr>
        <p:spPr>
          <a:xfrm>
            <a:off x="527249" y="5150794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Rectangle 480">
            <a:extLst>
              <a:ext uri="{FF2B5EF4-FFF2-40B4-BE49-F238E27FC236}">
                <a16:creationId xmlns:a16="http://schemas.microsoft.com/office/drawing/2014/main" id="{61B3B501-F7FC-490A-81E2-7E4033D1D9C8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1694375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注册 </a:t>
            </a:r>
            <a:r>
              <a:rPr lang="en-US" altLang="zh-CN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&amp; </a:t>
            </a: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登录</a:t>
            </a:r>
            <a:endParaRPr lang="en-US" sz="2400" b="1" dirty="0">
              <a:solidFill>
                <a:schemeClr val="dk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808DAAC5-5242-497C-87FF-6E94A062F26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205390" y="1168998"/>
            <a:ext cx="6937024" cy="372157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259E8BF-AEDF-44DB-A8E3-F3506DFE9EAA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416722" y="2720457"/>
            <a:ext cx="5274310" cy="3303905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E1EDFE8-1A2F-4907-AB63-A1AEB48854AE}"/>
              </a:ext>
            </a:extLst>
          </p:cNvPr>
          <p:cNvSpPr txBox="1"/>
          <p:nvPr/>
        </p:nvSpPr>
        <p:spPr>
          <a:xfrm>
            <a:off x="3373980" y="52274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全部通过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874D4B4-BF30-4DAE-846C-29FD9E5531DF}"/>
              </a:ext>
            </a:extLst>
          </p:cNvPr>
          <p:cNvSpPr/>
          <p:nvPr/>
        </p:nvSpPr>
        <p:spPr>
          <a:xfrm>
            <a:off x="3417068" y="5227468"/>
            <a:ext cx="1021819" cy="369332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音频 5">
            <a:hlinkClick r:id="" action="ppaction://media"/>
            <a:extLst>
              <a:ext uri="{FF2B5EF4-FFF2-40B4-BE49-F238E27FC236}">
                <a16:creationId xmlns:a16="http://schemas.microsoft.com/office/drawing/2014/main" id="{06D2E22F-B212-4CFE-8231-E78F9B92C1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8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3713"/>
    </mc:Choice>
    <mc:Fallback xmlns="">
      <p:transition advTm="137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2469248"/>
            <a:ext cx="1959429" cy="892012"/>
          </a:xfrm>
          <a:prstGeom prst="rect">
            <a:avLst/>
          </a:prstGeom>
          <a:solidFill>
            <a:srgbClr val="0070C0">
              <a:alpha val="72157"/>
            </a:srgb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4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单元测试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1" y="1840965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设计测试用例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2608590"/>
            <a:ext cx="13388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设计测试类</a:t>
            </a:r>
            <a:endParaRPr lang="en-US" altLang="zh-CN" sz="1800" b="1">
              <a:solidFill>
                <a:schemeClr val="bg1"/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及运行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3629227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覆盖率测试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边界测试</a:t>
            </a:r>
          </a:p>
        </p:txBody>
      </p:sp>
      <p:sp>
        <p:nvSpPr>
          <p:cNvPr id="492" name="文本框 6">
            <a:extLst>
              <a:ext uri="{FF2B5EF4-FFF2-40B4-BE49-F238E27FC236}">
                <a16:creationId xmlns:a16="http://schemas.microsoft.com/office/drawing/2014/main" id="{0881A901-57FE-4A53-806C-6C469D4DA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80" y="5273635"/>
            <a:ext cx="15696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行代码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运行效能测试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直接连接符 494">
            <a:extLst>
              <a:ext uri="{FF2B5EF4-FFF2-40B4-BE49-F238E27FC236}">
                <a16:creationId xmlns:a16="http://schemas.microsoft.com/office/drawing/2014/main" id="{A3BC5BD9-CF3E-4B45-A419-C596C7A5D6D0}"/>
              </a:ext>
            </a:extLst>
          </p:cNvPr>
          <p:cNvCxnSpPr>
            <a:cxnSpLocks/>
          </p:cNvCxnSpPr>
          <p:nvPr/>
        </p:nvCxnSpPr>
        <p:spPr>
          <a:xfrm>
            <a:off x="527249" y="5150794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Rectangle 480">
            <a:extLst>
              <a:ext uri="{FF2B5EF4-FFF2-40B4-BE49-F238E27FC236}">
                <a16:creationId xmlns:a16="http://schemas.microsoft.com/office/drawing/2014/main" id="{61B3B501-F7FC-490A-81E2-7E4033D1D9C8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1846659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任务相关功能</a:t>
            </a:r>
            <a:endParaRPr lang="en-US" sz="2400" b="1" dirty="0">
              <a:solidFill>
                <a:schemeClr val="dk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50C3678-2656-45AF-95B1-E809BAEF8F1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203123" y="1168999"/>
            <a:ext cx="6937022" cy="372157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E53B33D-2BF1-453E-9A35-0AFA1CB1FC98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451401" y="3566396"/>
            <a:ext cx="5274310" cy="227901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F594013B-AD13-436F-B345-367F773DF430}"/>
              </a:ext>
            </a:extLst>
          </p:cNvPr>
          <p:cNvSpPr txBox="1"/>
          <p:nvPr/>
        </p:nvSpPr>
        <p:spPr>
          <a:xfrm>
            <a:off x="3373980" y="52274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全部通过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E521394-BE36-440C-B67F-50B7D3AE618E}"/>
              </a:ext>
            </a:extLst>
          </p:cNvPr>
          <p:cNvSpPr/>
          <p:nvPr/>
        </p:nvSpPr>
        <p:spPr>
          <a:xfrm>
            <a:off x="3417068" y="5227468"/>
            <a:ext cx="1021819" cy="369332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音频 5">
            <a:hlinkClick r:id="" action="ppaction://media"/>
            <a:extLst>
              <a:ext uri="{FF2B5EF4-FFF2-40B4-BE49-F238E27FC236}">
                <a16:creationId xmlns:a16="http://schemas.microsoft.com/office/drawing/2014/main" id="{9F9F0754-F7CB-46D7-9445-A9CC26B7A2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751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053"/>
    </mc:Choice>
    <mc:Fallback xmlns="">
      <p:transition advTm="90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2469248"/>
            <a:ext cx="1959429" cy="892012"/>
          </a:xfrm>
          <a:prstGeom prst="rect">
            <a:avLst/>
          </a:prstGeom>
          <a:solidFill>
            <a:srgbClr val="0070C0">
              <a:alpha val="72157"/>
            </a:srgb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4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单元测试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1" y="1840965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设计测试用例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2608590"/>
            <a:ext cx="13388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设计测试类</a:t>
            </a:r>
            <a:endParaRPr lang="en-US" altLang="zh-CN" sz="1800" b="1">
              <a:solidFill>
                <a:schemeClr val="bg1"/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及运行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3629227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覆盖率测试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边界测试</a:t>
            </a:r>
          </a:p>
        </p:txBody>
      </p:sp>
      <p:sp>
        <p:nvSpPr>
          <p:cNvPr id="492" name="文本框 6">
            <a:extLst>
              <a:ext uri="{FF2B5EF4-FFF2-40B4-BE49-F238E27FC236}">
                <a16:creationId xmlns:a16="http://schemas.microsoft.com/office/drawing/2014/main" id="{0881A901-57FE-4A53-806C-6C469D4DA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80" y="5273635"/>
            <a:ext cx="15696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行代码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运行效能测试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直接连接符 494">
            <a:extLst>
              <a:ext uri="{FF2B5EF4-FFF2-40B4-BE49-F238E27FC236}">
                <a16:creationId xmlns:a16="http://schemas.microsoft.com/office/drawing/2014/main" id="{A3BC5BD9-CF3E-4B45-A419-C596C7A5D6D0}"/>
              </a:ext>
            </a:extLst>
          </p:cNvPr>
          <p:cNvCxnSpPr>
            <a:cxnSpLocks/>
          </p:cNvCxnSpPr>
          <p:nvPr/>
        </p:nvCxnSpPr>
        <p:spPr>
          <a:xfrm>
            <a:off x="527249" y="5150794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Rectangle 480">
            <a:extLst>
              <a:ext uri="{FF2B5EF4-FFF2-40B4-BE49-F238E27FC236}">
                <a16:creationId xmlns:a16="http://schemas.microsoft.com/office/drawing/2014/main" id="{61B3B501-F7FC-490A-81E2-7E4033D1D9C8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615553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其他</a:t>
            </a:r>
            <a:endParaRPr lang="en-US" sz="2400" b="1" dirty="0">
              <a:solidFill>
                <a:schemeClr val="dk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AE8A541-989C-4FA2-A187-727B512AC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3769" y="1219200"/>
            <a:ext cx="5906295" cy="316848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835C7B4-2083-4B4E-9E59-8239F991D7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3870" y="1977912"/>
            <a:ext cx="5906295" cy="316848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DFBAC7C-4A94-4EC8-BA2B-26E10F422B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8398" y="2751485"/>
            <a:ext cx="5906295" cy="316848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593B663-25E1-4D01-920D-52123A9900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8998" y="3489317"/>
            <a:ext cx="5890009" cy="3159744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98B1AF2F-6DE6-4EBA-BA07-6542375C35D5}"/>
              </a:ext>
            </a:extLst>
          </p:cNvPr>
          <p:cNvSpPr txBox="1"/>
          <p:nvPr/>
        </p:nvSpPr>
        <p:spPr>
          <a:xfrm>
            <a:off x="3712285" y="930627"/>
            <a:ext cx="2534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UserRepositoryTest.java</a:t>
            </a:r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3CBB77-E6F6-4B05-9FA6-F4507F0F6E72}"/>
              </a:ext>
            </a:extLst>
          </p:cNvPr>
          <p:cNvSpPr txBox="1"/>
          <p:nvPr/>
        </p:nvSpPr>
        <p:spPr>
          <a:xfrm>
            <a:off x="4245591" y="1689518"/>
            <a:ext cx="3180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UserDetailServiceImplTest.java</a:t>
            </a:r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7436BB9-2B1D-4328-B007-66839BD44DBA}"/>
              </a:ext>
            </a:extLst>
          </p:cNvPr>
          <p:cNvSpPr txBox="1"/>
          <p:nvPr/>
        </p:nvSpPr>
        <p:spPr>
          <a:xfrm>
            <a:off x="5087550" y="2382153"/>
            <a:ext cx="3413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UserRegisterServiceImplTest.java</a:t>
            </a:r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288B7AB-F70E-4AF2-B637-5F0CE363A0BC}"/>
              </a:ext>
            </a:extLst>
          </p:cNvPr>
          <p:cNvSpPr txBox="1"/>
          <p:nvPr/>
        </p:nvSpPr>
        <p:spPr>
          <a:xfrm>
            <a:off x="5835930" y="3208713"/>
            <a:ext cx="2379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JwtTokenUtilsTest.java</a:t>
            </a:r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EB7EC6E-9AFF-4342-868E-1E90665DEA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6183" y="2554547"/>
            <a:ext cx="2781626" cy="2417098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CCA1AFDE-53C7-4AC8-B21B-E5A35343B826}"/>
              </a:ext>
            </a:extLst>
          </p:cNvPr>
          <p:cNvSpPr txBox="1"/>
          <p:nvPr/>
        </p:nvSpPr>
        <p:spPr>
          <a:xfrm>
            <a:off x="10132998" y="21061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全部通过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AFA66C3-F4E6-4F8D-A6AC-9EAFA1522D54}"/>
              </a:ext>
            </a:extLst>
          </p:cNvPr>
          <p:cNvSpPr/>
          <p:nvPr/>
        </p:nvSpPr>
        <p:spPr>
          <a:xfrm>
            <a:off x="9210366" y="2058850"/>
            <a:ext cx="2962780" cy="3087543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音频 6">
            <a:hlinkClick r:id="" action="ppaction://media"/>
            <a:extLst>
              <a:ext uri="{FF2B5EF4-FFF2-40B4-BE49-F238E27FC236}">
                <a16:creationId xmlns:a16="http://schemas.microsoft.com/office/drawing/2014/main" id="{2285CE65-574F-4D6D-9633-5DC7F59FC7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02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922"/>
    </mc:Choice>
    <mc:Fallback xmlns="">
      <p:transition advClick="0" advTm="109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3367479"/>
            <a:ext cx="1959429" cy="892012"/>
          </a:xfrm>
          <a:prstGeom prst="rect">
            <a:avLst/>
          </a:prstGeom>
          <a:solidFill>
            <a:srgbClr val="0070C0">
              <a:alpha val="72157"/>
            </a:srgb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4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单元测试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1" y="1840965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设计测试用例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2608590"/>
            <a:ext cx="13388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设计测试类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及运行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3629227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覆盖率测试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边界测试</a:t>
            </a:r>
          </a:p>
        </p:txBody>
      </p:sp>
      <p:sp>
        <p:nvSpPr>
          <p:cNvPr id="492" name="文本框 6">
            <a:extLst>
              <a:ext uri="{FF2B5EF4-FFF2-40B4-BE49-F238E27FC236}">
                <a16:creationId xmlns:a16="http://schemas.microsoft.com/office/drawing/2014/main" id="{0881A901-57FE-4A53-806C-6C469D4DA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80" y="5273635"/>
            <a:ext cx="15696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行代码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运行效能测试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直接连接符 494">
            <a:extLst>
              <a:ext uri="{FF2B5EF4-FFF2-40B4-BE49-F238E27FC236}">
                <a16:creationId xmlns:a16="http://schemas.microsoft.com/office/drawing/2014/main" id="{A3BC5BD9-CF3E-4B45-A419-C596C7A5D6D0}"/>
              </a:ext>
            </a:extLst>
          </p:cNvPr>
          <p:cNvCxnSpPr>
            <a:cxnSpLocks/>
          </p:cNvCxnSpPr>
          <p:nvPr/>
        </p:nvCxnSpPr>
        <p:spPr>
          <a:xfrm>
            <a:off x="527249" y="5150794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472733AA-6856-44CA-AD83-AA166D7021D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205040" y="2180426"/>
            <a:ext cx="9520671" cy="178516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807BA4B-23AB-4BC6-8942-37841D8959A8}"/>
              </a:ext>
            </a:extLst>
          </p:cNvPr>
          <p:cNvSpPr/>
          <p:nvPr/>
        </p:nvSpPr>
        <p:spPr>
          <a:xfrm>
            <a:off x="4051949" y="4258782"/>
            <a:ext cx="5826851" cy="1838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SzPct val="25000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Montserrat" panose="02000505000000020004"/>
                <a:sym typeface="Montserrat" panose="02000505000000020004"/>
              </a:rPr>
              <a:t> </a:t>
            </a:r>
            <a:r>
              <a:rPr lang="zh-CN" altLang="en-US">
                <a:sym typeface="Montserrat" panose="02000505000000020004"/>
              </a:rPr>
              <a:t>使用</a:t>
            </a:r>
            <a:r>
              <a:rPr lang="en-US" altLang="zh-CN">
                <a:sym typeface="Montserrat" panose="02000505000000020004"/>
              </a:rPr>
              <a:t>IDEA</a:t>
            </a:r>
            <a:r>
              <a:rPr lang="zh-CN" altLang="en-US">
                <a:sym typeface="Montserrat" panose="02000505000000020004"/>
              </a:rPr>
              <a:t>的 </a:t>
            </a:r>
            <a:r>
              <a:rPr lang="en-US" altLang="zh-CN" b="1">
                <a:sym typeface="Montserrat" panose="02000505000000020004"/>
              </a:rPr>
              <a:t>Run With Coverage</a:t>
            </a:r>
            <a:r>
              <a:rPr lang="en-US" altLang="zh-CN">
                <a:sym typeface="Montserrat" panose="02000505000000020004"/>
              </a:rPr>
              <a:t> </a:t>
            </a:r>
            <a:r>
              <a:rPr lang="zh-CN" altLang="en-US">
                <a:sym typeface="Montserrat" panose="02000505000000020004"/>
              </a:rPr>
              <a:t>进行覆盖率测试。除    </a:t>
            </a:r>
            <a:r>
              <a:rPr lang="en-US" altLang="zh-CN">
                <a:sym typeface="Montserrat" panose="02000505000000020004"/>
              </a:rPr>
              <a:t>Entity</a:t>
            </a:r>
            <a:r>
              <a:rPr lang="zh-CN" altLang="en-US">
                <a:sym typeface="Montserrat" panose="02000505000000020004"/>
              </a:rPr>
              <a:t>和</a:t>
            </a:r>
            <a:r>
              <a:rPr lang="en-US" altLang="zh-CN">
                <a:sym typeface="Montserrat" panose="02000505000000020004"/>
              </a:rPr>
              <a:t>Exception</a:t>
            </a:r>
            <a:r>
              <a:rPr lang="zh-CN" altLang="en-US">
                <a:sym typeface="Montserrat" panose="02000505000000020004"/>
              </a:rPr>
              <a:t>外，其他类和方法的覆盖率都达到</a:t>
            </a:r>
            <a:r>
              <a:rPr lang="en-US" altLang="zh-CN" b="1">
                <a:sym typeface="Montserrat" panose="02000505000000020004"/>
              </a:rPr>
              <a:t>100%</a:t>
            </a:r>
          </a:p>
          <a:p>
            <a:pPr lvl="0">
              <a:lnSpc>
                <a:spcPct val="150000"/>
              </a:lnSpc>
              <a:buSzPct val="25000"/>
            </a:pPr>
            <a:b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Montserrat" panose="02000505000000020004"/>
                <a:sym typeface="Montserrat" panose="02000505000000020004"/>
              </a:rPr>
            </a:b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Montserrat" panose="02000505000000020004"/>
              <a:sym typeface="Montserrat" panose="02000505000000020004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5BDE1C1-50AB-4E58-B5CF-DA5948564E74}"/>
              </a:ext>
            </a:extLst>
          </p:cNvPr>
          <p:cNvSpPr/>
          <p:nvPr/>
        </p:nvSpPr>
        <p:spPr>
          <a:xfrm>
            <a:off x="9032240" y="2397760"/>
            <a:ext cx="660400" cy="1567832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7BAF8D-1243-4406-97F0-0A9F70675B54}"/>
              </a:ext>
            </a:extLst>
          </p:cNvPr>
          <p:cNvSpPr/>
          <p:nvPr/>
        </p:nvSpPr>
        <p:spPr>
          <a:xfrm>
            <a:off x="9907771" y="2397760"/>
            <a:ext cx="660400" cy="1567832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音频 6">
            <a:hlinkClick r:id="" action="ppaction://media"/>
            <a:extLst>
              <a:ext uri="{FF2B5EF4-FFF2-40B4-BE49-F238E27FC236}">
                <a16:creationId xmlns:a16="http://schemas.microsoft.com/office/drawing/2014/main" id="{E28B44BC-F2BE-4CA8-BBFE-2F5283EE53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0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7171"/>
    </mc:Choice>
    <mc:Fallback xmlns="">
      <p:transition advTm="27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9B33B2BF-DC0A-4CAF-8154-5697BD5037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3647" y="1155675"/>
            <a:ext cx="4409442" cy="1795403"/>
          </a:xfrm>
          <a:prstGeom prst="rect">
            <a:avLst/>
          </a:prstGeom>
        </p:spPr>
      </p:pic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4261559"/>
            <a:ext cx="1959429" cy="892012"/>
          </a:xfrm>
          <a:prstGeom prst="rect">
            <a:avLst/>
          </a:prstGeom>
          <a:solidFill>
            <a:srgbClr val="0070C0">
              <a:alpha val="72157"/>
            </a:srgb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4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单元测试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1" y="1840965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设计测试用例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2608590"/>
            <a:ext cx="13388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设计测试类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及运行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3629227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覆盖率测试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边界测试</a:t>
            </a:r>
          </a:p>
        </p:txBody>
      </p:sp>
      <p:sp>
        <p:nvSpPr>
          <p:cNvPr id="492" name="文本框 6">
            <a:extLst>
              <a:ext uri="{FF2B5EF4-FFF2-40B4-BE49-F238E27FC236}">
                <a16:creationId xmlns:a16="http://schemas.microsoft.com/office/drawing/2014/main" id="{0881A901-57FE-4A53-806C-6C469D4DA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80" y="5273635"/>
            <a:ext cx="15696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行代码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运行效能测试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直接连接符 494">
            <a:extLst>
              <a:ext uri="{FF2B5EF4-FFF2-40B4-BE49-F238E27FC236}">
                <a16:creationId xmlns:a16="http://schemas.microsoft.com/office/drawing/2014/main" id="{A3BC5BD9-CF3E-4B45-A419-C596C7A5D6D0}"/>
              </a:ext>
            </a:extLst>
          </p:cNvPr>
          <p:cNvCxnSpPr>
            <a:cxnSpLocks/>
          </p:cNvCxnSpPr>
          <p:nvPr/>
        </p:nvCxnSpPr>
        <p:spPr>
          <a:xfrm>
            <a:off x="527249" y="5150794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Rectangle 480">
            <a:extLst>
              <a:ext uri="{FF2B5EF4-FFF2-40B4-BE49-F238E27FC236}">
                <a16:creationId xmlns:a16="http://schemas.microsoft.com/office/drawing/2014/main" id="{61B3B501-F7FC-490A-81E2-7E4033D1D9C8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1694375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注册 </a:t>
            </a:r>
            <a:r>
              <a:rPr lang="en-US" altLang="zh-CN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&amp; </a:t>
            </a: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登录</a:t>
            </a:r>
            <a:endParaRPr lang="en-US" sz="2400" b="1" dirty="0">
              <a:solidFill>
                <a:schemeClr val="dk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B50DA7A-356F-4F4A-918E-C37DDF5C2F58}"/>
              </a:ext>
            </a:extLst>
          </p:cNvPr>
          <p:cNvSpPr/>
          <p:nvPr/>
        </p:nvSpPr>
        <p:spPr>
          <a:xfrm>
            <a:off x="5187356" y="2600425"/>
            <a:ext cx="843280" cy="304800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910F443-DB85-4DC2-A0A4-2D3D7591FDE9}"/>
              </a:ext>
            </a:extLst>
          </p:cNvPr>
          <p:cNvSpPr/>
          <p:nvPr/>
        </p:nvSpPr>
        <p:spPr>
          <a:xfrm>
            <a:off x="5187356" y="1900977"/>
            <a:ext cx="843280" cy="304800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B198C3-B276-4F88-9CA9-49AA75B04C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302" y="345275"/>
            <a:ext cx="5334462" cy="336071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5ABF3BF-798E-4B76-B1B1-7B4380449D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9302" y="3647133"/>
            <a:ext cx="5326842" cy="30482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F8F54F1-611A-40E2-8108-A9A9C02AF4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0180" y="3325659"/>
            <a:ext cx="3779848" cy="3261643"/>
          </a:xfrm>
          <a:prstGeom prst="rect">
            <a:avLst/>
          </a:prstGeom>
        </p:spPr>
      </p:pic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411D1E6-F24E-4C1B-B2D0-A9789D478A42}"/>
              </a:ext>
            </a:extLst>
          </p:cNvPr>
          <p:cNvSpPr/>
          <p:nvPr/>
        </p:nvSpPr>
        <p:spPr>
          <a:xfrm>
            <a:off x="9424875" y="1155675"/>
            <a:ext cx="727793" cy="5431627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音频 6">
            <a:hlinkClick r:id="" action="ppaction://media"/>
            <a:extLst>
              <a:ext uri="{FF2B5EF4-FFF2-40B4-BE49-F238E27FC236}">
                <a16:creationId xmlns:a16="http://schemas.microsoft.com/office/drawing/2014/main" id="{5491B3B7-5925-43DB-9585-1E07598219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1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433"/>
    </mc:Choice>
    <mc:Fallback xmlns="">
      <p:transition advTm="204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268A0225-823B-4D0B-A986-B96C2655BDCC}"/>
              </a:ext>
            </a:extLst>
          </p:cNvPr>
          <p:cNvSpPr/>
          <p:nvPr/>
        </p:nvSpPr>
        <p:spPr>
          <a:xfrm>
            <a:off x="2247471" y="1567706"/>
            <a:ext cx="1309389" cy="4855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Shape 327">
            <a:extLst>
              <a:ext uri="{FF2B5EF4-FFF2-40B4-BE49-F238E27FC236}">
                <a16:creationId xmlns:a16="http://schemas.microsoft.com/office/drawing/2014/main" id="{A0A9DFFC-A587-43DB-AAE8-FBDBA1E3BD71}"/>
              </a:ext>
            </a:extLst>
          </p:cNvPr>
          <p:cNvSpPr/>
          <p:nvPr/>
        </p:nvSpPr>
        <p:spPr>
          <a:xfrm>
            <a:off x="1957219" y="3332765"/>
            <a:ext cx="10234781" cy="3525235"/>
          </a:xfrm>
          <a:prstGeom prst="rect">
            <a:avLst/>
          </a:prstGeom>
          <a:solidFill>
            <a:srgbClr val="F2F2F2">
              <a:alpha val="9300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36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ontserrat" panose="02000505000000020004"/>
              <a:sym typeface="Montserrat" panose="02000505000000020004"/>
            </a:endParaRPr>
          </a:p>
        </p:txBody>
      </p:sp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5157305"/>
            <a:ext cx="1959429" cy="892012"/>
          </a:xfrm>
          <a:prstGeom prst="rect">
            <a:avLst/>
          </a:prstGeom>
          <a:solidFill>
            <a:srgbClr val="0070C0">
              <a:alpha val="72157"/>
            </a:srgb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4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单元测试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1" y="1840965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设计测试用例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2608590"/>
            <a:ext cx="13388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设计测试类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及运行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3629227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覆盖率测试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边界测试</a:t>
            </a:r>
          </a:p>
        </p:txBody>
      </p:sp>
      <p:sp>
        <p:nvSpPr>
          <p:cNvPr id="492" name="文本框 6">
            <a:extLst>
              <a:ext uri="{FF2B5EF4-FFF2-40B4-BE49-F238E27FC236}">
                <a16:creationId xmlns:a16="http://schemas.microsoft.com/office/drawing/2014/main" id="{0881A901-57FE-4A53-806C-6C469D4DA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80" y="5273635"/>
            <a:ext cx="15696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行代码</a:t>
            </a:r>
            <a:endParaRPr lang="en-US" altLang="zh-CN" sz="1800" b="1">
              <a:solidFill>
                <a:schemeClr val="bg1"/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运行效能测试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直接连接符 494">
            <a:extLst>
              <a:ext uri="{FF2B5EF4-FFF2-40B4-BE49-F238E27FC236}">
                <a16:creationId xmlns:a16="http://schemas.microsoft.com/office/drawing/2014/main" id="{A3BC5BD9-CF3E-4B45-A419-C596C7A5D6D0}"/>
              </a:ext>
            </a:extLst>
          </p:cNvPr>
          <p:cNvCxnSpPr>
            <a:cxnSpLocks/>
          </p:cNvCxnSpPr>
          <p:nvPr/>
        </p:nvCxnSpPr>
        <p:spPr>
          <a:xfrm>
            <a:off x="527249" y="5150794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6654498C-487E-42D9-8E3B-B9D8F485FD7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828662" y="357864"/>
            <a:ext cx="5319851" cy="285867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CDA58A0-E679-472C-B967-552FF95FC4F3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3828662" y="3476177"/>
            <a:ext cx="5319852" cy="285156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EA05B120-3667-4728-B891-1C3EE094882B}"/>
              </a:ext>
            </a:extLst>
          </p:cNvPr>
          <p:cNvSpPr txBox="1"/>
          <p:nvPr/>
        </p:nvSpPr>
        <p:spPr>
          <a:xfrm>
            <a:off x="2314505" y="1625819"/>
            <a:ext cx="1175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执行</a:t>
            </a:r>
            <a:r>
              <a:rPr lang="en-US" altLang="zh-CN" b="1">
                <a:solidFill>
                  <a:schemeClr val="bg1"/>
                </a:solidFill>
              </a:rPr>
              <a:t>GC</a:t>
            </a:r>
            <a:r>
              <a:rPr lang="zh-CN" altLang="en-US" b="1">
                <a:solidFill>
                  <a:schemeClr val="bg1"/>
                </a:solidFill>
              </a:rPr>
              <a:t>前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5ECA3BC-0670-4198-BDCA-682E0AE9C0D7}"/>
              </a:ext>
            </a:extLst>
          </p:cNvPr>
          <p:cNvSpPr/>
          <p:nvPr/>
        </p:nvSpPr>
        <p:spPr>
          <a:xfrm>
            <a:off x="2247471" y="4656254"/>
            <a:ext cx="1309389" cy="48555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C1C767F-3813-4B46-9D11-37364DB392AB}"/>
              </a:ext>
            </a:extLst>
          </p:cNvPr>
          <p:cNvSpPr txBox="1"/>
          <p:nvPr/>
        </p:nvSpPr>
        <p:spPr>
          <a:xfrm>
            <a:off x="2314505" y="4717888"/>
            <a:ext cx="1175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执行</a:t>
            </a:r>
            <a:r>
              <a:rPr lang="en-US" altLang="zh-CN" b="1"/>
              <a:t>GC</a:t>
            </a:r>
            <a:r>
              <a:rPr lang="zh-CN" altLang="en-US" b="1"/>
              <a:t>后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2D93821-7BED-4F12-87C4-CC121CA0CA2B}"/>
              </a:ext>
            </a:extLst>
          </p:cNvPr>
          <p:cNvSpPr txBox="1"/>
          <p:nvPr/>
        </p:nvSpPr>
        <p:spPr>
          <a:xfrm>
            <a:off x="9620646" y="314809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不存在内存泄漏问题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FB5D9C5-817A-475A-9BDC-E47C15BB8625}"/>
              </a:ext>
            </a:extLst>
          </p:cNvPr>
          <p:cNvSpPr/>
          <p:nvPr/>
        </p:nvSpPr>
        <p:spPr>
          <a:xfrm>
            <a:off x="6232434" y="1206432"/>
            <a:ext cx="843280" cy="304800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B31489D-9A2A-41E1-B20E-4B80621DDF78}"/>
              </a:ext>
            </a:extLst>
          </p:cNvPr>
          <p:cNvSpPr/>
          <p:nvPr/>
        </p:nvSpPr>
        <p:spPr>
          <a:xfrm>
            <a:off x="7534904" y="901632"/>
            <a:ext cx="843280" cy="304800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音频 4">
            <a:hlinkClick r:id="" action="ppaction://media"/>
            <a:extLst>
              <a:ext uri="{FF2B5EF4-FFF2-40B4-BE49-F238E27FC236}">
                <a16:creationId xmlns:a16="http://schemas.microsoft.com/office/drawing/2014/main" id="{77F10E04-AE17-42F8-86CF-250053E9B2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35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1055"/>
    </mc:Choice>
    <mc:Fallback xmlns="">
      <p:transition advTm="210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5157305"/>
            <a:ext cx="1959429" cy="892012"/>
          </a:xfrm>
          <a:prstGeom prst="rect">
            <a:avLst/>
          </a:prstGeom>
          <a:solidFill>
            <a:srgbClr val="0070C0">
              <a:alpha val="72157"/>
            </a:srgb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4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单元测试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1" y="1840965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设计测试用例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2608590"/>
            <a:ext cx="13388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设计测试类</a:t>
            </a:r>
            <a:endParaRPr lang="en-US" altLang="zh-CN" sz="1800" b="1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及运行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96" y="3629227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覆盖率测试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边界测试</a:t>
            </a:r>
          </a:p>
        </p:txBody>
      </p:sp>
      <p:sp>
        <p:nvSpPr>
          <p:cNvPr id="492" name="文本框 6">
            <a:extLst>
              <a:ext uri="{FF2B5EF4-FFF2-40B4-BE49-F238E27FC236}">
                <a16:creationId xmlns:a16="http://schemas.microsoft.com/office/drawing/2014/main" id="{0881A901-57FE-4A53-806C-6C469D4DA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80" y="5273635"/>
            <a:ext cx="15696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行代码</a:t>
            </a:r>
            <a:endParaRPr lang="en-US" altLang="zh-CN" sz="1800" b="1">
              <a:solidFill>
                <a:schemeClr val="bg1"/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chemeClr val="bg1"/>
                </a:solidFill>
                <a:latin typeface="+mj-ea"/>
                <a:ea typeface="+mj-ea"/>
              </a:rPr>
              <a:t>运行效能测试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直接连接符 494">
            <a:extLst>
              <a:ext uri="{FF2B5EF4-FFF2-40B4-BE49-F238E27FC236}">
                <a16:creationId xmlns:a16="http://schemas.microsoft.com/office/drawing/2014/main" id="{A3BC5BD9-CF3E-4B45-A419-C596C7A5D6D0}"/>
              </a:ext>
            </a:extLst>
          </p:cNvPr>
          <p:cNvCxnSpPr>
            <a:cxnSpLocks/>
          </p:cNvCxnSpPr>
          <p:nvPr/>
        </p:nvCxnSpPr>
        <p:spPr>
          <a:xfrm>
            <a:off x="527249" y="5150794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Rectangle 480">
            <a:extLst>
              <a:ext uri="{FF2B5EF4-FFF2-40B4-BE49-F238E27FC236}">
                <a16:creationId xmlns:a16="http://schemas.microsoft.com/office/drawing/2014/main" id="{61B3B501-F7FC-490A-81E2-7E4033D1D9C8}"/>
              </a:ext>
            </a:extLst>
          </p:cNvPr>
          <p:cNvSpPr>
            <a:spLocks/>
          </p:cNvSpPr>
          <p:nvPr/>
        </p:nvSpPr>
        <p:spPr bwMode="auto">
          <a:xfrm>
            <a:off x="2233603" y="541176"/>
            <a:ext cx="1263166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CPU</a:t>
            </a:r>
            <a:r>
              <a:rPr lang="zh-CN" altLang="en-US" sz="2400" b="1">
                <a:solidFill>
                  <a:schemeClr val="dk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检测</a:t>
            </a:r>
            <a:endParaRPr lang="en-US" sz="2400" b="1" dirty="0">
              <a:solidFill>
                <a:schemeClr val="dk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809245-1861-4375-A434-514605791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4169" y="1113263"/>
            <a:ext cx="5036485" cy="3239376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6DC0980-0DA4-467B-B48E-8F7635355747}"/>
              </a:ext>
            </a:extLst>
          </p:cNvPr>
          <p:cNvSpPr/>
          <p:nvPr/>
        </p:nvSpPr>
        <p:spPr>
          <a:xfrm>
            <a:off x="2521357" y="1936000"/>
            <a:ext cx="4621471" cy="1495324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5AEFBEE-1AE8-4D74-AB73-3FB11CA9C0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3289" y="3919334"/>
            <a:ext cx="8079104" cy="2708602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CC5859D-4558-4A16-A824-1CA4B927C390}"/>
              </a:ext>
            </a:extLst>
          </p:cNvPr>
          <p:cNvSpPr/>
          <p:nvPr/>
        </p:nvSpPr>
        <p:spPr>
          <a:xfrm>
            <a:off x="2607302" y="4634495"/>
            <a:ext cx="6977396" cy="516299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16FA1F2-6A22-47B7-B0A3-7F0DCC8C9DF8}"/>
              </a:ext>
            </a:extLst>
          </p:cNvPr>
          <p:cNvSpPr txBox="1"/>
          <p:nvPr/>
        </p:nvSpPr>
        <p:spPr>
          <a:xfrm>
            <a:off x="8040235" y="223925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Junit4</a:t>
            </a:r>
            <a:endParaRPr lang="zh-CN" altLang="en-US" b="1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CDF0BA-113E-40CA-9BE7-8BEA0C718A40}"/>
              </a:ext>
            </a:extLst>
          </p:cNvPr>
          <p:cNvSpPr txBox="1"/>
          <p:nvPr/>
        </p:nvSpPr>
        <p:spPr>
          <a:xfrm>
            <a:off x="10566253" y="4972639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Postman</a:t>
            </a:r>
            <a:endParaRPr lang="zh-CN" altLang="en-US" b="1"/>
          </a:p>
        </p:txBody>
      </p:sp>
      <p:pic>
        <p:nvPicPr>
          <p:cNvPr id="32" name="音频 31">
            <a:hlinkClick r:id="" action="ppaction://media"/>
            <a:extLst>
              <a:ext uri="{FF2B5EF4-FFF2-40B4-BE49-F238E27FC236}">
                <a16:creationId xmlns:a16="http://schemas.microsoft.com/office/drawing/2014/main" id="{DC23FB2D-9D06-4274-BF60-A16E90BB53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89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46406"/>
    </mc:Choice>
    <mc:Fallback xmlns="">
      <p:transition advClick="0" advTm="464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" r="19"/>
          <a:stretch>
            <a:fillRect/>
          </a:stretch>
        </p:blipFill>
        <p:spPr/>
      </p:pic>
      <p:sp>
        <p:nvSpPr>
          <p:cNvPr id="10" name="Rectangle 9"/>
          <p:cNvSpPr/>
          <p:nvPr/>
        </p:nvSpPr>
        <p:spPr>
          <a:xfrm>
            <a:off x="1588" y="0"/>
            <a:ext cx="1218882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B8BBC1">
                  <a:alpha val="87000"/>
                  <a:lumMod val="4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Montserrat Light" charset="0"/>
            </a:endParaRPr>
          </a:p>
        </p:txBody>
      </p:sp>
      <p:sp>
        <p:nvSpPr>
          <p:cNvPr id="11" name="Rectangle 10"/>
          <p:cNvSpPr/>
          <p:nvPr/>
        </p:nvSpPr>
        <p:spPr>
          <a:xfrm rot="16200000">
            <a:off x="4117428" y="1450428"/>
            <a:ext cx="3957145" cy="3957145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7" name="TextBox 6"/>
          <p:cNvSpPr txBox="1"/>
          <p:nvPr/>
        </p:nvSpPr>
        <p:spPr>
          <a:xfrm>
            <a:off x="4392440" y="2497976"/>
            <a:ext cx="340712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750" spc="300" dirty="0">
                <a:solidFill>
                  <a:schemeClr val="bg1"/>
                </a:solidFill>
                <a:latin typeface="Oswald" charset="0"/>
                <a:ea typeface="Oswald" charset="0"/>
                <a:cs typeface="Oswald" charset="0"/>
              </a:rPr>
              <a:t>PART 2</a:t>
            </a:r>
          </a:p>
          <a:p>
            <a:pPr algn="ctr"/>
            <a:r>
              <a:rPr lang="zh-CN" altLang="en-US" sz="5750" spc="300" dirty="0">
                <a:solidFill>
                  <a:schemeClr val="bg1"/>
                </a:solidFill>
                <a:latin typeface="Oswald" charset="0"/>
                <a:ea typeface="Oswald" charset="0"/>
                <a:cs typeface="Oswald" charset="0"/>
              </a:rPr>
              <a:t>功能测试</a:t>
            </a:r>
            <a:endParaRPr lang="en-US" sz="5750" spc="300" dirty="0">
              <a:solidFill>
                <a:schemeClr val="bg1"/>
              </a:solidFill>
              <a:latin typeface="Oswald" charset="0"/>
              <a:ea typeface="Oswald" charset="0"/>
              <a:cs typeface="Oswa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422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" r="19"/>
          <a:stretch>
            <a:fillRect/>
          </a:stretch>
        </p:blipFill>
        <p:spPr/>
      </p:pic>
      <p:sp>
        <p:nvSpPr>
          <p:cNvPr id="10" name="Rectangle 9"/>
          <p:cNvSpPr/>
          <p:nvPr/>
        </p:nvSpPr>
        <p:spPr>
          <a:xfrm>
            <a:off x="1588" y="0"/>
            <a:ext cx="1218882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B8BBC1">
                  <a:alpha val="87000"/>
                  <a:lumMod val="4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Montserrat Light" charset="0"/>
            </a:endParaRPr>
          </a:p>
        </p:txBody>
      </p:sp>
      <p:sp>
        <p:nvSpPr>
          <p:cNvPr id="11" name="Rectangle 10"/>
          <p:cNvSpPr/>
          <p:nvPr/>
        </p:nvSpPr>
        <p:spPr>
          <a:xfrm rot="16200000">
            <a:off x="700464" y="1450428"/>
            <a:ext cx="3957145" cy="3957145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7" name="TextBox 6"/>
          <p:cNvSpPr txBox="1"/>
          <p:nvPr/>
        </p:nvSpPr>
        <p:spPr>
          <a:xfrm>
            <a:off x="975476" y="2497976"/>
            <a:ext cx="340712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750" spc="300" dirty="0">
                <a:solidFill>
                  <a:schemeClr val="bg1"/>
                </a:solidFill>
                <a:latin typeface="Oswald" charset="0"/>
                <a:ea typeface="Oswald" charset="0"/>
                <a:cs typeface="Oswald" charset="0"/>
              </a:rPr>
              <a:t>PART 2</a:t>
            </a:r>
          </a:p>
          <a:p>
            <a:pPr algn="ctr"/>
            <a:r>
              <a:rPr lang="zh-CN" altLang="en-US" sz="5750" spc="300" dirty="0">
                <a:solidFill>
                  <a:schemeClr val="bg1"/>
                </a:solidFill>
                <a:latin typeface="Oswald" charset="0"/>
                <a:ea typeface="Oswald" charset="0"/>
                <a:cs typeface="Oswald" charset="0"/>
              </a:rPr>
              <a:t>功能测试</a:t>
            </a:r>
            <a:endParaRPr lang="en-US" sz="5750" spc="300" dirty="0">
              <a:solidFill>
                <a:schemeClr val="bg1"/>
              </a:solidFill>
              <a:latin typeface="Oswald" charset="0"/>
              <a:ea typeface="Oswald" charset="0"/>
              <a:cs typeface="Oswald" charset="0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F4E0DB3-15EA-4883-9D05-F7F3282040F1}"/>
              </a:ext>
            </a:extLst>
          </p:cNvPr>
          <p:cNvSpPr txBox="1"/>
          <p:nvPr/>
        </p:nvSpPr>
        <p:spPr>
          <a:xfrm>
            <a:off x="5173152" y="1437255"/>
            <a:ext cx="71547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b="1" spc="300" dirty="0">
                <a:solidFill>
                  <a:schemeClr val="bg1"/>
                </a:solidFill>
                <a:latin typeface="Oswald" charset="0"/>
                <a:ea typeface="Oswald" charset="0"/>
                <a:cs typeface="Oswald" charset="0"/>
              </a:rPr>
              <a:t>功能模块划分</a:t>
            </a:r>
            <a:endParaRPr lang="en-US" altLang="zh-CN" sz="3600" b="1" spc="300" dirty="0">
              <a:solidFill>
                <a:schemeClr val="bg1"/>
              </a:solidFill>
              <a:latin typeface="Oswald" charset="0"/>
              <a:ea typeface="Oswald" charset="0"/>
              <a:cs typeface="Oswald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b="1" spc="300" dirty="0">
              <a:solidFill>
                <a:schemeClr val="bg1"/>
              </a:solidFill>
              <a:latin typeface="Oswald" charset="0"/>
              <a:ea typeface="Oswald" charset="0"/>
              <a:cs typeface="Oswald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b="1" spc="300" dirty="0">
                <a:solidFill>
                  <a:schemeClr val="bg1"/>
                </a:solidFill>
                <a:latin typeface="Oswald" charset="0"/>
                <a:ea typeface="Oswald" charset="0"/>
                <a:cs typeface="Oswald" charset="0"/>
              </a:rPr>
              <a:t>以注册为例的等价类划分</a:t>
            </a:r>
            <a:endParaRPr lang="en-US" altLang="zh-CN" sz="3600" b="1" spc="300" dirty="0">
              <a:solidFill>
                <a:schemeClr val="bg1"/>
              </a:solidFill>
              <a:latin typeface="Oswald" charset="0"/>
              <a:ea typeface="Oswald" charset="0"/>
              <a:cs typeface="Oswald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b="1" spc="300" dirty="0">
              <a:solidFill>
                <a:schemeClr val="bg1"/>
              </a:solidFill>
              <a:latin typeface="Oswald" charset="0"/>
              <a:ea typeface="Oswald" charset="0"/>
              <a:cs typeface="Oswald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b="1" spc="300" dirty="0">
                <a:solidFill>
                  <a:schemeClr val="bg1"/>
                </a:solidFill>
                <a:latin typeface="Oswald" charset="0"/>
                <a:ea typeface="Oswald" charset="0"/>
                <a:cs typeface="Oswald" charset="0"/>
              </a:rPr>
              <a:t>postman</a:t>
            </a:r>
            <a:r>
              <a:rPr lang="zh-CN" altLang="en-US" sz="3600" b="1" spc="300" dirty="0">
                <a:solidFill>
                  <a:schemeClr val="bg1"/>
                </a:solidFill>
                <a:latin typeface="Oswald" charset="0"/>
                <a:ea typeface="Oswald" charset="0"/>
                <a:cs typeface="Oswald" charset="0"/>
              </a:rPr>
              <a:t>自动化参数测试</a:t>
            </a:r>
            <a:endParaRPr lang="en-US" altLang="zh-CN" sz="3600" b="1" spc="300" dirty="0">
              <a:solidFill>
                <a:schemeClr val="bg1"/>
              </a:solidFill>
              <a:latin typeface="Oswald" charset="0"/>
              <a:ea typeface="Oswald" charset="0"/>
              <a:cs typeface="Oswald" charset="0"/>
            </a:endParaRPr>
          </a:p>
          <a:p>
            <a:endParaRPr lang="en-US" altLang="zh-CN" sz="3600" b="1" spc="300" dirty="0">
              <a:solidFill>
                <a:schemeClr val="bg1"/>
              </a:solidFill>
              <a:latin typeface="Oswald" charset="0"/>
              <a:ea typeface="Oswald" charset="0"/>
              <a:cs typeface="Oswald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b="1" spc="300" dirty="0">
                <a:solidFill>
                  <a:schemeClr val="bg1"/>
                </a:solidFill>
                <a:latin typeface="Oswald" charset="0"/>
                <a:ea typeface="Oswald" charset="0"/>
                <a:cs typeface="Oswald" charset="0"/>
              </a:rPr>
              <a:t>带断言的自动化测试</a:t>
            </a:r>
            <a:endParaRPr lang="en-US" sz="3600" b="1" spc="300" dirty="0">
              <a:solidFill>
                <a:schemeClr val="bg1"/>
              </a:solidFill>
              <a:latin typeface="Oswald" charset="0"/>
              <a:ea typeface="Oswald" charset="0"/>
              <a:cs typeface="Oswa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186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20482" y="201707"/>
            <a:ext cx="5361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1.</a:t>
            </a:r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功能模块划分</a:t>
            </a:r>
            <a:endParaRPr 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490" r="23744" b="12490"/>
          <a:stretch/>
        </p:blipFill>
        <p:spPr>
          <a:xfrm>
            <a:off x="-1921358" y="0"/>
            <a:ext cx="4648516" cy="6858000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2E7E2F0-8867-4922-8BE2-8245D78D3F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598" y="1812758"/>
            <a:ext cx="7585025" cy="383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32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964" r="39858"/>
          <a:stretch/>
        </p:blipFill>
        <p:spPr>
          <a:xfrm>
            <a:off x="9609221" y="0"/>
            <a:ext cx="2582779" cy="6858000"/>
          </a:xfrm>
        </p:spPr>
      </p:pic>
      <p:sp>
        <p:nvSpPr>
          <p:cNvPr id="13" name="TextBox 7">
            <a:extLst>
              <a:ext uri="{FF2B5EF4-FFF2-40B4-BE49-F238E27FC236}">
                <a16:creationId xmlns:a16="http://schemas.microsoft.com/office/drawing/2014/main" id="{A33B807F-C9B6-48FE-A1D3-EF42B8FED4AC}"/>
              </a:ext>
            </a:extLst>
          </p:cNvPr>
          <p:cNvSpPr txBox="1"/>
          <p:nvPr/>
        </p:nvSpPr>
        <p:spPr>
          <a:xfrm>
            <a:off x="-691687" y="185664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2.</a:t>
            </a:r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以注册为例的等价类划分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CFF475BE-A8B4-4243-8221-1AD0F31151C9}"/>
              </a:ext>
            </a:extLst>
          </p:cNvPr>
          <p:cNvSpPr txBox="1"/>
          <p:nvPr/>
        </p:nvSpPr>
        <p:spPr>
          <a:xfrm>
            <a:off x="528013" y="1249453"/>
            <a:ext cx="907249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828434"/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注册功能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defTabSz="1828434"/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defTabSz="1828434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功能描述：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defTabSz="1828434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通过用户名和密码进行注册。用户名和密码必须限制在</a:t>
            </a:r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8-16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位，且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不可重复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注册。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defTabSz="1828434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输入格式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JSON</a:t>
            </a:r>
          </a:p>
          <a:p>
            <a:pPr defTabSz="1828434"/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{</a:t>
            </a:r>
          </a:p>
          <a:p>
            <a:pPr defTabSz="1828434"/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“username”: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“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XXXXX”,</a:t>
            </a:r>
          </a:p>
          <a:p>
            <a:pPr defTabSz="1828434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“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password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”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: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“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XXXXXX”</a:t>
            </a:r>
          </a:p>
          <a:p>
            <a:pPr defTabSz="1828434"/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}</a:t>
            </a:r>
            <a:endParaRPr 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8141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7">
            <a:extLst>
              <a:ext uri="{FF2B5EF4-FFF2-40B4-BE49-F238E27FC236}">
                <a16:creationId xmlns:a16="http://schemas.microsoft.com/office/drawing/2014/main" id="{A33B807F-C9B6-48FE-A1D3-EF42B8FED4AC}"/>
              </a:ext>
            </a:extLst>
          </p:cNvPr>
          <p:cNvSpPr txBox="1"/>
          <p:nvPr/>
        </p:nvSpPr>
        <p:spPr>
          <a:xfrm>
            <a:off x="-691687" y="185664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2.</a:t>
            </a:r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以注册为例的等价类划分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B1D0D49-5BC8-4E0D-9D52-E061DECCD98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05326" y="1012257"/>
          <a:ext cx="11405937" cy="5486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884948">
                  <a:extLst>
                    <a:ext uri="{9D8B030D-6E8A-4147-A177-3AD203B41FA5}">
                      <a16:colId xmlns:a16="http://schemas.microsoft.com/office/drawing/2014/main" val="2046333182"/>
                    </a:ext>
                  </a:extLst>
                </a:gridCol>
                <a:gridCol w="3304673">
                  <a:extLst>
                    <a:ext uri="{9D8B030D-6E8A-4147-A177-3AD203B41FA5}">
                      <a16:colId xmlns:a16="http://schemas.microsoft.com/office/drawing/2014/main" val="2518601915"/>
                    </a:ext>
                  </a:extLst>
                </a:gridCol>
                <a:gridCol w="3151154">
                  <a:extLst>
                    <a:ext uri="{9D8B030D-6E8A-4147-A177-3AD203B41FA5}">
                      <a16:colId xmlns:a16="http://schemas.microsoft.com/office/drawing/2014/main" val="3683400809"/>
                    </a:ext>
                  </a:extLst>
                </a:gridCol>
                <a:gridCol w="3065162">
                  <a:extLst>
                    <a:ext uri="{9D8B030D-6E8A-4147-A177-3AD203B41FA5}">
                      <a16:colId xmlns:a16="http://schemas.microsoft.com/office/drawing/2014/main" val="75906836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200" b="1" u="none" strike="noStrike" dirty="0">
                          <a:effectLst/>
                        </a:rPr>
                        <a:t>分类</a:t>
                      </a:r>
                      <a:endParaRPr lang="zh-CN" alt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1" u="none" strike="noStrike" dirty="0">
                          <a:effectLst/>
                        </a:rPr>
                        <a:t>username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1" u="none" strike="noStrike" dirty="0">
                          <a:effectLst/>
                        </a:rPr>
                        <a:t>password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200" b="1" u="none" strike="noStrike" dirty="0">
                          <a:effectLst/>
                        </a:rPr>
                        <a:t>描述</a:t>
                      </a:r>
                      <a:endParaRPr lang="zh-CN" alt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224938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正常测试用例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admin1111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admin1111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 dirty="0">
                          <a:effectLst/>
                        </a:rPr>
                        <a:t>正常</a:t>
                      </a:r>
                      <a:endParaRPr lang="zh-CN" alt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388003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正常测试用例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admin2222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admin1111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相同密码不同用户名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164676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异常测试用例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admin1111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无用户名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2741538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异常测试用例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admin1111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无密码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41357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异常测试用例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admin1111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 dirty="0">
                          <a:effectLst/>
                        </a:rPr>
                        <a:t>1</a:t>
                      </a:r>
                      <a:endParaRPr lang="en-US" altLang="zh-CN" sz="2200" b="0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密码过短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9205048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异常测试用例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 dirty="0">
                          <a:effectLst/>
                        </a:rPr>
                        <a:t>admin1111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123456789123456789</a:t>
                      </a:r>
                      <a:endParaRPr lang="en-US" altLang="zh-CN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密码过长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522803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异常测试用例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1</a:t>
                      </a:r>
                      <a:endParaRPr lang="en-US" altLang="zh-CN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admin1111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用户名过短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6959618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异常测试用例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1234567899123456789</a:t>
                      </a:r>
                      <a:endParaRPr lang="en-US" altLang="zh-CN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admin1111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用户名过长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160642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异常测试用例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admin1111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admin1111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重复注册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189064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边缘测试用例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12345678</a:t>
                      </a:r>
                      <a:endParaRPr lang="en-US" altLang="zh-CN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12345678</a:t>
                      </a:r>
                      <a:endParaRPr lang="en-US" altLang="zh-CN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8</a:t>
                      </a:r>
                      <a:r>
                        <a:rPr lang="zh-CN" altLang="en-US" sz="2200" u="none" strike="noStrike">
                          <a:effectLst/>
                        </a:rPr>
                        <a:t>位，</a:t>
                      </a:r>
                      <a:r>
                        <a:rPr lang="en-US" altLang="zh-CN" sz="2200" u="none" strike="noStrike">
                          <a:effectLst/>
                        </a:rPr>
                        <a:t>8</a:t>
                      </a:r>
                      <a:r>
                        <a:rPr lang="zh-CN" altLang="en-US" sz="2200" u="none" strike="noStrike">
                          <a:effectLst/>
                        </a:rPr>
                        <a:t>位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172748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边缘测试用例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1234567</a:t>
                      </a:r>
                      <a:endParaRPr lang="en-US" altLang="zh-CN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12345678</a:t>
                      </a:r>
                      <a:endParaRPr lang="en-US" altLang="zh-CN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7</a:t>
                      </a:r>
                      <a:r>
                        <a:rPr lang="zh-CN" altLang="en-US" sz="2200" u="none" strike="noStrike">
                          <a:effectLst/>
                        </a:rPr>
                        <a:t>位，</a:t>
                      </a:r>
                      <a:r>
                        <a:rPr lang="en-US" altLang="zh-CN" sz="2200" u="none" strike="noStrike">
                          <a:effectLst/>
                        </a:rPr>
                        <a:t>8</a:t>
                      </a:r>
                      <a:r>
                        <a:rPr lang="zh-CN" altLang="en-US" sz="2200" u="none" strike="noStrike">
                          <a:effectLst/>
                        </a:rPr>
                        <a:t>位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876802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边缘测试用例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12345678</a:t>
                      </a:r>
                      <a:endParaRPr lang="en-US" altLang="zh-CN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1234567</a:t>
                      </a:r>
                      <a:endParaRPr lang="en-US" altLang="zh-CN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8</a:t>
                      </a:r>
                      <a:r>
                        <a:rPr lang="zh-CN" altLang="en-US" sz="2200" u="none" strike="noStrike">
                          <a:effectLst/>
                        </a:rPr>
                        <a:t>位，</a:t>
                      </a:r>
                      <a:r>
                        <a:rPr lang="en-US" altLang="zh-CN" sz="2200" u="none" strike="noStrike">
                          <a:effectLst/>
                        </a:rPr>
                        <a:t>7</a:t>
                      </a:r>
                      <a:r>
                        <a:rPr lang="zh-CN" altLang="en-US" sz="2200" u="none" strike="noStrike">
                          <a:effectLst/>
                        </a:rPr>
                        <a:t>位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510315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边缘测试用例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1234567812345678</a:t>
                      </a:r>
                      <a:endParaRPr lang="en-US" altLang="zh-CN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1234567812345678</a:t>
                      </a:r>
                      <a:endParaRPr lang="en-US" altLang="zh-CN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16</a:t>
                      </a:r>
                      <a:r>
                        <a:rPr lang="zh-CN" altLang="en-US" sz="2200" u="none" strike="noStrike">
                          <a:effectLst/>
                        </a:rPr>
                        <a:t>位，</a:t>
                      </a:r>
                      <a:r>
                        <a:rPr lang="en-US" altLang="zh-CN" sz="2200" u="none" strike="noStrike">
                          <a:effectLst/>
                        </a:rPr>
                        <a:t>16</a:t>
                      </a:r>
                      <a:r>
                        <a:rPr lang="zh-CN" altLang="en-US" sz="2200" u="none" strike="noStrike">
                          <a:effectLst/>
                        </a:rPr>
                        <a:t>位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90692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边缘测试用例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12345678123456789</a:t>
                      </a:r>
                      <a:endParaRPr lang="en-US" altLang="zh-CN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1234567812345678</a:t>
                      </a:r>
                      <a:endParaRPr lang="en-US" altLang="zh-CN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17</a:t>
                      </a:r>
                      <a:r>
                        <a:rPr lang="zh-CN" altLang="en-US" sz="2200" u="none" strike="noStrike">
                          <a:effectLst/>
                        </a:rPr>
                        <a:t>位，</a:t>
                      </a:r>
                      <a:r>
                        <a:rPr lang="en-US" altLang="zh-CN" sz="2200" u="none" strike="noStrike">
                          <a:effectLst/>
                        </a:rPr>
                        <a:t>16</a:t>
                      </a:r>
                      <a:r>
                        <a:rPr lang="zh-CN" altLang="en-US" sz="2200" u="none" strike="noStrike">
                          <a:effectLst/>
                        </a:rPr>
                        <a:t>位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297688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200" u="none" strike="noStrike">
                          <a:effectLst/>
                        </a:rPr>
                        <a:t>边缘测试用例</a:t>
                      </a:r>
                      <a:endParaRPr lang="zh-CN" altLang="en-US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1234567812345678</a:t>
                      </a:r>
                      <a:endParaRPr lang="en-US" altLang="zh-CN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>
                          <a:effectLst/>
                        </a:rPr>
                        <a:t>12345678123456789</a:t>
                      </a:r>
                      <a:endParaRPr lang="en-US" altLang="zh-CN" sz="22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200" u="none" strike="noStrike" dirty="0">
                          <a:effectLst/>
                        </a:rPr>
                        <a:t>16</a:t>
                      </a:r>
                      <a:r>
                        <a:rPr lang="zh-CN" altLang="en-US" sz="2200" u="none" strike="noStrike" dirty="0">
                          <a:effectLst/>
                        </a:rPr>
                        <a:t>位，</a:t>
                      </a:r>
                      <a:r>
                        <a:rPr lang="en-US" altLang="zh-CN" sz="2200" u="none" strike="noStrike" dirty="0">
                          <a:effectLst/>
                        </a:rPr>
                        <a:t>17</a:t>
                      </a:r>
                      <a:r>
                        <a:rPr lang="zh-CN" altLang="en-US" sz="2200" u="none" strike="noStrike" dirty="0">
                          <a:effectLst/>
                        </a:rPr>
                        <a:t>位</a:t>
                      </a:r>
                      <a:endParaRPr lang="zh-CN" alt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19549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050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554" r="29554"/>
          <a:stretch>
            <a:fillRect/>
          </a:stretch>
        </p:blipFill>
        <p:spPr>
          <a:xfrm>
            <a:off x="0" y="0"/>
            <a:ext cx="2804991" cy="6858000"/>
          </a:xfrm>
        </p:spPr>
      </p:pic>
      <p:sp>
        <p:nvSpPr>
          <p:cNvPr id="23" name="TextBox 7">
            <a:extLst>
              <a:ext uri="{FF2B5EF4-FFF2-40B4-BE49-F238E27FC236}">
                <a16:creationId xmlns:a16="http://schemas.microsoft.com/office/drawing/2014/main" id="{1229E602-2D11-4C61-A057-0ACBDB156A3A}"/>
              </a:ext>
            </a:extLst>
          </p:cNvPr>
          <p:cNvSpPr txBox="1"/>
          <p:nvPr/>
        </p:nvSpPr>
        <p:spPr>
          <a:xfrm>
            <a:off x="623766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正常测试用例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1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A7AD25-BF88-46F8-AE2C-A9F07EB45B60}"/>
              </a:ext>
            </a:extLst>
          </p:cNvPr>
          <p:cNvSpPr/>
          <p:nvPr/>
        </p:nvSpPr>
        <p:spPr>
          <a:xfrm>
            <a:off x="3176335" y="1138535"/>
            <a:ext cx="82616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输入：</a:t>
            </a:r>
            <a:r>
              <a:rPr lang="zh-CN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用户名“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admin1111</a:t>
            </a:r>
            <a:r>
              <a:rPr lang="zh-CN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”，密码“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admin1111</a:t>
            </a:r>
            <a:r>
              <a:rPr lang="zh-CN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”</a:t>
            </a: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预计输出：</a:t>
            </a:r>
            <a:r>
              <a:rPr lang="zh-CN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用户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，用户名，加密后的用户密码，用户角色</a:t>
            </a: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实际输出： 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25ABB14-AEC0-45F9-8E9C-FDAF5A8EA6F2}"/>
              </a:ext>
            </a:extLst>
          </p:cNvPr>
          <p:cNvPicPr/>
          <p:nvPr/>
        </p:nvPicPr>
        <p:blipFill rotWithShape="1">
          <a:blip r:embed="rId3"/>
          <a:srcRect t="24415" r="32508" b="6370"/>
          <a:stretch/>
        </p:blipFill>
        <p:spPr>
          <a:xfrm>
            <a:off x="3176335" y="2338864"/>
            <a:ext cx="8574835" cy="431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63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554" r="29554"/>
          <a:stretch>
            <a:fillRect/>
          </a:stretch>
        </p:blipFill>
        <p:spPr>
          <a:xfrm>
            <a:off x="0" y="0"/>
            <a:ext cx="2804991" cy="6858000"/>
          </a:xfrm>
        </p:spPr>
      </p:pic>
      <p:sp>
        <p:nvSpPr>
          <p:cNvPr id="23" name="TextBox 7">
            <a:extLst>
              <a:ext uri="{FF2B5EF4-FFF2-40B4-BE49-F238E27FC236}">
                <a16:creationId xmlns:a16="http://schemas.microsoft.com/office/drawing/2014/main" id="{1229E602-2D11-4C61-A057-0ACBDB156A3A}"/>
              </a:ext>
            </a:extLst>
          </p:cNvPr>
          <p:cNvSpPr txBox="1"/>
          <p:nvPr/>
        </p:nvSpPr>
        <p:spPr>
          <a:xfrm>
            <a:off x="623766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正常测试用例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1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A7AD25-BF88-46F8-AE2C-A9F07EB45B60}"/>
              </a:ext>
            </a:extLst>
          </p:cNvPr>
          <p:cNvSpPr/>
          <p:nvPr/>
        </p:nvSpPr>
        <p:spPr>
          <a:xfrm>
            <a:off x="3176335" y="1138535"/>
            <a:ext cx="826168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输入：</a:t>
            </a:r>
            <a:r>
              <a:rPr lang="zh-CN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用户名“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admin1111</a:t>
            </a:r>
            <a:r>
              <a:rPr lang="zh-CN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”，密码“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admin1111</a:t>
            </a:r>
            <a:r>
              <a:rPr lang="zh-CN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”</a:t>
            </a: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预计输出：</a:t>
            </a:r>
            <a:r>
              <a:rPr lang="zh-CN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用户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，用户名，加密后的用户密码，用户角色</a:t>
            </a:r>
          </a:p>
          <a:p>
            <a:pPr algn="just">
              <a:spcAft>
                <a:spcPts val="0"/>
              </a:spcAft>
            </a:pPr>
            <a:endParaRPr lang="en-US" altLang="zh-CN" sz="2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en-US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检查数据库，用户存在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sz="2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09A9E5F-1106-44A9-AECB-8F293FC62FB7}"/>
              </a:ext>
            </a:extLst>
          </p:cNvPr>
          <p:cNvPicPr/>
          <p:nvPr/>
        </p:nvPicPr>
        <p:blipFill rotWithShape="1">
          <a:blip r:embed="rId3"/>
          <a:srcRect r="8504" b="9883"/>
          <a:stretch/>
        </p:blipFill>
        <p:spPr>
          <a:xfrm>
            <a:off x="3176335" y="3088238"/>
            <a:ext cx="8694019" cy="157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231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554" r="29554"/>
          <a:stretch>
            <a:fillRect/>
          </a:stretch>
        </p:blipFill>
        <p:spPr>
          <a:xfrm>
            <a:off x="0" y="0"/>
            <a:ext cx="2804991" cy="6858000"/>
          </a:xfrm>
        </p:spPr>
      </p:pic>
      <p:sp>
        <p:nvSpPr>
          <p:cNvPr id="23" name="TextBox 7">
            <a:extLst>
              <a:ext uri="{FF2B5EF4-FFF2-40B4-BE49-F238E27FC236}">
                <a16:creationId xmlns:a16="http://schemas.microsoft.com/office/drawing/2014/main" id="{1229E602-2D11-4C61-A057-0ACBDB156A3A}"/>
              </a:ext>
            </a:extLst>
          </p:cNvPr>
          <p:cNvSpPr txBox="1"/>
          <p:nvPr/>
        </p:nvSpPr>
        <p:spPr>
          <a:xfrm>
            <a:off x="623766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正常测试用例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2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A7AD25-BF88-46F8-AE2C-A9F07EB45B60}"/>
              </a:ext>
            </a:extLst>
          </p:cNvPr>
          <p:cNvSpPr/>
          <p:nvPr/>
        </p:nvSpPr>
        <p:spPr>
          <a:xfrm>
            <a:off x="3176335" y="1138535"/>
            <a:ext cx="88873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输入：</a:t>
            </a:r>
            <a:r>
              <a:rPr lang="zh-CN" altLang="en-US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用户名“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admin2222”</a:t>
            </a:r>
            <a:r>
              <a:rPr lang="zh-CN" altLang="en-US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，密码“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admin1111”</a:t>
            </a:r>
            <a:r>
              <a:rPr lang="zh-CN" altLang="en-US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（重密码不重名）</a:t>
            </a:r>
            <a:endParaRPr lang="zh-CN" altLang="zh-CN" sz="2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预计输出：</a:t>
            </a:r>
            <a:r>
              <a:rPr lang="zh-CN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用户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，用户名，加密后的用户密码，用户角色</a:t>
            </a: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实际输出：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3273E93-A339-49E4-AF60-E131FCD599E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064040" y="2629362"/>
            <a:ext cx="9337509" cy="372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5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554" r="29554"/>
          <a:stretch>
            <a:fillRect/>
          </a:stretch>
        </p:blipFill>
        <p:spPr>
          <a:xfrm>
            <a:off x="0" y="0"/>
            <a:ext cx="2804991" cy="6858000"/>
          </a:xfrm>
        </p:spPr>
      </p:pic>
      <p:sp>
        <p:nvSpPr>
          <p:cNvPr id="23" name="TextBox 7">
            <a:extLst>
              <a:ext uri="{FF2B5EF4-FFF2-40B4-BE49-F238E27FC236}">
                <a16:creationId xmlns:a16="http://schemas.microsoft.com/office/drawing/2014/main" id="{1229E602-2D11-4C61-A057-0ACBDB156A3A}"/>
              </a:ext>
            </a:extLst>
          </p:cNvPr>
          <p:cNvSpPr txBox="1"/>
          <p:nvPr/>
        </p:nvSpPr>
        <p:spPr>
          <a:xfrm>
            <a:off x="623766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异常测试用例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1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A7AD25-BF88-46F8-AE2C-A9F07EB45B60}"/>
              </a:ext>
            </a:extLst>
          </p:cNvPr>
          <p:cNvSpPr/>
          <p:nvPr/>
        </p:nvSpPr>
        <p:spPr>
          <a:xfrm>
            <a:off x="3176335" y="1138535"/>
            <a:ext cx="88873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输入：</a:t>
            </a:r>
            <a:r>
              <a:rPr lang="zh-CN" altLang="en-US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用户名“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admin1111”</a:t>
            </a:r>
            <a:r>
              <a:rPr lang="zh-CN" altLang="en-US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，密码“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123456789123456789”</a:t>
            </a: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预计输出：</a:t>
            </a:r>
            <a:r>
              <a:rPr lang="zh-CN" altLang="en-US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密码错误（过长）</a:t>
            </a:r>
            <a:endParaRPr lang="zh-CN" altLang="zh-CN" sz="2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实际输出：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A4C9E9-1D65-4434-A39F-979889758FD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176335" y="2386990"/>
            <a:ext cx="9069299" cy="380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76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554" r="29554"/>
          <a:stretch>
            <a:fillRect/>
          </a:stretch>
        </p:blipFill>
        <p:spPr>
          <a:xfrm>
            <a:off x="0" y="0"/>
            <a:ext cx="2804991" cy="6858000"/>
          </a:xfrm>
        </p:spPr>
      </p:pic>
      <p:sp>
        <p:nvSpPr>
          <p:cNvPr id="23" name="TextBox 7">
            <a:extLst>
              <a:ext uri="{FF2B5EF4-FFF2-40B4-BE49-F238E27FC236}">
                <a16:creationId xmlns:a16="http://schemas.microsoft.com/office/drawing/2014/main" id="{1229E602-2D11-4C61-A057-0ACBDB156A3A}"/>
              </a:ext>
            </a:extLst>
          </p:cNvPr>
          <p:cNvSpPr txBox="1"/>
          <p:nvPr/>
        </p:nvSpPr>
        <p:spPr>
          <a:xfrm>
            <a:off x="623766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异常测试用例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2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A7AD25-BF88-46F8-AE2C-A9F07EB45B60}"/>
              </a:ext>
            </a:extLst>
          </p:cNvPr>
          <p:cNvSpPr/>
          <p:nvPr/>
        </p:nvSpPr>
        <p:spPr>
          <a:xfrm>
            <a:off x="3176335" y="1138535"/>
            <a:ext cx="88873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输入：</a:t>
            </a:r>
            <a:r>
              <a:rPr lang="zh-CN" altLang="en-US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用户名“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admin1111”</a:t>
            </a:r>
            <a:r>
              <a:rPr lang="zh-CN" altLang="en-US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（已存在）密码“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admin1111”</a:t>
            </a: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预计输出：</a:t>
            </a:r>
            <a:r>
              <a:rPr lang="zh-CN" altLang="en-US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用户已存在</a:t>
            </a:r>
            <a:endParaRPr lang="zh-CN" altLang="zh-CN" sz="2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实际输出：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0256F44-792D-439D-8FFB-2BECF5EB52E7}"/>
              </a:ext>
            </a:extLst>
          </p:cNvPr>
          <p:cNvPicPr/>
          <p:nvPr/>
        </p:nvPicPr>
        <p:blipFill rotWithShape="1">
          <a:blip r:embed="rId3"/>
          <a:srcRect t="12149"/>
          <a:stretch/>
        </p:blipFill>
        <p:spPr>
          <a:xfrm>
            <a:off x="3090092" y="2629361"/>
            <a:ext cx="8973572" cy="354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8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554" r="29554"/>
          <a:stretch>
            <a:fillRect/>
          </a:stretch>
        </p:blipFill>
        <p:spPr>
          <a:xfrm>
            <a:off x="0" y="0"/>
            <a:ext cx="2804991" cy="6858000"/>
          </a:xfrm>
        </p:spPr>
      </p:pic>
      <p:sp>
        <p:nvSpPr>
          <p:cNvPr id="23" name="TextBox 7">
            <a:extLst>
              <a:ext uri="{FF2B5EF4-FFF2-40B4-BE49-F238E27FC236}">
                <a16:creationId xmlns:a16="http://schemas.microsoft.com/office/drawing/2014/main" id="{1229E602-2D11-4C61-A057-0ACBDB156A3A}"/>
              </a:ext>
            </a:extLst>
          </p:cNvPr>
          <p:cNvSpPr txBox="1"/>
          <p:nvPr/>
        </p:nvSpPr>
        <p:spPr>
          <a:xfrm>
            <a:off x="623766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边缘测试用例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1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A7AD25-BF88-46F8-AE2C-A9F07EB45B60}"/>
              </a:ext>
            </a:extLst>
          </p:cNvPr>
          <p:cNvSpPr/>
          <p:nvPr/>
        </p:nvSpPr>
        <p:spPr>
          <a:xfrm>
            <a:off x="3176335" y="1138535"/>
            <a:ext cx="88873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输入：</a:t>
            </a:r>
            <a:r>
              <a:rPr lang="zh-CN" altLang="en-US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用户名“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12345678”</a:t>
            </a:r>
            <a:r>
              <a:rPr lang="zh-CN" altLang="en-US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密码“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12345678”</a:t>
            </a: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预计输出：</a:t>
            </a:r>
            <a:r>
              <a:rPr lang="zh-CN" altLang="en-US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用户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zh-CN" altLang="en-US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，用户名，加密后的用户密码，用户角色</a:t>
            </a:r>
            <a:endParaRPr lang="zh-CN" altLang="zh-CN" sz="2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实际输出： 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90C52CF-2DB1-4399-B437-FA6052EFF8D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176335" y="2414338"/>
            <a:ext cx="8920138" cy="398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47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554" r="29554"/>
          <a:stretch>
            <a:fillRect/>
          </a:stretch>
        </p:blipFill>
        <p:spPr>
          <a:xfrm>
            <a:off x="0" y="0"/>
            <a:ext cx="2804991" cy="6858000"/>
          </a:xfrm>
        </p:spPr>
      </p:pic>
      <p:sp>
        <p:nvSpPr>
          <p:cNvPr id="23" name="TextBox 7">
            <a:extLst>
              <a:ext uri="{FF2B5EF4-FFF2-40B4-BE49-F238E27FC236}">
                <a16:creationId xmlns:a16="http://schemas.microsoft.com/office/drawing/2014/main" id="{1229E602-2D11-4C61-A057-0ACBDB156A3A}"/>
              </a:ext>
            </a:extLst>
          </p:cNvPr>
          <p:cNvSpPr txBox="1"/>
          <p:nvPr/>
        </p:nvSpPr>
        <p:spPr>
          <a:xfrm>
            <a:off x="623766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边缘测试用例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2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A7AD25-BF88-46F8-AE2C-A9F07EB45B60}"/>
              </a:ext>
            </a:extLst>
          </p:cNvPr>
          <p:cNvSpPr/>
          <p:nvPr/>
        </p:nvSpPr>
        <p:spPr>
          <a:xfrm>
            <a:off x="3176335" y="1138535"/>
            <a:ext cx="88873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输入：</a:t>
            </a:r>
            <a:r>
              <a:rPr lang="zh-CN" altLang="en-US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用户名“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1234567”</a:t>
            </a:r>
            <a:r>
              <a:rPr lang="zh-CN" altLang="en-US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密码“</a:t>
            </a:r>
            <a:r>
              <a:rPr lang="en-US" altLang="zh-CN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12345678”</a:t>
            </a: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预计输出：</a:t>
            </a:r>
            <a:r>
              <a:rPr lang="zh-CN" altLang="en-US" sz="2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用户名过短，插入失败</a:t>
            </a:r>
            <a:endParaRPr lang="zh-CN" altLang="zh-CN" sz="2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00206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实际输出：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BACB49A-3957-42D8-9499-210A10DFB39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917532" y="2483242"/>
            <a:ext cx="9146131" cy="386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22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558251" y="2443528"/>
            <a:ext cx="49762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spc="300" dirty="0">
                <a:solidFill>
                  <a:schemeClr val="tx2"/>
                </a:solidFill>
                <a:latin typeface="Oswald" charset="0"/>
                <a:ea typeface="Oswald" charset="0"/>
                <a:cs typeface="Oswald" charset="0"/>
              </a:rPr>
              <a:t>3.Postman</a:t>
            </a:r>
          </a:p>
          <a:p>
            <a:r>
              <a:rPr lang="zh-CN" altLang="en-US" sz="4800" spc="300" dirty="0">
                <a:solidFill>
                  <a:schemeClr val="tx2"/>
                </a:solidFill>
                <a:latin typeface="Oswald" charset="0"/>
                <a:ea typeface="Oswald" charset="0"/>
                <a:cs typeface="Oswald" charset="0"/>
              </a:rPr>
              <a:t>自动化参数测试</a:t>
            </a: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24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156" b="8156"/>
          <a:stretch>
            <a:fillRect/>
          </a:stretch>
        </p:blipFill>
        <p:spPr>
          <a:xfrm>
            <a:off x="6096000" y="0"/>
            <a:ext cx="8196780" cy="6858000"/>
          </a:xfrm>
        </p:spPr>
      </p:pic>
    </p:spTree>
    <p:extLst>
      <p:ext uri="{BB962C8B-B14F-4D97-AF65-F5344CB8AC3E}">
        <p14:creationId xmlns:p14="http://schemas.microsoft.com/office/powerpoint/2010/main" val="760658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092" r="37975"/>
          <a:stretch/>
        </p:blipFill>
        <p:spPr>
          <a:xfrm>
            <a:off x="0" y="0"/>
            <a:ext cx="2566738" cy="6858000"/>
          </a:xfr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095A99F3-85C5-476B-A201-6F93074584E7}"/>
              </a:ext>
            </a:extLst>
          </p:cNvPr>
          <p:cNvSpPr txBox="1"/>
          <p:nvPr/>
        </p:nvSpPr>
        <p:spPr>
          <a:xfrm>
            <a:off x="-579392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步骤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1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74260F-CFFA-48B9-A2BC-EF351212A243}"/>
              </a:ext>
            </a:extLst>
          </p:cNvPr>
          <p:cNvSpPr/>
          <p:nvPr/>
        </p:nvSpPr>
        <p:spPr>
          <a:xfrm>
            <a:off x="2887581" y="1049743"/>
            <a:ext cx="87269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>
                <a:cs typeface="Times New Roman" panose="02020603050405020304" pitchFamily="18" charset="0"/>
              </a:rPr>
              <a:t>首先是使用</a:t>
            </a:r>
            <a:r>
              <a:rPr lang="en-US" altLang="zh-CN" sz="2400" dirty="0">
                <a:cs typeface="Times New Roman" panose="02020603050405020304" pitchFamily="18" charset="0"/>
              </a:rPr>
              <a:t>csv</a:t>
            </a:r>
            <a:r>
              <a:rPr lang="zh-CN" altLang="zh-CN" sz="2400" dirty="0">
                <a:cs typeface="Times New Roman" panose="02020603050405020304" pitchFamily="18" charset="0"/>
              </a:rPr>
              <a:t>设计自动化测试参数表，共设计了</a:t>
            </a:r>
            <a:r>
              <a:rPr lang="en-US" altLang="zh-CN" sz="2400" dirty="0">
                <a:cs typeface="Times New Roman" panose="02020603050405020304" pitchFamily="18" charset="0"/>
              </a:rPr>
              <a:t>15</a:t>
            </a:r>
            <a:r>
              <a:rPr lang="zh-CN" altLang="zh-CN" sz="2400" dirty="0">
                <a:cs typeface="Times New Roman" panose="02020603050405020304" pitchFamily="18" charset="0"/>
              </a:rPr>
              <a:t>个不同的测试用例</a:t>
            </a:r>
            <a:endParaRPr lang="zh-CN" altLang="en-US" sz="24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50DAFC0-C935-4137-85A6-4DD3D0F3C59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088130" y="1893570"/>
            <a:ext cx="6242986" cy="477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6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092" r="37975"/>
          <a:stretch/>
        </p:blipFill>
        <p:spPr>
          <a:xfrm>
            <a:off x="0" y="0"/>
            <a:ext cx="2566738" cy="6858000"/>
          </a:xfr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095A99F3-85C5-476B-A201-6F93074584E7}"/>
              </a:ext>
            </a:extLst>
          </p:cNvPr>
          <p:cNvSpPr txBox="1"/>
          <p:nvPr/>
        </p:nvSpPr>
        <p:spPr>
          <a:xfrm>
            <a:off x="-579392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步骤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2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74260F-CFFA-48B9-A2BC-EF351212A243}"/>
              </a:ext>
            </a:extLst>
          </p:cNvPr>
          <p:cNvSpPr/>
          <p:nvPr/>
        </p:nvSpPr>
        <p:spPr>
          <a:xfrm>
            <a:off x="2887581" y="1049743"/>
            <a:ext cx="87269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使用</a:t>
            </a:r>
            <a:r>
              <a:rPr lang="en-US" altLang="zh-CN" sz="2400" dirty="0">
                <a:cs typeface="Times New Roman" panose="02020603050405020304" pitchFamily="18" charset="0"/>
              </a:rPr>
              <a:t>postman</a:t>
            </a:r>
            <a:r>
              <a:rPr lang="zh-CN" altLang="en-US" sz="2400" dirty="0">
                <a:cs typeface="Times New Roman" panose="02020603050405020304" pitchFamily="18" charset="0"/>
              </a:rPr>
              <a:t>创建一个新的</a:t>
            </a:r>
            <a:r>
              <a:rPr lang="en-US" altLang="zh-CN" sz="2400" dirty="0">
                <a:cs typeface="Times New Roman" panose="02020603050405020304" pitchFamily="18" charset="0"/>
              </a:rPr>
              <a:t>collection</a:t>
            </a:r>
            <a:r>
              <a:rPr lang="zh-CN" altLang="en-US" sz="2400" dirty="0">
                <a:cs typeface="Times New Roman" panose="02020603050405020304" pitchFamily="18" charset="0"/>
              </a:rPr>
              <a:t>，将相应的指令与请求一一置入</a:t>
            </a: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77F8BB-7AB9-422D-8337-40784EAB87B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87581" y="2083461"/>
            <a:ext cx="8857632" cy="457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8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092" r="37975"/>
          <a:stretch/>
        </p:blipFill>
        <p:spPr>
          <a:xfrm>
            <a:off x="0" y="0"/>
            <a:ext cx="2566738" cy="6858000"/>
          </a:xfr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095A99F3-85C5-476B-A201-6F93074584E7}"/>
              </a:ext>
            </a:extLst>
          </p:cNvPr>
          <p:cNvSpPr txBox="1"/>
          <p:nvPr/>
        </p:nvSpPr>
        <p:spPr>
          <a:xfrm>
            <a:off x="-579392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步骤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3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74260F-CFFA-48B9-A2BC-EF351212A243}"/>
              </a:ext>
            </a:extLst>
          </p:cNvPr>
          <p:cNvSpPr/>
          <p:nvPr/>
        </p:nvSpPr>
        <p:spPr>
          <a:xfrm>
            <a:off x="2887581" y="1049743"/>
            <a:ext cx="87269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注册，在</a:t>
            </a:r>
            <a:r>
              <a:rPr lang="en-US" altLang="zh-CN" sz="2400" dirty="0">
                <a:cs typeface="Times New Roman" panose="02020603050405020304" pitchFamily="18" charset="0"/>
              </a:rPr>
              <a:t>Body</a:t>
            </a:r>
            <a:r>
              <a:rPr lang="zh-CN" altLang="en-US" sz="2400" dirty="0">
                <a:cs typeface="Times New Roman" panose="02020603050405020304" pitchFamily="18" charset="0"/>
              </a:rPr>
              <a:t>中设置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参数化</a:t>
            </a:r>
            <a:r>
              <a:rPr lang="zh-CN" altLang="en-US" sz="2400" dirty="0">
                <a:cs typeface="Times New Roman" panose="02020603050405020304" pitchFamily="18" charset="0"/>
              </a:rPr>
              <a:t>传输操作，并在头部指定传输格式为</a:t>
            </a: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json</a:t>
            </a:r>
            <a:endParaRPr lang="zh-CN" altLang="en-US" sz="24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8E5C1A-FE3F-4C45-8B67-32C67750AE3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48641" y="1880740"/>
            <a:ext cx="7835157" cy="233375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A6130A6-5909-4648-BA26-3B46DC66DDE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702722" y="4119257"/>
            <a:ext cx="7781076" cy="289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86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092" r="37975"/>
          <a:stretch/>
        </p:blipFill>
        <p:spPr>
          <a:xfrm>
            <a:off x="0" y="0"/>
            <a:ext cx="2566738" cy="6858000"/>
          </a:xfr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095A99F3-85C5-476B-A201-6F93074584E7}"/>
              </a:ext>
            </a:extLst>
          </p:cNvPr>
          <p:cNvSpPr txBox="1"/>
          <p:nvPr/>
        </p:nvSpPr>
        <p:spPr>
          <a:xfrm>
            <a:off x="-579392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步骤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4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74260F-CFFA-48B9-A2BC-EF351212A243}"/>
              </a:ext>
            </a:extLst>
          </p:cNvPr>
          <p:cNvSpPr/>
          <p:nvPr/>
        </p:nvSpPr>
        <p:spPr>
          <a:xfrm>
            <a:off x="2887581" y="1049743"/>
            <a:ext cx="87269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登录任务，在</a:t>
            </a:r>
            <a:r>
              <a:rPr lang="en-US" altLang="zh-CN" sz="2400" dirty="0">
                <a:cs typeface="Times New Roman" panose="02020603050405020304" pitchFamily="18" charset="0"/>
              </a:rPr>
              <a:t>Body</a:t>
            </a:r>
            <a:r>
              <a:rPr lang="zh-CN" altLang="en-US" sz="2400" dirty="0">
                <a:cs typeface="Times New Roman" panose="02020603050405020304" pitchFamily="18" charset="0"/>
              </a:rPr>
              <a:t>中设置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参数化</a:t>
            </a:r>
            <a:r>
              <a:rPr lang="zh-CN" altLang="en-US" sz="2400" dirty="0">
                <a:cs typeface="Times New Roman" panose="02020603050405020304" pitchFamily="18" charset="0"/>
              </a:rPr>
              <a:t>传输操作，并在头部指定传输格式为</a:t>
            </a: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json</a:t>
            </a:r>
            <a:r>
              <a:rPr lang="zh-CN" altLang="en-US" sz="2400" dirty="0">
                <a:cs typeface="Times New Roman" panose="02020603050405020304" pitchFamily="18" charset="0"/>
              </a:rPr>
              <a:t>，同时为整个测试设置一个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环境“</a:t>
            </a: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all-test“</a:t>
            </a:r>
            <a:r>
              <a:rPr lang="zh-CN" altLang="en-US" sz="2400" dirty="0">
                <a:cs typeface="Times New Roman" panose="02020603050405020304" pitchFamily="18" charset="0"/>
              </a:rPr>
              <a:t>，并输入全局的测试使用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变量”</a:t>
            </a: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token“</a:t>
            </a:r>
            <a:r>
              <a:rPr lang="zh-CN" altLang="en-US" sz="2400" dirty="0">
                <a:cs typeface="Times New Roman" panose="02020603050405020304" pitchFamily="18" charset="0"/>
              </a:rPr>
              <a:t>，使用代码截取</a:t>
            </a:r>
            <a:r>
              <a:rPr lang="en-US" altLang="zh-CN" sz="2400" dirty="0">
                <a:cs typeface="Times New Roman" panose="02020603050405020304" pitchFamily="18" charset="0"/>
              </a:rPr>
              <a:t>token</a:t>
            </a:r>
            <a:r>
              <a:rPr lang="zh-CN" altLang="en-US" sz="2400" dirty="0">
                <a:cs typeface="Times New Roman" panose="02020603050405020304" pitchFamily="18" charset="0"/>
              </a:rPr>
              <a:t>，并为全局变量赋值，使得后续的增删查改都可以正常进行。</a:t>
            </a:r>
          </a:p>
          <a:p>
            <a:endParaRPr lang="en-US" altLang="zh-CN" sz="2400" dirty="0">
              <a:cs typeface="Times New Roman" panose="02020603050405020304" pitchFamily="18" charset="0"/>
            </a:endParaRPr>
          </a:p>
          <a:p>
            <a:r>
              <a:rPr lang="zh-CN" altLang="en-US" sz="2400" dirty="0">
                <a:cs typeface="Times New Roman" panose="02020603050405020304" pitchFamily="18" charset="0"/>
              </a:rPr>
              <a:t>参数化登录：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5E5E89D-6BB7-4D98-8FAD-A4872824625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87581" y="3429000"/>
            <a:ext cx="8823252" cy="290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813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092" r="37975"/>
          <a:stretch/>
        </p:blipFill>
        <p:spPr>
          <a:xfrm>
            <a:off x="0" y="0"/>
            <a:ext cx="2566738" cy="6858000"/>
          </a:xfr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095A99F3-85C5-476B-A201-6F93074584E7}"/>
              </a:ext>
            </a:extLst>
          </p:cNvPr>
          <p:cNvSpPr txBox="1"/>
          <p:nvPr/>
        </p:nvSpPr>
        <p:spPr>
          <a:xfrm>
            <a:off x="-579392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步骤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4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74260F-CFFA-48B9-A2BC-EF351212A243}"/>
              </a:ext>
            </a:extLst>
          </p:cNvPr>
          <p:cNvSpPr/>
          <p:nvPr/>
        </p:nvSpPr>
        <p:spPr>
          <a:xfrm>
            <a:off x="2887581" y="1049743"/>
            <a:ext cx="87269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登录任务，在</a:t>
            </a:r>
            <a:r>
              <a:rPr lang="en-US" altLang="zh-CN" sz="2400" dirty="0">
                <a:cs typeface="Times New Roman" panose="02020603050405020304" pitchFamily="18" charset="0"/>
              </a:rPr>
              <a:t>Body</a:t>
            </a:r>
            <a:r>
              <a:rPr lang="zh-CN" altLang="en-US" sz="2400" dirty="0">
                <a:cs typeface="Times New Roman" panose="02020603050405020304" pitchFamily="18" charset="0"/>
              </a:rPr>
              <a:t>中设置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参数化</a:t>
            </a:r>
            <a:r>
              <a:rPr lang="zh-CN" altLang="en-US" sz="2400" dirty="0">
                <a:cs typeface="Times New Roman" panose="02020603050405020304" pitchFamily="18" charset="0"/>
              </a:rPr>
              <a:t>传输操作，并在头部指定传输格式为</a:t>
            </a: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json</a:t>
            </a:r>
            <a:r>
              <a:rPr lang="zh-CN" altLang="en-US" sz="2400" dirty="0">
                <a:cs typeface="Times New Roman" panose="02020603050405020304" pitchFamily="18" charset="0"/>
              </a:rPr>
              <a:t>，同时为整个测试设置一个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环境“</a:t>
            </a: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all-test“</a:t>
            </a:r>
            <a:r>
              <a:rPr lang="zh-CN" altLang="en-US" sz="2400" dirty="0">
                <a:cs typeface="Times New Roman" panose="02020603050405020304" pitchFamily="18" charset="0"/>
              </a:rPr>
              <a:t>，并输入全局的测试使用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变量”</a:t>
            </a: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token“</a:t>
            </a:r>
            <a:r>
              <a:rPr lang="zh-CN" altLang="en-US" sz="2400" dirty="0">
                <a:cs typeface="Times New Roman" panose="02020603050405020304" pitchFamily="18" charset="0"/>
              </a:rPr>
              <a:t>，使用代码截取</a:t>
            </a:r>
            <a:r>
              <a:rPr lang="en-US" altLang="zh-CN" sz="2400" dirty="0">
                <a:cs typeface="Times New Roman" panose="02020603050405020304" pitchFamily="18" charset="0"/>
              </a:rPr>
              <a:t>token</a:t>
            </a:r>
            <a:r>
              <a:rPr lang="zh-CN" altLang="en-US" sz="2400" dirty="0">
                <a:cs typeface="Times New Roman" panose="02020603050405020304" pitchFamily="18" charset="0"/>
              </a:rPr>
              <a:t>，并为全局变量赋值，使得后续的增删查改都可以正常进行。</a:t>
            </a:r>
          </a:p>
          <a:p>
            <a:endParaRPr lang="en-US" altLang="zh-CN" sz="2400" dirty="0">
              <a:cs typeface="Times New Roman" panose="02020603050405020304" pitchFamily="18" charset="0"/>
            </a:endParaRPr>
          </a:p>
          <a:p>
            <a:r>
              <a:rPr lang="zh-CN" altLang="en-US" sz="2400" dirty="0">
                <a:cs typeface="Times New Roman" panose="02020603050405020304" pitchFamily="18" charset="0"/>
              </a:rPr>
              <a:t>设置环境</a:t>
            </a:r>
            <a:r>
              <a:rPr lang="en-US" altLang="zh-CN" sz="2400" dirty="0">
                <a:cs typeface="Times New Roman" panose="02020603050405020304" pitchFamily="18" charset="0"/>
              </a:rPr>
              <a:t>All-test</a:t>
            </a:r>
            <a:r>
              <a:rPr lang="zh-CN" altLang="en-US" sz="2400" dirty="0">
                <a:cs typeface="Times New Roman" panose="02020603050405020304" pitchFamily="18" charset="0"/>
              </a:rPr>
              <a:t>，包含环境变量</a:t>
            </a:r>
            <a:r>
              <a:rPr lang="en-US" altLang="zh-CN" sz="2400" dirty="0">
                <a:cs typeface="Times New Roman" panose="02020603050405020304" pitchFamily="18" charset="0"/>
              </a:rPr>
              <a:t>Token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252F683-B84C-472A-B477-25A22646623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87580" y="3428999"/>
            <a:ext cx="8967535" cy="343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83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092" r="37975"/>
          <a:stretch/>
        </p:blipFill>
        <p:spPr>
          <a:xfrm>
            <a:off x="0" y="0"/>
            <a:ext cx="2566738" cy="6858000"/>
          </a:xfr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095A99F3-85C5-476B-A201-6F93074584E7}"/>
              </a:ext>
            </a:extLst>
          </p:cNvPr>
          <p:cNvSpPr txBox="1"/>
          <p:nvPr/>
        </p:nvSpPr>
        <p:spPr>
          <a:xfrm>
            <a:off x="-579392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步骤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4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74260F-CFFA-48B9-A2BC-EF351212A243}"/>
              </a:ext>
            </a:extLst>
          </p:cNvPr>
          <p:cNvSpPr/>
          <p:nvPr/>
        </p:nvSpPr>
        <p:spPr>
          <a:xfrm>
            <a:off x="2887581" y="1049743"/>
            <a:ext cx="87269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登录任务，在</a:t>
            </a:r>
            <a:r>
              <a:rPr lang="en-US" altLang="zh-CN" sz="2400" dirty="0">
                <a:cs typeface="Times New Roman" panose="02020603050405020304" pitchFamily="18" charset="0"/>
              </a:rPr>
              <a:t>Body</a:t>
            </a:r>
            <a:r>
              <a:rPr lang="zh-CN" altLang="en-US" sz="2400" dirty="0">
                <a:cs typeface="Times New Roman" panose="02020603050405020304" pitchFamily="18" charset="0"/>
              </a:rPr>
              <a:t>中设置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参数化</a:t>
            </a:r>
            <a:r>
              <a:rPr lang="zh-CN" altLang="en-US" sz="2400" dirty="0">
                <a:cs typeface="Times New Roman" panose="02020603050405020304" pitchFamily="18" charset="0"/>
              </a:rPr>
              <a:t>传输操作，并在头部指定传输格式为</a:t>
            </a: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json</a:t>
            </a:r>
            <a:r>
              <a:rPr lang="zh-CN" altLang="en-US" sz="2400" dirty="0">
                <a:cs typeface="Times New Roman" panose="02020603050405020304" pitchFamily="18" charset="0"/>
              </a:rPr>
              <a:t>，同时为整个测试设置一个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环境“</a:t>
            </a: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all-test“</a:t>
            </a:r>
            <a:r>
              <a:rPr lang="zh-CN" altLang="en-US" sz="2400" dirty="0">
                <a:cs typeface="Times New Roman" panose="02020603050405020304" pitchFamily="18" charset="0"/>
              </a:rPr>
              <a:t>，并输入全局的测试使用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变量”</a:t>
            </a: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token“</a:t>
            </a:r>
            <a:r>
              <a:rPr lang="zh-CN" altLang="en-US" sz="2400" dirty="0">
                <a:cs typeface="Times New Roman" panose="02020603050405020304" pitchFamily="18" charset="0"/>
              </a:rPr>
              <a:t>，使用代码截取</a:t>
            </a:r>
            <a:r>
              <a:rPr lang="en-US" altLang="zh-CN" sz="2400" dirty="0">
                <a:cs typeface="Times New Roman" panose="02020603050405020304" pitchFamily="18" charset="0"/>
              </a:rPr>
              <a:t>token</a:t>
            </a:r>
            <a:r>
              <a:rPr lang="zh-CN" altLang="en-US" sz="2400" dirty="0">
                <a:cs typeface="Times New Roman" panose="02020603050405020304" pitchFamily="18" charset="0"/>
              </a:rPr>
              <a:t>，并为全局变量赋值，使得后续的增删查改都可以正常进行。</a:t>
            </a:r>
          </a:p>
          <a:p>
            <a:endParaRPr lang="en-US" altLang="zh-CN" sz="2400" dirty="0">
              <a:cs typeface="Times New Roman" panose="02020603050405020304" pitchFamily="18" charset="0"/>
            </a:endParaRPr>
          </a:p>
          <a:p>
            <a:r>
              <a:rPr lang="zh-CN" altLang="en-US" sz="2400" dirty="0">
                <a:cs typeface="Times New Roman" panose="02020603050405020304" pitchFamily="18" charset="0"/>
              </a:rPr>
              <a:t>截取</a:t>
            </a:r>
            <a:r>
              <a:rPr lang="en-US" altLang="zh-CN" sz="2400" dirty="0">
                <a:cs typeface="Times New Roman" panose="02020603050405020304" pitchFamily="18" charset="0"/>
              </a:rPr>
              <a:t>Token</a:t>
            </a:r>
            <a:r>
              <a:rPr lang="zh-CN" altLang="en-US" sz="2400" dirty="0">
                <a:cs typeface="Times New Roman" panose="02020603050405020304" pitchFamily="18" charset="0"/>
              </a:rPr>
              <a:t>并为环境变量赋值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4A3CEB8-5748-43B2-9CA4-0D89703AB84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87581" y="3688110"/>
            <a:ext cx="10906109" cy="230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9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092" r="37975"/>
          <a:stretch/>
        </p:blipFill>
        <p:spPr>
          <a:xfrm>
            <a:off x="0" y="0"/>
            <a:ext cx="2566738" cy="6858000"/>
          </a:xfr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095A99F3-85C5-476B-A201-6F93074584E7}"/>
              </a:ext>
            </a:extLst>
          </p:cNvPr>
          <p:cNvSpPr txBox="1"/>
          <p:nvPr/>
        </p:nvSpPr>
        <p:spPr>
          <a:xfrm>
            <a:off x="-579392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步骤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5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74260F-CFFA-48B9-A2BC-EF351212A243}"/>
              </a:ext>
            </a:extLst>
          </p:cNvPr>
          <p:cNvSpPr/>
          <p:nvPr/>
        </p:nvSpPr>
        <p:spPr>
          <a:xfrm>
            <a:off x="2889077" y="1367737"/>
            <a:ext cx="90156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创建任务：在</a:t>
            </a:r>
            <a:r>
              <a:rPr lang="en-US" altLang="zh-CN" sz="2400" dirty="0">
                <a:cs typeface="Times New Roman" panose="02020603050405020304" pitchFamily="18" charset="0"/>
              </a:rPr>
              <a:t>headers</a:t>
            </a:r>
            <a:r>
              <a:rPr lang="zh-CN" altLang="en-US" sz="2400" dirty="0">
                <a:cs typeface="Times New Roman" panose="02020603050405020304" pitchFamily="18" charset="0"/>
              </a:rPr>
              <a:t>中添加</a:t>
            </a: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Authorization</a:t>
            </a:r>
            <a:r>
              <a:rPr lang="zh-CN" altLang="en-US" sz="2400" dirty="0">
                <a:cs typeface="Times New Roman" panose="02020603050405020304" pitchFamily="18" charset="0"/>
              </a:rPr>
              <a:t>，读取</a:t>
            </a:r>
            <a:r>
              <a:rPr lang="en-US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token</a:t>
            </a:r>
            <a:r>
              <a:rPr lang="zh-CN" altLang="en-US" sz="2400" dirty="0">
                <a:cs typeface="Times New Roman" panose="02020603050405020304" pitchFamily="18" charset="0"/>
              </a:rPr>
              <a:t>环境变量。删除任务，修改任务，查询任务采取相同的方法进行鉴权操作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368196-AE16-43E1-9ACF-49A1B41BF57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89077" y="2718434"/>
            <a:ext cx="11523179" cy="310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819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092" r="37975"/>
          <a:stretch/>
        </p:blipFill>
        <p:spPr>
          <a:xfrm>
            <a:off x="0" y="0"/>
            <a:ext cx="2566738" cy="6858000"/>
          </a:xfr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095A99F3-85C5-476B-A201-6F93074584E7}"/>
              </a:ext>
            </a:extLst>
          </p:cNvPr>
          <p:cNvSpPr txBox="1"/>
          <p:nvPr/>
        </p:nvSpPr>
        <p:spPr>
          <a:xfrm>
            <a:off x="-579392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步骤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6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74260F-CFFA-48B9-A2BC-EF351212A243}"/>
              </a:ext>
            </a:extLst>
          </p:cNvPr>
          <p:cNvSpPr/>
          <p:nvPr/>
        </p:nvSpPr>
        <p:spPr>
          <a:xfrm>
            <a:off x="2889077" y="1049743"/>
            <a:ext cx="90156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自动的参数化测试</a:t>
            </a:r>
            <a:r>
              <a:rPr lang="zh-CN" altLang="en-US" sz="2400" dirty="0">
                <a:cs typeface="Times New Roman" panose="02020603050405020304" pitchFamily="18" charset="0"/>
              </a:rPr>
              <a:t>，使用</a:t>
            </a:r>
            <a:r>
              <a:rPr lang="en-US" altLang="zh-CN" sz="2400" dirty="0">
                <a:cs typeface="Times New Roman" panose="02020603050405020304" pitchFamily="18" charset="0"/>
              </a:rPr>
              <a:t>collection</a:t>
            </a:r>
            <a:r>
              <a:rPr lang="zh-CN" altLang="en-US" sz="2400" dirty="0">
                <a:cs typeface="Times New Roman" panose="02020603050405020304" pitchFamily="18" charset="0"/>
              </a:rPr>
              <a:t>进行集成的测试。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6824E5C-4E64-4E8A-AD75-43088DA85DB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95084" y="1511408"/>
            <a:ext cx="4379501" cy="541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30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092" r="37975"/>
          <a:stretch/>
        </p:blipFill>
        <p:spPr>
          <a:xfrm>
            <a:off x="0" y="0"/>
            <a:ext cx="2566738" cy="6858000"/>
          </a:xfr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095A99F3-85C5-476B-A201-6F93074584E7}"/>
              </a:ext>
            </a:extLst>
          </p:cNvPr>
          <p:cNvSpPr txBox="1"/>
          <p:nvPr/>
        </p:nvSpPr>
        <p:spPr>
          <a:xfrm>
            <a:off x="-579392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步骤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6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74260F-CFFA-48B9-A2BC-EF351212A243}"/>
              </a:ext>
            </a:extLst>
          </p:cNvPr>
          <p:cNvSpPr/>
          <p:nvPr/>
        </p:nvSpPr>
        <p:spPr>
          <a:xfrm>
            <a:off x="2889077" y="1049743"/>
            <a:ext cx="90156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选择测试环境，选择测试参数表，设置测试顺序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DA61BDB-F18E-4360-9DDF-C75F9C41B715}"/>
              </a:ext>
            </a:extLst>
          </p:cNvPr>
          <p:cNvGrpSpPr/>
          <p:nvPr/>
        </p:nvGrpSpPr>
        <p:grpSpPr>
          <a:xfrm>
            <a:off x="3098561" y="1541336"/>
            <a:ext cx="8596691" cy="5114958"/>
            <a:chOff x="3098561" y="1541336"/>
            <a:chExt cx="8596691" cy="511495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6E8C99A-B41C-4384-87A6-782EE002A114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098561" y="1541336"/>
              <a:ext cx="8596691" cy="5114958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9920002-0A9C-4C80-AECE-303AAB31DF3B}"/>
                </a:ext>
              </a:extLst>
            </p:cNvPr>
            <p:cNvSpPr/>
            <p:nvPr/>
          </p:nvSpPr>
          <p:spPr>
            <a:xfrm>
              <a:off x="8165432" y="5197642"/>
              <a:ext cx="1588168" cy="6106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5136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092" r="37975"/>
          <a:stretch/>
        </p:blipFill>
        <p:spPr>
          <a:xfrm>
            <a:off x="0" y="0"/>
            <a:ext cx="2566738" cy="6858000"/>
          </a:xfr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095A99F3-85C5-476B-A201-6F93074584E7}"/>
              </a:ext>
            </a:extLst>
          </p:cNvPr>
          <p:cNvSpPr txBox="1"/>
          <p:nvPr/>
        </p:nvSpPr>
        <p:spPr>
          <a:xfrm>
            <a:off x="-579392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步骤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6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74260F-CFFA-48B9-A2BC-EF351212A243}"/>
              </a:ext>
            </a:extLst>
          </p:cNvPr>
          <p:cNvSpPr/>
          <p:nvPr/>
        </p:nvSpPr>
        <p:spPr>
          <a:xfrm>
            <a:off x="2889077" y="1049743"/>
            <a:ext cx="90156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预览测试参数表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CF02C05-E4BC-45AA-8C60-B86E3326DEF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044109" y="1511408"/>
            <a:ext cx="6110544" cy="502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399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092" r="37975"/>
          <a:stretch/>
        </p:blipFill>
        <p:spPr>
          <a:xfrm>
            <a:off x="0" y="0"/>
            <a:ext cx="2566738" cy="6858000"/>
          </a:xfr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095A99F3-85C5-476B-A201-6F93074584E7}"/>
              </a:ext>
            </a:extLst>
          </p:cNvPr>
          <p:cNvSpPr txBox="1"/>
          <p:nvPr/>
        </p:nvSpPr>
        <p:spPr>
          <a:xfrm>
            <a:off x="-579392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步骤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6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74260F-CFFA-48B9-A2BC-EF351212A243}"/>
              </a:ext>
            </a:extLst>
          </p:cNvPr>
          <p:cNvSpPr/>
          <p:nvPr/>
        </p:nvSpPr>
        <p:spPr>
          <a:xfrm>
            <a:off x="2906890" y="1338897"/>
            <a:ext cx="90156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测试前数据库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460FDC1-419D-491E-985C-F0EE9E40D6C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566738" y="2291422"/>
            <a:ext cx="9695966" cy="227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092" r="37975"/>
          <a:stretch/>
        </p:blipFill>
        <p:spPr>
          <a:xfrm>
            <a:off x="0" y="0"/>
            <a:ext cx="2566738" cy="6858000"/>
          </a:xfr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095A99F3-85C5-476B-A201-6F93074584E7}"/>
              </a:ext>
            </a:extLst>
          </p:cNvPr>
          <p:cNvSpPr txBox="1"/>
          <p:nvPr/>
        </p:nvSpPr>
        <p:spPr>
          <a:xfrm>
            <a:off x="-579392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步骤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6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74260F-CFFA-48B9-A2BC-EF351212A243}"/>
              </a:ext>
            </a:extLst>
          </p:cNvPr>
          <p:cNvSpPr/>
          <p:nvPr/>
        </p:nvSpPr>
        <p:spPr>
          <a:xfrm>
            <a:off x="2906890" y="1049743"/>
            <a:ext cx="90156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通过</a:t>
            </a:r>
            <a:r>
              <a:rPr lang="en-US" altLang="zh-CN" sz="2400" dirty="0">
                <a:cs typeface="Times New Roman" panose="02020603050405020304" pitchFamily="18" charset="0"/>
              </a:rPr>
              <a:t>15</a:t>
            </a:r>
            <a:r>
              <a:rPr lang="zh-CN" altLang="en-US" sz="2400" dirty="0">
                <a:cs typeface="Times New Roman" panose="02020603050405020304" pitchFamily="18" charset="0"/>
              </a:rPr>
              <a:t>轮</a:t>
            </a:r>
            <a:r>
              <a:rPr lang="en-US" altLang="zh-CN" sz="2400" dirty="0">
                <a:cs typeface="Times New Roman" panose="02020603050405020304" pitchFamily="18" charset="0"/>
              </a:rPr>
              <a:t>90</a:t>
            </a:r>
            <a:r>
              <a:rPr lang="zh-CN" altLang="en-US" sz="2400" dirty="0">
                <a:cs typeface="Times New Roman" panose="02020603050405020304" pitchFamily="18" charset="0"/>
              </a:rPr>
              <a:t>个测试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A1F6BDF-564F-445A-8931-4AFFDC886D7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906890" y="1800562"/>
            <a:ext cx="9160053" cy="485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0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092" r="37975"/>
          <a:stretch/>
        </p:blipFill>
        <p:spPr>
          <a:xfrm>
            <a:off x="0" y="0"/>
            <a:ext cx="2566738" cy="6858000"/>
          </a:xfr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095A99F3-85C5-476B-A201-6F93074584E7}"/>
              </a:ext>
            </a:extLst>
          </p:cNvPr>
          <p:cNvSpPr txBox="1"/>
          <p:nvPr/>
        </p:nvSpPr>
        <p:spPr>
          <a:xfrm>
            <a:off x="-579392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步骤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6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74260F-CFFA-48B9-A2BC-EF351212A243}"/>
              </a:ext>
            </a:extLst>
          </p:cNvPr>
          <p:cNvSpPr/>
          <p:nvPr/>
        </p:nvSpPr>
        <p:spPr>
          <a:xfrm>
            <a:off x="2906890" y="1049743"/>
            <a:ext cx="90156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测试总结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FA84CB0-9176-43D4-AA25-006F1B2B158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906890" y="1713114"/>
            <a:ext cx="9986454" cy="495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7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092" r="37975"/>
          <a:stretch/>
        </p:blipFill>
        <p:spPr>
          <a:xfrm>
            <a:off x="0" y="0"/>
            <a:ext cx="2566738" cy="6858000"/>
          </a:xfr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095A99F3-85C5-476B-A201-6F93074584E7}"/>
              </a:ext>
            </a:extLst>
          </p:cNvPr>
          <p:cNvSpPr txBox="1"/>
          <p:nvPr/>
        </p:nvSpPr>
        <p:spPr>
          <a:xfrm>
            <a:off x="-579392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步骤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6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74260F-CFFA-48B9-A2BC-EF351212A243}"/>
              </a:ext>
            </a:extLst>
          </p:cNvPr>
          <p:cNvSpPr/>
          <p:nvPr/>
        </p:nvSpPr>
        <p:spPr>
          <a:xfrm>
            <a:off x="2906890" y="1049743"/>
            <a:ext cx="90156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可在控制台中查询任意轮次的测试具体详情，</a:t>
            </a:r>
            <a:r>
              <a:rPr lang="en-US" altLang="zh-CN" sz="2400" dirty="0">
                <a:cs typeface="Times New Roman" panose="02020603050405020304" pitchFamily="18" charset="0"/>
              </a:rPr>
              <a:t>request body </a:t>
            </a:r>
            <a:r>
              <a:rPr lang="zh-CN" altLang="en-US" sz="2400" dirty="0">
                <a:cs typeface="Times New Roman" panose="02020603050405020304" pitchFamily="18" charset="0"/>
              </a:rPr>
              <a:t>以及 </a:t>
            </a:r>
            <a:r>
              <a:rPr lang="en-US" altLang="zh-CN" sz="2400" dirty="0">
                <a:cs typeface="Times New Roman" panose="02020603050405020304" pitchFamily="18" charset="0"/>
              </a:rPr>
              <a:t>response body</a:t>
            </a:r>
            <a:endParaRPr lang="zh-CN" altLang="en-US" sz="2400" dirty="0"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50B42A7-9620-4D1D-869E-EAF199A78333}"/>
              </a:ext>
            </a:extLst>
          </p:cNvPr>
          <p:cNvPicPr/>
          <p:nvPr/>
        </p:nvPicPr>
        <p:blipFill rotWithShape="1">
          <a:blip r:embed="rId3"/>
          <a:srcRect t="26769"/>
          <a:stretch/>
        </p:blipFill>
        <p:spPr>
          <a:xfrm>
            <a:off x="2819243" y="2006444"/>
            <a:ext cx="9195791" cy="44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35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092" r="37975"/>
          <a:stretch/>
        </p:blipFill>
        <p:spPr>
          <a:xfrm>
            <a:off x="0" y="0"/>
            <a:ext cx="2566738" cy="6858000"/>
          </a:xfr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095A99F3-85C5-476B-A201-6F93074584E7}"/>
              </a:ext>
            </a:extLst>
          </p:cNvPr>
          <p:cNvSpPr txBox="1"/>
          <p:nvPr/>
        </p:nvSpPr>
        <p:spPr>
          <a:xfrm>
            <a:off x="-579392" y="201706"/>
            <a:ext cx="8456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步骤</a:t>
            </a:r>
            <a:r>
              <a:rPr lang="en-US" altLang="zh-CN" sz="36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6</a:t>
            </a:r>
            <a:endParaRPr lang="zh-CN" altLang="en-US" sz="36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74260F-CFFA-48B9-A2BC-EF351212A243}"/>
              </a:ext>
            </a:extLst>
          </p:cNvPr>
          <p:cNvSpPr/>
          <p:nvPr/>
        </p:nvSpPr>
        <p:spPr>
          <a:xfrm>
            <a:off x="2906890" y="1204935"/>
            <a:ext cx="90156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检查插入后的数据库，确有</a:t>
            </a:r>
            <a:r>
              <a:rPr lang="en-US" altLang="zh-CN" sz="2400" dirty="0"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cs typeface="Times New Roman" panose="02020603050405020304" pitchFamily="18" charset="0"/>
              </a:rPr>
              <a:t>条正常样例成功插入数据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B6222F5-5268-4FD1-9103-61FF8291C51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906890" y="2334895"/>
            <a:ext cx="9557742" cy="308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2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835835" y="2814211"/>
            <a:ext cx="7570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spc="300" dirty="0">
                <a:solidFill>
                  <a:schemeClr val="tx2"/>
                </a:solidFill>
                <a:latin typeface="Oswald" charset="0"/>
                <a:ea typeface="Oswald" charset="0"/>
                <a:cs typeface="Oswald" charset="0"/>
              </a:rPr>
              <a:t>4.</a:t>
            </a:r>
            <a:r>
              <a:rPr lang="zh-CN" altLang="en-US" sz="3600" spc="300" dirty="0">
                <a:solidFill>
                  <a:schemeClr val="tx2"/>
                </a:solidFill>
                <a:latin typeface="Oswald" charset="0"/>
                <a:ea typeface="Oswald" charset="0"/>
                <a:cs typeface="Oswald" charset="0"/>
              </a:rPr>
              <a:t>带断言的自动化测试</a:t>
            </a:r>
            <a:endParaRPr lang="en-US" sz="3600" spc="300" dirty="0">
              <a:solidFill>
                <a:schemeClr val="tx2"/>
              </a:solidFill>
              <a:latin typeface="Oswald" charset="0"/>
              <a:ea typeface="Oswald" charset="0"/>
              <a:cs typeface="Oswald" charset="0"/>
            </a:endParaRP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951" r="2295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28057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835835" y="295605"/>
            <a:ext cx="7570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spc="300" dirty="0">
                <a:solidFill>
                  <a:schemeClr val="tx2"/>
                </a:solidFill>
                <a:latin typeface="Oswald" charset="0"/>
                <a:ea typeface="Oswald" charset="0"/>
                <a:cs typeface="Oswald" charset="0"/>
              </a:rPr>
              <a:t>4.</a:t>
            </a:r>
            <a:r>
              <a:rPr lang="zh-CN" altLang="en-US" sz="3600" spc="300" dirty="0">
                <a:solidFill>
                  <a:schemeClr val="tx2"/>
                </a:solidFill>
                <a:latin typeface="Oswald" charset="0"/>
                <a:ea typeface="Oswald" charset="0"/>
                <a:cs typeface="Oswald" charset="0"/>
              </a:rPr>
              <a:t>带断言的自动化测试</a:t>
            </a:r>
            <a:endParaRPr lang="en-US" sz="3600" spc="300" dirty="0">
              <a:solidFill>
                <a:schemeClr val="tx2"/>
              </a:solidFill>
              <a:latin typeface="Oswald" charset="0"/>
              <a:ea typeface="Oswald" charset="0"/>
              <a:cs typeface="Oswald" charset="0"/>
            </a:endParaRP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951" r="22951"/>
          <a:stretch>
            <a:fillRect/>
          </a:stretch>
        </p:blipFill>
        <p:spPr>
          <a:xfrm>
            <a:off x="9457551" y="0"/>
            <a:ext cx="2474070" cy="6858000"/>
          </a:xfr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6BDF979-4091-4C3D-A774-880C16B3EB1B}"/>
              </a:ext>
            </a:extLst>
          </p:cNvPr>
          <p:cNvSpPr/>
          <p:nvPr/>
        </p:nvSpPr>
        <p:spPr>
          <a:xfrm>
            <a:off x="835836" y="1547048"/>
            <a:ext cx="808357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cs typeface="Times New Roman" panose="02020603050405020304" pitchFamily="18" charset="0"/>
              </a:rPr>
              <a:t>上述自动化测试仅是对请求的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发送与响应</a:t>
            </a:r>
            <a:r>
              <a:rPr lang="zh-CN" altLang="en-US" sz="2800" dirty="0">
                <a:cs typeface="Times New Roman" panose="02020603050405020304" pitchFamily="18" charset="0"/>
              </a:rPr>
              <a:t>做出测试。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r>
              <a:rPr lang="zh-CN" altLang="en-US" sz="2800" dirty="0">
                <a:cs typeface="Times New Roman" panose="02020603050405020304" pitchFamily="18" charset="0"/>
              </a:rPr>
              <a:t>即是说客户端发送一条请求，只要发送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格式合理</a:t>
            </a:r>
            <a:r>
              <a:rPr lang="zh-CN" altLang="en-US" sz="2800" dirty="0">
                <a:cs typeface="Times New Roman" panose="02020603050405020304" pitchFamily="18" charset="0"/>
              </a:rPr>
              <a:t>，无论是否通过，都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一定</a:t>
            </a:r>
            <a:r>
              <a:rPr lang="zh-CN" altLang="en-US" sz="2800" dirty="0">
                <a:cs typeface="Times New Roman" panose="02020603050405020304" pitchFamily="18" charset="0"/>
              </a:rPr>
              <a:t>会收到服务端返回的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响应</a:t>
            </a:r>
            <a:r>
              <a:rPr lang="zh-CN" altLang="en-US" sz="2800" dirty="0">
                <a:cs typeface="Times New Roman" panose="02020603050405020304" pitchFamily="18" charset="0"/>
              </a:rPr>
              <a:t>反馈。但是不对返回的请求是否为通过做测试。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endParaRPr lang="en-US" altLang="zh-CN" sz="2800" dirty="0">
              <a:cs typeface="Times New Roman" panose="02020603050405020304" pitchFamily="18" charset="0"/>
            </a:endParaRPr>
          </a:p>
          <a:p>
            <a:r>
              <a:rPr lang="zh-CN" altLang="en-US" sz="2800" dirty="0">
                <a:cs typeface="Times New Roman" panose="02020603050405020304" pitchFamily="18" charset="0"/>
              </a:rPr>
              <a:t>接下来通过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代码</a:t>
            </a:r>
            <a:r>
              <a:rPr lang="zh-CN" altLang="en-US" sz="2800" dirty="0">
                <a:cs typeface="Times New Roman" panose="02020603050405020304" pitchFamily="18" charset="0"/>
              </a:rPr>
              <a:t>分别为六个测试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增加断言</a:t>
            </a:r>
            <a:r>
              <a:rPr lang="zh-CN" altLang="en-US" sz="2800" dirty="0">
                <a:cs typeface="Times New Roman" panose="02020603050405020304" pitchFamily="18" charset="0"/>
              </a:rPr>
              <a:t>，以判断发送的请求得到了服务端的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正确性</a:t>
            </a:r>
            <a:r>
              <a:rPr lang="en-US" altLang="zh-CN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/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通过性</a:t>
            </a:r>
            <a:r>
              <a:rPr lang="zh-CN" altLang="en-US" sz="2800" dirty="0">
                <a:cs typeface="Times New Roman" panose="02020603050405020304" pitchFamily="18" charset="0"/>
              </a:rPr>
              <a:t>测试。</a:t>
            </a:r>
          </a:p>
        </p:txBody>
      </p:sp>
    </p:spTree>
    <p:extLst>
      <p:ext uri="{BB962C8B-B14F-4D97-AF65-F5344CB8AC3E}">
        <p14:creationId xmlns:p14="http://schemas.microsoft.com/office/powerpoint/2010/main" val="20834881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2232612" y="383340"/>
            <a:ext cx="1740877" cy="17408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Montserrat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86429" y="383340"/>
            <a:ext cx="1740877" cy="17408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Montserrat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77595" y="1022945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注册</a:t>
            </a:r>
            <a:endParaRPr lang="en-US" sz="24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4B7B3470-1A1D-411A-866C-8EBC195FAF30}"/>
              </a:ext>
            </a:extLst>
          </p:cNvPr>
          <p:cNvSpPr txBox="1"/>
          <p:nvPr/>
        </p:nvSpPr>
        <p:spPr>
          <a:xfrm>
            <a:off x="7864950" y="2279843"/>
            <a:ext cx="2398070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Montserrat Light" charset="0"/>
                <a:ea typeface="Montserrat Light" charset="0"/>
                <a:cs typeface="Montserrat Light" charset="0"/>
              </a:rPr>
              <a:t>检查登陆状态码是否为</a:t>
            </a:r>
            <a:r>
              <a:rPr lang="en-US" altLang="zh-CN" sz="2000" dirty="0">
                <a:latin typeface="Montserrat Light" charset="0"/>
                <a:ea typeface="Montserrat Light" charset="0"/>
                <a:cs typeface="Montserrat Light" charset="0"/>
              </a:rPr>
              <a:t>200</a:t>
            </a:r>
            <a:endParaRPr lang="en-US" sz="2000" dirty="0">
              <a:latin typeface="Montserrat Light" charset="0"/>
              <a:ea typeface="Montserrat Light" charset="0"/>
              <a:cs typeface="Montserrat Light" charset="0"/>
            </a:endParaRP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FD2A3080-67FD-49E7-8DE0-A16F35E66B5F}"/>
              </a:ext>
            </a:extLst>
          </p:cNvPr>
          <p:cNvSpPr txBox="1"/>
          <p:nvPr/>
        </p:nvSpPr>
        <p:spPr>
          <a:xfrm>
            <a:off x="8618286" y="1022945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登陆</a:t>
            </a:r>
            <a:endParaRPr lang="en-US" sz="24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21CC9F8A-94BD-4BA8-A391-6CC4A68C9B27}"/>
              </a:ext>
            </a:extLst>
          </p:cNvPr>
          <p:cNvSpPr txBox="1"/>
          <p:nvPr/>
        </p:nvSpPr>
        <p:spPr>
          <a:xfrm>
            <a:off x="1896896" y="2324085"/>
            <a:ext cx="2398070" cy="966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Montserrat Light" charset="0"/>
                <a:ea typeface="Montserrat Light" charset="0"/>
                <a:cs typeface="Montserrat Light" charset="0"/>
              </a:rPr>
              <a:t>检查返回的</a:t>
            </a:r>
            <a:r>
              <a:rPr lang="en-US" altLang="zh-CN" sz="2000" dirty="0">
                <a:latin typeface="Montserrat Light" charset="0"/>
                <a:ea typeface="Montserrat Light" charset="0"/>
                <a:cs typeface="Montserrat Light" charset="0"/>
              </a:rPr>
              <a:t>ROLE</a:t>
            </a:r>
            <a:r>
              <a:rPr lang="zh-CN" altLang="en-US" sz="2000" dirty="0">
                <a:latin typeface="Montserrat Light" charset="0"/>
                <a:ea typeface="Montserrat Light" charset="0"/>
                <a:cs typeface="Montserrat Light" charset="0"/>
              </a:rPr>
              <a:t>是否为“</a:t>
            </a:r>
            <a:r>
              <a:rPr lang="en-US" altLang="zh-CN" sz="2000" dirty="0">
                <a:latin typeface="Montserrat Light" charset="0"/>
                <a:ea typeface="Montserrat Light" charset="0"/>
                <a:cs typeface="Montserrat Light" charset="0"/>
              </a:rPr>
              <a:t>ROLE_USER</a:t>
            </a:r>
            <a:r>
              <a:rPr lang="zh-CN" altLang="en-US" sz="2000" dirty="0">
                <a:latin typeface="Montserrat Light" charset="0"/>
                <a:ea typeface="Montserrat Light" charset="0"/>
                <a:cs typeface="Montserrat Light" charset="0"/>
              </a:rPr>
              <a:t>”</a:t>
            </a:r>
            <a:endParaRPr lang="en-US" sz="2000" dirty="0">
              <a:latin typeface="Montserrat Light" charset="0"/>
              <a:ea typeface="Montserrat Light" charset="0"/>
              <a:cs typeface="Montserrat Light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89FF7B7-F1B1-4FF1-9BB3-A9DB638E7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07" y="3850377"/>
            <a:ext cx="5708770" cy="222977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1B29274-8D57-4748-81E4-A66CBD4F0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077" y="3533036"/>
            <a:ext cx="5938193" cy="286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0547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478632" y="511676"/>
            <a:ext cx="1740877" cy="17408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Montserrat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079653" y="575844"/>
            <a:ext cx="1740877" cy="17408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Montserrat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3615" y="1151281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新增</a:t>
            </a:r>
            <a:endParaRPr lang="en-US" altLang="zh-CN" sz="24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4B7B3470-1A1D-411A-866C-8EBC195FAF30}"/>
              </a:ext>
            </a:extLst>
          </p:cNvPr>
          <p:cNvSpPr txBox="1"/>
          <p:nvPr/>
        </p:nvSpPr>
        <p:spPr>
          <a:xfrm>
            <a:off x="3758174" y="2472347"/>
            <a:ext cx="2398070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Montserrat Light" charset="0"/>
                <a:ea typeface="Montserrat Light" charset="0"/>
                <a:cs typeface="Montserrat Light" charset="0"/>
              </a:rPr>
              <a:t>检查返回消息字符串是否包含“列表”</a:t>
            </a:r>
            <a:endParaRPr lang="en-US" altLang="zh-CN" sz="2000" dirty="0">
              <a:latin typeface="Montserrat Light" charset="0"/>
              <a:ea typeface="Montserrat Light" charset="0"/>
              <a:cs typeface="Montserrat Light" charset="0"/>
            </a:endParaRP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FD2A3080-67FD-49E7-8DE0-A16F35E66B5F}"/>
              </a:ext>
            </a:extLst>
          </p:cNvPr>
          <p:cNvSpPr txBox="1"/>
          <p:nvPr/>
        </p:nvSpPr>
        <p:spPr>
          <a:xfrm>
            <a:off x="4511509" y="1215449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获取</a:t>
            </a:r>
            <a:endParaRPr lang="en-US" sz="24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21CC9F8A-94BD-4BA8-A391-6CC4A68C9B27}"/>
              </a:ext>
            </a:extLst>
          </p:cNvPr>
          <p:cNvSpPr txBox="1"/>
          <p:nvPr/>
        </p:nvSpPr>
        <p:spPr>
          <a:xfrm>
            <a:off x="1142916" y="2452421"/>
            <a:ext cx="2398070" cy="966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Montserrat Light" charset="0"/>
                <a:ea typeface="Montserrat Light" charset="0"/>
                <a:cs typeface="Montserrat Light" charset="0"/>
              </a:rPr>
              <a:t>检查返回消息字符串是否包含“创建了”</a:t>
            </a:r>
            <a:endParaRPr lang="en-US" altLang="zh-CN" sz="2000" dirty="0">
              <a:latin typeface="Montserrat Light" charset="0"/>
              <a:ea typeface="Montserrat Light" charset="0"/>
              <a:cs typeface="Montserrat Light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BBB662-F218-40D6-B391-723275FE3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48" y="4027875"/>
            <a:ext cx="6040921" cy="966547"/>
          </a:xfrm>
          <a:prstGeom prst="rect">
            <a:avLst/>
          </a:prstGeom>
        </p:spPr>
      </p:pic>
      <p:sp>
        <p:nvSpPr>
          <p:cNvPr id="12" name="Oval 5">
            <a:extLst>
              <a:ext uri="{FF2B5EF4-FFF2-40B4-BE49-F238E27FC236}">
                <a16:creationId xmlns:a16="http://schemas.microsoft.com/office/drawing/2014/main" id="{67499188-D841-4FF7-BE0F-BEB86DD68941}"/>
              </a:ext>
            </a:extLst>
          </p:cNvPr>
          <p:cNvSpPr/>
          <p:nvPr/>
        </p:nvSpPr>
        <p:spPr>
          <a:xfrm>
            <a:off x="6702536" y="567824"/>
            <a:ext cx="1740877" cy="17408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Montserrat" charset="0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FCEFA9D3-A95D-47B3-B657-E09CF466A35E}"/>
              </a:ext>
            </a:extLst>
          </p:cNvPr>
          <p:cNvSpPr txBox="1"/>
          <p:nvPr/>
        </p:nvSpPr>
        <p:spPr>
          <a:xfrm>
            <a:off x="6381057" y="2464327"/>
            <a:ext cx="2398070" cy="966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Montserrat Light" charset="0"/>
                <a:ea typeface="Montserrat Light" charset="0"/>
                <a:cs typeface="Montserrat Light" charset="0"/>
              </a:rPr>
              <a:t>检查返回消息字符串是否包含“删除”</a:t>
            </a:r>
            <a:endParaRPr lang="en-US" altLang="zh-CN" sz="2000" dirty="0">
              <a:latin typeface="Montserrat Light" charset="0"/>
              <a:ea typeface="Montserrat Light" charset="0"/>
              <a:cs typeface="Montserrat Light" charset="0"/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CD85DF18-5891-414C-8F0E-3D8D6ADB8035}"/>
              </a:ext>
            </a:extLst>
          </p:cNvPr>
          <p:cNvSpPr txBox="1"/>
          <p:nvPr/>
        </p:nvSpPr>
        <p:spPr>
          <a:xfrm>
            <a:off x="7134394" y="1207429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删除</a:t>
            </a:r>
            <a:endParaRPr lang="en-US" sz="24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15" name="Oval 5">
            <a:extLst>
              <a:ext uri="{FF2B5EF4-FFF2-40B4-BE49-F238E27FC236}">
                <a16:creationId xmlns:a16="http://schemas.microsoft.com/office/drawing/2014/main" id="{74294642-C8CC-4AA9-A236-6FA1B355F50A}"/>
              </a:ext>
            </a:extLst>
          </p:cNvPr>
          <p:cNvSpPr/>
          <p:nvPr/>
        </p:nvSpPr>
        <p:spPr>
          <a:xfrm>
            <a:off x="9197084" y="559804"/>
            <a:ext cx="1740877" cy="17408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Montserrat" charset="0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DCCAC3E0-D13C-4824-9C0B-EA699B6DEE28}"/>
              </a:ext>
            </a:extLst>
          </p:cNvPr>
          <p:cNvSpPr txBox="1"/>
          <p:nvPr/>
        </p:nvSpPr>
        <p:spPr>
          <a:xfrm>
            <a:off x="8875605" y="2456307"/>
            <a:ext cx="2398070" cy="966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Montserrat Light" charset="0"/>
                <a:ea typeface="Montserrat Light" charset="0"/>
                <a:cs typeface="Montserrat Light" charset="0"/>
              </a:rPr>
              <a:t>检查返回消息字符串是否包含“更新”</a:t>
            </a:r>
            <a:endParaRPr lang="en-US" altLang="zh-CN" sz="2000" dirty="0">
              <a:latin typeface="Montserrat Light" charset="0"/>
              <a:ea typeface="Montserrat Light" charset="0"/>
              <a:cs typeface="Montserrat Light" charset="0"/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56ED4C27-F08B-4BE4-BB2D-C0062551F9CA}"/>
              </a:ext>
            </a:extLst>
          </p:cNvPr>
          <p:cNvSpPr txBox="1"/>
          <p:nvPr/>
        </p:nvSpPr>
        <p:spPr>
          <a:xfrm>
            <a:off x="9628944" y="1199409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spc="3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更新</a:t>
            </a:r>
            <a:endParaRPr lang="en-US" sz="2400" spc="300" dirty="0">
              <a:solidFill>
                <a:schemeClr val="tx2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63AAFA7-7E0E-4335-9D07-278BBA8AD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49" y="4961714"/>
            <a:ext cx="5621482" cy="9941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B9DDC77-4379-4E61-BD62-9B4D2855D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530" y="4151631"/>
            <a:ext cx="5621483" cy="81008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5D82E2D-EB19-4D64-898E-466635BC83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5148" y="4991891"/>
            <a:ext cx="6040913" cy="96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5971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7">
            <a:extLst>
              <a:ext uri="{FF2B5EF4-FFF2-40B4-BE49-F238E27FC236}">
                <a16:creationId xmlns:a16="http://schemas.microsoft.com/office/drawing/2014/main" id="{25FA9B9B-9260-4DFB-925C-DA23CF602C1E}"/>
              </a:ext>
            </a:extLst>
          </p:cNvPr>
          <p:cNvSpPr txBox="1"/>
          <p:nvPr/>
        </p:nvSpPr>
        <p:spPr>
          <a:xfrm>
            <a:off x="835835" y="295605"/>
            <a:ext cx="7570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spc="300" dirty="0">
                <a:solidFill>
                  <a:schemeClr val="tx2"/>
                </a:solidFill>
                <a:latin typeface="Oswald" charset="0"/>
                <a:ea typeface="Oswald" charset="0"/>
                <a:cs typeface="Oswald" charset="0"/>
              </a:rPr>
              <a:t>4.</a:t>
            </a:r>
            <a:r>
              <a:rPr lang="zh-CN" altLang="en-US" sz="3600" spc="300" dirty="0">
                <a:solidFill>
                  <a:schemeClr val="tx2"/>
                </a:solidFill>
                <a:latin typeface="Oswald" charset="0"/>
                <a:ea typeface="Oswald" charset="0"/>
                <a:cs typeface="Oswald" charset="0"/>
              </a:rPr>
              <a:t>增加断言后的检测结果</a:t>
            </a:r>
            <a:endParaRPr lang="en-US" sz="3600" spc="300" dirty="0">
              <a:solidFill>
                <a:schemeClr val="tx2"/>
              </a:solidFill>
              <a:latin typeface="Oswald" charset="0"/>
              <a:ea typeface="Oswald" charset="0"/>
              <a:cs typeface="Oswald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5EA3F5-DD48-4A48-9872-99A209583CCC}"/>
              </a:ext>
            </a:extLst>
          </p:cNvPr>
          <p:cNvSpPr/>
          <p:nvPr/>
        </p:nvSpPr>
        <p:spPr>
          <a:xfrm>
            <a:off x="8758989" y="1701821"/>
            <a:ext cx="3145749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个</a:t>
            </a:r>
            <a:r>
              <a:rPr lang="zh-CN" altLang="en-US" sz="2400" dirty="0">
                <a:cs typeface="Times New Roman" panose="02020603050405020304" pitchFamily="18" charset="0"/>
              </a:rPr>
              <a:t>测试用例可以通过注册功能，这与我们预期的正常测试用例数量相等。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endParaRPr lang="en-US" altLang="zh-CN" sz="2400" dirty="0"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个</a:t>
            </a:r>
            <a:r>
              <a:rPr lang="zh-CN" altLang="en-US" sz="2400" dirty="0">
                <a:cs typeface="Times New Roman" panose="02020603050405020304" pitchFamily="18" charset="0"/>
              </a:rPr>
              <a:t>测试用例可以通过登陆（原因：有一个用来测试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重复注册</a:t>
            </a:r>
            <a:r>
              <a:rPr lang="zh-CN" altLang="en-US" sz="2400" dirty="0">
                <a:cs typeface="Times New Roman" panose="02020603050405020304" pitchFamily="18" charset="0"/>
              </a:rPr>
              <a:t>的用例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可以</a:t>
            </a:r>
            <a:r>
              <a:rPr lang="zh-CN" altLang="en-US" sz="2400" dirty="0">
                <a:cs typeface="Times New Roman" panose="02020603050405020304" pitchFamily="18" charset="0"/>
              </a:rPr>
              <a:t>通过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登陆</a:t>
            </a:r>
            <a:r>
              <a:rPr lang="zh-CN" altLang="en-US" sz="2400" dirty="0">
                <a:cs typeface="Times New Roman" panose="02020603050405020304" pitchFamily="18" charset="0"/>
              </a:rPr>
              <a:t>测试）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E64F9DD1-2596-47D9-9192-FF72E3ACF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92" y="1228131"/>
            <a:ext cx="7568773" cy="497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4710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7">
            <a:extLst>
              <a:ext uri="{FF2B5EF4-FFF2-40B4-BE49-F238E27FC236}">
                <a16:creationId xmlns:a16="http://schemas.microsoft.com/office/drawing/2014/main" id="{25FA9B9B-9260-4DFB-925C-DA23CF602C1E}"/>
              </a:ext>
            </a:extLst>
          </p:cNvPr>
          <p:cNvSpPr txBox="1"/>
          <p:nvPr/>
        </p:nvSpPr>
        <p:spPr>
          <a:xfrm>
            <a:off x="835835" y="295605"/>
            <a:ext cx="7570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spc="300" dirty="0">
                <a:solidFill>
                  <a:schemeClr val="tx2"/>
                </a:solidFill>
                <a:latin typeface="Oswald" charset="0"/>
                <a:ea typeface="Oswald" charset="0"/>
                <a:cs typeface="Oswald" charset="0"/>
              </a:rPr>
              <a:t>4.</a:t>
            </a:r>
            <a:r>
              <a:rPr lang="zh-CN" altLang="en-US" sz="3600" spc="300" dirty="0">
                <a:solidFill>
                  <a:schemeClr val="tx2"/>
                </a:solidFill>
                <a:latin typeface="Oswald" charset="0"/>
                <a:ea typeface="Oswald" charset="0"/>
                <a:cs typeface="Oswald" charset="0"/>
              </a:rPr>
              <a:t>增加断言后的检测结果</a:t>
            </a:r>
            <a:endParaRPr lang="en-US" sz="3600" spc="300" dirty="0">
              <a:solidFill>
                <a:schemeClr val="tx2"/>
              </a:solidFill>
              <a:latin typeface="Oswald" charset="0"/>
              <a:ea typeface="Oswald" charset="0"/>
              <a:cs typeface="Oswald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5EA3F5-DD48-4A48-9872-99A209583CCC}"/>
              </a:ext>
            </a:extLst>
          </p:cNvPr>
          <p:cNvSpPr/>
          <p:nvPr/>
        </p:nvSpPr>
        <p:spPr>
          <a:xfrm>
            <a:off x="8598568" y="2378930"/>
            <a:ext cx="314574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所有成功登录</a:t>
            </a:r>
            <a:r>
              <a:rPr lang="zh-CN" altLang="en-US" sz="2400" dirty="0">
                <a:cs typeface="Times New Roman" panose="02020603050405020304" pitchFamily="18" charset="0"/>
              </a:rPr>
              <a:t>的测试用例可以通过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获取和修改</a:t>
            </a:r>
            <a:r>
              <a:rPr lang="zh-CN" altLang="en-US" sz="2400" dirty="0">
                <a:cs typeface="Times New Roman" panose="02020603050405020304" pitchFamily="18" charset="0"/>
              </a:rPr>
              <a:t>任务测试。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endParaRPr lang="en-US" altLang="zh-CN" sz="2400" dirty="0">
              <a:cs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没有测试用例</a:t>
            </a:r>
            <a:r>
              <a:rPr lang="zh-CN" altLang="en-US" sz="2400" dirty="0">
                <a:cs typeface="Times New Roman" panose="02020603050405020304" pitchFamily="18" charset="0"/>
              </a:rPr>
              <a:t>可以通过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新增和删除</a:t>
            </a:r>
            <a:r>
              <a:rPr lang="zh-CN" altLang="en-US" sz="2400" dirty="0">
                <a:cs typeface="Times New Roman" panose="02020603050405020304" pitchFamily="18" charset="0"/>
              </a:rPr>
              <a:t>任务的测试。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E64F9DD1-2596-47D9-9192-FF72E3ACF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92" y="1228131"/>
            <a:ext cx="7568773" cy="497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734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7">
            <a:extLst>
              <a:ext uri="{FF2B5EF4-FFF2-40B4-BE49-F238E27FC236}">
                <a16:creationId xmlns:a16="http://schemas.microsoft.com/office/drawing/2014/main" id="{25FA9B9B-9260-4DFB-925C-DA23CF602C1E}"/>
              </a:ext>
            </a:extLst>
          </p:cNvPr>
          <p:cNvSpPr txBox="1"/>
          <p:nvPr/>
        </p:nvSpPr>
        <p:spPr>
          <a:xfrm>
            <a:off x="835835" y="295605"/>
            <a:ext cx="7570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spc="300" dirty="0">
                <a:solidFill>
                  <a:schemeClr val="tx2"/>
                </a:solidFill>
                <a:latin typeface="Oswald" charset="0"/>
                <a:ea typeface="Oswald" charset="0"/>
                <a:cs typeface="Oswald" charset="0"/>
              </a:rPr>
              <a:t>4.</a:t>
            </a:r>
            <a:r>
              <a:rPr lang="zh-CN" altLang="en-US" sz="3600" spc="300" dirty="0">
                <a:solidFill>
                  <a:schemeClr val="tx2"/>
                </a:solidFill>
                <a:latin typeface="Oswald" charset="0"/>
                <a:ea typeface="Oswald" charset="0"/>
                <a:cs typeface="Oswald" charset="0"/>
              </a:rPr>
              <a:t>增加断言后的检测结果</a:t>
            </a:r>
            <a:endParaRPr lang="en-US" sz="3600" spc="300" dirty="0">
              <a:solidFill>
                <a:schemeClr val="tx2"/>
              </a:solidFill>
              <a:latin typeface="Oswald" charset="0"/>
              <a:ea typeface="Oswald" charset="0"/>
              <a:cs typeface="Oswald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5EA3F5-DD48-4A48-9872-99A209583CCC}"/>
              </a:ext>
            </a:extLst>
          </p:cNvPr>
          <p:cNvSpPr/>
          <p:nvPr/>
        </p:nvSpPr>
        <p:spPr>
          <a:xfrm>
            <a:off x="850230" y="5498970"/>
            <a:ext cx="101386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原因：项目代码中要求，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新增和删除</a:t>
            </a:r>
            <a:r>
              <a:rPr lang="zh-CN" altLang="en-US" sz="2400" dirty="0">
                <a:cs typeface="Times New Roman" panose="02020603050405020304" pitchFamily="18" charset="0"/>
              </a:rPr>
              <a:t>操作必须要是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管理员</a:t>
            </a:r>
            <a:r>
              <a:rPr lang="zh-CN" altLang="en-US" sz="2400" dirty="0">
                <a:cs typeface="Times New Roman" panose="02020603050405020304" pitchFamily="18" charset="0"/>
              </a:rPr>
              <a:t>才可以进行。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8B328AA-D9CD-4390-81EC-B204124E6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811" y="1433408"/>
            <a:ext cx="8207451" cy="35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3246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7">
            <a:extLst>
              <a:ext uri="{FF2B5EF4-FFF2-40B4-BE49-F238E27FC236}">
                <a16:creationId xmlns:a16="http://schemas.microsoft.com/office/drawing/2014/main" id="{25FA9B9B-9260-4DFB-925C-DA23CF602C1E}"/>
              </a:ext>
            </a:extLst>
          </p:cNvPr>
          <p:cNvSpPr txBox="1"/>
          <p:nvPr/>
        </p:nvSpPr>
        <p:spPr>
          <a:xfrm>
            <a:off x="835835" y="295605"/>
            <a:ext cx="7570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spc="300" dirty="0">
                <a:solidFill>
                  <a:schemeClr val="tx2"/>
                </a:solidFill>
                <a:latin typeface="Oswald" charset="0"/>
                <a:ea typeface="Oswald" charset="0"/>
                <a:cs typeface="Oswald" charset="0"/>
              </a:rPr>
              <a:t>4.</a:t>
            </a:r>
            <a:r>
              <a:rPr lang="zh-CN" altLang="en-US" sz="3600" spc="300" dirty="0">
                <a:solidFill>
                  <a:schemeClr val="tx2"/>
                </a:solidFill>
                <a:latin typeface="Oswald" charset="0"/>
                <a:ea typeface="Oswald" charset="0"/>
                <a:cs typeface="Oswald" charset="0"/>
              </a:rPr>
              <a:t>增加断言后的检测结果</a:t>
            </a:r>
            <a:endParaRPr lang="en-US" sz="3600" spc="300" dirty="0">
              <a:solidFill>
                <a:schemeClr val="tx2"/>
              </a:solidFill>
              <a:latin typeface="Oswald" charset="0"/>
              <a:ea typeface="Oswald" charset="0"/>
              <a:cs typeface="Oswald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5EA3F5-DD48-4A48-9872-99A209583CCC}"/>
              </a:ext>
            </a:extLst>
          </p:cNvPr>
          <p:cNvSpPr/>
          <p:nvPr/>
        </p:nvSpPr>
        <p:spPr>
          <a:xfrm>
            <a:off x="1379620" y="5154441"/>
            <a:ext cx="101386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但是注册时会把所有人的角色设置为</a:t>
            </a:r>
            <a:r>
              <a:rPr lang="en-US" altLang="zh-CN" sz="2400" dirty="0">
                <a:cs typeface="Times New Roman" panose="02020603050405020304" pitchFamily="18" charset="0"/>
              </a:rPr>
              <a:t>USER</a:t>
            </a:r>
            <a:r>
              <a:rPr lang="zh-CN" altLang="en-US" sz="2400" dirty="0">
                <a:cs typeface="Times New Roman" panose="02020603050405020304" pitchFamily="18" charset="0"/>
              </a:rPr>
              <a:t>，所以自动化测试没有可以通过增删的测试用例。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CDF7C6-A048-42DD-892B-3D8896053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534" y="1288060"/>
            <a:ext cx="7830932" cy="328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922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2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27" b="10927"/>
          <a:stretch>
            <a:fillRect/>
          </a:stretch>
        </p:blipFill>
        <p:spPr/>
      </p:pic>
      <p:pic>
        <p:nvPicPr>
          <p:cNvPr id="7" name="Picture Placeholder 6"/>
          <p:cNvPicPr>
            <a:picLocks noGrp="1" noChangeAspect="1"/>
          </p:cNvPicPr>
          <p:nvPr>
            <p:ph type="pic" sz="quarter" idx="28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67" r="5567"/>
          <a:stretch>
            <a:fillRect/>
          </a:stretch>
        </p:blipFill>
        <p:spPr/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48C4D79C-CBE3-4E9D-A5C0-B7206FE7915C}"/>
              </a:ext>
            </a:extLst>
          </p:cNvPr>
          <p:cNvSpPr/>
          <p:nvPr/>
        </p:nvSpPr>
        <p:spPr>
          <a:xfrm rot="16200000">
            <a:off x="4117428" y="1450428"/>
            <a:ext cx="3957145" cy="3957145"/>
          </a:xfrm>
          <a:prstGeom prst="rect">
            <a:avLst/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76B0FCB0-39F2-45E8-97B5-6942144A1A7E}"/>
              </a:ext>
            </a:extLst>
          </p:cNvPr>
          <p:cNvSpPr txBox="1"/>
          <p:nvPr/>
        </p:nvSpPr>
        <p:spPr>
          <a:xfrm>
            <a:off x="4392440" y="2497976"/>
            <a:ext cx="340712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750" spc="300" dirty="0">
                <a:latin typeface="Oswald" charset="0"/>
                <a:ea typeface="Oswald" charset="0"/>
                <a:cs typeface="Oswald" charset="0"/>
              </a:rPr>
              <a:t>PART 4</a:t>
            </a:r>
          </a:p>
          <a:p>
            <a:pPr algn="ctr"/>
            <a:r>
              <a:rPr lang="zh-CN" altLang="en-US" sz="5750" spc="300" dirty="0">
                <a:latin typeface="Oswald" charset="0"/>
                <a:ea typeface="Oswald" charset="0"/>
                <a:cs typeface="Oswald" charset="0"/>
              </a:rPr>
              <a:t>性能测试</a:t>
            </a:r>
            <a:endParaRPr lang="en-US" sz="5750" spc="300" dirty="0">
              <a:latin typeface="Oswald" charset="0"/>
              <a:ea typeface="Oswald" charset="0"/>
              <a:cs typeface="Oswa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2288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Placeholder 5">
            <a:extLst>
              <a:ext uri="{FF2B5EF4-FFF2-40B4-BE49-F238E27FC236}">
                <a16:creationId xmlns:a16="http://schemas.microsoft.com/office/drawing/2014/main" id="{1CBA24F5-8E27-4BCF-B836-DF7C9B729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934" b="28934"/>
          <a:stretch>
            <a:fillRect/>
          </a:stretch>
        </p:blipFill>
        <p:spPr>
          <a:xfrm>
            <a:off x="-154255" y="0"/>
            <a:ext cx="24729602" cy="6918362"/>
          </a:xfrm>
          <a:prstGeom prst="rect">
            <a:avLst/>
          </a:prstGeom>
        </p:spPr>
      </p:pic>
      <p:sp>
        <p:nvSpPr>
          <p:cNvPr id="63" name="Rectangle 20">
            <a:extLst>
              <a:ext uri="{FF2B5EF4-FFF2-40B4-BE49-F238E27FC236}">
                <a16:creationId xmlns:a16="http://schemas.microsoft.com/office/drawing/2014/main" id="{EE14D62C-8036-49BA-ADBE-72A1B779404F}"/>
              </a:ext>
            </a:extLst>
          </p:cNvPr>
          <p:cNvSpPr/>
          <p:nvPr/>
        </p:nvSpPr>
        <p:spPr>
          <a:xfrm>
            <a:off x="4030824" y="2134"/>
            <a:ext cx="817972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21" name="Rectangle 20"/>
          <p:cNvSpPr/>
          <p:nvPr/>
        </p:nvSpPr>
        <p:spPr>
          <a:xfrm>
            <a:off x="0" y="-2134"/>
            <a:ext cx="4044599" cy="6858000"/>
          </a:xfrm>
          <a:prstGeom prst="rect">
            <a:avLst/>
          </a:prstGeom>
          <a:solidFill>
            <a:srgbClr val="00082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4" name="Rectangle 43"/>
          <p:cNvSpPr>
            <a:spLocks/>
          </p:cNvSpPr>
          <p:nvPr/>
        </p:nvSpPr>
        <p:spPr bwMode="auto">
          <a:xfrm>
            <a:off x="1267429" y="2744431"/>
            <a:ext cx="1566134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>
                <a:solidFill>
                  <a:schemeClr val="bg1"/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测试内容</a:t>
            </a:r>
            <a:endParaRPr lang="en-US" sz="2700" b="1" spc="250" dirty="0">
              <a:solidFill>
                <a:schemeClr val="bg1"/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>
            <a:off x="1103826" y="3328562"/>
            <a:ext cx="186265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6">
            <a:extLst>
              <a:ext uri="{FF2B5EF4-FFF2-40B4-BE49-F238E27FC236}">
                <a16:creationId xmlns:a16="http://schemas.microsoft.com/office/drawing/2014/main" id="{E8857C08-1A0C-48BC-BF1E-0223FE453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508" y="59825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E5BB94D-505C-4382-A882-B29746D70CB2}"/>
              </a:ext>
            </a:extLst>
          </p:cNvPr>
          <p:cNvSpPr/>
          <p:nvPr/>
        </p:nvSpPr>
        <p:spPr>
          <a:xfrm>
            <a:off x="4634537" y="640634"/>
            <a:ext cx="516078" cy="51607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2" name="文本框 6">
            <a:extLst>
              <a:ext uri="{FF2B5EF4-FFF2-40B4-BE49-F238E27FC236}">
                <a16:creationId xmlns:a16="http://schemas.microsoft.com/office/drawing/2014/main" id="{1F3EB396-FD28-45D9-89F9-BDFBCC710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511" y="2126404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2C625D32-6830-4A8E-9E09-CF6226EE0CE3}"/>
              </a:ext>
            </a:extLst>
          </p:cNvPr>
          <p:cNvSpPr/>
          <p:nvPr/>
        </p:nvSpPr>
        <p:spPr>
          <a:xfrm>
            <a:off x="4634539" y="2168780"/>
            <a:ext cx="516078" cy="51607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5" name="文本框 6">
            <a:extLst>
              <a:ext uri="{FF2B5EF4-FFF2-40B4-BE49-F238E27FC236}">
                <a16:creationId xmlns:a16="http://schemas.microsoft.com/office/drawing/2014/main" id="{E9476DCF-FAF9-4E98-B913-4189D6CC3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505" y="3776406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5A1DDB9D-7312-4816-9734-B5A9B52F8EC2}"/>
              </a:ext>
            </a:extLst>
          </p:cNvPr>
          <p:cNvSpPr/>
          <p:nvPr/>
        </p:nvSpPr>
        <p:spPr>
          <a:xfrm>
            <a:off x="4634534" y="3818782"/>
            <a:ext cx="516078" cy="51607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58" name="文本框 6">
            <a:extLst>
              <a:ext uri="{FF2B5EF4-FFF2-40B4-BE49-F238E27FC236}">
                <a16:creationId xmlns:a16="http://schemas.microsoft.com/office/drawing/2014/main" id="{117E5BEB-D4D9-43B9-A132-E6E94B6B8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511" y="5428346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结果分析</a:t>
            </a: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8D59582E-2AF1-479F-AC72-2C7C1130FE60}"/>
              </a:ext>
            </a:extLst>
          </p:cNvPr>
          <p:cNvSpPr/>
          <p:nvPr/>
        </p:nvSpPr>
        <p:spPr>
          <a:xfrm>
            <a:off x="4634539" y="5470722"/>
            <a:ext cx="516078" cy="51607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76EB92-1359-4E0A-8B46-70C3E7DACA6F}"/>
              </a:ext>
            </a:extLst>
          </p:cNvPr>
          <p:cNvSpPr/>
          <p:nvPr/>
        </p:nvSpPr>
        <p:spPr>
          <a:xfrm>
            <a:off x="5183505" y="967590"/>
            <a:ext cx="67208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录制测试脚本，增加事务、检查点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50B1EC-408D-465A-9FC4-ABA42106A66E}"/>
              </a:ext>
            </a:extLst>
          </p:cNvPr>
          <p:cNvSpPr/>
          <p:nvPr/>
        </p:nvSpPr>
        <p:spPr>
          <a:xfrm>
            <a:off x="5183505" y="2494221"/>
            <a:ext cx="28777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录制测试脚本，增加事务、检查点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7D8A75-FB30-4393-9597-36686DD3E4DD}"/>
              </a:ext>
            </a:extLst>
          </p:cNvPr>
          <p:cNvSpPr/>
          <p:nvPr/>
        </p:nvSpPr>
        <p:spPr>
          <a:xfrm>
            <a:off x="5183505" y="4143331"/>
            <a:ext cx="642223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并发用户数等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ADF7C5-2F1B-4369-A116-7B8CDE283E49}"/>
              </a:ext>
            </a:extLst>
          </p:cNvPr>
          <p:cNvSpPr/>
          <p:nvPr/>
        </p:nvSpPr>
        <p:spPr>
          <a:xfrm>
            <a:off x="5183504" y="5797678"/>
            <a:ext cx="63102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对性能测试结果进行分析</a:t>
            </a:r>
          </a:p>
        </p:txBody>
      </p:sp>
    </p:spTree>
    <p:extLst>
      <p:ext uri="{BB962C8B-B14F-4D97-AF65-F5344CB8AC3E}">
        <p14:creationId xmlns:p14="http://schemas.microsoft.com/office/powerpoint/2010/main" val="322943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1593738"/>
            <a:ext cx="1959429" cy="892012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6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154" y="1840825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测试环境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3" y="2717774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732" y="3629227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Rectangle 480">
            <a:extLst>
              <a:ext uri="{FF2B5EF4-FFF2-40B4-BE49-F238E27FC236}">
                <a16:creationId xmlns:a16="http://schemas.microsoft.com/office/drawing/2014/main" id="{61B3B501-F7FC-490A-81E2-7E4033D1D9C8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1231106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测试环境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F06DCA2-678A-4238-BE50-492F73AA9271}"/>
              </a:ext>
            </a:extLst>
          </p:cNvPr>
          <p:cNvSpPr txBox="1"/>
          <p:nvPr/>
        </p:nvSpPr>
        <p:spPr>
          <a:xfrm>
            <a:off x="2975212" y="2033516"/>
            <a:ext cx="3220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数据库</a:t>
            </a:r>
            <a:endParaRPr lang="en-US" altLang="zh-CN" sz="2400" dirty="0"/>
          </a:p>
          <a:p>
            <a:r>
              <a:rPr lang="en-US" altLang="zh-CN" sz="2400" dirty="0"/>
              <a:t>MYSQL 8.0.16</a:t>
            </a:r>
            <a:endParaRPr lang="zh-CN" alt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82DC0F9-50B6-4F9E-859B-B5314903D8B8}"/>
              </a:ext>
            </a:extLst>
          </p:cNvPr>
          <p:cNvSpPr txBox="1"/>
          <p:nvPr/>
        </p:nvSpPr>
        <p:spPr>
          <a:xfrm>
            <a:off x="2975210" y="3010750"/>
            <a:ext cx="65782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CPU</a:t>
            </a:r>
          </a:p>
          <a:p>
            <a:r>
              <a:rPr lang="en-US" altLang="zh-CN" sz="2400" dirty="0"/>
              <a:t>Intel® Core™ i5-7300HQ CPU @2.50GHZ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4EB97FF-6C10-4C14-A363-A5DF16E191F5}"/>
              </a:ext>
            </a:extLst>
          </p:cNvPr>
          <p:cNvSpPr txBox="1"/>
          <p:nvPr/>
        </p:nvSpPr>
        <p:spPr>
          <a:xfrm>
            <a:off x="2975210" y="4014088"/>
            <a:ext cx="45992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操作系统</a:t>
            </a:r>
            <a:endParaRPr lang="en-US" altLang="zh-CN" sz="2400" dirty="0"/>
          </a:p>
          <a:p>
            <a:r>
              <a:rPr lang="en-US" altLang="zh-CN" sz="2400" dirty="0"/>
              <a:t>Windows 10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B997AFD-EFF0-4699-B676-B4341ABD23E7}"/>
              </a:ext>
            </a:extLst>
          </p:cNvPr>
          <p:cNvSpPr txBox="1"/>
          <p:nvPr/>
        </p:nvSpPr>
        <p:spPr>
          <a:xfrm>
            <a:off x="2975210" y="5017427"/>
            <a:ext cx="45992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内存</a:t>
            </a:r>
            <a:endParaRPr lang="en-US" altLang="zh-CN" sz="2400" dirty="0"/>
          </a:p>
          <a:p>
            <a:r>
              <a:rPr lang="en-US" altLang="zh-CN" sz="2400" dirty="0"/>
              <a:t>16G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0088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2469248"/>
            <a:ext cx="1959429" cy="892012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5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6" y="1840965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3" y="2717774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028" y="3629227"/>
            <a:ext cx="11336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480">
            <a:extLst>
              <a:ext uri="{FF2B5EF4-FFF2-40B4-BE49-F238E27FC236}">
                <a16:creationId xmlns:a16="http://schemas.microsoft.com/office/drawing/2014/main" id="{EB61A45C-27B6-4DE4-A743-94488669B9B5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3693319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录制脚本并参数化（注册）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57CEBD2-D320-415B-9CB3-E72E664EC3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357" y="1606542"/>
            <a:ext cx="8542056" cy="497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9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2469248"/>
            <a:ext cx="1959429" cy="892012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5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6" y="1840965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3" y="2717774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028" y="3629227"/>
            <a:ext cx="11336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7C4BF62E-6CDE-476F-BA6A-4BB49815DF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131" y="1168087"/>
            <a:ext cx="7871437" cy="5291611"/>
          </a:xfrm>
          <a:prstGeom prst="rect">
            <a:avLst/>
          </a:prstGeom>
        </p:spPr>
      </p:pic>
      <p:sp>
        <p:nvSpPr>
          <p:cNvPr id="15" name="Rectangle 480">
            <a:extLst>
              <a:ext uri="{FF2B5EF4-FFF2-40B4-BE49-F238E27FC236}">
                <a16:creationId xmlns:a16="http://schemas.microsoft.com/office/drawing/2014/main" id="{A0715F2D-45CB-4353-B251-F2D8127D5F6B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6384440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录制脚本并参数化（登录、创建、访问任务）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432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2469248"/>
            <a:ext cx="1959429" cy="892012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5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5" y="1840965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3" y="2717774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80" y="3629227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Rectangle 480">
            <a:extLst>
              <a:ext uri="{FF2B5EF4-FFF2-40B4-BE49-F238E27FC236}">
                <a16:creationId xmlns:a16="http://schemas.microsoft.com/office/drawing/2014/main" id="{61B3B501-F7FC-490A-81E2-7E4033D1D9C8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6384440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录制脚本并参数化（登录、创建、访问任务）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78D0FCF-0997-43A3-912F-8C2FDAC16B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131" y="1168087"/>
            <a:ext cx="7871437" cy="529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081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2469248"/>
            <a:ext cx="1959429" cy="892012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5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8" name="文本框 6">
            <a:extLst>
              <a:ext uri="{FF2B5EF4-FFF2-40B4-BE49-F238E27FC236}">
                <a16:creationId xmlns:a16="http://schemas.microsoft.com/office/drawing/2014/main" id="{8F3140FF-B62F-4C2A-A17F-81CD47183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5" y="1840965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3" y="2717774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80" y="3629227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Rectangle 480">
            <a:extLst>
              <a:ext uri="{FF2B5EF4-FFF2-40B4-BE49-F238E27FC236}">
                <a16:creationId xmlns:a16="http://schemas.microsoft.com/office/drawing/2014/main" id="{61B3B501-F7FC-490A-81E2-7E4033D1D9C8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6384440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录制脚本并参数化（登录、创建、访问任务）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5F85A42-43BE-46AA-9A6A-362B06427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678" y="1292352"/>
            <a:ext cx="8684641" cy="504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9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3370002"/>
            <a:ext cx="1959429" cy="892012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5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3" y="2717774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80" y="3629227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E5FA868E-15D0-4B4A-8D41-4C34E7919D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12"/>
          <a:stretch/>
        </p:blipFill>
        <p:spPr>
          <a:xfrm>
            <a:off x="2275124" y="284534"/>
            <a:ext cx="5057775" cy="174109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044D4FC-7E0C-45C0-A081-428AE7632E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" r="2655"/>
          <a:stretch/>
        </p:blipFill>
        <p:spPr>
          <a:xfrm>
            <a:off x="4804011" y="2031916"/>
            <a:ext cx="7069540" cy="4826084"/>
          </a:xfrm>
          <a:prstGeom prst="rect">
            <a:avLst/>
          </a:prstGeom>
        </p:spPr>
      </p:pic>
      <p:sp>
        <p:nvSpPr>
          <p:cNvPr id="14" name="文本框 6">
            <a:extLst>
              <a:ext uri="{FF2B5EF4-FFF2-40B4-BE49-F238E27FC236}">
                <a16:creationId xmlns:a16="http://schemas.microsoft.com/office/drawing/2014/main" id="{9A32EF32-C09E-4D09-BF92-D3789A4A4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5" y="1840965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</p:spTree>
    <p:extLst>
      <p:ext uri="{BB962C8B-B14F-4D97-AF65-F5344CB8AC3E}">
        <p14:creationId xmlns:p14="http://schemas.microsoft.com/office/powerpoint/2010/main" val="82688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4284404"/>
            <a:ext cx="1959429" cy="892012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5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3" y="2745070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80" y="3629227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80">
            <a:extLst>
              <a:ext uri="{FF2B5EF4-FFF2-40B4-BE49-F238E27FC236}">
                <a16:creationId xmlns:a16="http://schemas.microsoft.com/office/drawing/2014/main" id="{4A79D1BA-B2A4-49D4-93DC-59B81F9B9C81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615553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注册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C9E0390-0DEC-4277-84FA-F1CCEEF623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363" y="424634"/>
            <a:ext cx="7084957" cy="6003230"/>
          </a:xfrm>
          <a:prstGeom prst="rect">
            <a:avLst/>
          </a:prstGeom>
        </p:spPr>
      </p:pic>
      <p:sp>
        <p:nvSpPr>
          <p:cNvPr id="15" name="文本框 6">
            <a:extLst>
              <a:ext uri="{FF2B5EF4-FFF2-40B4-BE49-F238E27FC236}">
                <a16:creationId xmlns:a16="http://schemas.microsoft.com/office/drawing/2014/main" id="{D745DC69-11ED-4087-9332-B2F4041C4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5" y="1840965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</p:spTree>
    <p:extLst>
      <p:ext uri="{BB962C8B-B14F-4D97-AF65-F5344CB8AC3E}">
        <p14:creationId xmlns:p14="http://schemas.microsoft.com/office/powerpoint/2010/main" val="160931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2230361" cy="723141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4284403"/>
            <a:ext cx="2230361" cy="939827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5" y="612432"/>
            <a:ext cx="1722471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2772366"/>
            <a:ext cx="12611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139" y="3629227"/>
            <a:ext cx="12611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1" y="4521238"/>
            <a:ext cx="13049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9286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9286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9286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80">
            <a:extLst>
              <a:ext uri="{FF2B5EF4-FFF2-40B4-BE49-F238E27FC236}">
                <a16:creationId xmlns:a16="http://schemas.microsoft.com/office/drawing/2014/main" id="{4A79D1BA-B2A4-49D4-93DC-59B81F9B9C81}"/>
              </a:ext>
            </a:extLst>
          </p:cNvPr>
          <p:cNvSpPr>
            <a:spLocks/>
          </p:cNvSpPr>
          <p:nvPr/>
        </p:nvSpPr>
        <p:spPr bwMode="auto">
          <a:xfrm>
            <a:off x="2233603" y="623931"/>
            <a:ext cx="700666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注册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9C32DBD-06F4-4F87-BF66-FBBF3F8BE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303" y="1564604"/>
            <a:ext cx="10003613" cy="4700200"/>
          </a:xfrm>
          <a:prstGeom prst="rect">
            <a:avLst/>
          </a:prstGeom>
        </p:spPr>
      </p:pic>
      <p:sp>
        <p:nvSpPr>
          <p:cNvPr id="17" name="文本框 6">
            <a:extLst>
              <a:ext uri="{FF2B5EF4-FFF2-40B4-BE49-F238E27FC236}">
                <a16:creationId xmlns:a16="http://schemas.microsoft.com/office/drawing/2014/main" id="{C036C22F-B117-40A9-9EF9-73A70F5A1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4" y="1840965"/>
            <a:ext cx="12611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</p:spTree>
    <p:extLst>
      <p:ext uri="{BB962C8B-B14F-4D97-AF65-F5344CB8AC3E}">
        <p14:creationId xmlns:p14="http://schemas.microsoft.com/office/powerpoint/2010/main" val="32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4284404"/>
            <a:ext cx="1959429" cy="892012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5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3" y="2745070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80" y="3629227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80">
            <a:extLst>
              <a:ext uri="{FF2B5EF4-FFF2-40B4-BE49-F238E27FC236}">
                <a16:creationId xmlns:a16="http://schemas.microsoft.com/office/drawing/2014/main" id="{4A79D1BA-B2A4-49D4-93DC-59B81F9B9C81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615553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注册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E2E5C97-9E21-44F3-ABB0-73F7FDFE36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603" y="1098455"/>
            <a:ext cx="9675683" cy="5469163"/>
          </a:xfrm>
          <a:prstGeom prst="rect">
            <a:avLst/>
          </a:prstGeom>
        </p:spPr>
      </p:pic>
      <p:sp>
        <p:nvSpPr>
          <p:cNvPr id="16" name="文本框 6">
            <a:extLst>
              <a:ext uri="{FF2B5EF4-FFF2-40B4-BE49-F238E27FC236}">
                <a16:creationId xmlns:a16="http://schemas.microsoft.com/office/drawing/2014/main" id="{EFBA2957-2FC0-49BF-8557-05F19C693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4" y="1840965"/>
            <a:ext cx="12611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</p:spTree>
    <p:extLst>
      <p:ext uri="{BB962C8B-B14F-4D97-AF65-F5344CB8AC3E}">
        <p14:creationId xmlns:p14="http://schemas.microsoft.com/office/powerpoint/2010/main" val="372711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4284404"/>
            <a:ext cx="1959429" cy="892012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5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3" y="275871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80" y="3629227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80">
            <a:extLst>
              <a:ext uri="{FF2B5EF4-FFF2-40B4-BE49-F238E27FC236}">
                <a16:creationId xmlns:a16="http://schemas.microsoft.com/office/drawing/2014/main" id="{4A79D1BA-B2A4-49D4-93DC-59B81F9B9C81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615553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注册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036A807-AF53-4DA4-81BE-CFE2720DC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988" y="1795221"/>
            <a:ext cx="10241012" cy="4036550"/>
          </a:xfrm>
          <a:prstGeom prst="rect">
            <a:avLst/>
          </a:prstGeom>
        </p:spPr>
      </p:pic>
      <p:sp>
        <p:nvSpPr>
          <p:cNvPr id="15" name="文本框 6">
            <a:extLst>
              <a:ext uri="{FF2B5EF4-FFF2-40B4-BE49-F238E27FC236}">
                <a16:creationId xmlns:a16="http://schemas.microsoft.com/office/drawing/2014/main" id="{CBCCFDD0-1AA2-4DF0-8B2A-0D0244874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4" y="1840965"/>
            <a:ext cx="12611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</p:spTree>
    <p:extLst>
      <p:ext uri="{BB962C8B-B14F-4D97-AF65-F5344CB8AC3E}">
        <p14:creationId xmlns:p14="http://schemas.microsoft.com/office/powerpoint/2010/main" val="252745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4284404"/>
            <a:ext cx="1959429" cy="892012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5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3" y="275871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80" y="3629227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80">
            <a:extLst>
              <a:ext uri="{FF2B5EF4-FFF2-40B4-BE49-F238E27FC236}">
                <a16:creationId xmlns:a16="http://schemas.microsoft.com/office/drawing/2014/main" id="{4A79D1BA-B2A4-49D4-93DC-59B81F9B9C81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615553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注册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CBCCFDD0-1AA2-4DF0-8B2A-0D0244874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4" y="1840965"/>
            <a:ext cx="12611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2BB3A7A-266E-4DDE-B5B8-EA63840E1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430" y="1338948"/>
            <a:ext cx="9814191" cy="512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86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4284404"/>
            <a:ext cx="1959429" cy="892012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5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3" y="275871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80" y="3629227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80">
            <a:extLst>
              <a:ext uri="{FF2B5EF4-FFF2-40B4-BE49-F238E27FC236}">
                <a16:creationId xmlns:a16="http://schemas.microsoft.com/office/drawing/2014/main" id="{4A79D1BA-B2A4-49D4-93DC-59B81F9B9C81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615553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注册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CBCCFDD0-1AA2-4DF0-8B2A-0D0244874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4" y="1840965"/>
            <a:ext cx="12611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0FC31D2-9DB2-460A-B713-37023B6689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603" y="1578164"/>
            <a:ext cx="9670643" cy="466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642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4284404"/>
            <a:ext cx="1959429" cy="892012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5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3" y="275871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80" y="3629227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80">
            <a:extLst>
              <a:ext uri="{FF2B5EF4-FFF2-40B4-BE49-F238E27FC236}">
                <a16:creationId xmlns:a16="http://schemas.microsoft.com/office/drawing/2014/main" id="{4A79D1BA-B2A4-49D4-93DC-59B81F9B9C81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3077766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登录、创建、浏览任务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CBCCFDD0-1AA2-4DF0-8B2A-0D0244874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4" y="1840965"/>
            <a:ext cx="12611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489D2B3-84A9-4BB7-ADD0-EF1AC88DC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369" y="229260"/>
            <a:ext cx="6742300" cy="639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48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4284404"/>
            <a:ext cx="1959429" cy="892012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5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3" y="275871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80" y="3629227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80">
            <a:extLst>
              <a:ext uri="{FF2B5EF4-FFF2-40B4-BE49-F238E27FC236}">
                <a16:creationId xmlns:a16="http://schemas.microsoft.com/office/drawing/2014/main" id="{4A79D1BA-B2A4-49D4-93DC-59B81F9B9C81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3077766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登录、创建、浏览任务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CBCCFDD0-1AA2-4DF0-8B2A-0D0244874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4" y="1840965"/>
            <a:ext cx="12611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3570723-DFA3-480B-99F7-92D9121DD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014" y="1315083"/>
            <a:ext cx="10055310" cy="493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195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4284404"/>
            <a:ext cx="1959429" cy="892012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5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3" y="275871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80" y="3629227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80">
            <a:extLst>
              <a:ext uri="{FF2B5EF4-FFF2-40B4-BE49-F238E27FC236}">
                <a16:creationId xmlns:a16="http://schemas.microsoft.com/office/drawing/2014/main" id="{4A79D1BA-B2A4-49D4-93DC-59B81F9B9C81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3077766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登录、创建、浏览任务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CBCCFDD0-1AA2-4DF0-8B2A-0D0244874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4" y="1840965"/>
            <a:ext cx="12611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27281C9-F9F8-480A-86AF-2F167AABE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357" y="1313630"/>
            <a:ext cx="9427381" cy="536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39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4284404"/>
            <a:ext cx="1959429" cy="892012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5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3" y="275871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80" y="3629227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80">
            <a:extLst>
              <a:ext uri="{FF2B5EF4-FFF2-40B4-BE49-F238E27FC236}">
                <a16:creationId xmlns:a16="http://schemas.microsoft.com/office/drawing/2014/main" id="{4A79D1BA-B2A4-49D4-93DC-59B81F9B9C81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3077766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登录、创建、浏览任务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CBCCFDD0-1AA2-4DF0-8B2A-0D0244874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4" y="1840965"/>
            <a:ext cx="12611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6993275-DB84-4F78-BA1A-3877CBE29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041" y="1364775"/>
            <a:ext cx="9541413" cy="507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341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4284404"/>
            <a:ext cx="1959429" cy="892012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5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3" y="275871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80" y="3629227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80">
            <a:extLst>
              <a:ext uri="{FF2B5EF4-FFF2-40B4-BE49-F238E27FC236}">
                <a16:creationId xmlns:a16="http://schemas.microsoft.com/office/drawing/2014/main" id="{4A79D1BA-B2A4-49D4-93DC-59B81F9B9C81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3077766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登录、创建、浏览任务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CBCCFDD0-1AA2-4DF0-8B2A-0D0244874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4" y="1840965"/>
            <a:ext cx="12611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4CF1C7B-B8BC-42C2-8BE2-DB06B595D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665" y="1442653"/>
            <a:ext cx="8766412" cy="487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675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2">
            <a:extLst>
              <a:ext uri="{FF2B5EF4-FFF2-40B4-BE49-F238E27FC236}">
                <a16:creationId xmlns:a16="http://schemas.microsoft.com/office/drawing/2014/main" id="{1AD32D83-E1C1-4530-B09F-CC8A4B30DA58}"/>
              </a:ext>
            </a:extLst>
          </p:cNvPr>
          <p:cNvSpPr/>
          <p:nvPr/>
        </p:nvSpPr>
        <p:spPr>
          <a:xfrm>
            <a:off x="0" y="-5501"/>
            <a:ext cx="1959429" cy="6863501"/>
          </a:xfrm>
          <a:prstGeom prst="rect">
            <a:avLst/>
          </a:prstGeom>
          <a:solidFill>
            <a:schemeClr val="bg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6" name="Rectangle 12">
            <a:extLst>
              <a:ext uri="{FF2B5EF4-FFF2-40B4-BE49-F238E27FC236}">
                <a16:creationId xmlns:a16="http://schemas.microsoft.com/office/drawing/2014/main" id="{176A66A1-581C-4BE6-948B-5C52CAF950FA}"/>
              </a:ext>
            </a:extLst>
          </p:cNvPr>
          <p:cNvSpPr/>
          <p:nvPr/>
        </p:nvSpPr>
        <p:spPr>
          <a:xfrm>
            <a:off x="0" y="4284404"/>
            <a:ext cx="1959429" cy="892012"/>
          </a:xfrm>
          <a:prstGeom prst="rect">
            <a:avLst/>
          </a:prstGeom>
          <a:solidFill>
            <a:schemeClr val="tx1">
              <a:alpha val="72157"/>
            </a:schemeClr>
          </a:solidFill>
          <a:ln>
            <a:noFill/>
          </a:ln>
          <a:effectLst>
            <a:outerShdw blurRad="50800" dist="38100" algn="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486" name="Rectangle 18">
            <a:extLst>
              <a:ext uri="{FF2B5EF4-FFF2-40B4-BE49-F238E27FC236}">
                <a16:creationId xmlns:a16="http://schemas.microsoft.com/office/drawing/2014/main" id="{ECA27A0C-03EE-4CC0-87BD-8A630B776D04}"/>
              </a:ext>
            </a:extLst>
          </p:cNvPr>
          <p:cNvSpPr>
            <a:spLocks/>
          </p:cNvSpPr>
          <p:nvPr/>
        </p:nvSpPr>
        <p:spPr bwMode="auto">
          <a:xfrm>
            <a:off x="213215" y="612432"/>
            <a:ext cx="1513235" cy="44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t" anchorCtr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zh-CN" altLang="en-US" sz="2700" b="1" spc="250" dirty="0">
                <a:solidFill>
                  <a:schemeClr val="bg1">
                    <a:lumMod val="50000"/>
                  </a:schemeClr>
                </a:solidFill>
                <a:latin typeface="Poppins" charset="0"/>
                <a:ea typeface="Poppins" charset="0"/>
                <a:cs typeface="Poppins" charset="0"/>
                <a:sym typeface="Bebas Neue" charset="0"/>
              </a:rPr>
              <a:t>性能测试</a:t>
            </a:r>
            <a:endParaRPr lang="en-US" sz="2700" b="1" spc="250" dirty="0">
              <a:solidFill>
                <a:schemeClr val="bg1">
                  <a:lumMod val="50000"/>
                </a:schemeClr>
              </a:solidFill>
              <a:latin typeface="Poppins" charset="0"/>
              <a:ea typeface="Poppins" charset="0"/>
              <a:cs typeface="Poppins" charset="0"/>
              <a:sym typeface="Bebas Neue" charset="0"/>
            </a:endParaRPr>
          </a:p>
        </p:txBody>
      </p:sp>
      <p:sp>
        <p:nvSpPr>
          <p:cNvPr id="489" name="文本框 6">
            <a:extLst>
              <a:ext uri="{FF2B5EF4-FFF2-40B4-BE49-F238E27FC236}">
                <a16:creationId xmlns:a16="http://schemas.microsoft.com/office/drawing/2014/main" id="{2E515FF8-E316-42A9-A92D-4F4FC1AB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3" y="275871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录制脚本</a:t>
            </a:r>
          </a:p>
        </p:txBody>
      </p:sp>
      <p:sp>
        <p:nvSpPr>
          <p:cNvPr id="490" name="文本框 6">
            <a:extLst>
              <a:ext uri="{FF2B5EF4-FFF2-40B4-BE49-F238E27FC236}">
                <a16:creationId xmlns:a16="http://schemas.microsoft.com/office/drawing/2014/main" id="{D5E5A6FC-2BC0-4A69-AB47-270735323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80" y="3629227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测试设置</a:t>
            </a:r>
          </a:p>
        </p:txBody>
      </p:sp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结果分析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AD6F5D-8D2C-48B5-9DE5-AEDB62F75FA4}"/>
              </a:ext>
            </a:extLst>
          </p:cNvPr>
          <p:cNvCxnSpPr>
            <a:cxnSpLocks/>
          </p:cNvCxnSpPr>
          <p:nvPr/>
        </p:nvCxnSpPr>
        <p:spPr>
          <a:xfrm>
            <a:off x="527249" y="247261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47ED66CE-D620-4B70-AF80-F3FFBA25B8B7}"/>
              </a:ext>
            </a:extLst>
          </p:cNvPr>
          <p:cNvCxnSpPr>
            <a:cxnSpLocks/>
          </p:cNvCxnSpPr>
          <p:nvPr/>
        </p:nvCxnSpPr>
        <p:spPr>
          <a:xfrm>
            <a:off x="527249" y="3356138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AE52FCE3-1D7C-4C22-B68F-D9C5AC705F68}"/>
              </a:ext>
            </a:extLst>
          </p:cNvPr>
          <p:cNvCxnSpPr>
            <a:cxnSpLocks/>
          </p:cNvCxnSpPr>
          <p:nvPr/>
        </p:nvCxnSpPr>
        <p:spPr>
          <a:xfrm>
            <a:off x="561928" y="4258782"/>
            <a:ext cx="81580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80">
            <a:extLst>
              <a:ext uri="{FF2B5EF4-FFF2-40B4-BE49-F238E27FC236}">
                <a16:creationId xmlns:a16="http://schemas.microsoft.com/office/drawing/2014/main" id="{4A79D1BA-B2A4-49D4-93DC-59B81F9B9C81}"/>
              </a:ext>
            </a:extLst>
          </p:cNvPr>
          <p:cNvSpPr>
            <a:spLocks/>
          </p:cNvSpPr>
          <p:nvPr/>
        </p:nvSpPr>
        <p:spPr bwMode="auto">
          <a:xfrm>
            <a:off x="2233603" y="612432"/>
            <a:ext cx="3077766" cy="42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登录、创建、浏览任务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CBCCFDD0-1AA2-4DF0-8B2A-0D0244874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14" y="1840965"/>
            <a:ext cx="12611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测试环境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24BAD25-7B65-4C32-856B-863AE1A95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357" y="1454248"/>
            <a:ext cx="9489743" cy="48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8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文本框 6">
            <a:extLst>
              <a:ext uri="{FF2B5EF4-FFF2-40B4-BE49-F238E27FC236}">
                <a16:creationId xmlns:a16="http://schemas.microsoft.com/office/drawing/2014/main" id="{6C7239F3-AE44-46E4-AB42-6AC25D5B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12" y="4521238"/>
            <a:ext cx="877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+mj-ea"/>
                <a:ea typeface="+mj-ea"/>
              </a:rPr>
              <a:t>结分析</a:t>
            </a:r>
          </a:p>
        </p:txBody>
      </p:sp>
      <p:sp>
        <p:nvSpPr>
          <p:cNvPr id="14" name="Rectangle 480">
            <a:extLst>
              <a:ext uri="{FF2B5EF4-FFF2-40B4-BE49-F238E27FC236}">
                <a16:creationId xmlns:a16="http://schemas.microsoft.com/office/drawing/2014/main" id="{4A79D1BA-B2A4-49D4-93DC-59B81F9B9C81}"/>
              </a:ext>
            </a:extLst>
          </p:cNvPr>
          <p:cNvSpPr>
            <a:spLocks/>
          </p:cNvSpPr>
          <p:nvPr/>
        </p:nvSpPr>
        <p:spPr bwMode="auto">
          <a:xfrm>
            <a:off x="2830763" y="3319535"/>
            <a:ext cx="7022756" cy="557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  <a:sym typeface="Bebas Neue" charset="0"/>
              </a:rPr>
              <a:t>感谢倾听 欢迎指正</a:t>
            </a:r>
            <a:endParaRPr lang="en-US" altLang="zh-CN" sz="6600" b="1" dirty="0">
              <a:latin typeface="微软雅黑" panose="020B0503020204020204" pitchFamily="34" charset="-122"/>
              <a:ea typeface="微软雅黑" panose="020B0503020204020204" pitchFamily="34" charset="-122"/>
              <a:sym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8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2828</Words>
  <Application>Microsoft Office PowerPoint</Application>
  <PresentationFormat>宽屏</PresentationFormat>
  <Paragraphs>594</Paragraphs>
  <Slides>77</Slides>
  <Notes>40</Notes>
  <HiddenSlides>0</HiddenSlides>
  <MMClips>17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94" baseType="lpstr">
      <vt:lpstr>Bebas Neue</vt:lpstr>
      <vt:lpstr>Lato Light</vt:lpstr>
      <vt:lpstr>Microsoft YaHei Light</vt:lpstr>
      <vt:lpstr>Montserrat</vt:lpstr>
      <vt:lpstr>Montserrat Light</vt:lpstr>
      <vt:lpstr>Oswald</vt:lpstr>
      <vt:lpstr>Poppins</vt:lpstr>
      <vt:lpstr>Poppins Light</vt:lpstr>
      <vt:lpstr>等线</vt:lpstr>
      <vt:lpstr>等线 Light</vt:lpstr>
      <vt:lpstr>黑体</vt:lpstr>
      <vt:lpstr>微软雅黑</vt:lpstr>
      <vt:lpstr>Arial</vt:lpstr>
      <vt:lpstr>Calibri Light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Tllok.n</dc:creator>
  <cp:lastModifiedBy>China</cp:lastModifiedBy>
  <cp:revision>4</cp:revision>
  <dcterms:created xsi:type="dcterms:W3CDTF">2020-06-03T07:17:08Z</dcterms:created>
  <dcterms:modified xsi:type="dcterms:W3CDTF">2022-05-14T02:54:32Z</dcterms:modified>
</cp:coreProperties>
</file>